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6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81" r:id="rId25"/>
    <p:sldId id="282" r:id="rId26"/>
    <p:sldId id="283" r:id="rId27"/>
    <p:sldId id="284" r:id="rId28"/>
    <p:sldId id="285" r:id="rId29"/>
    <p:sldId id="286" r:id="rId30"/>
    <p:sldId id="287" r:id="rId31"/>
    <p:sldId id="288" r:id="rId32"/>
    <p:sldId id="290" r:id="rId33"/>
    <p:sldId id="291" r:id="rId34"/>
    <p:sldId id="292" r:id="rId35"/>
    <p:sldId id="293" r:id="rId36"/>
    <p:sldId id="294" r:id="rId37"/>
    <p:sldId id="295" r:id="rId38"/>
    <p:sldId id="296" r:id="rId39"/>
    <p:sldId id="297" r:id="rId40"/>
    <p:sldId id="298" r:id="rId41"/>
    <p:sldId id="299" r:id="rId42"/>
    <p:sldId id="300" r:id="rId43"/>
    <p:sldId id="301" r:id="rId44"/>
    <p:sldId id="302" r:id="rId45"/>
    <p:sldId id="303" r:id="rId46"/>
    <p:sldId id="304" r:id="rId47"/>
    <p:sldId id="305" r:id="rId48"/>
    <p:sldId id="306" r:id="rId49"/>
    <p:sldId id="307" r:id="rId50"/>
    <p:sldId id="308" r:id="rId51"/>
    <p:sldId id="309" r:id="rId52"/>
    <p:sldId id="310" r:id="rId53"/>
    <p:sldId id="311" r:id="rId54"/>
    <p:sldId id="312" r:id="rId55"/>
    <p:sldId id="313" r:id="rId56"/>
    <p:sldId id="314" r:id="rId57"/>
    <p:sldId id="315" r:id="rId58"/>
    <p:sldId id="316" r:id="rId59"/>
    <p:sldId id="317" r:id="rId60"/>
    <p:sldId id="318" r:id="rId61"/>
    <p:sldId id="319" r:id="rId62"/>
    <p:sldId id="320" r:id="rId63"/>
    <p:sldId id="321" r:id="rId64"/>
    <p:sldId id="322" r:id="rId6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88" autoAdjust="0"/>
    <p:restoredTop sz="94671" autoAdjust="0"/>
  </p:normalViewPr>
  <p:slideViewPr>
    <p:cSldViewPr>
      <p:cViewPr>
        <p:scale>
          <a:sx n="75" d="100"/>
          <a:sy n="75" d="100"/>
        </p:scale>
        <p:origin x="-1152" y="288"/>
      </p:cViewPr>
      <p:guideLst>
        <p:guide orient="horz" pos="2160"/>
        <p:guide pos="2880"/>
      </p:guideLst>
    </p:cSldViewPr>
  </p:slideViewPr>
  <p:outlineViewPr>
    <p:cViewPr>
      <p:scale>
        <a:sx n="33" d="100"/>
        <a:sy n="33" d="100"/>
      </p:scale>
      <p:origin x="0" y="8832"/>
    </p:cViewPr>
  </p:outlin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FF3302D-1FEB-4D52-9CA8-16AAAC3B1746}" type="datetimeFigureOut">
              <a:rPr lang="en-GB" smtClean="0"/>
              <a:t>11/07/2022</a:t>
            </a:fld>
            <a:endParaRPr lang="en-GB"/>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84087F-124C-4F0D-873F-7191E64A91E3}" type="slidenum">
              <a:rPr lang="en-GB" smtClean="0"/>
              <a:t>‹#›</a:t>
            </a:fld>
            <a:endParaRPr lang="en-GB"/>
          </a:p>
        </p:txBody>
      </p:sp>
    </p:spTree>
    <p:extLst>
      <p:ext uri="{BB962C8B-B14F-4D97-AF65-F5344CB8AC3E}">
        <p14:creationId xmlns:p14="http://schemas.microsoft.com/office/powerpoint/2010/main" val="158055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BB84087F-124C-4F0D-873F-7191E64A91E3}" type="slidenum">
              <a:rPr lang="en-GB" smtClean="0"/>
              <a:t>13</a:t>
            </a:fld>
            <a:endParaRPr lang="en-GB"/>
          </a:p>
        </p:txBody>
      </p:sp>
    </p:spTree>
    <p:extLst>
      <p:ext uri="{BB962C8B-B14F-4D97-AF65-F5344CB8AC3E}">
        <p14:creationId xmlns:p14="http://schemas.microsoft.com/office/powerpoint/2010/main" val="38839585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BB84087F-124C-4F0D-873F-7191E64A91E3}" type="slidenum">
              <a:rPr lang="en-GB" smtClean="0"/>
              <a:t>28</a:t>
            </a:fld>
            <a:endParaRPr lang="en-GB"/>
          </a:p>
        </p:txBody>
      </p:sp>
    </p:spTree>
    <p:extLst>
      <p:ext uri="{BB962C8B-B14F-4D97-AF65-F5344CB8AC3E}">
        <p14:creationId xmlns:p14="http://schemas.microsoft.com/office/powerpoint/2010/main" val="4120042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02207F17-0D9A-4E63-84ED-C6B56700D1E7}" type="datetimeFigureOut">
              <a:rPr lang="en-GB" smtClean="0"/>
              <a:t>11/07/2022</a:t>
            </a:fld>
            <a:endParaRPr lang="en-GB"/>
          </a:p>
        </p:txBody>
      </p:sp>
      <p:sp>
        <p:nvSpPr>
          <p:cNvPr id="19" name="Footer Placeholder 18"/>
          <p:cNvSpPr>
            <a:spLocks noGrp="1"/>
          </p:cNvSpPr>
          <p:nvPr>
            <p:ph type="ftr" sz="quarter" idx="11"/>
          </p:nvPr>
        </p:nvSpPr>
        <p:spPr/>
        <p:txBody>
          <a:bodyPr/>
          <a:lstStyle/>
          <a:p>
            <a:endParaRPr lang="en-GB"/>
          </a:p>
        </p:txBody>
      </p:sp>
      <p:sp>
        <p:nvSpPr>
          <p:cNvPr id="27" name="Slide Number Placeholder 26"/>
          <p:cNvSpPr>
            <a:spLocks noGrp="1"/>
          </p:cNvSpPr>
          <p:nvPr>
            <p:ph type="sldNum" sz="quarter" idx="12"/>
          </p:nvPr>
        </p:nvSpPr>
        <p:spPr/>
        <p:txBody>
          <a:bodyPr/>
          <a:lstStyle/>
          <a:p>
            <a:fld id="{B022629C-628F-4ECE-BAB7-425E4587A6FF}" type="slidenum">
              <a:rPr lang="en-GB" smtClean="0"/>
              <a:t>‹#›</a:t>
            </a:fld>
            <a:endParaRPr lang="en-GB"/>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02207F17-0D9A-4E63-84ED-C6B56700D1E7}" type="datetimeFigureOut">
              <a:rPr lang="en-GB" smtClean="0"/>
              <a:t>11/07/2022</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B022629C-628F-4ECE-BAB7-425E4587A6FF}" type="slidenum">
              <a:rPr lang="en-GB" smtClean="0"/>
              <a:t>‹#›</a:t>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02207F17-0D9A-4E63-84ED-C6B56700D1E7}" type="datetimeFigureOut">
              <a:rPr lang="en-GB" smtClean="0"/>
              <a:t>11/07/2022</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B022629C-628F-4ECE-BAB7-425E4587A6FF}" type="slidenum">
              <a:rPr lang="en-GB" smtClean="0"/>
              <a:t>‹#›</a:t>
            </a:fld>
            <a:endParaRPr lang="en-GB"/>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02207F17-0D9A-4E63-84ED-C6B56700D1E7}" type="datetimeFigureOut">
              <a:rPr lang="en-GB" smtClean="0"/>
              <a:t>11/07/2022</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B022629C-628F-4ECE-BAB7-425E4587A6FF}" type="slidenum">
              <a:rPr lang="en-GB" smtClean="0"/>
              <a:t>‹#›</a:t>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02207F17-0D9A-4E63-84ED-C6B56700D1E7}" type="datetimeFigureOut">
              <a:rPr lang="en-GB" smtClean="0"/>
              <a:t>11/07/2022</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B022629C-628F-4ECE-BAB7-425E4587A6FF}" type="slidenum">
              <a:rPr lang="en-GB" smtClean="0"/>
              <a:t>‹#›</a:t>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02207F17-0D9A-4E63-84ED-C6B56700D1E7}" type="datetimeFigureOut">
              <a:rPr lang="en-GB" smtClean="0"/>
              <a:t>11/07/2022</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B022629C-628F-4ECE-BAB7-425E4587A6FF}" type="slidenum">
              <a:rPr lang="en-GB" smtClean="0"/>
              <a:t>‹#›</a:t>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2207F17-0D9A-4E63-84ED-C6B56700D1E7}" type="datetimeFigureOut">
              <a:rPr lang="en-GB" smtClean="0"/>
              <a:t>11/07/2022</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B022629C-628F-4ECE-BAB7-425E4587A6FF}" type="slidenum">
              <a:rPr lang="en-GB" smtClean="0"/>
              <a:t>‹#›</a:t>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02207F17-0D9A-4E63-84ED-C6B56700D1E7}" type="datetimeFigureOut">
              <a:rPr lang="en-GB" smtClean="0"/>
              <a:t>11/07/2022</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B022629C-628F-4ECE-BAB7-425E4587A6FF}" type="slidenum">
              <a:rPr lang="en-GB" smtClean="0"/>
              <a:t>‹#›</a:t>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02207F17-0D9A-4E63-84ED-C6B56700D1E7}" type="datetimeFigureOut">
              <a:rPr lang="en-GB" smtClean="0"/>
              <a:t>11/07/2022</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a:xfrm>
            <a:off x="8077200" y="6356350"/>
            <a:ext cx="609600" cy="365125"/>
          </a:xfrm>
        </p:spPr>
        <p:txBody>
          <a:bodyPr/>
          <a:lstStyle/>
          <a:p>
            <a:fld id="{B022629C-628F-4ECE-BAB7-425E4587A6FF}" type="slidenum">
              <a:rPr lang="en-GB" smtClean="0"/>
              <a:t>‹#›</a:t>
            </a:fld>
            <a:endParaRPr lang="en-GB"/>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smtClean="0"/>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02207F17-0D9A-4E63-84ED-C6B56700D1E7}" type="datetimeFigureOut">
              <a:rPr lang="en-GB" smtClean="0"/>
              <a:t>11/07/2022</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B022629C-628F-4ECE-BAB7-425E4587A6FF}" type="slidenum">
              <a:rPr lang="en-GB" smtClean="0"/>
              <a:t>‹#›</a:t>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02207F17-0D9A-4E63-84ED-C6B56700D1E7}" type="datetimeFigureOut">
              <a:rPr lang="en-GB" smtClean="0"/>
              <a:t>11/07/2022</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B022629C-628F-4ECE-BAB7-425E4587A6FF}" type="slidenum">
              <a:rPr lang="en-GB" smtClean="0"/>
              <a:t>‹#›</a:t>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02207F17-0D9A-4E63-84ED-C6B56700D1E7}" type="datetimeFigureOut">
              <a:rPr lang="en-GB" smtClean="0"/>
              <a:t>11/07/2022</a:t>
            </a:fld>
            <a:endParaRPr lang="en-GB"/>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GB"/>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B022629C-628F-4ECE-BAB7-425E4587A6FF}" type="slidenum">
              <a:rPr lang="en-GB" smtClean="0"/>
              <a:t>‹#›</a:t>
            </a:fld>
            <a:endParaRPr lang="en-GB"/>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14.em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em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jpe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image" Target="../media/image26.png"/></Relationships>
</file>

<file path=ppt/slides/_rels/slide2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 Id="rId5" Type="http://schemas.openxmlformats.org/officeDocument/2006/relationships/image" Target="../media/image31.png"/><Relationship Id="rId4" Type="http://schemas.openxmlformats.org/officeDocument/2006/relationships/image" Target="../media/image30.png"/></Relationships>
</file>

<file path=ppt/slides/_rels/slide2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2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2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42.emf"/><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 Id="rId4" Type="http://schemas.openxmlformats.org/officeDocument/2006/relationships/image" Target="../media/image45.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xml"/><Relationship Id="rId4" Type="http://schemas.openxmlformats.org/officeDocument/2006/relationships/image" Target="../media/image49.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53.emf"/><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55.gif"/><Relationship Id="rId2" Type="http://schemas.openxmlformats.org/officeDocument/2006/relationships/image" Target="../media/image54.gif"/><Relationship Id="rId1" Type="http://schemas.openxmlformats.org/officeDocument/2006/relationships/slideLayout" Target="../slideLayouts/slideLayout2.xml"/><Relationship Id="rId6" Type="http://schemas.openxmlformats.org/officeDocument/2006/relationships/image" Target="../media/image58.png"/><Relationship Id="rId5" Type="http://schemas.openxmlformats.org/officeDocument/2006/relationships/image" Target="../media/image57.png"/><Relationship Id="rId4" Type="http://schemas.openxmlformats.org/officeDocument/2006/relationships/image" Target="../media/image56.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63.jpeg"/><Relationship Id="rId2" Type="http://schemas.openxmlformats.org/officeDocument/2006/relationships/image" Target="../media/image62.png"/><Relationship Id="rId1" Type="http://schemas.openxmlformats.org/officeDocument/2006/relationships/slideLayout" Target="../slideLayouts/slideLayout2.xml"/><Relationship Id="rId4" Type="http://schemas.openxmlformats.org/officeDocument/2006/relationships/image" Target="../media/image64.png"/></Relationships>
</file>

<file path=ppt/slides/_rels/slide45.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2.xml"/><Relationship Id="rId5" Type="http://schemas.openxmlformats.org/officeDocument/2006/relationships/image" Target="../media/image68.png"/><Relationship Id="rId4" Type="http://schemas.openxmlformats.org/officeDocument/2006/relationships/image" Target="../media/image67.png"/></Relationships>
</file>

<file path=ppt/slides/_rels/slide46.xml.rels><?xml version="1.0" encoding="UTF-8" standalone="yes"?>
<Relationships xmlns="http://schemas.openxmlformats.org/package/2006/relationships"><Relationship Id="rId3" Type="http://schemas.openxmlformats.org/officeDocument/2006/relationships/image" Target="../media/image70.jpeg"/><Relationship Id="rId2" Type="http://schemas.openxmlformats.org/officeDocument/2006/relationships/image" Target="../media/image69.png"/><Relationship Id="rId1" Type="http://schemas.openxmlformats.org/officeDocument/2006/relationships/slideLayout" Target="../slideLayouts/slideLayout2.xml"/><Relationship Id="rId4" Type="http://schemas.openxmlformats.org/officeDocument/2006/relationships/image" Target="../media/image71.png"/></Relationships>
</file>

<file path=ppt/slides/_rels/slide47.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72.png"/><Relationship Id="rId1" Type="http://schemas.openxmlformats.org/officeDocument/2006/relationships/slideLayout" Target="../slideLayouts/slideLayout2.xml"/><Relationship Id="rId4" Type="http://schemas.openxmlformats.org/officeDocument/2006/relationships/image" Target="../media/image74.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79.jpeg"/><Relationship Id="rId2" Type="http://schemas.openxmlformats.org/officeDocument/2006/relationships/image" Target="../media/image78.jpe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81.jpeg"/><Relationship Id="rId2" Type="http://schemas.openxmlformats.org/officeDocument/2006/relationships/image" Target="../media/image80.jpeg"/><Relationship Id="rId1" Type="http://schemas.openxmlformats.org/officeDocument/2006/relationships/slideLayout" Target="../slideLayouts/slideLayout2.xml"/><Relationship Id="rId5" Type="http://schemas.openxmlformats.org/officeDocument/2006/relationships/image" Target="../media/image83.jpeg"/><Relationship Id="rId4" Type="http://schemas.openxmlformats.org/officeDocument/2006/relationships/image" Target="../media/image82.jpeg"/></Relationships>
</file>

<file path=ppt/slides/_rels/slide53.xml.rels><?xml version="1.0" encoding="UTF-8" standalone="yes"?>
<Relationships xmlns="http://schemas.openxmlformats.org/package/2006/relationships"><Relationship Id="rId3" Type="http://schemas.openxmlformats.org/officeDocument/2006/relationships/image" Target="../media/image85.jpeg"/><Relationship Id="rId2" Type="http://schemas.openxmlformats.org/officeDocument/2006/relationships/image" Target="../media/image84.jpeg"/><Relationship Id="rId1" Type="http://schemas.openxmlformats.org/officeDocument/2006/relationships/slideLayout" Target="../slideLayouts/slideLayout2.xml"/><Relationship Id="rId6" Type="http://schemas.openxmlformats.org/officeDocument/2006/relationships/image" Target="../media/image88.jpeg"/><Relationship Id="rId5" Type="http://schemas.openxmlformats.org/officeDocument/2006/relationships/image" Target="../media/image87.jpeg"/><Relationship Id="rId4" Type="http://schemas.openxmlformats.org/officeDocument/2006/relationships/image" Target="../media/image86.png"/></Relationships>
</file>

<file path=ppt/slides/_rels/slide54.xml.rels><?xml version="1.0" encoding="UTF-8" standalone="yes"?>
<Relationships xmlns="http://schemas.openxmlformats.org/package/2006/relationships"><Relationship Id="rId3" Type="http://schemas.openxmlformats.org/officeDocument/2006/relationships/image" Target="../media/image90.jpeg"/><Relationship Id="rId2" Type="http://schemas.openxmlformats.org/officeDocument/2006/relationships/image" Target="../media/image89.jpeg"/><Relationship Id="rId1" Type="http://schemas.openxmlformats.org/officeDocument/2006/relationships/slideLayout" Target="../slideLayouts/slideLayout2.xml"/><Relationship Id="rId6" Type="http://schemas.openxmlformats.org/officeDocument/2006/relationships/image" Target="../media/image93.jpeg"/><Relationship Id="rId5" Type="http://schemas.openxmlformats.org/officeDocument/2006/relationships/image" Target="../media/image92.jpeg"/><Relationship Id="rId4" Type="http://schemas.openxmlformats.org/officeDocument/2006/relationships/image" Target="../media/image91.jpeg"/></Relationships>
</file>

<file path=ppt/slides/_rels/slide55.xml.rels><?xml version="1.0" encoding="UTF-8" standalone="yes"?>
<Relationships xmlns="http://schemas.openxmlformats.org/package/2006/relationships"><Relationship Id="rId3" Type="http://schemas.openxmlformats.org/officeDocument/2006/relationships/image" Target="../media/image95.jpeg"/><Relationship Id="rId2" Type="http://schemas.openxmlformats.org/officeDocument/2006/relationships/image" Target="../media/image94.jpeg"/><Relationship Id="rId1" Type="http://schemas.openxmlformats.org/officeDocument/2006/relationships/slideLayout" Target="../slideLayouts/slideLayout2.xml"/><Relationship Id="rId4" Type="http://schemas.openxmlformats.org/officeDocument/2006/relationships/image" Target="../media/image96.jpe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97.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98.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image" Target="../media/image99.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101.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image" Target="../media/image102.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764705"/>
            <a:ext cx="7774632" cy="1872207"/>
          </a:xfrm>
        </p:spPr>
        <p:txBody>
          <a:bodyPr/>
          <a:lstStyle/>
          <a:p>
            <a:endParaRPr lang="en-GB" dirty="0"/>
          </a:p>
        </p:txBody>
      </p:sp>
      <p:sp>
        <p:nvSpPr>
          <p:cNvPr id="3" name="Subtitle 2"/>
          <p:cNvSpPr>
            <a:spLocks noGrp="1"/>
          </p:cNvSpPr>
          <p:nvPr>
            <p:ph type="subTitle" idx="1"/>
          </p:nvPr>
        </p:nvSpPr>
        <p:spPr>
          <a:xfrm>
            <a:off x="931540" y="3429000"/>
            <a:ext cx="7416824" cy="2209800"/>
          </a:xfrm>
        </p:spPr>
        <p:txBody>
          <a:bodyPr>
            <a:normAutofit fontScale="92500" lnSpcReduction="10000"/>
          </a:bodyPr>
          <a:lstStyle/>
          <a:p>
            <a:r>
              <a:rPr lang="en-US" sz="3600" b="1" i="1" dirty="0"/>
              <a:t>MODULE: WORKSHOP TECHNOLOGY</a:t>
            </a:r>
            <a:endParaRPr lang="en-GB" sz="3600" dirty="0"/>
          </a:p>
          <a:p>
            <a:r>
              <a:rPr lang="en-GB" sz="3600" b="1" i="1" dirty="0"/>
              <a:t> </a:t>
            </a:r>
            <a:endParaRPr lang="en-GB" sz="3600" dirty="0"/>
          </a:p>
          <a:p>
            <a:r>
              <a:rPr lang="en-US" sz="3600" b="1" i="1" dirty="0"/>
              <a:t>Code: </a:t>
            </a:r>
            <a:r>
              <a:rPr lang="en-US" sz="3600" b="1" i="1" dirty="0" smtClean="0"/>
              <a:t>TWP1161</a:t>
            </a:r>
            <a:endParaRPr lang="en-GB" sz="3600" dirty="0"/>
          </a:p>
        </p:txBody>
      </p:sp>
      <p:pic>
        <p:nvPicPr>
          <p:cNvPr id="5" name="Picture 4"/>
          <p:cNvPicPr/>
          <p:nvPr/>
        </p:nvPicPr>
        <p:blipFill>
          <a:blip r:embed="rId2"/>
          <a:stretch>
            <a:fillRect/>
          </a:stretch>
        </p:blipFill>
        <p:spPr>
          <a:xfrm>
            <a:off x="899592" y="958652"/>
            <a:ext cx="7560840" cy="1512168"/>
          </a:xfrm>
          <a:prstGeom prst="rect">
            <a:avLst/>
          </a:prstGeom>
        </p:spPr>
      </p:pic>
    </p:spTree>
    <p:extLst>
      <p:ext uri="{BB962C8B-B14F-4D97-AF65-F5344CB8AC3E}">
        <p14:creationId xmlns:p14="http://schemas.microsoft.com/office/powerpoint/2010/main" val="7893915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a:t/>
            </a:r>
            <a:br>
              <a:rPr lang="en-GB" dirty="0"/>
            </a:br>
            <a:r>
              <a:rPr lang="en-US" sz="4400" b="1" i="1" dirty="0"/>
              <a:t>MODULE: WORKSHOP TECHNOLOGY</a:t>
            </a:r>
            <a:endParaRPr lang="en-GB" sz="4400" dirty="0"/>
          </a:p>
        </p:txBody>
      </p:sp>
      <p:sp>
        <p:nvSpPr>
          <p:cNvPr id="3" name="Content Placeholder 2"/>
          <p:cNvSpPr>
            <a:spLocks noGrp="1"/>
          </p:cNvSpPr>
          <p:nvPr>
            <p:ph idx="1"/>
          </p:nvPr>
        </p:nvSpPr>
        <p:spPr/>
        <p:txBody>
          <a:bodyPr>
            <a:normAutofit/>
          </a:bodyPr>
          <a:lstStyle/>
          <a:p>
            <a:pPr marL="0" indent="0" algn="ctr">
              <a:buNone/>
            </a:pPr>
            <a:endParaRPr lang="en-US" b="1" i="1" dirty="0" smtClean="0"/>
          </a:p>
          <a:p>
            <a:pPr marL="0" indent="0" algn="ctr">
              <a:buNone/>
            </a:pPr>
            <a:r>
              <a:rPr lang="en-US" b="1" i="1" dirty="0" smtClean="0"/>
              <a:t>LESSON</a:t>
            </a:r>
            <a:r>
              <a:rPr lang="en-US" b="1" i="1" dirty="0"/>
              <a:t>: ELECTRICAL WORKSHOP TECHNOLOGY</a:t>
            </a:r>
            <a:endParaRPr lang="en-GB" dirty="0"/>
          </a:p>
          <a:p>
            <a:pPr marL="0" indent="0" algn="ctr">
              <a:buNone/>
            </a:pPr>
            <a:r>
              <a:rPr lang="en-US" b="1" i="1" dirty="0"/>
              <a:t> </a:t>
            </a:r>
            <a:endParaRPr lang="en-GB" dirty="0"/>
          </a:p>
          <a:p>
            <a:pPr marL="0" indent="0" algn="ctr">
              <a:buNone/>
            </a:pPr>
            <a:endParaRPr lang="en-GB" dirty="0"/>
          </a:p>
          <a:p>
            <a:pPr marL="0" indent="0" algn="ctr">
              <a:buNone/>
            </a:pPr>
            <a:r>
              <a:rPr lang="en-US" b="1" i="1" dirty="0"/>
              <a:t>Part I</a:t>
            </a:r>
            <a:endParaRPr lang="en-GB" dirty="0"/>
          </a:p>
          <a:p>
            <a:pPr marL="0" indent="0" algn="ctr">
              <a:buNone/>
            </a:pPr>
            <a:r>
              <a:rPr lang="en-GB" b="1" i="1" dirty="0"/>
              <a:t> </a:t>
            </a:r>
            <a:endParaRPr lang="en-GB" dirty="0"/>
          </a:p>
          <a:p>
            <a:pPr marL="0" indent="0" algn="ctr">
              <a:buNone/>
            </a:pPr>
            <a:r>
              <a:rPr lang="en-GB" b="1" i="1" dirty="0"/>
              <a:t> </a:t>
            </a:r>
            <a:endParaRPr lang="en-GB" dirty="0"/>
          </a:p>
          <a:p>
            <a:pPr marL="0" indent="0" algn="ctr">
              <a:buNone/>
            </a:pPr>
            <a:r>
              <a:rPr lang="en-US" b="1" i="1" dirty="0"/>
              <a:t>PREPARED BY: T . SILAS</a:t>
            </a:r>
            <a:endParaRPr lang="en-GB" dirty="0"/>
          </a:p>
          <a:p>
            <a:endParaRPr lang="en-GB" dirty="0"/>
          </a:p>
        </p:txBody>
      </p:sp>
    </p:spTree>
    <p:extLst>
      <p:ext uri="{BB962C8B-B14F-4D97-AF65-F5344CB8AC3E}">
        <p14:creationId xmlns:p14="http://schemas.microsoft.com/office/powerpoint/2010/main" val="119424709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22114"/>
          </a:xfrm>
        </p:spPr>
        <p:txBody>
          <a:bodyPr/>
          <a:lstStyle/>
          <a:p>
            <a:pPr algn="ctr"/>
            <a:r>
              <a:rPr lang="en-GB" b="1" dirty="0"/>
              <a:t>INTRODUCTION</a:t>
            </a:r>
          </a:p>
        </p:txBody>
      </p:sp>
      <p:sp>
        <p:nvSpPr>
          <p:cNvPr id="3" name="Content Placeholder 2"/>
          <p:cNvSpPr>
            <a:spLocks noGrp="1"/>
          </p:cNvSpPr>
          <p:nvPr>
            <p:ph idx="1"/>
          </p:nvPr>
        </p:nvSpPr>
        <p:spPr>
          <a:xfrm>
            <a:off x="457200" y="1268760"/>
            <a:ext cx="8229600" cy="4968552"/>
          </a:xfrm>
        </p:spPr>
        <p:txBody>
          <a:bodyPr>
            <a:noAutofit/>
          </a:bodyPr>
          <a:lstStyle/>
          <a:p>
            <a:pPr marL="0" indent="0">
              <a:buNone/>
            </a:pPr>
            <a:r>
              <a:rPr lang="en-GB" sz="3200" dirty="0"/>
              <a:t>This course will provide you with practical skills that are used in electrical installation and are ideally suited to school leavers who wish to become electricians working in the maintenance or </a:t>
            </a:r>
            <a:r>
              <a:rPr lang="en-GB" sz="3200" dirty="0" smtClean="0"/>
              <a:t>installations </a:t>
            </a:r>
            <a:r>
              <a:rPr lang="en-GB" sz="3200" dirty="0"/>
              <a:t>trades. </a:t>
            </a:r>
            <a:endParaRPr lang="en-GB" sz="3200" dirty="0" smtClean="0"/>
          </a:p>
          <a:p>
            <a:pPr marL="0" indent="0">
              <a:buNone/>
            </a:pPr>
            <a:r>
              <a:rPr lang="en-GB" sz="3200" dirty="0"/>
              <a:t>You will be assessed through the completion of various training activities as well as an externally set knowledge test. With further studies in this area, you may have the opportunity to progress to technician testing engineer or design. </a:t>
            </a:r>
          </a:p>
        </p:txBody>
      </p:sp>
    </p:spTree>
    <p:extLst>
      <p:ext uri="{BB962C8B-B14F-4D97-AF65-F5344CB8AC3E}">
        <p14:creationId xmlns:p14="http://schemas.microsoft.com/office/powerpoint/2010/main" val="352800400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4082"/>
          </a:xfrm>
        </p:spPr>
        <p:txBody>
          <a:bodyPr>
            <a:normAutofit fontScale="90000"/>
          </a:bodyPr>
          <a:lstStyle/>
          <a:p>
            <a:pPr algn="ctr"/>
            <a:r>
              <a:rPr lang="en-GB" b="1" dirty="0" smtClean="0"/>
              <a:t>INTRODUCTION  </a:t>
            </a:r>
            <a:r>
              <a:rPr lang="en-GB" b="1" dirty="0" err="1" smtClean="0"/>
              <a:t>Con,t</a:t>
            </a:r>
            <a:endParaRPr lang="en-GB" b="1" dirty="0"/>
          </a:p>
        </p:txBody>
      </p:sp>
      <p:sp>
        <p:nvSpPr>
          <p:cNvPr id="3" name="Content Placeholder 2"/>
          <p:cNvSpPr>
            <a:spLocks noGrp="1"/>
          </p:cNvSpPr>
          <p:nvPr>
            <p:ph idx="1"/>
          </p:nvPr>
        </p:nvSpPr>
        <p:spPr>
          <a:xfrm>
            <a:off x="251520" y="980728"/>
            <a:ext cx="8712968" cy="5472608"/>
          </a:xfrm>
        </p:spPr>
        <p:txBody>
          <a:bodyPr>
            <a:normAutofit/>
          </a:bodyPr>
          <a:lstStyle/>
          <a:p>
            <a:pPr marL="457200" lvl="1" indent="0">
              <a:buNone/>
            </a:pPr>
            <a:r>
              <a:rPr lang="en-GB" b="1" dirty="0"/>
              <a:t>MODULE </a:t>
            </a:r>
            <a:r>
              <a:rPr lang="en-GB" b="1" dirty="0" smtClean="0"/>
              <a:t>PURPOSE</a:t>
            </a:r>
            <a:endParaRPr lang="en-GB" dirty="0"/>
          </a:p>
          <a:p>
            <a:pPr marL="0" indent="0">
              <a:buNone/>
            </a:pPr>
            <a:r>
              <a:rPr lang="en-GB" sz="2400" dirty="0"/>
              <a:t>The module unit is designed to equip the trainee with: knowledge, skills and attitudes that enable him/her to perform basic workshop tasks. </a:t>
            </a:r>
            <a:endParaRPr lang="en-GB" sz="2400" dirty="0" smtClean="0"/>
          </a:p>
          <a:p>
            <a:pPr marL="0" indent="0">
              <a:buNone/>
            </a:pPr>
            <a:endParaRPr lang="en-GB" sz="2400" dirty="0"/>
          </a:p>
          <a:p>
            <a:pPr marL="457200" lvl="1" indent="0">
              <a:buNone/>
            </a:pPr>
            <a:r>
              <a:rPr lang="en-GB" b="1" dirty="0"/>
              <a:t>GENERAL OBJECTIVES</a:t>
            </a:r>
            <a:endParaRPr lang="en-GB" dirty="0"/>
          </a:p>
          <a:p>
            <a:pPr marL="0" indent="0">
              <a:buNone/>
            </a:pPr>
            <a:r>
              <a:rPr lang="en-GB" sz="2400" dirty="0"/>
              <a:t>At the end of the module unit, the trainee should be able to</a:t>
            </a:r>
            <a:r>
              <a:rPr lang="en-GB" sz="2400" dirty="0" smtClean="0"/>
              <a:t>:</a:t>
            </a:r>
          </a:p>
          <a:p>
            <a:pPr marL="0" indent="0">
              <a:buNone/>
            </a:pPr>
            <a:r>
              <a:rPr lang="en-GB" sz="2400" dirty="0" smtClean="0"/>
              <a:t> </a:t>
            </a:r>
            <a:endParaRPr lang="en-GB" sz="2400" dirty="0"/>
          </a:p>
          <a:p>
            <a:pPr lvl="0"/>
            <a:r>
              <a:rPr lang="en-GB" sz="2400" dirty="0"/>
              <a:t>Understand safety regulations in the workshop </a:t>
            </a:r>
          </a:p>
          <a:p>
            <a:pPr lvl="0"/>
            <a:r>
              <a:rPr lang="en-GB" sz="2400" dirty="0"/>
              <a:t>Identify tools  and materials to be used in a conventional workshop </a:t>
            </a:r>
          </a:p>
          <a:p>
            <a:pPr lvl="0"/>
            <a:r>
              <a:rPr lang="en-GB" sz="2400" dirty="0"/>
              <a:t>To acquire skills in basic engineering practice.</a:t>
            </a:r>
          </a:p>
          <a:p>
            <a:endParaRPr lang="en-GB" dirty="0"/>
          </a:p>
        </p:txBody>
      </p:sp>
    </p:spTree>
    <p:extLst>
      <p:ext uri="{BB962C8B-B14F-4D97-AF65-F5344CB8AC3E}">
        <p14:creationId xmlns:p14="http://schemas.microsoft.com/office/powerpoint/2010/main" val="159935284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708688"/>
          </a:xfrm>
        </p:spPr>
        <p:txBody>
          <a:bodyPr>
            <a:normAutofit fontScale="90000"/>
          </a:bodyPr>
          <a:lstStyle/>
          <a:p>
            <a:pPr algn="ctr"/>
            <a:r>
              <a:rPr lang="en-GB" b="1" dirty="0" smtClean="0"/>
              <a:t>INTRODUCTION  </a:t>
            </a:r>
            <a:r>
              <a:rPr lang="en-GB" b="1" dirty="0" err="1" smtClean="0"/>
              <a:t>Con,t</a:t>
            </a:r>
            <a:endParaRPr lang="en-GB" b="1" dirty="0"/>
          </a:p>
        </p:txBody>
      </p:sp>
      <p:sp>
        <p:nvSpPr>
          <p:cNvPr id="3" name="Content Placeholder 2"/>
          <p:cNvSpPr>
            <a:spLocks noGrp="1"/>
          </p:cNvSpPr>
          <p:nvPr>
            <p:ph idx="1"/>
          </p:nvPr>
        </p:nvSpPr>
        <p:spPr>
          <a:xfrm>
            <a:off x="457200" y="1412776"/>
            <a:ext cx="8229600" cy="5040560"/>
          </a:xfrm>
        </p:spPr>
        <p:txBody>
          <a:bodyPr>
            <a:normAutofit/>
          </a:bodyPr>
          <a:lstStyle/>
          <a:p>
            <a:pPr marL="457200" lvl="1" indent="0">
              <a:buNone/>
            </a:pPr>
            <a:r>
              <a:rPr lang="en-GB" sz="2800" b="1" dirty="0"/>
              <a:t>WHAT IS WORKSHOP?</a:t>
            </a:r>
            <a:endParaRPr lang="en-GB" sz="2800" dirty="0"/>
          </a:p>
          <a:p>
            <a:pPr marL="0" indent="0">
              <a:buNone/>
            </a:pPr>
            <a:r>
              <a:rPr lang="en-GB" sz="2800" b="1" dirty="0"/>
              <a:t>Workshop</a:t>
            </a:r>
            <a:r>
              <a:rPr lang="en-GB" sz="2800" dirty="0"/>
              <a:t> is a room, area, or small establishment where manual or light industrial work is done. It can be also a room or building in which manufacturing or other forms of manual work are carried on</a:t>
            </a:r>
          </a:p>
          <a:p>
            <a:pPr marL="0" indent="0">
              <a:buNone/>
            </a:pPr>
            <a:r>
              <a:rPr lang="en-GB" sz="2800" dirty="0"/>
              <a:t> </a:t>
            </a:r>
          </a:p>
          <a:p>
            <a:pPr marL="0" indent="0">
              <a:buNone/>
            </a:pPr>
            <a:r>
              <a:rPr lang="en-GB" sz="2800" dirty="0"/>
              <a:t>A </a:t>
            </a:r>
            <a:r>
              <a:rPr lang="en-GB" sz="2800" b="1" dirty="0"/>
              <a:t>training workshop</a:t>
            </a:r>
            <a:r>
              <a:rPr lang="en-GB" sz="2800" dirty="0"/>
              <a:t> is a type of interactive training where participants carry out a number of training activities rather than passively listen to a lecture or presentation</a:t>
            </a:r>
          </a:p>
          <a:p>
            <a:endParaRPr lang="en-GB" dirty="0"/>
          </a:p>
        </p:txBody>
      </p:sp>
    </p:spTree>
    <p:extLst>
      <p:ext uri="{BB962C8B-B14F-4D97-AF65-F5344CB8AC3E}">
        <p14:creationId xmlns:p14="http://schemas.microsoft.com/office/powerpoint/2010/main" val="333279815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48680"/>
            <a:ext cx="8229600" cy="720080"/>
          </a:xfrm>
        </p:spPr>
        <p:txBody>
          <a:bodyPr>
            <a:normAutofit fontScale="90000"/>
          </a:bodyPr>
          <a:lstStyle/>
          <a:p>
            <a:pPr algn="ctr"/>
            <a:r>
              <a:rPr lang="en-GB" b="1" dirty="0"/>
              <a:t>SAFETY</a:t>
            </a:r>
            <a:endParaRPr lang="en-GB" dirty="0"/>
          </a:p>
        </p:txBody>
      </p:sp>
      <p:sp>
        <p:nvSpPr>
          <p:cNvPr id="3" name="Content Placeholder 2"/>
          <p:cNvSpPr>
            <a:spLocks noGrp="1"/>
          </p:cNvSpPr>
          <p:nvPr>
            <p:ph idx="1"/>
          </p:nvPr>
        </p:nvSpPr>
        <p:spPr>
          <a:xfrm>
            <a:off x="457200" y="1196752"/>
            <a:ext cx="8229600" cy="4929411"/>
          </a:xfrm>
        </p:spPr>
        <p:txBody>
          <a:bodyPr>
            <a:normAutofit/>
          </a:bodyPr>
          <a:lstStyle/>
          <a:p>
            <a:pPr marL="0" indent="0">
              <a:buNone/>
            </a:pPr>
            <a:r>
              <a:rPr lang="en-GB" sz="3200" dirty="0"/>
              <a:t>Electricity is a useful and powerful tool in our daily life. Everything around us works with electricity such as lamps, TVs, </a:t>
            </a:r>
            <a:r>
              <a:rPr lang="en-GB" sz="3200" dirty="0" smtClean="0"/>
              <a:t>computers and mobile phones. </a:t>
            </a:r>
            <a:r>
              <a:rPr lang="en-GB" sz="3200" dirty="0"/>
              <a:t>Today, electricity has become such an essential part of our life that it is difficult to imagine life without it. Figure below shows examples of equipment that work on electricity, which demonstrate the importance of electricity in our daily life.</a:t>
            </a:r>
          </a:p>
          <a:p>
            <a:endParaRPr lang="en-GB" dirty="0"/>
          </a:p>
        </p:txBody>
      </p:sp>
    </p:spTree>
    <p:extLst>
      <p:ext uri="{BB962C8B-B14F-4D97-AF65-F5344CB8AC3E}">
        <p14:creationId xmlns:p14="http://schemas.microsoft.com/office/powerpoint/2010/main" val="211449346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56054"/>
            <a:ext cx="8229600" cy="1144754"/>
          </a:xfrm>
        </p:spPr>
        <p:txBody>
          <a:bodyPr>
            <a:normAutofit fontScale="90000"/>
          </a:bodyPr>
          <a:lstStyle/>
          <a:p>
            <a:pPr algn="ctr"/>
            <a:r>
              <a:rPr lang="en-GB" dirty="0"/>
              <a:t>E</a:t>
            </a:r>
            <a:r>
              <a:rPr lang="en-GB" dirty="0" smtClean="0"/>
              <a:t>xamples </a:t>
            </a:r>
            <a:r>
              <a:rPr lang="en-GB" dirty="0"/>
              <a:t>of equipment that work on </a:t>
            </a:r>
            <a:r>
              <a:rPr lang="en-GB" sz="4400" dirty="0"/>
              <a:t>electricity</a:t>
            </a:r>
          </a:p>
        </p:txBody>
      </p:sp>
      <p:pic>
        <p:nvPicPr>
          <p:cNvPr id="4" name="Content Placeholder 3"/>
          <p:cNvPicPr>
            <a:picLocks noGrp="1"/>
          </p:cNvPicPr>
          <p:nvPr>
            <p:ph idx="1"/>
          </p:nvPr>
        </p:nvPicPr>
        <p:blipFill rotWithShape="1">
          <a:blip r:embed="rId2">
            <a:extLst>
              <a:ext uri="{28A0092B-C50C-407E-A947-70E740481C1C}">
                <a14:useLocalDpi xmlns:a14="http://schemas.microsoft.com/office/drawing/2010/main" val="0"/>
              </a:ext>
            </a:extLst>
          </a:blip>
          <a:srcRect l="8721" t="2263" r="8421" b="1155"/>
          <a:stretch/>
        </p:blipFill>
        <p:spPr bwMode="auto">
          <a:xfrm>
            <a:off x="827584" y="1844824"/>
            <a:ext cx="7560840" cy="4713387"/>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93196288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94122"/>
          </a:xfrm>
        </p:spPr>
        <p:txBody>
          <a:bodyPr>
            <a:normAutofit/>
          </a:bodyPr>
          <a:lstStyle/>
          <a:p>
            <a:pPr algn="ctr"/>
            <a:r>
              <a:rPr lang="en-GB" sz="4000" dirty="0"/>
              <a:t>Examples of the dangers of electricity</a:t>
            </a:r>
          </a:p>
        </p:txBody>
      </p:sp>
      <p:sp>
        <p:nvSpPr>
          <p:cNvPr id="3" name="Content Placeholder 2"/>
          <p:cNvSpPr>
            <a:spLocks noGrp="1"/>
          </p:cNvSpPr>
          <p:nvPr>
            <p:ph idx="1"/>
          </p:nvPr>
        </p:nvSpPr>
        <p:spPr>
          <a:xfrm>
            <a:off x="107504" y="1268760"/>
            <a:ext cx="8856984" cy="4857403"/>
          </a:xfrm>
        </p:spPr>
        <p:txBody>
          <a:bodyPr>
            <a:normAutofit/>
          </a:bodyPr>
          <a:lstStyle/>
          <a:p>
            <a:pPr marL="0" indent="0">
              <a:buNone/>
            </a:pPr>
            <a:r>
              <a:rPr lang="en-GB" sz="2800" dirty="0"/>
              <a:t>However, electricity is very dangerous. It can cause shock, burn or kill you. Electricity can also damage sensitive </a:t>
            </a:r>
            <a:r>
              <a:rPr lang="en-GB" sz="2800" dirty="0" smtClean="0"/>
              <a:t>devices. This </a:t>
            </a:r>
            <a:r>
              <a:rPr lang="en-GB" sz="2800" dirty="0"/>
              <a:t>module covers the basic safety rules and practices that apply at home, outdoor, labs and workshops</a:t>
            </a:r>
          </a:p>
        </p:txBody>
      </p:sp>
      <p:pic>
        <p:nvPicPr>
          <p:cNvPr id="4" name="Picture 3"/>
          <p:cNvPicPr/>
          <p:nvPr/>
        </p:nvPicPr>
        <p:blipFill rotWithShape="1">
          <a:blip r:embed="rId2">
            <a:extLst>
              <a:ext uri="{28A0092B-C50C-407E-A947-70E740481C1C}">
                <a14:useLocalDpi xmlns:a14="http://schemas.microsoft.com/office/drawing/2010/main" val="0"/>
              </a:ext>
            </a:extLst>
          </a:blip>
          <a:srcRect l="18062" t="3855" r="21881" b="7470"/>
          <a:stretch/>
        </p:blipFill>
        <p:spPr bwMode="auto">
          <a:xfrm>
            <a:off x="2519199" y="3068960"/>
            <a:ext cx="4357057" cy="3617520"/>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47217980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22114"/>
          </a:xfrm>
        </p:spPr>
        <p:txBody>
          <a:bodyPr>
            <a:noAutofit/>
          </a:bodyPr>
          <a:lstStyle/>
          <a:p>
            <a:pPr lvl="1" algn="ctr" rtl="0">
              <a:spcBef>
                <a:spcPct val="0"/>
              </a:spcBef>
            </a:pPr>
            <a:r>
              <a:rPr lang="en-GB" sz="3600" dirty="0"/>
              <a:t/>
            </a:r>
            <a:br>
              <a:rPr lang="en-GB" sz="3600" dirty="0"/>
            </a:br>
            <a:r>
              <a:rPr lang="en-GB" sz="3600" b="1" dirty="0" smtClean="0"/>
              <a:t>Home Safety</a:t>
            </a:r>
            <a:endParaRPr lang="en-GB" sz="3600" dirty="0"/>
          </a:p>
        </p:txBody>
      </p:sp>
      <p:sp>
        <p:nvSpPr>
          <p:cNvPr id="3" name="Content Placeholder 2"/>
          <p:cNvSpPr>
            <a:spLocks noGrp="1"/>
          </p:cNvSpPr>
          <p:nvPr>
            <p:ph idx="1"/>
          </p:nvPr>
        </p:nvSpPr>
        <p:spPr>
          <a:xfrm>
            <a:off x="457200" y="1124744"/>
            <a:ext cx="8229600" cy="5001419"/>
          </a:xfrm>
        </p:spPr>
        <p:txBody>
          <a:bodyPr>
            <a:normAutofit/>
          </a:bodyPr>
          <a:lstStyle/>
          <a:p>
            <a:pPr marL="0" indent="0">
              <a:buNone/>
            </a:pPr>
            <a:r>
              <a:rPr lang="en-GB" sz="2800" dirty="0"/>
              <a:t>To protect your home from electrical risks and </a:t>
            </a:r>
            <a:r>
              <a:rPr lang="en-GB" sz="2800" dirty="0" smtClean="0"/>
              <a:t>hazards</a:t>
            </a:r>
            <a:r>
              <a:rPr lang="en-GB" sz="2800" dirty="0"/>
              <a:t>, you need to follow some home </a:t>
            </a:r>
            <a:r>
              <a:rPr lang="en-GB" sz="2800" dirty="0" smtClean="0"/>
              <a:t>safety</a:t>
            </a:r>
          </a:p>
          <a:p>
            <a:pPr marL="0" indent="0">
              <a:buNone/>
            </a:pPr>
            <a:r>
              <a:rPr lang="en-GB" sz="2800" b="1" dirty="0"/>
              <a:t>DON'T </a:t>
            </a:r>
            <a:r>
              <a:rPr lang="en-GB" sz="2800" dirty="0"/>
              <a:t>overload plugs as </a:t>
            </a:r>
            <a:r>
              <a:rPr lang="en-GB" sz="2800" dirty="0" smtClean="0"/>
              <a:t>this </a:t>
            </a:r>
            <a:r>
              <a:rPr lang="en-GB" sz="2800" dirty="0"/>
              <a:t>can cause electrical fire</a:t>
            </a:r>
            <a:r>
              <a:rPr lang="en-GB" sz="2800" dirty="0" smtClean="0"/>
              <a:t> </a:t>
            </a:r>
          </a:p>
          <a:p>
            <a:pPr marL="0" indent="0">
              <a:buNone/>
            </a:pPr>
            <a:r>
              <a:rPr lang="en-GB" sz="2800" b="1" dirty="0"/>
              <a:t>Never </a:t>
            </a:r>
            <a:r>
              <a:rPr lang="en-GB" sz="2800" dirty="0"/>
              <a:t>use an electrical appliance in a wet area. This can cause an electric shock</a:t>
            </a:r>
          </a:p>
        </p:txBody>
      </p:sp>
      <p:pic>
        <p:nvPicPr>
          <p:cNvPr id="4" name="Picture 3"/>
          <p:cNvPicPr/>
          <p:nvPr/>
        </p:nvPicPr>
        <p:blipFill>
          <a:blip r:embed="rId2">
            <a:extLst>
              <a:ext uri="{28A0092B-C50C-407E-A947-70E740481C1C}">
                <a14:useLocalDpi xmlns:a14="http://schemas.microsoft.com/office/drawing/2010/main" val="0"/>
              </a:ext>
            </a:extLst>
          </a:blip>
          <a:srcRect/>
          <a:stretch>
            <a:fillRect/>
          </a:stretch>
        </p:blipFill>
        <p:spPr bwMode="auto">
          <a:xfrm>
            <a:off x="539552" y="3933056"/>
            <a:ext cx="3096344" cy="2736304"/>
          </a:xfrm>
          <a:prstGeom prst="rect">
            <a:avLst/>
          </a:prstGeom>
          <a:noFill/>
          <a:ln>
            <a:noFill/>
          </a:ln>
        </p:spPr>
      </p:pic>
      <p:pic>
        <p:nvPicPr>
          <p:cNvPr id="5" name="Picture 4"/>
          <p:cNvPicPr/>
          <p:nvPr/>
        </p:nvPicPr>
        <p:blipFill rotWithShape="1">
          <a:blip r:embed="rId3" cstate="print">
            <a:extLst>
              <a:ext uri="{28A0092B-C50C-407E-A947-70E740481C1C}">
                <a14:useLocalDpi xmlns:a14="http://schemas.microsoft.com/office/drawing/2010/main" val="0"/>
              </a:ext>
            </a:extLst>
          </a:blip>
          <a:srcRect l="20312" t="18657" r="21461" b="10199"/>
          <a:stretch/>
        </p:blipFill>
        <p:spPr bwMode="auto">
          <a:xfrm>
            <a:off x="5004048" y="3641328"/>
            <a:ext cx="3672408" cy="3024336"/>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50646458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4843" y="332655"/>
            <a:ext cx="8229600" cy="720081"/>
          </a:xfrm>
        </p:spPr>
        <p:txBody>
          <a:bodyPr>
            <a:noAutofit/>
          </a:bodyPr>
          <a:lstStyle/>
          <a:p>
            <a:pPr algn="ctr"/>
            <a:r>
              <a:rPr lang="en-GB" sz="4000" b="1" dirty="0" smtClean="0"/>
              <a:t/>
            </a:r>
            <a:br>
              <a:rPr lang="en-GB" sz="4000" b="1" dirty="0" smtClean="0"/>
            </a:br>
            <a:r>
              <a:rPr lang="en-GB" sz="4000" b="1" dirty="0"/>
              <a:t/>
            </a:r>
            <a:br>
              <a:rPr lang="en-GB" sz="4000" b="1" dirty="0"/>
            </a:br>
            <a:r>
              <a:rPr lang="en-GB" sz="4000" b="1" dirty="0" smtClean="0"/>
              <a:t/>
            </a:r>
            <a:br>
              <a:rPr lang="en-GB" sz="4000" b="1" dirty="0" smtClean="0"/>
            </a:br>
            <a:r>
              <a:rPr lang="en-GB" sz="4000" dirty="0" smtClean="0"/>
              <a:t/>
            </a:r>
            <a:br>
              <a:rPr lang="en-GB" sz="4000" dirty="0" smtClean="0"/>
            </a:br>
            <a:r>
              <a:rPr lang="en-GB" sz="4000" b="1" dirty="0"/>
              <a:t>Home Safety </a:t>
            </a:r>
            <a:r>
              <a:rPr lang="en-GB" sz="4000" b="1" dirty="0" err="1"/>
              <a:t>Con’t</a:t>
            </a:r>
            <a:endParaRPr lang="en-GB" sz="4000" dirty="0"/>
          </a:p>
        </p:txBody>
      </p:sp>
      <p:sp>
        <p:nvSpPr>
          <p:cNvPr id="3" name="Content Placeholder 2"/>
          <p:cNvSpPr>
            <a:spLocks noGrp="1"/>
          </p:cNvSpPr>
          <p:nvPr>
            <p:ph idx="1"/>
          </p:nvPr>
        </p:nvSpPr>
        <p:spPr>
          <a:xfrm>
            <a:off x="251520" y="980728"/>
            <a:ext cx="8640960" cy="5145435"/>
          </a:xfrm>
        </p:spPr>
        <p:txBody>
          <a:bodyPr/>
          <a:lstStyle/>
          <a:p>
            <a:pPr lvl="0"/>
            <a:r>
              <a:rPr lang="en-GB" sz="2800" b="1" dirty="0"/>
              <a:t>DON’T </a:t>
            </a:r>
            <a:r>
              <a:rPr lang="en-GB" sz="2800" dirty="0"/>
              <a:t>pull on the cable to remove a plug from the socket. This can damage the insulation and cause an electric shock or an electrical fire.</a:t>
            </a:r>
          </a:p>
          <a:p>
            <a:pPr lvl="0"/>
            <a:r>
              <a:rPr lang="en-GB" sz="2800" b="1" dirty="0"/>
              <a:t>Never </a:t>
            </a:r>
            <a:r>
              <a:rPr lang="en-GB" sz="2800" dirty="0"/>
              <a:t>allow children to play with outlets. Inserting conductors in an electrical outlet is dangerous and can cause shock, which can kill a person.</a:t>
            </a:r>
          </a:p>
          <a:p>
            <a:endParaRPr lang="en-GB" dirty="0"/>
          </a:p>
        </p:txBody>
      </p:sp>
      <p:pic>
        <p:nvPicPr>
          <p:cNvPr id="4" name="Picture 3"/>
          <p:cNvPicPr/>
          <p:nvPr/>
        </p:nvPicPr>
        <p:blipFill>
          <a:blip r:embed="rId2"/>
          <a:stretch>
            <a:fillRect/>
          </a:stretch>
        </p:blipFill>
        <p:spPr>
          <a:xfrm>
            <a:off x="827584" y="3645024"/>
            <a:ext cx="2952328" cy="3024336"/>
          </a:xfrm>
          <a:prstGeom prst="rect">
            <a:avLst/>
          </a:prstGeom>
        </p:spPr>
      </p:pic>
      <p:pic>
        <p:nvPicPr>
          <p:cNvPr id="5" name="Picture 4"/>
          <p:cNvPicPr/>
          <p:nvPr/>
        </p:nvPicPr>
        <p:blipFill rotWithShape="1">
          <a:blip r:embed="rId3"/>
          <a:srcRect r="1982"/>
          <a:stretch/>
        </p:blipFill>
        <p:spPr bwMode="auto">
          <a:xfrm>
            <a:off x="5169070" y="3645024"/>
            <a:ext cx="3435378" cy="3024336"/>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98960159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22114"/>
          </a:xfrm>
        </p:spPr>
        <p:txBody>
          <a:bodyPr/>
          <a:lstStyle/>
          <a:p>
            <a:pPr algn="ctr"/>
            <a:r>
              <a:rPr lang="en-GB" b="1" dirty="0" smtClean="0"/>
              <a:t>Home Safety </a:t>
            </a:r>
            <a:r>
              <a:rPr lang="en-GB" b="1" dirty="0" err="1" smtClean="0"/>
              <a:t>Con’t</a:t>
            </a:r>
            <a:endParaRPr lang="en-GB" dirty="0"/>
          </a:p>
        </p:txBody>
      </p:sp>
      <p:sp>
        <p:nvSpPr>
          <p:cNvPr id="3" name="Content Placeholder 2"/>
          <p:cNvSpPr>
            <a:spLocks noGrp="1"/>
          </p:cNvSpPr>
          <p:nvPr>
            <p:ph idx="1"/>
          </p:nvPr>
        </p:nvSpPr>
        <p:spPr>
          <a:xfrm>
            <a:off x="457200" y="1124744"/>
            <a:ext cx="8229600" cy="5001419"/>
          </a:xfrm>
        </p:spPr>
        <p:txBody>
          <a:bodyPr/>
          <a:lstStyle/>
          <a:p>
            <a:r>
              <a:rPr lang="en-GB" dirty="0"/>
              <a:t>Plugs </a:t>
            </a:r>
            <a:r>
              <a:rPr lang="en-GB" b="1" dirty="0"/>
              <a:t>should be </a:t>
            </a:r>
            <a:r>
              <a:rPr lang="en-GB" dirty="0"/>
              <a:t>pushed carefully all the way into the power points.</a:t>
            </a:r>
          </a:p>
          <a:p>
            <a:r>
              <a:rPr lang="en-GB" b="1" dirty="0"/>
              <a:t>Replace </a:t>
            </a:r>
            <a:r>
              <a:rPr lang="en-GB" dirty="0"/>
              <a:t>the socket outlet if the plug is loose in the socket or if it shows signs of damage</a:t>
            </a:r>
          </a:p>
          <a:p>
            <a:pPr marL="0" indent="0">
              <a:buNone/>
            </a:pPr>
            <a:endParaRPr lang="en-GB" dirty="0"/>
          </a:p>
        </p:txBody>
      </p:sp>
      <p:pic>
        <p:nvPicPr>
          <p:cNvPr id="4" name="Picture 3"/>
          <p:cNvPicPr/>
          <p:nvPr/>
        </p:nvPicPr>
        <p:blipFill>
          <a:blip r:embed="rId2"/>
          <a:stretch>
            <a:fillRect/>
          </a:stretch>
        </p:blipFill>
        <p:spPr>
          <a:xfrm>
            <a:off x="179512" y="3501009"/>
            <a:ext cx="4248472" cy="2700138"/>
          </a:xfrm>
          <a:prstGeom prst="rect">
            <a:avLst/>
          </a:prstGeom>
        </p:spPr>
      </p:pic>
      <p:pic>
        <p:nvPicPr>
          <p:cNvPr id="5" name="Picture 4"/>
          <p:cNvPicPr/>
          <p:nvPr/>
        </p:nvPicPr>
        <p:blipFill rotWithShape="1">
          <a:blip r:embed="rId3"/>
          <a:srcRect l="-1" t="2538" r="1275"/>
          <a:stretch/>
        </p:blipFill>
        <p:spPr bwMode="auto">
          <a:xfrm>
            <a:off x="4571999" y="3501009"/>
            <a:ext cx="3744417" cy="2322126"/>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57237114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708688"/>
          </a:xfrm>
        </p:spPr>
        <p:txBody>
          <a:bodyPr>
            <a:normAutofit/>
          </a:bodyPr>
          <a:lstStyle/>
          <a:p>
            <a:pPr algn="ctr"/>
            <a:r>
              <a:rPr lang="en-GB" sz="4000" b="1" dirty="0" smtClean="0"/>
              <a:t>Home Safety </a:t>
            </a:r>
            <a:r>
              <a:rPr lang="en-GB" sz="4000" b="1" dirty="0" err="1" smtClean="0"/>
              <a:t>Con’t</a:t>
            </a:r>
            <a:endParaRPr lang="en-GB" sz="4000" dirty="0"/>
          </a:p>
        </p:txBody>
      </p:sp>
      <p:sp>
        <p:nvSpPr>
          <p:cNvPr id="3" name="Content Placeholder 2"/>
          <p:cNvSpPr>
            <a:spLocks noGrp="1"/>
          </p:cNvSpPr>
          <p:nvPr>
            <p:ph idx="1"/>
          </p:nvPr>
        </p:nvSpPr>
        <p:spPr>
          <a:xfrm>
            <a:off x="179512" y="1556792"/>
            <a:ext cx="8712968" cy="4569371"/>
          </a:xfrm>
        </p:spPr>
        <p:txBody>
          <a:bodyPr/>
          <a:lstStyle/>
          <a:p>
            <a:r>
              <a:rPr lang="en-GB" b="1" dirty="0" smtClean="0"/>
              <a:t>DON’T </a:t>
            </a:r>
            <a:r>
              <a:rPr lang="en-GB" dirty="0" smtClean="0"/>
              <a:t>make joints in a cable; replace it </a:t>
            </a:r>
            <a:r>
              <a:rPr lang="en-GB" dirty="0"/>
              <a:t>with one of adequate length</a:t>
            </a:r>
          </a:p>
          <a:p>
            <a:pPr lvl="0"/>
            <a:r>
              <a:rPr lang="en-GB" dirty="0"/>
              <a:t>Switches and power points </a:t>
            </a:r>
            <a:r>
              <a:rPr lang="en-GB" b="1" dirty="0"/>
              <a:t>should not </a:t>
            </a:r>
            <a:r>
              <a:rPr lang="en-GB" dirty="0"/>
              <a:t>be cracked, broken or loose.</a:t>
            </a:r>
          </a:p>
          <a:p>
            <a:endParaRPr lang="en-GB" dirty="0"/>
          </a:p>
        </p:txBody>
      </p:sp>
      <p:pic>
        <p:nvPicPr>
          <p:cNvPr id="4" name="Picture 3"/>
          <p:cNvPicPr/>
          <p:nvPr/>
        </p:nvPicPr>
        <p:blipFill>
          <a:blip r:embed="rId2"/>
          <a:stretch>
            <a:fillRect/>
          </a:stretch>
        </p:blipFill>
        <p:spPr>
          <a:xfrm>
            <a:off x="467544" y="3717032"/>
            <a:ext cx="4032448" cy="2822823"/>
          </a:xfrm>
          <a:prstGeom prst="rect">
            <a:avLst/>
          </a:prstGeom>
        </p:spPr>
      </p:pic>
      <p:pic>
        <p:nvPicPr>
          <p:cNvPr id="5" name="Picture 4"/>
          <p:cNvPicPr/>
          <p:nvPr/>
        </p:nvPicPr>
        <p:blipFill>
          <a:blip r:embed="rId3"/>
          <a:stretch>
            <a:fillRect/>
          </a:stretch>
        </p:blipFill>
        <p:spPr>
          <a:xfrm>
            <a:off x="4788024" y="3501008"/>
            <a:ext cx="3888432" cy="2808312"/>
          </a:xfrm>
          <a:prstGeom prst="rect">
            <a:avLst/>
          </a:prstGeom>
        </p:spPr>
      </p:pic>
    </p:spTree>
    <p:extLst>
      <p:ext uri="{BB962C8B-B14F-4D97-AF65-F5344CB8AC3E}">
        <p14:creationId xmlns:p14="http://schemas.microsoft.com/office/powerpoint/2010/main" val="116607124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78098"/>
          </a:xfrm>
        </p:spPr>
        <p:txBody>
          <a:bodyPr>
            <a:normAutofit/>
          </a:bodyPr>
          <a:lstStyle/>
          <a:p>
            <a:pPr algn="ctr"/>
            <a:r>
              <a:rPr lang="en-GB" sz="4000" b="1" dirty="0" smtClean="0"/>
              <a:t>Home Safety </a:t>
            </a:r>
            <a:r>
              <a:rPr lang="en-GB" sz="4000" b="1" dirty="0" err="1" smtClean="0"/>
              <a:t>Con’t</a:t>
            </a:r>
            <a:endParaRPr lang="en-GB" sz="4000" dirty="0"/>
          </a:p>
        </p:txBody>
      </p:sp>
      <p:sp>
        <p:nvSpPr>
          <p:cNvPr id="3" name="Content Placeholder 2"/>
          <p:cNvSpPr>
            <a:spLocks noGrp="1"/>
          </p:cNvSpPr>
          <p:nvPr>
            <p:ph idx="1"/>
          </p:nvPr>
        </p:nvSpPr>
        <p:spPr>
          <a:xfrm>
            <a:off x="251520" y="1052736"/>
            <a:ext cx="8640960" cy="5073427"/>
          </a:xfrm>
        </p:spPr>
        <p:txBody>
          <a:bodyPr/>
          <a:lstStyle/>
          <a:p>
            <a:pPr marL="0" indent="0">
              <a:buNone/>
            </a:pPr>
            <a:r>
              <a:rPr lang="en-GB" b="1" dirty="0"/>
              <a:t>DON’T </a:t>
            </a:r>
            <a:r>
              <a:rPr lang="en-GB" dirty="0"/>
              <a:t>let leads from electrical equipment, such as toasters or kettles, trail across your cooker tops</a:t>
            </a:r>
          </a:p>
          <a:p>
            <a:pPr marL="0" lvl="0" indent="0">
              <a:buNone/>
            </a:pPr>
            <a:r>
              <a:rPr lang="en-GB" dirty="0"/>
              <a:t>Always use plug protectors to stop small children from pushing things such as keys and pins into the power outlet.</a:t>
            </a:r>
          </a:p>
          <a:p>
            <a:pPr marL="0" indent="0">
              <a:buNone/>
            </a:pPr>
            <a:endParaRPr lang="en-GB" dirty="0"/>
          </a:p>
        </p:txBody>
      </p:sp>
      <p:pic>
        <p:nvPicPr>
          <p:cNvPr id="4" name="Picture 3"/>
          <p:cNvPicPr/>
          <p:nvPr/>
        </p:nvPicPr>
        <p:blipFill rotWithShape="1">
          <a:blip r:embed="rId3"/>
          <a:srcRect t="2095" r="1623"/>
          <a:stretch/>
        </p:blipFill>
        <p:spPr bwMode="auto">
          <a:xfrm>
            <a:off x="179512" y="3717032"/>
            <a:ext cx="3816424" cy="2880320"/>
          </a:xfrm>
          <a:prstGeom prst="rect">
            <a:avLst/>
          </a:prstGeom>
          <a:ln>
            <a:noFill/>
          </a:ln>
          <a:extLst>
            <a:ext uri="{53640926-AAD7-44D8-BBD7-CCE9431645EC}">
              <a14:shadowObscured xmlns:a14="http://schemas.microsoft.com/office/drawing/2010/main"/>
            </a:ext>
          </a:extLst>
        </p:spPr>
      </p:pic>
      <p:pic>
        <p:nvPicPr>
          <p:cNvPr id="5" name="Picture 4"/>
          <p:cNvPicPr/>
          <p:nvPr/>
        </p:nvPicPr>
        <p:blipFill>
          <a:blip r:embed="rId4">
            <a:extLst>
              <a:ext uri="{28A0092B-C50C-407E-A947-70E740481C1C}">
                <a14:useLocalDpi xmlns:a14="http://schemas.microsoft.com/office/drawing/2010/main" val="0"/>
              </a:ext>
            </a:extLst>
          </a:blip>
          <a:srcRect/>
          <a:stretch>
            <a:fillRect/>
          </a:stretch>
        </p:blipFill>
        <p:spPr bwMode="auto">
          <a:xfrm>
            <a:off x="4860032" y="3388246"/>
            <a:ext cx="3168352" cy="2977897"/>
          </a:xfrm>
          <a:prstGeom prst="rect">
            <a:avLst/>
          </a:prstGeom>
          <a:noFill/>
          <a:ln>
            <a:noFill/>
          </a:ln>
        </p:spPr>
      </p:pic>
    </p:spTree>
    <p:extLst>
      <p:ext uri="{BB962C8B-B14F-4D97-AF65-F5344CB8AC3E}">
        <p14:creationId xmlns:p14="http://schemas.microsoft.com/office/powerpoint/2010/main" val="425756681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852704"/>
          </a:xfrm>
        </p:spPr>
        <p:txBody>
          <a:bodyPr/>
          <a:lstStyle/>
          <a:p>
            <a:pPr algn="ctr"/>
            <a:r>
              <a:rPr lang="en-GB" b="1" dirty="0"/>
              <a:t>OUTDOOR SAFETY</a:t>
            </a:r>
            <a:endParaRPr lang="en-GB" dirty="0"/>
          </a:p>
        </p:txBody>
      </p:sp>
      <p:sp>
        <p:nvSpPr>
          <p:cNvPr id="3" name="Content Placeholder 2"/>
          <p:cNvSpPr>
            <a:spLocks noGrp="1"/>
          </p:cNvSpPr>
          <p:nvPr>
            <p:ph idx="1"/>
          </p:nvPr>
        </p:nvSpPr>
        <p:spPr/>
        <p:txBody>
          <a:bodyPr>
            <a:normAutofit/>
          </a:bodyPr>
          <a:lstStyle/>
          <a:p>
            <a:pPr marL="0" indent="0">
              <a:buNone/>
            </a:pPr>
            <a:r>
              <a:rPr lang="en-GB" sz="3600" dirty="0" smtClean="0"/>
              <a:t>There </a:t>
            </a:r>
            <a:r>
              <a:rPr lang="en-GB" sz="3600" dirty="0"/>
              <a:t>are many </a:t>
            </a:r>
            <a:r>
              <a:rPr lang="en-GB" sz="3600" dirty="0" smtClean="0"/>
              <a:t>outdoor </a:t>
            </a:r>
            <a:r>
              <a:rPr lang="en-GB" sz="3600" dirty="0"/>
              <a:t>electricity sources that can cause electricity hazards such as high voltage power lines, electricity substations and transformer boxes. To avoid accidents and protect yourself from electrical injuries, follow the next tips:</a:t>
            </a:r>
          </a:p>
        </p:txBody>
      </p:sp>
    </p:spTree>
    <p:extLst>
      <p:ext uri="{BB962C8B-B14F-4D97-AF65-F5344CB8AC3E}">
        <p14:creationId xmlns:p14="http://schemas.microsoft.com/office/powerpoint/2010/main" val="54091176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48680"/>
            <a:ext cx="8229600" cy="648072"/>
          </a:xfrm>
        </p:spPr>
        <p:txBody>
          <a:bodyPr>
            <a:noAutofit/>
          </a:bodyPr>
          <a:lstStyle/>
          <a:p>
            <a:pPr algn="ctr"/>
            <a:r>
              <a:rPr lang="en-GB" sz="4000" b="1" dirty="0" smtClean="0"/>
              <a:t>OUTDOOR SAFETY </a:t>
            </a:r>
            <a:r>
              <a:rPr lang="en-GB" sz="4000" b="1" dirty="0" err="1" smtClean="0"/>
              <a:t>Con’t</a:t>
            </a:r>
            <a:endParaRPr lang="en-GB" sz="4000" dirty="0"/>
          </a:p>
        </p:txBody>
      </p:sp>
      <p:sp>
        <p:nvSpPr>
          <p:cNvPr id="3" name="Content Placeholder 2"/>
          <p:cNvSpPr>
            <a:spLocks noGrp="1"/>
          </p:cNvSpPr>
          <p:nvPr>
            <p:ph idx="1"/>
          </p:nvPr>
        </p:nvSpPr>
        <p:spPr>
          <a:xfrm>
            <a:off x="457200" y="1196752"/>
            <a:ext cx="8229600" cy="4929411"/>
          </a:xfrm>
        </p:spPr>
        <p:txBody>
          <a:bodyPr/>
          <a:lstStyle/>
          <a:p>
            <a:pPr marL="0" indent="0">
              <a:buNone/>
            </a:pPr>
            <a:r>
              <a:rPr lang="en-GB" b="1" dirty="0" smtClean="0"/>
              <a:t>WHILE </a:t>
            </a:r>
            <a:r>
              <a:rPr lang="en-GB" b="1" dirty="0"/>
              <a:t>WORKING</a:t>
            </a:r>
            <a:endParaRPr lang="en-GB" dirty="0"/>
          </a:p>
          <a:p>
            <a:pPr marL="0" indent="0">
              <a:buNone/>
            </a:pPr>
            <a:r>
              <a:rPr lang="en-GB" b="1" dirty="0" smtClean="0"/>
              <a:t>Never </a:t>
            </a:r>
            <a:r>
              <a:rPr lang="en-GB" dirty="0"/>
              <a:t>bring ladders, long handled tools or other items within 10 feet of an overhead power </a:t>
            </a:r>
            <a:r>
              <a:rPr lang="en-GB" dirty="0" smtClean="0"/>
              <a:t>line</a:t>
            </a:r>
          </a:p>
          <a:p>
            <a:pPr marL="0" lvl="0" indent="0">
              <a:buNone/>
            </a:pPr>
            <a:r>
              <a:rPr lang="en-GB" b="1" dirty="0"/>
              <a:t>Never </a:t>
            </a:r>
            <a:r>
              <a:rPr lang="en-GB" dirty="0"/>
              <a:t>touch the underground power lines.</a:t>
            </a:r>
          </a:p>
          <a:p>
            <a:pPr marL="0" indent="0">
              <a:buNone/>
            </a:pPr>
            <a:endParaRPr lang="en-GB" dirty="0"/>
          </a:p>
        </p:txBody>
      </p:sp>
      <p:pic>
        <p:nvPicPr>
          <p:cNvPr id="4" name="Picture 3"/>
          <p:cNvPicPr/>
          <p:nvPr/>
        </p:nvPicPr>
        <p:blipFill>
          <a:blip r:embed="rId2">
            <a:extLst>
              <a:ext uri="{28A0092B-C50C-407E-A947-70E740481C1C}">
                <a14:useLocalDpi xmlns:a14="http://schemas.microsoft.com/office/drawing/2010/main" val="0"/>
              </a:ext>
            </a:extLst>
          </a:blip>
          <a:srcRect/>
          <a:stretch>
            <a:fillRect/>
          </a:stretch>
        </p:blipFill>
        <p:spPr bwMode="auto">
          <a:xfrm>
            <a:off x="755576" y="3284984"/>
            <a:ext cx="3312368" cy="3312368"/>
          </a:xfrm>
          <a:prstGeom prst="rect">
            <a:avLst/>
          </a:prstGeom>
          <a:noFill/>
          <a:ln>
            <a:noFill/>
          </a:ln>
        </p:spPr>
      </p:pic>
      <p:pic>
        <p:nvPicPr>
          <p:cNvPr id="5" name="Picture 4"/>
          <p:cNvPicPr/>
          <p:nvPr/>
        </p:nvPicPr>
        <p:blipFill>
          <a:blip r:embed="rId3"/>
          <a:stretch>
            <a:fillRect/>
          </a:stretch>
        </p:blipFill>
        <p:spPr>
          <a:xfrm>
            <a:off x="5004048" y="3429000"/>
            <a:ext cx="3626346" cy="3168352"/>
          </a:xfrm>
          <a:prstGeom prst="rect">
            <a:avLst/>
          </a:prstGeom>
        </p:spPr>
      </p:pic>
    </p:spTree>
    <p:extLst>
      <p:ext uri="{BB962C8B-B14F-4D97-AF65-F5344CB8AC3E}">
        <p14:creationId xmlns:p14="http://schemas.microsoft.com/office/powerpoint/2010/main" val="56817761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48680"/>
            <a:ext cx="8229600" cy="648072"/>
          </a:xfrm>
        </p:spPr>
        <p:txBody>
          <a:bodyPr>
            <a:noAutofit/>
          </a:bodyPr>
          <a:lstStyle/>
          <a:p>
            <a:pPr algn="ctr"/>
            <a:r>
              <a:rPr lang="en-GB" sz="4000" b="1" dirty="0" smtClean="0"/>
              <a:t>OUTDOOR SAFETY </a:t>
            </a:r>
            <a:r>
              <a:rPr lang="en-GB" sz="4000" b="1" dirty="0" err="1" smtClean="0"/>
              <a:t>Con’t</a:t>
            </a:r>
            <a:endParaRPr lang="en-GB" sz="4000" dirty="0"/>
          </a:p>
        </p:txBody>
      </p:sp>
      <p:sp>
        <p:nvSpPr>
          <p:cNvPr id="3" name="Content Placeholder 2"/>
          <p:cNvSpPr>
            <a:spLocks noGrp="1"/>
          </p:cNvSpPr>
          <p:nvPr>
            <p:ph idx="1"/>
          </p:nvPr>
        </p:nvSpPr>
        <p:spPr>
          <a:xfrm>
            <a:off x="358702" y="1124744"/>
            <a:ext cx="8784976" cy="5001419"/>
          </a:xfrm>
        </p:spPr>
        <p:txBody>
          <a:bodyPr/>
          <a:lstStyle/>
          <a:p>
            <a:pPr marL="0" indent="0">
              <a:buNone/>
            </a:pPr>
            <a:r>
              <a:rPr lang="en-GB" b="1" dirty="0"/>
              <a:t>WHILE </a:t>
            </a:r>
            <a:r>
              <a:rPr lang="en-GB" b="1" dirty="0" smtClean="0"/>
              <a:t>PLAYING</a:t>
            </a:r>
            <a:endParaRPr lang="en-GB" dirty="0"/>
          </a:p>
          <a:p>
            <a:pPr marL="0" indent="0">
              <a:buNone/>
            </a:pPr>
            <a:r>
              <a:rPr lang="en-GB" sz="2800" b="1" dirty="0"/>
              <a:t>Never </a:t>
            </a:r>
            <a:r>
              <a:rPr lang="en-GB" sz="2800" dirty="0"/>
              <a:t>play with transformers because they carry high voltages that can be </a:t>
            </a:r>
            <a:r>
              <a:rPr lang="en-GB" sz="2800" dirty="0" smtClean="0"/>
              <a:t>deadly</a:t>
            </a:r>
          </a:p>
          <a:p>
            <a:pPr marL="0" indent="0">
              <a:buNone/>
            </a:pPr>
            <a:r>
              <a:rPr lang="en-GB" sz="2800" b="1" dirty="0"/>
              <a:t>Never </a:t>
            </a:r>
            <a:r>
              <a:rPr lang="en-GB" sz="2800" dirty="0"/>
              <a:t>fly kites or model airplanes near electric power lines</a:t>
            </a:r>
          </a:p>
        </p:txBody>
      </p:sp>
      <p:pic>
        <p:nvPicPr>
          <p:cNvPr id="4" name="Picture 3"/>
          <p:cNvPicPr/>
          <p:nvPr/>
        </p:nvPicPr>
        <p:blipFill>
          <a:blip r:embed="rId2"/>
          <a:stretch>
            <a:fillRect/>
          </a:stretch>
        </p:blipFill>
        <p:spPr>
          <a:xfrm>
            <a:off x="308899" y="3437825"/>
            <a:ext cx="2715895" cy="2980417"/>
          </a:xfrm>
          <a:prstGeom prst="rect">
            <a:avLst/>
          </a:prstGeom>
        </p:spPr>
      </p:pic>
      <p:pic>
        <p:nvPicPr>
          <p:cNvPr id="5" name="Picture 4" descr="Copy of electrical_transformer.jpg"/>
          <p:cNvPicPr/>
          <p:nvPr/>
        </p:nvPicPr>
        <p:blipFill>
          <a:blip r:embed="rId3">
            <a:extLst>
              <a:ext uri="{28A0092B-C50C-407E-A947-70E740481C1C}">
                <a14:useLocalDpi xmlns:a14="http://schemas.microsoft.com/office/drawing/2010/main" val="0"/>
              </a:ext>
            </a:extLst>
          </a:blip>
          <a:srcRect/>
          <a:stretch>
            <a:fillRect/>
          </a:stretch>
        </p:blipFill>
        <p:spPr bwMode="auto">
          <a:xfrm>
            <a:off x="3160500" y="3437824"/>
            <a:ext cx="2758072" cy="29640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5"/>
          <p:cNvPicPr/>
          <p:nvPr/>
        </p:nvPicPr>
        <p:blipFill rotWithShape="1">
          <a:blip r:embed="rId4"/>
          <a:srcRect l="3125" t="1888" r="1875" b="2682"/>
          <a:stretch/>
        </p:blipFill>
        <p:spPr bwMode="auto">
          <a:xfrm>
            <a:off x="6012160" y="3437825"/>
            <a:ext cx="2855997" cy="3053238"/>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58157428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06090"/>
          </a:xfrm>
        </p:spPr>
        <p:txBody>
          <a:bodyPr>
            <a:normAutofit/>
          </a:bodyPr>
          <a:lstStyle/>
          <a:p>
            <a:pPr algn="ctr"/>
            <a:r>
              <a:rPr lang="en-GB" sz="4000" b="1" dirty="0"/>
              <a:t>OUTDOOR SAFETY </a:t>
            </a:r>
            <a:r>
              <a:rPr lang="en-GB" sz="4000" b="1" dirty="0" err="1"/>
              <a:t>Con’t</a:t>
            </a:r>
            <a:endParaRPr lang="en-GB" sz="4000" dirty="0"/>
          </a:p>
        </p:txBody>
      </p:sp>
      <p:sp>
        <p:nvSpPr>
          <p:cNvPr id="3" name="Content Placeholder 2"/>
          <p:cNvSpPr>
            <a:spLocks noGrp="1"/>
          </p:cNvSpPr>
          <p:nvPr>
            <p:ph idx="1"/>
          </p:nvPr>
        </p:nvSpPr>
        <p:spPr>
          <a:xfrm>
            <a:off x="457200" y="1052736"/>
            <a:ext cx="8229600" cy="5073427"/>
          </a:xfrm>
        </p:spPr>
        <p:txBody>
          <a:bodyPr>
            <a:normAutofit/>
          </a:bodyPr>
          <a:lstStyle/>
          <a:p>
            <a:pPr marL="0" lvl="0" indent="0">
              <a:buNone/>
            </a:pPr>
            <a:r>
              <a:rPr lang="en-GB" sz="2800" b="1" dirty="0"/>
              <a:t>DON'T </a:t>
            </a:r>
            <a:r>
              <a:rPr lang="en-GB" sz="2800" dirty="0"/>
              <a:t>play near live power lines. If you see a downed power line, stay as far away as possible and keep others away.</a:t>
            </a:r>
          </a:p>
          <a:p>
            <a:pPr marL="0" indent="0">
              <a:buNone/>
            </a:pPr>
            <a:r>
              <a:rPr lang="en-GB" sz="2800" b="1" dirty="0"/>
              <a:t>DON'T </a:t>
            </a:r>
            <a:r>
              <a:rPr lang="en-GB" sz="2800" dirty="0"/>
              <a:t>play near electricity substations. They contain </a:t>
            </a:r>
            <a:r>
              <a:rPr lang="en-GB" sz="2800" dirty="0" smtClean="0"/>
              <a:t>powerful </a:t>
            </a:r>
            <a:r>
              <a:rPr lang="en-GB" sz="2800" dirty="0"/>
              <a:t>electrical equipment that is </a:t>
            </a:r>
            <a:r>
              <a:rPr lang="en-GB" sz="2800" dirty="0" smtClean="0"/>
              <a:t>dangerous     </a:t>
            </a:r>
          </a:p>
          <a:p>
            <a:pPr marL="0" indent="0">
              <a:buNone/>
            </a:pPr>
            <a:r>
              <a:rPr lang="en-GB" sz="2800" b="1" dirty="0"/>
              <a:t>DON'T </a:t>
            </a:r>
            <a:r>
              <a:rPr lang="en-GB" sz="2800" dirty="0"/>
              <a:t>climb trees that are near power lines. This can seriously injure you</a:t>
            </a:r>
            <a:r>
              <a:rPr lang="en-GB" sz="2800" dirty="0" smtClean="0"/>
              <a:t>  </a:t>
            </a:r>
          </a:p>
          <a:p>
            <a:pPr marL="0" indent="0">
              <a:buNone/>
            </a:pPr>
            <a:endParaRPr lang="en-GB" sz="2800" dirty="0"/>
          </a:p>
        </p:txBody>
      </p:sp>
      <p:pic>
        <p:nvPicPr>
          <p:cNvPr id="4" name="Picture 3"/>
          <p:cNvPicPr/>
          <p:nvPr/>
        </p:nvPicPr>
        <p:blipFill>
          <a:blip r:embed="rId2"/>
          <a:stretch>
            <a:fillRect/>
          </a:stretch>
        </p:blipFill>
        <p:spPr>
          <a:xfrm>
            <a:off x="107502" y="4311979"/>
            <a:ext cx="2088233" cy="2271142"/>
          </a:xfrm>
          <a:prstGeom prst="rect">
            <a:avLst/>
          </a:prstGeom>
        </p:spPr>
      </p:pic>
      <p:pic>
        <p:nvPicPr>
          <p:cNvPr id="5" name="Picture 4"/>
          <p:cNvPicPr/>
          <p:nvPr/>
        </p:nvPicPr>
        <p:blipFill>
          <a:blip r:embed="rId3"/>
          <a:stretch>
            <a:fillRect/>
          </a:stretch>
        </p:blipFill>
        <p:spPr>
          <a:xfrm>
            <a:off x="6982264" y="4363668"/>
            <a:ext cx="2016224" cy="2087325"/>
          </a:xfrm>
          <a:prstGeom prst="rect">
            <a:avLst/>
          </a:prstGeom>
        </p:spPr>
      </p:pic>
      <p:pic>
        <p:nvPicPr>
          <p:cNvPr id="6" name="Picture 5" descr="0_P9136866.jpg"/>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499992" y="4419991"/>
            <a:ext cx="2448271" cy="2055118"/>
          </a:xfrm>
          <a:prstGeom prst="rect">
            <a:avLst/>
          </a:prstGeom>
          <a:noFill/>
          <a:ln>
            <a:noFill/>
          </a:ln>
          <a:extLst/>
        </p:spPr>
      </p:pic>
      <p:pic>
        <p:nvPicPr>
          <p:cNvPr id="7" name="Picture 6"/>
          <p:cNvPicPr/>
          <p:nvPr/>
        </p:nvPicPr>
        <p:blipFill>
          <a:blip r:embed="rId5"/>
          <a:stretch>
            <a:fillRect/>
          </a:stretch>
        </p:blipFill>
        <p:spPr>
          <a:xfrm>
            <a:off x="2274652" y="4311979"/>
            <a:ext cx="2144790" cy="2271142"/>
          </a:xfrm>
          <a:prstGeom prst="rect">
            <a:avLst/>
          </a:prstGeom>
        </p:spPr>
      </p:pic>
    </p:spTree>
    <p:extLst>
      <p:ext uri="{BB962C8B-B14F-4D97-AF65-F5344CB8AC3E}">
        <p14:creationId xmlns:p14="http://schemas.microsoft.com/office/powerpoint/2010/main" val="338969485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924712"/>
          </a:xfrm>
        </p:spPr>
        <p:txBody>
          <a:bodyPr/>
          <a:lstStyle/>
          <a:p>
            <a:r>
              <a:rPr lang="en-GB" b="1" dirty="0"/>
              <a:t> LABS &amp; WORKSHOPS SAFETY</a:t>
            </a:r>
            <a:endParaRPr lang="en-GB" dirty="0"/>
          </a:p>
        </p:txBody>
      </p:sp>
      <p:sp>
        <p:nvSpPr>
          <p:cNvPr id="3" name="Content Placeholder 2"/>
          <p:cNvSpPr>
            <a:spLocks noGrp="1"/>
          </p:cNvSpPr>
          <p:nvPr>
            <p:ph idx="1"/>
          </p:nvPr>
        </p:nvSpPr>
        <p:spPr/>
        <p:txBody>
          <a:bodyPr>
            <a:normAutofit/>
          </a:bodyPr>
          <a:lstStyle/>
          <a:p>
            <a:r>
              <a:rPr lang="en-GB" dirty="0"/>
              <a:t>Before you can use equipment and machines or attempt practical work in a workshop or a lab, you must understand basic safety rules. </a:t>
            </a:r>
            <a:r>
              <a:rPr lang="en-GB" dirty="0" smtClean="0"/>
              <a:t>Following </a:t>
            </a:r>
            <a:r>
              <a:rPr lang="en-GB" dirty="0"/>
              <a:t>safety rules will </a:t>
            </a:r>
            <a:r>
              <a:rPr lang="en-GB" dirty="0" smtClean="0"/>
              <a:t> </a:t>
            </a:r>
            <a:r>
              <a:rPr lang="en-GB" dirty="0"/>
              <a:t>prevent you and others from accidents, injuries as well as death. To avoid accidents and injuries in the workshops and labs, follow the next safety rules and practices:</a:t>
            </a:r>
          </a:p>
          <a:p>
            <a:endParaRPr lang="en-GB" dirty="0"/>
          </a:p>
        </p:txBody>
      </p:sp>
    </p:spTree>
    <p:extLst>
      <p:ext uri="{BB962C8B-B14F-4D97-AF65-F5344CB8AC3E}">
        <p14:creationId xmlns:p14="http://schemas.microsoft.com/office/powerpoint/2010/main" val="133765990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564672"/>
          </a:xfrm>
        </p:spPr>
        <p:txBody>
          <a:bodyPr>
            <a:noAutofit/>
          </a:bodyPr>
          <a:lstStyle/>
          <a:p>
            <a:pPr algn="ctr"/>
            <a:r>
              <a:rPr lang="en-GB" sz="4000" b="1" dirty="0"/>
              <a:t>LABS &amp; WORKSHOPS </a:t>
            </a:r>
            <a:r>
              <a:rPr lang="en-GB" sz="4000" b="1" dirty="0" smtClean="0"/>
              <a:t>SAFETY </a:t>
            </a:r>
            <a:r>
              <a:rPr lang="en-GB" sz="4000" b="1" dirty="0" err="1" smtClean="0"/>
              <a:t>Con’t</a:t>
            </a:r>
            <a:endParaRPr lang="en-GB" sz="4000" dirty="0"/>
          </a:p>
        </p:txBody>
      </p:sp>
      <p:sp>
        <p:nvSpPr>
          <p:cNvPr id="3" name="Content Placeholder 2"/>
          <p:cNvSpPr>
            <a:spLocks noGrp="1"/>
          </p:cNvSpPr>
          <p:nvPr>
            <p:ph idx="1"/>
          </p:nvPr>
        </p:nvSpPr>
        <p:spPr>
          <a:xfrm>
            <a:off x="457200" y="1340768"/>
            <a:ext cx="8229600" cy="4785395"/>
          </a:xfrm>
        </p:spPr>
        <p:txBody>
          <a:bodyPr/>
          <a:lstStyle/>
          <a:p>
            <a:pPr marL="0" indent="0">
              <a:buNone/>
            </a:pPr>
            <a:r>
              <a:rPr lang="en-GB" sz="2800" b="1" dirty="0"/>
              <a:t>Before conducting workshop tasks, be familiar with the location of:</a:t>
            </a:r>
            <a:endParaRPr lang="en-GB" sz="2800" dirty="0"/>
          </a:p>
          <a:p>
            <a:pPr>
              <a:buFont typeface="Wingdings" pitchFamily="2" charset="2"/>
              <a:buChar char="v"/>
            </a:pPr>
            <a:r>
              <a:rPr lang="en-GB" sz="2800" dirty="0" smtClean="0"/>
              <a:t>Fire </a:t>
            </a:r>
            <a:r>
              <a:rPr lang="en-GB" sz="2800" dirty="0"/>
              <a:t>extinguishers</a:t>
            </a:r>
          </a:p>
          <a:p>
            <a:pPr>
              <a:buFont typeface="Wingdings" pitchFamily="2" charset="2"/>
              <a:buChar char="v"/>
            </a:pPr>
            <a:r>
              <a:rPr lang="en-GB" sz="2800" dirty="0"/>
              <a:t>Fire alarm pull </a:t>
            </a:r>
            <a:r>
              <a:rPr lang="en-GB" sz="2800" dirty="0" smtClean="0"/>
              <a:t>stations</a:t>
            </a:r>
          </a:p>
          <a:p>
            <a:pPr lvl="0">
              <a:buFont typeface="Wingdings" pitchFamily="2" charset="2"/>
              <a:buChar char="v"/>
            </a:pPr>
            <a:r>
              <a:rPr lang="en-GB" sz="2800" dirty="0"/>
              <a:t>First aid kits</a:t>
            </a:r>
          </a:p>
          <a:p>
            <a:pPr marL="0" indent="0">
              <a:buNone/>
            </a:pPr>
            <a:endParaRPr lang="en-GB" dirty="0"/>
          </a:p>
        </p:txBody>
      </p:sp>
      <p:pic>
        <p:nvPicPr>
          <p:cNvPr id="4" name="Picture 3"/>
          <p:cNvPicPr/>
          <p:nvPr/>
        </p:nvPicPr>
        <p:blipFill>
          <a:blip r:embed="rId2"/>
          <a:stretch>
            <a:fillRect/>
          </a:stretch>
        </p:blipFill>
        <p:spPr>
          <a:xfrm>
            <a:off x="179512" y="4206798"/>
            <a:ext cx="2016224" cy="1966306"/>
          </a:xfrm>
          <a:prstGeom prst="rect">
            <a:avLst/>
          </a:prstGeom>
        </p:spPr>
      </p:pic>
      <p:pic>
        <p:nvPicPr>
          <p:cNvPr id="5" name="Picture 4"/>
          <p:cNvPicPr/>
          <p:nvPr/>
        </p:nvPicPr>
        <p:blipFill>
          <a:blip r:embed="rId3"/>
          <a:stretch>
            <a:fillRect/>
          </a:stretch>
        </p:blipFill>
        <p:spPr>
          <a:xfrm>
            <a:off x="2307953" y="4141873"/>
            <a:ext cx="2074490" cy="2031231"/>
          </a:xfrm>
          <a:prstGeom prst="rect">
            <a:avLst/>
          </a:prstGeom>
        </p:spPr>
      </p:pic>
      <p:pic>
        <p:nvPicPr>
          <p:cNvPr id="6" name="Picture 5"/>
          <p:cNvPicPr/>
          <p:nvPr/>
        </p:nvPicPr>
        <p:blipFill>
          <a:blip r:embed="rId4"/>
          <a:stretch>
            <a:fillRect/>
          </a:stretch>
        </p:blipFill>
        <p:spPr>
          <a:xfrm>
            <a:off x="4617541" y="4141873"/>
            <a:ext cx="2376264" cy="1976400"/>
          </a:xfrm>
          <a:prstGeom prst="rect">
            <a:avLst/>
          </a:prstGeom>
        </p:spPr>
      </p:pic>
      <p:pic>
        <p:nvPicPr>
          <p:cNvPr id="7" name="Picture 6"/>
          <p:cNvPicPr/>
          <p:nvPr/>
        </p:nvPicPr>
        <p:blipFill>
          <a:blip r:embed="rId5"/>
          <a:stretch>
            <a:fillRect/>
          </a:stretch>
        </p:blipFill>
        <p:spPr>
          <a:xfrm>
            <a:off x="6876256" y="4206798"/>
            <a:ext cx="2047875" cy="1911475"/>
          </a:xfrm>
          <a:prstGeom prst="rect">
            <a:avLst/>
          </a:prstGeom>
        </p:spPr>
      </p:pic>
    </p:spTree>
    <p:extLst>
      <p:ext uri="{BB962C8B-B14F-4D97-AF65-F5344CB8AC3E}">
        <p14:creationId xmlns:p14="http://schemas.microsoft.com/office/powerpoint/2010/main" val="31450866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88640"/>
            <a:ext cx="8229600" cy="1143000"/>
          </a:xfrm>
        </p:spPr>
        <p:txBody>
          <a:bodyPr>
            <a:normAutofit fontScale="90000"/>
          </a:bodyPr>
          <a:lstStyle/>
          <a:p>
            <a:r>
              <a:rPr lang="en-GB" b="1" dirty="0"/>
              <a:t>LABS &amp; WORKSHOPS SAFETY </a:t>
            </a:r>
            <a:r>
              <a:rPr lang="en-GB" b="1" dirty="0" err="1"/>
              <a:t>Con’t</a:t>
            </a:r>
            <a:endParaRPr lang="en-GB" dirty="0"/>
          </a:p>
        </p:txBody>
      </p:sp>
      <p:sp>
        <p:nvSpPr>
          <p:cNvPr id="3" name="Content Placeholder 2"/>
          <p:cNvSpPr>
            <a:spLocks noGrp="1"/>
          </p:cNvSpPr>
          <p:nvPr>
            <p:ph idx="1"/>
          </p:nvPr>
        </p:nvSpPr>
        <p:spPr>
          <a:xfrm>
            <a:off x="457200" y="1484784"/>
            <a:ext cx="8229600" cy="4839816"/>
          </a:xfrm>
        </p:spPr>
        <p:txBody>
          <a:bodyPr/>
          <a:lstStyle/>
          <a:p>
            <a:pPr lvl="0"/>
            <a:r>
              <a:rPr lang="en-GB" sz="2800" dirty="0"/>
              <a:t>Emergency telephone numbers.</a:t>
            </a:r>
          </a:p>
          <a:p>
            <a:pPr lvl="0"/>
            <a:r>
              <a:rPr lang="en-GB" sz="2800" dirty="0"/>
              <a:t>Emergency exits.</a:t>
            </a:r>
          </a:p>
          <a:p>
            <a:r>
              <a:rPr lang="en-GB" sz="2800" dirty="0"/>
              <a:t>Emergency stop button.</a:t>
            </a:r>
          </a:p>
          <a:p>
            <a:pPr lvl="0"/>
            <a:r>
              <a:rPr lang="en-GB" sz="2800" dirty="0"/>
              <a:t>Smoking, eating or drinking are </a:t>
            </a:r>
            <a:r>
              <a:rPr lang="en-GB" sz="2800" b="1" dirty="0"/>
              <a:t>not permitted </a:t>
            </a:r>
            <a:r>
              <a:rPr lang="en-GB" sz="2800" dirty="0"/>
              <a:t>in labs and workshops</a:t>
            </a:r>
          </a:p>
          <a:p>
            <a:endParaRPr lang="en-GB" dirty="0"/>
          </a:p>
        </p:txBody>
      </p:sp>
      <p:pic>
        <p:nvPicPr>
          <p:cNvPr id="4" name="Picture 3"/>
          <p:cNvPicPr/>
          <p:nvPr/>
        </p:nvPicPr>
        <p:blipFill>
          <a:blip r:embed="rId2"/>
          <a:stretch>
            <a:fillRect/>
          </a:stretch>
        </p:blipFill>
        <p:spPr>
          <a:xfrm>
            <a:off x="6516216" y="4125553"/>
            <a:ext cx="2448272" cy="1755135"/>
          </a:xfrm>
          <a:prstGeom prst="rect">
            <a:avLst/>
          </a:prstGeom>
        </p:spPr>
      </p:pic>
      <p:pic>
        <p:nvPicPr>
          <p:cNvPr id="5" name="Picture 4"/>
          <p:cNvPicPr/>
          <p:nvPr/>
        </p:nvPicPr>
        <p:blipFill>
          <a:blip r:embed="rId3"/>
          <a:stretch>
            <a:fillRect/>
          </a:stretch>
        </p:blipFill>
        <p:spPr>
          <a:xfrm>
            <a:off x="4808034" y="4291253"/>
            <a:ext cx="1584176" cy="1589435"/>
          </a:xfrm>
          <a:prstGeom prst="rect">
            <a:avLst/>
          </a:prstGeom>
        </p:spPr>
      </p:pic>
      <p:pic>
        <p:nvPicPr>
          <p:cNvPr id="6" name="Picture 5"/>
          <p:cNvPicPr/>
          <p:nvPr/>
        </p:nvPicPr>
        <p:blipFill>
          <a:blip r:embed="rId4"/>
          <a:stretch>
            <a:fillRect/>
          </a:stretch>
        </p:blipFill>
        <p:spPr>
          <a:xfrm>
            <a:off x="2411760" y="4291253"/>
            <a:ext cx="2160240" cy="1872208"/>
          </a:xfrm>
          <a:prstGeom prst="rect">
            <a:avLst/>
          </a:prstGeom>
        </p:spPr>
      </p:pic>
      <p:pic>
        <p:nvPicPr>
          <p:cNvPr id="7" name="Picture 6"/>
          <p:cNvPicPr/>
          <p:nvPr/>
        </p:nvPicPr>
        <p:blipFill>
          <a:blip r:embed="rId5"/>
          <a:stretch>
            <a:fillRect/>
          </a:stretch>
        </p:blipFill>
        <p:spPr>
          <a:xfrm>
            <a:off x="179512" y="4365104"/>
            <a:ext cx="2016224" cy="1872208"/>
          </a:xfrm>
          <a:prstGeom prst="rect">
            <a:avLst/>
          </a:prstGeom>
        </p:spPr>
      </p:pic>
    </p:spTree>
    <p:extLst>
      <p:ext uri="{BB962C8B-B14F-4D97-AF65-F5344CB8AC3E}">
        <p14:creationId xmlns:p14="http://schemas.microsoft.com/office/powerpoint/2010/main" val="303660728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636680"/>
          </a:xfrm>
        </p:spPr>
        <p:txBody>
          <a:bodyPr>
            <a:noAutofit/>
          </a:bodyPr>
          <a:lstStyle/>
          <a:p>
            <a:pPr algn="ctr"/>
            <a:r>
              <a:rPr lang="en-GB" sz="4000" b="1" dirty="0"/>
              <a:t>LABS &amp; WORKSHOPS SAFETY </a:t>
            </a:r>
            <a:r>
              <a:rPr lang="en-GB" sz="4000" b="1" dirty="0" err="1"/>
              <a:t>Con’t</a:t>
            </a:r>
            <a:endParaRPr lang="en-GB" sz="4000" dirty="0"/>
          </a:p>
        </p:txBody>
      </p:sp>
      <p:sp>
        <p:nvSpPr>
          <p:cNvPr id="3" name="Content Placeholder 2"/>
          <p:cNvSpPr>
            <a:spLocks noGrp="1"/>
          </p:cNvSpPr>
          <p:nvPr>
            <p:ph idx="1"/>
          </p:nvPr>
        </p:nvSpPr>
        <p:spPr>
          <a:xfrm>
            <a:off x="457200" y="1556792"/>
            <a:ext cx="8229600" cy="4569371"/>
          </a:xfrm>
        </p:spPr>
        <p:txBody>
          <a:bodyPr/>
          <a:lstStyle/>
          <a:p>
            <a:pPr lvl="0"/>
            <a:r>
              <a:rPr lang="en-GB" sz="2800" dirty="0"/>
              <a:t>Keep the workshop clean and tidy at all times</a:t>
            </a:r>
          </a:p>
          <a:p>
            <a:pPr lvl="0"/>
            <a:r>
              <a:rPr lang="en-GB" sz="2800" dirty="0"/>
              <a:t>Keep the workshop floor dry</a:t>
            </a:r>
          </a:p>
          <a:p>
            <a:r>
              <a:rPr lang="en-GB" sz="2800" dirty="0"/>
              <a:t>Keep your tools and work area organized</a:t>
            </a:r>
          </a:p>
          <a:p>
            <a:pPr marL="0" indent="0">
              <a:buNone/>
            </a:pPr>
            <a:endParaRPr lang="en-GB" dirty="0"/>
          </a:p>
        </p:txBody>
      </p:sp>
      <p:pic>
        <p:nvPicPr>
          <p:cNvPr id="5" name="Picture 4"/>
          <p:cNvPicPr/>
          <p:nvPr/>
        </p:nvPicPr>
        <p:blipFill>
          <a:blip r:embed="rId2"/>
          <a:stretch>
            <a:fillRect/>
          </a:stretch>
        </p:blipFill>
        <p:spPr>
          <a:xfrm>
            <a:off x="5652120" y="3288678"/>
            <a:ext cx="3240360" cy="2948634"/>
          </a:xfrm>
          <a:prstGeom prst="rect">
            <a:avLst/>
          </a:prstGeom>
        </p:spPr>
      </p:pic>
      <p:pic>
        <p:nvPicPr>
          <p:cNvPr id="6" name="Picture 5"/>
          <p:cNvPicPr/>
          <p:nvPr/>
        </p:nvPicPr>
        <p:blipFill rotWithShape="1">
          <a:blip r:embed="rId3"/>
          <a:srcRect t="4308"/>
          <a:stretch/>
        </p:blipFill>
        <p:spPr bwMode="auto">
          <a:xfrm>
            <a:off x="2987824" y="3205482"/>
            <a:ext cx="2664296" cy="2837457"/>
          </a:xfrm>
          <a:prstGeom prst="rect">
            <a:avLst/>
          </a:prstGeom>
          <a:ln>
            <a:noFill/>
          </a:ln>
          <a:extLst>
            <a:ext uri="{53640926-AAD7-44D8-BBD7-CCE9431645EC}">
              <a14:shadowObscured xmlns:a14="http://schemas.microsoft.com/office/drawing/2010/main"/>
            </a:ext>
          </a:extLst>
        </p:spPr>
      </p:pic>
      <p:pic>
        <p:nvPicPr>
          <p:cNvPr id="7" name="Picture 6"/>
          <p:cNvPicPr/>
          <p:nvPr/>
        </p:nvPicPr>
        <p:blipFill>
          <a:blip r:embed="rId4"/>
          <a:stretch>
            <a:fillRect/>
          </a:stretch>
        </p:blipFill>
        <p:spPr>
          <a:xfrm>
            <a:off x="107504" y="3212976"/>
            <a:ext cx="2880320" cy="2572891"/>
          </a:xfrm>
          <a:prstGeom prst="rect">
            <a:avLst/>
          </a:prstGeom>
        </p:spPr>
      </p:pic>
    </p:spTree>
    <p:extLst>
      <p:ext uri="{BB962C8B-B14F-4D97-AF65-F5344CB8AC3E}">
        <p14:creationId xmlns:p14="http://schemas.microsoft.com/office/powerpoint/2010/main" val="317844950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564672"/>
          </a:xfrm>
        </p:spPr>
        <p:txBody>
          <a:bodyPr>
            <a:noAutofit/>
          </a:bodyPr>
          <a:lstStyle/>
          <a:p>
            <a:pPr algn="ctr"/>
            <a:r>
              <a:rPr lang="en-GB" sz="4000" b="1" dirty="0"/>
              <a:t>LABS &amp; WORKSHOPS SAFETY </a:t>
            </a:r>
            <a:r>
              <a:rPr lang="en-GB" sz="4000" b="1" dirty="0" err="1"/>
              <a:t>Con’t</a:t>
            </a:r>
            <a:endParaRPr lang="en-GB" sz="4000" dirty="0"/>
          </a:p>
        </p:txBody>
      </p:sp>
      <p:sp>
        <p:nvSpPr>
          <p:cNvPr id="3" name="Content Placeholder 2"/>
          <p:cNvSpPr>
            <a:spLocks noGrp="1"/>
          </p:cNvSpPr>
          <p:nvPr>
            <p:ph idx="1"/>
          </p:nvPr>
        </p:nvSpPr>
        <p:spPr>
          <a:xfrm>
            <a:off x="107504" y="1412776"/>
            <a:ext cx="8856984" cy="4713387"/>
          </a:xfrm>
        </p:spPr>
        <p:txBody>
          <a:bodyPr/>
          <a:lstStyle/>
          <a:p>
            <a:pPr lvl="0"/>
            <a:r>
              <a:rPr lang="en-GB" sz="2800" dirty="0"/>
              <a:t>Report accidents such as spells, burns, cuts or injuries to the teacher immediately</a:t>
            </a:r>
          </a:p>
          <a:p>
            <a:pPr lvl="0"/>
            <a:r>
              <a:rPr lang="en-GB" sz="2800" dirty="0"/>
              <a:t>Wear safety shoes while working in a workshop. Sandals or slippers </a:t>
            </a:r>
            <a:r>
              <a:rPr lang="en-GB" sz="2800" b="1" dirty="0"/>
              <a:t>are not allowed </a:t>
            </a:r>
            <a:r>
              <a:rPr lang="en-GB" sz="2800" dirty="0"/>
              <a:t>in workshops</a:t>
            </a:r>
          </a:p>
          <a:p>
            <a:pPr lvl="0"/>
            <a:r>
              <a:rPr lang="en-GB" sz="2800" dirty="0"/>
              <a:t>Keep your lab bench organized and free of bags and books</a:t>
            </a:r>
          </a:p>
          <a:p>
            <a:pPr marL="0" indent="0">
              <a:buNone/>
            </a:pPr>
            <a:endParaRPr lang="en-GB" dirty="0"/>
          </a:p>
        </p:txBody>
      </p:sp>
      <p:pic>
        <p:nvPicPr>
          <p:cNvPr id="4" name="Picture 3"/>
          <p:cNvPicPr/>
          <p:nvPr/>
        </p:nvPicPr>
        <p:blipFill>
          <a:blip r:embed="rId2"/>
          <a:stretch>
            <a:fillRect/>
          </a:stretch>
        </p:blipFill>
        <p:spPr>
          <a:xfrm>
            <a:off x="6231285" y="4073624"/>
            <a:ext cx="2736975" cy="2428875"/>
          </a:xfrm>
          <a:prstGeom prst="rect">
            <a:avLst/>
          </a:prstGeom>
        </p:spPr>
      </p:pic>
      <p:pic>
        <p:nvPicPr>
          <p:cNvPr id="5" name="Picture 4"/>
          <p:cNvPicPr/>
          <p:nvPr/>
        </p:nvPicPr>
        <p:blipFill>
          <a:blip r:embed="rId3"/>
          <a:stretch>
            <a:fillRect/>
          </a:stretch>
        </p:blipFill>
        <p:spPr>
          <a:xfrm>
            <a:off x="2411760" y="4077072"/>
            <a:ext cx="3819525" cy="2428875"/>
          </a:xfrm>
          <a:prstGeom prst="rect">
            <a:avLst/>
          </a:prstGeom>
        </p:spPr>
      </p:pic>
      <p:pic>
        <p:nvPicPr>
          <p:cNvPr id="6" name="Picture 5"/>
          <p:cNvPicPr/>
          <p:nvPr/>
        </p:nvPicPr>
        <p:blipFill>
          <a:blip r:embed="rId4"/>
          <a:stretch>
            <a:fillRect/>
          </a:stretch>
        </p:blipFill>
        <p:spPr>
          <a:xfrm>
            <a:off x="173645" y="4276725"/>
            <a:ext cx="2129930" cy="2581275"/>
          </a:xfrm>
          <a:prstGeom prst="rect">
            <a:avLst/>
          </a:prstGeom>
        </p:spPr>
      </p:pic>
    </p:spTree>
    <p:extLst>
      <p:ext uri="{BB962C8B-B14F-4D97-AF65-F5344CB8AC3E}">
        <p14:creationId xmlns:p14="http://schemas.microsoft.com/office/powerpoint/2010/main" val="383704110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48680"/>
            <a:ext cx="8229600" cy="504056"/>
          </a:xfrm>
        </p:spPr>
        <p:txBody>
          <a:bodyPr>
            <a:noAutofit/>
          </a:bodyPr>
          <a:lstStyle/>
          <a:p>
            <a:pPr algn="ctr"/>
            <a:r>
              <a:rPr lang="en-GB" sz="4000" b="1" dirty="0"/>
              <a:t>LABS &amp; WORKSHOPS SAFETY </a:t>
            </a:r>
            <a:r>
              <a:rPr lang="en-GB" sz="4000" b="1" dirty="0" err="1"/>
              <a:t>Con’t</a:t>
            </a:r>
            <a:endParaRPr lang="en-GB" sz="4000" dirty="0"/>
          </a:p>
        </p:txBody>
      </p:sp>
      <p:sp>
        <p:nvSpPr>
          <p:cNvPr id="3" name="Content Placeholder 2"/>
          <p:cNvSpPr>
            <a:spLocks noGrp="1"/>
          </p:cNvSpPr>
          <p:nvPr>
            <p:ph idx="1"/>
          </p:nvPr>
        </p:nvSpPr>
        <p:spPr>
          <a:xfrm>
            <a:off x="457200" y="1196752"/>
            <a:ext cx="8229600" cy="4929411"/>
          </a:xfrm>
        </p:spPr>
        <p:txBody>
          <a:bodyPr/>
          <a:lstStyle/>
          <a:p>
            <a:pPr lvl="0"/>
            <a:r>
              <a:rPr lang="en-GB" sz="2800" dirty="0"/>
              <a:t>Always use the appropriate personal protective devices and check that they are clean and in good condition.</a:t>
            </a:r>
          </a:p>
          <a:p>
            <a:pPr lvl="0"/>
            <a:r>
              <a:rPr lang="en-GB" sz="2800" dirty="0"/>
              <a:t>Listen carefully to all instructions and lab procedures from your teacher. Ask questions if you aren't sure.</a:t>
            </a:r>
          </a:p>
          <a:p>
            <a:pPr lvl="0"/>
            <a:r>
              <a:rPr lang="en-GB" sz="2800" dirty="0"/>
              <a:t>Don’t joke or play with your friends inside the lab</a:t>
            </a:r>
          </a:p>
          <a:p>
            <a:pPr marL="0" indent="0">
              <a:buNone/>
            </a:pPr>
            <a:endParaRPr lang="en-GB" dirty="0"/>
          </a:p>
        </p:txBody>
      </p:sp>
      <p:pic>
        <p:nvPicPr>
          <p:cNvPr id="4" name="Picture 3"/>
          <p:cNvPicPr/>
          <p:nvPr/>
        </p:nvPicPr>
        <p:blipFill>
          <a:blip r:embed="rId2"/>
          <a:stretch>
            <a:fillRect/>
          </a:stretch>
        </p:blipFill>
        <p:spPr>
          <a:xfrm>
            <a:off x="179512" y="4509120"/>
            <a:ext cx="3168352" cy="2229718"/>
          </a:xfrm>
          <a:prstGeom prst="rect">
            <a:avLst/>
          </a:prstGeom>
        </p:spPr>
      </p:pic>
      <p:pic>
        <p:nvPicPr>
          <p:cNvPr id="5" name="Picture 4"/>
          <p:cNvPicPr/>
          <p:nvPr/>
        </p:nvPicPr>
        <p:blipFill>
          <a:blip r:embed="rId3"/>
          <a:stretch>
            <a:fillRect/>
          </a:stretch>
        </p:blipFill>
        <p:spPr>
          <a:xfrm>
            <a:off x="3652153" y="4687912"/>
            <a:ext cx="2648040" cy="1758702"/>
          </a:xfrm>
          <a:prstGeom prst="rect">
            <a:avLst/>
          </a:prstGeom>
        </p:spPr>
      </p:pic>
      <p:pic>
        <p:nvPicPr>
          <p:cNvPr id="6" name="Picture 5"/>
          <p:cNvPicPr/>
          <p:nvPr/>
        </p:nvPicPr>
        <p:blipFill>
          <a:blip r:embed="rId4"/>
          <a:stretch>
            <a:fillRect/>
          </a:stretch>
        </p:blipFill>
        <p:spPr>
          <a:xfrm>
            <a:off x="6300193" y="4395688"/>
            <a:ext cx="2736303" cy="1878335"/>
          </a:xfrm>
          <a:prstGeom prst="rect">
            <a:avLst/>
          </a:prstGeom>
        </p:spPr>
      </p:pic>
    </p:spTree>
    <p:extLst>
      <p:ext uri="{BB962C8B-B14F-4D97-AF65-F5344CB8AC3E}">
        <p14:creationId xmlns:p14="http://schemas.microsoft.com/office/powerpoint/2010/main" val="441184962"/>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20688"/>
            <a:ext cx="8229600" cy="648072"/>
          </a:xfrm>
        </p:spPr>
        <p:txBody>
          <a:bodyPr>
            <a:normAutofit fontScale="90000"/>
          </a:bodyPr>
          <a:lstStyle/>
          <a:p>
            <a:pPr lvl="0" algn="ctr"/>
            <a:r>
              <a:rPr lang="en-GB" dirty="0"/>
              <a:t/>
            </a:r>
            <a:br>
              <a:rPr lang="en-GB" dirty="0"/>
            </a:br>
            <a:r>
              <a:rPr lang="en-US" b="1" dirty="0"/>
              <a:t>ELECTRIC SHOCK</a:t>
            </a:r>
            <a:endParaRPr lang="en-GB" dirty="0"/>
          </a:p>
        </p:txBody>
      </p:sp>
      <p:sp>
        <p:nvSpPr>
          <p:cNvPr id="3" name="Content Placeholder 2"/>
          <p:cNvSpPr>
            <a:spLocks noGrp="1"/>
          </p:cNvSpPr>
          <p:nvPr>
            <p:ph idx="1"/>
          </p:nvPr>
        </p:nvSpPr>
        <p:spPr>
          <a:xfrm>
            <a:off x="251520" y="1268760"/>
            <a:ext cx="8640960" cy="5055840"/>
          </a:xfrm>
        </p:spPr>
        <p:txBody>
          <a:bodyPr>
            <a:normAutofit fontScale="85000" lnSpcReduction="10000"/>
          </a:bodyPr>
          <a:lstStyle/>
          <a:p>
            <a:pPr marL="0" indent="0">
              <a:buNone/>
            </a:pPr>
            <a:r>
              <a:rPr lang="en-GB" sz="2800" b="1" dirty="0"/>
              <a:t>Electric shock</a:t>
            </a:r>
            <a:r>
              <a:rPr lang="en-GB" sz="2800" dirty="0"/>
              <a:t> is the physiological reaction or injury caused by electric current passing through the human </a:t>
            </a:r>
            <a:r>
              <a:rPr lang="en-GB" sz="2800" dirty="0" smtClean="0"/>
              <a:t>body</a:t>
            </a:r>
            <a:endParaRPr lang="en-GB" sz="2800" dirty="0"/>
          </a:p>
          <a:p>
            <a:pPr marL="0" indent="0">
              <a:buNone/>
            </a:pPr>
            <a:r>
              <a:rPr lang="en-US" sz="2800" dirty="0" smtClean="0"/>
              <a:t>You </a:t>
            </a:r>
            <a:r>
              <a:rPr lang="en-US" sz="2800" dirty="0"/>
              <a:t>will get an electrical shock if a part of your body completes an electrical circuit by</a:t>
            </a:r>
            <a:r>
              <a:rPr lang="en-US" sz="2800" dirty="0" smtClean="0"/>
              <a:t>:</a:t>
            </a:r>
          </a:p>
          <a:p>
            <a:pPr marL="0" indent="0">
              <a:buNone/>
            </a:pPr>
            <a:endParaRPr lang="en-GB" sz="2800" dirty="0"/>
          </a:p>
          <a:p>
            <a:pPr lvl="0"/>
            <a:r>
              <a:rPr lang="en-US" sz="2800" dirty="0"/>
              <a:t>Touching a live wire and an electrical ground</a:t>
            </a:r>
            <a:endParaRPr lang="en-GB" sz="2800" dirty="0"/>
          </a:p>
          <a:p>
            <a:pPr lvl="0"/>
            <a:r>
              <a:rPr lang="en-US" sz="2800" dirty="0"/>
              <a:t>Touching a live wire and another wire at a different voltage</a:t>
            </a:r>
            <a:r>
              <a:rPr lang="en-US" sz="2800" dirty="0" smtClean="0"/>
              <a:t>.</a:t>
            </a:r>
          </a:p>
          <a:p>
            <a:pPr lvl="0"/>
            <a:endParaRPr lang="en-GB" sz="2800" dirty="0"/>
          </a:p>
          <a:p>
            <a:pPr marL="0" indent="0">
              <a:buNone/>
            </a:pPr>
            <a:r>
              <a:rPr lang="en-US" dirty="0"/>
              <a:t>The severity of electric shock depends on the following</a:t>
            </a:r>
            <a:r>
              <a:rPr lang="en-GB" dirty="0"/>
              <a:t> factors</a:t>
            </a:r>
            <a:r>
              <a:rPr lang="en-US" dirty="0" smtClean="0"/>
              <a:t>:</a:t>
            </a:r>
          </a:p>
          <a:p>
            <a:pPr marL="0" indent="0">
              <a:buNone/>
            </a:pPr>
            <a:endParaRPr lang="en-GB" dirty="0"/>
          </a:p>
          <a:p>
            <a:pPr lvl="0"/>
            <a:r>
              <a:rPr lang="en-GB" dirty="0"/>
              <a:t>Path of current through the body</a:t>
            </a:r>
          </a:p>
          <a:p>
            <a:pPr lvl="0"/>
            <a:r>
              <a:rPr lang="en-GB" dirty="0"/>
              <a:t>Amount of current flowing through the body (amps)</a:t>
            </a:r>
          </a:p>
          <a:p>
            <a:pPr lvl="0"/>
            <a:r>
              <a:rPr lang="en-GB" dirty="0"/>
              <a:t>Duration of the current flow through the body</a:t>
            </a:r>
          </a:p>
          <a:p>
            <a:pPr marL="0" indent="0">
              <a:buNone/>
            </a:pPr>
            <a:endParaRPr lang="en-GB" dirty="0"/>
          </a:p>
        </p:txBody>
      </p:sp>
    </p:spTree>
    <p:extLst>
      <p:ext uri="{BB962C8B-B14F-4D97-AF65-F5344CB8AC3E}">
        <p14:creationId xmlns:p14="http://schemas.microsoft.com/office/powerpoint/2010/main" val="4251668557"/>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924712"/>
          </a:xfrm>
        </p:spPr>
        <p:txBody>
          <a:bodyPr/>
          <a:lstStyle/>
          <a:p>
            <a:pPr algn="ctr"/>
            <a:r>
              <a:rPr lang="en-US" b="1" dirty="0"/>
              <a:t>ELECTRIC </a:t>
            </a:r>
            <a:r>
              <a:rPr lang="en-US" b="1" dirty="0" smtClean="0"/>
              <a:t>SHOCK </a:t>
            </a:r>
            <a:r>
              <a:rPr lang="en-US" b="1" dirty="0" err="1" smtClean="0"/>
              <a:t>Cont</a:t>
            </a:r>
            <a:r>
              <a:rPr lang="en-US" b="1" dirty="0" smtClean="0"/>
              <a:t>’</a:t>
            </a:r>
            <a:endParaRPr lang="en-GB" dirty="0"/>
          </a:p>
        </p:txBody>
      </p:sp>
      <p:pic>
        <p:nvPicPr>
          <p:cNvPr id="4" name="Content Placeholder 3"/>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27584" y="1882304"/>
            <a:ext cx="3223492" cy="4389437"/>
          </a:xfrm>
          <a:prstGeom prst="rect">
            <a:avLst/>
          </a:prstGeom>
          <a:noFill/>
          <a:ln>
            <a:noFill/>
          </a:ln>
          <a:extLst/>
        </p:spPr>
      </p:pic>
      <p:pic>
        <p:nvPicPr>
          <p:cNvPr id="5" name="Picture 4"/>
          <p:cNvPicPr/>
          <p:nvPr/>
        </p:nvPicPr>
        <p:blipFill>
          <a:blip r:embed="rId3">
            <a:extLst>
              <a:ext uri="{28A0092B-C50C-407E-A947-70E740481C1C}">
                <a14:useLocalDpi xmlns:a14="http://schemas.microsoft.com/office/drawing/2010/main" val="0"/>
              </a:ext>
            </a:extLst>
          </a:blip>
          <a:srcRect/>
          <a:stretch>
            <a:fillRect/>
          </a:stretch>
        </p:blipFill>
        <p:spPr bwMode="auto">
          <a:xfrm>
            <a:off x="4499992" y="1882304"/>
            <a:ext cx="3024336" cy="4427016"/>
          </a:xfrm>
          <a:prstGeom prst="rect">
            <a:avLst/>
          </a:prstGeom>
          <a:noFill/>
          <a:ln>
            <a:noFill/>
          </a:ln>
        </p:spPr>
      </p:pic>
    </p:spTree>
    <p:extLst>
      <p:ext uri="{BB962C8B-B14F-4D97-AF65-F5344CB8AC3E}">
        <p14:creationId xmlns:p14="http://schemas.microsoft.com/office/powerpoint/2010/main" val="806785729"/>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76672"/>
            <a:ext cx="8229600" cy="576064"/>
          </a:xfrm>
        </p:spPr>
        <p:txBody>
          <a:bodyPr>
            <a:normAutofit fontScale="90000"/>
          </a:bodyPr>
          <a:lstStyle/>
          <a:p>
            <a:pPr algn="ctr"/>
            <a:r>
              <a:rPr lang="en-US" b="1" dirty="0"/>
              <a:t>ELECTRIC SHOCK </a:t>
            </a:r>
            <a:r>
              <a:rPr lang="en-US" b="1" dirty="0" err="1"/>
              <a:t>Cont</a:t>
            </a:r>
            <a:r>
              <a:rPr lang="en-US" b="1" dirty="0"/>
              <a:t>’</a:t>
            </a:r>
            <a:endParaRPr lang="en-GB" dirty="0"/>
          </a:p>
        </p:txBody>
      </p:sp>
      <p:sp>
        <p:nvSpPr>
          <p:cNvPr id="3" name="Content Placeholder 2"/>
          <p:cNvSpPr>
            <a:spLocks noGrp="1"/>
          </p:cNvSpPr>
          <p:nvPr>
            <p:ph idx="1"/>
          </p:nvPr>
        </p:nvSpPr>
        <p:spPr>
          <a:xfrm>
            <a:off x="179512" y="1052736"/>
            <a:ext cx="8712968" cy="5400600"/>
          </a:xfrm>
        </p:spPr>
        <p:txBody>
          <a:bodyPr>
            <a:normAutofit fontScale="40000" lnSpcReduction="20000"/>
          </a:bodyPr>
          <a:lstStyle/>
          <a:p>
            <a:pPr marL="393192" lvl="1" indent="0">
              <a:buNone/>
            </a:pPr>
            <a:r>
              <a:rPr lang="en-US" sz="5100" b="1" dirty="0"/>
              <a:t>DANGER TO MAN BY ELECTRIC CURRENT</a:t>
            </a:r>
            <a:endParaRPr lang="en-GB" sz="5100" dirty="0"/>
          </a:p>
          <a:p>
            <a:pPr marL="0" indent="0">
              <a:buNone/>
            </a:pPr>
            <a:endParaRPr lang="en-GB" sz="5100" dirty="0"/>
          </a:p>
          <a:p>
            <a:pPr marL="0" indent="0">
              <a:buNone/>
            </a:pPr>
            <a:r>
              <a:rPr lang="en-US" sz="6000" dirty="0"/>
              <a:t>It</a:t>
            </a:r>
            <a:r>
              <a:rPr lang="en-US" sz="6000" b="1" dirty="0"/>
              <a:t> </a:t>
            </a:r>
            <a:r>
              <a:rPr lang="en-US" sz="6000" dirty="0"/>
              <a:t>takes about 30-50mA to kill a human being. </a:t>
            </a:r>
            <a:endParaRPr lang="en-GB" sz="6000" dirty="0"/>
          </a:p>
          <a:p>
            <a:pPr marL="0" indent="0">
              <a:buNone/>
            </a:pPr>
            <a:r>
              <a:rPr lang="en-US" sz="6000" dirty="0" smtClean="0"/>
              <a:t>The </a:t>
            </a:r>
            <a:r>
              <a:rPr lang="en-US" sz="6000" dirty="0"/>
              <a:t>amount of current depends upon</a:t>
            </a:r>
            <a:r>
              <a:rPr lang="en-US" sz="6000" dirty="0" smtClean="0"/>
              <a:t>:</a:t>
            </a:r>
            <a:endParaRPr lang="en-GB" sz="6000" dirty="0"/>
          </a:p>
          <a:p>
            <a:pPr lvl="0"/>
            <a:r>
              <a:rPr lang="en-US" sz="6000" dirty="0"/>
              <a:t>The person involved and his state of health.</a:t>
            </a:r>
            <a:endParaRPr lang="en-GB" sz="6000" dirty="0"/>
          </a:p>
          <a:p>
            <a:pPr lvl="0"/>
            <a:r>
              <a:rPr lang="en-US" sz="6000" dirty="0"/>
              <a:t>The area of the body involved.</a:t>
            </a:r>
            <a:endParaRPr lang="en-GB" sz="6000" dirty="0"/>
          </a:p>
          <a:p>
            <a:pPr lvl="0"/>
            <a:r>
              <a:rPr lang="en-US" sz="6000" dirty="0"/>
              <a:t>The length of time the shock is received.</a:t>
            </a:r>
            <a:endParaRPr lang="en-GB" sz="6000" dirty="0"/>
          </a:p>
          <a:p>
            <a:pPr lvl="0"/>
            <a:r>
              <a:rPr lang="en-US" sz="6000" dirty="0"/>
              <a:t>The type of current involved. </a:t>
            </a:r>
            <a:endParaRPr lang="en-US" sz="6000" dirty="0" smtClean="0"/>
          </a:p>
          <a:p>
            <a:pPr lvl="0"/>
            <a:endParaRPr lang="en-US" sz="6000" dirty="0" smtClean="0"/>
          </a:p>
          <a:p>
            <a:pPr marL="0" indent="0">
              <a:buNone/>
            </a:pPr>
            <a:r>
              <a:rPr lang="en-US" sz="6000" b="1" dirty="0"/>
              <a:t>Important factors that contribute to the severity of </a:t>
            </a:r>
            <a:r>
              <a:rPr lang="en-US" sz="6000" b="1" dirty="0" smtClean="0"/>
              <a:t>shock</a:t>
            </a:r>
            <a:endParaRPr lang="en-GB" sz="6000" dirty="0"/>
          </a:p>
          <a:p>
            <a:pPr lvl="0"/>
            <a:r>
              <a:rPr lang="en-US" sz="6000" dirty="0"/>
              <a:t>Age of person</a:t>
            </a:r>
            <a:endParaRPr lang="en-GB" sz="6000" dirty="0"/>
          </a:p>
          <a:p>
            <a:pPr lvl="0"/>
            <a:r>
              <a:rPr lang="en-US" sz="6000" dirty="0"/>
              <a:t>Not wearing insulated footwear wet footwear</a:t>
            </a:r>
            <a:endParaRPr lang="en-GB" sz="6000" dirty="0"/>
          </a:p>
          <a:p>
            <a:pPr lvl="0"/>
            <a:r>
              <a:rPr lang="en-US" sz="6000" dirty="0"/>
              <a:t>Weather condition</a:t>
            </a:r>
            <a:endParaRPr lang="en-GB" sz="6000" dirty="0"/>
          </a:p>
          <a:p>
            <a:pPr lvl="0"/>
            <a:r>
              <a:rPr lang="en-US" sz="6000" dirty="0"/>
              <a:t>Floor is wet or dry</a:t>
            </a:r>
            <a:endParaRPr lang="en-GB" sz="6000" dirty="0"/>
          </a:p>
          <a:p>
            <a:pPr lvl="0"/>
            <a:r>
              <a:rPr lang="en-US" sz="6000" dirty="0"/>
              <a:t>Main voltage.</a:t>
            </a:r>
            <a:endParaRPr lang="en-GB" sz="6000" dirty="0"/>
          </a:p>
          <a:p>
            <a:pPr lvl="0"/>
            <a:endParaRPr lang="en-GB" sz="2400" b="1" dirty="0"/>
          </a:p>
          <a:p>
            <a:pPr marL="0" indent="0">
              <a:buNone/>
            </a:pPr>
            <a:endParaRPr lang="en-GB" dirty="0"/>
          </a:p>
        </p:txBody>
      </p:sp>
    </p:spTree>
    <p:extLst>
      <p:ext uri="{BB962C8B-B14F-4D97-AF65-F5344CB8AC3E}">
        <p14:creationId xmlns:p14="http://schemas.microsoft.com/office/powerpoint/2010/main" val="2422400856"/>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5266" y="548680"/>
            <a:ext cx="8229600" cy="720080"/>
          </a:xfrm>
        </p:spPr>
        <p:txBody>
          <a:bodyPr>
            <a:normAutofit fontScale="90000"/>
          </a:bodyPr>
          <a:lstStyle/>
          <a:p>
            <a:pPr algn="ctr"/>
            <a:r>
              <a:rPr lang="en-US" b="1" dirty="0"/>
              <a:t>ELECTRIC SHOCK </a:t>
            </a:r>
            <a:r>
              <a:rPr lang="en-US" b="1" dirty="0" err="1"/>
              <a:t>Cont</a:t>
            </a:r>
            <a:r>
              <a:rPr lang="en-US" b="1" dirty="0"/>
              <a:t>’</a:t>
            </a:r>
            <a:endParaRPr lang="en-GB" dirty="0"/>
          </a:p>
        </p:txBody>
      </p:sp>
      <p:sp>
        <p:nvSpPr>
          <p:cNvPr id="3" name="Content Placeholder 2"/>
          <p:cNvSpPr>
            <a:spLocks noGrp="1"/>
          </p:cNvSpPr>
          <p:nvPr>
            <p:ph idx="1"/>
          </p:nvPr>
        </p:nvSpPr>
        <p:spPr>
          <a:xfrm>
            <a:off x="107504" y="1340768"/>
            <a:ext cx="8928992" cy="4983832"/>
          </a:xfrm>
        </p:spPr>
        <p:txBody>
          <a:bodyPr/>
          <a:lstStyle/>
          <a:p>
            <a:pPr marL="0" indent="0" algn="ctr">
              <a:buNone/>
            </a:pPr>
            <a:r>
              <a:rPr lang="en-US" sz="2800" b="1" dirty="0"/>
              <a:t>HOW TO ACT IN ELECTRICAL EMERGENCY SITUATIONS</a:t>
            </a:r>
            <a:endParaRPr lang="en-GB" sz="2800" dirty="0"/>
          </a:p>
          <a:p>
            <a:pPr lvl="0">
              <a:buFont typeface="Wingdings" pitchFamily="2" charset="2"/>
              <a:buChar char="Ø"/>
            </a:pPr>
            <a:r>
              <a:rPr lang="en-US" sz="2800" dirty="0" smtClean="0"/>
              <a:t>Do </a:t>
            </a:r>
            <a:r>
              <a:rPr lang="en-US" sz="2800" dirty="0"/>
              <a:t>not touch anything, or anyone, that is touching a downed wire</a:t>
            </a:r>
            <a:endParaRPr lang="en-GB" sz="2800" dirty="0"/>
          </a:p>
          <a:p>
            <a:pPr>
              <a:buFont typeface="Wingdings" pitchFamily="2" charset="2"/>
              <a:buChar char="Ø"/>
            </a:pPr>
            <a:r>
              <a:rPr lang="en-US" sz="2800" dirty="0"/>
              <a:t> </a:t>
            </a:r>
            <a:r>
              <a:rPr lang="en-US" sz="2800" dirty="0" smtClean="0"/>
              <a:t>Stay </a:t>
            </a:r>
            <a:r>
              <a:rPr lang="en-US" sz="2800" dirty="0"/>
              <a:t>away from all downed wires even if there are no sparks.</a:t>
            </a:r>
            <a:endParaRPr lang="en-GB" sz="2800" dirty="0"/>
          </a:p>
          <a:p>
            <a:pPr marL="0" indent="0">
              <a:buNone/>
            </a:pPr>
            <a:endParaRPr lang="en-GB" dirty="0"/>
          </a:p>
        </p:txBody>
      </p:sp>
      <p:pic>
        <p:nvPicPr>
          <p:cNvPr id="4" name="Picture 3"/>
          <p:cNvPicPr/>
          <p:nvPr/>
        </p:nvPicPr>
        <p:blipFill>
          <a:blip r:embed="rId2">
            <a:extLst>
              <a:ext uri="{28A0092B-C50C-407E-A947-70E740481C1C}">
                <a14:useLocalDpi xmlns:a14="http://schemas.microsoft.com/office/drawing/2010/main" val="0"/>
              </a:ext>
            </a:extLst>
          </a:blip>
          <a:srcRect/>
          <a:stretch>
            <a:fillRect/>
          </a:stretch>
        </p:blipFill>
        <p:spPr bwMode="auto">
          <a:xfrm>
            <a:off x="156320" y="4365104"/>
            <a:ext cx="2016224" cy="2038351"/>
          </a:xfrm>
          <a:prstGeom prst="rect">
            <a:avLst/>
          </a:prstGeom>
          <a:noFill/>
          <a:ln>
            <a:noFill/>
          </a:ln>
          <a:extLst/>
        </p:spPr>
      </p:pic>
      <p:pic>
        <p:nvPicPr>
          <p:cNvPr id="5" name="Picture 4"/>
          <p:cNvPicPr/>
          <p:nvPr/>
        </p:nvPicPr>
        <p:blipFill>
          <a:blip r:embed="rId3">
            <a:extLst>
              <a:ext uri="{28A0092B-C50C-407E-A947-70E740481C1C}">
                <a14:useLocalDpi xmlns:a14="http://schemas.microsoft.com/office/drawing/2010/main" val="0"/>
              </a:ext>
            </a:extLst>
          </a:blip>
          <a:srcRect/>
          <a:stretch>
            <a:fillRect/>
          </a:stretch>
        </p:blipFill>
        <p:spPr bwMode="auto">
          <a:xfrm>
            <a:off x="2220020" y="4149080"/>
            <a:ext cx="2088232" cy="2047875"/>
          </a:xfrm>
          <a:prstGeom prst="rect">
            <a:avLst/>
          </a:prstGeom>
          <a:noFill/>
          <a:ln>
            <a:noFill/>
          </a:ln>
          <a:extLst/>
        </p:spPr>
      </p:pic>
      <p:pic>
        <p:nvPicPr>
          <p:cNvPr id="6" name="Picture 5"/>
          <p:cNvPicPr/>
          <p:nvPr/>
        </p:nvPicPr>
        <p:blipFill>
          <a:blip r:embed="rId4"/>
          <a:stretch>
            <a:fillRect/>
          </a:stretch>
        </p:blipFill>
        <p:spPr>
          <a:xfrm>
            <a:off x="4500066" y="4149080"/>
            <a:ext cx="4591050" cy="2105025"/>
          </a:xfrm>
          <a:prstGeom prst="rect">
            <a:avLst/>
          </a:prstGeom>
        </p:spPr>
      </p:pic>
    </p:spTree>
    <p:extLst>
      <p:ext uri="{BB962C8B-B14F-4D97-AF65-F5344CB8AC3E}">
        <p14:creationId xmlns:p14="http://schemas.microsoft.com/office/powerpoint/2010/main" val="1545996695"/>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76672"/>
            <a:ext cx="8229600" cy="648072"/>
          </a:xfrm>
        </p:spPr>
        <p:txBody>
          <a:bodyPr>
            <a:normAutofit fontScale="90000"/>
          </a:bodyPr>
          <a:lstStyle/>
          <a:p>
            <a:pPr algn="ctr"/>
            <a:r>
              <a:rPr lang="en-US" b="1" dirty="0"/>
              <a:t>ELECTRIC SHOCK </a:t>
            </a:r>
            <a:r>
              <a:rPr lang="en-US" b="1" dirty="0" err="1"/>
              <a:t>Cont</a:t>
            </a:r>
            <a:r>
              <a:rPr lang="en-US" b="1" dirty="0"/>
              <a:t>’</a:t>
            </a:r>
            <a:endParaRPr lang="en-GB" dirty="0"/>
          </a:p>
        </p:txBody>
      </p:sp>
      <p:sp>
        <p:nvSpPr>
          <p:cNvPr id="3" name="Content Placeholder 2"/>
          <p:cNvSpPr>
            <a:spLocks noGrp="1"/>
          </p:cNvSpPr>
          <p:nvPr>
            <p:ph idx="1"/>
          </p:nvPr>
        </p:nvSpPr>
        <p:spPr>
          <a:xfrm>
            <a:off x="251520" y="1124744"/>
            <a:ext cx="8640960" cy="5472608"/>
          </a:xfrm>
        </p:spPr>
        <p:txBody>
          <a:bodyPr>
            <a:normAutofit fontScale="70000" lnSpcReduction="20000"/>
          </a:bodyPr>
          <a:lstStyle/>
          <a:p>
            <a:pPr marL="393192" lvl="1" indent="0" algn="ctr">
              <a:buNone/>
            </a:pPr>
            <a:r>
              <a:rPr lang="en-US" sz="4000" b="1" dirty="0"/>
              <a:t>HOW TO AVOID ELECTRIC </a:t>
            </a:r>
            <a:r>
              <a:rPr lang="en-US" sz="4000" b="1" dirty="0" smtClean="0"/>
              <a:t>SHOCKS</a:t>
            </a:r>
            <a:endParaRPr lang="en-GB" sz="4000" dirty="0"/>
          </a:p>
          <a:p>
            <a:pPr marL="393192" lvl="1" indent="0">
              <a:buNone/>
            </a:pPr>
            <a:r>
              <a:rPr lang="en-US" sz="2800" b="1" dirty="0"/>
              <a:t> </a:t>
            </a:r>
            <a:endParaRPr lang="en-GB" sz="2400" dirty="0"/>
          </a:p>
          <a:p>
            <a:pPr marL="0" indent="0">
              <a:buNone/>
            </a:pPr>
            <a:r>
              <a:rPr lang="en-US" sz="3100" dirty="0"/>
              <a:t>Use proper precautionary measures and recommended safe practices at all times by following these instructions:</a:t>
            </a:r>
            <a:endParaRPr lang="en-GB" sz="3100" dirty="0"/>
          </a:p>
          <a:p>
            <a:pPr marL="0" indent="0">
              <a:buNone/>
            </a:pPr>
            <a:endParaRPr lang="en-GB" sz="3100" dirty="0"/>
          </a:p>
          <a:p>
            <a:pPr lvl="0"/>
            <a:r>
              <a:rPr lang="en-US" sz="3100" dirty="0"/>
              <a:t>Read all instructions and labels before installing, operating, or servicing the equipment. </a:t>
            </a:r>
            <a:endParaRPr lang="en-GB" sz="3100" dirty="0"/>
          </a:p>
          <a:p>
            <a:pPr lvl="0"/>
            <a:r>
              <a:rPr lang="en-US" sz="3100" dirty="0"/>
              <a:t>Do not touch live electrical parts. Have all installation, operation, maintenance, and repair work performed only by qualified people.</a:t>
            </a:r>
            <a:endParaRPr lang="en-GB" sz="3100" dirty="0"/>
          </a:p>
          <a:p>
            <a:pPr lvl="0"/>
            <a:r>
              <a:rPr lang="en-US" sz="3100" dirty="0"/>
              <a:t>Properly install and ground the equipment and machines.</a:t>
            </a:r>
            <a:endParaRPr lang="en-GB" sz="3100" dirty="0"/>
          </a:p>
          <a:p>
            <a:pPr lvl="0"/>
            <a:r>
              <a:rPr lang="en-US" sz="3100" dirty="0"/>
              <a:t>Do not work alone where there are electrically hazardous conditions.</a:t>
            </a:r>
            <a:endParaRPr lang="en-GB" sz="3100" dirty="0"/>
          </a:p>
          <a:p>
            <a:pPr lvl="0"/>
            <a:r>
              <a:rPr lang="en-US" sz="3100" dirty="0"/>
              <a:t>Do not wrap cables carrying electric current around any part of your body.</a:t>
            </a:r>
            <a:endParaRPr lang="en-GB" sz="3100" dirty="0"/>
          </a:p>
          <a:p>
            <a:r>
              <a:rPr lang="en-US" sz="3100" dirty="0"/>
              <a:t>Do not experiment! Do not touch a wire with your finger to see what will happen </a:t>
            </a:r>
            <a:endParaRPr lang="en-GB" sz="3100" dirty="0"/>
          </a:p>
        </p:txBody>
      </p:sp>
    </p:spTree>
    <p:extLst>
      <p:ext uri="{BB962C8B-B14F-4D97-AF65-F5344CB8AC3E}">
        <p14:creationId xmlns:p14="http://schemas.microsoft.com/office/powerpoint/2010/main" val="2766856731"/>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476672"/>
            <a:ext cx="8229600" cy="1368152"/>
          </a:xfrm>
        </p:spPr>
        <p:txBody>
          <a:bodyPr>
            <a:normAutofit fontScale="90000"/>
          </a:bodyPr>
          <a:lstStyle/>
          <a:p>
            <a:pPr algn="ctr"/>
            <a:r>
              <a:rPr lang="en-GB" dirty="0"/>
              <a:t/>
            </a:r>
            <a:br>
              <a:rPr lang="en-GB" dirty="0"/>
            </a:br>
            <a:r>
              <a:rPr lang="en-US" b="1" dirty="0"/>
              <a:t>FIRE EXTINGUISHERS</a:t>
            </a:r>
            <a:r>
              <a:rPr lang="en-GB" dirty="0"/>
              <a:t/>
            </a:r>
            <a:br>
              <a:rPr lang="en-GB" dirty="0"/>
            </a:br>
            <a:endParaRPr lang="en-GB" dirty="0"/>
          </a:p>
        </p:txBody>
      </p:sp>
      <p:sp>
        <p:nvSpPr>
          <p:cNvPr id="3" name="Content Placeholder 2"/>
          <p:cNvSpPr>
            <a:spLocks noGrp="1"/>
          </p:cNvSpPr>
          <p:nvPr>
            <p:ph idx="1"/>
          </p:nvPr>
        </p:nvSpPr>
        <p:spPr>
          <a:xfrm>
            <a:off x="457200" y="1124744"/>
            <a:ext cx="8507288" cy="5544616"/>
          </a:xfrm>
        </p:spPr>
        <p:txBody>
          <a:bodyPr>
            <a:normAutofit fontScale="92500" lnSpcReduction="20000"/>
          </a:bodyPr>
          <a:lstStyle/>
          <a:p>
            <a:pPr marL="0" indent="0">
              <a:buNone/>
            </a:pPr>
            <a:r>
              <a:rPr lang="en-US" sz="3300" dirty="0"/>
              <a:t>Fires are divided into Four Classes or </a:t>
            </a:r>
            <a:r>
              <a:rPr lang="en-US" sz="3300" dirty="0" smtClean="0"/>
              <a:t>Categories</a:t>
            </a:r>
            <a:endParaRPr lang="en-GB" sz="2800" dirty="0"/>
          </a:p>
          <a:p>
            <a:pPr marL="0" indent="0">
              <a:buNone/>
            </a:pPr>
            <a:r>
              <a:rPr lang="en-US" sz="2800" dirty="0"/>
              <a:t>◆ </a:t>
            </a:r>
            <a:r>
              <a:rPr lang="en-US" sz="2800" b="1" dirty="0"/>
              <a:t>Class A </a:t>
            </a:r>
            <a:r>
              <a:rPr lang="en-US" sz="2800" dirty="0"/>
              <a:t>are wood, paper and textile fires</a:t>
            </a:r>
            <a:endParaRPr lang="en-GB" sz="2800" dirty="0"/>
          </a:p>
          <a:p>
            <a:pPr marL="0" indent="0">
              <a:buNone/>
            </a:pPr>
            <a:r>
              <a:rPr lang="en-US" sz="2800" dirty="0"/>
              <a:t>◆ </a:t>
            </a:r>
            <a:r>
              <a:rPr lang="en-US" sz="2800" b="1" dirty="0"/>
              <a:t>Class B </a:t>
            </a:r>
            <a:r>
              <a:rPr lang="en-US" sz="2800" dirty="0"/>
              <a:t>are liquid fires such as paint, petrol and oil</a:t>
            </a:r>
            <a:endParaRPr lang="en-GB" sz="2800" dirty="0"/>
          </a:p>
          <a:p>
            <a:pPr marL="0" indent="0">
              <a:buNone/>
            </a:pPr>
            <a:r>
              <a:rPr lang="en-US" sz="2800" dirty="0"/>
              <a:t>◆ </a:t>
            </a:r>
            <a:r>
              <a:rPr lang="en-US" sz="2800" b="1" dirty="0"/>
              <a:t>Class C </a:t>
            </a:r>
            <a:r>
              <a:rPr lang="en-US" sz="2800" dirty="0"/>
              <a:t>are fires involving gas or spilled liquefied gas</a:t>
            </a:r>
            <a:endParaRPr lang="en-GB" sz="2800" dirty="0"/>
          </a:p>
          <a:p>
            <a:pPr marL="0" indent="0">
              <a:buNone/>
            </a:pPr>
            <a:r>
              <a:rPr lang="en-US" sz="2800" dirty="0"/>
              <a:t>◆ </a:t>
            </a:r>
            <a:r>
              <a:rPr lang="en-US" sz="2800" b="1" dirty="0"/>
              <a:t>Class D </a:t>
            </a:r>
            <a:r>
              <a:rPr lang="en-US" sz="2800" dirty="0"/>
              <a:t>are very special types of fire involving burning </a:t>
            </a:r>
            <a:r>
              <a:rPr lang="en-US" sz="2800" dirty="0" smtClean="0"/>
              <a:t>metal</a:t>
            </a:r>
            <a:endParaRPr lang="en-GB" sz="2800" dirty="0"/>
          </a:p>
          <a:p>
            <a:pPr marL="0" indent="0">
              <a:buNone/>
            </a:pPr>
            <a:r>
              <a:rPr lang="en-US" sz="2800" dirty="0"/>
              <a:t>Various things can be used to put out the fire</a:t>
            </a:r>
            <a:r>
              <a:rPr lang="en-US" sz="2800" dirty="0" smtClean="0"/>
              <a:t>.</a:t>
            </a:r>
            <a:r>
              <a:rPr lang="en-GB" sz="2800" dirty="0"/>
              <a:t> </a:t>
            </a:r>
          </a:p>
          <a:p>
            <a:r>
              <a:rPr lang="en-US" sz="2800" dirty="0" smtClean="0"/>
              <a:t>Water</a:t>
            </a:r>
            <a:endParaRPr lang="en-GB" sz="2800" dirty="0"/>
          </a:p>
          <a:p>
            <a:r>
              <a:rPr lang="en-US" sz="2800" dirty="0"/>
              <a:t>Sand or dry soil</a:t>
            </a:r>
            <a:endParaRPr lang="en-GB" sz="2800" dirty="0"/>
          </a:p>
          <a:p>
            <a:r>
              <a:rPr lang="en-US" sz="2800" dirty="0"/>
              <a:t>Foam extinguishers</a:t>
            </a:r>
            <a:endParaRPr lang="en-GB" sz="2800" dirty="0"/>
          </a:p>
          <a:p>
            <a:r>
              <a:rPr lang="en-US" sz="2800" dirty="0"/>
              <a:t>Carbon dioxide extinguishers</a:t>
            </a:r>
            <a:endParaRPr lang="en-GB" sz="2800" dirty="0"/>
          </a:p>
          <a:p>
            <a:r>
              <a:rPr lang="en-US" sz="2800" dirty="0"/>
              <a:t>Dry powder extinguishers</a:t>
            </a:r>
            <a:endParaRPr lang="en-GB" sz="2800" dirty="0"/>
          </a:p>
          <a:p>
            <a:r>
              <a:rPr lang="en-US" sz="2800" dirty="0"/>
              <a:t>Fire blankets</a:t>
            </a:r>
            <a:endParaRPr lang="en-GB" sz="2800" dirty="0"/>
          </a:p>
          <a:p>
            <a:endParaRPr lang="en-GB" dirty="0"/>
          </a:p>
        </p:txBody>
      </p:sp>
    </p:spTree>
    <p:extLst>
      <p:ext uri="{BB962C8B-B14F-4D97-AF65-F5344CB8AC3E}">
        <p14:creationId xmlns:p14="http://schemas.microsoft.com/office/powerpoint/2010/main" val="1402102226"/>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636680"/>
          </a:xfrm>
        </p:spPr>
        <p:txBody>
          <a:bodyPr>
            <a:normAutofit fontScale="90000"/>
          </a:bodyPr>
          <a:lstStyle/>
          <a:p>
            <a:pPr algn="ctr"/>
            <a:r>
              <a:rPr lang="en-US" b="1" dirty="0"/>
              <a:t>FIRE </a:t>
            </a:r>
            <a:r>
              <a:rPr lang="en-US" b="1" dirty="0" smtClean="0"/>
              <a:t>EXTINGUISHERS  </a:t>
            </a:r>
            <a:r>
              <a:rPr lang="en-US" b="1" dirty="0" err="1" smtClean="0"/>
              <a:t>Cont</a:t>
            </a:r>
            <a:r>
              <a:rPr lang="en-US" b="1" dirty="0" smtClean="0"/>
              <a:t>’</a:t>
            </a:r>
            <a:endParaRPr lang="en-GB" dirty="0"/>
          </a:p>
        </p:txBody>
      </p:sp>
      <p:pic>
        <p:nvPicPr>
          <p:cNvPr id="4" name="Content Placeholder 3"/>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043608" y="1412776"/>
            <a:ext cx="6984776" cy="4968552"/>
          </a:xfrm>
          <a:prstGeom prst="rect">
            <a:avLst/>
          </a:prstGeom>
          <a:noFill/>
          <a:ln>
            <a:noFill/>
          </a:ln>
          <a:extLst/>
        </p:spPr>
      </p:pic>
    </p:spTree>
    <p:extLst>
      <p:ext uri="{BB962C8B-B14F-4D97-AF65-F5344CB8AC3E}">
        <p14:creationId xmlns:p14="http://schemas.microsoft.com/office/powerpoint/2010/main" val="2373695881"/>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48680"/>
            <a:ext cx="8229600" cy="720080"/>
          </a:xfrm>
        </p:spPr>
        <p:txBody>
          <a:bodyPr>
            <a:normAutofit fontScale="90000"/>
          </a:bodyPr>
          <a:lstStyle/>
          <a:p>
            <a:pPr algn="ctr"/>
            <a:r>
              <a:rPr lang="en-US" b="1" dirty="0"/>
              <a:t>FIRE EXTINGUISHERS  </a:t>
            </a:r>
            <a:r>
              <a:rPr lang="en-US" b="1" dirty="0" err="1"/>
              <a:t>Cont</a:t>
            </a:r>
            <a:r>
              <a:rPr lang="en-US" b="1" dirty="0"/>
              <a:t>’</a:t>
            </a:r>
            <a:endParaRPr lang="en-GB" dirty="0"/>
          </a:p>
        </p:txBody>
      </p:sp>
      <p:sp>
        <p:nvSpPr>
          <p:cNvPr id="3" name="Content Placeholder 2"/>
          <p:cNvSpPr>
            <a:spLocks noGrp="1"/>
          </p:cNvSpPr>
          <p:nvPr>
            <p:ph idx="1"/>
          </p:nvPr>
        </p:nvSpPr>
        <p:spPr>
          <a:xfrm>
            <a:off x="179512" y="1268760"/>
            <a:ext cx="8723312" cy="5256584"/>
          </a:xfrm>
        </p:spPr>
        <p:txBody>
          <a:bodyPr>
            <a:normAutofit fontScale="92500"/>
          </a:bodyPr>
          <a:lstStyle/>
          <a:p>
            <a:pPr marL="0" indent="0">
              <a:buNone/>
            </a:pPr>
            <a:r>
              <a:rPr lang="en-US" b="1" dirty="0"/>
              <a:t>In the event of a fire you should</a:t>
            </a:r>
            <a:endParaRPr lang="en-GB" dirty="0"/>
          </a:p>
          <a:p>
            <a:pPr marL="0" indent="0">
              <a:buNone/>
            </a:pPr>
            <a:r>
              <a:rPr lang="en-US" b="1" dirty="0"/>
              <a:t> </a:t>
            </a:r>
            <a:endParaRPr lang="en-GB" dirty="0"/>
          </a:p>
          <a:p>
            <a:pPr marL="0" indent="0">
              <a:buNone/>
            </a:pPr>
            <a:r>
              <a:rPr lang="en-US" dirty="0"/>
              <a:t>◆ raise the alarm</a:t>
            </a:r>
            <a:endParaRPr lang="en-GB" dirty="0"/>
          </a:p>
          <a:p>
            <a:pPr marL="0" indent="0">
              <a:buNone/>
            </a:pPr>
            <a:r>
              <a:rPr lang="en-US" dirty="0"/>
              <a:t>◆ turn off machinery, gas and electricity supplies in the area of the fire</a:t>
            </a:r>
            <a:endParaRPr lang="en-GB" dirty="0"/>
          </a:p>
          <a:p>
            <a:pPr marL="0" indent="0">
              <a:buNone/>
            </a:pPr>
            <a:r>
              <a:rPr lang="en-US" dirty="0"/>
              <a:t>◆ close doors and windows but without locking or bolting them</a:t>
            </a:r>
            <a:endParaRPr lang="en-GB" dirty="0"/>
          </a:p>
          <a:p>
            <a:pPr marL="0" indent="0">
              <a:buNone/>
            </a:pPr>
            <a:r>
              <a:rPr lang="en-US" dirty="0"/>
              <a:t>◆ remove safely combustible material away from the path of the fire</a:t>
            </a:r>
            <a:endParaRPr lang="en-GB" dirty="0"/>
          </a:p>
          <a:p>
            <a:pPr marL="0" indent="0">
              <a:buNone/>
            </a:pPr>
            <a:r>
              <a:rPr lang="en-US" dirty="0"/>
              <a:t>◆ attack small fires with the correct fire </a:t>
            </a:r>
            <a:r>
              <a:rPr lang="en-US" dirty="0" smtClean="0"/>
              <a:t>extinguisher</a:t>
            </a:r>
          </a:p>
          <a:p>
            <a:pPr marL="0" indent="0">
              <a:buNone/>
            </a:pPr>
            <a:endParaRPr lang="en-US" dirty="0" smtClean="0"/>
          </a:p>
          <a:p>
            <a:pPr marL="0" indent="0">
              <a:buNone/>
            </a:pPr>
            <a:r>
              <a:rPr lang="en-US" i="1" dirty="0"/>
              <a:t>The first role to deal with electrical fire is to turn off first the circuit</a:t>
            </a:r>
            <a:endParaRPr lang="en-GB" dirty="0"/>
          </a:p>
          <a:p>
            <a:pPr marL="0" indent="0">
              <a:buNone/>
            </a:pPr>
            <a:endParaRPr lang="en-GB" dirty="0"/>
          </a:p>
          <a:p>
            <a:endParaRPr lang="en-GB" b="1" dirty="0"/>
          </a:p>
        </p:txBody>
      </p:sp>
    </p:spTree>
    <p:extLst>
      <p:ext uri="{BB962C8B-B14F-4D97-AF65-F5344CB8AC3E}">
        <p14:creationId xmlns:p14="http://schemas.microsoft.com/office/powerpoint/2010/main" val="3785105118"/>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636680"/>
          </a:xfrm>
        </p:spPr>
        <p:txBody>
          <a:bodyPr>
            <a:normAutofit fontScale="90000"/>
          </a:bodyPr>
          <a:lstStyle/>
          <a:p>
            <a:pPr algn="ctr"/>
            <a:r>
              <a:rPr lang="en-GB" b="1" dirty="0"/>
              <a:t> INTRODUCTION TO ELECTRICITY</a:t>
            </a:r>
            <a:endParaRPr lang="en-GB" dirty="0"/>
          </a:p>
        </p:txBody>
      </p:sp>
      <p:sp>
        <p:nvSpPr>
          <p:cNvPr id="3" name="Content Placeholder 2"/>
          <p:cNvSpPr>
            <a:spLocks noGrp="1"/>
          </p:cNvSpPr>
          <p:nvPr>
            <p:ph idx="1"/>
          </p:nvPr>
        </p:nvSpPr>
        <p:spPr>
          <a:xfrm>
            <a:off x="251520" y="1412776"/>
            <a:ext cx="8568952" cy="5112568"/>
          </a:xfrm>
        </p:spPr>
        <p:txBody>
          <a:bodyPr>
            <a:normAutofit lnSpcReduction="10000"/>
          </a:bodyPr>
          <a:lstStyle/>
          <a:p>
            <a:pPr marL="0" indent="0">
              <a:buNone/>
            </a:pPr>
            <a:r>
              <a:rPr lang="en-GB" sz="2800" dirty="0"/>
              <a:t>Electricity has become very useful and has changed everyone's life since the day it was discovered. Electricity is something that people cannot live without in the modern day. Without it, life will be so much difficult and slow. Electricity is a vital part of functioning of society. Simple tasks, such as factories, phones computers and refrigerators need electricity. Electricity is generated from different sources called power stations such as wind power station, hydropower station, thermal power station solar power and battery power. </a:t>
            </a:r>
            <a:r>
              <a:rPr lang="en-GB" sz="2800" b="1" dirty="0"/>
              <a:t>Figures below</a:t>
            </a:r>
            <a:r>
              <a:rPr lang="en-GB" sz="2800" dirty="0"/>
              <a:t> show the sources of electricity and</a:t>
            </a:r>
            <a:r>
              <a:rPr lang="en-GB" sz="2800" b="1" dirty="0"/>
              <a:t> </a:t>
            </a:r>
            <a:r>
              <a:rPr lang="en-GB" sz="2800" dirty="0"/>
              <a:t>how electricity reaches your home. </a:t>
            </a:r>
          </a:p>
          <a:p>
            <a:endParaRPr lang="en-GB" dirty="0"/>
          </a:p>
        </p:txBody>
      </p:sp>
    </p:spTree>
    <p:extLst>
      <p:ext uri="{BB962C8B-B14F-4D97-AF65-F5344CB8AC3E}">
        <p14:creationId xmlns:p14="http://schemas.microsoft.com/office/powerpoint/2010/main" val="4031000943"/>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48680"/>
            <a:ext cx="8229600" cy="576064"/>
          </a:xfrm>
        </p:spPr>
        <p:txBody>
          <a:bodyPr>
            <a:normAutofit fontScale="90000"/>
          </a:bodyPr>
          <a:lstStyle/>
          <a:p>
            <a:pPr algn="ctr"/>
            <a:r>
              <a:rPr lang="en-GB" sz="4000" b="1" dirty="0"/>
              <a:t>INTRODUCTION TO </a:t>
            </a:r>
            <a:r>
              <a:rPr lang="en-GB" sz="4000" b="1" dirty="0" smtClean="0"/>
              <a:t>ELECTRICITY </a:t>
            </a:r>
            <a:r>
              <a:rPr lang="en-GB" sz="4000" b="1" dirty="0" err="1" smtClean="0"/>
              <a:t>Cont</a:t>
            </a:r>
            <a:r>
              <a:rPr lang="en-GB" sz="4000" b="1" dirty="0" smtClean="0"/>
              <a:t>’</a:t>
            </a:r>
            <a:endParaRPr lang="en-GB" sz="4000" dirty="0"/>
          </a:p>
        </p:txBody>
      </p:sp>
      <p:pic>
        <p:nvPicPr>
          <p:cNvPr id="4" name="Content Placeholder 3"/>
          <p:cNvPicPr>
            <a:picLocks noGrp="1"/>
          </p:cNvPicPr>
          <p:nvPr>
            <p:ph idx="1"/>
          </p:nvPr>
        </p:nvPicPr>
        <p:blipFill>
          <a:blip r:embed="rId2"/>
          <a:stretch>
            <a:fillRect/>
          </a:stretch>
        </p:blipFill>
        <p:spPr>
          <a:xfrm>
            <a:off x="539553" y="1196753"/>
            <a:ext cx="3960440" cy="2520280"/>
          </a:xfrm>
          <a:prstGeom prst="rect">
            <a:avLst/>
          </a:prstGeom>
        </p:spPr>
      </p:pic>
      <p:pic>
        <p:nvPicPr>
          <p:cNvPr id="5" name="Picture 4"/>
          <p:cNvPicPr/>
          <p:nvPr/>
        </p:nvPicPr>
        <p:blipFill rotWithShape="1">
          <a:blip r:embed="rId3"/>
          <a:srcRect r="4600"/>
          <a:stretch/>
        </p:blipFill>
        <p:spPr bwMode="auto">
          <a:xfrm>
            <a:off x="5436096" y="1124744"/>
            <a:ext cx="2705100" cy="2592288"/>
          </a:xfrm>
          <a:prstGeom prst="rect">
            <a:avLst/>
          </a:prstGeom>
          <a:ln>
            <a:noFill/>
          </a:ln>
          <a:extLst>
            <a:ext uri="{53640926-AAD7-44D8-BBD7-CCE9431645EC}">
              <a14:shadowObscured xmlns:a14="http://schemas.microsoft.com/office/drawing/2010/main"/>
            </a:ext>
          </a:extLst>
        </p:spPr>
      </p:pic>
      <p:pic>
        <p:nvPicPr>
          <p:cNvPr id="6" name="Picture 5" descr="https://upload.wikimedia.org/wikipedia/commons/thumb/4/41/Electricity_grid_simple-_North_America.svg/1401px-Electricity_grid_simple-_North_America.svg.png"/>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691680" y="3816963"/>
            <a:ext cx="6552728" cy="2810688"/>
          </a:xfrm>
          <a:prstGeom prst="rect">
            <a:avLst/>
          </a:prstGeom>
          <a:noFill/>
          <a:ln>
            <a:noFill/>
          </a:ln>
        </p:spPr>
      </p:pic>
    </p:spTree>
    <p:extLst>
      <p:ext uri="{BB962C8B-B14F-4D97-AF65-F5344CB8AC3E}">
        <p14:creationId xmlns:p14="http://schemas.microsoft.com/office/powerpoint/2010/main" val="618646327"/>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620688"/>
            <a:ext cx="8229600" cy="648072"/>
          </a:xfrm>
        </p:spPr>
        <p:txBody>
          <a:bodyPr>
            <a:normAutofit fontScale="90000"/>
          </a:bodyPr>
          <a:lstStyle/>
          <a:p>
            <a:pPr algn="ctr"/>
            <a:r>
              <a:rPr lang="en-GB" sz="4000" b="1" dirty="0"/>
              <a:t>INTRODUCTION TO ELECTRICITY </a:t>
            </a:r>
            <a:r>
              <a:rPr lang="en-GB" sz="4000" b="1" dirty="0" err="1"/>
              <a:t>Cont</a:t>
            </a:r>
            <a:r>
              <a:rPr lang="en-GB" sz="4000" b="1" dirty="0"/>
              <a:t>’</a:t>
            </a:r>
            <a:endParaRPr lang="en-GB" sz="4000" dirty="0"/>
          </a:p>
        </p:txBody>
      </p:sp>
      <p:sp>
        <p:nvSpPr>
          <p:cNvPr id="3" name="Content Placeholder 2"/>
          <p:cNvSpPr>
            <a:spLocks noGrp="1"/>
          </p:cNvSpPr>
          <p:nvPr>
            <p:ph idx="1"/>
          </p:nvPr>
        </p:nvSpPr>
        <p:spPr>
          <a:xfrm>
            <a:off x="251520" y="1412776"/>
            <a:ext cx="8640960" cy="4911824"/>
          </a:xfrm>
        </p:spPr>
        <p:txBody>
          <a:bodyPr>
            <a:normAutofit fontScale="92500"/>
          </a:bodyPr>
          <a:lstStyle/>
          <a:p>
            <a:pPr marL="0" indent="0">
              <a:buNone/>
            </a:pPr>
            <a:r>
              <a:rPr lang="en-GB" b="1" dirty="0"/>
              <a:t>BASIC ELECTRICAL TERMS</a:t>
            </a:r>
            <a:endParaRPr lang="en-GB" b="1" dirty="0" smtClean="0"/>
          </a:p>
          <a:p>
            <a:r>
              <a:rPr lang="en-GB" b="1" dirty="0" smtClean="0"/>
              <a:t>Electricity</a:t>
            </a:r>
            <a:r>
              <a:rPr lang="en-GB" dirty="0"/>
              <a:t>: is a form of energy or Electricity is the flow of free electrons. Electricity is one of our most widely used forms of energy. We get electricity, which is a secondary energy source, from the conversion of other sources of energy, like coal, natural gas, oil, nuclear power and other natural sources.</a:t>
            </a:r>
          </a:p>
          <a:p>
            <a:pPr marL="0" indent="0">
              <a:buNone/>
            </a:pPr>
            <a:endParaRPr lang="en-GB" dirty="0"/>
          </a:p>
          <a:p>
            <a:r>
              <a:rPr lang="en-GB" b="1" dirty="0"/>
              <a:t>Current (I): </a:t>
            </a:r>
            <a:r>
              <a:rPr lang="en-GB" dirty="0"/>
              <a:t>An </a:t>
            </a:r>
            <a:r>
              <a:rPr lang="en-GB" b="1" dirty="0"/>
              <a:t>electric current</a:t>
            </a:r>
            <a:r>
              <a:rPr lang="en-GB" dirty="0"/>
              <a:t> is a flow of electric charge in electric circuits this charge is often carried by moving free electrons in a conductor. It can be also movement of free electrons through the conductor. It is measured in amperes (A) by an Ammeter.</a:t>
            </a:r>
          </a:p>
          <a:p>
            <a:pPr marL="0" indent="0">
              <a:buNone/>
            </a:pPr>
            <a:endParaRPr lang="en-GB" dirty="0"/>
          </a:p>
          <a:p>
            <a:pPr marL="0" indent="0">
              <a:buNone/>
            </a:pPr>
            <a:endParaRPr lang="en-GB" dirty="0"/>
          </a:p>
        </p:txBody>
      </p:sp>
    </p:spTree>
    <p:extLst>
      <p:ext uri="{BB962C8B-B14F-4D97-AF65-F5344CB8AC3E}">
        <p14:creationId xmlns:p14="http://schemas.microsoft.com/office/powerpoint/2010/main" val="1525785354"/>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GB" sz="4000" b="1" dirty="0"/>
              <a:t>INTRODUCTION TO ELECTRICITY </a:t>
            </a:r>
            <a:r>
              <a:rPr lang="en-GB" sz="4000" b="1" dirty="0" err="1"/>
              <a:t>Cont</a:t>
            </a:r>
            <a:r>
              <a:rPr lang="en-GB" sz="4000" b="1" dirty="0"/>
              <a:t>’</a:t>
            </a:r>
            <a:endParaRPr lang="en-GB" sz="4000" dirty="0"/>
          </a:p>
        </p:txBody>
      </p:sp>
      <p:sp>
        <p:nvSpPr>
          <p:cNvPr id="3" name="Content Placeholder 2"/>
          <p:cNvSpPr>
            <a:spLocks noGrp="1"/>
          </p:cNvSpPr>
          <p:nvPr>
            <p:ph idx="1"/>
          </p:nvPr>
        </p:nvSpPr>
        <p:spPr/>
        <p:txBody>
          <a:bodyPr/>
          <a:lstStyle/>
          <a:p>
            <a:pPr marL="0" indent="0">
              <a:buNone/>
            </a:pPr>
            <a:r>
              <a:rPr lang="en-GB" b="1" dirty="0"/>
              <a:t>Conventional Flow</a:t>
            </a:r>
            <a:r>
              <a:rPr lang="en-GB" dirty="0"/>
              <a:t>: This theory states that electrons flow from negative to positive and electricity tend to flow through a wire from the positive to the negative.</a:t>
            </a:r>
          </a:p>
          <a:p>
            <a:pPr marL="0" indent="0">
              <a:buNone/>
            </a:pPr>
            <a:endParaRPr lang="en-GB" dirty="0"/>
          </a:p>
        </p:txBody>
      </p:sp>
      <p:pic>
        <p:nvPicPr>
          <p:cNvPr id="4" name="Picture 3" descr="https://upload.wikimedia.org/wikipedia/commons/thumb/2/2e/Current_notation.svg/512px-Current_notation.svg.png"/>
          <p:cNvPicPr/>
          <p:nvPr/>
        </p:nvPicPr>
        <p:blipFill rotWithShape="1">
          <a:blip r:embed="rId2">
            <a:extLst>
              <a:ext uri="{28A0092B-C50C-407E-A947-70E740481C1C}">
                <a14:useLocalDpi xmlns:a14="http://schemas.microsoft.com/office/drawing/2010/main" val="0"/>
              </a:ext>
            </a:extLst>
          </a:blip>
          <a:srcRect l="4780" t="5687" r="6717" b="7820"/>
          <a:stretch/>
        </p:blipFill>
        <p:spPr bwMode="auto">
          <a:xfrm>
            <a:off x="5004048" y="3429000"/>
            <a:ext cx="2952328" cy="2283837"/>
          </a:xfrm>
          <a:prstGeom prst="rect">
            <a:avLst/>
          </a:prstGeom>
          <a:noFill/>
          <a:ln>
            <a:noFill/>
          </a:ln>
          <a:extLst>
            <a:ext uri="{53640926-AAD7-44D8-BBD7-CCE9431645EC}">
              <a14:shadowObscured xmlns:a14="http://schemas.microsoft.com/office/drawing/2010/main"/>
            </a:ext>
          </a:extLst>
        </p:spPr>
      </p:pic>
      <p:pic>
        <p:nvPicPr>
          <p:cNvPr id="5" name="Picture 4"/>
          <p:cNvPicPr/>
          <p:nvPr/>
        </p:nvPicPr>
        <p:blipFill rotWithShape="1">
          <a:blip r:embed="rId3"/>
          <a:srcRect l="1943" t="4167" r="2186"/>
          <a:stretch/>
        </p:blipFill>
        <p:spPr bwMode="auto">
          <a:xfrm>
            <a:off x="1115616" y="3284984"/>
            <a:ext cx="3096344" cy="2156584"/>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8514941"/>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20688"/>
            <a:ext cx="8229600" cy="648072"/>
          </a:xfrm>
        </p:spPr>
        <p:txBody>
          <a:bodyPr>
            <a:normAutofit fontScale="90000"/>
          </a:bodyPr>
          <a:lstStyle/>
          <a:p>
            <a:pPr algn="ctr"/>
            <a:r>
              <a:rPr lang="en-GB" sz="4000" b="1" dirty="0"/>
              <a:t>INTRODUCTION TO ELECTRICITY </a:t>
            </a:r>
            <a:r>
              <a:rPr lang="en-GB" sz="4000" b="1" dirty="0" err="1"/>
              <a:t>Cont</a:t>
            </a:r>
            <a:r>
              <a:rPr lang="en-GB" sz="4000" b="1" dirty="0"/>
              <a:t>’</a:t>
            </a:r>
            <a:endParaRPr lang="en-GB" sz="4000" dirty="0"/>
          </a:p>
        </p:txBody>
      </p:sp>
      <p:sp>
        <p:nvSpPr>
          <p:cNvPr id="3" name="Content Placeholder 2"/>
          <p:cNvSpPr>
            <a:spLocks noGrp="1"/>
          </p:cNvSpPr>
          <p:nvPr>
            <p:ph idx="1"/>
          </p:nvPr>
        </p:nvSpPr>
        <p:spPr>
          <a:xfrm>
            <a:off x="251520" y="1340768"/>
            <a:ext cx="8712968" cy="5256584"/>
          </a:xfrm>
        </p:spPr>
        <p:txBody>
          <a:bodyPr/>
          <a:lstStyle/>
          <a:p>
            <a:pPr marL="0" indent="0">
              <a:buNone/>
            </a:pPr>
            <a:r>
              <a:rPr lang="en-GB" b="1" dirty="0"/>
              <a:t>Direct current: </a:t>
            </a:r>
            <a:r>
              <a:rPr lang="en-GB" dirty="0"/>
              <a:t>The voltage forces the electrons to flow continuously in one direction through a closed circuit. This type of voltage is called Direct Current (DC) voltage. Batteries and DC generators produce DC voltage.</a:t>
            </a:r>
          </a:p>
          <a:p>
            <a:pPr marL="0" indent="0">
              <a:buNone/>
            </a:pPr>
            <a:r>
              <a:rPr lang="en-GB" b="1" dirty="0"/>
              <a:t>Alternating current: </a:t>
            </a:r>
            <a:r>
              <a:rPr lang="en-GB" dirty="0"/>
              <a:t>The voltage forces electrons to flow first in one direction, then in the opposite direction, alternating very quickly. This type of voltage is called Alternating Current </a:t>
            </a:r>
          </a:p>
        </p:txBody>
      </p:sp>
      <p:pic>
        <p:nvPicPr>
          <p:cNvPr id="4" name="Picture 3"/>
          <p:cNvPicPr/>
          <p:nvPr/>
        </p:nvPicPr>
        <p:blipFill>
          <a:blip r:embed="rId2"/>
          <a:stretch>
            <a:fillRect/>
          </a:stretch>
        </p:blipFill>
        <p:spPr>
          <a:xfrm>
            <a:off x="251520" y="4725145"/>
            <a:ext cx="4824536" cy="1728191"/>
          </a:xfrm>
          <a:prstGeom prst="rect">
            <a:avLst/>
          </a:prstGeom>
        </p:spPr>
      </p:pic>
      <p:pic>
        <p:nvPicPr>
          <p:cNvPr id="5" name="Picture 4"/>
          <p:cNvPicPr/>
          <p:nvPr/>
        </p:nvPicPr>
        <p:blipFill rotWithShape="1">
          <a:blip r:embed="rId3">
            <a:extLst>
              <a:ext uri="{28A0092B-C50C-407E-A947-70E740481C1C}">
                <a14:useLocalDpi xmlns:a14="http://schemas.microsoft.com/office/drawing/2010/main" val="0"/>
              </a:ext>
            </a:extLst>
          </a:blip>
          <a:srcRect t="34419" b="1629"/>
          <a:stretch/>
        </p:blipFill>
        <p:spPr bwMode="auto">
          <a:xfrm>
            <a:off x="5282428" y="4725145"/>
            <a:ext cx="3674745" cy="1737995"/>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973115310"/>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48680"/>
            <a:ext cx="8229600" cy="720080"/>
          </a:xfrm>
        </p:spPr>
        <p:txBody>
          <a:bodyPr>
            <a:normAutofit/>
          </a:bodyPr>
          <a:lstStyle/>
          <a:p>
            <a:pPr algn="ctr"/>
            <a:r>
              <a:rPr lang="en-GB" sz="4000" b="1" dirty="0"/>
              <a:t>INTRODUCTION TO ELECTRICITY </a:t>
            </a:r>
            <a:r>
              <a:rPr lang="en-GB" sz="4000" b="1" dirty="0" err="1"/>
              <a:t>Cont</a:t>
            </a:r>
            <a:r>
              <a:rPr lang="en-GB" sz="4000" b="1" dirty="0"/>
              <a:t>’</a:t>
            </a:r>
            <a:endParaRPr lang="en-GB" sz="4000" dirty="0"/>
          </a:p>
        </p:txBody>
      </p:sp>
      <p:sp>
        <p:nvSpPr>
          <p:cNvPr id="3" name="Content Placeholder 2"/>
          <p:cNvSpPr>
            <a:spLocks noGrp="1"/>
          </p:cNvSpPr>
          <p:nvPr>
            <p:ph idx="1"/>
          </p:nvPr>
        </p:nvSpPr>
        <p:spPr>
          <a:xfrm>
            <a:off x="457200" y="1484784"/>
            <a:ext cx="8229600" cy="4839816"/>
          </a:xfrm>
        </p:spPr>
        <p:txBody>
          <a:bodyPr/>
          <a:lstStyle/>
          <a:p>
            <a:pPr marL="0" indent="0">
              <a:buNone/>
            </a:pPr>
            <a:r>
              <a:rPr lang="en-GB" b="1" dirty="0"/>
              <a:t>Voltage (V): </a:t>
            </a:r>
            <a:r>
              <a:rPr lang="en-GB" dirty="0"/>
              <a:t>The definition of voltage is the electromotive force or the electrical potential difference between two points in a circuit.</a:t>
            </a:r>
            <a:r>
              <a:rPr lang="en-GB" b="1" dirty="0"/>
              <a:t> </a:t>
            </a:r>
            <a:r>
              <a:rPr lang="en-GB" dirty="0"/>
              <a:t>It can be also the force (pressure) that is applied to a conductor to free electrons, which causes electrical current to flow. It is measured in volts (V) by a Voltmeter.</a:t>
            </a:r>
          </a:p>
          <a:p>
            <a:pPr marL="0" indent="0">
              <a:buNone/>
            </a:pPr>
            <a:r>
              <a:rPr lang="en-GB" b="1" dirty="0"/>
              <a:t>Resistance (R):</a:t>
            </a:r>
            <a:r>
              <a:rPr lang="en-GB" dirty="0"/>
              <a:t> Resistance is the opposition that a substance offers to the flow of electric current.  It is represented by the uppercase letter R.  The standard unit of resistance is the ohm,</a:t>
            </a:r>
            <a:r>
              <a:rPr lang="en-GB" b="1" dirty="0"/>
              <a:t> </a:t>
            </a:r>
            <a:r>
              <a:rPr lang="en-GB" dirty="0"/>
              <a:t>and is measured in ohm (Ω) by an Ohmmeter.</a:t>
            </a:r>
          </a:p>
          <a:p>
            <a:pPr marL="0" indent="0">
              <a:buNone/>
            </a:pPr>
            <a:endParaRPr lang="en-GB" dirty="0"/>
          </a:p>
        </p:txBody>
      </p:sp>
    </p:spTree>
    <p:extLst>
      <p:ext uri="{BB962C8B-B14F-4D97-AF65-F5344CB8AC3E}">
        <p14:creationId xmlns:p14="http://schemas.microsoft.com/office/powerpoint/2010/main" val="3610079327"/>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332656"/>
            <a:ext cx="8229600" cy="720080"/>
          </a:xfrm>
        </p:spPr>
        <p:txBody>
          <a:bodyPr>
            <a:normAutofit/>
          </a:bodyPr>
          <a:lstStyle/>
          <a:p>
            <a:pPr algn="ctr"/>
            <a:r>
              <a:rPr lang="en-GB" sz="4000" b="1" dirty="0"/>
              <a:t>INTRODUCTION TO ELECTRICITY </a:t>
            </a:r>
            <a:r>
              <a:rPr lang="en-GB" sz="4000" b="1" dirty="0" err="1"/>
              <a:t>Cont</a:t>
            </a:r>
            <a:r>
              <a:rPr lang="en-GB" sz="4000" b="1" dirty="0"/>
              <a:t>’</a:t>
            </a:r>
            <a:endParaRPr lang="en-GB" sz="4000" dirty="0"/>
          </a:p>
        </p:txBody>
      </p:sp>
      <p:sp>
        <p:nvSpPr>
          <p:cNvPr id="3" name="Content Placeholder 2"/>
          <p:cNvSpPr>
            <a:spLocks noGrp="1"/>
          </p:cNvSpPr>
          <p:nvPr>
            <p:ph idx="1"/>
          </p:nvPr>
        </p:nvSpPr>
        <p:spPr>
          <a:xfrm>
            <a:off x="251520" y="1052735"/>
            <a:ext cx="8712968" cy="5578549"/>
          </a:xfrm>
        </p:spPr>
        <p:txBody>
          <a:bodyPr/>
          <a:lstStyle/>
          <a:p>
            <a:r>
              <a:rPr lang="en-GB" b="1" dirty="0"/>
              <a:t>Resistance calculation</a:t>
            </a:r>
          </a:p>
          <a:p>
            <a:pPr marL="0" indent="0">
              <a:buNone/>
            </a:pPr>
            <a:r>
              <a:rPr lang="en-GB" dirty="0"/>
              <a:t>The resistance of a conductor is resistivity of the conductor's material times the conductor's length divided by the conductor's cross-sectional area.</a:t>
            </a:r>
          </a:p>
          <a:p>
            <a:pPr marL="0" indent="0">
              <a:buNone/>
            </a:pPr>
            <a:r>
              <a:rPr lang="en-GB" b="1" dirty="0"/>
              <a:t>Resistance calculation with ohm's law</a:t>
            </a:r>
          </a:p>
          <a:p>
            <a:endParaRPr lang="en-GB" b="1" dirty="0" smtClean="0"/>
          </a:p>
          <a:p>
            <a:pPr marL="0" indent="0">
              <a:buNone/>
            </a:pPr>
            <a:r>
              <a:rPr lang="en-GB" b="1" dirty="0" smtClean="0"/>
              <a:t>Temperature </a:t>
            </a:r>
            <a:r>
              <a:rPr lang="en-GB" b="1" dirty="0"/>
              <a:t>effects of resistance</a:t>
            </a:r>
          </a:p>
          <a:p>
            <a:pPr marL="0" indent="0">
              <a:buNone/>
            </a:pPr>
            <a:r>
              <a:rPr lang="en-GB" i="1" dirty="0" smtClean="0"/>
              <a:t>             R</a:t>
            </a:r>
            <a:r>
              <a:rPr lang="en-GB" baseline="-25000" dirty="0" smtClean="0"/>
              <a:t>2</a:t>
            </a:r>
            <a:r>
              <a:rPr lang="en-GB" dirty="0" smtClean="0"/>
              <a:t> </a:t>
            </a:r>
            <a:r>
              <a:rPr lang="en-GB" dirty="0"/>
              <a:t>= </a:t>
            </a:r>
            <a:r>
              <a:rPr lang="en-GB" i="1" dirty="0"/>
              <a:t>R</a:t>
            </a:r>
            <a:r>
              <a:rPr lang="en-GB" baseline="-25000" dirty="0"/>
              <a:t>1 </a:t>
            </a:r>
            <a:r>
              <a:rPr lang="en-GB" dirty="0"/>
              <a:t>× (1 + α (</a:t>
            </a:r>
            <a:r>
              <a:rPr lang="en-GB" i="1" dirty="0"/>
              <a:t>T</a:t>
            </a:r>
            <a:r>
              <a:rPr lang="en-GB" baseline="-25000" dirty="0"/>
              <a:t>2 </a:t>
            </a:r>
            <a:r>
              <a:rPr lang="en-GB" dirty="0"/>
              <a:t>-</a:t>
            </a:r>
            <a:r>
              <a:rPr lang="en-GB" i="1" dirty="0"/>
              <a:t> T</a:t>
            </a:r>
            <a:r>
              <a:rPr lang="en-GB" baseline="-25000" dirty="0"/>
              <a:t>1</a:t>
            </a:r>
            <a:r>
              <a:rPr lang="en-GB" dirty="0"/>
              <a:t>) )</a:t>
            </a:r>
          </a:p>
          <a:p>
            <a:pPr marL="0" indent="0">
              <a:buNone/>
            </a:pPr>
            <a:r>
              <a:rPr lang="en-GB" i="1" dirty="0" smtClean="0"/>
              <a:t>                                      </a:t>
            </a:r>
            <a:endParaRPr lang="en-GB" sz="1800" dirty="0" smtClean="0"/>
          </a:p>
          <a:p>
            <a:pPr marL="0" indent="0">
              <a:buNone/>
            </a:pPr>
            <a:endParaRPr lang="en-GB" sz="1800" i="1" dirty="0"/>
          </a:p>
          <a:p>
            <a:pPr marL="0" indent="0">
              <a:buNone/>
            </a:pPr>
            <a:endParaRPr lang="en-GB" sz="1800" dirty="0"/>
          </a:p>
          <a:p>
            <a:pPr marL="0" indent="0">
              <a:buNone/>
            </a:pPr>
            <a:endParaRPr lang="en-GB" dirty="0"/>
          </a:p>
        </p:txBody>
      </p:sp>
      <p:pic>
        <p:nvPicPr>
          <p:cNvPr id="4" name="Picture 3" descr="R=\rho \times \frac{l}{A}"/>
          <p:cNvPicPr/>
          <p:nvPr/>
        </p:nvPicPr>
        <p:blipFill>
          <a:blip r:embed="rId2">
            <a:extLst>
              <a:ext uri="{28A0092B-C50C-407E-A947-70E740481C1C}">
                <a14:useLocalDpi xmlns:a14="http://schemas.microsoft.com/office/drawing/2010/main" val="0"/>
              </a:ext>
            </a:extLst>
          </a:blip>
          <a:srcRect/>
          <a:stretch>
            <a:fillRect/>
          </a:stretch>
        </p:blipFill>
        <p:spPr bwMode="auto">
          <a:xfrm>
            <a:off x="5508104" y="2636912"/>
            <a:ext cx="871220" cy="396875"/>
          </a:xfrm>
          <a:prstGeom prst="rect">
            <a:avLst/>
          </a:prstGeom>
          <a:noFill/>
          <a:ln>
            <a:noFill/>
          </a:ln>
        </p:spPr>
      </p:pic>
      <p:pic>
        <p:nvPicPr>
          <p:cNvPr id="5" name="Picture 4" descr="http://www.rapidtables.com/electric/resistor/ohmlaw.GIF"/>
          <p:cNvPicPr/>
          <p:nvPr/>
        </p:nvPicPr>
        <p:blipFill>
          <a:blip r:embed="rId3">
            <a:extLst>
              <a:ext uri="{28A0092B-C50C-407E-A947-70E740481C1C}">
                <a14:useLocalDpi xmlns:a14="http://schemas.microsoft.com/office/drawing/2010/main" val="0"/>
              </a:ext>
            </a:extLst>
          </a:blip>
          <a:srcRect/>
          <a:stretch>
            <a:fillRect/>
          </a:stretch>
        </p:blipFill>
        <p:spPr bwMode="auto">
          <a:xfrm>
            <a:off x="3563888" y="3620512"/>
            <a:ext cx="551815" cy="387985"/>
          </a:xfrm>
          <a:prstGeom prst="rect">
            <a:avLst/>
          </a:prstGeom>
          <a:noFill/>
          <a:ln>
            <a:noFill/>
          </a:ln>
        </p:spPr>
      </p:pic>
      <p:pic>
        <p:nvPicPr>
          <p:cNvPr id="102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9512" y="4699657"/>
            <a:ext cx="2664296" cy="2003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24128" y="4941168"/>
            <a:ext cx="3467498" cy="14329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8"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02357" y="4941168"/>
            <a:ext cx="2698273" cy="1403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29748653"/>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48680"/>
            <a:ext cx="8229600" cy="648072"/>
          </a:xfrm>
        </p:spPr>
        <p:txBody>
          <a:bodyPr>
            <a:normAutofit fontScale="90000"/>
          </a:bodyPr>
          <a:lstStyle/>
          <a:p>
            <a:pPr algn="ctr"/>
            <a:r>
              <a:rPr lang="en-GB" sz="4000" b="1" dirty="0"/>
              <a:t>INTRODUCTION TO ELECTRICITY </a:t>
            </a:r>
            <a:r>
              <a:rPr lang="en-GB" sz="4000" b="1" dirty="0" err="1"/>
              <a:t>Cont</a:t>
            </a:r>
            <a:r>
              <a:rPr lang="en-GB" sz="4000" b="1" dirty="0"/>
              <a:t>’</a:t>
            </a:r>
            <a:endParaRPr lang="en-GB" sz="4000" dirty="0"/>
          </a:p>
        </p:txBody>
      </p:sp>
      <p:sp>
        <p:nvSpPr>
          <p:cNvPr id="3" name="Content Placeholder 2"/>
          <p:cNvSpPr>
            <a:spLocks noGrp="1"/>
          </p:cNvSpPr>
          <p:nvPr>
            <p:ph idx="1"/>
          </p:nvPr>
        </p:nvSpPr>
        <p:spPr>
          <a:xfrm>
            <a:off x="457200" y="1268760"/>
            <a:ext cx="8229600" cy="5055840"/>
          </a:xfrm>
        </p:spPr>
        <p:txBody>
          <a:bodyPr>
            <a:normAutofit lnSpcReduction="10000"/>
          </a:bodyPr>
          <a:lstStyle/>
          <a:p>
            <a:r>
              <a:rPr lang="en-GB" b="1" dirty="0"/>
              <a:t>Conductors: </a:t>
            </a:r>
            <a:r>
              <a:rPr lang="en-GB" dirty="0"/>
              <a:t>Materials that allow</a:t>
            </a:r>
            <a:r>
              <a:rPr lang="en-GB" b="1" dirty="0"/>
              <a:t> </a:t>
            </a:r>
            <a:r>
              <a:rPr lang="en-GB" dirty="0"/>
              <a:t>electric current to flow easily </a:t>
            </a:r>
            <a:r>
              <a:rPr lang="en-US" dirty="0"/>
              <a:t>they contains many free electrons. Example: gold, copper, silver, aluminum. </a:t>
            </a:r>
            <a:endParaRPr lang="en-GB" dirty="0"/>
          </a:p>
          <a:p>
            <a:r>
              <a:rPr lang="en-GB" b="1" dirty="0"/>
              <a:t>Insulators: </a:t>
            </a:r>
            <a:r>
              <a:rPr lang="en-GB" dirty="0"/>
              <a:t>Material that </a:t>
            </a:r>
            <a:r>
              <a:rPr lang="en-GB" b="1" dirty="0"/>
              <a:t>does not </a:t>
            </a:r>
            <a:r>
              <a:rPr lang="en-GB" dirty="0"/>
              <a:t>allow electric current to flow is an electrical insulator or dielectric, </a:t>
            </a:r>
            <a:r>
              <a:rPr lang="en-US" dirty="0"/>
              <a:t>they contain few free electrons. </a:t>
            </a:r>
            <a:r>
              <a:rPr lang="en-GB" dirty="0"/>
              <a:t>These materials are used in parts of electrical equipment, intended to support or separate electrical conductors without passing current such</a:t>
            </a:r>
            <a:r>
              <a:rPr lang="en-GB" b="1" dirty="0"/>
              <a:t> </a:t>
            </a:r>
            <a:r>
              <a:rPr lang="en-GB" dirty="0"/>
              <a:t>as; dry wood, plastic, rubber, </a:t>
            </a:r>
            <a:r>
              <a:rPr lang="en-US" dirty="0"/>
              <a:t>glass</a:t>
            </a:r>
            <a:r>
              <a:rPr lang="en-GB" dirty="0"/>
              <a:t>,</a:t>
            </a:r>
            <a:r>
              <a:rPr lang="en-GB" b="1" dirty="0"/>
              <a:t> </a:t>
            </a:r>
            <a:r>
              <a:rPr lang="en-GB" dirty="0"/>
              <a:t>paper etc.</a:t>
            </a:r>
            <a:r>
              <a:rPr lang="en-GB" b="1" dirty="0"/>
              <a:t> </a:t>
            </a:r>
            <a:endParaRPr lang="en-GB" dirty="0"/>
          </a:p>
          <a:p>
            <a:r>
              <a:rPr lang="en-US" b="1" dirty="0"/>
              <a:t>Semi-conductor</a:t>
            </a:r>
            <a:r>
              <a:rPr lang="en-US" dirty="0"/>
              <a:t>: These are materials having properties is both conductors and insulators.</a:t>
            </a:r>
            <a:endParaRPr lang="en-GB" dirty="0"/>
          </a:p>
          <a:p>
            <a:r>
              <a:rPr lang="en-US" dirty="0"/>
              <a:t>Example: Silicon, Germanium</a:t>
            </a:r>
            <a:endParaRPr lang="en-GB" dirty="0"/>
          </a:p>
          <a:p>
            <a:pPr marL="0" indent="0">
              <a:buNone/>
            </a:pPr>
            <a:endParaRPr lang="en-GB" dirty="0"/>
          </a:p>
        </p:txBody>
      </p:sp>
    </p:spTree>
    <p:extLst>
      <p:ext uri="{BB962C8B-B14F-4D97-AF65-F5344CB8AC3E}">
        <p14:creationId xmlns:p14="http://schemas.microsoft.com/office/powerpoint/2010/main" val="2802543426"/>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GB" sz="4000" b="1" dirty="0"/>
              <a:t>INTRODUCTION TO ELECTRICITY </a:t>
            </a:r>
            <a:r>
              <a:rPr lang="en-GB" sz="4000" b="1" dirty="0" err="1"/>
              <a:t>Cont</a:t>
            </a:r>
            <a:r>
              <a:rPr lang="en-GB" sz="4000" b="1" dirty="0"/>
              <a:t>’</a:t>
            </a:r>
            <a:endParaRPr lang="en-GB" sz="4000" dirty="0"/>
          </a:p>
        </p:txBody>
      </p:sp>
      <p:sp>
        <p:nvSpPr>
          <p:cNvPr id="3" name="Content Placeholder 2"/>
          <p:cNvSpPr>
            <a:spLocks noGrp="1"/>
          </p:cNvSpPr>
          <p:nvPr>
            <p:ph idx="1"/>
          </p:nvPr>
        </p:nvSpPr>
        <p:spPr>
          <a:xfrm>
            <a:off x="179512" y="1935480"/>
            <a:ext cx="8712968" cy="4389120"/>
          </a:xfrm>
        </p:spPr>
        <p:txBody>
          <a:bodyPr/>
          <a:lstStyle/>
          <a:p>
            <a:pPr marL="0" indent="0">
              <a:buNone/>
            </a:pPr>
            <a:r>
              <a:rPr lang="en-GB" b="1" dirty="0"/>
              <a:t>Circuit: </a:t>
            </a:r>
            <a:r>
              <a:rPr lang="en-GB" dirty="0"/>
              <a:t>Complete path of the current. It consists of electricity source, a conductor, and </a:t>
            </a:r>
            <a:r>
              <a:rPr lang="en-GB" dirty="0" smtClean="0"/>
              <a:t>the output </a:t>
            </a:r>
            <a:r>
              <a:rPr lang="en-GB" dirty="0"/>
              <a:t>device or load (such as a lamp, or a heater).</a:t>
            </a:r>
          </a:p>
          <a:p>
            <a:pPr marL="0" indent="0">
              <a:buNone/>
            </a:pPr>
            <a:endParaRPr lang="en-GB" dirty="0"/>
          </a:p>
        </p:txBody>
      </p:sp>
      <p:pic>
        <p:nvPicPr>
          <p:cNvPr id="4" name="Picture 3"/>
          <p:cNvPicPr/>
          <p:nvPr/>
        </p:nvPicPr>
        <p:blipFill>
          <a:blip r:embed="rId2"/>
          <a:stretch>
            <a:fillRect/>
          </a:stretch>
        </p:blipFill>
        <p:spPr>
          <a:xfrm>
            <a:off x="4067944" y="3573016"/>
            <a:ext cx="4629150" cy="2962275"/>
          </a:xfrm>
          <a:prstGeom prst="rect">
            <a:avLst/>
          </a:prstGeom>
        </p:spPr>
      </p:pic>
    </p:spTree>
    <p:extLst>
      <p:ext uri="{BB962C8B-B14F-4D97-AF65-F5344CB8AC3E}">
        <p14:creationId xmlns:p14="http://schemas.microsoft.com/office/powerpoint/2010/main" val="1145699175"/>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48680"/>
            <a:ext cx="8229600" cy="720080"/>
          </a:xfrm>
        </p:spPr>
        <p:txBody>
          <a:bodyPr>
            <a:normAutofit/>
          </a:bodyPr>
          <a:lstStyle/>
          <a:p>
            <a:pPr algn="ctr"/>
            <a:r>
              <a:rPr lang="en-GB" sz="4000" b="1" dirty="0"/>
              <a:t>INTRODUCTION TO ELECTRICITY </a:t>
            </a:r>
            <a:r>
              <a:rPr lang="en-GB" sz="4000" b="1" dirty="0" err="1"/>
              <a:t>Cont</a:t>
            </a:r>
            <a:r>
              <a:rPr lang="en-GB" sz="4000" b="1" dirty="0"/>
              <a:t>’</a:t>
            </a:r>
            <a:endParaRPr lang="en-GB" sz="4000" dirty="0"/>
          </a:p>
        </p:txBody>
      </p:sp>
      <p:sp>
        <p:nvSpPr>
          <p:cNvPr id="3" name="Content Placeholder 2"/>
          <p:cNvSpPr>
            <a:spLocks noGrp="1"/>
          </p:cNvSpPr>
          <p:nvPr>
            <p:ph idx="1"/>
          </p:nvPr>
        </p:nvSpPr>
        <p:spPr>
          <a:xfrm>
            <a:off x="179512" y="1196752"/>
            <a:ext cx="8784976" cy="5127848"/>
          </a:xfrm>
        </p:spPr>
        <p:txBody>
          <a:bodyPr>
            <a:normAutofit lnSpcReduction="10000"/>
          </a:bodyPr>
          <a:lstStyle/>
          <a:p>
            <a:pPr marL="0" indent="0">
              <a:buNone/>
            </a:pPr>
            <a:r>
              <a:rPr lang="en-GB" b="1" dirty="0"/>
              <a:t>Series circuit</a:t>
            </a:r>
            <a:endParaRPr lang="en-GB" dirty="0"/>
          </a:p>
          <a:p>
            <a:pPr marL="0" indent="0">
              <a:buNone/>
            </a:pPr>
            <a:r>
              <a:rPr lang="en-GB" dirty="0" smtClean="0"/>
              <a:t>A </a:t>
            </a:r>
            <a:r>
              <a:rPr lang="en-GB" dirty="0"/>
              <a:t>series circuit has only one path for current. That means current is the same through every part of the circuit. If any part of the circuit is broken or disconnected, the whole circuit will stop working. No current is present in a series circuit unless there is continuity through the entire </a:t>
            </a:r>
            <a:r>
              <a:rPr lang="en-GB" dirty="0" smtClean="0"/>
              <a:t>circuit</a:t>
            </a:r>
            <a:r>
              <a:rPr lang="en-GB" dirty="0"/>
              <a:t> </a:t>
            </a:r>
          </a:p>
          <a:p>
            <a:r>
              <a:rPr lang="en-GB" dirty="0"/>
              <a:t>A series circuit has these key features</a:t>
            </a:r>
            <a:r>
              <a:rPr lang="en-GB" dirty="0" smtClean="0"/>
              <a:t>:</a:t>
            </a:r>
            <a:r>
              <a:rPr lang="en-GB" dirty="0"/>
              <a:t> </a:t>
            </a:r>
          </a:p>
          <a:p>
            <a:pPr lvl="0"/>
            <a:r>
              <a:rPr lang="en-GB" dirty="0"/>
              <a:t>Current is the same in every part of the circuit</a:t>
            </a:r>
            <a:r>
              <a:rPr lang="en-GB" dirty="0" smtClean="0"/>
              <a:t>.</a:t>
            </a:r>
            <a:r>
              <a:rPr lang="en-GB" dirty="0"/>
              <a:t> </a:t>
            </a:r>
          </a:p>
          <a:p>
            <a:pPr lvl="0"/>
            <a:r>
              <a:rPr lang="en-GB" dirty="0"/>
              <a:t>The sum of all the individual resistances equals the total resistance in the circuit</a:t>
            </a:r>
            <a:r>
              <a:rPr lang="en-GB" dirty="0" smtClean="0"/>
              <a:t>.</a:t>
            </a:r>
            <a:r>
              <a:rPr lang="en-GB" dirty="0"/>
              <a:t> </a:t>
            </a:r>
          </a:p>
          <a:p>
            <a:pPr lvl="0"/>
            <a:r>
              <a:rPr lang="en-GB" dirty="0"/>
              <a:t>The sum of the individual voltage drops in the circuit equals the source voltage.</a:t>
            </a:r>
          </a:p>
          <a:p>
            <a:endParaRPr lang="en-GB" dirty="0"/>
          </a:p>
        </p:txBody>
      </p:sp>
    </p:spTree>
    <p:extLst>
      <p:ext uri="{BB962C8B-B14F-4D97-AF65-F5344CB8AC3E}">
        <p14:creationId xmlns:p14="http://schemas.microsoft.com/office/powerpoint/2010/main" val="1998276193"/>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20688"/>
            <a:ext cx="8229600" cy="720080"/>
          </a:xfrm>
        </p:spPr>
        <p:txBody>
          <a:bodyPr>
            <a:normAutofit/>
          </a:bodyPr>
          <a:lstStyle/>
          <a:p>
            <a:pPr algn="ctr"/>
            <a:r>
              <a:rPr lang="en-GB" sz="4000" b="1" dirty="0"/>
              <a:t>INTRODUCTION TO ELECTRICITY </a:t>
            </a:r>
            <a:r>
              <a:rPr lang="en-GB" sz="4000" b="1" dirty="0" err="1"/>
              <a:t>Cont</a:t>
            </a:r>
            <a:r>
              <a:rPr lang="en-GB" sz="4000" b="1" dirty="0"/>
              <a:t>’</a:t>
            </a:r>
            <a:endParaRPr lang="en-GB" sz="4000" dirty="0"/>
          </a:p>
        </p:txBody>
      </p:sp>
      <p:sp>
        <p:nvSpPr>
          <p:cNvPr id="3" name="Content Placeholder 2"/>
          <p:cNvSpPr>
            <a:spLocks noGrp="1"/>
          </p:cNvSpPr>
          <p:nvPr>
            <p:ph idx="1"/>
          </p:nvPr>
        </p:nvSpPr>
        <p:spPr>
          <a:xfrm>
            <a:off x="323528" y="1412776"/>
            <a:ext cx="8568952" cy="5040560"/>
          </a:xfrm>
        </p:spPr>
        <p:txBody>
          <a:bodyPr>
            <a:normAutofit fontScale="92500" lnSpcReduction="20000"/>
          </a:bodyPr>
          <a:lstStyle/>
          <a:p>
            <a:pPr marL="0" indent="0">
              <a:buNone/>
            </a:pPr>
            <a:r>
              <a:rPr lang="en-GB" b="1" dirty="0"/>
              <a:t>Parallel circuit</a:t>
            </a:r>
            <a:endParaRPr lang="en-GB" dirty="0"/>
          </a:p>
          <a:p>
            <a:pPr marL="0" indent="0">
              <a:buNone/>
            </a:pPr>
            <a:r>
              <a:rPr lang="en-GB" b="1" dirty="0"/>
              <a:t> </a:t>
            </a:r>
            <a:r>
              <a:rPr lang="en-GB" dirty="0" smtClean="0"/>
              <a:t>A </a:t>
            </a:r>
            <a:r>
              <a:rPr lang="en-GB" dirty="0"/>
              <a:t>parallel circuit has these key features</a:t>
            </a:r>
            <a:r>
              <a:rPr lang="en-GB" dirty="0" smtClean="0"/>
              <a:t>:</a:t>
            </a:r>
            <a:r>
              <a:rPr lang="en-GB" dirty="0"/>
              <a:t> </a:t>
            </a:r>
          </a:p>
          <a:p>
            <a:pPr lvl="0"/>
            <a:r>
              <a:rPr lang="en-GB" dirty="0"/>
              <a:t>Total current equals the sum of the branch currents</a:t>
            </a:r>
            <a:r>
              <a:rPr lang="en-GB" dirty="0" smtClean="0"/>
              <a:t>.</a:t>
            </a:r>
            <a:r>
              <a:rPr lang="en-GB" dirty="0"/>
              <a:t> </a:t>
            </a:r>
          </a:p>
          <a:p>
            <a:pPr lvl="0"/>
            <a:r>
              <a:rPr lang="en-GB" dirty="0"/>
              <a:t>Resistance of each branch determines the current through each branch</a:t>
            </a:r>
            <a:r>
              <a:rPr lang="en-GB" dirty="0" smtClean="0"/>
              <a:t>.</a:t>
            </a:r>
            <a:r>
              <a:rPr lang="en-GB" dirty="0"/>
              <a:t> </a:t>
            </a:r>
          </a:p>
          <a:p>
            <a:pPr lvl="0"/>
            <a:r>
              <a:rPr lang="en-GB" dirty="0"/>
              <a:t>If the branch resistances are the same, branch currents will be the same</a:t>
            </a:r>
            <a:r>
              <a:rPr lang="en-GB" dirty="0" smtClean="0"/>
              <a:t>.</a:t>
            </a:r>
            <a:endParaRPr lang="en-GB" dirty="0"/>
          </a:p>
          <a:p>
            <a:pPr lvl="0"/>
            <a:r>
              <a:rPr lang="en-GB" dirty="0"/>
              <a:t>If the branch resistances are different, the current in each branch will be different</a:t>
            </a:r>
            <a:r>
              <a:rPr lang="en-GB" dirty="0" smtClean="0"/>
              <a:t>.</a:t>
            </a:r>
            <a:r>
              <a:rPr lang="en-GB" dirty="0"/>
              <a:t> </a:t>
            </a:r>
          </a:p>
          <a:p>
            <a:pPr lvl="0"/>
            <a:r>
              <a:rPr lang="en-GB" dirty="0"/>
              <a:t>The voltage drop across each load resistance is the same. This is because the source voltage is applied equally to each branch</a:t>
            </a:r>
            <a:r>
              <a:rPr lang="en-GB" dirty="0" smtClean="0"/>
              <a:t>.</a:t>
            </a:r>
            <a:r>
              <a:rPr lang="en-GB" dirty="0"/>
              <a:t> </a:t>
            </a:r>
          </a:p>
          <a:p>
            <a:pPr lvl="0"/>
            <a:r>
              <a:rPr lang="en-GB" dirty="0"/>
              <a:t>The equivalent resistance of the circuit is less than the smallest branch resistance</a:t>
            </a:r>
            <a:r>
              <a:rPr lang="en-GB" dirty="0" smtClean="0"/>
              <a:t>.</a:t>
            </a:r>
            <a:endParaRPr lang="en-GB" dirty="0"/>
          </a:p>
          <a:p>
            <a:endParaRPr lang="en-GB" dirty="0"/>
          </a:p>
        </p:txBody>
      </p:sp>
    </p:spTree>
    <p:extLst>
      <p:ext uri="{BB962C8B-B14F-4D97-AF65-F5344CB8AC3E}">
        <p14:creationId xmlns:p14="http://schemas.microsoft.com/office/powerpoint/2010/main" val="1396039907"/>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GB" sz="4000" b="1" dirty="0"/>
              <a:t>INTRODUCTION TO ELECTRICITY </a:t>
            </a:r>
            <a:r>
              <a:rPr lang="en-GB" sz="4000" b="1" dirty="0" err="1"/>
              <a:t>Cont</a:t>
            </a:r>
            <a:r>
              <a:rPr lang="en-GB" sz="4000" b="1" dirty="0"/>
              <a:t>’</a:t>
            </a:r>
            <a:endParaRPr lang="en-GB" sz="4000" dirty="0"/>
          </a:p>
        </p:txBody>
      </p:sp>
      <p:pic>
        <p:nvPicPr>
          <p:cNvPr id="4" name="Content Placeholder 3"/>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716016" y="2348880"/>
            <a:ext cx="3972588" cy="3096344"/>
          </a:xfrm>
          <a:prstGeom prst="rect">
            <a:avLst/>
          </a:prstGeom>
          <a:noFill/>
          <a:ln>
            <a:noFill/>
          </a:ln>
        </p:spPr>
      </p:pic>
      <p:pic>
        <p:nvPicPr>
          <p:cNvPr id="5" name="Picture 4"/>
          <p:cNvPicPr/>
          <p:nvPr/>
        </p:nvPicPr>
        <p:blipFill>
          <a:blip r:embed="rId3"/>
          <a:stretch>
            <a:fillRect/>
          </a:stretch>
        </p:blipFill>
        <p:spPr>
          <a:xfrm>
            <a:off x="179512" y="2707774"/>
            <a:ext cx="4536504" cy="2737450"/>
          </a:xfrm>
          <a:prstGeom prst="rect">
            <a:avLst/>
          </a:prstGeom>
        </p:spPr>
      </p:pic>
    </p:spTree>
    <p:extLst>
      <p:ext uri="{BB962C8B-B14F-4D97-AF65-F5344CB8AC3E}">
        <p14:creationId xmlns:p14="http://schemas.microsoft.com/office/powerpoint/2010/main" val="4273377854"/>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492664"/>
          </a:xfrm>
        </p:spPr>
        <p:txBody>
          <a:bodyPr>
            <a:normAutofit fontScale="90000"/>
          </a:bodyPr>
          <a:lstStyle/>
          <a:p>
            <a:pPr algn="ctr"/>
            <a:r>
              <a:rPr lang="en-GB" sz="4000" b="1" dirty="0"/>
              <a:t>INTRODUCTION TO ELECTRICITY </a:t>
            </a:r>
            <a:r>
              <a:rPr lang="en-GB" sz="4000" b="1" dirty="0" err="1"/>
              <a:t>Cont</a:t>
            </a:r>
            <a:r>
              <a:rPr lang="en-GB" sz="4000" b="1" dirty="0"/>
              <a:t>’</a:t>
            </a:r>
            <a:endParaRPr lang="en-GB" sz="4000" dirty="0"/>
          </a:p>
        </p:txBody>
      </p:sp>
      <p:sp>
        <p:nvSpPr>
          <p:cNvPr id="3" name="Content Placeholder 2"/>
          <p:cNvSpPr>
            <a:spLocks noGrp="1"/>
          </p:cNvSpPr>
          <p:nvPr>
            <p:ph idx="1"/>
          </p:nvPr>
        </p:nvSpPr>
        <p:spPr>
          <a:xfrm>
            <a:off x="457200" y="1340768"/>
            <a:ext cx="8229600" cy="4612501"/>
          </a:xfrm>
        </p:spPr>
        <p:txBody>
          <a:bodyPr>
            <a:normAutofit fontScale="92500" lnSpcReduction="20000"/>
          </a:bodyPr>
          <a:lstStyle/>
          <a:p>
            <a:r>
              <a:rPr lang="en-GB" b="1" dirty="0"/>
              <a:t>Power source</a:t>
            </a:r>
            <a:r>
              <a:rPr lang="en-GB" dirty="0"/>
              <a:t>: power source is where electrical energy is produced </a:t>
            </a:r>
          </a:p>
          <a:p>
            <a:r>
              <a:rPr lang="en-GB" b="1" dirty="0"/>
              <a:t>Protection device</a:t>
            </a:r>
            <a:r>
              <a:rPr lang="en-GB" dirty="0"/>
              <a:t>: Circuits require protection from excessive current. Excessive </a:t>
            </a:r>
            <a:r>
              <a:rPr lang="en-GB" dirty="0" smtClean="0"/>
              <a:t>current </a:t>
            </a:r>
            <a:r>
              <a:rPr lang="en-GB" dirty="0"/>
              <a:t>generates heat and can </a:t>
            </a:r>
            <a:r>
              <a:rPr lang="en-GB" dirty="0" smtClean="0"/>
              <a:t>damage the components</a:t>
            </a:r>
            <a:r>
              <a:rPr lang="en-GB" dirty="0"/>
              <a:t>. Fuses and circuit breakers protect circuits by opening the circuit path when there is too much current or short circuit. </a:t>
            </a:r>
          </a:p>
          <a:p>
            <a:r>
              <a:rPr lang="en-GB" b="1" dirty="0"/>
              <a:t>Fuse</a:t>
            </a:r>
            <a:r>
              <a:rPr lang="en-GB" dirty="0"/>
              <a:t>: fuse is a type of low resistance resistor that acts as a protective device to provide overcurrent protection, of either the load or source circuit. Its essential component is a metal wire or strip that melts when too much current flows through it, interrupting the circuit that it connects. Short circuits, overloading or device failure are the prime reasons for excessive current, and are protected by fuse.</a:t>
            </a:r>
          </a:p>
          <a:p>
            <a:endParaRPr lang="en-GB" dirty="0"/>
          </a:p>
        </p:txBody>
      </p:sp>
      <p:pic>
        <p:nvPicPr>
          <p:cNvPr id="4" name="Picture 3"/>
          <p:cNvPicPr/>
          <p:nvPr/>
        </p:nvPicPr>
        <p:blipFill rotWithShape="1">
          <a:blip r:embed="rId2">
            <a:extLst>
              <a:ext uri="{28A0092B-C50C-407E-A947-70E740481C1C}">
                <a14:useLocalDpi xmlns:a14="http://schemas.microsoft.com/office/drawing/2010/main" val="0"/>
              </a:ext>
            </a:extLst>
          </a:blip>
          <a:srcRect l="8869" t="2811" r="8207" b="1595"/>
          <a:stretch/>
        </p:blipFill>
        <p:spPr bwMode="auto">
          <a:xfrm rot="5400000">
            <a:off x="1549832" y="5123642"/>
            <a:ext cx="735965" cy="2036445"/>
          </a:xfrm>
          <a:prstGeom prst="rect">
            <a:avLst/>
          </a:prstGeom>
          <a:ln>
            <a:noFill/>
          </a:ln>
          <a:extLst>
            <a:ext uri="{53640926-AAD7-44D8-BBD7-CCE9431645EC}">
              <a14:shadowObscured xmlns:a14="http://schemas.microsoft.com/office/drawing/2010/main"/>
            </a:ext>
          </a:extLst>
        </p:spPr>
      </p:pic>
      <p:pic>
        <p:nvPicPr>
          <p:cNvPr id="5" name="Picture 4" descr="https://upload.wikimedia.org/wikipedia/commons/b/be/Tektronixoscilloscope442backfuse-ccbysawikipedia.jpg"/>
          <p:cNvPicPr/>
          <p:nvPr/>
        </p:nvPicPr>
        <p:blipFill rotWithShape="1">
          <a:blip r:embed="rId3" cstate="print">
            <a:extLst>
              <a:ext uri="{28A0092B-C50C-407E-A947-70E740481C1C}">
                <a14:useLocalDpi xmlns:a14="http://schemas.microsoft.com/office/drawing/2010/main" val="0"/>
              </a:ext>
            </a:extLst>
          </a:blip>
          <a:srcRect l="20106" t="7407" r="15873" b="5759"/>
          <a:stretch/>
        </p:blipFill>
        <p:spPr bwMode="auto">
          <a:xfrm rot="5400000">
            <a:off x="4587433" y="5599574"/>
            <a:ext cx="621665" cy="1084580"/>
          </a:xfrm>
          <a:prstGeom prst="rect">
            <a:avLst/>
          </a:prstGeom>
          <a:noFill/>
          <a:ln>
            <a:noFill/>
          </a:ln>
          <a:extLst>
            <a:ext uri="{53640926-AAD7-44D8-BBD7-CCE9431645EC}">
              <a14:shadowObscured xmlns:a14="http://schemas.microsoft.com/office/drawing/2010/main"/>
            </a:ext>
          </a:extLst>
        </p:spPr>
      </p:pic>
      <p:pic>
        <p:nvPicPr>
          <p:cNvPr id="6" name="Picture 5" descr="https://upload.wikimedia.org/wikipedia/commons/thumb/5/5d/Fuse-basic-symbols.svg/485px-Fuse-basic-symbols.svg.png"/>
          <p:cNvPicPr/>
          <p:nvPr/>
        </p:nvPicPr>
        <p:blipFill rotWithShape="1">
          <a:blip r:embed="rId4" cstate="print">
            <a:extLst>
              <a:ext uri="{28A0092B-C50C-407E-A947-70E740481C1C}">
                <a14:useLocalDpi xmlns:a14="http://schemas.microsoft.com/office/drawing/2010/main" val="0"/>
              </a:ext>
            </a:extLst>
          </a:blip>
          <a:srcRect l="9716" t="35025" r="12322" b="45006"/>
          <a:stretch/>
        </p:blipFill>
        <p:spPr bwMode="auto">
          <a:xfrm>
            <a:off x="7092280" y="5896119"/>
            <a:ext cx="1283335" cy="491490"/>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761965325"/>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76672"/>
            <a:ext cx="8229600" cy="576064"/>
          </a:xfrm>
        </p:spPr>
        <p:txBody>
          <a:bodyPr>
            <a:normAutofit fontScale="90000"/>
          </a:bodyPr>
          <a:lstStyle/>
          <a:p>
            <a:pPr algn="ctr"/>
            <a:r>
              <a:rPr lang="en-GB" sz="4000" b="1" dirty="0"/>
              <a:t>INTRODUCTION TO ELECTRICITY </a:t>
            </a:r>
            <a:r>
              <a:rPr lang="en-GB" sz="4000" b="1" dirty="0" err="1"/>
              <a:t>Cont</a:t>
            </a:r>
            <a:r>
              <a:rPr lang="en-GB" sz="4000" b="1" dirty="0"/>
              <a:t>’</a:t>
            </a:r>
            <a:endParaRPr lang="en-GB" sz="4000" dirty="0"/>
          </a:p>
        </p:txBody>
      </p:sp>
      <p:sp>
        <p:nvSpPr>
          <p:cNvPr id="3" name="Content Placeholder 2"/>
          <p:cNvSpPr>
            <a:spLocks noGrp="1"/>
          </p:cNvSpPr>
          <p:nvPr>
            <p:ph idx="1"/>
          </p:nvPr>
        </p:nvSpPr>
        <p:spPr>
          <a:xfrm>
            <a:off x="457200" y="1052736"/>
            <a:ext cx="8229600" cy="4392488"/>
          </a:xfrm>
        </p:spPr>
        <p:txBody>
          <a:bodyPr>
            <a:normAutofit fontScale="92500" lnSpcReduction="10000"/>
          </a:bodyPr>
          <a:lstStyle/>
          <a:p>
            <a:r>
              <a:rPr lang="en-GB" b="1" dirty="0"/>
              <a:t>Circuit breakers</a:t>
            </a:r>
            <a:r>
              <a:rPr lang="en-GB" dirty="0"/>
              <a:t>: </a:t>
            </a:r>
            <a:r>
              <a:rPr lang="en-GB" b="1" dirty="0"/>
              <a:t>circuit breaker</a:t>
            </a:r>
            <a:r>
              <a:rPr lang="en-GB" dirty="0"/>
              <a:t> is an automatically operated electrical switch designed to protect an electrical circuit from damage caused by overload or short </a:t>
            </a:r>
            <a:r>
              <a:rPr lang="en-GB" dirty="0" smtClean="0"/>
              <a:t>circuit. </a:t>
            </a:r>
            <a:r>
              <a:rPr lang="en-GB" dirty="0"/>
              <a:t>Unlike a fuse, which operates once and then must be replaced, a circuit breaker can be reset (either manually or automatically) to resume normal operation</a:t>
            </a:r>
            <a:r>
              <a:rPr lang="en-GB" dirty="0" smtClean="0"/>
              <a:t>.</a:t>
            </a:r>
            <a:endParaRPr lang="en-GB" dirty="0"/>
          </a:p>
          <a:p>
            <a:r>
              <a:rPr lang="en-GB" b="1" dirty="0"/>
              <a:t>Load</a:t>
            </a:r>
            <a:r>
              <a:rPr lang="en-GB" dirty="0"/>
              <a:t>: The load can be any component that uses electricity to do work likes lamps, motor, … </a:t>
            </a:r>
          </a:p>
          <a:p>
            <a:r>
              <a:rPr lang="en-GB" b="1" dirty="0"/>
              <a:t>Control device</a:t>
            </a:r>
            <a:r>
              <a:rPr lang="en-GB" dirty="0"/>
              <a:t>: The simplest control device is a switch. A switch opens or closes the path for current. Close the switch and current is present to operate the load. Open the switch and current stops. The load no longer operates.</a:t>
            </a:r>
          </a:p>
          <a:p>
            <a:endParaRPr lang="en-GB" dirty="0"/>
          </a:p>
        </p:txBody>
      </p:sp>
      <p:pic>
        <p:nvPicPr>
          <p:cNvPr id="4" name="Picture 3"/>
          <p:cNvPicPr/>
          <p:nvPr/>
        </p:nvPicPr>
        <p:blipFill>
          <a:blip r:embed="rId2"/>
          <a:stretch>
            <a:fillRect/>
          </a:stretch>
        </p:blipFill>
        <p:spPr>
          <a:xfrm>
            <a:off x="539552" y="5288756"/>
            <a:ext cx="2619375" cy="1524000"/>
          </a:xfrm>
          <a:prstGeom prst="rect">
            <a:avLst/>
          </a:prstGeom>
        </p:spPr>
      </p:pic>
      <p:pic>
        <p:nvPicPr>
          <p:cNvPr id="5" name="Picture 4" descr="SPST-Switch.svg"/>
          <p:cNvPicPr/>
          <p:nvPr/>
        </p:nvPicPr>
        <p:blipFill>
          <a:blip r:embed="rId3">
            <a:extLst>
              <a:ext uri="{28A0092B-C50C-407E-A947-70E740481C1C}">
                <a14:useLocalDpi xmlns:a14="http://schemas.microsoft.com/office/drawing/2010/main" val="0"/>
              </a:ext>
            </a:extLst>
          </a:blip>
          <a:srcRect/>
          <a:stretch>
            <a:fillRect/>
          </a:stretch>
        </p:blipFill>
        <p:spPr bwMode="auto">
          <a:xfrm>
            <a:off x="6300192" y="5534183"/>
            <a:ext cx="2112645" cy="495300"/>
          </a:xfrm>
          <a:prstGeom prst="rect">
            <a:avLst/>
          </a:prstGeom>
          <a:noFill/>
          <a:ln>
            <a:noFill/>
          </a:ln>
        </p:spPr>
      </p:pic>
      <p:pic>
        <p:nvPicPr>
          <p:cNvPr id="6" name="Picture 5"/>
          <p:cNvPicPr/>
          <p:nvPr/>
        </p:nvPicPr>
        <p:blipFill>
          <a:blip r:embed="rId4"/>
          <a:stretch>
            <a:fillRect/>
          </a:stretch>
        </p:blipFill>
        <p:spPr>
          <a:xfrm>
            <a:off x="3563889" y="5534184"/>
            <a:ext cx="936104" cy="866964"/>
          </a:xfrm>
          <a:prstGeom prst="rect">
            <a:avLst/>
          </a:prstGeom>
        </p:spPr>
      </p:pic>
      <p:pic>
        <p:nvPicPr>
          <p:cNvPr id="7" name="Picture 6"/>
          <p:cNvPicPr/>
          <p:nvPr/>
        </p:nvPicPr>
        <p:blipFill>
          <a:blip r:embed="rId5"/>
          <a:stretch>
            <a:fillRect/>
          </a:stretch>
        </p:blipFill>
        <p:spPr>
          <a:xfrm>
            <a:off x="4968664" y="5534182"/>
            <a:ext cx="792088" cy="785495"/>
          </a:xfrm>
          <a:prstGeom prst="rect">
            <a:avLst/>
          </a:prstGeom>
        </p:spPr>
      </p:pic>
    </p:spTree>
    <p:extLst>
      <p:ext uri="{BB962C8B-B14F-4D97-AF65-F5344CB8AC3E}">
        <p14:creationId xmlns:p14="http://schemas.microsoft.com/office/powerpoint/2010/main" val="1804523945"/>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04664"/>
            <a:ext cx="8229600" cy="576064"/>
          </a:xfrm>
        </p:spPr>
        <p:txBody>
          <a:bodyPr>
            <a:normAutofit fontScale="90000"/>
          </a:bodyPr>
          <a:lstStyle/>
          <a:p>
            <a:pPr algn="ctr"/>
            <a:r>
              <a:rPr lang="en-GB" sz="4000" b="1" dirty="0"/>
              <a:t>INTRODUCTION TO ELECTRICITY </a:t>
            </a:r>
            <a:r>
              <a:rPr lang="en-GB" sz="4000" b="1" dirty="0" err="1"/>
              <a:t>Cont</a:t>
            </a:r>
            <a:r>
              <a:rPr lang="en-GB" sz="4000" b="1" dirty="0"/>
              <a:t>’</a:t>
            </a:r>
            <a:endParaRPr lang="en-GB" sz="4000" dirty="0"/>
          </a:p>
        </p:txBody>
      </p:sp>
      <p:sp>
        <p:nvSpPr>
          <p:cNvPr id="3" name="Content Placeholder 2"/>
          <p:cNvSpPr>
            <a:spLocks noGrp="1"/>
          </p:cNvSpPr>
          <p:nvPr>
            <p:ph idx="1"/>
          </p:nvPr>
        </p:nvSpPr>
        <p:spPr>
          <a:xfrm>
            <a:off x="179512" y="908721"/>
            <a:ext cx="8784976" cy="3960440"/>
          </a:xfrm>
        </p:spPr>
        <p:txBody>
          <a:bodyPr>
            <a:normAutofit lnSpcReduction="10000"/>
          </a:bodyPr>
          <a:lstStyle/>
          <a:p>
            <a:r>
              <a:rPr lang="en-GB" b="1" dirty="0"/>
              <a:t>Grounding</a:t>
            </a:r>
            <a:r>
              <a:rPr lang="en-GB" dirty="0"/>
              <a:t>: A conductive connection from all equipment to the earth which acts as a protective measure. It is a safety measure to help prevent people from accidentally meeting electrical hazards. </a:t>
            </a:r>
          </a:p>
          <a:p>
            <a:r>
              <a:rPr lang="en-GB" b="1" dirty="0"/>
              <a:t>Ground rods: </a:t>
            </a:r>
            <a:r>
              <a:rPr lang="en-GB" dirty="0"/>
              <a:t>Ground rods come in many sizes and lengths. Ground rods </a:t>
            </a:r>
            <a:r>
              <a:rPr lang="en-GB" dirty="0" smtClean="0"/>
              <a:t> can be in copper</a:t>
            </a:r>
            <a:r>
              <a:rPr lang="en-GB" dirty="0"/>
              <a:t>, silver, mercury and gold have high resistance to corrosion.</a:t>
            </a:r>
          </a:p>
          <a:p>
            <a:pPr marL="0" indent="0">
              <a:buNone/>
            </a:pPr>
            <a:r>
              <a:rPr lang="en-GB" b="1" dirty="0"/>
              <a:t>Multiple earth </a:t>
            </a:r>
            <a:r>
              <a:rPr lang="en-GB" b="1" dirty="0" smtClean="0"/>
              <a:t>electrodes</a:t>
            </a:r>
            <a:r>
              <a:rPr lang="en-GB" dirty="0" smtClean="0"/>
              <a:t>: Some </a:t>
            </a:r>
            <a:r>
              <a:rPr lang="en-GB" dirty="0"/>
              <a:t>ground conditions may warrant many earth rods connected in parallel in order to achieve inacceptable value of earth </a:t>
            </a:r>
            <a:r>
              <a:rPr lang="en-GB" dirty="0" smtClean="0"/>
              <a:t>resistance</a:t>
            </a:r>
            <a:endParaRPr lang="en-GB" dirty="0"/>
          </a:p>
        </p:txBody>
      </p:sp>
      <p:pic>
        <p:nvPicPr>
          <p:cNvPr id="4" name="Picture 3"/>
          <p:cNvPicPr/>
          <p:nvPr/>
        </p:nvPicPr>
        <p:blipFill>
          <a:blip r:embed="rId2"/>
          <a:stretch>
            <a:fillRect/>
          </a:stretch>
        </p:blipFill>
        <p:spPr>
          <a:xfrm>
            <a:off x="2771800" y="4725144"/>
            <a:ext cx="2736304" cy="1879977"/>
          </a:xfrm>
          <a:prstGeom prst="rect">
            <a:avLst/>
          </a:prstGeom>
        </p:spPr>
      </p:pic>
      <p:pic>
        <p:nvPicPr>
          <p:cNvPr id="5" name="Picture 4"/>
          <p:cNvPicPr/>
          <p:nvPr/>
        </p:nvPicPr>
        <p:blipFill>
          <a:blip r:embed="rId3" cstate="print">
            <a:extLst>
              <a:ext uri="{28A0092B-C50C-407E-A947-70E740481C1C}">
                <a14:useLocalDpi xmlns:a14="http://schemas.microsoft.com/office/drawing/2010/main" val="0"/>
              </a:ext>
            </a:extLst>
          </a:blip>
          <a:stretch>
            <a:fillRect/>
          </a:stretch>
        </p:blipFill>
        <p:spPr>
          <a:xfrm>
            <a:off x="395536" y="4797153"/>
            <a:ext cx="1903090" cy="1627945"/>
          </a:xfrm>
          <a:prstGeom prst="rect">
            <a:avLst/>
          </a:prstGeom>
        </p:spPr>
      </p:pic>
      <p:pic>
        <p:nvPicPr>
          <p:cNvPr id="6" name="Picture 5"/>
          <p:cNvPicPr/>
          <p:nvPr/>
        </p:nvPicPr>
        <p:blipFill rotWithShape="1">
          <a:blip r:embed="rId4"/>
          <a:srcRect l="5114" t="1401" r="4154" b="4378"/>
          <a:stretch/>
        </p:blipFill>
        <p:spPr bwMode="auto">
          <a:xfrm>
            <a:off x="6071121" y="4797153"/>
            <a:ext cx="2461319" cy="1930622"/>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704667740"/>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636680"/>
          </a:xfrm>
        </p:spPr>
        <p:txBody>
          <a:bodyPr>
            <a:normAutofit fontScale="90000"/>
          </a:bodyPr>
          <a:lstStyle/>
          <a:p>
            <a:pPr algn="ctr"/>
            <a:r>
              <a:rPr lang="en-GB" sz="4000" b="1" dirty="0"/>
              <a:t>INTRODUCTION TO ELECTRICITY </a:t>
            </a:r>
            <a:r>
              <a:rPr lang="en-GB" sz="4000" b="1" dirty="0" err="1"/>
              <a:t>Cont</a:t>
            </a:r>
            <a:r>
              <a:rPr lang="en-GB" sz="4000" b="1" dirty="0"/>
              <a:t>’</a:t>
            </a:r>
            <a:endParaRPr lang="en-GB" sz="4000" dirty="0"/>
          </a:p>
        </p:txBody>
      </p:sp>
      <p:sp>
        <p:nvSpPr>
          <p:cNvPr id="3" name="Content Placeholder 2"/>
          <p:cNvSpPr>
            <a:spLocks noGrp="1"/>
          </p:cNvSpPr>
          <p:nvPr>
            <p:ph idx="1"/>
          </p:nvPr>
        </p:nvSpPr>
        <p:spPr>
          <a:xfrm>
            <a:off x="457200" y="1700808"/>
            <a:ext cx="8229600" cy="4623792"/>
          </a:xfrm>
        </p:spPr>
        <p:txBody>
          <a:bodyPr/>
          <a:lstStyle/>
          <a:p>
            <a:r>
              <a:rPr lang="en-GB" dirty="0"/>
              <a:t>Cable</a:t>
            </a:r>
          </a:p>
        </p:txBody>
      </p:sp>
      <p:pic>
        <p:nvPicPr>
          <p:cNvPr id="4" name="Picture 3"/>
          <p:cNvPicPr/>
          <p:nvPr/>
        </p:nvPicPr>
        <p:blipFill>
          <a:blip r:embed="rId2"/>
          <a:stretch>
            <a:fillRect/>
          </a:stretch>
        </p:blipFill>
        <p:spPr>
          <a:xfrm>
            <a:off x="467544" y="2492896"/>
            <a:ext cx="2880320" cy="1211957"/>
          </a:xfrm>
          <a:prstGeom prst="rect">
            <a:avLst/>
          </a:prstGeom>
        </p:spPr>
      </p:pic>
      <p:pic>
        <p:nvPicPr>
          <p:cNvPr id="5" name="Picture 4" descr="http://www.12voltplanet.co.uk/user/Stranded_and_solid_core_cable.png"/>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3294" y="3876798"/>
            <a:ext cx="2738586" cy="1784450"/>
          </a:xfrm>
          <a:prstGeom prst="rect">
            <a:avLst/>
          </a:prstGeom>
          <a:noFill/>
          <a:ln>
            <a:noFill/>
          </a:ln>
        </p:spPr>
      </p:pic>
      <p:pic>
        <p:nvPicPr>
          <p:cNvPr id="6" name="Picture 5"/>
          <p:cNvPicPr/>
          <p:nvPr/>
        </p:nvPicPr>
        <p:blipFill>
          <a:blip r:embed="rId4">
            <a:extLst>
              <a:ext uri="{28A0092B-C50C-407E-A947-70E740481C1C}">
                <a14:useLocalDpi xmlns:a14="http://schemas.microsoft.com/office/drawing/2010/main" val="0"/>
              </a:ext>
            </a:extLst>
          </a:blip>
          <a:srcRect/>
          <a:stretch>
            <a:fillRect/>
          </a:stretch>
        </p:blipFill>
        <p:spPr bwMode="auto">
          <a:xfrm>
            <a:off x="3491880" y="2405831"/>
            <a:ext cx="5472608" cy="2941935"/>
          </a:xfrm>
          <a:prstGeom prst="rect">
            <a:avLst/>
          </a:prstGeom>
          <a:noFill/>
          <a:ln>
            <a:noFill/>
          </a:ln>
        </p:spPr>
      </p:pic>
    </p:spTree>
    <p:extLst>
      <p:ext uri="{BB962C8B-B14F-4D97-AF65-F5344CB8AC3E}">
        <p14:creationId xmlns:p14="http://schemas.microsoft.com/office/powerpoint/2010/main" val="1487819133"/>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708688"/>
          </a:xfrm>
        </p:spPr>
        <p:txBody>
          <a:bodyPr>
            <a:normAutofit/>
          </a:bodyPr>
          <a:lstStyle/>
          <a:p>
            <a:pPr algn="ctr"/>
            <a:r>
              <a:rPr lang="en-GB" sz="4000" b="1" dirty="0"/>
              <a:t>INTRODUCTION TO ELECTRICITY </a:t>
            </a:r>
            <a:r>
              <a:rPr lang="en-GB" sz="4000" b="1" dirty="0" err="1"/>
              <a:t>Cont</a:t>
            </a:r>
            <a:r>
              <a:rPr lang="en-GB" sz="4000" b="1" dirty="0"/>
              <a:t>’</a:t>
            </a:r>
            <a:endParaRPr lang="en-GB" sz="4000" dirty="0"/>
          </a:p>
        </p:txBody>
      </p:sp>
      <p:sp>
        <p:nvSpPr>
          <p:cNvPr id="3" name="Content Placeholder 2"/>
          <p:cNvSpPr>
            <a:spLocks noGrp="1"/>
          </p:cNvSpPr>
          <p:nvPr>
            <p:ph idx="1"/>
          </p:nvPr>
        </p:nvSpPr>
        <p:spPr>
          <a:xfrm>
            <a:off x="251520" y="1484784"/>
            <a:ext cx="8712968" cy="5040560"/>
          </a:xfrm>
        </p:spPr>
        <p:txBody>
          <a:bodyPr>
            <a:normAutofit fontScale="92500" lnSpcReduction="20000"/>
          </a:bodyPr>
          <a:lstStyle/>
          <a:p>
            <a:pPr marL="393192" lvl="1" indent="0">
              <a:buNone/>
            </a:pPr>
            <a:r>
              <a:rPr lang="en-US" sz="3000" b="1" dirty="0"/>
              <a:t>ELECTRIC </a:t>
            </a:r>
            <a:r>
              <a:rPr lang="en-US" sz="3000" b="1" dirty="0" smtClean="0"/>
              <a:t>LIGHT</a:t>
            </a:r>
            <a:r>
              <a:rPr lang="en-US" sz="3000" b="1" dirty="0"/>
              <a:t> </a:t>
            </a:r>
            <a:endParaRPr lang="en-GB" sz="3000" dirty="0"/>
          </a:p>
          <a:p>
            <a:pPr marL="0" indent="0">
              <a:buNone/>
            </a:pPr>
            <a:r>
              <a:rPr lang="en-US" sz="3000" dirty="0"/>
              <a:t>An </a:t>
            </a:r>
            <a:r>
              <a:rPr lang="en-US" sz="3000" b="1" dirty="0"/>
              <a:t>electric light</a:t>
            </a:r>
            <a:r>
              <a:rPr lang="en-US" sz="3000" dirty="0"/>
              <a:t> is a device that produces light by the flow of electrical current. They are the most common form of artificial lighting and are essential to modern society, providing interior lighting for buildings and exterior light for evening and nighttime activities. Flashlights or "torches", are used for portability and as backups when the main lights fail. The unit of luminous intensity from a light source is the </a:t>
            </a:r>
            <a:r>
              <a:rPr lang="en-US" sz="3000" b="1" dirty="0"/>
              <a:t>candela</a:t>
            </a:r>
            <a:r>
              <a:rPr lang="en-US" sz="3000" dirty="0"/>
              <a:t> (</a:t>
            </a:r>
            <a:r>
              <a:rPr lang="en-US" sz="3000" b="1" dirty="0"/>
              <a:t>cd</a:t>
            </a:r>
            <a:r>
              <a:rPr lang="en-US" sz="3000" dirty="0"/>
              <a:t>). The types of electric lamps are:</a:t>
            </a:r>
            <a:endParaRPr lang="en-GB" sz="3000" dirty="0"/>
          </a:p>
          <a:p>
            <a:pPr marL="0" indent="0">
              <a:buNone/>
            </a:pPr>
            <a:endParaRPr lang="en-GB" sz="3000" dirty="0"/>
          </a:p>
          <a:p>
            <a:pPr lvl="0"/>
            <a:r>
              <a:rPr lang="en-US" sz="3000" dirty="0"/>
              <a:t>Incandescent lamps and </a:t>
            </a:r>
            <a:endParaRPr lang="en-GB" sz="3000" dirty="0"/>
          </a:p>
          <a:p>
            <a:pPr lvl="0"/>
            <a:r>
              <a:rPr lang="en-US" sz="3000" dirty="0"/>
              <a:t>Gas-discharge lamps or fluorescent lamp </a:t>
            </a:r>
            <a:endParaRPr lang="en-GB" sz="3000" dirty="0"/>
          </a:p>
          <a:p>
            <a:endParaRPr lang="en-GB" dirty="0"/>
          </a:p>
        </p:txBody>
      </p:sp>
    </p:spTree>
    <p:extLst>
      <p:ext uri="{BB962C8B-B14F-4D97-AF65-F5344CB8AC3E}">
        <p14:creationId xmlns:p14="http://schemas.microsoft.com/office/powerpoint/2010/main" val="4062966388"/>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76672"/>
            <a:ext cx="8229600" cy="648072"/>
          </a:xfrm>
        </p:spPr>
        <p:txBody>
          <a:bodyPr>
            <a:normAutofit fontScale="90000"/>
          </a:bodyPr>
          <a:lstStyle/>
          <a:p>
            <a:pPr algn="ctr"/>
            <a:r>
              <a:rPr lang="en-GB" sz="4000" b="1" dirty="0"/>
              <a:t>INTRODUCTION TO ELECTRICITY </a:t>
            </a:r>
            <a:r>
              <a:rPr lang="en-GB" sz="4000" b="1" dirty="0" err="1"/>
              <a:t>Cont</a:t>
            </a:r>
            <a:r>
              <a:rPr lang="en-GB" sz="4000" b="1" dirty="0"/>
              <a:t>’</a:t>
            </a:r>
            <a:endParaRPr lang="en-GB" sz="4000" dirty="0"/>
          </a:p>
        </p:txBody>
      </p:sp>
      <p:sp>
        <p:nvSpPr>
          <p:cNvPr id="3" name="Content Placeholder 2"/>
          <p:cNvSpPr>
            <a:spLocks noGrp="1"/>
          </p:cNvSpPr>
          <p:nvPr>
            <p:ph idx="1"/>
          </p:nvPr>
        </p:nvSpPr>
        <p:spPr>
          <a:xfrm>
            <a:off x="107504" y="1196752"/>
            <a:ext cx="8856984" cy="3240360"/>
          </a:xfrm>
        </p:spPr>
        <p:txBody>
          <a:bodyPr>
            <a:normAutofit lnSpcReduction="10000"/>
          </a:bodyPr>
          <a:lstStyle/>
          <a:p>
            <a:pPr marL="667512" lvl="2" indent="0">
              <a:buNone/>
            </a:pPr>
            <a:r>
              <a:rPr lang="en-US" sz="2400" b="1" dirty="0"/>
              <a:t>INCANDESCENT </a:t>
            </a:r>
            <a:r>
              <a:rPr lang="en-US" sz="2400" b="1" dirty="0" smtClean="0"/>
              <a:t>LAMPS</a:t>
            </a:r>
            <a:endParaRPr lang="en-GB" sz="2400" dirty="0"/>
          </a:p>
          <a:p>
            <a:pPr marL="0" indent="0">
              <a:buNone/>
            </a:pPr>
            <a:r>
              <a:rPr lang="en-GB" sz="2800" dirty="0"/>
              <a:t>An </a:t>
            </a:r>
            <a:r>
              <a:rPr lang="en-GB" sz="2800" b="1" dirty="0"/>
              <a:t>incandescent light bulb </a:t>
            </a:r>
            <a:r>
              <a:rPr lang="en-GB" sz="2800" dirty="0"/>
              <a:t>or </a:t>
            </a:r>
            <a:r>
              <a:rPr lang="en-GB" sz="2800" b="1" dirty="0"/>
              <a:t>incandescent lamp</a:t>
            </a:r>
            <a:r>
              <a:rPr lang="en-GB" sz="2800" dirty="0"/>
              <a:t> is an electric light which produces light with a filament wire heated to a high temperature by an electric current passing through it, until it </a:t>
            </a:r>
            <a:r>
              <a:rPr lang="en-US" sz="2800" dirty="0"/>
              <a:t>glows</a:t>
            </a:r>
            <a:r>
              <a:rPr lang="en-GB" sz="2800" dirty="0"/>
              <a:t>. The hot filament is protected from oxidation </a:t>
            </a:r>
            <a:r>
              <a:rPr lang="en-GB" sz="2800" dirty="0" err="1" smtClean="0"/>
              <a:t>witglass</a:t>
            </a:r>
            <a:r>
              <a:rPr lang="en-GB" sz="2800" dirty="0" smtClean="0"/>
              <a:t> </a:t>
            </a:r>
            <a:r>
              <a:rPr lang="en-GB" sz="2800" dirty="0"/>
              <a:t>or quartz bulb that is filled with inert gas.</a:t>
            </a:r>
            <a:r>
              <a:rPr lang="en-GB" sz="4800" dirty="0"/>
              <a:t> </a:t>
            </a:r>
            <a:endParaRPr lang="en-GB" dirty="0"/>
          </a:p>
        </p:txBody>
      </p:sp>
      <p:pic>
        <p:nvPicPr>
          <p:cNvPr id="4" name="Picture 3"/>
          <p:cNvPicPr/>
          <p:nvPr/>
        </p:nvPicPr>
        <p:blipFill>
          <a:blip r:embed="rId2"/>
          <a:stretch>
            <a:fillRect/>
          </a:stretch>
        </p:blipFill>
        <p:spPr>
          <a:xfrm>
            <a:off x="376784" y="4268440"/>
            <a:ext cx="3419872" cy="2435101"/>
          </a:xfrm>
          <a:prstGeom prst="rect">
            <a:avLst/>
          </a:prstGeom>
        </p:spPr>
      </p:pic>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23928" y="3933056"/>
            <a:ext cx="4999016" cy="23218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15520510"/>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48680"/>
            <a:ext cx="8229600" cy="648072"/>
          </a:xfrm>
        </p:spPr>
        <p:txBody>
          <a:bodyPr>
            <a:normAutofit fontScale="90000"/>
          </a:bodyPr>
          <a:lstStyle/>
          <a:p>
            <a:pPr algn="ctr"/>
            <a:r>
              <a:rPr lang="en-GB" sz="4000" b="1" dirty="0"/>
              <a:t>INTRODUCTION TO ELECTRICITY </a:t>
            </a:r>
            <a:r>
              <a:rPr lang="en-GB" sz="4000" b="1" dirty="0" err="1"/>
              <a:t>Cont</a:t>
            </a:r>
            <a:r>
              <a:rPr lang="en-GB" sz="4000" b="1" dirty="0"/>
              <a:t>’</a:t>
            </a:r>
            <a:endParaRPr lang="en-GB" sz="4000" dirty="0"/>
          </a:p>
        </p:txBody>
      </p:sp>
      <p:sp>
        <p:nvSpPr>
          <p:cNvPr id="3" name="Content Placeholder 2"/>
          <p:cNvSpPr>
            <a:spLocks noGrp="1"/>
          </p:cNvSpPr>
          <p:nvPr>
            <p:ph idx="1"/>
          </p:nvPr>
        </p:nvSpPr>
        <p:spPr>
          <a:xfrm>
            <a:off x="179512" y="1268760"/>
            <a:ext cx="8784976" cy="3672408"/>
          </a:xfrm>
        </p:spPr>
        <p:txBody>
          <a:bodyPr>
            <a:normAutofit lnSpcReduction="10000"/>
          </a:bodyPr>
          <a:lstStyle/>
          <a:p>
            <a:pPr marL="667512" lvl="2" indent="0">
              <a:buNone/>
            </a:pPr>
            <a:r>
              <a:rPr lang="en-GB" sz="2400" b="1" dirty="0" smtClean="0"/>
              <a:t>FLUORESCENT </a:t>
            </a:r>
            <a:r>
              <a:rPr lang="en-GB" sz="2400" b="1" dirty="0"/>
              <a:t>LAMP</a:t>
            </a:r>
            <a:endParaRPr lang="en-GB" sz="2000" dirty="0"/>
          </a:p>
          <a:p>
            <a:pPr marL="0" indent="0">
              <a:buNone/>
            </a:pPr>
            <a:r>
              <a:rPr lang="en-GB" sz="2800" dirty="0"/>
              <a:t>A </a:t>
            </a:r>
            <a:r>
              <a:rPr lang="en-GB" sz="2800" b="1" dirty="0"/>
              <a:t>fluorescent lamp</a:t>
            </a:r>
            <a:r>
              <a:rPr lang="en-GB" sz="2800" dirty="0"/>
              <a:t> or a </a:t>
            </a:r>
            <a:r>
              <a:rPr lang="en-GB" sz="2800" b="1" dirty="0"/>
              <a:t>fluorescent tube</a:t>
            </a:r>
            <a:r>
              <a:rPr lang="en-GB" sz="2800" dirty="0"/>
              <a:t> is a low-pressure mercury-vapour gas-discharge lamp that uses fluorescence to produce visible light. An electric current in the gas excites mercury vapour which produces short-wave ultraviolet light that then causes a phosphor coating on the inside of the bulb to glow. A fluorescent lamp converts electrical energy into useful light much more efficiently than incandescent lamps</a:t>
            </a:r>
            <a:r>
              <a:rPr lang="en-GB" sz="2400" dirty="0"/>
              <a:t>.</a:t>
            </a:r>
          </a:p>
          <a:p>
            <a:endParaRPr lang="en-GB" dirty="0"/>
          </a:p>
        </p:txBody>
      </p:sp>
      <p:pic>
        <p:nvPicPr>
          <p:cNvPr id="4" name="Picture 3"/>
          <p:cNvPicPr/>
          <p:nvPr/>
        </p:nvPicPr>
        <p:blipFill rotWithShape="1">
          <a:blip r:embed="rId2"/>
          <a:srcRect l="1805"/>
          <a:stretch/>
        </p:blipFill>
        <p:spPr bwMode="auto">
          <a:xfrm>
            <a:off x="1403648" y="4833861"/>
            <a:ext cx="5795645" cy="1840865"/>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435095383"/>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564672"/>
          </a:xfrm>
        </p:spPr>
        <p:txBody>
          <a:bodyPr>
            <a:normAutofit fontScale="90000"/>
          </a:bodyPr>
          <a:lstStyle/>
          <a:p>
            <a:pPr algn="ctr"/>
            <a:r>
              <a:rPr lang="en-GB" sz="4000" b="1" dirty="0"/>
              <a:t>INTRODUCTION TO ELECTRICITY </a:t>
            </a:r>
            <a:r>
              <a:rPr lang="en-GB" sz="4000" b="1" dirty="0" err="1"/>
              <a:t>Cont</a:t>
            </a:r>
            <a:r>
              <a:rPr lang="en-GB" sz="4000" b="1" dirty="0"/>
              <a:t>’</a:t>
            </a:r>
            <a:endParaRPr lang="en-GB" sz="4000" dirty="0"/>
          </a:p>
        </p:txBody>
      </p:sp>
      <p:sp>
        <p:nvSpPr>
          <p:cNvPr id="3" name="Content Placeholder 2"/>
          <p:cNvSpPr>
            <a:spLocks noGrp="1"/>
          </p:cNvSpPr>
          <p:nvPr>
            <p:ph idx="1"/>
          </p:nvPr>
        </p:nvSpPr>
        <p:spPr>
          <a:xfrm>
            <a:off x="457200" y="1268760"/>
            <a:ext cx="8229600" cy="5055840"/>
          </a:xfrm>
        </p:spPr>
        <p:txBody>
          <a:bodyPr/>
          <a:lstStyle/>
          <a:p>
            <a:pPr marL="0" indent="0">
              <a:buNone/>
            </a:pPr>
            <a:endParaRPr lang="en-GB" sz="2000" b="1" dirty="0" smtClean="0"/>
          </a:p>
          <a:p>
            <a:pPr marL="0" indent="0">
              <a:buNone/>
            </a:pPr>
            <a:endParaRPr lang="en-GB" sz="2000" b="1" dirty="0"/>
          </a:p>
          <a:p>
            <a:pPr marL="0" indent="0">
              <a:buNone/>
            </a:pPr>
            <a:endParaRPr lang="en-GB" sz="2000" b="1" dirty="0" smtClean="0"/>
          </a:p>
          <a:p>
            <a:pPr marL="0" indent="0">
              <a:buNone/>
            </a:pPr>
            <a:endParaRPr lang="en-GB" sz="2000" b="1" dirty="0"/>
          </a:p>
          <a:p>
            <a:pPr marL="0" indent="0">
              <a:buNone/>
            </a:pPr>
            <a:r>
              <a:rPr lang="en-GB" sz="2000" b="1" dirty="0" smtClean="0"/>
              <a:t>Fluorescent </a:t>
            </a:r>
            <a:r>
              <a:rPr lang="en-GB" sz="2000" b="1" dirty="0"/>
              <a:t>lamp in starting </a:t>
            </a:r>
            <a:endParaRPr lang="en-GB" sz="2000" dirty="0"/>
          </a:p>
          <a:p>
            <a:pPr marL="0" indent="0">
              <a:buNone/>
            </a:pPr>
            <a:endParaRPr lang="en-GB" b="1" dirty="0" smtClean="0"/>
          </a:p>
          <a:p>
            <a:pPr marL="0" indent="0">
              <a:buNone/>
            </a:pPr>
            <a:endParaRPr lang="en-GB" b="1" dirty="0"/>
          </a:p>
          <a:p>
            <a:pPr marL="0" indent="0">
              <a:buNone/>
            </a:pPr>
            <a:endParaRPr lang="en-GB" sz="2000" b="1" dirty="0" smtClean="0"/>
          </a:p>
          <a:p>
            <a:pPr marL="0" indent="0">
              <a:buNone/>
            </a:pPr>
            <a:endParaRPr lang="en-GB" sz="2000" b="1" dirty="0"/>
          </a:p>
          <a:p>
            <a:pPr marL="0" indent="0">
              <a:buNone/>
            </a:pPr>
            <a:endParaRPr lang="en-GB" sz="2000" b="1" dirty="0" smtClean="0"/>
          </a:p>
          <a:p>
            <a:pPr marL="0" indent="0">
              <a:buNone/>
            </a:pPr>
            <a:r>
              <a:rPr lang="en-GB" sz="2000" b="1" dirty="0" smtClean="0"/>
              <a:t>fluorescent </a:t>
            </a:r>
            <a:r>
              <a:rPr lang="en-GB" sz="2000" b="1" dirty="0"/>
              <a:t>lamp after starting</a:t>
            </a:r>
            <a:endParaRPr lang="en-GB" sz="2000" dirty="0"/>
          </a:p>
          <a:p>
            <a:pPr marL="0" indent="0">
              <a:buNone/>
            </a:pPr>
            <a:endParaRPr lang="en-GB" dirty="0"/>
          </a:p>
        </p:txBody>
      </p:sp>
      <p:pic>
        <p:nvPicPr>
          <p:cNvPr id="4" name="Picture 3" descr="http://www.edisontechcenter.org/lighting/Fluorescent/SchematicStarter-1-650.jpg"/>
          <p:cNvPicPr/>
          <p:nvPr/>
        </p:nvPicPr>
        <p:blipFill>
          <a:blip r:embed="rId2">
            <a:extLst>
              <a:ext uri="{28A0092B-C50C-407E-A947-70E740481C1C}">
                <a14:useLocalDpi xmlns:a14="http://schemas.microsoft.com/office/drawing/2010/main" val="0"/>
              </a:ext>
            </a:extLst>
          </a:blip>
          <a:srcRect/>
          <a:stretch>
            <a:fillRect/>
          </a:stretch>
        </p:blipFill>
        <p:spPr bwMode="auto">
          <a:xfrm>
            <a:off x="4427984" y="1268760"/>
            <a:ext cx="4345388" cy="2571998"/>
          </a:xfrm>
          <a:prstGeom prst="rect">
            <a:avLst/>
          </a:prstGeom>
          <a:noFill/>
          <a:ln>
            <a:noFill/>
          </a:ln>
        </p:spPr>
      </p:pic>
      <p:pic>
        <p:nvPicPr>
          <p:cNvPr id="6" name="Picture 5" descr="http://www.edisontechcenter.org/lighting/Fluorescent/SchematicStarter-2-650.jpg"/>
          <p:cNvPicPr/>
          <p:nvPr/>
        </p:nvPicPr>
        <p:blipFill>
          <a:blip r:embed="rId3">
            <a:extLst>
              <a:ext uri="{28A0092B-C50C-407E-A947-70E740481C1C}">
                <a14:useLocalDpi xmlns:a14="http://schemas.microsoft.com/office/drawing/2010/main" val="0"/>
              </a:ext>
            </a:extLst>
          </a:blip>
          <a:srcRect/>
          <a:stretch>
            <a:fillRect/>
          </a:stretch>
        </p:blipFill>
        <p:spPr bwMode="auto">
          <a:xfrm>
            <a:off x="4460084" y="3933056"/>
            <a:ext cx="4313288" cy="2687687"/>
          </a:xfrm>
          <a:prstGeom prst="rect">
            <a:avLst/>
          </a:prstGeom>
          <a:noFill/>
          <a:ln>
            <a:noFill/>
          </a:ln>
        </p:spPr>
      </p:pic>
    </p:spTree>
    <p:extLst>
      <p:ext uri="{BB962C8B-B14F-4D97-AF65-F5344CB8AC3E}">
        <p14:creationId xmlns:p14="http://schemas.microsoft.com/office/powerpoint/2010/main" val="2525499271"/>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76672"/>
            <a:ext cx="8229600" cy="936104"/>
          </a:xfrm>
        </p:spPr>
        <p:txBody>
          <a:bodyPr>
            <a:normAutofit/>
          </a:bodyPr>
          <a:lstStyle/>
          <a:p>
            <a:r>
              <a:rPr lang="en-GB" b="1" dirty="0"/>
              <a:t>ELECTRICAL HAND TOOLS</a:t>
            </a:r>
            <a:endParaRPr lang="en-GB" dirty="0"/>
          </a:p>
        </p:txBody>
      </p:sp>
      <p:sp>
        <p:nvSpPr>
          <p:cNvPr id="9" name="Content Placeholder 8"/>
          <p:cNvSpPr>
            <a:spLocks noGrp="1"/>
          </p:cNvSpPr>
          <p:nvPr>
            <p:ph idx="1"/>
          </p:nvPr>
        </p:nvSpPr>
        <p:spPr>
          <a:xfrm>
            <a:off x="457200" y="1484784"/>
            <a:ext cx="8229600" cy="4839816"/>
          </a:xfrm>
        </p:spPr>
        <p:txBody>
          <a:bodyPr/>
          <a:lstStyle/>
          <a:p>
            <a:r>
              <a:rPr lang="en-GB" b="1" dirty="0"/>
              <a:t>Combination </a:t>
            </a:r>
            <a:r>
              <a:rPr lang="en-GB" b="1" dirty="0" smtClean="0"/>
              <a:t>Plier</a:t>
            </a:r>
          </a:p>
          <a:p>
            <a:endParaRPr lang="en-GB" dirty="0" smtClean="0"/>
          </a:p>
          <a:p>
            <a:pPr marL="0" indent="0">
              <a:buNone/>
            </a:pPr>
            <a:endParaRPr lang="en-GB" dirty="0"/>
          </a:p>
          <a:p>
            <a:r>
              <a:rPr lang="en-GB" b="1" dirty="0"/>
              <a:t>Side Cutter </a:t>
            </a:r>
            <a:r>
              <a:rPr lang="en-GB" b="1" dirty="0" smtClean="0"/>
              <a:t>Plier</a:t>
            </a:r>
          </a:p>
          <a:p>
            <a:endParaRPr lang="en-GB" b="1" dirty="0"/>
          </a:p>
          <a:p>
            <a:endParaRPr lang="en-GB" dirty="0"/>
          </a:p>
          <a:p>
            <a:r>
              <a:rPr lang="en-GB" b="1" dirty="0"/>
              <a:t>Long Nose </a:t>
            </a:r>
            <a:r>
              <a:rPr lang="en-GB" b="1" dirty="0" smtClean="0"/>
              <a:t>Plier</a:t>
            </a:r>
          </a:p>
          <a:p>
            <a:endParaRPr lang="en-GB" b="1" dirty="0"/>
          </a:p>
          <a:p>
            <a:endParaRPr lang="en-GB" dirty="0"/>
          </a:p>
          <a:p>
            <a:r>
              <a:rPr lang="en-GB" b="1" dirty="0"/>
              <a:t>Wire Stripping Plier</a:t>
            </a:r>
            <a:endParaRPr lang="en-GB" dirty="0"/>
          </a:p>
          <a:p>
            <a:pPr marL="0" indent="0">
              <a:buNone/>
            </a:pPr>
            <a:endParaRPr lang="en-GB" dirty="0"/>
          </a:p>
        </p:txBody>
      </p:sp>
      <p:pic>
        <p:nvPicPr>
          <p:cNvPr id="10" name="Picture 9" descr="http://ecx.images-amazon.com/images/I/610LorycKcL._SL1500_.jpg"/>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211229" y="2470498"/>
            <a:ext cx="2493010" cy="1143635"/>
          </a:xfrm>
          <a:prstGeom prst="rect">
            <a:avLst/>
          </a:prstGeom>
          <a:noFill/>
          <a:ln>
            <a:noFill/>
          </a:ln>
        </p:spPr>
      </p:pic>
      <p:pic>
        <p:nvPicPr>
          <p:cNvPr id="11" name="Picture 10" descr="http://ecx.images-amazon.com/images/I/51jpb3byTjL._SL1100_.jpg"/>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084513" y="3789040"/>
            <a:ext cx="3629025" cy="1040130"/>
          </a:xfrm>
          <a:prstGeom prst="rect">
            <a:avLst/>
          </a:prstGeom>
          <a:noFill/>
          <a:ln>
            <a:noFill/>
          </a:ln>
        </p:spPr>
      </p:pic>
      <p:pic>
        <p:nvPicPr>
          <p:cNvPr id="12" name="Picture 11" descr="http://ecx.images-amazon.com/images/I/51mCBUKE6nL._SL1000_.jpg"/>
          <p:cNvPicPr/>
          <p:nvPr/>
        </p:nvPicPr>
        <p:blipFill rotWithShape="1">
          <a:blip r:embed="rId4" cstate="print">
            <a:extLst>
              <a:ext uri="{28A0092B-C50C-407E-A947-70E740481C1C}">
                <a14:useLocalDpi xmlns:a14="http://schemas.microsoft.com/office/drawing/2010/main" val="0"/>
              </a:ext>
            </a:extLst>
          </a:blip>
          <a:srcRect l="1805" t="2302" r="1955" b="3821"/>
          <a:stretch/>
        </p:blipFill>
        <p:spPr bwMode="auto">
          <a:xfrm>
            <a:off x="5796137" y="4653136"/>
            <a:ext cx="2676102" cy="1512168"/>
          </a:xfrm>
          <a:prstGeom prst="rect">
            <a:avLst/>
          </a:prstGeom>
          <a:noFill/>
          <a:ln>
            <a:noFill/>
          </a:ln>
          <a:extLst>
            <a:ext uri="{53640926-AAD7-44D8-BBD7-CCE9431645EC}">
              <a14:shadowObscured xmlns:a14="http://schemas.microsoft.com/office/drawing/2010/main"/>
            </a:ext>
          </a:extLst>
        </p:spPr>
      </p:pic>
      <p:pic>
        <p:nvPicPr>
          <p:cNvPr id="13" name="Picture 12" descr="http://ecx.images-amazon.com/images/I/51qgnCqrRcL._SL1100_.jpg"/>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084513" y="1454703"/>
            <a:ext cx="3139440" cy="1005840"/>
          </a:xfrm>
          <a:prstGeom prst="rect">
            <a:avLst/>
          </a:prstGeom>
          <a:noFill/>
          <a:ln>
            <a:noFill/>
          </a:ln>
        </p:spPr>
      </p:pic>
    </p:spTree>
    <p:extLst>
      <p:ext uri="{BB962C8B-B14F-4D97-AF65-F5344CB8AC3E}">
        <p14:creationId xmlns:p14="http://schemas.microsoft.com/office/powerpoint/2010/main" val="3869829713"/>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48680"/>
            <a:ext cx="8229600" cy="648072"/>
          </a:xfrm>
        </p:spPr>
        <p:txBody>
          <a:bodyPr>
            <a:normAutofit fontScale="90000"/>
          </a:bodyPr>
          <a:lstStyle/>
          <a:p>
            <a:pPr algn="ctr"/>
            <a:r>
              <a:rPr lang="en-GB" sz="4400" b="1" dirty="0"/>
              <a:t>ELECTRICAL HAND </a:t>
            </a:r>
            <a:r>
              <a:rPr lang="en-GB" sz="4400" b="1" dirty="0" smtClean="0"/>
              <a:t>TOOLS </a:t>
            </a:r>
            <a:r>
              <a:rPr lang="en-GB" sz="4400" b="1" dirty="0" err="1" smtClean="0"/>
              <a:t>Cont</a:t>
            </a:r>
            <a:r>
              <a:rPr lang="en-GB" sz="4400" b="1" dirty="0" smtClean="0"/>
              <a:t>’</a:t>
            </a:r>
            <a:endParaRPr lang="en-GB" sz="4400" dirty="0"/>
          </a:p>
        </p:txBody>
      </p:sp>
      <p:sp>
        <p:nvSpPr>
          <p:cNvPr id="3" name="Content Placeholder 2"/>
          <p:cNvSpPr>
            <a:spLocks noGrp="1"/>
          </p:cNvSpPr>
          <p:nvPr>
            <p:ph idx="1"/>
          </p:nvPr>
        </p:nvSpPr>
        <p:spPr>
          <a:xfrm>
            <a:off x="539552" y="1268760"/>
            <a:ext cx="8229600" cy="4965184"/>
          </a:xfrm>
        </p:spPr>
        <p:txBody>
          <a:bodyPr/>
          <a:lstStyle/>
          <a:p>
            <a:r>
              <a:rPr lang="en-GB" b="1" dirty="0"/>
              <a:t>Crimp Grip </a:t>
            </a:r>
            <a:r>
              <a:rPr lang="en-GB" b="1" dirty="0" smtClean="0"/>
              <a:t>Pliers</a:t>
            </a:r>
          </a:p>
          <a:p>
            <a:endParaRPr lang="en-GB" b="1" dirty="0"/>
          </a:p>
          <a:p>
            <a:endParaRPr lang="en-GB" b="1" dirty="0" smtClean="0"/>
          </a:p>
          <a:p>
            <a:endParaRPr lang="en-GB" b="1" dirty="0"/>
          </a:p>
          <a:p>
            <a:r>
              <a:rPr lang="en-GB" b="1" dirty="0"/>
              <a:t>Screw </a:t>
            </a:r>
            <a:r>
              <a:rPr lang="en-GB" b="1" dirty="0" smtClean="0"/>
              <a:t>driver</a:t>
            </a:r>
          </a:p>
          <a:p>
            <a:endParaRPr lang="en-GB" b="1" dirty="0"/>
          </a:p>
          <a:p>
            <a:endParaRPr lang="en-GB" b="1" dirty="0" smtClean="0"/>
          </a:p>
          <a:p>
            <a:endParaRPr lang="en-GB" dirty="0"/>
          </a:p>
          <a:p>
            <a:r>
              <a:rPr lang="en-GB" b="1" dirty="0"/>
              <a:t>Electrical knife</a:t>
            </a:r>
            <a:endParaRPr lang="en-GB" dirty="0"/>
          </a:p>
          <a:p>
            <a:endParaRPr lang="en-GB" dirty="0"/>
          </a:p>
        </p:txBody>
      </p:sp>
      <p:pic>
        <p:nvPicPr>
          <p:cNvPr id="4" name="Picture 3" descr="http://ecx.images-amazon.com/images/I/51f-PJ5aQsL.jpg"/>
          <p:cNvPicPr/>
          <p:nvPr/>
        </p:nvPicPr>
        <p:blipFill rotWithShape="1">
          <a:blip r:embed="rId2">
            <a:extLst>
              <a:ext uri="{28A0092B-C50C-407E-A947-70E740481C1C}">
                <a14:useLocalDpi xmlns:a14="http://schemas.microsoft.com/office/drawing/2010/main" val="0"/>
              </a:ext>
            </a:extLst>
          </a:blip>
          <a:srcRect l="7609" t="6523" r="4167" b="6275"/>
          <a:stretch/>
        </p:blipFill>
        <p:spPr bwMode="auto">
          <a:xfrm>
            <a:off x="4572000" y="2636912"/>
            <a:ext cx="2880320" cy="2034464"/>
          </a:xfrm>
          <a:prstGeom prst="rect">
            <a:avLst/>
          </a:prstGeom>
          <a:noFill/>
          <a:ln>
            <a:noFill/>
          </a:ln>
          <a:extLst>
            <a:ext uri="{53640926-AAD7-44D8-BBD7-CCE9431645EC}">
              <a14:shadowObscured xmlns:a14="http://schemas.microsoft.com/office/drawing/2010/main"/>
            </a:ext>
          </a:extLst>
        </p:spPr>
      </p:pic>
      <p:pic>
        <p:nvPicPr>
          <p:cNvPr id="5" name="Picture 4" descr="http://ecx.images-amazon.com/images/I/61wHqJwc8EL._SL1500_.jpg"/>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99592" y="5733256"/>
            <a:ext cx="2476500" cy="843915"/>
          </a:xfrm>
          <a:prstGeom prst="rect">
            <a:avLst/>
          </a:prstGeom>
          <a:noFill/>
          <a:ln>
            <a:noFill/>
          </a:ln>
        </p:spPr>
      </p:pic>
      <p:pic>
        <p:nvPicPr>
          <p:cNvPr id="6" name="Picture 5"/>
          <p:cNvPicPr/>
          <p:nvPr/>
        </p:nvPicPr>
        <p:blipFill rotWithShape="1">
          <a:blip r:embed="rId4"/>
          <a:srcRect t="4260"/>
          <a:stretch/>
        </p:blipFill>
        <p:spPr bwMode="auto">
          <a:xfrm>
            <a:off x="5076056" y="5085184"/>
            <a:ext cx="2808312" cy="1375152"/>
          </a:xfrm>
          <a:prstGeom prst="rect">
            <a:avLst/>
          </a:prstGeom>
          <a:ln>
            <a:noFill/>
          </a:ln>
          <a:extLst>
            <a:ext uri="{53640926-AAD7-44D8-BBD7-CCE9431645EC}">
              <a14:shadowObscured xmlns:a14="http://schemas.microsoft.com/office/drawing/2010/main"/>
            </a:ext>
          </a:extLst>
        </p:spPr>
      </p:pic>
      <p:pic>
        <p:nvPicPr>
          <p:cNvPr id="7" name="Picture 6" descr="97 21 215 Crimping Pliers"/>
          <p:cNvPicPr/>
          <p:nvPr/>
        </p:nvPicPr>
        <p:blipFill rotWithShape="1">
          <a:blip r:embed="rId5" cstate="print">
            <a:extLst>
              <a:ext uri="{28A0092B-C50C-407E-A947-70E740481C1C}">
                <a14:useLocalDpi xmlns:a14="http://schemas.microsoft.com/office/drawing/2010/main" val="0"/>
              </a:ext>
            </a:extLst>
          </a:blip>
          <a:srcRect l="7152" r="4378" b="6007"/>
          <a:stretch/>
        </p:blipFill>
        <p:spPr bwMode="auto">
          <a:xfrm>
            <a:off x="5076056" y="1196752"/>
            <a:ext cx="2808312" cy="1296144"/>
          </a:xfrm>
          <a:prstGeom prst="rect">
            <a:avLst/>
          </a:prstGeom>
          <a:noFill/>
          <a:ln>
            <a:noFill/>
          </a:ln>
          <a:extLst>
            <a:ext uri="{53640926-AAD7-44D8-BBD7-CCE9431645EC}">
              <a14:shadowObscured xmlns:a14="http://schemas.microsoft.com/office/drawing/2010/main"/>
            </a:ext>
          </a:extLst>
        </p:spPr>
      </p:pic>
      <p:pic>
        <p:nvPicPr>
          <p:cNvPr id="8" name="Picture 7" descr="97 00 215 a Crimp Grip Pliers"/>
          <p:cNvPicPr/>
          <p:nvPr/>
        </p:nvPicPr>
        <p:blipFill rotWithShape="1">
          <a:blip r:embed="rId6" cstate="print">
            <a:extLst>
              <a:ext uri="{28A0092B-C50C-407E-A947-70E740481C1C}">
                <a14:useLocalDpi xmlns:a14="http://schemas.microsoft.com/office/drawing/2010/main" val="0"/>
              </a:ext>
            </a:extLst>
          </a:blip>
          <a:srcRect l="3914" t="4818" r="2159" b="7832"/>
          <a:stretch/>
        </p:blipFill>
        <p:spPr bwMode="auto">
          <a:xfrm>
            <a:off x="2483768" y="1732801"/>
            <a:ext cx="1982936" cy="1192143"/>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408699669"/>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20688"/>
            <a:ext cx="8229600" cy="648072"/>
          </a:xfrm>
        </p:spPr>
        <p:txBody>
          <a:bodyPr>
            <a:normAutofit fontScale="90000"/>
          </a:bodyPr>
          <a:lstStyle/>
          <a:p>
            <a:pPr algn="ctr"/>
            <a:r>
              <a:rPr lang="en-GB" sz="4400" b="1" dirty="0"/>
              <a:t>ELECTRICAL HAND TOOLS </a:t>
            </a:r>
            <a:r>
              <a:rPr lang="en-GB" sz="4400" b="1" dirty="0" err="1"/>
              <a:t>Cont</a:t>
            </a:r>
            <a:r>
              <a:rPr lang="en-GB" sz="4400" b="1" dirty="0"/>
              <a:t>’</a:t>
            </a:r>
            <a:endParaRPr lang="en-GB" sz="4400" dirty="0"/>
          </a:p>
        </p:txBody>
      </p:sp>
      <p:sp>
        <p:nvSpPr>
          <p:cNvPr id="3" name="Content Placeholder 2"/>
          <p:cNvSpPr>
            <a:spLocks noGrp="1"/>
          </p:cNvSpPr>
          <p:nvPr>
            <p:ph idx="1"/>
          </p:nvPr>
        </p:nvSpPr>
        <p:spPr>
          <a:xfrm>
            <a:off x="457200" y="1340768"/>
            <a:ext cx="8229600" cy="4983832"/>
          </a:xfrm>
        </p:spPr>
        <p:txBody>
          <a:bodyPr/>
          <a:lstStyle/>
          <a:p>
            <a:r>
              <a:rPr lang="en-GB" b="1" dirty="0"/>
              <a:t>Voltage </a:t>
            </a:r>
            <a:r>
              <a:rPr lang="en-GB" b="1" dirty="0" smtClean="0"/>
              <a:t>tester</a:t>
            </a:r>
          </a:p>
          <a:p>
            <a:endParaRPr lang="en-GB" b="1" dirty="0"/>
          </a:p>
          <a:p>
            <a:endParaRPr lang="en-GB" dirty="0"/>
          </a:p>
          <a:p>
            <a:r>
              <a:rPr lang="en-GB" b="1" dirty="0" smtClean="0"/>
              <a:t>Multimeter</a:t>
            </a:r>
          </a:p>
          <a:p>
            <a:endParaRPr lang="en-GB" b="1" dirty="0"/>
          </a:p>
          <a:p>
            <a:pPr marL="0" indent="0">
              <a:buNone/>
            </a:pPr>
            <a:endParaRPr lang="en-GB" b="1" dirty="0" smtClean="0"/>
          </a:p>
          <a:p>
            <a:endParaRPr lang="en-GB" b="1" dirty="0"/>
          </a:p>
          <a:p>
            <a:r>
              <a:rPr lang="en-GB" b="1" dirty="0"/>
              <a:t>Hammer </a:t>
            </a:r>
            <a:r>
              <a:rPr lang="en-GB" b="1" dirty="0" smtClean="0"/>
              <a:t> </a:t>
            </a:r>
            <a:endParaRPr lang="en-GB" b="1" dirty="0"/>
          </a:p>
          <a:p>
            <a:endParaRPr lang="en-GB" dirty="0"/>
          </a:p>
        </p:txBody>
      </p:sp>
      <p:pic>
        <p:nvPicPr>
          <p:cNvPr id="4" name="Picture 3" descr="http://ecx.images-amazon.com/images/I/81j3UeowUiL._SL1500_.jpg"/>
          <p:cNvPicPr/>
          <p:nvPr/>
        </p:nvPicPr>
        <p:blipFill rotWithShape="1">
          <a:blip r:embed="rId2" cstate="print">
            <a:extLst>
              <a:ext uri="{28A0092B-C50C-407E-A947-70E740481C1C}">
                <a14:useLocalDpi xmlns:a14="http://schemas.microsoft.com/office/drawing/2010/main" val="0"/>
              </a:ext>
            </a:extLst>
          </a:blip>
          <a:srcRect l="1660" t="3198" r="1170" b="1749"/>
          <a:stretch/>
        </p:blipFill>
        <p:spPr bwMode="auto">
          <a:xfrm>
            <a:off x="3367878" y="1340768"/>
            <a:ext cx="2600325" cy="1315720"/>
          </a:xfrm>
          <a:prstGeom prst="rect">
            <a:avLst/>
          </a:prstGeom>
          <a:noFill/>
          <a:ln>
            <a:noFill/>
          </a:ln>
          <a:extLst>
            <a:ext uri="{53640926-AAD7-44D8-BBD7-CCE9431645EC}">
              <a14:shadowObscured xmlns:a14="http://schemas.microsoft.com/office/drawing/2010/main"/>
            </a:ext>
          </a:extLst>
        </p:spPr>
      </p:pic>
      <p:pic>
        <p:nvPicPr>
          <p:cNvPr id="5" name="Picture 4" descr="http://ecx.images-amazon.com/images/I/51TWPwkQC7L._SL1000_.jpg"/>
          <p:cNvPicPr/>
          <p:nvPr/>
        </p:nvPicPr>
        <p:blipFill rotWithShape="1">
          <a:blip r:embed="rId3" cstate="print">
            <a:extLst>
              <a:ext uri="{28A0092B-C50C-407E-A947-70E740481C1C}">
                <a14:useLocalDpi xmlns:a14="http://schemas.microsoft.com/office/drawing/2010/main" val="0"/>
              </a:ext>
            </a:extLst>
          </a:blip>
          <a:srcRect l="7970" t="25715" r="6918" b="20601"/>
          <a:stretch/>
        </p:blipFill>
        <p:spPr bwMode="auto">
          <a:xfrm>
            <a:off x="6300192" y="1340768"/>
            <a:ext cx="2219325" cy="1399540"/>
          </a:xfrm>
          <a:prstGeom prst="rect">
            <a:avLst/>
          </a:prstGeom>
          <a:noFill/>
          <a:ln>
            <a:noFill/>
          </a:ln>
          <a:extLst>
            <a:ext uri="{53640926-AAD7-44D8-BBD7-CCE9431645EC}">
              <a14:shadowObscured xmlns:a14="http://schemas.microsoft.com/office/drawing/2010/main"/>
            </a:ext>
          </a:extLst>
        </p:spPr>
      </p:pic>
      <p:pic>
        <p:nvPicPr>
          <p:cNvPr id="6" name="Picture 5" descr="DIGIFLEX Volt Testing Digital Multimeter Voltmeter Ammeter AC DC Meter OHM for DIY"/>
          <p:cNvPicPr/>
          <p:nvPr/>
        </p:nvPicPr>
        <p:blipFill rotWithShape="1">
          <a:blip r:embed="rId4">
            <a:extLst>
              <a:ext uri="{28A0092B-C50C-407E-A947-70E740481C1C}">
                <a14:useLocalDpi xmlns:a14="http://schemas.microsoft.com/office/drawing/2010/main" val="0"/>
              </a:ext>
            </a:extLst>
          </a:blip>
          <a:srcRect l="3198" t="7249" b="7463"/>
          <a:stretch/>
        </p:blipFill>
        <p:spPr bwMode="auto">
          <a:xfrm>
            <a:off x="3923928" y="2924944"/>
            <a:ext cx="2592288" cy="2088232"/>
          </a:xfrm>
          <a:prstGeom prst="rect">
            <a:avLst/>
          </a:prstGeom>
          <a:noFill/>
          <a:ln>
            <a:noFill/>
          </a:ln>
          <a:extLst>
            <a:ext uri="{53640926-AAD7-44D8-BBD7-CCE9431645EC}">
              <a14:shadowObscured xmlns:a14="http://schemas.microsoft.com/office/drawing/2010/main"/>
            </a:ext>
          </a:extLst>
        </p:spPr>
      </p:pic>
      <p:pic>
        <p:nvPicPr>
          <p:cNvPr id="7" name="Picture 6" descr="http://ecx.images-amazon.com/images/I/51B0TzanwrL._SL1000_.jpg"/>
          <p:cNvPicPr/>
          <p:nvPr/>
        </p:nvPicPr>
        <p:blipFill rotWithShape="1">
          <a:blip r:embed="rId5" cstate="print">
            <a:extLst>
              <a:ext uri="{28A0092B-C50C-407E-A947-70E740481C1C}">
                <a14:useLocalDpi xmlns:a14="http://schemas.microsoft.com/office/drawing/2010/main" val="0"/>
              </a:ext>
            </a:extLst>
          </a:blip>
          <a:srcRect l="2556" t="16391" r="1804" b="17143"/>
          <a:stretch/>
        </p:blipFill>
        <p:spPr bwMode="auto">
          <a:xfrm>
            <a:off x="2987825" y="5077456"/>
            <a:ext cx="2030206" cy="1313029"/>
          </a:xfrm>
          <a:prstGeom prst="rect">
            <a:avLst/>
          </a:prstGeom>
          <a:noFill/>
          <a:ln>
            <a:noFill/>
          </a:ln>
          <a:extLst>
            <a:ext uri="{53640926-AAD7-44D8-BBD7-CCE9431645EC}">
              <a14:shadowObscured xmlns:a14="http://schemas.microsoft.com/office/drawing/2010/main"/>
            </a:ext>
          </a:extLst>
        </p:spPr>
      </p:pic>
      <p:pic>
        <p:nvPicPr>
          <p:cNvPr id="8" name="Picture 7" descr="http://ecx.images-amazon.com/images/I/51gy6O8abeL._SL1000_.jpg"/>
          <p:cNvPicPr/>
          <p:nvPr/>
        </p:nvPicPr>
        <p:blipFill rotWithShape="1">
          <a:blip r:embed="rId6" cstate="print">
            <a:extLst>
              <a:ext uri="{28A0092B-C50C-407E-A947-70E740481C1C}">
                <a14:useLocalDpi xmlns:a14="http://schemas.microsoft.com/office/drawing/2010/main" val="0"/>
              </a:ext>
            </a:extLst>
          </a:blip>
          <a:srcRect l="16389" t="16111" r="17222" b="15000"/>
          <a:stretch/>
        </p:blipFill>
        <p:spPr bwMode="auto">
          <a:xfrm>
            <a:off x="5968203" y="5229200"/>
            <a:ext cx="1916165" cy="1161286"/>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617527320"/>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76672"/>
            <a:ext cx="8229600" cy="720080"/>
          </a:xfrm>
        </p:spPr>
        <p:txBody>
          <a:bodyPr>
            <a:normAutofit fontScale="90000"/>
          </a:bodyPr>
          <a:lstStyle/>
          <a:p>
            <a:r>
              <a:rPr lang="en-GB" sz="5400" b="1" dirty="0"/>
              <a:t>ELECTRICAL HAND TOOLS </a:t>
            </a:r>
            <a:r>
              <a:rPr lang="en-GB" sz="5400" b="1" dirty="0" err="1"/>
              <a:t>Cont</a:t>
            </a:r>
            <a:r>
              <a:rPr lang="en-GB" sz="5400" b="1" dirty="0"/>
              <a:t>’</a:t>
            </a:r>
            <a:endParaRPr lang="en-GB" dirty="0"/>
          </a:p>
        </p:txBody>
      </p:sp>
      <p:sp>
        <p:nvSpPr>
          <p:cNvPr id="3" name="Content Placeholder 2"/>
          <p:cNvSpPr>
            <a:spLocks noGrp="1"/>
          </p:cNvSpPr>
          <p:nvPr>
            <p:ph idx="1"/>
          </p:nvPr>
        </p:nvSpPr>
        <p:spPr>
          <a:xfrm>
            <a:off x="611560" y="1340768"/>
            <a:ext cx="8229600" cy="5325224"/>
          </a:xfrm>
        </p:spPr>
        <p:txBody>
          <a:bodyPr/>
          <a:lstStyle/>
          <a:p>
            <a:r>
              <a:rPr lang="en-GB" b="1" dirty="0"/>
              <a:t>Tap </a:t>
            </a:r>
            <a:r>
              <a:rPr lang="en-GB" b="1" dirty="0" err="1" smtClean="0"/>
              <a:t>mesure</a:t>
            </a:r>
            <a:endParaRPr lang="en-GB" b="1" dirty="0" smtClean="0"/>
          </a:p>
          <a:p>
            <a:endParaRPr lang="en-GB" b="1" dirty="0"/>
          </a:p>
          <a:p>
            <a:endParaRPr lang="en-GB" b="1" dirty="0"/>
          </a:p>
          <a:p>
            <a:r>
              <a:rPr lang="en-GB" b="1" dirty="0"/>
              <a:t>Spirit </a:t>
            </a:r>
            <a:r>
              <a:rPr lang="en-GB" b="1" dirty="0" smtClean="0"/>
              <a:t>Levels</a:t>
            </a:r>
          </a:p>
          <a:p>
            <a:endParaRPr lang="en-GB" b="1" dirty="0"/>
          </a:p>
          <a:p>
            <a:endParaRPr lang="en-GB" b="1" dirty="0" smtClean="0"/>
          </a:p>
          <a:p>
            <a:endParaRPr lang="en-GB" b="1" dirty="0"/>
          </a:p>
          <a:p>
            <a:r>
              <a:rPr lang="en-GB" b="1" dirty="0"/>
              <a:t>Spanner</a:t>
            </a:r>
          </a:p>
          <a:p>
            <a:pPr marL="0" indent="0">
              <a:buNone/>
            </a:pPr>
            <a:endParaRPr lang="en-GB" dirty="0"/>
          </a:p>
        </p:txBody>
      </p:sp>
      <p:pic>
        <p:nvPicPr>
          <p:cNvPr id="4" name="Picture 3" descr="http://ecx.images-amazon.com/images/I/617-CDByG0L._SL1000_.jpg"/>
          <p:cNvPicPr/>
          <p:nvPr/>
        </p:nvPicPr>
        <p:blipFill rotWithShape="1">
          <a:blip r:embed="rId2" cstate="print">
            <a:extLst>
              <a:ext uri="{28A0092B-C50C-407E-A947-70E740481C1C}">
                <a14:useLocalDpi xmlns:a14="http://schemas.microsoft.com/office/drawing/2010/main" val="0"/>
              </a:ext>
            </a:extLst>
          </a:blip>
          <a:srcRect l="2406" t="9925" r="1954" b="13233"/>
          <a:stretch/>
        </p:blipFill>
        <p:spPr bwMode="auto">
          <a:xfrm>
            <a:off x="4932040" y="1412776"/>
            <a:ext cx="1783092" cy="1296144"/>
          </a:xfrm>
          <a:prstGeom prst="rect">
            <a:avLst/>
          </a:prstGeom>
          <a:noFill/>
          <a:ln>
            <a:noFill/>
          </a:ln>
          <a:extLst>
            <a:ext uri="{53640926-AAD7-44D8-BBD7-CCE9431645EC}">
              <a14:shadowObscured xmlns:a14="http://schemas.microsoft.com/office/drawing/2010/main"/>
            </a:ext>
          </a:extLst>
        </p:spPr>
      </p:pic>
      <p:pic>
        <p:nvPicPr>
          <p:cNvPr id="5" name="Picture 4" descr="http://ecx.images-amazon.com/images/I/51W8b5dvG%2BL._SL1100_.jpg"/>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995936" y="2816580"/>
            <a:ext cx="4510767" cy="1116475"/>
          </a:xfrm>
          <a:prstGeom prst="rect">
            <a:avLst/>
          </a:prstGeom>
          <a:noFill/>
          <a:ln>
            <a:noFill/>
          </a:ln>
        </p:spPr>
      </p:pic>
      <p:pic>
        <p:nvPicPr>
          <p:cNvPr id="6" name="Picture 5" descr="http://ecx.images-amazon.com/images/I/A1b-9Su5f7L._SL1500_.jpg"/>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436096" y="4149080"/>
            <a:ext cx="2428717" cy="2232247"/>
          </a:xfrm>
          <a:prstGeom prst="rect">
            <a:avLst/>
          </a:prstGeom>
          <a:noFill/>
          <a:ln>
            <a:noFill/>
          </a:ln>
        </p:spPr>
      </p:pic>
    </p:spTree>
    <p:extLst>
      <p:ext uri="{BB962C8B-B14F-4D97-AF65-F5344CB8AC3E}">
        <p14:creationId xmlns:p14="http://schemas.microsoft.com/office/powerpoint/2010/main" val="2195797586"/>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76672"/>
            <a:ext cx="8229600" cy="648072"/>
          </a:xfrm>
        </p:spPr>
        <p:txBody>
          <a:bodyPr>
            <a:normAutofit fontScale="90000"/>
          </a:bodyPr>
          <a:lstStyle/>
          <a:p>
            <a:pPr algn="ctr"/>
            <a:r>
              <a:rPr lang="en-GB" dirty="0"/>
              <a:t/>
            </a:r>
            <a:br>
              <a:rPr lang="en-GB" dirty="0"/>
            </a:br>
            <a:r>
              <a:rPr lang="en-GB" b="1" dirty="0" smtClean="0"/>
              <a:t> </a:t>
            </a:r>
            <a:r>
              <a:rPr lang="en-GB" sz="4900" b="1" dirty="0" smtClean="0"/>
              <a:t>ELECTRICAL DIAGRAMS</a:t>
            </a:r>
            <a:endParaRPr lang="en-GB" sz="4900" b="1" dirty="0"/>
          </a:p>
        </p:txBody>
      </p:sp>
      <p:sp>
        <p:nvSpPr>
          <p:cNvPr id="3" name="Content Placeholder 2"/>
          <p:cNvSpPr>
            <a:spLocks noGrp="1"/>
          </p:cNvSpPr>
          <p:nvPr>
            <p:ph idx="1"/>
          </p:nvPr>
        </p:nvSpPr>
        <p:spPr>
          <a:xfrm>
            <a:off x="179512" y="1124744"/>
            <a:ext cx="8712968" cy="5400600"/>
          </a:xfrm>
        </p:spPr>
        <p:txBody>
          <a:bodyPr>
            <a:normAutofit fontScale="92500"/>
          </a:bodyPr>
          <a:lstStyle/>
          <a:p>
            <a:pPr marL="0" indent="0">
              <a:buNone/>
            </a:pPr>
            <a:r>
              <a:rPr lang="en-GB" dirty="0" smtClean="0"/>
              <a:t>Electrical </a:t>
            </a:r>
            <a:r>
              <a:rPr lang="en-GB" dirty="0"/>
              <a:t>circuit diagram: is a conventional representation of electrical installations that show in simple field way the relation between different parts of installation and the means used to establish these relations. An electrical diagram consists of:</a:t>
            </a:r>
          </a:p>
          <a:p>
            <a:r>
              <a:rPr lang="en-GB" b="1" dirty="0"/>
              <a:t>Symbol</a:t>
            </a:r>
            <a:r>
              <a:rPr lang="en-GB" dirty="0"/>
              <a:t>s: the symbols represent elements of an installation (machines or parts of machines and components).</a:t>
            </a:r>
          </a:p>
          <a:p>
            <a:r>
              <a:rPr lang="en-GB" b="1" dirty="0"/>
              <a:t>Lines</a:t>
            </a:r>
            <a:r>
              <a:rPr lang="en-GB" dirty="0"/>
              <a:t>: represent electrical or mechanical connections. Lines can be dashed or doted and they can be used to indicate elements group.</a:t>
            </a:r>
          </a:p>
          <a:p>
            <a:r>
              <a:rPr lang="en-GB" b="1" dirty="0"/>
              <a:t>Marks</a:t>
            </a:r>
            <a:r>
              <a:rPr lang="en-GB" dirty="0"/>
              <a:t>: these show identification of installation of machine and components of parts of machines they show number of conductor that are directed to terminals of machines and components.</a:t>
            </a:r>
          </a:p>
          <a:p>
            <a:endParaRPr lang="en-GB" dirty="0"/>
          </a:p>
        </p:txBody>
      </p:sp>
    </p:spTree>
    <p:extLst>
      <p:ext uri="{BB962C8B-B14F-4D97-AF65-F5344CB8AC3E}">
        <p14:creationId xmlns:p14="http://schemas.microsoft.com/office/powerpoint/2010/main" val="1448550478"/>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48680"/>
            <a:ext cx="8229600" cy="792088"/>
          </a:xfrm>
        </p:spPr>
        <p:txBody>
          <a:bodyPr>
            <a:normAutofit/>
          </a:bodyPr>
          <a:lstStyle/>
          <a:p>
            <a:pPr algn="ctr"/>
            <a:r>
              <a:rPr lang="en-GB" sz="4400" b="1" dirty="0" smtClean="0"/>
              <a:t>ELECTRICAL DIAGRAMS </a:t>
            </a:r>
            <a:r>
              <a:rPr lang="en-GB" sz="4400" b="1" dirty="0" err="1" smtClean="0"/>
              <a:t>Cont</a:t>
            </a:r>
            <a:r>
              <a:rPr lang="en-GB" sz="4400" b="1" dirty="0" smtClean="0"/>
              <a:t>’</a:t>
            </a:r>
            <a:endParaRPr lang="en-GB" sz="4400" dirty="0"/>
          </a:p>
        </p:txBody>
      </p:sp>
      <p:sp>
        <p:nvSpPr>
          <p:cNvPr id="3" name="Content Placeholder 2"/>
          <p:cNvSpPr>
            <a:spLocks noGrp="1"/>
          </p:cNvSpPr>
          <p:nvPr>
            <p:ph idx="1"/>
          </p:nvPr>
        </p:nvSpPr>
        <p:spPr>
          <a:xfrm>
            <a:off x="457200" y="1340768"/>
            <a:ext cx="8229600" cy="4983832"/>
          </a:xfrm>
        </p:spPr>
        <p:txBody>
          <a:bodyPr/>
          <a:lstStyle/>
          <a:p>
            <a:pPr marL="393192" lvl="1" indent="0">
              <a:buNone/>
            </a:pPr>
            <a:r>
              <a:rPr lang="en-GB" b="1" dirty="0"/>
              <a:t>TYPES OF </a:t>
            </a:r>
            <a:r>
              <a:rPr lang="en-GB" b="1" dirty="0" smtClean="0"/>
              <a:t>DIAGRAM</a:t>
            </a:r>
            <a:endParaRPr lang="en-GB" sz="2000" dirty="0"/>
          </a:p>
          <a:p>
            <a:pPr marL="393192" lvl="1" indent="0">
              <a:buNone/>
            </a:pPr>
            <a:r>
              <a:rPr lang="en-GB" sz="2400" b="1" dirty="0" smtClean="0"/>
              <a:t>Explication </a:t>
            </a:r>
            <a:r>
              <a:rPr lang="en-GB" sz="2400" b="1" dirty="0"/>
              <a:t>diagram</a:t>
            </a:r>
            <a:endParaRPr lang="en-GB" sz="2000" dirty="0"/>
          </a:p>
          <a:p>
            <a:pPr marL="0" indent="0">
              <a:buNone/>
            </a:pPr>
            <a:r>
              <a:rPr lang="en-GB" sz="2800" dirty="0"/>
              <a:t>They make easier to the user to understand the functions of the installation; they give a simplified representation of parts and components.</a:t>
            </a:r>
            <a:endParaRPr lang="en-GB" sz="2400" dirty="0"/>
          </a:p>
          <a:p>
            <a:pPr marL="667512" lvl="2" indent="0">
              <a:buNone/>
            </a:pPr>
            <a:r>
              <a:rPr lang="en-GB" sz="2400" b="1" dirty="0"/>
              <a:t>Realisation diagrams</a:t>
            </a:r>
            <a:endParaRPr lang="en-GB" sz="2000" dirty="0"/>
          </a:p>
          <a:p>
            <a:pPr marL="0" indent="0">
              <a:buNone/>
            </a:pPr>
            <a:r>
              <a:rPr lang="en-GB" sz="2800" dirty="0"/>
              <a:t>This is used as a guide in practice or in verification of connection of an installation. They identify all connections or group of connections that we need to realise or control.</a:t>
            </a:r>
            <a:endParaRPr lang="en-GB" sz="2400" dirty="0"/>
          </a:p>
          <a:p>
            <a:endParaRPr lang="en-GB" dirty="0"/>
          </a:p>
        </p:txBody>
      </p:sp>
    </p:spTree>
    <p:extLst>
      <p:ext uri="{BB962C8B-B14F-4D97-AF65-F5344CB8AC3E}">
        <p14:creationId xmlns:p14="http://schemas.microsoft.com/office/powerpoint/2010/main" val="998714453"/>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48680"/>
            <a:ext cx="8229600" cy="720080"/>
          </a:xfrm>
        </p:spPr>
        <p:txBody>
          <a:bodyPr>
            <a:normAutofit fontScale="90000"/>
          </a:bodyPr>
          <a:lstStyle/>
          <a:p>
            <a:pPr algn="ctr"/>
            <a:r>
              <a:rPr lang="en-GB" sz="5400" b="1" dirty="0"/>
              <a:t>ELECTRICAL DIAGRAMS </a:t>
            </a:r>
            <a:r>
              <a:rPr lang="en-GB" sz="5400" b="1" dirty="0" err="1"/>
              <a:t>Cont</a:t>
            </a:r>
            <a:r>
              <a:rPr lang="en-GB" sz="5400" b="1" dirty="0"/>
              <a:t>’</a:t>
            </a:r>
            <a:endParaRPr lang="en-GB" dirty="0"/>
          </a:p>
        </p:txBody>
      </p:sp>
      <p:sp>
        <p:nvSpPr>
          <p:cNvPr id="3" name="Content Placeholder 2"/>
          <p:cNvSpPr>
            <a:spLocks noGrp="1"/>
          </p:cNvSpPr>
          <p:nvPr>
            <p:ph idx="1"/>
          </p:nvPr>
        </p:nvSpPr>
        <p:spPr>
          <a:xfrm>
            <a:off x="251520" y="1412776"/>
            <a:ext cx="8640960" cy="5184576"/>
          </a:xfrm>
        </p:spPr>
        <p:txBody>
          <a:bodyPr>
            <a:normAutofit fontScale="77500" lnSpcReduction="20000"/>
          </a:bodyPr>
          <a:lstStyle/>
          <a:p>
            <a:pPr marL="393192" lvl="1" indent="0">
              <a:buNone/>
            </a:pPr>
            <a:r>
              <a:rPr lang="en-GB" sz="3600" b="1" dirty="0"/>
              <a:t>MODES OF </a:t>
            </a:r>
            <a:r>
              <a:rPr lang="en-GB" sz="3600" b="1" dirty="0" smtClean="0"/>
              <a:t>DIAGRAMS</a:t>
            </a:r>
            <a:endParaRPr lang="en-GB" sz="3600" dirty="0"/>
          </a:p>
          <a:p>
            <a:pPr marL="0" indent="0">
              <a:buNone/>
            </a:pPr>
            <a:r>
              <a:rPr lang="en-GB" sz="2800" b="1" dirty="0"/>
              <a:t>Architectural diagram:</a:t>
            </a:r>
            <a:r>
              <a:rPr lang="en-GB" sz="2800" dirty="0"/>
              <a:t> This diagram shows position of each element in room according to the indication of owner. This is used by the entrepreneur or architectures  </a:t>
            </a:r>
            <a:endParaRPr lang="en-GB" sz="2400" dirty="0"/>
          </a:p>
          <a:p>
            <a:pPr marL="0" indent="0">
              <a:buNone/>
            </a:pPr>
            <a:r>
              <a:rPr lang="en-GB" sz="2800" b="1" dirty="0"/>
              <a:t>Circuit diagram: </a:t>
            </a:r>
            <a:r>
              <a:rPr lang="en-GB" sz="2800" dirty="0"/>
              <a:t> In this kind of diagram symbols are organised in such way each circuit will be almost as a line. This kind of diagram make easier understand the function of circuit.</a:t>
            </a:r>
            <a:endParaRPr lang="en-GB" sz="2400" dirty="0"/>
          </a:p>
          <a:p>
            <a:pPr marL="0" indent="0">
              <a:buNone/>
            </a:pPr>
            <a:r>
              <a:rPr lang="en-GB" sz="2800" b="1" dirty="0"/>
              <a:t>Wiring diagram: </a:t>
            </a:r>
            <a:r>
              <a:rPr lang="en-GB" sz="2800" dirty="0"/>
              <a:t>This is an illustration describing how electrical circuits are arranged and connected. They offer a logical representation of the wiring layout. It shows the components of the circuit as simplified shapes.  A wiring diagram usually gives more information about the relative position and arrangement of devices and terminals. This kind of diagram requires hand work of drawing.</a:t>
            </a:r>
            <a:endParaRPr lang="en-GB" sz="2400" dirty="0"/>
          </a:p>
          <a:p>
            <a:pPr marL="0" indent="0">
              <a:buNone/>
            </a:pPr>
            <a:r>
              <a:rPr lang="en-GB" sz="2800" b="1" dirty="0"/>
              <a:t>Schematic diagram: </a:t>
            </a:r>
            <a:r>
              <a:rPr lang="en-GB" sz="2800" dirty="0"/>
              <a:t>In this kind of diagram is used to simplify the task of drawing. Unique line is used to represent a set of many conductors in one pipe. </a:t>
            </a:r>
          </a:p>
          <a:p>
            <a:endParaRPr lang="en-GB" dirty="0"/>
          </a:p>
        </p:txBody>
      </p:sp>
    </p:spTree>
    <p:extLst>
      <p:ext uri="{BB962C8B-B14F-4D97-AF65-F5344CB8AC3E}">
        <p14:creationId xmlns:p14="http://schemas.microsoft.com/office/powerpoint/2010/main" val="4019210263"/>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48680"/>
            <a:ext cx="8229600" cy="648072"/>
          </a:xfrm>
        </p:spPr>
        <p:txBody>
          <a:bodyPr>
            <a:normAutofit fontScale="90000"/>
          </a:bodyPr>
          <a:lstStyle/>
          <a:p>
            <a:pPr algn="ctr"/>
            <a:r>
              <a:rPr lang="en-GB" sz="4400" b="1" dirty="0"/>
              <a:t>ELECTRICAL DIAGRAMS </a:t>
            </a:r>
            <a:r>
              <a:rPr lang="en-GB" sz="4400" b="1" dirty="0" err="1"/>
              <a:t>Cont</a:t>
            </a:r>
            <a:r>
              <a:rPr lang="en-GB" sz="4400" b="1" dirty="0"/>
              <a:t>’</a:t>
            </a:r>
            <a:endParaRPr lang="en-GB" sz="4400" dirty="0"/>
          </a:p>
        </p:txBody>
      </p:sp>
      <p:sp>
        <p:nvSpPr>
          <p:cNvPr id="3" name="Content Placeholder 2"/>
          <p:cNvSpPr>
            <a:spLocks noGrp="1"/>
          </p:cNvSpPr>
          <p:nvPr>
            <p:ph idx="1"/>
          </p:nvPr>
        </p:nvSpPr>
        <p:spPr>
          <a:xfrm>
            <a:off x="457200" y="1124744"/>
            <a:ext cx="8229600" cy="5199856"/>
          </a:xfrm>
        </p:spPr>
        <p:txBody>
          <a:bodyPr/>
          <a:lstStyle/>
          <a:p>
            <a:pPr marL="0" indent="0">
              <a:buNone/>
            </a:pPr>
            <a:r>
              <a:rPr lang="en-GB" b="1" dirty="0"/>
              <a:t>ELECTRICAL SYMBOLS</a:t>
            </a:r>
            <a:endParaRPr lang="en-GB" dirty="0"/>
          </a:p>
        </p:txBody>
      </p:sp>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9500" y="1628800"/>
            <a:ext cx="7486875" cy="50414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19717504"/>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48680"/>
            <a:ext cx="8229600" cy="864096"/>
          </a:xfrm>
        </p:spPr>
        <p:txBody>
          <a:bodyPr>
            <a:normAutofit fontScale="90000"/>
          </a:bodyPr>
          <a:lstStyle/>
          <a:p>
            <a:r>
              <a:rPr lang="en-GB" sz="5400" b="1" dirty="0"/>
              <a:t>ELECTRICAL DIAGRAMS </a:t>
            </a:r>
            <a:r>
              <a:rPr lang="en-GB" sz="5400" b="1" dirty="0" err="1"/>
              <a:t>Cont</a:t>
            </a:r>
            <a:r>
              <a:rPr lang="en-GB" sz="5400" b="1" dirty="0"/>
              <a:t>’</a:t>
            </a:r>
            <a:endParaRPr lang="en-GB" dirty="0"/>
          </a:p>
        </p:txBody>
      </p:sp>
      <p:pic>
        <p:nvPicPr>
          <p:cNvPr id="205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83568" y="1412776"/>
            <a:ext cx="7975432" cy="48965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09240717"/>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764704"/>
            <a:ext cx="8229600" cy="504056"/>
          </a:xfrm>
        </p:spPr>
        <p:txBody>
          <a:bodyPr>
            <a:normAutofit fontScale="90000"/>
          </a:bodyPr>
          <a:lstStyle/>
          <a:p>
            <a:pPr algn="ctr"/>
            <a:r>
              <a:rPr lang="en-GB" sz="4800" b="1" dirty="0"/>
              <a:t>ELECTRICAL DIAGRAMS </a:t>
            </a:r>
            <a:r>
              <a:rPr lang="en-GB" sz="4800" b="1" dirty="0" err="1"/>
              <a:t>Cont</a:t>
            </a:r>
            <a:r>
              <a:rPr lang="en-GB" sz="4800" b="1" dirty="0"/>
              <a:t>’</a:t>
            </a:r>
            <a:endParaRPr lang="en-GB" dirty="0"/>
          </a:p>
        </p:txBody>
      </p:sp>
      <p:pic>
        <p:nvPicPr>
          <p:cNvPr id="307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97195" y="1218972"/>
            <a:ext cx="7775161" cy="13459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6739" y="2492896"/>
            <a:ext cx="7758145" cy="3669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4823174"/>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48680"/>
            <a:ext cx="8229600" cy="864096"/>
          </a:xfrm>
        </p:spPr>
        <p:txBody>
          <a:bodyPr>
            <a:normAutofit fontScale="90000"/>
          </a:bodyPr>
          <a:lstStyle/>
          <a:p>
            <a:pPr algn="ctr"/>
            <a:r>
              <a:rPr lang="en-GB" sz="5400" b="1" dirty="0"/>
              <a:t>ELECTRICAL DIAGRAMS </a:t>
            </a:r>
            <a:r>
              <a:rPr lang="en-GB" sz="5400" b="1" dirty="0" err="1"/>
              <a:t>Cont</a:t>
            </a:r>
            <a:r>
              <a:rPr lang="en-GB" sz="5400" b="1" dirty="0"/>
              <a:t>’</a:t>
            </a:r>
            <a:endParaRPr lang="en-GB" dirty="0"/>
          </a:p>
        </p:txBody>
      </p:sp>
      <p:pic>
        <p:nvPicPr>
          <p:cNvPr id="4098"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64408" y="1628800"/>
            <a:ext cx="7852008" cy="43501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25719899"/>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708688"/>
          </a:xfrm>
        </p:spPr>
        <p:txBody>
          <a:bodyPr>
            <a:normAutofit fontScale="90000"/>
          </a:bodyPr>
          <a:lstStyle/>
          <a:p>
            <a:pPr algn="ctr"/>
            <a:r>
              <a:rPr lang="en-GB" sz="4800" b="1" dirty="0" smtClean="0"/>
              <a:t>  ELECTRICAL </a:t>
            </a:r>
            <a:r>
              <a:rPr lang="en-GB" sz="4800" b="1" dirty="0"/>
              <a:t>DIAGRAMS </a:t>
            </a:r>
            <a:r>
              <a:rPr lang="en-GB" sz="4800" b="1" dirty="0" err="1"/>
              <a:t>Cont</a:t>
            </a:r>
            <a:r>
              <a:rPr lang="en-GB" sz="4800" b="1" dirty="0"/>
              <a:t>’</a:t>
            </a:r>
            <a:endParaRPr lang="en-GB" dirty="0"/>
          </a:p>
        </p:txBody>
      </p:sp>
      <p:pic>
        <p:nvPicPr>
          <p:cNvPr id="5122"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74439" y="1700808"/>
            <a:ext cx="7713985" cy="26796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3568" y="4293096"/>
            <a:ext cx="7776864" cy="1728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45658659"/>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212744"/>
          </a:xfrm>
        </p:spPr>
        <p:txBody>
          <a:bodyPr>
            <a:normAutofit fontScale="90000"/>
          </a:bodyPr>
          <a:lstStyle/>
          <a:p>
            <a:r>
              <a:rPr lang="en-GB" sz="4400" b="1" dirty="0" smtClean="0"/>
              <a:t/>
            </a:r>
            <a:br>
              <a:rPr lang="en-GB" sz="4400" b="1" dirty="0" smtClean="0"/>
            </a:br>
            <a:r>
              <a:rPr lang="en-GB" sz="4400" b="1" dirty="0" smtClean="0"/>
              <a:t>ELECTRICAL </a:t>
            </a:r>
            <a:r>
              <a:rPr lang="en-GB" sz="4400" b="1" dirty="0"/>
              <a:t>WORKSHOP TECHNOLOGY  </a:t>
            </a:r>
            <a:r>
              <a:rPr lang="en-GB" dirty="0"/>
              <a:t/>
            </a:r>
            <a:br>
              <a:rPr lang="en-GB" dirty="0"/>
            </a:br>
            <a:endParaRPr lang="en-GB" dirty="0"/>
          </a:p>
        </p:txBody>
      </p:sp>
      <p:sp>
        <p:nvSpPr>
          <p:cNvPr id="3" name="Content Placeholder 2"/>
          <p:cNvSpPr>
            <a:spLocks noGrp="1"/>
          </p:cNvSpPr>
          <p:nvPr>
            <p:ph idx="1"/>
          </p:nvPr>
        </p:nvSpPr>
        <p:spPr>
          <a:xfrm>
            <a:off x="457200" y="1556792"/>
            <a:ext cx="8229600" cy="4767808"/>
          </a:xfrm>
        </p:spPr>
        <p:txBody>
          <a:bodyPr/>
          <a:lstStyle/>
          <a:p>
            <a:pPr marL="0" indent="0">
              <a:buNone/>
            </a:pPr>
            <a:endParaRPr lang="en-GB" b="1" dirty="0" smtClean="0"/>
          </a:p>
          <a:p>
            <a:pPr marL="0" indent="0">
              <a:buNone/>
            </a:pPr>
            <a:endParaRPr lang="en-GB" b="1" dirty="0"/>
          </a:p>
          <a:p>
            <a:pPr marL="0" indent="0">
              <a:buNone/>
            </a:pPr>
            <a:endParaRPr lang="en-GB" b="1" dirty="0" smtClean="0"/>
          </a:p>
          <a:p>
            <a:pPr marL="0" indent="0">
              <a:buNone/>
            </a:pPr>
            <a:endParaRPr lang="en-GB" b="1" dirty="0"/>
          </a:p>
          <a:p>
            <a:pPr marL="0" indent="0" algn="ctr">
              <a:buNone/>
            </a:pPr>
            <a:r>
              <a:rPr lang="en-GB" sz="3200" b="1" i="1" dirty="0" smtClean="0">
                <a:latin typeface="Algerian" pitchFamily="82" charset="0"/>
              </a:rPr>
              <a:t>THANK </a:t>
            </a:r>
            <a:r>
              <a:rPr lang="en-GB" sz="3200" b="1" i="1" dirty="0">
                <a:latin typeface="Algerian" pitchFamily="82" charset="0"/>
              </a:rPr>
              <a:t>YOU FOR YOUR ATTANDENCE </a:t>
            </a:r>
          </a:p>
          <a:p>
            <a:pPr marL="0" indent="0">
              <a:buNone/>
            </a:pPr>
            <a:endParaRPr lang="en-GB" dirty="0"/>
          </a:p>
        </p:txBody>
      </p:sp>
    </p:spTree>
    <p:extLst>
      <p:ext uri="{BB962C8B-B14F-4D97-AF65-F5344CB8AC3E}">
        <p14:creationId xmlns:p14="http://schemas.microsoft.com/office/powerpoint/2010/main" val="192794638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scene3d>
            <a:camera prst="orthographicFront">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802</TotalTime>
  <Words>2876</Words>
  <Application>Microsoft Office PowerPoint</Application>
  <PresentationFormat>On-screen Show (4:3)</PresentationFormat>
  <Paragraphs>314</Paragraphs>
  <Slides>64</Slides>
  <Notes>2</Notes>
  <HiddenSlides>0</HiddenSlides>
  <MMClips>0</MMClips>
  <ScaleCrop>false</ScaleCrop>
  <HeadingPairs>
    <vt:vector size="4" baseType="variant">
      <vt:variant>
        <vt:lpstr>Theme</vt:lpstr>
      </vt:variant>
      <vt:variant>
        <vt:i4>1</vt:i4>
      </vt:variant>
      <vt:variant>
        <vt:lpstr>Slide Titles</vt:lpstr>
      </vt:variant>
      <vt:variant>
        <vt:i4>64</vt:i4>
      </vt:variant>
    </vt:vector>
  </HeadingPairs>
  <TitlesOfParts>
    <vt:vector size="65" baseType="lpstr">
      <vt:lpstr>Flow</vt:lpstr>
      <vt:lpstr>PowerPoint Presentation</vt:lpstr>
      <vt:lpstr> MODULE: WORKSHOP TECHNOLOGY</vt:lpstr>
      <vt:lpstr>INTRODUCTION</vt:lpstr>
      <vt:lpstr>INTRODUCTION  Con,t</vt:lpstr>
      <vt:lpstr>INTRODUCTION  Con,t</vt:lpstr>
      <vt:lpstr>SAFETY</vt:lpstr>
      <vt:lpstr>Examples of equipment that work on electricity</vt:lpstr>
      <vt:lpstr>Examples of the dangers of electricity</vt:lpstr>
      <vt:lpstr> Home Safety</vt:lpstr>
      <vt:lpstr>    Home Safety Con’t</vt:lpstr>
      <vt:lpstr>Home Safety Con’t</vt:lpstr>
      <vt:lpstr>Home Safety Con’t</vt:lpstr>
      <vt:lpstr>Home Safety Con’t</vt:lpstr>
      <vt:lpstr>OUTDOOR SAFETY</vt:lpstr>
      <vt:lpstr>OUTDOOR SAFETY Con’t</vt:lpstr>
      <vt:lpstr>OUTDOOR SAFETY Con’t</vt:lpstr>
      <vt:lpstr>OUTDOOR SAFETY Con’t</vt:lpstr>
      <vt:lpstr> LABS &amp; WORKSHOPS SAFETY</vt:lpstr>
      <vt:lpstr>LABS &amp; WORKSHOPS SAFETY Con’t</vt:lpstr>
      <vt:lpstr>LABS &amp; WORKSHOPS SAFETY Con’t</vt:lpstr>
      <vt:lpstr>LABS &amp; WORKSHOPS SAFETY Con’t</vt:lpstr>
      <vt:lpstr>LABS &amp; WORKSHOPS SAFETY Con’t</vt:lpstr>
      <vt:lpstr>LABS &amp; WORKSHOPS SAFETY Con’t</vt:lpstr>
      <vt:lpstr> ELECTRIC SHOCK</vt:lpstr>
      <vt:lpstr>ELECTRIC SHOCK Cont’</vt:lpstr>
      <vt:lpstr>ELECTRIC SHOCK Cont’</vt:lpstr>
      <vt:lpstr>ELECTRIC SHOCK Cont’</vt:lpstr>
      <vt:lpstr>ELECTRIC SHOCK Cont’</vt:lpstr>
      <vt:lpstr> FIRE EXTINGUISHERS </vt:lpstr>
      <vt:lpstr>FIRE EXTINGUISHERS  Cont’</vt:lpstr>
      <vt:lpstr>FIRE EXTINGUISHERS  Cont’</vt:lpstr>
      <vt:lpstr> INTRODUCTION TO ELECTRICITY</vt:lpstr>
      <vt:lpstr>INTRODUCTION TO ELECTRICITY Cont’</vt:lpstr>
      <vt:lpstr>INTRODUCTION TO ELECTRICITY Cont’</vt:lpstr>
      <vt:lpstr>INTRODUCTION TO ELECTRICITY Cont’</vt:lpstr>
      <vt:lpstr>INTRODUCTION TO ELECTRICITY Cont’</vt:lpstr>
      <vt:lpstr>INTRODUCTION TO ELECTRICITY Cont’</vt:lpstr>
      <vt:lpstr>INTRODUCTION TO ELECTRICITY Cont’</vt:lpstr>
      <vt:lpstr>INTRODUCTION TO ELECTRICITY Cont’</vt:lpstr>
      <vt:lpstr>INTRODUCTION TO ELECTRICITY Cont’</vt:lpstr>
      <vt:lpstr>INTRODUCTION TO ELECTRICITY Cont’</vt:lpstr>
      <vt:lpstr>INTRODUCTION TO ELECTRICITY Cont’</vt:lpstr>
      <vt:lpstr>INTRODUCTION TO ELECTRICITY Cont’</vt:lpstr>
      <vt:lpstr>INTRODUCTION TO ELECTRICITY Cont’</vt:lpstr>
      <vt:lpstr>INTRODUCTION TO ELECTRICITY Cont’</vt:lpstr>
      <vt:lpstr>INTRODUCTION TO ELECTRICITY Cont’</vt:lpstr>
      <vt:lpstr>INTRODUCTION TO ELECTRICITY Cont’</vt:lpstr>
      <vt:lpstr>INTRODUCTION TO ELECTRICITY Cont’</vt:lpstr>
      <vt:lpstr>INTRODUCTION TO ELECTRICITY Cont’</vt:lpstr>
      <vt:lpstr>INTRODUCTION TO ELECTRICITY Cont’</vt:lpstr>
      <vt:lpstr>INTRODUCTION TO ELECTRICITY Cont’</vt:lpstr>
      <vt:lpstr>ELECTRICAL HAND TOOLS</vt:lpstr>
      <vt:lpstr>ELECTRICAL HAND TOOLS Cont’</vt:lpstr>
      <vt:lpstr>ELECTRICAL HAND TOOLS Cont’</vt:lpstr>
      <vt:lpstr>ELECTRICAL HAND TOOLS Cont’</vt:lpstr>
      <vt:lpstr>  ELECTRICAL DIAGRAMS</vt:lpstr>
      <vt:lpstr>ELECTRICAL DIAGRAMS Cont’</vt:lpstr>
      <vt:lpstr>ELECTRICAL DIAGRAMS Cont’</vt:lpstr>
      <vt:lpstr>ELECTRICAL DIAGRAMS Cont’</vt:lpstr>
      <vt:lpstr>ELECTRICAL DIAGRAMS Cont’</vt:lpstr>
      <vt:lpstr>ELECTRICAL DIAGRAMS Cont’</vt:lpstr>
      <vt:lpstr>ELECTRICAL DIAGRAMS Cont’</vt:lpstr>
      <vt:lpstr>  ELECTRICAL DIAGRAMS Cont’</vt:lpstr>
      <vt:lpstr> ELECTRICAL WORKSHOP TECHNOLOGY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Silas</cp:lastModifiedBy>
  <cp:revision>71</cp:revision>
  <dcterms:created xsi:type="dcterms:W3CDTF">2017-09-29T07:23:26Z</dcterms:created>
  <dcterms:modified xsi:type="dcterms:W3CDTF">2022-07-11T12:25:45Z</dcterms:modified>
</cp:coreProperties>
</file>