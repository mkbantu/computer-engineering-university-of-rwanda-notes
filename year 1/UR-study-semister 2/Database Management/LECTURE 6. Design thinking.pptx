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92" r:id="rId2"/>
    <p:sldId id="534" r:id="rId3"/>
    <p:sldId id="505" r:id="rId4"/>
    <p:sldId id="506" r:id="rId5"/>
    <p:sldId id="535" r:id="rId6"/>
    <p:sldId id="536" r:id="rId7"/>
    <p:sldId id="537" r:id="rId8"/>
    <p:sldId id="538" r:id="rId9"/>
    <p:sldId id="539" r:id="rId10"/>
    <p:sldId id="542" r:id="rId11"/>
    <p:sldId id="540" r:id="rId12"/>
    <p:sldId id="54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2" autoAdjust="0"/>
    <p:restoredTop sz="94660"/>
  </p:normalViewPr>
  <p:slideViewPr>
    <p:cSldViewPr snapToGrid="0">
      <p:cViewPr varScale="1">
        <p:scale>
          <a:sx n="92" d="100"/>
          <a:sy n="92" d="100"/>
        </p:scale>
        <p:origin x="51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40122-A9E1-41C8-8A04-102D2F3D2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3CA05B-520E-409B-974D-051D5E39F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2E09C-9E3A-4648-9D1C-D350AC506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F28-550F-4173-99E4-5A4FB44F40C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13337-3CAE-4676-953C-E580138EF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6DC79-DE60-41C2-8F04-9AF4B6639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64B7-E5F5-46C8-BD98-DF3D9C7EC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62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4943D-F18A-4BD8-A8CB-34ED8F7BE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82EFF-98DA-4367-9AF6-7154B034E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20D93-BF5D-4D0C-8809-5A9B9678C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F28-550F-4173-99E4-5A4FB44F40C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191E7-CA4F-46F5-8E73-A697E01A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C676F-B9BD-43E1-9F4E-A62B5B219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64B7-E5F5-46C8-BD98-DF3D9C7EC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7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0C78C-083F-462E-8C30-705E3C857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77F37-1C7E-466B-B61F-CC0362C97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5A3DF-224F-4C15-A33D-FDE3CFE3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F28-550F-4173-99E4-5A4FB44F40C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BFC8C-C4BF-4DEE-A488-68704C79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3306F-56CD-4A88-973E-29A273A4B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64B7-E5F5-46C8-BD98-DF3D9C7EC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24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164E3-6C36-429D-AE91-535BE2D8E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9CA8F-01C9-4060-887A-B5DE3181C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0F725-9462-48F3-B7A8-B77766031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7551-8EA2-4128-A1F6-F764D1F43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F28-550F-4173-99E4-5A4FB44F40C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F8FD3-62F8-4991-80AC-1976B281E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BB222-8405-400E-8259-1DC18FEA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64B7-E5F5-46C8-BD98-DF3D9C7EC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6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2E231-C69A-4C28-8E98-7F28C4BAD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4EA62-3A4B-45D1-A870-FDC6A68BF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E543D-212D-41F7-B004-36FFAAD7E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C5BD3-95EC-43AE-B077-A77442333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BEAAC-7523-4EC6-B17E-53D08A540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360AB8-1885-4BB8-8F56-8F7C4B8FC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F28-550F-4173-99E4-5A4FB44F40C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CFFD11-D529-4496-8511-D7884CF1F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668AC9-73A9-479B-B254-27071F006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64B7-E5F5-46C8-BD98-DF3D9C7EC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38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FF36-C03B-4E75-AC67-F18A49E2F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5B2C33-5B81-410C-A50B-5E7325BCF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F28-550F-4173-99E4-5A4FB44F40C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36DC9-94A3-4C07-80DF-3CC22D08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75376-ADA0-4C39-A538-558FB984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64B7-E5F5-46C8-BD98-DF3D9C7EC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80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C56BDA-E788-4691-9221-5BADD8041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F28-550F-4173-99E4-5A4FB44F40C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12C695-A854-4539-A87E-F2394E668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F0659-AFBE-4390-B576-F4FFFC1E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64B7-E5F5-46C8-BD98-DF3D9C7EC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98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DF7E0-E800-425C-B2B6-FA8D7FE46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EE1A4-207B-4CFA-BD7F-843C270EF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E6F0FC-CAD6-4BFA-92DD-E40118480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BCFDB-4A8C-4E9C-BA1D-599361DD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F28-550F-4173-99E4-5A4FB44F40C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917EB-F1E7-4FDE-8767-DEA563130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71798-D668-4712-B3D3-CC51C10D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64B7-E5F5-46C8-BD98-DF3D9C7EC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104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907FB-AF61-44DA-803D-1BEC8838B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FD576A-B8CE-4475-80BB-31D4E04D9D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81C0C-52BC-458C-9BEF-A35B01EB6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2CDE6-ED3F-4D48-BDFE-00CE16488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F28-550F-4173-99E4-5A4FB44F40C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21AA3-28F0-49BB-83E4-944F5F641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710EF-04F3-470A-82B5-E73498391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64B7-E5F5-46C8-BD98-DF3D9C7EC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687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29D85-6B36-4DA1-9943-95BF330F3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E8D253-999C-4604-B95B-8FAED0F22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AB699-8BC3-4395-AC4A-BC5F737A6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F28-550F-4173-99E4-5A4FB44F40C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2FB02-F276-40EE-A70D-39B40E312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8A97E-D1F0-4707-AF79-7A82C5DFC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64B7-E5F5-46C8-BD98-DF3D9C7EC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51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E4A76F-8BE5-496B-B83B-85DDA0EDD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02D61-A313-4972-9193-F2BBC3A14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98B35-0B1E-4D06-B56E-414E80AB7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FF28-550F-4173-99E4-5A4FB44F40C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41366-9745-44F9-BD62-BE654F1B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6F075-C566-49FD-A30B-DFA4F1F88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64B7-E5F5-46C8-BD98-DF3D9C7EC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9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5D6A36-B395-4656-BCC7-6E1711CF0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C5E25-8EED-47D5-BDE8-3B4B1BB19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8203E-9AAF-4375-8F94-4C4DC099E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9FF28-550F-4173-99E4-5A4FB44F40C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F838F-3CF0-423C-8F6A-7791F4BF14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D2981-2C8F-4823-9494-A5A76A489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364B7-E5F5-46C8-BD98-DF3D9C7EC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242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FEooFjjq6w&amp;list=PL4-WOrA-_ookd31x7MKJ4UEHoh9gph7iE" TargetMode="External"/><Relationship Id="rId2" Type="http://schemas.openxmlformats.org/officeDocument/2006/relationships/hyperlink" Target="https://www.youtube.com/watch?v=4nTh3AP6kn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9E045E87-4851-E6D9-2326-48E340685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3001962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 6: Design Thinking for Customer Delight</a:t>
            </a: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E5E14-6ED8-3E33-ADDF-161DB83B1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819401"/>
            <a:ext cx="8229600" cy="330676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b="1" i="1" u="sng" dirty="0">
                <a:solidFill>
                  <a:srgbClr val="0070C0"/>
                </a:solidFill>
              </a:rPr>
              <a:t>Learning Objectives</a:t>
            </a:r>
            <a:r>
              <a:rPr lang="en-US" i="1" u="sng" dirty="0">
                <a:solidFill>
                  <a:srgbClr val="0070C0"/>
                </a:solidFill>
              </a:rPr>
              <a:t>:</a:t>
            </a:r>
            <a:r>
              <a:rPr lang="en-US" i="1" u="sng" dirty="0"/>
              <a:t> </a:t>
            </a:r>
          </a:p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Design Thinking process.</a:t>
            </a:r>
          </a:p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Design Thinking as a problem-solving process.</a:t>
            </a:r>
          </a:p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principles of Design Thinking.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6744-3E08-EB07-B8D2-5E3BBE354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EC85C-1253-06BB-653E-D035E295F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highlight>
                  <a:srgbClr val="FFFF00"/>
                </a:highlight>
                <a:hlinkClick r:id="rId2"/>
              </a:rPr>
              <a:t>Summery video for design thinking</a:t>
            </a:r>
          </a:p>
          <a:p>
            <a:r>
              <a:rPr lang="en-US" dirty="0">
                <a:hlinkClick r:id="rId3"/>
              </a:rPr>
              <a:t>What is Design Thinking (</a:t>
            </a:r>
            <a:r>
              <a:rPr lang="en-US" dirty="0" err="1">
                <a:hlinkClick r:id="rId3"/>
              </a:rPr>
              <a:t>youtube.com</a:t>
            </a:r>
            <a:r>
              <a:rPr lang="en-US" dirty="0">
                <a:hlinkClick r:id="rId3"/>
              </a:rPr>
              <a:t>)</a:t>
            </a:r>
            <a:endParaRPr lang="en-US" dirty="0"/>
          </a:p>
          <a:p>
            <a:r>
              <a:rPr lang="en-US" b="1" dirty="0">
                <a:highlight>
                  <a:srgbClr val="FFFF00"/>
                </a:highlight>
                <a:hlinkClick r:id="rId2"/>
              </a:rPr>
              <a:t>Detailed video on design thinking:</a:t>
            </a:r>
          </a:p>
          <a:p>
            <a:r>
              <a:rPr lang="en-US" dirty="0">
                <a:hlinkClick r:id="rId2"/>
              </a:rPr>
              <a:t>Design Thinking Full Course | Design Thinking Process | Design Thinking For Beginners | Simplilearn (</a:t>
            </a:r>
            <a:r>
              <a:rPr lang="en-US" dirty="0" err="1">
                <a:hlinkClick r:id="rId2"/>
              </a:rPr>
              <a:t>youtube.com</a:t>
            </a:r>
            <a:r>
              <a:rPr lang="en-US" dirty="0">
                <a:hlinkClick r:id="rId2"/>
              </a:rPr>
              <a:t>)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2094378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3751252A-9FF2-9398-0F0A-AAF018C41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endParaRPr lang="en-US" altLang="en-US" sz="4000"/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F15CAFCD-DF1F-1DD7-7E45-94CAC0781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thinking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that you can apply to solve a problem that people face or to create what people want or need, it can also be used to redesign or improve the process</a:t>
            </a: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delight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way of letting your customers to be with positive emotions about your products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5AF908AE-E914-8208-5573-96A1E2907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704850"/>
            <a:ext cx="8763000" cy="666750"/>
          </a:xfrm>
        </p:spPr>
        <p:txBody>
          <a:bodyPr/>
          <a:lstStyle/>
          <a:p>
            <a:r>
              <a:rPr lang="en-US" alt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Thinking </a:t>
            </a:r>
            <a:r>
              <a:rPr lang="en-US" alt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endParaRPr lang="en-US" altLang="en-US" sz="4000" b="1" dirty="0"/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2E68BF0F-00FB-49C5-9F5C-E918EE29D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Step 1- Empathy mode-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user’s needs</a:t>
            </a:r>
          </a:p>
          <a:p>
            <a:pPr marL="0" indent="0" algn="just"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Step 2- Define mode-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spend time on the information you collected from step 1</a:t>
            </a:r>
          </a:p>
          <a:p>
            <a:pPr marL="0" indent="0" algn="just"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Step 3- Ideate mode-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generate ideas in sessions</a:t>
            </a:r>
          </a:p>
          <a:p>
            <a:pPr marL="0" indent="0" algn="just"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Step 4- Prototype mode-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simple experimentation to test and validate ideas, design assumptions, and other aspects</a:t>
            </a:r>
          </a:p>
          <a:p>
            <a:pPr marL="0" indent="0" algn="just"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Step 5- Testing and evaluating mode-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132AE-9290-4EA8-AEB3-AE002B2DA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Empathize – Understanding User Needs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0F57A-279F-44EB-82C6-39CBF925C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984" y="1210962"/>
            <a:ext cx="10834816" cy="5281913"/>
          </a:xfrm>
        </p:spPr>
        <p:txBody>
          <a:bodyPr>
            <a:normAutofit fontScale="92500"/>
          </a:bodyPr>
          <a:lstStyle/>
          <a:p>
            <a:r>
              <a:rPr lang="en-US" dirty="0"/>
              <a:t>Develop a deep understanding of the users, their experiences, and their problems.</a:t>
            </a:r>
          </a:p>
          <a:p>
            <a:pPr marL="0" indent="0">
              <a:buNone/>
            </a:pPr>
            <a:r>
              <a:rPr lang="en-US" b="1" dirty="0"/>
              <a:t>Methods:</a:t>
            </a:r>
          </a:p>
          <a:p>
            <a:r>
              <a:rPr lang="en-US" dirty="0"/>
              <a:t>Conduct user interviews to gather firsthand experiences.</a:t>
            </a:r>
          </a:p>
          <a:p>
            <a:r>
              <a:rPr lang="en-US" dirty="0"/>
              <a:t>Observe users in their natural environment to understand their </a:t>
            </a:r>
            <a:r>
              <a:rPr lang="en-US" dirty="0" err="1"/>
              <a:t>behaviours</a:t>
            </a:r>
            <a:r>
              <a:rPr lang="en-US" dirty="0"/>
              <a:t>.</a:t>
            </a:r>
          </a:p>
          <a:p>
            <a:r>
              <a:rPr lang="en-US" dirty="0"/>
              <a:t>Use surveys and questionnaires to collect broader feedback.</a:t>
            </a:r>
          </a:p>
          <a:p>
            <a:r>
              <a:rPr lang="en-US" dirty="0"/>
              <a:t>Create empathy maps to visualize user pain points and motivations.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r>
              <a:rPr lang="en-US" b="1" dirty="0"/>
              <a:t>Healthcare (Telemedicine App Design)</a:t>
            </a:r>
            <a:r>
              <a:rPr lang="en-US" dirty="0"/>
              <a:t> – A team developing a telemedicine app interviews elderly patients to understand their struggles with technology. They observe that many seniors have difficulty navigating complex app interfaces and remembering passwords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00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A0D16-3EBC-481C-89C4-6988F5F4C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632"/>
            <a:ext cx="10515600" cy="71669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/>
              <a:t>2. Define – Identifying the Core Problem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C6269-5F77-43BE-9E06-AFEFD8AAE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130" y="1050323"/>
            <a:ext cx="10933670" cy="512664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Make user research insights into a clear, well-defined problem statement.</a:t>
            </a:r>
          </a:p>
          <a:p>
            <a:pPr marL="0" indent="0">
              <a:buNone/>
            </a:pPr>
            <a:r>
              <a:rPr lang="en-US" b="1" dirty="0"/>
              <a:t>Methods:</a:t>
            </a:r>
          </a:p>
          <a:p>
            <a:r>
              <a:rPr lang="en-US" dirty="0"/>
              <a:t>Identify patterns and pain points from the empathize phase.</a:t>
            </a:r>
          </a:p>
          <a:p>
            <a:r>
              <a:rPr lang="en-US" dirty="0"/>
              <a:t>Use point-of-view (</a:t>
            </a:r>
            <a:r>
              <a:rPr lang="en-US" dirty="0" err="1"/>
              <a:t>POV</a:t>
            </a:r>
            <a:r>
              <a:rPr lang="en-US" dirty="0"/>
              <a:t>) statements to frame problems from the user’s perspective.</a:t>
            </a:r>
          </a:p>
          <a:p>
            <a:r>
              <a:rPr lang="en-US" dirty="0"/>
              <a:t>Develop problem statements that focus on user needs.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r>
              <a:rPr lang="en-US" b="1" dirty="0"/>
              <a:t>E-Commerce</a:t>
            </a:r>
            <a:r>
              <a:rPr lang="en-US" dirty="0"/>
              <a:t> – An online store notices that customers abandon their shopping carts at the payment stage. After analyzing feedback, they define the problem as:</a:t>
            </a:r>
            <a:br>
              <a:rPr lang="en-US" dirty="0"/>
            </a:br>
            <a:r>
              <a:rPr lang="en-US" i="1" dirty="0"/>
              <a:t>"Customers find the checkout process confusing and are unsure about hidden fees, leading to abandoned carts."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741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60501-09E0-4255-995B-D1C1A5016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2205"/>
          </a:xfrm>
        </p:spPr>
        <p:txBody>
          <a:bodyPr>
            <a:noAutofit/>
          </a:bodyPr>
          <a:lstStyle/>
          <a:p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/>
              <a:t>3. Ideate – Generating Creative Solutions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E7509-649C-4FC5-912D-8E946DB3D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968"/>
            <a:ext cx="10515600" cy="5138995"/>
          </a:xfrm>
        </p:spPr>
        <p:txBody>
          <a:bodyPr>
            <a:normAutofit/>
          </a:bodyPr>
          <a:lstStyle/>
          <a:p>
            <a:r>
              <a:rPr lang="en-US" dirty="0"/>
              <a:t>Brainstorm multiple innovative solutions without judgment.</a:t>
            </a:r>
          </a:p>
          <a:p>
            <a:pPr marL="0" indent="0">
              <a:buNone/>
            </a:pPr>
            <a:r>
              <a:rPr lang="en-US" b="1" dirty="0"/>
              <a:t>Methods:</a:t>
            </a:r>
          </a:p>
          <a:p>
            <a:r>
              <a:rPr lang="en-US" dirty="0"/>
              <a:t>Brainstorming sessions to generate as many ideas as possible.</a:t>
            </a:r>
          </a:p>
          <a:p>
            <a:r>
              <a:rPr lang="en-US" dirty="0"/>
              <a:t>Mind mapping to visually organize ideas.</a:t>
            </a:r>
          </a:p>
          <a:p>
            <a:r>
              <a:rPr lang="en-US" dirty="0"/>
              <a:t>SCAMPER technique (Substitute, Combine, Adapt, Modify, Put to another use, Eliminate, Reverse) to rethink existing solutions.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r>
              <a:rPr lang="en-US" b="1" dirty="0"/>
              <a:t>Automobile Industry </a:t>
            </a:r>
            <a:r>
              <a:rPr lang="en-US" dirty="0"/>
              <a:t>– A car manufacturer wants to improve driver safety. In brainstorming sessions, designers propose </a:t>
            </a:r>
            <a:r>
              <a:rPr lang="en-US" dirty="0">
                <a:solidFill>
                  <a:srgbClr val="FF0000"/>
                </a:solidFill>
              </a:rPr>
              <a:t>ideas like AI-powered collision alerts, auto-braking systems, and driver fatigue detection using eye-tracking cameras.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117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9753E-0362-40E1-A923-2AD3392AF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Prototype – Creating Tangible Solutions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46B7F-7A94-432F-A7DA-582ED4772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459"/>
            <a:ext cx="10515600" cy="4879504"/>
          </a:xfrm>
        </p:spPr>
        <p:txBody>
          <a:bodyPr>
            <a:normAutofit/>
          </a:bodyPr>
          <a:lstStyle/>
          <a:p>
            <a:r>
              <a:rPr lang="en-US" dirty="0"/>
              <a:t>Develop low-cost, simple models of potential solutions to test ideas quickly.</a:t>
            </a:r>
          </a:p>
          <a:p>
            <a:pPr marL="0" indent="0">
              <a:buNone/>
            </a:pPr>
            <a:r>
              <a:rPr lang="en-US" b="1" dirty="0"/>
              <a:t>Methods:</a:t>
            </a:r>
          </a:p>
          <a:p>
            <a:r>
              <a:rPr lang="en-US" dirty="0"/>
              <a:t>Paper sketches and wireframes for digital products.</a:t>
            </a:r>
          </a:p>
          <a:p>
            <a:r>
              <a:rPr lang="en-US" dirty="0"/>
              <a:t>Mockups and models for physical products.</a:t>
            </a:r>
          </a:p>
          <a:p>
            <a:r>
              <a:rPr lang="en-US" dirty="0"/>
              <a:t>Role-playing to simulate user experiences.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r>
              <a:rPr lang="en-US" b="1" dirty="0"/>
              <a:t>Education Technology</a:t>
            </a:r>
            <a:r>
              <a:rPr lang="en-US" dirty="0"/>
              <a:t> – A team designing an interactive learning app creates a clickable prototype using </a:t>
            </a:r>
            <a:r>
              <a:rPr lang="en-US" dirty="0" err="1"/>
              <a:t>Figma</a:t>
            </a:r>
            <a:r>
              <a:rPr lang="en-US" dirty="0"/>
              <a:t>. They test different layouts and navigation flows before developing the full version.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881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5B064-CD01-4040-958C-80C903E25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Test – Refining Through User Feedback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EABF1-ECD3-41E6-8450-D814135CC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0962"/>
            <a:ext cx="10515600" cy="4966001"/>
          </a:xfrm>
        </p:spPr>
        <p:txBody>
          <a:bodyPr>
            <a:normAutofit/>
          </a:bodyPr>
          <a:lstStyle/>
          <a:p>
            <a:r>
              <a:rPr lang="en-US" dirty="0"/>
              <a:t>Validate and refine solutions based on real user feedback.</a:t>
            </a:r>
          </a:p>
          <a:p>
            <a:pPr marL="0" indent="0">
              <a:buNone/>
            </a:pPr>
            <a:r>
              <a:rPr lang="en-US" b="1" dirty="0"/>
              <a:t>Methods:</a:t>
            </a:r>
          </a:p>
          <a:p>
            <a:r>
              <a:rPr lang="en-US" dirty="0"/>
              <a:t>Conduct usability testing with real users.</a:t>
            </a:r>
          </a:p>
          <a:p>
            <a:r>
              <a:rPr lang="en-US" dirty="0"/>
              <a:t>Observe how users interact with the prototype.</a:t>
            </a:r>
          </a:p>
          <a:p>
            <a:r>
              <a:rPr lang="en-US" dirty="0"/>
              <a:t>Gather qualitative and quantitative feedback to make improvements.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r>
              <a:rPr lang="en-US" b="1" dirty="0"/>
              <a:t>Fast Food Industry</a:t>
            </a:r>
            <a:r>
              <a:rPr lang="en-US" dirty="0"/>
              <a:t> – McDonald’s tested self-order kiosks in selected locations to understand if customers preferred them over traditional counter service. After positive feedback, they scaled the solution globally.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55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55EF-63F6-4349-B4A3-07D4D186A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Principles of Design Thinking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689A7-C1BE-479F-9A56-362C883E3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Human-Centered Approach</a:t>
            </a:r>
            <a:r>
              <a:rPr lang="en-US" dirty="0"/>
              <a:t> – Focuses on solving real-world problems by prioritizing user needs, experiences, and emotions.</a:t>
            </a:r>
          </a:p>
          <a:p>
            <a:r>
              <a:rPr lang="en-US" b="1" dirty="0"/>
              <a:t>Collaboration</a:t>
            </a:r>
            <a:r>
              <a:rPr lang="en-US" dirty="0"/>
              <a:t> – Encourages diverse teams to bring different perspectives to problem-solving.</a:t>
            </a:r>
          </a:p>
          <a:p>
            <a:r>
              <a:rPr lang="en-US" b="1" dirty="0"/>
              <a:t>Experimentation &amp; Iteration</a:t>
            </a:r>
            <a:r>
              <a:rPr lang="en-US" dirty="0"/>
              <a:t> – Involves prototyping, testing, and refining solutions based on feedback.</a:t>
            </a:r>
          </a:p>
          <a:p>
            <a:r>
              <a:rPr lang="en-US" b="1" dirty="0"/>
              <a:t>Empathy</a:t>
            </a:r>
            <a:r>
              <a:rPr lang="en-US" dirty="0"/>
              <a:t> – Requires designers to deeply understand and connect with the end-users.</a:t>
            </a:r>
          </a:p>
          <a:p>
            <a:r>
              <a:rPr lang="en-US" b="1" dirty="0"/>
              <a:t>Problem Reframing</a:t>
            </a:r>
            <a:r>
              <a:rPr lang="en-US" dirty="0"/>
              <a:t> – Encourages looking at problems from different angles to find innovative solutions.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408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19337-B680-480C-B4DB-BE7A873B6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is Design Thinking Important?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A6A99-ECE8-4F5F-911E-40B78FFAC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103"/>
            <a:ext cx="10515600" cy="4891860"/>
          </a:xfrm>
        </p:spPr>
        <p:txBody>
          <a:bodyPr>
            <a:normAutofit/>
          </a:bodyPr>
          <a:lstStyle/>
          <a:p>
            <a:r>
              <a:rPr lang="en-US" sz="3200" dirty="0"/>
              <a:t>Promotes innovation by exploring multiple possibilities.</a:t>
            </a:r>
          </a:p>
          <a:p>
            <a:r>
              <a:rPr lang="en-US" sz="3200" dirty="0"/>
              <a:t>Enhances user experience by focusing on human needs.</a:t>
            </a:r>
          </a:p>
          <a:p>
            <a:r>
              <a:rPr lang="en-US" sz="3200" dirty="0"/>
              <a:t>Encourages agility and flexibility in problem-solving.</a:t>
            </a:r>
          </a:p>
          <a:p>
            <a:r>
              <a:rPr lang="en-US" sz="3200" dirty="0"/>
              <a:t>Helps organizations reduce risk by validating ideas before full-scale implementation.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3645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CC30-F8CD-4244-B100-9BD4BD21A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 of Design Thinking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AAEA3-066E-41BA-A97C-D3627104C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Technology &amp; Product Development (e.g., Apple, Google)</a:t>
            </a:r>
          </a:p>
          <a:p>
            <a:r>
              <a:rPr lang="en-US" dirty="0"/>
              <a:t>Healthcare Innovations (e.g., Patient-centered solutions)</a:t>
            </a:r>
          </a:p>
          <a:p>
            <a:r>
              <a:rPr lang="en-US" dirty="0"/>
              <a:t>Business Strategy &amp; Services (e.g., Customer experience design)</a:t>
            </a:r>
          </a:p>
          <a:p>
            <a:r>
              <a:rPr lang="en-US" dirty="0"/>
              <a:t>Social Impact &amp; Policy Making (e.g., Designing public services)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857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810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Lesson 6: Design Thinking for Customer Delight </vt:lpstr>
      <vt:lpstr>PowerPoint Presentation</vt:lpstr>
      <vt:lpstr>Meaning</vt:lpstr>
      <vt:lpstr>Design Thinking processes</vt:lpstr>
      <vt:lpstr>1. Empathize – Understanding User Needs </vt:lpstr>
      <vt:lpstr> 2. Define – Identifying the Core Problem </vt:lpstr>
      <vt:lpstr> 3. Ideate – Generating Creative Solutions </vt:lpstr>
      <vt:lpstr>4. Prototype – Creating Tangible Solutions </vt:lpstr>
      <vt:lpstr>5. Test – Refining Through User Feedback </vt:lpstr>
      <vt:lpstr>Key Principles of Design Thinking </vt:lpstr>
      <vt:lpstr>Why is Design Thinking Important? </vt:lpstr>
      <vt:lpstr>Applications of Design Thinking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m&amp;n technology</dc:creator>
  <cp:lastModifiedBy>PC</cp:lastModifiedBy>
  <cp:revision>25</cp:revision>
  <dcterms:created xsi:type="dcterms:W3CDTF">2025-02-27T10:36:34Z</dcterms:created>
  <dcterms:modified xsi:type="dcterms:W3CDTF">2026-06-08T17:43:24Z</dcterms:modified>
</cp:coreProperties>
</file>