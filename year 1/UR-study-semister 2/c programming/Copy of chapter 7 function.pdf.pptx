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8" r:id="rId3"/>
    <p:sldId id="259" r:id="rId4"/>
    <p:sldId id="264" r:id="rId5"/>
    <p:sldId id="260" r:id="rId6"/>
    <p:sldId id="261" r:id="rId7"/>
    <p:sldId id="265" r:id="rId8"/>
    <p:sldId id="266" r:id="rId9"/>
    <p:sldId id="257" r:id="rId10"/>
    <p:sldId id="273" r:id="rId11"/>
    <p:sldId id="267" r:id="rId12"/>
    <p:sldId id="263" r:id="rId13"/>
    <p:sldId id="274" r:id="rId14"/>
    <p:sldId id="275" r:id="rId15"/>
    <p:sldId id="269" r:id="rId16"/>
    <p:sldId id="270" r:id="rId17"/>
    <p:sldId id="272" r:id="rId18"/>
    <p:sldId id="271" r:id="rId19"/>
    <p:sldId id="280" r:id="rId20"/>
    <p:sldId id="305" r:id="rId21"/>
    <p:sldId id="311" r:id="rId22"/>
    <p:sldId id="312" r:id="rId23"/>
    <p:sldId id="319" r:id="rId24"/>
    <p:sldId id="313" r:id="rId25"/>
    <p:sldId id="316" r:id="rId26"/>
    <p:sldId id="314" r:id="rId27"/>
    <p:sldId id="317" r:id="rId28"/>
    <p:sldId id="315" r:id="rId29"/>
    <p:sldId id="318" r:id="rId30"/>
    <p:sldId id="307" r:id="rId31"/>
    <p:sldId id="308" r:id="rId32"/>
    <p:sldId id="309" r:id="rId33"/>
    <p:sldId id="310" r:id="rId34"/>
    <p:sldId id="303" r:id="rId35"/>
    <p:sldId id="304" r:id="rId36"/>
    <p:sldId id="279" r:id="rId37"/>
    <p:sldId id="281" r:id="rId38"/>
    <p:sldId id="282" r:id="rId39"/>
    <p:sldId id="285" r:id="rId40"/>
    <p:sldId id="286" r:id="rId41"/>
    <p:sldId id="283" r:id="rId42"/>
    <p:sldId id="284" r:id="rId43"/>
    <p:sldId id="287" r:id="rId44"/>
    <p:sldId id="288" r:id="rId45"/>
    <p:sldId id="289" r:id="rId46"/>
    <p:sldId id="290" r:id="rId47"/>
    <p:sldId id="291" r:id="rId48"/>
    <p:sldId id="292" r:id="rId49"/>
    <p:sldId id="293" r:id="rId50"/>
    <p:sldId id="294" r:id="rId51"/>
    <p:sldId id="295" r:id="rId52"/>
    <p:sldId id="296" r:id="rId53"/>
    <p:sldId id="298" r:id="rId54"/>
    <p:sldId id="299" r:id="rId55"/>
    <p:sldId id="300" r:id="rId56"/>
    <p:sldId id="301" r:id="rId57"/>
    <p:sldId id="302"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48" y="3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2B38C4-8748-4EFF-84DC-4C3602325DD8}" type="datetimeFigureOut">
              <a:rPr lang="en-US" smtClean="0"/>
              <a:pPr/>
              <a:t>6/28/2026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75D279-AF63-4653-A730-8468BD916E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75D279-AF63-4653-A730-8468BD916E3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defined</a:t>
            </a:r>
            <a:endParaRPr lang="en-US" dirty="0"/>
          </a:p>
        </p:txBody>
      </p:sp>
      <p:sp>
        <p:nvSpPr>
          <p:cNvPr id="4" name="Slide Number Placeholder 3"/>
          <p:cNvSpPr>
            <a:spLocks noGrp="1"/>
          </p:cNvSpPr>
          <p:nvPr>
            <p:ph type="sldNum" sz="quarter" idx="10"/>
          </p:nvPr>
        </p:nvSpPr>
        <p:spPr/>
        <p:txBody>
          <a:bodyPr/>
          <a:lstStyle/>
          <a:p>
            <a:fld id="{7175D279-AF63-4653-A730-8468BD916E34}"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5311E97-9155-4597-8525-36B06ABE1F5C}"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311E97-9155-4597-8525-36B06ABE1F5C}"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5311E97-9155-4597-8525-36B06ABE1F5C}"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5311E97-9155-4597-8525-36B06ABE1F5C}"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5311E97-9155-4597-8525-36B06ABE1F5C}" type="datetimeFigureOut">
              <a:rPr lang="en-US" smtClean="0"/>
              <a:pPr/>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5311E97-9155-4597-8525-36B06ABE1F5C}" type="datetimeFigureOut">
              <a:rPr lang="en-US" smtClean="0"/>
              <a:pPr/>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1E97-9155-4597-8525-36B06ABE1F5C}" type="datetimeFigureOut">
              <a:rPr lang="en-US" smtClean="0"/>
              <a:pPr/>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311E97-9155-4597-8525-36B06ABE1F5C}"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311E97-9155-4597-8525-36B06ABE1F5C}"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311E97-9155-4597-8525-36B06ABE1F5C}"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311E97-9155-4597-8525-36B06ABE1F5C}"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EA842-A38A-4DF1-ACBA-9095494A48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311E97-9155-4597-8525-36B06ABE1F5C}" type="datetimeFigureOut">
              <a:rPr lang="en-US" smtClean="0"/>
              <a:pPr/>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1EA842-A38A-4DF1-ACBA-9095494A48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u="sng" dirty="0"/>
              <a:t>Chapter 7 FUNCTIONS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92500" lnSpcReduction="10000"/>
          </a:bodyPr>
          <a:lstStyle/>
          <a:p>
            <a:pPr algn="just"/>
            <a:endParaRPr lang="en-US" dirty="0" smtClean="0"/>
          </a:p>
          <a:p>
            <a:pPr algn="just"/>
            <a:r>
              <a:rPr lang="en-GB" dirty="0"/>
              <a:t>In C programming, the </a:t>
            </a:r>
            <a:r>
              <a:rPr lang="en-GB" b="1" dirty="0"/>
              <a:t>main () </a:t>
            </a:r>
            <a:r>
              <a:rPr lang="en-GB" dirty="0"/>
              <a:t>itself is a function, this means that the main function is invoking the other functions to perform the task</a:t>
            </a:r>
            <a:r>
              <a:rPr lang="en-GB" dirty="0" smtClean="0"/>
              <a:t>.</a:t>
            </a:r>
          </a:p>
          <a:p>
            <a:pPr algn="just"/>
            <a:r>
              <a:rPr lang="en-GB" dirty="0" smtClean="0"/>
              <a:t>A function is represented by </a:t>
            </a:r>
            <a:r>
              <a:rPr lang="en-GB" b="1" dirty="0" smtClean="0"/>
              <a:t>name</a:t>
            </a:r>
            <a:r>
              <a:rPr lang="en-GB" dirty="0" smtClean="0"/>
              <a:t> followed by </a:t>
            </a:r>
            <a:r>
              <a:rPr lang="en-GB" dirty="0"/>
              <a:t>the </a:t>
            </a:r>
            <a:r>
              <a:rPr lang="en-GB" b="1" dirty="0"/>
              <a:t>left and right parentheses</a:t>
            </a:r>
            <a:r>
              <a:rPr lang="en-GB" b="1" dirty="0" smtClean="0"/>
              <a:t> </a:t>
            </a:r>
            <a:endParaRPr lang="en-US" b="1" dirty="0"/>
          </a:p>
          <a:p>
            <a:pPr algn="just"/>
            <a:r>
              <a:rPr lang="en-US" dirty="0" smtClean="0">
                <a:solidFill>
                  <a:schemeClr val="accent1"/>
                </a:solidFill>
              </a:rPr>
              <a:t>A </a:t>
            </a:r>
            <a:r>
              <a:rPr lang="en-US" dirty="0">
                <a:solidFill>
                  <a:schemeClr val="accent1"/>
                </a:solidFill>
              </a:rPr>
              <a:t>function is a self-contained block of statements that perform coherent task</a:t>
            </a:r>
            <a:r>
              <a:rPr lang="en-US" dirty="0"/>
              <a:t>; it supports the concept of modular programming design </a:t>
            </a:r>
            <a:r>
              <a:rPr lang="en-US" dirty="0" smtClean="0"/>
              <a:t>techniques. </a:t>
            </a:r>
          </a:p>
          <a:p>
            <a:pPr algn="just"/>
            <a:r>
              <a:rPr lang="en-US" dirty="0" smtClean="0"/>
              <a:t>The </a:t>
            </a:r>
            <a:r>
              <a:rPr lang="en-US" dirty="0"/>
              <a:t>complex problem may be decomposed into small or easily manageable parts and each module is called a function</a:t>
            </a:r>
            <a:r>
              <a:rPr lang="en-US" dirty="0" smtClean="0"/>
              <a:t>.</a:t>
            </a:r>
            <a:endParaRPr lang="en-US" b="1" dirty="0"/>
          </a:p>
        </p:txBody>
      </p:sp>
      <p:sp>
        <p:nvSpPr>
          <p:cNvPr id="4" name="Rectangle 3"/>
          <p:cNvSpPr/>
          <p:nvPr/>
        </p:nvSpPr>
        <p:spPr>
          <a:xfrm>
            <a:off x="3352800" y="0"/>
            <a:ext cx="1981200" cy="954107"/>
          </a:xfrm>
          <a:prstGeom prst="rect">
            <a:avLst/>
          </a:prstGeom>
        </p:spPr>
        <p:txBody>
          <a:bodyPr wrap="square">
            <a:spAutoFit/>
          </a:bodyPr>
          <a:lstStyle/>
          <a:p>
            <a:r>
              <a:rPr lang="en-US" sz="2800" dirty="0" smtClean="0"/>
              <a:t>Function</a:t>
            </a:r>
          </a:p>
          <a:p>
            <a:endParaRPr lang="en-US" sz="2800" dirty="0"/>
          </a:p>
        </p:txBody>
      </p:sp>
      <p:cxnSp>
        <p:nvCxnSpPr>
          <p:cNvPr id="5" name="Straight Connector 4"/>
          <p:cNvCxnSpPr/>
          <p:nvPr/>
        </p:nvCxnSpPr>
        <p:spPr>
          <a:xfrm>
            <a:off x="685800" y="609600"/>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There are basically 2 types of function:</a:t>
            </a:r>
            <a:endParaRPr lang="en-US" b="1" dirty="0"/>
          </a:p>
          <a:p>
            <a:pPr>
              <a:buNone/>
            </a:pPr>
            <a:r>
              <a:rPr lang="en-GB" dirty="0"/>
              <a:t>	-Library functions: </a:t>
            </a:r>
            <a:r>
              <a:rPr lang="en-GB" b="1" dirty="0" err="1"/>
              <a:t>e.g</a:t>
            </a:r>
            <a:r>
              <a:rPr lang="en-GB" b="1" dirty="0"/>
              <a:t>:</a:t>
            </a:r>
            <a:r>
              <a:rPr lang="en-GB" dirty="0"/>
              <a:t> </a:t>
            </a:r>
            <a:r>
              <a:rPr lang="en-GB" dirty="0" err="1"/>
              <a:t>printf</a:t>
            </a:r>
            <a:r>
              <a:rPr lang="en-GB" dirty="0"/>
              <a:t>(),</a:t>
            </a:r>
            <a:r>
              <a:rPr lang="en-GB" dirty="0" err="1"/>
              <a:t>scanf</a:t>
            </a:r>
            <a:r>
              <a:rPr lang="en-GB" dirty="0" smtClean="0"/>
              <a:t>(),…</a:t>
            </a:r>
          </a:p>
          <a:p>
            <a:pPr>
              <a:buNone/>
            </a:pPr>
            <a:endParaRPr lang="en-US" dirty="0"/>
          </a:p>
          <a:p>
            <a:pPr>
              <a:buNone/>
            </a:pPr>
            <a:r>
              <a:rPr lang="en-GB" dirty="0"/>
              <a:t>	-User defined functions: </a:t>
            </a:r>
            <a:r>
              <a:rPr lang="en-GB" b="1" dirty="0" err="1"/>
              <a:t>e.g</a:t>
            </a:r>
            <a:r>
              <a:rPr lang="en-GB" b="1" dirty="0"/>
              <a:t>:</a:t>
            </a:r>
            <a:r>
              <a:rPr lang="en-GB" dirty="0"/>
              <a:t> message</a:t>
            </a:r>
            <a:r>
              <a:rPr lang="en-GB" dirty="0" smtClean="0"/>
              <a:t>(),…</a:t>
            </a:r>
          </a:p>
          <a:p>
            <a:pPr>
              <a:buNone/>
            </a:pPr>
            <a:endParaRPr lang="en-US" dirty="0"/>
          </a:p>
          <a:p>
            <a:r>
              <a:rPr lang="en-US" b="1" dirty="0"/>
              <a:t> Library functions: </a:t>
            </a:r>
            <a:r>
              <a:rPr lang="en-US" dirty="0"/>
              <a:t>are functions already known by the machine that is built in the compiler.</a:t>
            </a:r>
            <a:endParaRPr lang="en-US" b="1" dirty="0"/>
          </a:p>
          <a:p>
            <a:endParaRPr lang="en-US" b="1" dirty="0"/>
          </a:p>
          <a:p>
            <a:endParaRPr lang="en-US" dirty="0"/>
          </a:p>
        </p:txBody>
      </p:sp>
      <p:sp>
        <p:nvSpPr>
          <p:cNvPr id="4" name="TextBox 3"/>
          <p:cNvSpPr txBox="1"/>
          <p:nvPr/>
        </p:nvSpPr>
        <p:spPr>
          <a:xfrm>
            <a:off x="2057400" y="332938"/>
            <a:ext cx="5410200" cy="646331"/>
          </a:xfrm>
          <a:prstGeom prst="rect">
            <a:avLst/>
          </a:prstGeom>
          <a:noFill/>
        </p:spPr>
        <p:txBody>
          <a:bodyPr wrap="square" rtlCol="0">
            <a:spAutoFit/>
          </a:bodyPr>
          <a:lstStyle/>
          <a:p>
            <a:r>
              <a:rPr lang="en-US" sz="3600" dirty="0" smtClean="0"/>
              <a:t>Function</a:t>
            </a:r>
            <a:r>
              <a:rPr lang="en-US" sz="3600" dirty="0"/>
              <a:t> </a:t>
            </a:r>
            <a:r>
              <a:rPr lang="en-US" sz="3600" dirty="0" smtClean="0"/>
              <a:t>types </a:t>
            </a:r>
            <a:endParaRPr lang="en-US" sz="3600" dirty="0"/>
          </a:p>
        </p:txBody>
      </p:sp>
      <p:cxnSp>
        <p:nvCxnSpPr>
          <p:cNvPr id="5" name="Straight Connector 4"/>
          <p:cNvCxnSpPr/>
          <p:nvPr/>
        </p:nvCxnSpPr>
        <p:spPr>
          <a:xfrm>
            <a:off x="770709" y="1066800"/>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 Library functions</a:t>
            </a:r>
            <a:endParaRPr lang="en-US" dirty="0"/>
          </a:p>
        </p:txBody>
      </p:sp>
      <p:sp>
        <p:nvSpPr>
          <p:cNvPr id="3" name="Content Placeholder 2"/>
          <p:cNvSpPr>
            <a:spLocks noGrp="1"/>
          </p:cNvSpPr>
          <p:nvPr>
            <p:ph idx="1"/>
          </p:nvPr>
        </p:nvSpPr>
        <p:spPr>
          <a:xfrm>
            <a:off x="228600" y="1524000"/>
            <a:ext cx="8229600" cy="5486400"/>
          </a:xfrm>
        </p:spPr>
        <p:txBody>
          <a:bodyPr>
            <a:normAutofit fontScale="92500"/>
          </a:bodyPr>
          <a:lstStyle/>
          <a:p>
            <a:r>
              <a:rPr lang="en-GB" dirty="0" smtClean="0"/>
              <a:t>Libraries are very important in C because the C language supports only the most basic features that it needs. </a:t>
            </a:r>
          </a:p>
          <a:p>
            <a:r>
              <a:rPr lang="en-GB" dirty="0" smtClean="0"/>
              <a:t>The codes are often placed in </a:t>
            </a:r>
            <a:r>
              <a:rPr lang="en-GB" b="1" dirty="0" smtClean="0"/>
              <a:t>libraries</a:t>
            </a:r>
            <a:r>
              <a:rPr lang="en-GB" dirty="0" smtClean="0"/>
              <a:t> to make them easily reusable.</a:t>
            </a:r>
          </a:p>
          <a:p>
            <a:r>
              <a:rPr lang="en-GB" dirty="0" smtClean="0"/>
              <a:t> We have seen the standard I/O, or </a:t>
            </a:r>
            <a:r>
              <a:rPr lang="en-GB" b="1" dirty="0" err="1" smtClean="0"/>
              <a:t>stdio</a:t>
            </a:r>
            <a:r>
              <a:rPr lang="en-GB" dirty="0" smtClean="0"/>
              <a:t>, library already: Standard libraries exist for </a:t>
            </a:r>
            <a:r>
              <a:rPr lang="en-GB" dirty="0" smtClean="0">
                <a:solidFill>
                  <a:schemeClr val="accent1"/>
                </a:solidFill>
              </a:rPr>
              <a:t>standard I/O, math functions, string handling, an</a:t>
            </a:r>
            <a:r>
              <a:rPr lang="en-GB" dirty="0" smtClean="0"/>
              <a:t>d so on. </a:t>
            </a:r>
          </a:p>
          <a:p>
            <a:r>
              <a:rPr lang="en-GB" dirty="0" smtClean="0"/>
              <a:t>This makes them easier to understand, test, and debug, and also makes it possible to reuse code from other programs that you write. </a:t>
            </a:r>
            <a:endParaRPr lang="en-US" dirty="0"/>
          </a:p>
        </p:txBody>
      </p:sp>
      <p:cxnSp>
        <p:nvCxnSpPr>
          <p:cNvPr id="4" name="Straight Connector 3"/>
          <p:cNvCxnSpPr/>
          <p:nvPr/>
        </p:nvCxnSpPr>
        <p:spPr>
          <a:xfrm>
            <a:off x="800100" y="990600"/>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Some Built in Functions for String </a:t>
            </a:r>
            <a:r>
              <a:rPr lang="en-US" b="1" dirty="0"/>
              <a:t>Handling </a:t>
            </a:r>
            <a:r>
              <a:rPr lang="en-US" b="1" dirty="0" err="1">
                <a:solidFill>
                  <a:schemeClr val="accent1"/>
                </a:solidFill>
              </a:rPr>
              <a:t>string.h</a:t>
            </a:r>
            <a:r>
              <a:rPr lang="en-US" dirty="0"/>
              <a:t/>
            </a:r>
            <a:br>
              <a:rPr lang="en-US" dirty="0"/>
            </a:b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a:t>following macros are built into the file </a:t>
            </a:r>
            <a:r>
              <a:rPr lang="en-US" dirty="0" err="1"/>
              <a:t>string.h</a:t>
            </a:r>
            <a:endParaRPr lang="en-US" dirty="0"/>
          </a:p>
          <a:p>
            <a:r>
              <a:rPr lang="en-GB" dirty="0" smtClean="0"/>
              <a:t>strcmp </a:t>
            </a:r>
            <a:r>
              <a:rPr lang="en-GB" dirty="0"/>
              <a:t>	</a:t>
            </a:r>
            <a:r>
              <a:rPr lang="en-GB" dirty="0" smtClean="0"/>
              <a:t>	compares </a:t>
            </a:r>
            <a:r>
              <a:rPr lang="en-GB" dirty="0"/>
              <a:t>two strings</a:t>
            </a:r>
            <a:endParaRPr lang="en-US" dirty="0"/>
          </a:p>
          <a:p>
            <a:r>
              <a:rPr lang="en-GB" dirty="0" err="1" smtClean="0"/>
              <a:t>strcpy</a:t>
            </a:r>
            <a:r>
              <a:rPr lang="en-GB" dirty="0" smtClean="0"/>
              <a:t> </a:t>
            </a:r>
            <a:r>
              <a:rPr lang="en-GB" dirty="0"/>
              <a:t>		copies one string to another</a:t>
            </a:r>
            <a:endParaRPr lang="en-US" dirty="0"/>
          </a:p>
          <a:p>
            <a:r>
              <a:rPr lang="en-GB" dirty="0" err="1"/>
              <a:t>strlen</a:t>
            </a:r>
            <a:r>
              <a:rPr lang="en-GB" dirty="0"/>
              <a:t> 		finds length of a string</a:t>
            </a:r>
            <a:endParaRPr lang="en-US" dirty="0"/>
          </a:p>
          <a:p>
            <a:r>
              <a:rPr lang="en-GB" dirty="0" err="1"/>
              <a:t>strlwr</a:t>
            </a:r>
            <a:r>
              <a:rPr lang="en-GB" dirty="0"/>
              <a:t> 		converts a string to lowercase</a:t>
            </a:r>
            <a:endParaRPr lang="en-US" dirty="0"/>
          </a:p>
          <a:p>
            <a:r>
              <a:rPr lang="en-GB" dirty="0" err="1"/>
              <a:t>strncat</a:t>
            </a:r>
            <a:r>
              <a:rPr lang="en-GB" dirty="0"/>
              <a:t> 		appends n characters of string</a:t>
            </a:r>
            <a:endParaRPr lang="en-US" dirty="0"/>
          </a:p>
          <a:p>
            <a:r>
              <a:rPr lang="en-GB" dirty="0" err="1" smtClean="0"/>
              <a:t>strrev</a:t>
            </a:r>
            <a:r>
              <a:rPr lang="en-GB" dirty="0" smtClean="0"/>
              <a:t> </a:t>
            </a:r>
            <a:r>
              <a:rPr lang="en-GB" dirty="0"/>
              <a:t>		reverses string</a:t>
            </a:r>
            <a:endParaRPr lang="en-US" dirty="0"/>
          </a:p>
          <a:p>
            <a:r>
              <a:rPr lang="en-GB" dirty="0" err="1" smtClean="0"/>
              <a:t>strupr</a:t>
            </a:r>
            <a:r>
              <a:rPr lang="en-GB" dirty="0" smtClean="0"/>
              <a:t> </a:t>
            </a:r>
            <a:r>
              <a:rPr lang="en-GB" dirty="0"/>
              <a:t>		converts string to uppercase</a:t>
            </a:r>
            <a:endParaRPr lang="en-US" dirty="0"/>
          </a:p>
          <a:p>
            <a:endParaRPr lang="en-US" dirty="0"/>
          </a:p>
        </p:txBody>
      </p:sp>
      <p:cxnSp>
        <p:nvCxnSpPr>
          <p:cNvPr id="4" name="Straight Connector 3"/>
          <p:cNvCxnSpPr/>
          <p:nvPr/>
        </p:nvCxnSpPr>
        <p:spPr>
          <a:xfrm>
            <a:off x="762000" y="1401689"/>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0"/>
            <a:ext cx="8229600" cy="6888163"/>
          </a:xfrm>
        </p:spPr>
        <p:txBody>
          <a:bodyPr>
            <a:normAutofit fontScale="92500" lnSpcReduction="20000"/>
          </a:bodyPr>
          <a:lstStyle/>
          <a:p>
            <a:r>
              <a:rPr lang="en-US" b="1" dirty="0"/>
              <a:t>e.g</a:t>
            </a:r>
            <a:r>
              <a:rPr lang="en-US" b="1" baseline="-25000" dirty="0"/>
              <a:t>1</a:t>
            </a:r>
            <a:r>
              <a:rPr lang="en-US" b="1" dirty="0"/>
              <a:t>:</a:t>
            </a:r>
            <a:r>
              <a:rPr lang="en-US" dirty="0"/>
              <a:t>/*To convert a string to </a:t>
            </a:r>
            <a:r>
              <a:rPr lang="en-US" dirty="0" smtClean="0"/>
              <a:t>uppercase*/</a:t>
            </a:r>
          </a:p>
          <a:p>
            <a:r>
              <a:rPr lang="en-US" dirty="0" smtClean="0"/>
              <a:t>#</a:t>
            </a:r>
            <a:r>
              <a:rPr lang="en-US" dirty="0"/>
              <a:t>include &lt;</a:t>
            </a:r>
            <a:r>
              <a:rPr lang="en-US" dirty="0" err="1"/>
              <a:t>stdio.h</a:t>
            </a:r>
            <a:r>
              <a:rPr lang="en-US" dirty="0"/>
              <a:t>&gt;	</a:t>
            </a:r>
            <a:endParaRPr lang="en-US" dirty="0" smtClean="0"/>
          </a:p>
          <a:p>
            <a:r>
              <a:rPr lang="en-US" dirty="0" smtClean="0"/>
              <a:t>#</a:t>
            </a:r>
            <a:r>
              <a:rPr lang="en-US" dirty="0"/>
              <a:t>include &lt;</a:t>
            </a:r>
            <a:r>
              <a:rPr lang="en-US" dirty="0" err="1"/>
              <a:t>string.h</a:t>
            </a:r>
            <a:r>
              <a:rPr lang="en-US" dirty="0"/>
              <a:t>&gt;	</a:t>
            </a:r>
            <a:endParaRPr lang="en-US" dirty="0" smtClean="0"/>
          </a:p>
          <a:p>
            <a:r>
              <a:rPr lang="en-US" dirty="0" smtClean="0"/>
              <a:t>main</a:t>
            </a:r>
            <a:r>
              <a:rPr lang="en-US" dirty="0"/>
              <a:t>()	</a:t>
            </a:r>
            <a:endParaRPr lang="en-US" dirty="0" smtClean="0"/>
          </a:p>
          <a:p>
            <a:r>
              <a:rPr lang="en-US" dirty="0" smtClean="0"/>
              <a:t>{</a:t>
            </a:r>
            <a:r>
              <a:rPr lang="en-US" dirty="0"/>
              <a:t>		char name[80];	</a:t>
            </a:r>
            <a:endParaRPr lang="en-US" dirty="0" smtClean="0"/>
          </a:p>
          <a:p>
            <a:r>
              <a:rPr lang="en-US" dirty="0" smtClean="0"/>
              <a:t>/* </a:t>
            </a:r>
            <a:r>
              <a:rPr lang="en-US" dirty="0"/>
              <a:t>declare an array of characters 0-79 */		</a:t>
            </a:r>
            <a:r>
              <a:rPr lang="en-US" dirty="0" err="1"/>
              <a:t>printf</a:t>
            </a:r>
            <a:r>
              <a:rPr lang="en-US" dirty="0"/>
              <a:t>("Enter in a name in lowercase\n");		</a:t>
            </a:r>
            <a:r>
              <a:rPr lang="en-US" dirty="0" err="1"/>
              <a:t>scanf</a:t>
            </a:r>
            <a:r>
              <a:rPr lang="en-US" dirty="0"/>
              <a:t>( "%s", name );	</a:t>
            </a:r>
            <a:endParaRPr lang="en-US" dirty="0" smtClean="0"/>
          </a:p>
          <a:p>
            <a:r>
              <a:rPr lang="en-US" dirty="0"/>
              <a:t>	</a:t>
            </a:r>
            <a:r>
              <a:rPr lang="en-US" dirty="0" err="1"/>
              <a:t>strupr</a:t>
            </a:r>
            <a:r>
              <a:rPr lang="en-US" dirty="0"/>
              <a:t>( name );</a:t>
            </a:r>
            <a:r>
              <a:rPr lang="en-US" i="1" dirty="0"/>
              <a:t>		</a:t>
            </a:r>
            <a:endParaRPr lang="en-US" i="1" dirty="0" smtClean="0"/>
          </a:p>
          <a:p>
            <a:r>
              <a:rPr lang="en-US" dirty="0" err="1" smtClean="0"/>
              <a:t>printf</a:t>
            </a:r>
            <a:r>
              <a:rPr lang="en-US" dirty="0"/>
              <a:t>("The name </a:t>
            </a:r>
            <a:r>
              <a:rPr lang="en-US" dirty="0" smtClean="0"/>
              <a:t>in </a:t>
            </a:r>
            <a:r>
              <a:rPr lang="en-US" dirty="0"/>
              <a:t>uppercase is %s", name );	}</a:t>
            </a:r>
            <a:r>
              <a:rPr lang="en-US" i="1" dirty="0"/>
              <a:t> </a:t>
            </a:r>
            <a:endParaRPr lang="en-US" i="1" dirty="0" smtClean="0"/>
          </a:p>
          <a:p>
            <a:r>
              <a:rPr lang="en-US" b="1" dirty="0"/>
              <a:t>	</a:t>
            </a:r>
            <a:r>
              <a:rPr lang="en-US" i="1" dirty="0"/>
              <a:t>Sample Program Output</a:t>
            </a:r>
            <a:r>
              <a:rPr lang="en-US" dirty="0"/>
              <a:t>		</a:t>
            </a:r>
            <a:endParaRPr lang="en-US" dirty="0" smtClean="0"/>
          </a:p>
          <a:p>
            <a:r>
              <a:rPr lang="en-US" dirty="0" smtClean="0"/>
              <a:t>Enter </a:t>
            </a:r>
            <a:r>
              <a:rPr lang="en-US" dirty="0"/>
              <a:t>in a name in lowercase	</a:t>
            </a:r>
            <a:endParaRPr lang="en-US" dirty="0" smtClean="0"/>
          </a:p>
          <a:p>
            <a:r>
              <a:rPr lang="en-US" dirty="0" err="1" smtClean="0"/>
              <a:t>samuel</a:t>
            </a:r>
            <a:r>
              <a:rPr lang="en-US" dirty="0"/>
              <a:t>	</a:t>
            </a:r>
            <a:endParaRPr lang="en-US" dirty="0" smtClean="0"/>
          </a:p>
          <a:p>
            <a:r>
              <a:rPr lang="en-US" dirty="0" smtClean="0"/>
              <a:t>The </a:t>
            </a:r>
            <a:r>
              <a:rPr lang="en-US" dirty="0"/>
              <a:t>name in uppercase is SAMUEL</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20000"/>
          </a:bodyPr>
          <a:lstStyle/>
          <a:p>
            <a:r>
              <a:rPr lang="en-US" dirty="0" smtClean="0"/>
              <a:t>#include&lt;</a:t>
            </a:r>
            <a:r>
              <a:rPr lang="en-US" dirty="0" err="1" smtClean="0"/>
              <a:t>stdio.h</a:t>
            </a:r>
            <a:r>
              <a:rPr lang="en-US" dirty="0" smtClean="0"/>
              <a:t>&gt;</a:t>
            </a:r>
          </a:p>
          <a:p>
            <a:r>
              <a:rPr lang="en-US" dirty="0" smtClean="0"/>
              <a:t>#include&lt;</a:t>
            </a:r>
            <a:r>
              <a:rPr lang="en-US" dirty="0" err="1" smtClean="0"/>
              <a:t>string.h</a:t>
            </a:r>
            <a:r>
              <a:rPr lang="en-US" dirty="0" smtClean="0"/>
              <a:t>&gt;</a:t>
            </a:r>
          </a:p>
          <a:p>
            <a:r>
              <a:rPr lang="en-US" dirty="0" smtClean="0"/>
              <a:t>main()</a:t>
            </a:r>
          </a:p>
          <a:p>
            <a:r>
              <a:rPr lang="en-US" dirty="0" smtClean="0"/>
              <a:t>{	</a:t>
            </a:r>
          </a:p>
          <a:p>
            <a:r>
              <a:rPr lang="en-US" dirty="0" smtClean="0"/>
              <a:t>char name[25];</a:t>
            </a:r>
          </a:p>
          <a:p>
            <a:r>
              <a:rPr lang="en-US" dirty="0" smtClean="0"/>
              <a:t> </a:t>
            </a:r>
            <a:r>
              <a:rPr lang="en-US" dirty="0" err="1" smtClean="0"/>
              <a:t>printf</a:t>
            </a:r>
            <a:r>
              <a:rPr lang="en-US" dirty="0" smtClean="0"/>
              <a:t>("Enter name in upper case:\n");</a:t>
            </a:r>
          </a:p>
          <a:p>
            <a:r>
              <a:rPr lang="en-US" dirty="0" err="1" smtClean="0"/>
              <a:t>scanf</a:t>
            </a:r>
            <a:r>
              <a:rPr lang="en-US" dirty="0" smtClean="0"/>
              <a:t>("%</a:t>
            </a:r>
            <a:r>
              <a:rPr lang="en-US" dirty="0" err="1" smtClean="0"/>
              <a:t>s",&amp;name</a:t>
            </a:r>
            <a:r>
              <a:rPr lang="en-US" dirty="0" smtClean="0"/>
              <a:t>);</a:t>
            </a:r>
          </a:p>
          <a:p>
            <a:r>
              <a:rPr lang="en-US" dirty="0" err="1" smtClean="0"/>
              <a:t>strlwr</a:t>
            </a:r>
            <a:r>
              <a:rPr lang="en-US" dirty="0" smtClean="0"/>
              <a:t>(name);</a:t>
            </a:r>
          </a:p>
          <a:p>
            <a:r>
              <a:rPr lang="en-US" dirty="0" err="1" smtClean="0"/>
              <a:t>printf</a:t>
            </a:r>
            <a:r>
              <a:rPr lang="en-US" dirty="0" smtClean="0"/>
              <a:t>("The name in Lowercase is %s\</a:t>
            </a:r>
            <a:r>
              <a:rPr lang="en-US" dirty="0" err="1" smtClean="0"/>
              <a:t>n",name</a:t>
            </a:r>
            <a:r>
              <a:rPr lang="en-US" dirty="0" smtClean="0"/>
              <a:t>);</a:t>
            </a:r>
          </a:p>
          <a:p>
            <a:r>
              <a:rPr lang="en-US" dirty="0" err="1" smtClean="0"/>
              <a:t>strrev</a:t>
            </a:r>
            <a:r>
              <a:rPr lang="en-US" dirty="0" smtClean="0"/>
              <a:t>(name);</a:t>
            </a:r>
          </a:p>
          <a:p>
            <a:r>
              <a:rPr lang="en-US" dirty="0" err="1" smtClean="0"/>
              <a:t>printf</a:t>
            </a:r>
            <a:r>
              <a:rPr lang="en-US" dirty="0" smtClean="0"/>
              <a:t>("The name in reverse is %s\</a:t>
            </a:r>
            <a:r>
              <a:rPr lang="en-US" dirty="0" err="1" smtClean="0"/>
              <a:t>n",name</a:t>
            </a:r>
            <a:r>
              <a:rPr lang="en-US" dirty="0" smtClean="0"/>
              <a:t>);</a:t>
            </a:r>
          </a:p>
          <a:p>
            <a:r>
              <a:rPr lang="en-US" dirty="0" err="1" smtClean="0"/>
              <a:t>printf</a:t>
            </a:r>
            <a:r>
              <a:rPr lang="en-US" dirty="0" smtClean="0"/>
              <a:t>("The length of name is:%d\</a:t>
            </a:r>
            <a:r>
              <a:rPr lang="en-US" dirty="0" err="1" smtClean="0"/>
              <a:t>n",strlen</a:t>
            </a:r>
            <a:r>
              <a:rPr lang="en-US" dirty="0" smtClean="0"/>
              <a:t>(name));	</a:t>
            </a:r>
          </a:p>
          <a:p>
            <a:r>
              <a:rPr lang="en-US" dirty="0" smtClean="0"/>
              <a: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Sample Program Output		</a:t>
            </a:r>
          </a:p>
          <a:p>
            <a:r>
              <a:rPr lang="en-US" dirty="0" smtClean="0"/>
              <a:t>Enter in a name in uppercase	SAMUEL	</a:t>
            </a:r>
          </a:p>
          <a:p>
            <a:r>
              <a:rPr lang="en-US" dirty="0" smtClean="0"/>
              <a:t>The name in Lowercase is </a:t>
            </a:r>
            <a:r>
              <a:rPr lang="en-US" dirty="0" err="1" smtClean="0"/>
              <a:t>samuel</a:t>
            </a:r>
            <a:r>
              <a:rPr lang="en-US" dirty="0" smtClean="0"/>
              <a:t>	</a:t>
            </a:r>
          </a:p>
          <a:p>
            <a:r>
              <a:rPr lang="en-US" dirty="0" smtClean="0"/>
              <a:t>The name in reverse is </a:t>
            </a:r>
            <a:r>
              <a:rPr lang="en-US" dirty="0" err="1" smtClean="0"/>
              <a:t>leumas</a:t>
            </a:r>
            <a:r>
              <a:rPr lang="en-US" dirty="0" smtClean="0"/>
              <a:t>	</a:t>
            </a:r>
          </a:p>
          <a:p>
            <a:r>
              <a:rPr lang="en-US" dirty="0" smtClean="0"/>
              <a:t>The length of name is:6</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Some built in Functions for Math Functions :</a:t>
            </a:r>
            <a:r>
              <a:rPr lang="en-US" dirty="0" err="1" smtClean="0"/>
              <a:t>math.h</a:t>
            </a:r>
            <a:endParaRPr lang="en-US" dirty="0"/>
          </a:p>
        </p:txBody>
      </p:sp>
      <p:sp>
        <p:nvSpPr>
          <p:cNvPr id="3" name="Content Placeholder 2"/>
          <p:cNvSpPr>
            <a:spLocks noGrp="1"/>
          </p:cNvSpPr>
          <p:nvPr>
            <p:ph idx="1"/>
          </p:nvPr>
        </p:nvSpPr>
        <p:spPr/>
        <p:txBody>
          <a:bodyPr>
            <a:normAutofit fontScale="55000" lnSpcReduction="20000"/>
          </a:bodyPr>
          <a:lstStyle/>
          <a:p>
            <a:r>
              <a:rPr lang="en-US" dirty="0"/>
              <a:t> 	</a:t>
            </a:r>
            <a:endParaRPr lang="en-US" dirty="0" smtClean="0"/>
          </a:p>
          <a:p>
            <a:r>
              <a:rPr lang="en-US" dirty="0" err="1" smtClean="0"/>
              <a:t>sqrt</a:t>
            </a:r>
            <a:r>
              <a:rPr lang="en-US" dirty="0"/>
              <a:t>() 	calculate the square root of a number	</a:t>
            </a:r>
            <a:endParaRPr lang="en-US" dirty="0" smtClean="0"/>
          </a:p>
          <a:p>
            <a:r>
              <a:rPr lang="en-US" dirty="0" err="1" smtClean="0"/>
              <a:t>cos</a:t>
            </a:r>
            <a:r>
              <a:rPr lang="en-US" dirty="0"/>
              <a:t>() 	calculate the cosine	</a:t>
            </a:r>
            <a:endParaRPr lang="en-US" dirty="0" smtClean="0"/>
          </a:p>
          <a:p>
            <a:r>
              <a:rPr lang="en-US" dirty="0" smtClean="0"/>
              <a:t>sin</a:t>
            </a:r>
            <a:r>
              <a:rPr lang="en-US" dirty="0"/>
              <a:t>() 	calculate the sine	</a:t>
            </a:r>
            <a:endParaRPr lang="en-US" dirty="0" smtClean="0"/>
          </a:p>
          <a:p>
            <a:r>
              <a:rPr lang="en-US" dirty="0" smtClean="0"/>
              <a:t>tan</a:t>
            </a:r>
            <a:r>
              <a:rPr lang="en-US" dirty="0"/>
              <a:t>() 	calculate the tangent 	</a:t>
            </a:r>
            <a:endParaRPr lang="en-US" dirty="0" smtClean="0"/>
          </a:p>
          <a:p>
            <a:r>
              <a:rPr lang="en-US" dirty="0" smtClean="0"/>
              <a:t>abs</a:t>
            </a:r>
            <a:r>
              <a:rPr lang="en-US" dirty="0"/>
              <a:t>() 	calculate the absolute </a:t>
            </a:r>
            <a:r>
              <a:rPr lang="en-US" dirty="0" smtClean="0"/>
              <a:t>value</a:t>
            </a:r>
          </a:p>
          <a:p>
            <a:r>
              <a:rPr lang="en-US" dirty="0" err="1" smtClean="0"/>
              <a:t>fabs</a:t>
            </a:r>
            <a:r>
              <a:rPr lang="en-US" dirty="0"/>
              <a:t>() </a:t>
            </a:r>
            <a:r>
              <a:rPr lang="en-US" dirty="0" smtClean="0"/>
              <a:t> calculate </a:t>
            </a:r>
            <a:r>
              <a:rPr lang="en-US" dirty="0"/>
              <a:t>the absolute value of a floating </a:t>
            </a:r>
            <a:r>
              <a:rPr lang="en-US" dirty="0" smtClean="0"/>
              <a:t>point</a:t>
            </a:r>
          </a:p>
          <a:p>
            <a:r>
              <a:rPr lang="en-US" dirty="0" smtClean="0"/>
              <a:t>ceil</a:t>
            </a:r>
            <a:r>
              <a:rPr lang="en-US" dirty="0"/>
              <a:t>() 	is used to round up to an integer	</a:t>
            </a:r>
            <a:endParaRPr lang="en-US" dirty="0" smtClean="0"/>
          </a:p>
          <a:p>
            <a:r>
              <a:rPr lang="en-US" dirty="0" smtClean="0"/>
              <a:t>floor</a:t>
            </a:r>
            <a:r>
              <a:rPr lang="en-US" dirty="0"/>
              <a:t>() </a:t>
            </a:r>
            <a:r>
              <a:rPr lang="en-US" dirty="0" smtClean="0"/>
              <a:t>is </a:t>
            </a:r>
            <a:r>
              <a:rPr lang="en-US" dirty="0"/>
              <a:t>used to round down to an </a:t>
            </a:r>
            <a:r>
              <a:rPr lang="en-US" dirty="0" smtClean="0"/>
              <a:t>integer</a:t>
            </a:r>
          </a:p>
          <a:p>
            <a:r>
              <a:rPr lang="en-US" dirty="0" smtClean="0"/>
              <a:t>exp</a:t>
            </a:r>
            <a:r>
              <a:rPr lang="en-US" dirty="0"/>
              <a:t>() 	is used to compute a floating point approximation to the exponential function	</a:t>
            </a:r>
            <a:endParaRPr lang="en-US" dirty="0" smtClean="0"/>
          </a:p>
          <a:p>
            <a:r>
              <a:rPr lang="en-US" dirty="0" smtClean="0"/>
              <a:t>log</a:t>
            </a:r>
            <a:r>
              <a:rPr lang="en-US" dirty="0"/>
              <a:t>() 	is used to compute a floating point approximation to the exponential function	</a:t>
            </a:r>
            <a:endParaRPr lang="en-US" dirty="0" smtClean="0"/>
          </a:p>
          <a:p>
            <a:r>
              <a:rPr lang="en-US" dirty="0" smtClean="0"/>
              <a:t>log10</a:t>
            </a:r>
            <a:r>
              <a:rPr lang="en-US" dirty="0"/>
              <a:t>() </a:t>
            </a:r>
            <a:r>
              <a:rPr lang="en-US" dirty="0" smtClean="0"/>
              <a:t> is </a:t>
            </a:r>
            <a:r>
              <a:rPr lang="en-US" dirty="0"/>
              <a:t>used to compute a floating point approximation to the natural logarithms function</a:t>
            </a:r>
            <a:r>
              <a:rPr lang="fr-FR" dirty="0"/>
              <a:t>	</a:t>
            </a:r>
            <a:endParaRPr lang="fr-FR" dirty="0" smtClean="0"/>
          </a:p>
          <a:p>
            <a:r>
              <a:rPr lang="fr-FR" dirty="0" err="1" smtClean="0"/>
              <a:t>pow</a:t>
            </a:r>
            <a:r>
              <a:rPr lang="fr-FR" dirty="0"/>
              <a:t>() </a:t>
            </a:r>
            <a:r>
              <a:rPr lang="fr-FR" dirty="0" err="1" smtClean="0"/>
              <a:t>is</a:t>
            </a:r>
            <a:r>
              <a:rPr lang="fr-FR" dirty="0" smtClean="0"/>
              <a:t> </a:t>
            </a:r>
            <a:r>
              <a:rPr lang="fr-FR" dirty="0" err="1"/>
              <a:t>used</a:t>
            </a:r>
            <a:r>
              <a:rPr lang="fr-FR" dirty="0"/>
              <a:t> to </a:t>
            </a:r>
            <a:r>
              <a:rPr lang="fr-FR" dirty="0" err="1"/>
              <a:t>compute</a:t>
            </a:r>
            <a:r>
              <a:rPr lang="fr-FR" dirty="0"/>
              <a:t> the power of a </a:t>
            </a:r>
            <a:r>
              <a:rPr lang="fr-FR" dirty="0" err="1"/>
              <a:t>number</a:t>
            </a:r>
            <a:endParaRPr lang="en-US" dirty="0"/>
          </a:p>
        </p:txBody>
      </p:sp>
      <p:cxnSp>
        <p:nvCxnSpPr>
          <p:cNvPr id="5" name="Straight Connector 4"/>
          <p:cNvCxnSpPr/>
          <p:nvPr/>
        </p:nvCxnSpPr>
        <p:spPr>
          <a:xfrm>
            <a:off x="762000" y="1401689"/>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686800" cy="6324600"/>
          </a:xfrm>
        </p:spPr>
        <p:txBody>
          <a:bodyPr>
            <a:normAutofit lnSpcReduction="10000"/>
          </a:bodyPr>
          <a:lstStyle/>
          <a:p>
            <a:r>
              <a:rPr lang="en-US" dirty="0" smtClean="0"/>
              <a:t>#include&lt;</a:t>
            </a:r>
            <a:r>
              <a:rPr lang="en-US" dirty="0" err="1" smtClean="0"/>
              <a:t>stdio.h</a:t>
            </a:r>
            <a:r>
              <a:rPr lang="en-US" dirty="0" smtClean="0"/>
              <a:t>&gt;</a:t>
            </a:r>
          </a:p>
          <a:p>
            <a:r>
              <a:rPr lang="en-US" dirty="0" smtClean="0"/>
              <a:t>#include&lt;</a:t>
            </a:r>
            <a:r>
              <a:rPr lang="en-US" dirty="0" err="1" smtClean="0"/>
              <a:t>math.h</a:t>
            </a:r>
            <a:r>
              <a:rPr lang="en-US" dirty="0" smtClean="0"/>
              <a:t>&gt;</a:t>
            </a:r>
          </a:p>
          <a:p>
            <a:r>
              <a:rPr lang="en-US" dirty="0" smtClean="0"/>
              <a:t>main()</a:t>
            </a:r>
          </a:p>
          <a:p>
            <a:r>
              <a:rPr lang="en-US" dirty="0" smtClean="0"/>
              <a:t>{</a:t>
            </a:r>
          </a:p>
          <a:p>
            <a:r>
              <a:rPr lang="en-US" dirty="0" smtClean="0"/>
              <a:t>float </a:t>
            </a:r>
            <a:r>
              <a:rPr lang="en-US" dirty="0" err="1" smtClean="0"/>
              <a:t>a,b</a:t>
            </a:r>
            <a:r>
              <a:rPr lang="en-US" dirty="0" smtClean="0"/>
              <a:t>;</a:t>
            </a:r>
          </a:p>
          <a:p>
            <a:r>
              <a:rPr lang="en-US" dirty="0" err="1" smtClean="0"/>
              <a:t>printf</a:t>
            </a:r>
            <a:r>
              <a:rPr lang="en-US" dirty="0" smtClean="0"/>
              <a:t>("Enter a number:\n");</a:t>
            </a:r>
          </a:p>
          <a:p>
            <a:r>
              <a:rPr lang="en-US" dirty="0" err="1" smtClean="0"/>
              <a:t>scanf</a:t>
            </a:r>
            <a:r>
              <a:rPr lang="en-US" dirty="0" smtClean="0"/>
              <a:t>("%</a:t>
            </a:r>
            <a:r>
              <a:rPr lang="en-US" dirty="0" err="1" smtClean="0"/>
              <a:t>f",&amp;a</a:t>
            </a:r>
            <a:r>
              <a:rPr lang="en-US" dirty="0" smtClean="0"/>
              <a:t>);</a:t>
            </a:r>
          </a:p>
          <a:p>
            <a:r>
              <a:rPr lang="en-US" dirty="0" err="1" smtClean="0"/>
              <a:t>printf</a:t>
            </a:r>
            <a:r>
              <a:rPr lang="en-US" dirty="0" smtClean="0"/>
              <a:t>("The square root of %.2f is %.3f\</a:t>
            </a:r>
            <a:r>
              <a:rPr lang="en-US" dirty="0" err="1" smtClean="0"/>
              <a:t>n",a,sqrt</a:t>
            </a:r>
            <a:r>
              <a:rPr lang="en-US" dirty="0" smtClean="0"/>
              <a:t>(a));</a:t>
            </a:r>
          </a:p>
          <a:p>
            <a:r>
              <a:rPr lang="en-US" dirty="0" err="1" smtClean="0"/>
              <a:t>printf</a:t>
            </a:r>
            <a:r>
              <a:rPr lang="en-US" dirty="0" smtClean="0"/>
              <a:t>("The power of %.2f is %.3f\</a:t>
            </a:r>
            <a:r>
              <a:rPr lang="en-US" dirty="0" err="1" smtClean="0"/>
              <a:t>n",a,pow</a:t>
            </a:r>
            <a:r>
              <a:rPr lang="en-US" dirty="0" smtClean="0"/>
              <a:t>(a,2));</a:t>
            </a:r>
          </a:p>
          <a:p>
            <a:r>
              <a:rPr lang="en-US" dirty="0" smtClean="0"/>
              <a: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Some built in Functions for Character Handling</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The following character handling functions are defined in </a:t>
            </a:r>
            <a:r>
              <a:rPr lang="en-US" b="1" dirty="0" err="1" smtClean="0"/>
              <a:t>ctype.h</a:t>
            </a:r>
            <a:endParaRPr lang="en-US" b="1" dirty="0" smtClean="0"/>
          </a:p>
          <a:p>
            <a:r>
              <a:rPr lang="en-US" dirty="0" err="1" smtClean="0"/>
              <a:t>tolower</a:t>
            </a:r>
            <a:r>
              <a:rPr lang="en-US" dirty="0" smtClean="0"/>
              <a:t>         converts character to lowercase </a:t>
            </a:r>
            <a:r>
              <a:rPr lang="en-US" dirty="0" err="1" smtClean="0"/>
              <a:t>toupper</a:t>
            </a:r>
            <a:r>
              <a:rPr lang="en-US" dirty="0" smtClean="0"/>
              <a:t>         converts character to uppercase</a:t>
            </a:r>
            <a:endParaRPr lang="en-US" dirty="0"/>
          </a:p>
        </p:txBody>
      </p:sp>
      <p:cxnSp>
        <p:nvCxnSpPr>
          <p:cNvPr id="4" name="Straight Connector 3"/>
          <p:cNvCxnSpPr/>
          <p:nvPr/>
        </p:nvCxnSpPr>
        <p:spPr>
          <a:xfrm>
            <a:off x="762000" y="1401689"/>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3600" dirty="0" smtClean="0"/>
              <a:t>/* To convert a string array to uppercase a character at a time using </a:t>
            </a:r>
            <a:r>
              <a:rPr lang="en-US" sz="3600" dirty="0" err="1" smtClean="0"/>
              <a:t>toupper</a:t>
            </a:r>
            <a:r>
              <a:rPr lang="en-US" sz="3600" dirty="0" smtClean="0"/>
              <a:t>() */</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5334000"/>
          </a:xfrm>
        </p:spPr>
        <p:txBody>
          <a:bodyPr>
            <a:normAutofit fontScale="77500" lnSpcReduction="20000"/>
          </a:bodyPr>
          <a:lstStyle/>
          <a:p>
            <a:pPr>
              <a:buNone/>
            </a:pPr>
            <a:endParaRPr lang="en-US" dirty="0" smtClean="0"/>
          </a:p>
          <a:p>
            <a:pPr>
              <a:buNone/>
            </a:pPr>
            <a:r>
              <a:rPr lang="en-US" dirty="0" smtClean="0"/>
              <a:t>#include &lt;</a:t>
            </a:r>
            <a:r>
              <a:rPr lang="en-US" dirty="0" err="1" smtClean="0"/>
              <a:t>stdio.h</a:t>
            </a:r>
            <a:r>
              <a:rPr lang="en-US" dirty="0" smtClean="0"/>
              <a:t>&gt;	</a:t>
            </a:r>
          </a:p>
          <a:p>
            <a:pPr>
              <a:buNone/>
            </a:pPr>
            <a:r>
              <a:rPr lang="en-US" dirty="0" smtClean="0"/>
              <a:t>#include &lt;</a:t>
            </a:r>
            <a:r>
              <a:rPr lang="en-US" dirty="0" err="1" smtClean="0"/>
              <a:t>ctype.h</a:t>
            </a:r>
            <a:r>
              <a:rPr lang="en-US" dirty="0" smtClean="0"/>
              <a:t>&gt;</a:t>
            </a:r>
          </a:p>
          <a:p>
            <a:pPr>
              <a:buNone/>
            </a:pPr>
            <a:r>
              <a:rPr lang="en-US" dirty="0" smtClean="0"/>
              <a:t>	main()	</a:t>
            </a:r>
          </a:p>
          <a:p>
            <a:pPr>
              <a:buNone/>
            </a:pPr>
            <a:r>
              <a:rPr lang="en-US" dirty="0" smtClean="0"/>
              <a:t>{		</a:t>
            </a:r>
          </a:p>
          <a:p>
            <a:pPr>
              <a:buNone/>
            </a:pPr>
            <a:r>
              <a:rPr lang="en-US" dirty="0" smtClean="0"/>
              <a:t>char name[80];	</a:t>
            </a:r>
          </a:p>
          <a:p>
            <a:pPr>
              <a:buNone/>
            </a:pPr>
            <a:r>
              <a:rPr lang="en-US" dirty="0" smtClean="0"/>
              <a:t>	</a:t>
            </a:r>
            <a:r>
              <a:rPr lang="en-US" dirty="0" err="1" smtClean="0"/>
              <a:t>int</a:t>
            </a:r>
            <a:r>
              <a:rPr lang="en-US" dirty="0" smtClean="0"/>
              <a:t> loop;	</a:t>
            </a:r>
          </a:p>
          <a:p>
            <a:pPr>
              <a:buNone/>
            </a:pPr>
            <a:r>
              <a:rPr lang="en-US" dirty="0" smtClean="0"/>
              <a:t>	</a:t>
            </a:r>
            <a:r>
              <a:rPr lang="en-US" dirty="0" err="1" smtClean="0"/>
              <a:t>printf</a:t>
            </a:r>
            <a:r>
              <a:rPr lang="en-US" dirty="0" smtClean="0"/>
              <a:t>("Enter in a name in lowercase\n");	</a:t>
            </a:r>
          </a:p>
          <a:p>
            <a:pPr>
              <a:buNone/>
            </a:pPr>
            <a:r>
              <a:rPr lang="en-US" dirty="0" smtClean="0"/>
              <a:t>     </a:t>
            </a:r>
            <a:r>
              <a:rPr lang="en-US" dirty="0" err="1" smtClean="0"/>
              <a:t>scanf</a:t>
            </a:r>
            <a:r>
              <a:rPr lang="en-US" dirty="0" smtClean="0"/>
              <a:t>( "%s", name );	</a:t>
            </a:r>
          </a:p>
          <a:p>
            <a:pPr>
              <a:buNone/>
            </a:pPr>
            <a:r>
              <a:rPr lang="en-US" dirty="0" smtClean="0"/>
              <a:t>	</a:t>
            </a:r>
            <a:r>
              <a:rPr lang="nl-NL" dirty="0" smtClean="0"/>
              <a:t>for( loop = 0; name[loop] != 0; loop++ )		</a:t>
            </a:r>
          </a:p>
          <a:p>
            <a:pPr>
              <a:buNone/>
            </a:pPr>
            <a:r>
              <a:rPr lang="nl-NL" dirty="0" smtClean="0"/>
              <a:t>     name[loop] = toupper( name[loop] );	</a:t>
            </a:r>
          </a:p>
          <a:p>
            <a:pPr>
              <a:buNone/>
            </a:pPr>
            <a:r>
              <a:rPr lang="nl-NL" dirty="0" smtClean="0"/>
              <a:t>	</a:t>
            </a:r>
            <a:r>
              <a:rPr lang="en-US" dirty="0" err="1" smtClean="0"/>
              <a:t>printf</a:t>
            </a:r>
            <a:r>
              <a:rPr lang="en-US" dirty="0" smtClean="0"/>
              <a:t>("The name in uppercase is %s", name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a:t>
            </a:r>
            <a:endParaRPr lang="en-US" dirty="0"/>
          </a:p>
        </p:txBody>
      </p:sp>
      <p:sp>
        <p:nvSpPr>
          <p:cNvPr id="3" name="Content Placeholder 2"/>
          <p:cNvSpPr>
            <a:spLocks noGrp="1"/>
          </p:cNvSpPr>
          <p:nvPr>
            <p:ph idx="1"/>
          </p:nvPr>
        </p:nvSpPr>
        <p:spPr/>
        <p:txBody>
          <a:bodyPr/>
          <a:lstStyle/>
          <a:p>
            <a:r>
              <a:rPr lang="fr-FR" dirty="0" smtClean="0"/>
              <a:t>A program to </a:t>
            </a:r>
            <a:r>
              <a:rPr lang="fr-FR" dirty="0" err="1" smtClean="0"/>
              <a:t>calculate</a:t>
            </a:r>
            <a:r>
              <a:rPr lang="fr-FR" dirty="0" smtClean="0"/>
              <a:t> the volume of a </a:t>
            </a:r>
            <a:r>
              <a:rPr lang="fr-FR" dirty="0" err="1" smtClean="0"/>
              <a:t>sphere</a:t>
            </a:r>
            <a:r>
              <a:rPr lang="fr-FR" dirty="0" smtClean="0"/>
              <a:t> </a:t>
            </a:r>
            <a:r>
              <a:rPr lang="fr-FR" dirty="0" err="1" smtClean="0"/>
              <a:t>Formular</a:t>
            </a:r>
            <a:r>
              <a:rPr lang="fr-FR" dirty="0" smtClean="0"/>
              <a:t>:</a:t>
            </a:r>
          </a:p>
          <a:p>
            <a:r>
              <a:rPr lang="fr-FR" dirty="0" smtClean="0"/>
              <a:t>V=4/3(r*r*r)*pi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r>
              <a:rPr lang="en-US" dirty="0" smtClean="0"/>
              <a:t>/* A program to calculate the volume of a sphere */</a:t>
            </a:r>
          </a:p>
          <a:p>
            <a:r>
              <a:rPr lang="en-US" dirty="0" smtClean="0"/>
              <a:t>#include&lt;</a:t>
            </a:r>
            <a:r>
              <a:rPr lang="en-US" dirty="0" err="1" smtClean="0"/>
              <a:t>stdio.h</a:t>
            </a:r>
            <a:r>
              <a:rPr lang="en-US" dirty="0" smtClean="0"/>
              <a:t>&gt;</a:t>
            </a:r>
          </a:p>
          <a:p>
            <a:r>
              <a:rPr lang="en-US" dirty="0" smtClean="0"/>
              <a:t>#include&lt;</a:t>
            </a:r>
            <a:r>
              <a:rPr lang="en-US" dirty="0" err="1" smtClean="0"/>
              <a:t>math.h</a:t>
            </a:r>
            <a:r>
              <a:rPr lang="en-US" dirty="0" smtClean="0"/>
              <a:t>&gt;</a:t>
            </a:r>
          </a:p>
          <a:p>
            <a:r>
              <a:rPr lang="en-US" dirty="0" smtClean="0"/>
              <a:t>#define pi 3.14</a:t>
            </a:r>
          </a:p>
          <a:p>
            <a:r>
              <a:rPr lang="en-US" dirty="0" smtClean="0"/>
              <a:t>main()</a:t>
            </a:r>
          </a:p>
          <a:p>
            <a:r>
              <a:rPr lang="en-US" dirty="0" smtClean="0"/>
              <a:t>{</a:t>
            </a:r>
          </a:p>
          <a:p>
            <a:r>
              <a:rPr lang="en-US" dirty="0" smtClean="0"/>
              <a:t>float </a:t>
            </a:r>
            <a:r>
              <a:rPr lang="en-US" dirty="0" err="1" smtClean="0"/>
              <a:t>r,v</a:t>
            </a:r>
            <a:r>
              <a:rPr lang="en-US" dirty="0" smtClean="0"/>
              <a:t>;</a:t>
            </a:r>
          </a:p>
          <a:p>
            <a:r>
              <a:rPr lang="en-US" dirty="0" err="1" smtClean="0"/>
              <a:t>printf</a:t>
            </a:r>
            <a:r>
              <a:rPr lang="en-US" dirty="0" smtClean="0"/>
              <a:t>("Enter the radius:\n");</a:t>
            </a:r>
          </a:p>
          <a:p>
            <a:r>
              <a:rPr lang="en-US" dirty="0" err="1" smtClean="0"/>
              <a:t>scanf</a:t>
            </a:r>
            <a:r>
              <a:rPr lang="en-US" dirty="0" smtClean="0"/>
              <a:t>("%</a:t>
            </a:r>
            <a:r>
              <a:rPr lang="en-US" dirty="0" err="1" smtClean="0"/>
              <a:t>f",&amp;r</a:t>
            </a:r>
            <a:r>
              <a:rPr lang="en-US" dirty="0" smtClean="0"/>
              <a:t>);</a:t>
            </a:r>
          </a:p>
          <a:p>
            <a:r>
              <a:rPr lang="en-US" dirty="0" smtClean="0"/>
              <a:t>v=4*</a:t>
            </a:r>
            <a:r>
              <a:rPr lang="en-US" dirty="0" err="1" smtClean="0"/>
              <a:t>pow</a:t>
            </a:r>
            <a:r>
              <a:rPr lang="en-US" dirty="0" smtClean="0"/>
              <a:t>(r,3)*pi/3;</a:t>
            </a:r>
          </a:p>
          <a:p>
            <a:r>
              <a:rPr lang="en-US" dirty="0" err="1" smtClean="0"/>
              <a:t>printf</a:t>
            </a:r>
            <a:r>
              <a:rPr lang="en-US" dirty="0" smtClean="0"/>
              <a:t>("The volume is:%.2f\</a:t>
            </a:r>
            <a:r>
              <a:rPr lang="en-US" dirty="0" err="1" smtClean="0"/>
              <a:t>n",v</a:t>
            </a:r>
            <a:r>
              <a:rPr lang="en-US" dirty="0" smtClean="0"/>
              <a:t>);</a:t>
            </a:r>
          </a:p>
          <a:p>
            <a:r>
              <a:rPr lang="en-US" dirty="0" smtClean="0"/>
              <a:t>Return 0;</a:t>
            </a:r>
          </a:p>
          <a:p>
            <a:r>
              <a:rPr lang="en-US" dirty="0" smtClean="0"/>
              <a: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User Defined Functions:</a:t>
            </a:r>
            <a:br>
              <a:rPr lang="en-US" b="1" dirty="0" smtClean="0"/>
            </a:br>
            <a:endParaRPr lang="en-US" dirty="0"/>
          </a:p>
        </p:txBody>
      </p:sp>
      <p:sp>
        <p:nvSpPr>
          <p:cNvPr id="3" name="Content Placeholder 2"/>
          <p:cNvSpPr>
            <a:spLocks noGrp="1"/>
          </p:cNvSpPr>
          <p:nvPr>
            <p:ph idx="1"/>
          </p:nvPr>
        </p:nvSpPr>
        <p:spPr/>
        <p:txBody>
          <a:bodyPr/>
          <a:lstStyle/>
          <a:p>
            <a:pPr>
              <a:buNone/>
            </a:pPr>
            <a:r>
              <a:rPr lang="en-US" b="1" dirty="0" smtClean="0"/>
              <a:t>Are those functions developed by the user.</a:t>
            </a:r>
          </a:p>
          <a:p>
            <a:pPr>
              <a:buNone/>
            </a:pPr>
            <a:r>
              <a:rPr lang="en-GB" dirty="0" smtClean="0"/>
              <a:t>In function we have two main parts:</a:t>
            </a:r>
            <a:endParaRPr lang="en-US" dirty="0" smtClean="0"/>
          </a:p>
          <a:p>
            <a:pPr lvl="0"/>
            <a:r>
              <a:rPr lang="en-GB" dirty="0" smtClean="0"/>
              <a:t>A program that calls or activates the function and</a:t>
            </a:r>
            <a:r>
              <a:rPr lang="en-US" dirty="0" smtClean="0"/>
              <a:t> </a:t>
            </a:r>
          </a:p>
          <a:p>
            <a:pPr lvl="0"/>
            <a:r>
              <a:rPr lang="en-GB" dirty="0" smtClean="0"/>
              <a:t>The function itself</a:t>
            </a:r>
            <a:endParaRPr lang="en-US" dirty="0" smtClean="0"/>
          </a:p>
          <a:p>
            <a:endParaRPr lang="en-US" dirty="0"/>
          </a:p>
        </p:txBody>
      </p:sp>
      <p:cxnSp>
        <p:nvCxnSpPr>
          <p:cNvPr id="4" name="Straight Connector 3"/>
          <p:cNvCxnSpPr/>
          <p:nvPr/>
        </p:nvCxnSpPr>
        <p:spPr>
          <a:xfrm>
            <a:off x="685800" y="1066800"/>
            <a:ext cx="7543800" cy="0"/>
          </a:xfrm>
          <a:prstGeom prst="line">
            <a:avLst/>
          </a:prstGeom>
          <a:ln w="508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0000" lnSpcReduction="20000"/>
          </a:bodyPr>
          <a:lstStyle/>
          <a:p>
            <a:r>
              <a:rPr lang="en-US" dirty="0" smtClean="0"/>
              <a:t>#include&lt;</a:t>
            </a:r>
            <a:r>
              <a:rPr lang="en-US" dirty="0" err="1" smtClean="0"/>
              <a:t>stdio.h</a:t>
            </a:r>
            <a:r>
              <a:rPr lang="en-US" dirty="0" smtClean="0"/>
              <a:t>&gt;</a:t>
            </a:r>
          </a:p>
          <a:p>
            <a:r>
              <a:rPr lang="en-US" dirty="0" smtClean="0"/>
              <a:t> </a:t>
            </a:r>
            <a:r>
              <a:rPr lang="en-GB" dirty="0" smtClean="0"/>
              <a:t>main()</a:t>
            </a:r>
            <a:endParaRPr lang="en-US" dirty="0" smtClean="0"/>
          </a:p>
          <a:p>
            <a:r>
              <a:rPr lang="en-GB" dirty="0" smtClean="0"/>
              <a:t>{</a:t>
            </a:r>
            <a:endParaRPr lang="en-US" dirty="0" smtClean="0"/>
          </a:p>
          <a:p>
            <a:r>
              <a:rPr lang="en-GB" dirty="0" smtClean="0"/>
              <a:t>message();</a:t>
            </a:r>
            <a:r>
              <a:rPr lang="en-GB" dirty="0" smtClean="0">
                <a:solidFill>
                  <a:schemeClr val="accent1"/>
                </a:solidFill>
              </a:rPr>
              <a:t>	/* Calling of a function */</a:t>
            </a:r>
            <a:endParaRPr lang="en-US" dirty="0" smtClean="0">
              <a:solidFill>
                <a:schemeClr val="accent1"/>
              </a:solidFill>
            </a:endParaRPr>
          </a:p>
          <a:p>
            <a:r>
              <a:rPr lang="en-GB" dirty="0" err="1" smtClean="0"/>
              <a:t>printf</a:t>
            </a:r>
            <a:r>
              <a:rPr lang="en-GB" dirty="0" smtClean="0"/>
              <a:t>(“This is a C function\n”);</a:t>
            </a:r>
            <a:endParaRPr lang="en-US" dirty="0" smtClean="0"/>
          </a:p>
          <a:p>
            <a:r>
              <a:rPr lang="en-GB" smtClean="0"/>
              <a:t>}</a:t>
            </a:r>
          </a:p>
          <a:p>
            <a:endParaRPr lang="en-US" dirty="0" smtClean="0"/>
          </a:p>
          <a:p>
            <a:r>
              <a:rPr lang="en-GB" dirty="0" smtClean="0"/>
              <a:t>message() 	</a:t>
            </a:r>
            <a:r>
              <a:rPr lang="en-GB" dirty="0" smtClean="0">
                <a:solidFill>
                  <a:schemeClr val="accent1"/>
                </a:solidFill>
              </a:rPr>
              <a:t>/*  Function declaration*/</a:t>
            </a:r>
            <a:endParaRPr lang="en-US" dirty="0" smtClean="0">
              <a:solidFill>
                <a:schemeClr val="accent1"/>
              </a:solidFill>
            </a:endParaRPr>
          </a:p>
          <a:p>
            <a:r>
              <a:rPr lang="en-GB" dirty="0" smtClean="0"/>
              <a:t>{</a:t>
            </a:r>
            <a:endParaRPr lang="en-US" dirty="0" smtClean="0"/>
          </a:p>
          <a:p>
            <a:r>
              <a:rPr lang="en-GB" dirty="0" err="1" smtClean="0"/>
              <a:t>printf</a:t>
            </a:r>
            <a:r>
              <a:rPr lang="en-GB" dirty="0" smtClean="0"/>
              <a:t>(“\n Message function”);</a:t>
            </a:r>
            <a:endParaRPr lang="en-US" dirty="0" smtClean="0"/>
          </a:p>
          <a:p>
            <a:r>
              <a:rPr lang="en-GB" dirty="0" smtClean="0"/>
              <a:t>}</a:t>
            </a:r>
            <a:endParaRPr lang="en-US" dirty="0" smtClean="0"/>
          </a:p>
          <a:p>
            <a:r>
              <a:rPr lang="en-US" b="1" dirty="0" smtClean="0"/>
              <a:t>Output</a:t>
            </a:r>
          </a:p>
          <a:p>
            <a:r>
              <a:rPr lang="en-GB" dirty="0" smtClean="0"/>
              <a:t> </a:t>
            </a:r>
            <a:endParaRPr lang="en-US" dirty="0" smtClean="0"/>
          </a:p>
          <a:p>
            <a:r>
              <a:rPr lang="en-GB" dirty="0" smtClean="0"/>
              <a:t>Message function</a:t>
            </a:r>
            <a:endParaRPr lang="en-US" dirty="0" smtClean="0"/>
          </a:p>
          <a:p>
            <a:r>
              <a:rPr lang="en-GB" dirty="0" smtClean="0"/>
              <a:t>This is a C function</a:t>
            </a:r>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92500" lnSpcReduction="20000"/>
          </a:bodyPr>
          <a:lstStyle/>
          <a:p>
            <a:r>
              <a:rPr lang="en-GB" dirty="0" smtClean="0"/>
              <a:t>Here, through main() we are calling the function message().</a:t>
            </a:r>
          </a:p>
          <a:p>
            <a:r>
              <a:rPr lang="en-GB" dirty="0" smtClean="0"/>
              <a:t> What do we mean when we say that main() calls the function message()?</a:t>
            </a:r>
            <a:endParaRPr lang="en-US" dirty="0" smtClean="0"/>
          </a:p>
          <a:p>
            <a:r>
              <a:rPr lang="en-GB" dirty="0" smtClean="0"/>
              <a:t>We mean that the control passes to the function message(). The activity of main() is temporarily suspended;</a:t>
            </a:r>
          </a:p>
          <a:p>
            <a:r>
              <a:rPr lang="en-GB" dirty="0" smtClean="0"/>
              <a:t> it falls asleep while the message() function makes up and goes to work. </a:t>
            </a:r>
          </a:p>
          <a:p>
            <a:r>
              <a:rPr lang="en-GB" dirty="0" smtClean="0"/>
              <a:t>When the message runs out of statements to execute, the control returns to main(), which comes to life again and begins executing its code at the exact point it left off.</a:t>
            </a:r>
          </a:p>
          <a:p>
            <a:r>
              <a:rPr lang="en-GB" dirty="0" smtClean="0"/>
              <a:t> Thus, main() becomes calling function, whereas message() becomes the called function.</a:t>
            </a:r>
            <a:endParaRPr lang="en-US" dirty="0" smtClean="0"/>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The general form of a function:</a:t>
            </a:r>
            <a:r>
              <a:rPr lang="en-US" smtClean="0"/>
              <a:t/>
            </a:r>
            <a:br>
              <a:rPr lang="en-US" smtClean="0"/>
            </a:br>
            <a:endParaRPr lang="en-US"/>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GB" dirty="0" smtClean="0"/>
              <a:t> </a:t>
            </a:r>
            <a:endParaRPr lang="en-US" dirty="0" smtClean="0"/>
          </a:p>
          <a:p>
            <a:r>
              <a:rPr lang="en-GB" dirty="0" err="1" smtClean="0"/>
              <a:t>function_name</a:t>
            </a:r>
            <a:r>
              <a:rPr lang="en-GB" dirty="0" smtClean="0"/>
              <a:t>(arg1,arg2,….</a:t>
            </a:r>
            <a:r>
              <a:rPr lang="en-GB" dirty="0" err="1" smtClean="0"/>
              <a:t>argn</a:t>
            </a:r>
            <a:r>
              <a:rPr lang="en-GB" dirty="0" smtClean="0"/>
              <a:t>)</a:t>
            </a:r>
            <a:endParaRPr lang="en-US" dirty="0" smtClean="0"/>
          </a:p>
          <a:p>
            <a:r>
              <a:rPr lang="en-GB" dirty="0" smtClean="0"/>
              <a:t>type arg1,arg2,…</a:t>
            </a:r>
            <a:r>
              <a:rPr lang="en-GB" dirty="0" err="1" smtClean="0"/>
              <a:t>argn</a:t>
            </a:r>
            <a:r>
              <a:rPr lang="en-GB" dirty="0" smtClean="0"/>
              <a:t>;</a:t>
            </a:r>
            <a:endParaRPr lang="en-US" dirty="0" smtClean="0"/>
          </a:p>
          <a:p>
            <a:r>
              <a:rPr lang="en-GB" dirty="0" smtClean="0"/>
              <a:t>{</a:t>
            </a:r>
            <a:endParaRPr lang="en-US" dirty="0" smtClean="0"/>
          </a:p>
          <a:p>
            <a:r>
              <a:rPr lang="en-GB" dirty="0" smtClean="0"/>
              <a:t>statements;</a:t>
            </a:r>
            <a:endParaRPr lang="en-US" dirty="0" smtClean="0"/>
          </a:p>
          <a:p>
            <a:r>
              <a:rPr lang="en-GB" dirty="0" smtClean="0"/>
              <a:t>statements;</a:t>
            </a:r>
            <a:endParaRPr lang="en-US" dirty="0" smtClean="0"/>
          </a:p>
          <a:p>
            <a:r>
              <a:rPr lang="en-GB" dirty="0" smtClean="0"/>
              <a:t>……..</a:t>
            </a:r>
            <a:endParaRPr lang="en-US" dirty="0" smtClean="0"/>
          </a:p>
          <a:p>
            <a:r>
              <a:rPr lang="en-GB" dirty="0" smtClean="0"/>
              <a:t>}</a:t>
            </a:r>
          </a:p>
          <a:p>
            <a:r>
              <a:rPr lang="en-GB" b="1" dirty="0" smtClean="0"/>
              <a:t>N.B:</a:t>
            </a:r>
            <a:r>
              <a:rPr lang="en-GB" dirty="0" smtClean="0"/>
              <a:t> A function definition has 2 parts:</a:t>
            </a:r>
            <a:endParaRPr lang="en-US" dirty="0" smtClean="0"/>
          </a:p>
          <a:p>
            <a:r>
              <a:rPr lang="en-GB" dirty="0" smtClean="0"/>
              <a:t>		-argument declaration</a:t>
            </a:r>
            <a:endParaRPr lang="en-US" dirty="0" smtClean="0"/>
          </a:p>
          <a:p>
            <a:r>
              <a:rPr lang="en-GB" dirty="0" smtClean="0"/>
              <a:t>		-body of the function</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77000"/>
          </a:xfrm>
        </p:spPr>
        <p:txBody>
          <a:bodyPr>
            <a:noAutofit/>
          </a:bodyPr>
          <a:lstStyle/>
          <a:p>
            <a:r>
              <a:rPr lang="en-US" sz="1800" dirty="0" smtClean="0"/>
              <a:t> #include&lt;</a:t>
            </a:r>
            <a:r>
              <a:rPr lang="en-US" sz="1800" dirty="0" err="1" smtClean="0"/>
              <a:t>stdio.h</a:t>
            </a:r>
            <a:r>
              <a:rPr lang="en-US" sz="1800" dirty="0" smtClean="0"/>
              <a:t>&gt; </a:t>
            </a:r>
            <a:r>
              <a:rPr lang="en-GB" sz="1800" dirty="0" smtClean="0"/>
              <a:t>main() </a:t>
            </a:r>
            <a:endParaRPr lang="en-US" sz="1800" dirty="0" smtClean="0"/>
          </a:p>
          <a:p>
            <a:r>
              <a:rPr lang="en-GB" sz="1800" dirty="0" smtClean="0"/>
              <a:t>{</a:t>
            </a:r>
            <a:endParaRPr lang="en-US" sz="1800" dirty="0" smtClean="0"/>
          </a:p>
          <a:p>
            <a:r>
              <a:rPr lang="en-GB" sz="1800" dirty="0" err="1" smtClean="0"/>
              <a:t>printf</a:t>
            </a:r>
            <a:r>
              <a:rPr lang="en-GB" sz="1800" dirty="0" smtClean="0"/>
              <a:t>(“Country\n”);</a:t>
            </a:r>
            <a:endParaRPr lang="en-US" sz="1800" dirty="0" smtClean="0"/>
          </a:p>
          <a:p>
            <a:r>
              <a:rPr lang="en-GB" sz="1800" dirty="0" err="1" smtClean="0"/>
              <a:t>rwanda</a:t>
            </a:r>
            <a:r>
              <a:rPr lang="en-GB" sz="1800" dirty="0" smtClean="0"/>
              <a:t>();</a:t>
            </a:r>
            <a:endParaRPr lang="en-US" sz="1800" dirty="0" smtClean="0"/>
          </a:p>
          <a:p>
            <a:r>
              <a:rPr lang="en-GB" sz="1800" dirty="0" err="1" smtClean="0"/>
              <a:t>kenya</a:t>
            </a:r>
            <a:r>
              <a:rPr lang="en-GB" sz="1800" dirty="0" smtClean="0"/>
              <a:t>();</a:t>
            </a:r>
            <a:endParaRPr lang="en-US" sz="1800" dirty="0" smtClean="0"/>
          </a:p>
          <a:p>
            <a:r>
              <a:rPr lang="en-GB" sz="1800" dirty="0" smtClean="0"/>
              <a:t>}</a:t>
            </a:r>
            <a:endParaRPr lang="en-US" sz="1800" dirty="0" smtClean="0"/>
          </a:p>
          <a:p>
            <a:r>
              <a:rPr lang="en-GB" sz="1800" dirty="0" err="1" smtClean="0"/>
              <a:t>rwanda</a:t>
            </a:r>
            <a:r>
              <a:rPr lang="en-GB" sz="1800" dirty="0" smtClean="0"/>
              <a:t>()</a:t>
            </a:r>
            <a:endParaRPr lang="en-US" sz="1800" dirty="0" smtClean="0"/>
          </a:p>
          <a:p>
            <a:r>
              <a:rPr lang="en-GB" sz="1800" dirty="0" smtClean="0"/>
              <a:t>{</a:t>
            </a:r>
            <a:endParaRPr lang="en-US" sz="1800" dirty="0" smtClean="0"/>
          </a:p>
          <a:p>
            <a:r>
              <a:rPr lang="en-GB" sz="1800" dirty="0" err="1" smtClean="0"/>
              <a:t>printf</a:t>
            </a:r>
            <a:r>
              <a:rPr lang="en-GB" sz="1800" dirty="0" smtClean="0"/>
              <a:t>(“Rwanda\n”);</a:t>
            </a:r>
            <a:endParaRPr lang="en-US" sz="1800" dirty="0" smtClean="0"/>
          </a:p>
          <a:p>
            <a:r>
              <a:rPr lang="en-GB" sz="1800" dirty="0" smtClean="0"/>
              <a:t>}</a:t>
            </a:r>
            <a:endParaRPr lang="en-US" sz="1800" dirty="0" smtClean="0"/>
          </a:p>
          <a:p>
            <a:r>
              <a:rPr lang="en-GB" sz="1800" dirty="0" err="1" smtClean="0"/>
              <a:t>kenya</a:t>
            </a:r>
            <a:r>
              <a:rPr lang="en-GB" sz="1800" dirty="0" smtClean="0"/>
              <a:t>()</a:t>
            </a:r>
            <a:endParaRPr lang="en-US" sz="1800" dirty="0" smtClean="0"/>
          </a:p>
          <a:p>
            <a:r>
              <a:rPr lang="en-GB" sz="1800" dirty="0" smtClean="0"/>
              <a:t>{</a:t>
            </a:r>
            <a:endParaRPr lang="en-US" sz="1800" dirty="0" smtClean="0"/>
          </a:p>
          <a:p>
            <a:r>
              <a:rPr lang="en-GB" sz="1800" dirty="0" err="1" smtClean="0"/>
              <a:t>printf</a:t>
            </a:r>
            <a:r>
              <a:rPr lang="en-GB" sz="1800" dirty="0" smtClean="0"/>
              <a:t>(“Kenya\n”);</a:t>
            </a:r>
            <a:endParaRPr lang="en-US" sz="1800" dirty="0" smtClean="0"/>
          </a:p>
          <a:p>
            <a:r>
              <a:rPr lang="en-GB" sz="1800" dirty="0" smtClean="0"/>
              <a:t>}</a:t>
            </a:r>
            <a:endParaRPr lang="en-US" sz="1800" b="1" dirty="0" smtClean="0"/>
          </a:p>
          <a:p>
            <a:pPr>
              <a:buNone/>
            </a:pPr>
            <a:r>
              <a:rPr lang="en-US" sz="1800" dirty="0" smtClean="0"/>
              <a:t>Output</a:t>
            </a:r>
            <a:endParaRPr lang="en-US" sz="1800" b="1" dirty="0" smtClean="0"/>
          </a:p>
          <a:p>
            <a:pPr>
              <a:buNone/>
            </a:pPr>
            <a:r>
              <a:rPr lang="en-GB" sz="1800" dirty="0" smtClean="0"/>
              <a:t> </a:t>
            </a:r>
            <a:endParaRPr lang="en-US" sz="1800" dirty="0" smtClean="0"/>
          </a:p>
          <a:p>
            <a:r>
              <a:rPr lang="en-GB" sz="1800" dirty="0" smtClean="0"/>
              <a:t>Country</a:t>
            </a:r>
            <a:endParaRPr lang="en-US" sz="1800" dirty="0" smtClean="0"/>
          </a:p>
          <a:p>
            <a:r>
              <a:rPr lang="en-GB" sz="1800" dirty="0" smtClean="0"/>
              <a:t>Rwanda</a:t>
            </a:r>
            <a:endParaRPr lang="en-US" sz="1800" dirty="0" smtClean="0"/>
          </a:p>
          <a:p>
            <a:r>
              <a:rPr lang="en-GB" sz="1800" dirty="0" smtClean="0"/>
              <a:t>Kenya</a:t>
            </a:r>
            <a:endParaRPr lang="en-US" sz="1800" dirty="0" smtClean="0"/>
          </a:p>
          <a:p>
            <a:endParaRPr lang="en-US" sz="18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Different  types  of  function:</a:t>
            </a:r>
            <a:endParaRPr lang="en-US" dirty="0"/>
          </a:p>
        </p:txBody>
      </p:sp>
      <p:sp>
        <p:nvSpPr>
          <p:cNvPr id="3" name="Content Placeholder 2"/>
          <p:cNvSpPr>
            <a:spLocks noGrp="1"/>
          </p:cNvSpPr>
          <p:nvPr>
            <p:ph idx="1"/>
          </p:nvPr>
        </p:nvSpPr>
        <p:spPr>
          <a:xfrm>
            <a:off x="0" y="1676400"/>
            <a:ext cx="9144000" cy="4525963"/>
          </a:xfrm>
        </p:spPr>
        <p:txBody>
          <a:bodyPr/>
          <a:lstStyle/>
          <a:p>
            <a:pPr lvl="0">
              <a:buFont typeface="Wingdings" pitchFamily="2" charset="2"/>
              <a:buChar char="Ø"/>
            </a:pPr>
            <a:r>
              <a:rPr lang="en-US" dirty="0" smtClean="0"/>
              <a:t>Functions with no arguments and no return values.</a:t>
            </a:r>
          </a:p>
          <a:p>
            <a:pPr lvl="0">
              <a:buNone/>
            </a:pPr>
            <a:endParaRPr lang="en-US" dirty="0" smtClean="0"/>
          </a:p>
          <a:p>
            <a:pPr lvl="0">
              <a:buFont typeface="Wingdings" pitchFamily="2" charset="2"/>
              <a:buChar char="Ø"/>
            </a:pPr>
            <a:r>
              <a:rPr lang="en-US" dirty="0" smtClean="0"/>
              <a:t>Functions with arguments and no return values. </a:t>
            </a:r>
          </a:p>
          <a:p>
            <a:pPr lvl="0">
              <a:buFont typeface="Wingdings" pitchFamily="2" charset="2"/>
              <a:buChar char="Ø"/>
            </a:pPr>
            <a:endParaRPr lang="en-US" dirty="0" smtClean="0"/>
          </a:p>
          <a:p>
            <a:pPr lvl="0">
              <a:buFont typeface="Wingdings" pitchFamily="2" charset="2"/>
              <a:buChar char="Ø"/>
            </a:pPr>
            <a:r>
              <a:rPr lang="en-US" dirty="0" smtClean="0"/>
              <a:t>Functions with arguments and return values.</a:t>
            </a:r>
          </a:p>
          <a:p>
            <a:pPr lvl="0">
              <a:buNone/>
            </a:pPr>
            <a:endParaRPr lang="en-US" dirty="0" smtClean="0"/>
          </a:p>
          <a:p>
            <a:pPr lvl="0">
              <a:buFont typeface="Wingdings" pitchFamily="2" charset="2"/>
              <a:buChar char="Ø"/>
            </a:pPr>
            <a:r>
              <a:rPr lang="en-US" dirty="0" smtClean="0"/>
              <a:t>Functions with no arguments and return values.</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smtClean="0"/>
              <a:t>1. </a:t>
            </a:r>
            <a:r>
              <a:rPr lang="en-US" dirty="0" smtClean="0"/>
              <a:t>Function </a:t>
            </a:r>
            <a:r>
              <a:rPr lang="en-US" dirty="0"/>
              <a:t>with arguments and return value</a:t>
            </a:r>
            <a:br>
              <a:rPr lang="en-US" dirty="0"/>
            </a:br>
            <a:r>
              <a:rPr lang="en-US" b="1" dirty="0"/>
              <a:t/>
            </a:r>
            <a:br>
              <a:rPr lang="en-US" b="1" dirty="0"/>
            </a:br>
            <a:endParaRPr lang="en-US" b="1" dirty="0"/>
          </a:p>
        </p:txBody>
      </p:sp>
      <p:sp>
        <p:nvSpPr>
          <p:cNvPr id="3" name="Content Placeholder 2"/>
          <p:cNvSpPr>
            <a:spLocks noGrp="1"/>
          </p:cNvSpPr>
          <p:nvPr>
            <p:ph idx="1"/>
          </p:nvPr>
        </p:nvSpPr>
        <p:spPr/>
        <p:txBody>
          <a:bodyPr/>
          <a:lstStyle/>
          <a:p>
            <a:pPr>
              <a:buFont typeface="Wingdings" pitchFamily="2" charset="2"/>
              <a:buChar char="Ø"/>
            </a:pPr>
            <a:r>
              <a:rPr lang="en-US" dirty="0" smtClean="0"/>
              <a:t>Here</a:t>
            </a:r>
            <a:r>
              <a:rPr lang="en-US" dirty="0"/>
              <a:t>, calling function of arguments that passed to the called function and called function return value to calling function. </a:t>
            </a:r>
          </a:p>
          <a:p>
            <a:pPr marL="0" indent="0">
              <a:buNone/>
            </a:pPr>
            <a:endParaRPr lang="en-US" dirty="0"/>
          </a:p>
          <a:p>
            <a:pPr marL="0" indent="0">
              <a:buNone/>
            </a:pPr>
            <a:r>
              <a:rPr lang="en-US" dirty="0"/>
              <a:t>Example:  A program to compare two integer numbers and display the greatest one</a:t>
            </a:r>
          </a:p>
        </p:txBody>
      </p:sp>
    </p:spTree>
    <p:extLst>
      <p:ext uri="{BB962C8B-B14F-4D97-AF65-F5344CB8AC3E}">
        <p14:creationId xmlns:p14="http://schemas.microsoft.com/office/powerpoint/2010/main" val="307860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smtClean="0"/>
              <a:t>2. </a:t>
            </a:r>
            <a:r>
              <a:rPr lang="en-US" sz="4000" dirty="0" smtClean="0"/>
              <a:t>Function </a:t>
            </a:r>
            <a:r>
              <a:rPr lang="en-US" sz="4000" dirty="0"/>
              <a:t>with arguments and return value</a:t>
            </a:r>
            <a:r>
              <a:rPr lang="en-US" dirty="0"/>
              <a:t/>
            </a:r>
            <a:br>
              <a:rPr lang="en-US" dirty="0"/>
            </a:br>
            <a:endParaRPr lang="en-US" dirty="0"/>
          </a:p>
        </p:txBody>
      </p:sp>
      <p:sp>
        <p:nvSpPr>
          <p:cNvPr id="3" name="Content Placeholder 2"/>
          <p:cNvSpPr>
            <a:spLocks noGrp="1"/>
          </p:cNvSpPr>
          <p:nvPr>
            <p:ph idx="1"/>
          </p:nvPr>
        </p:nvSpPr>
        <p:spPr>
          <a:xfrm>
            <a:off x="457200" y="1295400"/>
            <a:ext cx="8229600" cy="5105400"/>
          </a:xfrm>
        </p:spPr>
        <p:txBody>
          <a:bodyPr>
            <a:noAutofit/>
          </a:bodyPr>
          <a:lstStyle/>
          <a:p>
            <a:pPr marL="0" indent="0">
              <a:buNone/>
            </a:pPr>
            <a:r>
              <a:rPr lang="en-US" sz="2000" dirty="0"/>
              <a:t>#include &lt;stdio.h&gt;</a:t>
            </a:r>
          </a:p>
          <a:p>
            <a:pPr marL="0" indent="0">
              <a:buNone/>
            </a:pPr>
            <a:r>
              <a:rPr lang="en-US" sz="2000" dirty="0"/>
              <a:t>int </a:t>
            </a:r>
            <a:r>
              <a:rPr lang="en-US" sz="2000" dirty="0" err="1"/>
              <a:t>greatNum</a:t>
            </a:r>
            <a:r>
              <a:rPr lang="en-US" sz="2000" dirty="0"/>
              <a:t>(int x, int y);</a:t>
            </a:r>
          </a:p>
          <a:p>
            <a:pPr marL="0" indent="0">
              <a:buNone/>
            </a:pPr>
            <a:r>
              <a:rPr lang="en-US" sz="2000" dirty="0"/>
              <a:t>int main(){</a:t>
            </a:r>
          </a:p>
          <a:p>
            <a:pPr marL="0" indent="0">
              <a:buNone/>
            </a:pPr>
            <a:r>
              <a:rPr lang="en-US" sz="2000" dirty="0"/>
              <a:t>  int a, b, result;</a:t>
            </a:r>
          </a:p>
          <a:p>
            <a:pPr marL="0" indent="0">
              <a:buNone/>
            </a:pPr>
            <a:r>
              <a:rPr lang="en-US" sz="2000" dirty="0"/>
              <a:t>  printf("Enter two integers :");</a:t>
            </a:r>
          </a:p>
          <a:p>
            <a:pPr marL="0" indent="0">
              <a:buNone/>
            </a:pPr>
            <a:r>
              <a:rPr lang="en-US" sz="2000" dirty="0"/>
              <a:t>  scanf("%d %</a:t>
            </a:r>
            <a:r>
              <a:rPr lang="en-US" sz="2000" dirty="0" err="1"/>
              <a:t>d",&amp;a</a:t>
            </a:r>
            <a:r>
              <a:rPr lang="en-US" sz="2000" dirty="0"/>
              <a:t> ,&amp;b);</a:t>
            </a:r>
          </a:p>
          <a:p>
            <a:pPr marL="0" indent="0">
              <a:buNone/>
            </a:pPr>
            <a:r>
              <a:rPr lang="en-US" sz="2000" dirty="0"/>
              <a:t>  result = </a:t>
            </a:r>
            <a:r>
              <a:rPr lang="en-US" sz="2000" dirty="0" err="1"/>
              <a:t>greatNum</a:t>
            </a:r>
            <a:r>
              <a:rPr lang="en-US" sz="2000" dirty="0"/>
              <a:t>(a, b); //Function called and argument is passed</a:t>
            </a:r>
          </a:p>
          <a:p>
            <a:pPr marL="0" indent="0">
              <a:buNone/>
            </a:pPr>
            <a:r>
              <a:rPr lang="en-US" sz="2000" dirty="0"/>
              <a:t>  printf("The greater number is %d", result);}</a:t>
            </a:r>
          </a:p>
          <a:p>
            <a:pPr marL="0" indent="0">
              <a:buNone/>
            </a:pPr>
            <a:r>
              <a:rPr lang="en-US" sz="2000" dirty="0"/>
              <a:t>int </a:t>
            </a:r>
            <a:r>
              <a:rPr lang="en-US" sz="2000" dirty="0" err="1"/>
              <a:t>greatNum</a:t>
            </a:r>
            <a:r>
              <a:rPr lang="en-US" sz="2000" dirty="0"/>
              <a:t>(int x, int y){</a:t>
            </a:r>
          </a:p>
          <a:p>
            <a:pPr marL="0" indent="0">
              <a:buNone/>
            </a:pPr>
            <a:r>
              <a:rPr lang="en-US" sz="2000" dirty="0"/>
              <a:t>  if(x &gt; y){</a:t>
            </a:r>
          </a:p>
          <a:p>
            <a:pPr marL="0" indent="0">
              <a:buNone/>
            </a:pPr>
            <a:r>
              <a:rPr lang="en-US" sz="2000" dirty="0"/>
              <a:t>    return x; }</a:t>
            </a:r>
          </a:p>
          <a:p>
            <a:pPr marL="0" indent="0">
              <a:buNone/>
            </a:pPr>
            <a:r>
              <a:rPr lang="en-US" sz="2000" dirty="0"/>
              <a:t>  else {</a:t>
            </a:r>
          </a:p>
          <a:p>
            <a:pPr marL="0" indent="0">
              <a:buNone/>
            </a:pPr>
            <a:r>
              <a:rPr lang="en-US" sz="2000" dirty="0"/>
              <a:t>    return y; }</a:t>
            </a:r>
          </a:p>
          <a:p>
            <a:pPr marL="0" indent="0">
              <a:buNone/>
            </a:pPr>
            <a:r>
              <a:rPr lang="en-US" sz="2000" dirty="0"/>
              <a:t>}</a:t>
            </a:r>
          </a:p>
          <a:p>
            <a:pPr marL="0" indent="0">
              <a:buNone/>
            </a:pPr>
            <a:endParaRPr lang="en-US" sz="2000" dirty="0"/>
          </a:p>
        </p:txBody>
      </p:sp>
    </p:spTree>
    <p:extLst>
      <p:ext uri="{BB962C8B-B14F-4D97-AF65-F5344CB8AC3E}">
        <p14:creationId xmlns:p14="http://schemas.microsoft.com/office/powerpoint/2010/main" val="1788015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normAutofit fontScale="70000" lnSpcReduction="20000"/>
          </a:bodyPr>
          <a:lstStyle/>
          <a:p>
            <a:r>
              <a:rPr lang="en-US" dirty="0"/>
              <a:t>#include &lt;</a:t>
            </a:r>
            <a:r>
              <a:rPr lang="en-US" dirty="0" err="1"/>
              <a:t>stdio.h</a:t>
            </a:r>
            <a:r>
              <a:rPr lang="en-US" dirty="0"/>
              <a:t>&gt;</a:t>
            </a:r>
          </a:p>
          <a:p>
            <a:r>
              <a:rPr lang="en-US" dirty="0" err="1"/>
              <a:t>Int</a:t>
            </a:r>
            <a:r>
              <a:rPr lang="en-US" dirty="0"/>
              <a:t> add(</a:t>
            </a:r>
            <a:r>
              <a:rPr lang="en-US" dirty="0" err="1"/>
              <a:t>a,b</a:t>
            </a:r>
            <a:r>
              <a:rPr lang="en-US" dirty="0"/>
              <a:t>)</a:t>
            </a:r>
          </a:p>
          <a:p>
            <a:r>
              <a:rPr lang="en-US" dirty="0"/>
              <a:t>{</a:t>
            </a:r>
          </a:p>
          <a:p>
            <a:r>
              <a:rPr lang="en-US" dirty="0"/>
              <a:t>Return </a:t>
            </a:r>
            <a:r>
              <a:rPr lang="en-US" dirty="0" err="1"/>
              <a:t>a+b</a:t>
            </a:r>
            <a:r>
              <a:rPr lang="en-US" dirty="0"/>
              <a:t>;</a:t>
            </a:r>
          </a:p>
          <a:p>
            <a:r>
              <a:rPr lang="en-US" dirty="0"/>
              <a:t>}</a:t>
            </a:r>
          </a:p>
          <a:p>
            <a:r>
              <a:rPr lang="en-US" dirty="0"/>
              <a:t>main()</a:t>
            </a:r>
          </a:p>
          <a:p>
            <a:r>
              <a:rPr lang="en-US" dirty="0"/>
              <a:t>{</a:t>
            </a:r>
          </a:p>
          <a:p>
            <a:r>
              <a:rPr lang="en-US" dirty="0" err="1"/>
              <a:t>Int</a:t>
            </a:r>
            <a:r>
              <a:rPr lang="en-US" dirty="0"/>
              <a:t> c;</a:t>
            </a:r>
          </a:p>
          <a:p>
            <a:r>
              <a:rPr lang="en-US" dirty="0"/>
              <a:t>C=add(9,10);</a:t>
            </a:r>
          </a:p>
          <a:p>
            <a:r>
              <a:rPr lang="en-US" dirty="0" err="1"/>
              <a:t>printf</a:t>
            </a:r>
            <a:r>
              <a:rPr lang="en-US" dirty="0"/>
              <a:t>("the sum of two integers is =%</a:t>
            </a:r>
            <a:r>
              <a:rPr lang="en-US" dirty="0" err="1"/>
              <a:t>d”,c</a:t>
            </a:r>
            <a:r>
              <a:rPr lang="en-US" dirty="0"/>
              <a:t>);</a:t>
            </a:r>
          </a:p>
          <a:p>
            <a:r>
              <a:rPr lang="fr-FR" dirty="0"/>
              <a:t>}</a:t>
            </a:r>
            <a:endParaRPr lang="en-US" dirty="0"/>
          </a:p>
          <a:p>
            <a:r>
              <a:rPr lang="en-US" dirty="0"/>
              <a:t> </a:t>
            </a:r>
          </a:p>
          <a:p>
            <a:endParaRPr lang="en-US" dirty="0"/>
          </a:p>
        </p:txBody>
      </p:sp>
    </p:spTree>
    <p:extLst>
      <p:ext uri="{BB962C8B-B14F-4D97-AF65-F5344CB8AC3E}">
        <p14:creationId xmlns:p14="http://schemas.microsoft.com/office/powerpoint/2010/main" val="2663702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Function </a:t>
            </a:r>
            <a:r>
              <a:rPr lang="en-US" dirty="0"/>
              <a:t>with no arguments and no return value:</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a:t>//</a:t>
            </a:r>
            <a:r>
              <a:rPr lang="en-US" b="1" i="1" dirty="0"/>
              <a:t>There is no communication between calling and called function. They read data &amp; print result in same block //</a:t>
            </a:r>
          </a:p>
          <a:p>
            <a:pPr marL="0" indent="0">
              <a:buNone/>
            </a:pPr>
            <a:r>
              <a:rPr lang="en-US" dirty="0"/>
              <a:t>#include &lt;stdio.h&gt;</a:t>
            </a:r>
            <a:br>
              <a:rPr lang="en-US" dirty="0"/>
            </a:br>
            <a:r>
              <a:rPr lang="en-US" dirty="0"/>
              <a:t>int main(){</a:t>
            </a:r>
            <a:br>
              <a:rPr lang="en-US" dirty="0"/>
            </a:br>
            <a:r>
              <a:rPr lang="en-US" dirty="0"/>
              <a:t>  </a:t>
            </a:r>
            <a:r>
              <a:rPr lang="en-US" dirty="0" err="1"/>
              <a:t>greatNum</a:t>
            </a:r>
            <a:r>
              <a:rPr lang="en-US" dirty="0"/>
              <a:t>(); // argument is not passed</a:t>
            </a:r>
            <a:br>
              <a:rPr lang="en-US" dirty="0"/>
            </a:br>
            <a:r>
              <a:rPr lang="en-US" dirty="0"/>
              <a:t>  return 0;</a:t>
            </a:r>
            <a:br>
              <a:rPr lang="en-US" dirty="0"/>
            </a:br>
            <a:r>
              <a:rPr lang="en-US" dirty="0"/>
              <a:t>}</a:t>
            </a:r>
            <a:br>
              <a:rPr lang="en-US" dirty="0"/>
            </a:br>
            <a:r>
              <a:rPr lang="en-US" dirty="0"/>
              <a:t>                        // return type is void meaning doesn't return any value</a:t>
            </a:r>
            <a:br>
              <a:rPr lang="en-US" dirty="0"/>
            </a:br>
            <a:r>
              <a:rPr lang="en-US" dirty="0"/>
              <a:t>void </a:t>
            </a:r>
            <a:r>
              <a:rPr lang="en-US" dirty="0" err="1"/>
              <a:t>greatNum</a:t>
            </a:r>
            <a:r>
              <a:rPr lang="en-US" dirty="0"/>
              <a:t>(){</a:t>
            </a:r>
            <a:br>
              <a:rPr lang="en-US" dirty="0"/>
            </a:br>
            <a:r>
              <a:rPr lang="en-US" dirty="0"/>
              <a:t>  </a:t>
            </a:r>
            <a:r>
              <a:rPr lang="en-US" dirty="0" err="1"/>
              <a:t>inta</a:t>
            </a:r>
            <a:r>
              <a:rPr lang="en-US" dirty="0"/>
              <a:t>, b;</a:t>
            </a:r>
            <a:br>
              <a:rPr lang="en-US" dirty="0"/>
            </a:br>
            <a:r>
              <a:rPr lang="en-US" dirty="0"/>
              <a:t>  printf("Enter two integer: ");</a:t>
            </a:r>
            <a:br>
              <a:rPr lang="en-US" dirty="0"/>
            </a:br>
            <a:r>
              <a:rPr lang="en-US" dirty="0"/>
              <a:t>  scanf("%d %</a:t>
            </a:r>
            <a:r>
              <a:rPr lang="en-US" dirty="0" err="1"/>
              <a:t>d",&amp;a</a:t>
            </a:r>
            <a:r>
              <a:rPr lang="en-US" dirty="0"/>
              <a:t> ,&amp;b);</a:t>
            </a:r>
            <a:br>
              <a:rPr lang="en-US" dirty="0"/>
            </a:br>
            <a:r>
              <a:rPr lang="en-US" dirty="0"/>
              <a:t>  if(a &gt; b){</a:t>
            </a:r>
            <a:br>
              <a:rPr lang="en-US" dirty="0"/>
            </a:br>
            <a:r>
              <a:rPr lang="en-US" dirty="0"/>
              <a:t>    printf("The greater number is : %d", a);</a:t>
            </a:r>
            <a:br>
              <a:rPr lang="en-US" dirty="0"/>
            </a:br>
            <a:r>
              <a:rPr lang="en-US" dirty="0"/>
              <a:t>  }</a:t>
            </a:r>
            <a:br>
              <a:rPr lang="en-US" dirty="0"/>
            </a:br>
            <a:r>
              <a:rPr lang="en-US" dirty="0"/>
              <a:t>  else {</a:t>
            </a:r>
            <a:br>
              <a:rPr lang="en-US" dirty="0"/>
            </a:br>
            <a:r>
              <a:rPr lang="en-US" dirty="0"/>
              <a:t>    printf("The greater number is : %d", b);</a:t>
            </a:r>
            <a:br>
              <a:rPr lang="en-US" dirty="0"/>
            </a:br>
            <a:r>
              <a:rPr lang="en-US" dirty="0"/>
              <a:t>  }</a:t>
            </a:r>
            <a:br>
              <a:rPr lang="en-US" dirty="0"/>
            </a:br>
            <a:r>
              <a:rPr lang="en-US" dirty="0"/>
              <a:t>}</a:t>
            </a:r>
          </a:p>
          <a:p>
            <a:pPr marL="0" indent="0">
              <a:buNone/>
            </a:pPr>
            <a:endParaRPr lang="en-US" dirty="0"/>
          </a:p>
        </p:txBody>
      </p:sp>
    </p:spTree>
    <p:extLst>
      <p:ext uri="{BB962C8B-B14F-4D97-AF65-F5344CB8AC3E}">
        <p14:creationId xmlns:p14="http://schemas.microsoft.com/office/powerpoint/2010/main" val="1218553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a:xfrm>
            <a:off x="304800" y="990600"/>
            <a:ext cx="8229600" cy="4525963"/>
          </a:xfrm>
        </p:spPr>
        <p:txBody>
          <a:bodyPr>
            <a:normAutofit fontScale="70000" lnSpcReduction="20000"/>
          </a:bodyPr>
          <a:lstStyle/>
          <a:p>
            <a:r>
              <a:rPr lang="en-US" dirty="0" smtClean="0"/>
              <a:t>#</a:t>
            </a:r>
            <a:r>
              <a:rPr lang="en-US" dirty="0"/>
              <a:t>include &lt;</a:t>
            </a:r>
            <a:r>
              <a:rPr lang="en-US" dirty="0" err="1"/>
              <a:t>stdio.h</a:t>
            </a:r>
            <a:r>
              <a:rPr lang="en-US" dirty="0"/>
              <a:t>&gt;</a:t>
            </a:r>
          </a:p>
          <a:p>
            <a:r>
              <a:rPr lang="en-US" dirty="0"/>
              <a:t>void </a:t>
            </a:r>
            <a:r>
              <a:rPr lang="en-US" dirty="0" err="1"/>
              <a:t>myfirstf</a:t>
            </a:r>
            <a:r>
              <a:rPr lang="en-US" dirty="0"/>
              <a:t>()</a:t>
            </a:r>
          </a:p>
          <a:p>
            <a:r>
              <a:rPr lang="en-US" dirty="0"/>
              <a:t>{</a:t>
            </a:r>
          </a:p>
          <a:p>
            <a:r>
              <a:rPr lang="en-US" dirty="0" err="1"/>
              <a:t>int</a:t>
            </a:r>
            <a:r>
              <a:rPr lang="en-US" dirty="0"/>
              <a:t> </a:t>
            </a:r>
            <a:r>
              <a:rPr lang="en-US" dirty="0" err="1"/>
              <a:t>i</a:t>
            </a:r>
            <a:r>
              <a:rPr lang="en-US" dirty="0"/>
              <a:t>;</a:t>
            </a:r>
          </a:p>
          <a:p>
            <a:r>
              <a:rPr lang="en-US" dirty="0"/>
              <a:t>For(</a:t>
            </a:r>
            <a:r>
              <a:rPr lang="en-US" dirty="0" err="1"/>
              <a:t>i</a:t>
            </a:r>
            <a:r>
              <a:rPr lang="en-US" dirty="0"/>
              <a:t>=0,i&lt;=5,i++)</a:t>
            </a:r>
          </a:p>
          <a:p>
            <a:r>
              <a:rPr lang="en-US" dirty="0" err="1"/>
              <a:t>Printf</a:t>
            </a:r>
            <a:r>
              <a:rPr lang="en-US" dirty="0"/>
              <a:t>(“%d\n”,</a:t>
            </a:r>
            <a:r>
              <a:rPr lang="en-US" dirty="0" err="1"/>
              <a:t>i</a:t>
            </a:r>
            <a:r>
              <a:rPr lang="en-US" dirty="0"/>
              <a:t>)</a:t>
            </a:r>
          </a:p>
          <a:p>
            <a:r>
              <a:rPr lang="en-US" dirty="0" err="1"/>
              <a:t>Printf</a:t>
            </a:r>
            <a:r>
              <a:rPr lang="en-US" dirty="0"/>
              <a:t>(“my first c program function”);}</a:t>
            </a:r>
          </a:p>
          <a:p>
            <a:r>
              <a:rPr lang="en-US" dirty="0"/>
              <a:t>main()</a:t>
            </a:r>
          </a:p>
          <a:p>
            <a:r>
              <a:rPr lang="en-US" dirty="0"/>
              <a:t>{</a:t>
            </a:r>
          </a:p>
          <a:p>
            <a:r>
              <a:rPr lang="en-US" dirty="0" err="1"/>
              <a:t>Printf</a:t>
            </a:r>
            <a:r>
              <a:rPr lang="en-US" dirty="0"/>
              <a:t>(“hello in c programming”);</a:t>
            </a:r>
          </a:p>
          <a:p>
            <a:r>
              <a:rPr lang="en-US" dirty="0" err="1"/>
              <a:t>myfirstf</a:t>
            </a:r>
            <a:r>
              <a:rPr lang="en-US" dirty="0"/>
              <a:t> ();</a:t>
            </a:r>
          </a:p>
          <a:p>
            <a:r>
              <a:rPr lang="en-US" dirty="0" err="1"/>
              <a:t>myfirstf</a:t>
            </a:r>
            <a:r>
              <a:rPr lang="en-US" dirty="0"/>
              <a:t> ();}</a:t>
            </a:r>
          </a:p>
          <a:p>
            <a:endParaRPr lang="en-US" dirty="0"/>
          </a:p>
        </p:txBody>
      </p:sp>
    </p:spTree>
    <p:extLst>
      <p:ext uri="{BB962C8B-B14F-4D97-AF65-F5344CB8AC3E}">
        <p14:creationId xmlns:p14="http://schemas.microsoft.com/office/powerpoint/2010/main" val="193378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Function </a:t>
            </a:r>
            <a:r>
              <a:rPr lang="en-US" dirty="0"/>
              <a:t>with arguments but no return value</a:t>
            </a:r>
          </a:p>
        </p:txBody>
      </p:sp>
      <p:sp>
        <p:nvSpPr>
          <p:cNvPr id="3" name="Content Placeholder 2"/>
          <p:cNvSpPr>
            <a:spLocks noGrp="1"/>
          </p:cNvSpPr>
          <p:nvPr>
            <p:ph idx="1"/>
          </p:nvPr>
        </p:nvSpPr>
        <p:spPr/>
        <p:txBody>
          <a:bodyPr>
            <a:normAutofit fontScale="55000" lnSpcReduction="20000"/>
          </a:bodyPr>
          <a:lstStyle/>
          <a:p>
            <a:r>
              <a:rPr lang="en-US" dirty="0"/>
              <a:t>#include &lt;stdio.h&gt;</a:t>
            </a:r>
            <a:br>
              <a:rPr lang="en-US" dirty="0"/>
            </a:br>
            <a:r>
              <a:rPr lang="en-US" dirty="0"/>
              <a:t>int main(){</a:t>
            </a:r>
            <a:br>
              <a:rPr lang="en-US" dirty="0"/>
            </a:br>
            <a:r>
              <a:rPr lang="en-US" dirty="0"/>
              <a:t>  int a, b;</a:t>
            </a:r>
            <a:br>
              <a:rPr lang="en-US" dirty="0"/>
            </a:br>
            <a:r>
              <a:rPr lang="en-US" dirty="0"/>
              <a:t>  printf("Enter two integers :");</a:t>
            </a:r>
            <a:br>
              <a:rPr lang="en-US" dirty="0"/>
            </a:br>
            <a:r>
              <a:rPr lang="en-US" dirty="0"/>
              <a:t>  scanf("%d %</a:t>
            </a:r>
            <a:r>
              <a:rPr lang="en-US" dirty="0" err="1"/>
              <a:t>d",&amp;a</a:t>
            </a:r>
            <a:r>
              <a:rPr lang="en-US" dirty="0"/>
              <a:t> ,&amp;b);</a:t>
            </a:r>
            <a:br>
              <a:rPr lang="en-US" dirty="0"/>
            </a:br>
            <a:r>
              <a:rPr lang="en-US" dirty="0"/>
              <a:t>  </a:t>
            </a:r>
            <a:r>
              <a:rPr lang="en-US" dirty="0" err="1"/>
              <a:t>greatNum</a:t>
            </a:r>
            <a:r>
              <a:rPr lang="en-US" dirty="0"/>
              <a:t>(a, b);  //Function called and argument is passed</a:t>
            </a:r>
            <a:br>
              <a:rPr lang="en-US" dirty="0"/>
            </a:br>
            <a:r>
              <a:rPr lang="en-US" dirty="0"/>
              <a:t>  return 0;</a:t>
            </a:r>
            <a:br>
              <a:rPr lang="en-US" dirty="0"/>
            </a:br>
            <a:r>
              <a:rPr lang="en-US" dirty="0"/>
              <a:t>}</a:t>
            </a:r>
            <a:br>
              <a:rPr lang="en-US" dirty="0"/>
            </a:br>
            <a:r>
              <a:rPr lang="en-US" dirty="0"/>
              <a:t>  // return type is void meaning it return no value</a:t>
            </a:r>
            <a:br>
              <a:rPr lang="en-US" dirty="0"/>
            </a:br>
            <a:r>
              <a:rPr lang="en-US" dirty="0"/>
              <a:t>void </a:t>
            </a:r>
            <a:r>
              <a:rPr lang="en-US" dirty="0" err="1"/>
              <a:t>greatNum</a:t>
            </a:r>
            <a:r>
              <a:rPr lang="en-US" dirty="0"/>
              <a:t>(int </a:t>
            </a:r>
            <a:r>
              <a:rPr lang="en-US" dirty="0" err="1"/>
              <a:t>x,int</a:t>
            </a:r>
            <a:r>
              <a:rPr lang="en-US" dirty="0"/>
              <a:t> y){</a:t>
            </a:r>
            <a:br>
              <a:rPr lang="en-US" dirty="0"/>
            </a:br>
            <a:r>
              <a:rPr lang="en-US" dirty="0"/>
              <a:t>  if(x &gt; y){</a:t>
            </a:r>
            <a:br>
              <a:rPr lang="en-US" dirty="0"/>
            </a:br>
            <a:r>
              <a:rPr lang="en-US" dirty="0"/>
              <a:t>    printf("The greater number is %d", x);</a:t>
            </a:r>
            <a:br>
              <a:rPr lang="en-US" dirty="0"/>
            </a:br>
            <a:r>
              <a:rPr lang="en-US" dirty="0"/>
              <a:t>  }</a:t>
            </a:r>
            <a:br>
              <a:rPr lang="en-US" dirty="0"/>
            </a:br>
            <a:r>
              <a:rPr lang="en-US" dirty="0"/>
              <a:t>  else {</a:t>
            </a:r>
            <a:br>
              <a:rPr lang="en-US" dirty="0"/>
            </a:br>
            <a:r>
              <a:rPr lang="en-US" dirty="0"/>
              <a:t>    printf("The greater number is %d", y);</a:t>
            </a:r>
            <a:br>
              <a:rPr lang="en-US" dirty="0"/>
            </a:br>
            <a:r>
              <a:rPr lang="en-US" dirty="0"/>
              <a:t>  }</a:t>
            </a:r>
            <a:br>
              <a:rPr lang="en-US" dirty="0"/>
            </a:br>
            <a:r>
              <a:rPr lang="en-US" dirty="0"/>
              <a:t>}</a:t>
            </a:r>
          </a:p>
          <a:p>
            <a:pPr marL="0" indent="0">
              <a:buNone/>
            </a:pPr>
            <a:r>
              <a:rPr lang="en-US" b="1" dirty="0"/>
              <a:t>Functions have arguments , calling function send data to called function but called function does no return value</a:t>
            </a:r>
          </a:p>
        </p:txBody>
      </p:sp>
    </p:spTree>
    <p:extLst>
      <p:ext uri="{BB962C8B-B14F-4D97-AF65-F5344CB8AC3E}">
        <p14:creationId xmlns:p14="http://schemas.microsoft.com/office/powerpoint/2010/main" val="3933680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normAutofit fontScale="77500" lnSpcReduction="20000"/>
          </a:bodyPr>
          <a:lstStyle/>
          <a:p>
            <a:r>
              <a:rPr lang="en-US" dirty="0"/>
              <a:t>#include &lt;</a:t>
            </a:r>
            <a:r>
              <a:rPr lang="en-US" dirty="0" err="1"/>
              <a:t>stdio.h</a:t>
            </a:r>
            <a:r>
              <a:rPr lang="en-US" dirty="0"/>
              <a:t>&gt;</a:t>
            </a:r>
          </a:p>
          <a:p>
            <a:r>
              <a:rPr lang="en-US" dirty="0"/>
              <a:t>void add(</a:t>
            </a:r>
            <a:r>
              <a:rPr lang="en-US" dirty="0" err="1"/>
              <a:t>a,b</a:t>
            </a:r>
            <a:r>
              <a:rPr lang="en-US" dirty="0"/>
              <a:t>)</a:t>
            </a:r>
          </a:p>
          <a:p>
            <a:r>
              <a:rPr lang="en-US" dirty="0"/>
              <a:t>{</a:t>
            </a:r>
          </a:p>
          <a:p>
            <a:r>
              <a:rPr lang="en-US" dirty="0" err="1"/>
              <a:t>int</a:t>
            </a:r>
            <a:r>
              <a:rPr lang="en-US" dirty="0"/>
              <a:t> c;</a:t>
            </a:r>
          </a:p>
          <a:p>
            <a:r>
              <a:rPr lang="en-US" dirty="0"/>
              <a:t>C=</a:t>
            </a:r>
            <a:r>
              <a:rPr lang="en-US" dirty="0" err="1"/>
              <a:t>a+b</a:t>
            </a:r>
            <a:r>
              <a:rPr lang="en-US" dirty="0"/>
              <a:t>;</a:t>
            </a:r>
          </a:p>
          <a:p>
            <a:r>
              <a:rPr lang="en-US" dirty="0" err="1"/>
              <a:t>Printf</a:t>
            </a:r>
            <a:r>
              <a:rPr lang="en-US" dirty="0"/>
              <a:t>( “the result is %</a:t>
            </a:r>
            <a:r>
              <a:rPr lang="en-US" dirty="0" err="1"/>
              <a:t>d”,c</a:t>
            </a:r>
            <a:r>
              <a:rPr lang="en-US" dirty="0"/>
              <a:t>)</a:t>
            </a:r>
          </a:p>
          <a:p>
            <a:r>
              <a:rPr lang="en-US" dirty="0"/>
              <a:t>}</a:t>
            </a:r>
          </a:p>
          <a:p>
            <a:r>
              <a:rPr lang="en-US" dirty="0"/>
              <a:t>main()</a:t>
            </a:r>
          </a:p>
          <a:p>
            <a:r>
              <a:rPr lang="en-US" dirty="0"/>
              <a:t>{ </a:t>
            </a:r>
          </a:p>
          <a:p>
            <a:r>
              <a:rPr lang="en-US" dirty="0"/>
              <a:t>add(4,6);</a:t>
            </a:r>
          </a:p>
          <a:p>
            <a:r>
              <a:rPr lang="en-US" dirty="0"/>
              <a:t>}</a:t>
            </a:r>
          </a:p>
          <a:p>
            <a:endParaRPr lang="en-US" dirty="0"/>
          </a:p>
        </p:txBody>
      </p:sp>
    </p:spTree>
    <p:extLst>
      <p:ext uri="{BB962C8B-B14F-4D97-AF65-F5344CB8AC3E}">
        <p14:creationId xmlns:p14="http://schemas.microsoft.com/office/powerpoint/2010/main" val="340215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with no arguments and return value</a:t>
            </a:r>
          </a:p>
        </p:txBody>
      </p:sp>
      <p:sp>
        <p:nvSpPr>
          <p:cNvPr id="3" name="Content Placeholder 2"/>
          <p:cNvSpPr>
            <a:spLocks noGrp="1"/>
          </p:cNvSpPr>
          <p:nvPr>
            <p:ph idx="1"/>
          </p:nvPr>
        </p:nvSpPr>
        <p:spPr/>
        <p:txBody>
          <a:bodyPr>
            <a:normAutofit fontScale="55000" lnSpcReduction="20000"/>
          </a:bodyPr>
          <a:lstStyle/>
          <a:p>
            <a:r>
              <a:rPr lang="en-US" dirty="0"/>
              <a:t>#include &lt;stdio.h&gt;</a:t>
            </a:r>
            <a:br>
              <a:rPr lang="en-US" dirty="0"/>
            </a:br>
            <a:r>
              <a:rPr lang="en-US" dirty="0"/>
              <a:t>int main(){</a:t>
            </a:r>
            <a:br>
              <a:rPr lang="en-US" dirty="0"/>
            </a:br>
            <a:r>
              <a:rPr lang="en-US" dirty="0"/>
              <a:t>  int result;</a:t>
            </a:r>
            <a:br>
              <a:rPr lang="en-US" dirty="0"/>
            </a:br>
            <a:r>
              <a:rPr lang="en-US" dirty="0"/>
              <a:t>  result = </a:t>
            </a:r>
            <a:r>
              <a:rPr lang="en-US" dirty="0" err="1"/>
              <a:t>greatNum</a:t>
            </a:r>
            <a:r>
              <a:rPr lang="en-US" dirty="0"/>
              <a:t>();  //Function called and argument is not passed</a:t>
            </a:r>
            <a:br>
              <a:rPr lang="en-US" dirty="0"/>
            </a:br>
            <a:r>
              <a:rPr lang="en-US" dirty="0"/>
              <a:t>  printf("The greater number is %d", result);</a:t>
            </a:r>
            <a:br>
              <a:rPr lang="en-US" dirty="0"/>
            </a:br>
            <a:r>
              <a:rPr lang="en-US" dirty="0"/>
              <a:t>  return 0;</a:t>
            </a:r>
            <a:br>
              <a:rPr lang="en-US" dirty="0"/>
            </a:br>
            <a:r>
              <a:rPr lang="en-US" dirty="0"/>
              <a:t>}</a:t>
            </a:r>
            <a:br>
              <a:rPr lang="en-US" dirty="0"/>
            </a:br>
            <a:r>
              <a:rPr lang="en-US" dirty="0"/>
              <a:t>  // return type is int meaning it return some value</a:t>
            </a:r>
            <a:br>
              <a:rPr lang="en-US" dirty="0"/>
            </a:br>
            <a:r>
              <a:rPr lang="en-US" dirty="0"/>
              <a:t>int </a:t>
            </a:r>
            <a:r>
              <a:rPr lang="en-US" dirty="0" err="1"/>
              <a:t>greatNum</a:t>
            </a:r>
            <a:r>
              <a:rPr lang="en-US" dirty="0"/>
              <a:t>(){</a:t>
            </a:r>
            <a:br>
              <a:rPr lang="en-US" dirty="0"/>
            </a:br>
            <a:r>
              <a:rPr lang="en-US" dirty="0"/>
              <a:t>  int a, b, </a:t>
            </a:r>
            <a:r>
              <a:rPr lang="en-US" dirty="0" err="1"/>
              <a:t>greater_number</a:t>
            </a:r>
            <a:r>
              <a:rPr lang="en-US" dirty="0"/>
              <a:t>;</a:t>
            </a:r>
            <a:br>
              <a:rPr lang="en-US" dirty="0"/>
            </a:br>
            <a:r>
              <a:rPr lang="en-US" dirty="0"/>
              <a:t>  printf("Enter two integer: ");</a:t>
            </a:r>
            <a:br>
              <a:rPr lang="en-US" dirty="0"/>
            </a:br>
            <a:r>
              <a:rPr lang="en-US" dirty="0"/>
              <a:t>  scanf("%d %</a:t>
            </a:r>
            <a:r>
              <a:rPr lang="en-US" dirty="0" err="1"/>
              <a:t>d",&amp;a</a:t>
            </a:r>
            <a:r>
              <a:rPr lang="en-US" dirty="0"/>
              <a:t> ,&amp;b);</a:t>
            </a:r>
            <a:br>
              <a:rPr lang="en-US" dirty="0"/>
            </a:br>
            <a:r>
              <a:rPr lang="en-US" dirty="0"/>
              <a:t>  if(a &gt; b){</a:t>
            </a:r>
            <a:br>
              <a:rPr lang="en-US" dirty="0"/>
            </a:br>
            <a:r>
              <a:rPr lang="en-US" dirty="0"/>
              <a:t>  </a:t>
            </a:r>
            <a:r>
              <a:rPr lang="en-US" dirty="0" err="1"/>
              <a:t>greater_number</a:t>
            </a:r>
            <a:r>
              <a:rPr lang="en-US" dirty="0"/>
              <a:t> = a;</a:t>
            </a:r>
            <a:br>
              <a:rPr lang="en-US" dirty="0"/>
            </a:br>
            <a:r>
              <a:rPr lang="en-US" dirty="0"/>
              <a:t>  }</a:t>
            </a:r>
            <a:br>
              <a:rPr lang="en-US" dirty="0"/>
            </a:br>
            <a:r>
              <a:rPr lang="en-US" dirty="0"/>
              <a:t>  else {</a:t>
            </a:r>
            <a:br>
              <a:rPr lang="en-US" dirty="0"/>
            </a:br>
            <a:r>
              <a:rPr lang="en-US" dirty="0"/>
              <a:t>  </a:t>
            </a:r>
            <a:r>
              <a:rPr lang="en-US" dirty="0" err="1"/>
              <a:t>greater_number</a:t>
            </a:r>
            <a:r>
              <a:rPr lang="en-US" dirty="0"/>
              <a:t> =b;</a:t>
            </a:r>
            <a:br>
              <a:rPr lang="en-US" dirty="0"/>
            </a:br>
            <a:r>
              <a:rPr lang="en-US" dirty="0"/>
              <a:t>  }</a:t>
            </a:r>
            <a:br>
              <a:rPr lang="en-US" dirty="0"/>
            </a:br>
            <a:r>
              <a:rPr lang="en-US" dirty="0"/>
              <a:t>  return </a:t>
            </a:r>
            <a:r>
              <a:rPr lang="en-US" dirty="0" err="1"/>
              <a:t>greater_number</a:t>
            </a:r>
            <a:r>
              <a:rPr lang="en-US" dirty="0"/>
              <a:t>;</a:t>
            </a:r>
            <a:br>
              <a:rPr lang="en-US" dirty="0"/>
            </a:br>
            <a:r>
              <a:rPr lang="en-US" dirty="0"/>
              <a:t>}</a:t>
            </a:r>
          </a:p>
        </p:txBody>
      </p:sp>
    </p:spTree>
    <p:extLst>
      <p:ext uri="{BB962C8B-B14F-4D97-AF65-F5344CB8AC3E}">
        <p14:creationId xmlns:p14="http://schemas.microsoft.com/office/powerpoint/2010/main" val="3988622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normAutofit fontScale="85000" lnSpcReduction="20000"/>
          </a:bodyPr>
          <a:lstStyle/>
          <a:p>
            <a:r>
              <a:rPr lang="en-US" dirty="0" err="1"/>
              <a:t>Int</a:t>
            </a:r>
            <a:r>
              <a:rPr lang="en-US" dirty="0"/>
              <a:t> add()</a:t>
            </a:r>
          </a:p>
          <a:p>
            <a:r>
              <a:rPr lang="en-US" dirty="0"/>
              <a:t>{</a:t>
            </a:r>
          </a:p>
          <a:p>
            <a:r>
              <a:rPr lang="en-US" dirty="0"/>
              <a:t>Return 5;</a:t>
            </a:r>
          </a:p>
          <a:p>
            <a:r>
              <a:rPr lang="en-US" dirty="0"/>
              <a:t>}</a:t>
            </a:r>
          </a:p>
          <a:p>
            <a:r>
              <a:rPr lang="en-US" dirty="0"/>
              <a:t>main()</a:t>
            </a:r>
          </a:p>
          <a:p>
            <a:r>
              <a:rPr lang="en-US" dirty="0"/>
              <a:t>{</a:t>
            </a:r>
          </a:p>
          <a:p>
            <a:r>
              <a:rPr lang="en-US" dirty="0" err="1"/>
              <a:t>Int</a:t>
            </a:r>
            <a:r>
              <a:rPr lang="en-US" dirty="0"/>
              <a:t> c;</a:t>
            </a:r>
          </a:p>
          <a:p>
            <a:r>
              <a:rPr lang="en-US" dirty="0"/>
              <a:t>C=add();</a:t>
            </a:r>
          </a:p>
          <a:p>
            <a:r>
              <a:rPr lang="en-US" dirty="0" err="1"/>
              <a:t>printf</a:t>
            </a:r>
            <a:r>
              <a:rPr lang="en-US" dirty="0"/>
              <a:t>("the sum of two integers is =%</a:t>
            </a:r>
            <a:r>
              <a:rPr lang="en-US" dirty="0" err="1"/>
              <a:t>d”,c</a:t>
            </a:r>
            <a:r>
              <a:rPr lang="en-US" dirty="0"/>
              <a:t>);</a:t>
            </a:r>
          </a:p>
          <a:p>
            <a:r>
              <a:rPr lang="fr-FR" dirty="0"/>
              <a:t>}</a:t>
            </a:r>
            <a:endParaRPr lang="en-US" dirty="0"/>
          </a:p>
          <a:p>
            <a:endParaRPr lang="en-US" dirty="0"/>
          </a:p>
        </p:txBody>
      </p:sp>
    </p:spTree>
    <p:extLst>
      <p:ext uri="{BB962C8B-B14F-4D97-AF65-F5344CB8AC3E}">
        <p14:creationId xmlns:p14="http://schemas.microsoft.com/office/powerpoint/2010/main" val="61681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en-US" dirty="0" smtClean="0"/>
              <a:t> </a:t>
            </a:r>
            <a:br>
              <a:rPr lang="en-US" dirty="0" smtClean="0"/>
            </a:br>
            <a:r>
              <a:rPr lang="en-US" dirty="0" smtClean="0"/>
              <a:t>2. Functions with arguments and no return values. </a:t>
            </a:r>
            <a:br>
              <a:rPr lang="en-US" dirty="0" smtClean="0"/>
            </a:br>
            <a:endParaRPr lang="en-US" dirty="0"/>
          </a:p>
        </p:txBody>
      </p:sp>
      <p:sp>
        <p:nvSpPr>
          <p:cNvPr id="3" name="Content Placeholder 2"/>
          <p:cNvSpPr>
            <a:spLocks noGrp="1"/>
          </p:cNvSpPr>
          <p:nvPr>
            <p:ph idx="1"/>
          </p:nvPr>
        </p:nvSpPr>
        <p:spPr>
          <a:xfrm>
            <a:off x="0" y="1600200"/>
            <a:ext cx="9144000" cy="4525963"/>
          </a:xfrm>
        </p:spPr>
        <p:txBody>
          <a:bodyPr>
            <a:normAutofit fontScale="55000" lnSpcReduction="20000"/>
          </a:bodyPr>
          <a:lstStyle/>
          <a:p>
            <a:pPr>
              <a:buFont typeface="Wingdings" pitchFamily="2" charset="2"/>
              <a:buChar char="Ø"/>
            </a:pPr>
            <a:r>
              <a:rPr lang="en-US" sz="3800" dirty="0" smtClean="0"/>
              <a:t>This type of function can accept data from calling function. In other words, you send data to the called function from calling function but you cannot send result data back to the calling function. </a:t>
            </a:r>
          </a:p>
          <a:p>
            <a:pPr>
              <a:buNone/>
            </a:pPr>
            <a:r>
              <a:rPr lang="en-US" b="1" dirty="0" smtClean="0"/>
              <a:t>example</a:t>
            </a:r>
          </a:p>
          <a:p>
            <a:r>
              <a:rPr lang="en-US" sz="3600" dirty="0" smtClean="0"/>
              <a:t>#include &lt;</a:t>
            </a:r>
            <a:r>
              <a:rPr lang="en-US" sz="3600" dirty="0" err="1" smtClean="0"/>
              <a:t>stdio.h</a:t>
            </a:r>
            <a:r>
              <a:rPr lang="en-US" sz="3600" dirty="0" smtClean="0"/>
              <a:t>&gt;</a:t>
            </a:r>
          </a:p>
          <a:p>
            <a:r>
              <a:rPr lang="en-US" sz="3600" dirty="0" smtClean="0"/>
              <a:t>void add(</a:t>
            </a:r>
            <a:r>
              <a:rPr lang="en-US" sz="3600" dirty="0" err="1" smtClean="0"/>
              <a:t>a,b</a:t>
            </a:r>
            <a:r>
              <a:rPr lang="en-US" sz="3600" dirty="0" smtClean="0"/>
              <a:t>)</a:t>
            </a:r>
          </a:p>
          <a:p>
            <a:r>
              <a:rPr lang="en-US" sz="3600" dirty="0" smtClean="0"/>
              <a:t>{</a:t>
            </a:r>
          </a:p>
          <a:p>
            <a:r>
              <a:rPr lang="en-US" sz="3600" dirty="0" err="1" smtClean="0"/>
              <a:t>int</a:t>
            </a:r>
            <a:r>
              <a:rPr lang="en-US" sz="3600" dirty="0" smtClean="0"/>
              <a:t> c;</a:t>
            </a:r>
          </a:p>
          <a:p>
            <a:r>
              <a:rPr lang="en-US" sz="3600" dirty="0" smtClean="0"/>
              <a:t>C=</a:t>
            </a:r>
            <a:r>
              <a:rPr lang="en-US" sz="3600" dirty="0" err="1" smtClean="0"/>
              <a:t>a+b</a:t>
            </a:r>
            <a:r>
              <a:rPr lang="en-US" sz="3600" dirty="0" smtClean="0"/>
              <a:t>;</a:t>
            </a:r>
          </a:p>
          <a:p>
            <a:r>
              <a:rPr lang="en-US" sz="3600" dirty="0" err="1" smtClean="0"/>
              <a:t>Printf</a:t>
            </a:r>
            <a:r>
              <a:rPr lang="en-US" sz="3600" dirty="0" smtClean="0"/>
              <a:t>( “the result is %</a:t>
            </a:r>
            <a:r>
              <a:rPr lang="en-US" sz="3600" dirty="0" err="1" smtClean="0"/>
              <a:t>d”,c</a:t>
            </a:r>
            <a:r>
              <a:rPr lang="en-US" sz="3600" dirty="0" smtClean="0"/>
              <a:t>)</a:t>
            </a:r>
          </a:p>
          <a:p>
            <a:r>
              <a:rPr lang="en-US" sz="3600" dirty="0" smtClean="0"/>
              <a:t>}</a:t>
            </a:r>
          </a:p>
          <a:p>
            <a:r>
              <a:rPr lang="en-US" sz="3600" dirty="0" smtClean="0"/>
              <a:t>main()</a:t>
            </a:r>
          </a:p>
          <a:p>
            <a:r>
              <a:rPr lang="en-US" sz="3600" dirty="0" smtClean="0"/>
              <a:t>{ </a:t>
            </a:r>
          </a:p>
          <a:p>
            <a:r>
              <a:rPr lang="en-US" sz="3600" dirty="0" smtClean="0"/>
              <a:t>add(4,6);</a:t>
            </a:r>
          </a:p>
          <a:p>
            <a:r>
              <a:rPr lang="en-US" sz="3600" dirty="0" smtClean="0"/>
              <a:t>}</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en-US" dirty="0" smtClean="0"/>
              <a:t>3. Functions with arguments and return values.</a:t>
            </a:r>
            <a:br>
              <a:rPr lang="en-US" dirty="0" smtClean="0"/>
            </a:br>
            <a:endParaRPr lang="en-US" dirty="0"/>
          </a:p>
        </p:txBody>
      </p:sp>
      <p:sp>
        <p:nvSpPr>
          <p:cNvPr id="3" name="Content Placeholder 2"/>
          <p:cNvSpPr>
            <a:spLocks noGrp="1"/>
          </p:cNvSpPr>
          <p:nvPr>
            <p:ph idx="1"/>
          </p:nvPr>
        </p:nvSpPr>
        <p:spPr>
          <a:xfrm>
            <a:off x="0" y="1066800"/>
            <a:ext cx="9144000" cy="5059363"/>
          </a:xfrm>
        </p:spPr>
        <p:txBody>
          <a:bodyPr>
            <a:normAutofit fontScale="32500" lnSpcReduction="20000"/>
          </a:bodyPr>
          <a:lstStyle/>
          <a:p>
            <a:r>
              <a:rPr lang="en-US" sz="6000" dirty="0" smtClean="0"/>
              <a:t>This type of function can send arguments (data) from the calling function to the called function and wait for the result to be returned back from the called function back to the calling function.</a:t>
            </a:r>
          </a:p>
          <a:p>
            <a:endParaRPr lang="en-US" sz="4400" b="1" dirty="0" smtClean="0"/>
          </a:p>
          <a:p>
            <a:pPr>
              <a:buNone/>
            </a:pPr>
            <a:r>
              <a:rPr lang="en-US" sz="4400" b="1" dirty="0" smtClean="0"/>
              <a:t>Example:</a:t>
            </a:r>
          </a:p>
          <a:p>
            <a:pPr>
              <a:buNone/>
            </a:pPr>
            <a:r>
              <a:rPr lang="en-US" sz="2800" dirty="0" smtClean="0"/>
              <a:t> </a:t>
            </a:r>
          </a:p>
          <a:p>
            <a:r>
              <a:rPr lang="en-US" sz="6000" dirty="0" smtClean="0"/>
              <a:t>#include &lt;</a:t>
            </a:r>
            <a:r>
              <a:rPr lang="en-US" sz="6000" dirty="0" err="1" smtClean="0"/>
              <a:t>stdio.h</a:t>
            </a:r>
            <a:r>
              <a:rPr lang="en-US" sz="6000" dirty="0" smtClean="0"/>
              <a:t>&gt;</a:t>
            </a:r>
          </a:p>
          <a:p>
            <a:r>
              <a:rPr lang="en-US" sz="6000" dirty="0" err="1" smtClean="0"/>
              <a:t>Int</a:t>
            </a:r>
            <a:r>
              <a:rPr lang="en-US" sz="6000" dirty="0" smtClean="0"/>
              <a:t> add(</a:t>
            </a:r>
            <a:r>
              <a:rPr lang="en-US" sz="6000" dirty="0" err="1" smtClean="0"/>
              <a:t>a,b</a:t>
            </a:r>
            <a:r>
              <a:rPr lang="en-US" sz="6000" dirty="0" smtClean="0"/>
              <a:t>)</a:t>
            </a:r>
          </a:p>
          <a:p>
            <a:r>
              <a:rPr lang="en-US" sz="6000" dirty="0" smtClean="0"/>
              <a:t>{</a:t>
            </a:r>
          </a:p>
          <a:p>
            <a:r>
              <a:rPr lang="en-US" sz="6000" dirty="0" smtClean="0"/>
              <a:t>Return </a:t>
            </a:r>
            <a:r>
              <a:rPr lang="en-US" sz="6000" dirty="0" err="1" smtClean="0"/>
              <a:t>a+b</a:t>
            </a:r>
            <a:r>
              <a:rPr lang="en-US" sz="6000" dirty="0" smtClean="0"/>
              <a:t>;</a:t>
            </a:r>
          </a:p>
          <a:p>
            <a:r>
              <a:rPr lang="en-US" sz="6000" dirty="0" smtClean="0"/>
              <a:t>}</a:t>
            </a:r>
          </a:p>
          <a:p>
            <a:r>
              <a:rPr lang="en-US" sz="6000" dirty="0" smtClean="0"/>
              <a:t>main()</a:t>
            </a:r>
          </a:p>
          <a:p>
            <a:r>
              <a:rPr lang="en-US" sz="6000" dirty="0" smtClean="0"/>
              <a:t>{</a:t>
            </a:r>
          </a:p>
          <a:p>
            <a:r>
              <a:rPr lang="en-US" sz="6000" dirty="0" err="1" smtClean="0"/>
              <a:t>Int</a:t>
            </a:r>
            <a:r>
              <a:rPr lang="en-US" sz="6000" dirty="0" smtClean="0"/>
              <a:t> c;</a:t>
            </a:r>
          </a:p>
          <a:p>
            <a:r>
              <a:rPr lang="en-US" sz="6000" dirty="0" smtClean="0"/>
              <a:t>C=add(9,10);</a:t>
            </a:r>
          </a:p>
          <a:p>
            <a:r>
              <a:rPr lang="en-US" sz="6000" dirty="0" err="1" smtClean="0"/>
              <a:t>printf</a:t>
            </a:r>
            <a:r>
              <a:rPr lang="en-US" sz="6000" dirty="0" smtClean="0"/>
              <a:t>("the sum of two integers is =%</a:t>
            </a:r>
            <a:r>
              <a:rPr lang="en-US" sz="6000" dirty="0" err="1" smtClean="0"/>
              <a:t>d”,c</a:t>
            </a:r>
            <a:r>
              <a:rPr lang="en-US" sz="6000" dirty="0" smtClean="0"/>
              <a:t>);</a:t>
            </a:r>
          </a:p>
          <a:p>
            <a:r>
              <a:rPr lang="fr-FR" sz="6000" dirty="0" smtClean="0"/>
              <a:t>}</a:t>
            </a:r>
            <a:endParaRPr lang="en-US" sz="6000" dirty="0" smtClean="0"/>
          </a:p>
          <a:p>
            <a:r>
              <a:rPr lang="en-US" sz="6000" dirty="0" smtClean="0"/>
              <a:t> </a:t>
            </a:r>
          </a:p>
          <a:p>
            <a:endParaRPr lang="en-US"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rmAutofit fontScale="90000"/>
          </a:bodyPr>
          <a:lstStyle/>
          <a:p>
            <a:pPr lvl="0"/>
            <a:r>
              <a:rPr lang="en-US" dirty="0" smtClean="0"/>
              <a:t>4. Functions with no arguments and return values.</a:t>
            </a:r>
            <a:br>
              <a:rPr lang="en-US" dirty="0" smtClean="0"/>
            </a:br>
            <a:endParaRPr lang="en-US" dirty="0"/>
          </a:p>
        </p:txBody>
      </p:sp>
      <p:sp>
        <p:nvSpPr>
          <p:cNvPr id="3" name="Content Placeholder 2"/>
          <p:cNvSpPr>
            <a:spLocks noGrp="1"/>
          </p:cNvSpPr>
          <p:nvPr>
            <p:ph idx="1"/>
          </p:nvPr>
        </p:nvSpPr>
        <p:spPr>
          <a:xfrm>
            <a:off x="228600" y="990600"/>
            <a:ext cx="8458200" cy="5135563"/>
          </a:xfrm>
        </p:spPr>
        <p:txBody>
          <a:bodyPr>
            <a:normAutofit fontScale="62500" lnSpcReduction="20000"/>
          </a:bodyPr>
          <a:lstStyle/>
          <a:p>
            <a:pPr>
              <a:buNone/>
            </a:pPr>
            <a:r>
              <a:rPr lang="en-US" dirty="0" smtClean="0"/>
              <a:t> </a:t>
            </a:r>
          </a:p>
          <a:p>
            <a:pPr>
              <a:buNone/>
            </a:pPr>
            <a:r>
              <a:rPr lang="en-US" sz="3800" dirty="0" smtClean="0"/>
              <a:t>We may need a function which does not take any argument but only returns values to the calling function . </a:t>
            </a:r>
            <a:r>
              <a:rPr lang="en-GB" sz="2800" dirty="0" smtClean="0"/>
              <a:t>Any C function by default returns an </a:t>
            </a:r>
            <a:r>
              <a:rPr lang="en-GB" sz="2800" dirty="0" err="1" smtClean="0"/>
              <a:t>int</a:t>
            </a:r>
            <a:r>
              <a:rPr lang="en-GB" sz="2800" dirty="0" smtClean="0"/>
              <a:t> value</a:t>
            </a:r>
            <a:endParaRPr lang="en-US" sz="3800" dirty="0" smtClean="0"/>
          </a:p>
          <a:p>
            <a:pPr>
              <a:buNone/>
            </a:pPr>
            <a:r>
              <a:rPr lang="en-US" b="1" dirty="0" smtClean="0"/>
              <a:t>Example:</a:t>
            </a:r>
          </a:p>
          <a:p>
            <a:r>
              <a:rPr lang="en-US" dirty="0" smtClean="0"/>
              <a:t> </a:t>
            </a:r>
          </a:p>
          <a:p>
            <a:r>
              <a:rPr lang="en-US" dirty="0" err="1" smtClean="0"/>
              <a:t>Int</a:t>
            </a:r>
            <a:r>
              <a:rPr lang="en-US" dirty="0" smtClean="0"/>
              <a:t> add()</a:t>
            </a:r>
          </a:p>
          <a:p>
            <a:r>
              <a:rPr lang="en-US" dirty="0" smtClean="0"/>
              <a:t>{</a:t>
            </a:r>
          </a:p>
          <a:p>
            <a:r>
              <a:rPr lang="en-US" dirty="0" smtClean="0"/>
              <a:t>Return 5;</a:t>
            </a:r>
          </a:p>
          <a:p>
            <a:r>
              <a:rPr lang="en-US" dirty="0" smtClean="0"/>
              <a:t>}</a:t>
            </a:r>
          </a:p>
          <a:p>
            <a:r>
              <a:rPr lang="en-US" dirty="0" smtClean="0"/>
              <a:t>main()</a:t>
            </a:r>
          </a:p>
          <a:p>
            <a:r>
              <a:rPr lang="en-US" dirty="0" smtClean="0"/>
              <a:t>{</a:t>
            </a:r>
          </a:p>
          <a:p>
            <a:r>
              <a:rPr lang="en-US" dirty="0" err="1" smtClean="0"/>
              <a:t>Int</a:t>
            </a:r>
            <a:r>
              <a:rPr lang="en-US" dirty="0" smtClean="0"/>
              <a:t> c;</a:t>
            </a:r>
          </a:p>
          <a:p>
            <a:r>
              <a:rPr lang="en-US" dirty="0" smtClean="0"/>
              <a:t>C=add();</a:t>
            </a:r>
          </a:p>
          <a:p>
            <a:r>
              <a:rPr lang="en-US" dirty="0" err="1" smtClean="0"/>
              <a:t>printf</a:t>
            </a:r>
            <a:r>
              <a:rPr lang="en-US" dirty="0" smtClean="0"/>
              <a:t>("the sum of two integers is =%</a:t>
            </a:r>
            <a:r>
              <a:rPr lang="en-US" dirty="0" err="1" smtClean="0"/>
              <a:t>d”,c</a:t>
            </a:r>
            <a:r>
              <a:rPr lang="en-US" dirty="0" smtClean="0"/>
              <a:t>);</a:t>
            </a:r>
          </a:p>
          <a:p>
            <a:r>
              <a:rPr lang="fr-FR"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600" dirty="0" smtClean="0"/>
              <a:t/>
            </a:r>
            <a:br>
              <a:rPr lang="en-GB" sz="3600" dirty="0" smtClean="0"/>
            </a:br>
            <a:r>
              <a:rPr lang="en-GB" sz="3600" dirty="0" smtClean="0"/>
              <a:t>From this program a number of conclusion can be taken:</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5334000"/>
          </a:xfrm>
        </p:spPr>
        <p:txBody>
          <a:bodyPr>
            <a:normAutofit fontScale="77500" lnSpcReduction="20000"/>
          </a:bodyPr>
          <a:lstStyle/>
          <a:p>
            <a:pPr>
              <a:buNone/>
            </a:pPr>
            <a:r>
              <a:rPr lang="en-GB" dirty="0" smtClean="0"/>
              <a:t> </a:t>
            </a:r>
            <a:endParaRPr lang="en-US" dirty="0" smtClean="0"/>
          </a:p>
          <a:p>
            <a:pPr lvl="0"/>
            <a:r>
              <a:rPr lang="en-GB" dirty="0" smtClean="0"/>
              <a:t>Any C program contains at least one function</a:t>
            </a:r>
            <a:endParaRPr lang="en-US" dirty="0" smtClean="0"/>
          </a:p>
          <a:p>
            <a:pPr lvl="0"/>
            <a:r>
              <a:rPr lang="en-GB" dirty="0" smtClean="0"/>
              <a:t>If a program contains one function, it must be main()</a:t>
            </a:r>
            <a:endParaRPr lang="en-US" dirty="0" smtClean="0"/>
          </a:p>
          <a:p>
            <a:pPr lvl="0"/>
            <a:r>
              <a:rPr lang="en-GB" dirty="0" smtClean="0"/>
              <a:t>In a C program if there are more than one functions present, then one (and only one) of these functions must be main(), because program execution always begins with main().</a:t>
            </a:r>
            <a:endParaRPr lang="en-US" dirty="0" smtClean="0"/>
          </a:p>
          <a:p>
            <a:pPr lvl="0"/>
            <a:r>
              <a:rPr lang="en-GB" dirty="0" smtClean="0"/>
              <a:t>There is no limit on number of functions that might be present in a C Program</a:t>
            </a:r>
            <a:endParaRPr lang="en-US" dirty="0" smtClean="0"/>
          </a:p>
          <a:p>
            <a:pPr lvl="0"/>
            <a:r>
              <a:rPr lang="en-GB" dirty="0" smtClean="0"/>
              <a:t>Each function in a program is called in the sequence specified by the function calls in main().</a:t>
            </a:r>
            <a:endParaRPr lang="en-US" dirty="0" smtClean="0"/>
          </a:p>
          <a:p>
            <a:pPr lvl="0"/>
            <a:r>
              <a:rPr lang="en-GB" dirty="0" smtClean="0"/>
              <a:t>After each function has done its thing, control returns to main, when main() runs out of function calls, the program ends.</a:t>
            </a:r>
            <a:endParaRPr lang="en-US" dirty="0" smtClean="0"/>
          </a:p>
          <a:p>
            <a:pPr lvl="0"/>
            <a:r>
              <a:rPr lang="en-GB" dirty="0" smtClean="0"/>
              <a:t>The program execution always begins with main()</a:t>
            </a:r>
            <a:endParaRPr lang="en-US" dirty="0" smtClean="0"/>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Example1</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#include&lt;</a:t>
            </a:r>
            <a:r>
              <a:rPr lang="en-US" dirty="0" err="1" smtClean="0"/>
              <a:t>stdio.h</a:t>
            </a:r>
            <a:r>
              <a:rPr lang="en-US" dirty="0" smtClean="0"/>
              <a:t>&gt;</a:t>
            </a:r>
          </a:p>
          <a:p>
            <a:r>
              <a:rPr lang="en-US" dirty="0" smtClean="0"/>
              <a:t>main()</a:t>
            </a:r>
          </a:p>
          <a:p>
            <a:r>
              <a:rPr lang="en-US" dirty="0" smtClean="0"/>
              <a:t>{</a:t>
            </a:r>
          </a:p>
          <a:p>
            <a:r>
              <a:rPr lang="en-US" dirty="0" err="1" smtClean="0"/>
              <a:t>int</a:t>
            </a:r>
            <a:r>
              <a:rPr lang="en-US" dirty="0" smtClean="0"/>
              <a:t> </a:t>
            </a:r>
            <a:r>
              <a:rPr lang="en-US" dirty="0" err="1" smtClean="0"/>
              <a:t>a,b,sum</a:t>
            </a:r>
            <a:r>
              <a:rPr lang="en-US" dirty="0" smtClean="0"/>
              <a:t>;</a:t>
            </a:r>
          </a:p>
          <a:p>
            <a:r>
              <a:rPr lang="en-US" dirty="0" err="1" smtClean="0"/>
              <a:t>printf</a:t>
            </a:r>
            <a:r>
              <a:rPr lang="en-US" dirty="0" smtClean="0"/>
              <a:t>("Enter 2 numbers:\n");</a:t>
            </a:r>
          </a:p>
          <a:p>
            <a:r>
              <a:rPr lang="en-US" dirty="0" err="1" smtClean="0"/>
              <a:t>scanf</a:t>
            </a:r>
            <a:r>
              <a:rPr lang="en-US" dirty="0" smtClean="0"/>
              <a:t>("%d %</a:t>
            </a:r>
            <a:r>
              <a:rPr lang="en-US" dirty="0" err="1" smtClean="0"/>
              <a:t>d",&amp;a,&amp;b</a:t>
            </a:r>
            <a:r>
              <a:rPr lang="en-US" dirty="0" smtClean="0"/>
              <a:t>);</a:t>
            </a:r>
          </a:p>
          <a:p>
            <a:r>
              <a:rPr lang="en-US" dirty="0" err="1" smtClean="0"/>
              <a:t>calsum</a:t>
            </a:r>
            <a:r>
              <a:rPr lang="en-US" dirty="0" smtClean="0"/>
              <a:t>(</a:t>
            </a:r>
            <a:r>
              <a:rPr lang="en-US" dirty="0" err="1" smtClean="0"/>
              <a:t>a,b</a:t>
            </a:r>
            <a:r>
              <a:rPr lang="en-US" dirty="0" smtClean="0"/>
              <a:t>);</a:t>
            </a:r>
          </a:p>
          <a:p>
            <a:endParaRPr lang="en-US" dirty="0" smtClean="0"/>
          </a:p>
          <a:p>
            <a:r>
              <a:rPr lang="en-US" dirty="0" smtClean="0"/>
              <a:t>}</a:t>
            </a:r>
          </a:p>
          <a:p>
            <a:r>
              <a:rPr lang="en-US" dirty="0" err="1" smtClean="0"/>
              <a:t>calsum</a:t>
            </a:r>
            <a:r>
              <a:rPr lang="en-US" dirty="0" smtClean="0"/>
              <a:t>(</a:t>
            </a:r>
            <a:r>
              <a:rPr lang="en-US" dirty="0" err="1" smtClean="0"/>
              <a:t>x,y</a:t>
            </a:r>
            <a:r>
              <a:rPr lang="en-US" dirty="0" smtClean="0"/>
              <a:t>) 		</a:t>
            </a:r>
          </a:p>
          <a:p>
            <a:r>
              <a:rPr lang="en-US" dirty="0" smtClean="0"/>
              <a:t>{</a:t>
            </a:r>
          </a:p>
          <a:p>
            <a:r>
              <a:rPr lang="en-US" dirty="0" err="1" smtClean="0"/>
              <a:t>int</a:t>
            </a:r>
            <a:r>
              <a:rPr lang="en-US" dirty="0" smtClean="0"/>
              <a:t> d;</a:t>
            </a:r>
          </a:p>
          <a:p>
            <a:r>
              <a:rPr lang="en-US" dirty="0" smtClean="0"/>
              <a:t>d=</a:t>
            </a:r>
            <a:r>
              <a:rPr lang="en-US" dirty="0" err="1" smtClean="0"/>
              <a:t>x+y</a:t>
            </a:r>
            <a:r>
              <a:rPr lang="en-US" dirty="0" smtClean="0"/>
              <a:t>;</a:t>
            </a:r>
          </a:p>
          <a:p>
            <a:r>
              <a:rPr lang="en-US" dirty="0" err="1" smtClean="0"/>
              <a:t>printf</a:t>
            </a:r>
            <a:r>
              <a:rPr lang="en-US" dirty="0" smtClean="0"/>
              <a:t>("The following is:%d\</a:t>
            </a:r>
            <a:r>
              <a:rPr lang="en-US" dirty="0" err="1" smtClean="0"/>
              <a:t>n",d</a:t>
            </a:r>
            <a:r>
              <a:rPr lang="en-US" dirty="0" smtClean="0"/>
              <a:t>);}</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Example2  </a:t>
            </a:r>
            <a:endParaRPr lang="en-US" dirty="0"/>
          </a:p>
        </p:txBody>
      </p:sp>
      <p:sp>
        <p:nvSpPr>
          <p:cNvPr id="3" name="Content Placeholder 2"/>
          <p:cNvSpPr>
            <a:spLocks noGrp="1"/>
          </p:cNvSpPr>
          <p:nvPr>
            <p:ph idx="1"/>
          </p:nvPr>
        </p:nvSpPr>
        <p:spPr>
          <a:xfrm>
            <a:off x="457200" y="762000"/>
            <a:ext cx="8229600" cy="5364163"/>
          </a:xfrm>
        </p:spPr>
        <p:txBody>
          <a:bodyPr>
            <a:normAutofit fontScale="25000" lnSpcReduction="20000"/>
          </a:bodyPr>
          <a:lstStyle/>
          <a:p>
            <a:r>
              <a:rPr lang="en-US" dirty="0" smtClean="0"/>
              <a:t>#</a:t>
            </a:r>
            <a:r>
              <a:rPr lang="en-US" sz="5500" dirty="0" smtClean="0"/>
              <a:t>include&lt;</a:t>
            </a:r>
            <a:r>
              <a:rPr lang="en-US" sz="5500" dirty="0" err="1" smtClean="0"/>
              <a:t>stdio.h</a:t>
            </a:r>
            <a:r>
              <a:rPr lang="en-US" sz="5500" dirty="0" smtClean="0"/>
              <a:t>&gt;</a:t>
            </a:r>
          </a:p>
          <a:p>
            <a:r>
              <a:rPr lang="en-US" sz="5500" dirty="0" smtClean="0"/>
              <a:t> main()</a:t>
            </a:r>
          </a:p>
          <a:p>
            <a:r>
              <a:rPr lang="en-US" sz="5500" dirty="0" smtClean="0"/>
              <a:t>{</a:t>
            </a:r>
          </a:p>
          <a:p>
            <a:r>
              <a:rPr lang="en-US" sz="5500" dirty="0" smtClean="0"/>
              <a:t>sum();</a:t>
            </a:r>
          </a:p>
          <a:p>
            <a:r>
              <a:rPr lang="en-US" sz="5500" dirty="0" err="1" smtClean="0"/>
              <a:t>printfstars</a:t>
            </a:r>
            <a:r>
              <a:rPr lang="en-US" sz="5500" dirty="0" smtClean="0"/>
              <a:t>();</a:t>
            </a:r>
          </a:p>
          <a:p>
            <a:r>
              <a:rPr lang="en-US" sz="5500" dirty="0" err="1" smtClean="0"/>
              <a:t>Substract</a:t>
            </a:r>
            <a:r>
              <a:rPr lang="en-US" sz="5500" dirty="0" smtClean="0"/>
              <a:t>();</a:t>
            </a:r>
          </a:p>
          <a:p>
            <a:r>
              <a:rPr lang="en-US" sz="5500" dirty="0" smtClean="0"/>
              <a:t>}</a:t>
            </a:r>
          </a:p>
          <a:p>
            <a:endParaRPr lang="en-US" sz="5500" dirty="0" smtClean="0"/>
          </a:p>
          <a:p>
            <a:r>
              <a:rPr lang="en-US" sz="5500" dirty="0" err="1" smtClean="0"/>
              <a:t>Substract</a:t>
            </a:r>
            <a:r>
              <a:rPr lang="en-US" sz="5500" dirty="0" smtClean="0"/>
              <a:t>(){</a:t>
            </a:r>
          </a:p>
          <a:p>
            <a:r>
              <a:rPr lang="en-US" sz="5500" dirty="0" err="1" smtClean="0"/>
              <a:t>int</a:t>
            </a:r>
            <a:r>
              <a:rPr lang="en-US" sz="5500" dirty="0" smtClean="0"/>
              <a:t> </a:t>
            </a:r>
            <a:r>
              <a:rPr lang="en-US" sz="5500" dirty="0" err="1" smtClean="0"/>
              <a:t>a,b,c</a:t>
            </a:r>
            <a:r>
              <a:rPr lang="en-US" sz="5500" dirty="0" smtClean="0"/>
              <a:t>;</a:t>
            </a:r>
          </a:p>
          <a:p>
            <a:r>
              <a:rPr lang="en-US" sz="5500" dirty="0" err="1" smtClean="0"/>
              <a:t>scanf</a:t>
            </a:r>
            <a:r>
              <a:rPr lang="en-US" sz="5500" dirty="0" smtClean="0"/>
              <a:t> ("%</a:t>
            </a:r>
            <a:r>
              <a:rPr lang="en-US" sz="5500" dirty="0" err="1" smtClean="0"/>
              <a:t>d%d",&amp;a,&amp;b</a:t>
            </a:r>
            <a:r>
              <a:rPr lang="en-US" sz="5500" dirty="0" smtClean="0"/>
              <a:t>);</a:t>
            </a:r>
          </a:p>
          <a:p>
            <a:r>
              <a:rPr lang="en-US" sz="5500" dirty="0" smtClean="0"/>
              <a:t>c=a-b;</a:t>
            </a:r>
          </a:p>
          <a:p>
            <a:r>
              <a:rPr lang="en-US" sz="5500" dirty="0" err="1" smtClean="0"/>
              <a:t>prinft</a:t>
            </a:r>
            <a:r>
              <a:rPr lang="en-US" sz="5500" dirty="0" smtClean="0"/>
              <a:t>("%</a:t>
            </a:r>
            <a:r>
              <a:rPr lang="en-US" sz="5500" dirty="0" err="1" smtClean="0"/>
              <a:t>d",c</a:t>
            </a:r>
            <a:r>
              <a:rPr lang="en-US" sz="5500" dirty="0" smtClean="0"/>
              <a:t>);</a:t>
            </a:r>
          </a:p>
          <a:p>
            <a:endParaRPr lang="en-US" sz="5500" dirty="0" smtClean="0"/>
          </a:p>
          <a:p>
            <a:r>
              <a:rPr lang="en-US" sz="5500" dirty="0" smtClean="0"/>
              <a:t>}</a:t>
            </a:r>
          </a:p>
          <a:p>
            <a:r>
              <a:rPr lang="en-US" sz="5500" dirty="0" smtClean="0"/>
              <a:t>sum(){</a:t>
            </a:r>
          </a:p>
          <a:p>
            <a:r>
              <a:rPr lang="en-US" sz="5500" dirty="0" err="1" smtClean="0"/>
              <a:t>int</a:t>
            </a:r>
            <a:r>
              <a:rPr lang="en-US" sz="5500" dirty="0" smtClean="0"/>
              <a:t> </a:t>
            </a:r>
            <a:r>
              <a:rPr lang="en-US" sz="5500" dirty="0" err="1" smtClean="0"/>
              <a:t>x,y,d</a:t>
            </a:r>
            <a:r>
              <a:rPr lang="en-US" sz="5500" dirty="0" smtClean="0"/>
              <a:t>;</a:t>
            </a:r>
          </a:p>
          <a:p>
            <a:r>
              <a:rPr lang="en-US" sz="5500" dirty="0" err="1" smtClean="0"/>
              <a:t>scanf</a:t>
            </a:r>
            <a:r>
              <a:rPr lang="en-US" sz="5500" dirty="0" smtClean="0"/>
              <a:t>("%</a:t>
            </a:r>
            <a:r>
              <a:rPr lang="en-US" sz="5500" dirty="0" err="1" smtClean="0"/>
              <a:t>d%d",&amp;x,&amp;y</a:t>
            </a:r>
            <a:r>
              <a:rPr lang="en-US" sz="5500" dirty="0" smtClean="0"/>
              <a:t>);</a:t>
            </a:r>
          </a:p>
          <a:p>
            <a:r>
              <a:rPr lang="en-US" sz="5500" dirty="0" smtClean="0"/>
              <a:t>d=</a:t>
            </a:r>
            <a:r>
              <a:rPr lang="en-US" sz="5500" dirty="0" err="1" smtClean="0"/>
              <a:t>x+y</a:t>
            </a:r>
            <a:r>
              <a:rPr lang="en-US" sz="5500" dirty="0" smtClean="0"/>
              <a:t>;</a:t>
            </a:r>
          </a:p>
          <a:p>
            <a:r>
              <a:rPr lang="en-US" sz="5500" dirty="0" err="1" smtClean="0"/>
              <a:t>printf</a:t>
            </a:r>
            <a:r>
              <a:rPr lang="en-US" sz="5500" dirty="0" smtClean="0"/>
              <a:t>("The following is:%d\</a:t>
            </a:r>
            <a:r>
              <a:rPr lang="en-US" sz="5500" dirty="0" err="1" smtClean="0"/>
              <a:t>n",d</a:t>
            </a:r>
            <a:r>
              <a:rPr lang="en-US" sz="5500" dirty="0" smtClean="0"/>
              <a:t>);</a:t>
            </a:r>
          </a:p>
          <a:p>
            <a:r>
              <a:rPr lang="en-US" sz="5500" dirty="0" smtClean="0"/>
              <a:t>}</a:t>
            </a:r>
          </a:p>
          <a:p>
            <a:r>
              <a:rPr lang="en-US" sz="5500" dirty="0" err="1" smtClean="0"/>
              <a:t>printfstars</a:t>
            </a:r>
            <a:r>
              <a:rPr lang="en-US" sz="5500" dirty="0" smtClean="0"/>
              <a:t>()</a:t>
            </a:r>
          </a:p>
          <a:p>
            <a:r>
              <a:rPr lang="en-US" sz="5500" dirty="0" smtClean="0"/>
              <a:t>{</a:t>
            </a:r>
          </a:p>
          <a:p>
            <a:r>
              <a:rPr lang="en-US" sz="5500" dirty="0" err="1" smtClean="0"/>
              <a:t>int</a:t>
            </a:r>
            <a:r>
              <a:rPr lang="en-US" sz="5500" dirty="0" smtClean="0"/>
              <a:t> </a:t>
            </a:r>
            <a:r>
              <a:rPr lang="en-US" sz="5500" dirty="0" err="1" smtClean="0"/>
              <a:t>i,j</a:t>
            </a:r>
            <a:r>
              <a:rPr lang="en-US" sz="5500" dirty="0" smtClean="0"/>
              <a:t>;</a:t>
            </a:r>
          </a:p>
          <a:p>
            <a:r>
              <a:rPr lang="en-US" sz="5500" dirty="0" smtClean="0"/>
              <a:t>for(</a:t>
            </a:r>
            <a:r>
              <a:rPr lang="en-US" sz="5500" dirty="0" err="1" smtClean="0"/>
              <a:t>i</a:t>
            </a:r>
            <a:r>
              <a:rPr lang="en-US" sz="5500" dirty="0" smtClean="0"/>
              <a:t>=1;i&lt;=5;i++)</a:t>
            </a:r>
          </a:p>
          <a:p>
            <a:r>
              <a:rPr lang="en-US" sz="5500" dirty="0" smtClean="0"/>
              <a:t>{</a:t>
            </a:r>
          </a:p>
          <a:p>
            <a:r>
              <a:rPr lang="en-US" sz="5500" dirty="0" smtClean="0"/>
              <a:t>for(j=1;j&lt;=</a:t>
            </a:r>
            <a:r>
              <a:rPr lang="en-US" sz="5500" dirty="0" err="1" smtClean="0"/>
              <a:t>i;j</a:t>
            </a:r>
            <a:r>
              <a:rPr lang="en-US" sz="5500" dirty="0" smtClean="0"/>
              <a:t>++)     </a:t>
            </a:r>
          </a:p>
          <a:p>
            <a:r>
              <a:rPr lang="en-US" sz="5500" dirty="0" err="1" smtClean="0"/>
              <a:t>printf</a:t>
            </a:r>
            <a:r>
              <a:rPr lang="en-US" sz="5500" dirty="0" smtClean="0"/>
              <a:t>("%d\</a:t>
            </a:r>
            <a:r>
              <a:rPr lang="en-US" sz="5500" dirty="0" err="1" smtClean="0"/>
              <a:t>t",j</a:t>
            </a:r>
            <a:r>
              <a:rPr lang="en-US" sz="5500" dirty="0" smtClean="0"/>
              <a:t>);</a:t>
            </a:r>
          </a:p>
          <a:p>
            <a:r>
              <a:rPr lang="en-US" sz="5500" dirty="0" err="1" smtClean="0"/>
              <a:t>printf</a:t>
            </a:r>
            <a:r>
              <a:rPr lang="en-US" sz="5500" dirty="0" smtClean="0"/>
              <a:t>(“\n”);	</a:t>
            </a:r>
          </a:p>
          <a:p>
            <a:r>
              <a:rPr lang="en-US" sz="5500" dirty="0" smtClean="0"/>
              <a:t>} }</a:t>
            </a:r>
            <a:endParaRPr lang="en-US" sz="5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Summary</a:t>
            </a:r>
            <a:endParaRPr lang="en-US" b="1"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pPr lvl="0">
              <a:buNone/>
            </a:pPr>
            <a:r>
              <a:rPr lang="en-GB" dirty="0" smtClean="0"/>
              <a:t>1. C program is a collection of one or more functions.</a:t>
            </a:r>
            <a:endParaRPr lang="en-US" dirty="0" smtClean="0"/>
          </a:p>
          <a:p>
            <a:pPr lvl="0">
              <a:buNone/>
            </a:pPr>
            <a:r>
              <a:rPr lang="en-GB" dirty="0" smtClean="0"/>
              <a:t>2. A function gets called when is followed by a semicolon</a:t>
            </a:r>
            <a:endParaRPr lang="en-US" dirty="0" smtClean="0"/>
          </a:p>
          <a:p>
            <a:pPr lvl="0">
              <a:buNone/>
            </a:pPr>
            <a:r>
              <a:rPr lang="en-GB" dirty="0" smtClean="0"/>
              <a:t>3. A function is defined when function name is followed by a pair of braces in which one or more statements may be present.</a:t>
            </a:r>
            <a:endParaRPr lang="en-US" dirty="0" smtClean="0"/>
          </a:p>
          <a:p>
            <a:pPr>
              <a:buNone/>
            </a:pPr>
            <a:r>
              <a:rPr lang="en-GB" b="1" dirty="0" err="1" smtClean="0"/>
              <a:t>e.g</a:t>
            </a:r>
            <a:r>
              <a:rPr lang="en-GB" b="1" dirty="0" smtClean="0"/>
              <a:t>: </a:t>
            </a:r>
          </a:p>
          <a:p>
            <a:pPr>
              <a:buNone/>
            </a:pPr>
            <a:r>
              <a:rPr lang="en-GB" dirty="0" err="1" smtClean="0"/>
              <a:t>kist</a:t>
            </a:r>
            <a:r>
              <a:rPr lang="en-GB" dirty="0" smtClean="0"/>
              <a:t>()</a:t>
            </a:r>
            <a:endParaRPr lang="en-US" dirty="0" smtClean="0"/>
          </a:p>
          <a:p>
            <a:pPr>
              <a:buNone/>
            </a:pPr>
            <a:r>
              <a:rPr lang="en-GB" dirty="0" smtClean="0"/>
              <a:t>{</a:t>
            </a:r>
            <a:endParaRPr lang="en-US" dirty="0" smtClean="0"/>
          </a:p>
          <a:p>
            <a:pPr>
              <a:buNone/>
            </a:pPr>
            <a:r>
              <a:rPr lang="en-GB" dirty="0" smtClean="0"/>
              <a:t>statement;</a:t>
            </a:r>
            <a:endParaRPr lang="en-US" dirty="0" smtClean="0"/>
          </a:p>
          <a:p>
            <a:pPr>
              <a:buNone/>
            </a:pPr>
            <a:r>
              <a:rPr lang="en-GB" dirty="0" smtClean="0"/>
              <a:t>statement;</a:t>
            </a:r>
            <a:endParaRPr lang="en-US" dirty="0" smtClean="0"/>
          </a:p>
          <a:p>
            <a:pPr>
              <a:buNone/>
            </a:pPr>
            <a:r>
              <a:rPr lang="en-GB" dirty="0" smtClean="0"/>
              <a:t>}</a:t>
            </a:r>
            <a:endParaRPr lang="en-US" dirty="0" smtClean="0"/>
          </a:p>
          <a:p>
            <a:pPr>
              <a:buNone/>
            </a:pPr>
            <a:r>
              <a:rPr lang="en-GB" dirty="0" smtClean="0"/>
              <a:t> 4. Any function can be called from any other function. </a:t>
            </a:r>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GB" dirty="0" smtClean="0"/>
              <a:t>5.A function can be called any number of times</a:t>
            </a:r>
            <a:endParaRPr lang="en-US" dirty="0" smtClean="0"/>
          </a:p>
          <a:p>
            <a:r>
              <a:rPr lang="en-GB" b="1" dirty="0" err="1" smtClean="0"/>
              <a:t>e.g</a:t>
            </a:r>
            <a:r>
              <a:rPr lang="en-GB" b="1" dirty="0" smtClean="0"/>
              <a:t>:</a:t>
            </a:r>
            <a:endParaRPr lang="en-US" b="1" dirty="0" smtClean="0"/>
          </a:p>
          <a:p>
            <a:r>
              <a:rPr lang="en-GB" dirty="0" smtClean="0"/>
              <a:t>#include&lt;</a:t>
            </a:r>
            <a:r>
              <a:rPr lang="en-GB" dirty="0" err="1" smtClean="0"/>
              <a:t>stdio.h</a:t>
            </a:r>
            <a:r>
              <a:rPr lang="en-GB" dirty="0" smtClean="0"/>
              <a:t>&gt;</a:t>
            </a:r>
            <a:endParaRPr lang="en-US" dirty="0" smtClean="0"/>
          </a:p>
          <a:p>
            <a:r>
              <a:rPr lang="en-US" dirty="0" smtClean="0"/>
              <a:t>main()</a:t>
            </a:r>
          </a:p>
          <a:p>
            <a:r>
              <a:rPr lang="en-US" dirty="0" smtClean="0"/>
              <a:t>{</a:t>
            </a:r>
          </a:p>
          <a:p>
            <a:r>
              <a:rPr lang="en-US" dirty="0" smtClean="0"/>
              <a:t>message();</a:t>
            </a:r>
          </a:p>
          <a:p>
            <a:r>
              <a:rPr lang="en-US" dirty="0" smtClean="0"/>
              <a:t>message();</a:t>
            </a:r>
          </a:p>
          <a:p>
            <a:r>
              <a:rPr lang="en-GB" dirty="0" smtClean="0"/>
              <a:t>}</a:t>
            </a:r>
            <a:endParaRPr lang="en-US" dirty="0" smtClean="0"/>
          </a:p>
          <a:p>
            <a:r>
              <a:rPr lang="en-GB" dirty="0" smtClean="0"/>
              <a:t>message()</a:t>
            </a:r>
            <a:endParaRPr lang="en-US" dirty="0" smtClean="0"/>
          </a:p>
          <a:p>
            <a:r>
              <a:rPr lang="nl-NL" dirty="0" smtClean="0"/>
              <a:t>{</a:t>
            </a:r>
            <a:endParaRPr lang="en-US" dirty="0" smtClean="0"/>
          </a:p>
          <a:p>
            <a:r>
              <a:rPr lang="nl-NL" dirty="0" smtClean="0"/>
              <a:t>print(“\n C Programming\n”);</a:t>
            </a:r>
            <a:endParaRPr lang="en-US" dirty="0" smtClean="0"/>
          </a:p>
          <a:p>
            <a:r>
              <a:rPr lang="en-GB"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7500" lnSpcReduction="20000"/>
          </a:bodyPr>
          <a:lstStyle/>
          <a:p>
            <a:r>
              <a:rPr lang="en-GB" dirty="0" smtClean="0"/>
              <a:t>6. The order in which the functions are defined in a C program and the order in which they get called need not necessary to be same but for logical output it should be respected.</a:t>
            </a:r>
            <a:endParaRPr lang="en-US" dirty="0" smtClean="0"/>
          </a:p>
          <a:p>
            <a:endParaRPr lang="en-GB" dirty="0" smtClean="0"/>
          </a:p>
          <a:p>
            <a:r>
              <a:rPr lang="en-GB" dirty="0" smtClean="0"/>
              <a:t>7. A function can call itself. Such process is called “</a:t>
            </a:r>
            <a:r>
              <a:rPr lang="en-GB" b="1" dirty="0" smtClean="0"/>
              <a:t>recursion</a:t>
            </a:r>
            <a:r>
              <a:rPr lang="en-GB" dirty="0" smtClean="0"/>
              <a:t>”.</a:t>
            </a:r>
            <a:endParaRPr lang="en-US" dirty="0" smtClean="0"/>
          </a:p>
          <a:p>
            <a:endParaRPr lang="en-US" dirty="0" smtClean="0"/>
          </a:p>
          <a:p>
            <a:r>
              <a:rPr lang="en-GB" b="1" dirty="0" smtClean="0"/>
              <a:t>Recursive function</a:t>
            </a:r>
            <a:endParaRPr lang="en-US" dirty="0" smtClean="0"/>
          </a:p>
          <a:p>
            <a:pPr>
              <a:buNone/>
            </a:pPr>
            <a:r>
              <a:rPr lang="en-GB" dirty="0" smtClean="0"/>
              <a:t> </a:t>
            </a:r>
            <a:endParaRPr lang="en-US" dirty="0" smtClean="0"/>
          </a:p>
          <a:p>
            <a:r>
              <a:rPr lang="en-GB" dirty="0" smtClean="0"/>
              <a:t>In C, it is possible for the functions to call themselves. A function is called “</a:t>
            </a:r>
            <a:r>
              <a:rPr lang="en-GB" b="1" dirty="0" smtClean="0"/>
              <a:t>recursive</a:t>
            </a:r>
            <a:r>
              <a:rPr lang="en-GB" dirty="0" smtClean="0"/>
              <a:t>” if a statement within the body of a function calls the same function (sometimes called circular definition).</a:t>
            </a:r>
            <a:endParaRPr lang="en-US" dirty="0" smtClean="0"/>
          </a:p>
          <a:p>
            <a:pPr>
              <a:buNone/>
            </a:pPr>
            <a:r>
              <a:rPr lang="en-GB" dirty="0" smtClean="0"/>
              <a:t> </a:t>
            </a:r>
            <a:endParaRPr lang="en-US" dirty="0" smtClean="0"/>
          </a:p>
          <a:p>
            <a:r>
              <a:rPr lang="en-GB" dirty="0" smtClean="0"/>
              <a:t>Recursion is thus the process of defining something in terms of itself.</a:t>
            </a:r>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70000" lnSpcReduction="20000"/>
          </a:bodyPr>
          <a:lstStyle/>
          <a:p>
            <a:r>
              <a:rPr lang="en-US" b="1" dirty="0" smtClean="0"/>
              <a:t>Example :factorial </a:t>
            </a:r>
          </a:p>
          <a:p>
            <a:endParaRPr lang="en-US" b="1" dirty="0" smtClean="0"/>
          </a:p>
          <a:p>
            <a:r>
              <a:rPr lang="en-US" dirty="0" smtClean="0"/>
              <a:t>#include&lt;</a:t>
            </a:r>
            <a:r>
              <a:rPr lang="en-US" dirty="0" err="1" smtClean="0"/>
              <a:t>stdio.h</a:t>
            </a:r>
            <a:r>
              <a:rPr lang="en-US" dirty="0" smtClean="0"/>
              <a:t>&gt;</a:t>
            </a:r>
          </a:p>
          <a:p>
            <a:r>
              <a:rPr lang="en-US" dirty="0" smtClean="0"/>
              <a:t>void main()</a:t>
            </a:r>
          </a:p>
          <a:p>
            <a:r>
              <a:rPr lang="en-US" dirty="0" smtClean="0"/>
              <a:t>{</a:t>
            </a:r>
          </a:p>
          <a:p>
            <a:r>
              <a:rPr lang="en-US" dirty="0" err="1" smtClean="0"/>
              <a:t>int</a:t>
            </a:r>
            <a:r>
              <a:rPr lang="en-US" dirty="0" smtClean="0"/>
              <a:t> </a:t>
            </a:r>
            <a:r>
              <a:rPr lang="en-US" dirty="0" err="1" smtClean="0"/>
              <a:t>i,n</a:t>
            </a:r>
            <a:r>
              <a:rPr lang="en-US" dirty="0" smtClean="0"/>
              <a:t>;</a:t>
            </a:r>
          </a:p>
          <a:p>
            <a:r>
              <a:rPr lang="en-US" dirty="0" smtClean="0"/>
              <a:t>long </a:t>
            </a:r>
            <a:r>
              <a:rPr lang="en-US" dirty="0" err="1" smtClean="0"/>
              <a:t>int</a:t>
            </a:r>
            <a:r>
              <a:rPr lang="en-US" dirty="0" smtClean="0"/>
              <a:t> fact=1;</a:t>
            </a:r>
          </a:p>
          <a:p>
            <a:r>
              <a:rPr lang="en-US" dirty="0" err="1" smtClean="0"/>
              <a:t>printf</a:t>
            </a:r>
            <a:r>
              <a:rPr lang="en-US" dirty="0" smtClean="0"/>
              <a:t>("Enter a number:\n");</a:t>
            </a:r>
          </a:p>
          <a:p>
            <a:r>
              <a:rPr lang="en-US" dirty="0" err="1" smtClean="0"/>
              <a:t>scanf</a:t>
            </a:r>
            <a:r>
              <a:rPr lang="en-US" dirty="0" smtClean="0"/>
              <a:t>("%</a:t>
            </a:r>
            <a:r>
              <a:rPr lang="en-US" dirty="0" err="1" smtClean="0"/>
              <a:t>d",&amp;n</a:t>
            </a:r>
            <a:r>
              <a:rPr lang="en-US" dirty="0" smtClean="0"/>
              <a:t>);</a:t>
            </a:r>
          </a:p>
          <a:p>
            <a:r>
              <a:rPr lang="en-US" dirty="0" err="1" smtClean="0"/>
              <a:t>getchar</a:t>
            </a:r>
            <a:r>
              <a:rPr lang="en-US" dirty="0" smtClean="0"/>
              <a:t>();</a:t>
            </a:r>
          </a:p>
          <a:p>
            <a:r>
              <a:rPr lang="en-US" dirty="0" smtClean="0"/>
              <a:t>for(</a:t>
            </a:r>
            <a:r>
              <a:rPr lang="en-US" dirty="0" err="1" smtClean="0"/>
              <a:t>i</a:t>
            </a:r>
            <a:r>
              <a:rPr lang="en-US" dirty="0" smtClean="0"/>
              <a:t>=1;i&lt;=</a:t>
            </a:r>
            <a:r>
              <a:rPr lang="en-US" dirty="0" err="1" smtClean="0"/>
              <a:t>n;i</a:t>
            </a:r>
            <a:r>
              <a:rPr lang="en-US" dirty="0" smtClean="0"/>
              <a:t>++)</a:t>
            </a:r>
          </a:p>
          <a:p>
            <a:r>
              <a:rPr lang="en-US" dirty="0" smtClean="0"/>
              <a:t>{</a:t>
            </a:r>
          </a:p>
          <a:p>
            <a:r>
              <a:rPr lang="en-US" dirty="0" smtClean="0"/>
              <a:t>fact=fact*</a:t>
            </a:r>
            <a:r>
              <a:rPr lang="en-US" dirty="0" err="1" smtClean="0"/>
              <a:t>i</a:t>
            </a:r>
            <a:r>
              <a:rPr lang="en-US" dirty="0" smtClean="0"/>
              <a:t>;</a:t>
            </a:r>
          </a:p>
          <a:p>
            <a:r>
              <a:rPr lang="en-US" dirty="0" smtClean="0"/>
              <a:t>}</a:t>
            </a:r>
          </a:p>
          <a:p>
            <a:r>
              <a:rPr lang="en-US" dirty="0" err="1" smtClean="0"/>
              <a:t>printf</a:t>
            </a:r>
            <a:r>
              <a:rPr lang="en-US" dirty="0" smtClean="0"/>
              <a:t>("%d!=%</a:t>
            </a:r>
            <a:r>
              <a:rPr lang="en-US" dirty="0" err="1" smtClean="0"/>
              <a:t>d",n</a:t>
            </a:r>
            <a:r>
              <a:rPr lang="en-US" dirty="0" smtClean="0"/>
              <a:t>, fact);</a:t>
            </a:r>
          </a:p>
          <a:p>
            <a:r>
              <a:rPr lang="en-US" dirty="0" err="1" smtClean="0"/>
              <a:t>getchar</a:t>
            </a:r>
            <a:r>
              <a:rPr lang="en-US" dirty="0" smtClean="0"/>
              <a:t>();</a:t>
            </a:r>
          </a:p>
          <a:p>
            <a:r>
              <a:rPr lang="en-US" dirty="0" smtClean="0"/>
              <a:t>}</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62500" lnSpcReduction="20000"/>
          </a:bodyPr>
          <a:lstStyle/>
          <a:p>
            <a:r>
              <a:rPr lang="en-GB" b="1" dirty="0" err="1" smtClean="0"/>
              <a:t>e.g</a:t>
            </a:r>
            <a:r>
              <a:rPr lang="en-GB" dirty="0" smtClean="0"/>
              <a:t>: /*Recursive function to calculate the factorial value */</a:t>
            </a:r>
            <a:endParaRPr lang="en-US" dirty="0" smtClean="0"/>
          </a:p>
          <a:p>
            <a:r>
              <a:rPr lang="en-GB" dirty="0" smtClean="0"/>
              <a:t>#include&lt;</a:t>
            </a:r>
            <a:r>
              <a:rPr lang="en-GB" dirty="0" err="1" smtClean="0"/>
              <a:t>stdio.h</a:t>
            </a:r>
            <a:r>
              <a:rPr lang="en-GB" dirty="0" smtClean="0"/>
              <a:t>&gt;</a:t>
            </a:r>
            <a:endParaRPr lang="en-US" dirty="0" smtClean="0"/>
          </a:p>
          <a:p>
            <a:r>
              <a:rPr lang="en-GB" dirty="0" smtClean="0"/>
              <a:t>main()</a:t>
            </a:r>
            <a:endParaRPr lang="en-US" dirty="0" smtClean="0"/>
          </a:p>
          <a:p>
            <a:r>
              <a:rPr lang="en-GB" dirty="0" smtClean="0"/>
              <a:t>{</a:t>
            </a:r>
            <a:endParaRPr lang="en-US" dirty="0" smtClean="0"/>
          </a:p>
          <a:p>
            <a:r>
              <a:rPr lang="en-GB" dirty="0" err="1" smtClean="0"/>
              <a:t>int</a:t>
            </a:r>
            <a:r>
              <a:rPr lang="en-GB" dirty="0" smtClean="0"/>
              <a:t> </a:t>
            </a:r>
            <a:r>
              <a:rPr lang="en-GB" dirty="0" err="1" smtClean="0"/>
              <a:t>a,fact</a:t>
            </a:r>
            <a:r>
              <a:rPr lang="en-GB" dirty="0" smtClean="0"/>
              <a:t>;</a:t>
            </a:r>
            <a:endParaRPr lang="en-US" dirty="0" smtClean="0"/>
          </a:p>
          <a:p>
            <a:r>
              <a:rPr lang="en-GB" dirty="0" err="1" smtClean="0"/>
              <a:t>printf</a:t>
            </a:r>
            <a:r>
              <a:rPr lang="en-GB" dirty="0" smtClean="0"/>
              <a:t>(“Enter any number\n”);</a:t>
            </a:r>
            <a:endParaRPr lang="en-US" dirty="0" smtClean="0"/>
          </a:p>
          <a:p>
            <a:r>
              <a:rPr lang="en-GB" dirty="0" err="1" smtClean="0"/>
              <a:t>scanf</a:t>
            </a:r>
            <a:r>
              <a:rPr lang="en-GB" dirty="0" smtClean="0"/>
              <a:t>(“%d”, &amp;a);</a:t>
            </a:r>
            <a:endParaRPr lang="en-US" dirty="0" smtClean="0"/>
          </a:p>
          <a:p>
            <a:r>
              <a:rPr lang="en-GB" dirty="0" smtClean="0"/>
              <a:t>fact=</a:t>
            </a:r>
            <a:r>
              <a:rPr lang="en-GB" dirty="0" err="1" smtClean="0"/>
              <a:t>rec</a:t>
            </a:r>
            <a:r>
              <a:rPr lang="en-GB" dirty="0" smtClean="0"/>
              <a:t>(a);</a:t>
            </a:r>
            <a:endParaRPr lang="en-US" dirty="0" smtClean="0"/>
          </a:p>
          <a:p>
            <a:r>
              <a:rPr lang="en-GB" dirty="0" err="1" smtClean="0"/>
              <a:t>printf</a:t>
            </a:r>
            <a:r>
              <a:rPr lang="en-GB" dirty="0" smtClean="0"/>
              <a:t>(“</a:t>
            </a:r>
            <a:r>
              <a:rPr lang="en-GB" dirty="0" err="1" smtClean="0"/>
              <a:t>Facrorial</a:t>
            </a:r>
            <a:r>
              <a:rPr lang="en-GB" dirty="0" smtClean="0"/>
              <a:t> number of  %d is: %</a:t>
            </a:r>
            <a:r>
              <a:rPr lang="en-GB" dirty="0" err="1" smtClean="0"/>
              <a:t>d”,a,fact</a:t>
            </a:r>
            <a:r>
              <a:rPr lang="en-GB" dirty="0" smtClean="0"/>
              <a:t>);</a:t>
            </a:r>
            <a:endParaRPr lang="en-US" dirty="0" smtClean="0"/>
          </a:p>
          <a:p>
            <a:r>
              <a:rPr lang="en-GB" dirty="0" smtClean="0"/>
              <a:t>}</a:t>
            </a:r>
            <a:endParaRPr lang="en-US" dirty="0" smtClean="0"/>
          </a:p>
          <a:p>
            <a:r>
              <a:rPr lang="en-GB" dirty="0" err="1" smtClean="0"/>
              <a:t>rec</a:t>
            </a:r>
            <a:r>
              <a:rPr lang="en-GB" dirty="0" smtClean="0"/>
              <a:t>() 			// or </a:t>
            </a:r>
            <a:r>
              <a:rPr lang="en-GB" dirty="0" err="1" smtClean="0"/>
              <a:t>rec</a:t>
            </a:r>
            <a:r>
              <a:rPr lang="en-GB" dirty="0" smtClean="0"/>
              <a:t>(</a:t>
            </a:r>
            <a:r>
              <a:rPr lang="en-GB" dirty="0" err="1" smtClean="0"/>
              <a:t>int</a:t>
            </a:r>
            <a:r>
              <a:rPr lang="en-GB" dirty="0" smtClean="0"/>
              <a:t> x)</a:t>
            </a:r>
            <a:endParaRPr lang="en-US" dirty="0" smtClean="0"/>
          </a:p>
          <a:p>
            <a:r>
              <a:rPr lang="en-GB" dirty="0" err="1" smtClean="0"/>
              <a:t>int</a:t>
            </a:r>
            <a:r>
              <a:rPr lang="en-GB" dirty="0" smtClean="0"/>
              <a:t> x;</a:t>
            </a:r>
            <a:endParaRPr lang="en-US" dirty="0" smtClean="0"/>
          </a:p>
          <a:p>
            <a:r>
              <a:rPr lang="en-GB" dirty="0" smtClean="0"/>
              <a:t>{</a:t>
            </a:r>
            <a:endParaRPr lang="en-US" dirty="0" smtClean="0"/>
          </a:p>
          <a:p>
            <a:r>
              <a:rPr lang="en-GB" dirty="0" err="1" smtClean="0"/>
              <a:t>int</a:t>
            </a:r>
            <a:r>
              <a:rPr lang="en-GB" dirty="0" smtClean="0"/>
              <a:t> f;</a:t>
            </a:r>
            <a:endParaRPr lang="en-US" dirty="0" smtClean="0"/>
          </a:p>
          <a:p>
            <a:r>
              <a:rPr lang="en-GB" dirty="0" smtClean="0"/>
              <a:t>if(x= =1)</a:t>
            </a:r>
            <a:endParaRPr lang="en-US" dirty="0" smtClean="0"/>
          </a:p>
          <a:p>
            <a:r>
              <a:rPr lang="en-GB" dirty="0" smtClean="0"/>
              <a:t>return(1);</a:t>
            </a:r>
            <a:endParaRPr lang="en-US" dirty="0" smtClean="0"/>
          </a:p>
          <a:p>
            <a:r>
              <a:rPr lang="en-GB" dirty="0" smtClean="0"/>
              <a:t>else</a:t>
            </a:r>
            <a:endParaRPr lang="en-US" dirty="0" smtClean="0"/>
          </a:p>
          <a:p>
            <a:r>
              <a:rPr lang="en-GB" dirty="0" smtClean="0"/>
              <a:t>f=x*</a:t>
            </a:r>
            <a:r>
              <a:rPr lang="en-GB" dirty="0" err="1" smtClean="0"/>
              <a:t>rec</a:t>
            </a:r>
            <a:r>
              <a:rPr lang="en-GB" dirty="0" smtClean="0"/>
              <a:t>(x-1);</a:t>
            </a:r>
            <a:endParaRPr lang="en-US" dirty="0" smtClean="0"/>
          </a:p>
          <a:p>
            <a:r>
              <a:rPr lang="en-GB" dirty="0" smtClean="0"/>
              <a:t>return(f);</a:t>
            </a:r>
            <a:endParaRPr lang="en-US" dirty="0" smtClean="0"/>
          </a:p>
          <a:p>
            <a:r>
              <a:rPr lang="en-GB"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20000"/>
          </a:bodyPr>
          <a:lstStyle/>
          <a:p>
            <a:r>
              <a:rPr lang="en-GB" dirty="0" smtClean="0"/>
              <a:t>8.A function can be called from other function. Thus the following program code would be wrong, since </a:t>
            </a:r>
            <a:r>
              <a:rPr lang="en-GB" dirty="0" err="1" smtClean="0"/>
              <a:t>argentina</a:t>
            </a:r>
            <a:r>
              <a:rPr lang="en-GB" dirty="0" smtClean="0"/>
              <a:t>() is being defined inside another function, main()</a:t>
            </a:r>
            <a:endParaRPr lang="en-US" dirty="0" smtClean="0"/>
          </a:p>
          <a:p>
            <a:r>
              <a:rPr lang="en-GB" b="1" dirty="0" err="1" smtClean="0"/>
              <a:t>e.g</a:t>
            </a:r>
            <a:r>
              <a:rPr lang="en-GB" b="1" dirty="0" smtClean="0"/>
              <a:t> :</a:t>
            </a:r>
            <a:endParaRPr lang="en-US" b="1" dirty="0" smtClean="0"/>
          </a:p>
          <a:p>
            <a:pPr>
              <a:buNone/>
            </a:pPr>
            <a:r>
              <a:rPr lang="en-GB" dirty="0" smtClean="0"/>
              <a:t> </a:t>
            </a:r>
            <a:endParaRPr lang="en-US" dirty="0" smtClean="0"/>
          </a:p>
          <a:p>
            <a:pPr>
              <a:buNone/>
            </a:pPr>
            <a:r>
              <a:rPr lang="en-GB" dirty="0" smtClean="0"/>
              <a:t>main()</a:t>
            </a:r>
            <a:endParaRPr lang="en-US" dirty="0" smtClean="0"/>
          </a:p>
          <a:p>
            <a:pPr>
              <a:buNone/>
            </a:pPr>
            <a:r>
              <a:rPr lang="en-GB" dirty="0" smtClean="0"/>
              <a:t>{</a:t>
            </a:r>
            <a:endParaRPr lang="en-US" dirty="0" smtClean="0"/>
          </a:p>
          <a:p>
            <a:pPr>
              <a:buNone/>
            </a:pPr>
            <a:r>
              <a:rPr lang="en-GB" dirty="0" smtClean="0"/>
              <a:t>print(“\n I am in main”);</a:t>
            </a:r>
            <a:endParaRPr lang="en-US" dirty="0" smtClean="0"/>
          </a:p>
          <a:p>
            <a:pPr>
              <a:buNone/>
            </a:pPr>
            <a:r>
              <a:rPr lang="en-GB" dirty="0" err="1" smtClean="0"/>
              <a:t>argentina</a:t>
            </a:r>
            <a:r>
              <a:rPr lang="en-GB" dirty="0" smtClean="0"/>
              <a:t>()</a:t>
            </a:r>
            <a:endParaRPr lang="en-US" dirty="0" smtClean="0"/>
          </a:p>
          <a:p>
            <a:pPr>
              <a:buNone/>
            </a:pPr>
            <a:r>
              <a:rPr lang="en-GB" dirty="0" smtClean="0"/>
              <a:t>{</a:t>
            </a:r>
            <a:endParaRPr lang="en-US" dirty="0" smtClean="0"/>
          </a:p>
          <a:p>
            <a:pPr>
              <a:buNone/>
            </a:pPr>
            <a:r>
              <a:rPr lang="en-GB" dirty="0" err="1" smtClean="0"/>
              <a:t>printf</a:t>
            </a:r>
            <a:r>
              <a:rPr lang="en-GB" dirty="0" smtClean="0"/>
              <a:t>(“\n I am </a:t>
            </a:r>
            <a:r>
              <a:rPr lang="en-GB" dirty="0" err="1" smtClean="0"/>
              <a:t>argentina</a:t>
            </a:r>
            <a:r>
              <a:rPr lang="en-GB" dirty="0" smtClean="0"/>
              <a:t>\n”);</a:t>
            </a:r>
            <a:endParaRPr lang="en-US" dirty="0" smtClean="0"/>
          </a:p>
          <a:p>
            <a:pPr>
              <a:buNone/>
            </a:pPr>
            <a:r>
              <a:rPr lang="en-GB" dirty="0" smtClean="0"/>
              <a:t>}</a:t>
            </a:r>
            <a:endParaRPr lang="en-US" dirty="0" smtClean="0"/>
          </a:p>
          <a:p>
            <a:pPr>
              <a:buNone/>
            </a:pPr>
            <a:r>
              <a:rPr lang="en-GB"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t>
            </a:r>
            <a:r>
              <a:rPr lang="en-US" dirty="0" smtClean="0"/>
              <a:t/>
            </a:r>
            <a:br>
              <a:rPr lang="en-US" dirty="0" smtClean="0"/>
            </a:br>
            <a:r>
              <a:rPr lang="en-US" b="1" dirty="0" smtClean="0"/>
              <a:t>Passing values between functions</a:t>
            </a:r>
            <a:br>
              <a:rPr lang="en-US" b="1" dirty="0" smtClean="0"/>
            </a:br>
            <a:endParaRPr lang="en-US" dirty="0"/>
          </a:p>
        </p:txBody>
      </p:sp>
      <p:sp>
        <p:nvSpPr>
          <p:cNvPr id="3" name="Content Placeholder 2"/>
          <p:cNvSpPr>
            <a:spLocks noGrp="1"/>
          </p:cNvSpPr>
          <p:nvPr>
            <p:ph idx="1"/>
          </p:nvPr>
        </p:nvSpPr>
        <p:spPr>
          <a:xfrm>
            <a:off x="457200" y="1219200"/>
            <a:ext cx="8229600" cy="5410200"/>
          </a:xfrm>
        </p:spPr>
        <p:txBody>
          <a:bodyPr>
            <a:normAutofit fontScale="62500" lnSpcReduction="20000"/>
          </a:bodyPr>
          <a:lstStyle/>
          <a:p>
            <a:r>
              <a:rPr lang="en-GB" dirty="0" smtClean="0"/>
              <a:t>Consider the following program</a:t>
            </a:r>
            <a:endParaRPr lang="en-US" dirty="0" smtClean="0"/>
          </a:p>
          <a:p>
            <a:r>
              <a:rPr lang="en-GB" dirty="0" smtClean="0"/>
              <a:t>#include&lt;</a:t>
            </a:r>
            <a:r>
              <a:rPr lang="en-GB" dirty="0" err="1" smtClean="0"/>
              <a:t>stdio.h</a:t>
            </a:r>
            <a:r>
              <a:rPr lang="en-GB" dirty="0" smtClean="0"/>
              <a:t>&gt;</a:t>
            </a:r>
            <a:endParaRPr lang="en-US" dirty="0" smtClean="0"/>
          </a:p>
          <a:p>
            <a:r>
              <a:rPr lang="en-GB" dirty="0" smtClean="0"/>
              <a:t> main()</a:t>
            </a:r>
            <a:endParaRPr lang="en-US" dirty="0" smtClean="0"/>
          </a:p>
          <a:p>
            <a:r>
              <a:rPr lang="en-GB" dirty="0" smtClean="0"/>
              <a:t>{</a:t>
            </a:r>
            <a:endParaRPr lang="en-US" dirty="0" smtClean="0"/>
          </a:p>
          <a:p>
            <a:r>
              <a:rPr lang="en-GB" dirty="0" err="1" smtClean="0"/>
              <a:t>int</a:t>
            </a:r>
            <a:r>
              <a:rPr lang="en-GB" dirty="0" smtClean="0"/>
              <a:t> </a:t>
            </a:r>
            <a:r>
              <a:rPr lang="en-GB" dirty="0" err="1" smtClean="0"/>
              <a:t>a,b,sum</a:t>
            </a:r>
            <a:r>
              <a:rPr lang="en-GB" dirty="0" smtClean="0"/>
              <a:t>;</a:t>
            </a:r>
            <a:endParaRPr lang="en-US" dirty="0" smtClean="0"/>
          </a:p>
          <a:p>
            <a:r>
              <a:rPr lang="en-GB" dirty="0" err="1" smtClean="0"/>
              <a:t>printf</a:t>
            </a:r>
            <a:r>
              <a:rPr lang="en-GB" dirty="0" smtClean="0"/>
              <a:t>("Enter 2 numbers:\n");</a:t>
            </a:r>
            <a:endParaRPr lang="en-US" dirty="0" smtClean="0"/>
          </a:p>
          <a:p>
            <a:r>
              <a:rPr lang="en-GB" dirty="0" err="1" smtClean="0"/>
              <a:t>scanf</a:t>
            </a:r>
            <a:r>
              <a:rPr lang="en-GB" dirty="0" smtClean="0"/>
              <a:t>("%d %</a:t>
            </a:r>
            <a:r>
              <a:rPr lang="en-GB" dirty="0" err="1" smtClean="0"/>
              <a:t>d",&amp;a,&amp;b</a:t>
            </a:r>
            <a:r>
              <a:rPr lang="en-GB" dirty="0" smtClean="0"/>
              <a:t>);</a:t>
            </a:r>
            <a:endParaRPr lang="en-US" dirty="0" smtClean="0"/>
          </a:p>
          <a:p>
            <a:r>
              <a:rPr lang="en-GB" dirty="0" smtClean="0"/>
              <a:t>sum= </a:t>
            </a:r>
            <a:r>
              <a:rPr lang="en-GB" dirty="0" err="1" smtClean="0"/>
              <a:t>calsum</a:t>
            </a:r>
            <a:r>
              <a:rPr lang="en-GB" dirty="0" smtClean="0"/>
              <a:t>(</a:t>
            </a:r>
            <a:r>
              <a:rPr lang="en-GB" dirty="0" err="1" smtClean="0"/>
              <a:t>a,b</a:t>
            </a:r>
            <a:r>
              <a:rPr lang="en-GB" dirty="0" smtClean="0"/>
              <a:t>);</a:t>
            </a:r>
            <a:endParaRPr lang="en-US" dirty="0" smtClean="0"/>
          </a:p>
          <a:p>
            <a:r>
              <a:rPr lang="en-GB" dirty="0" err="1" smtClean="0"/>
              <a:t>printf</a:t>
            </a:r>
            <a:r>
              <a:rPr lang="en-GB" dirty="0" smtClean="0"/>
              <a:t>("Sum=%d\</a:t>
            </a:r>
            <a:r>
              <a:rPr lang="en-GB" dirty="0" err="1" smtClean="0"/>
              <a:t>n",sum</a:t>
            </a:r>
            <a:r>
              <a:rPr lang="en-GB" dirty="0" smtClean="0"/>
              <a:t>);</a:t>
            </a:r>
            <a:endParaRPr lang="en-US" dirty="0" smtClean="0"/>
          </a:p>
          <a:p>
            <a:r>
              <a:rPr lang="fr-FR" dirty="0" smtClean="0"/>
              <a:t>}</a:t>
            </a:r>
            <a:endParaRPr lang="en-US" dirty="0" smtClean="0"/>
          </a:p>
          <a:p>
            <a:r>
              <a:rPr lang="fr-FR" dirty="0" err="1" smtClean="0"/>
              <a:t>calsum</a:t>
            </a:r>
            <a:r>
              <a:rPr lang="fr-FR" dirty="0" smtClean="0"/>
              <a:t>(</a:t>
            </a:r>
            <a:r>
              <a:rPr lang="fr-FR" dirty="0" err="1" smtClean="0"/>
              <a:t>x,y</a:t>
            </a:r>
            <a:r>
              <a:rPr lang="fr-FR" dirty="0" smtClean="0"/>
              <a:t>) 		// or </a:t>
            </a:r>
            <a:r>
              <a:rPr lang="fr-FR" dirty="0" err="1" smtClean="0"/>
              <a:t>calsum</a:t>
            </a:r>
            <a:r>
              <a:rPr lang="fr-FR" dirty="0" smtClean="0"/>
              <a:t>(</a:t>
            </a:r>
            <a:r>
              <a:rPr lang="fr-FR" dirty="0" err="1" smtClean="0"/>
              <a:t>int</a:t>
            </a:r>
            <a:r>
              <a:rPr lang="fr-FR" dirty="0" smtClean="0"/>
              <a:t> x, </a:t>
            </a:r>
            <a:r>
              <a:rPr lang="fr-FR" dirty="0" err="1" smtClean="0"/>
              <a:t>int</a:t>
            </a:r>
            <a:r>
              <a:rPr lang="fr-FR" dirty="0" smtClean="0"/>
              <a:t> y)</a:t>
            </a:r>
            <a:endParaRPr lang="en-US" dirty="0" smtClean="0"/>
          </a:p>
          <a:p>
            <a:r>
              <a:rPr lang="fr-FR" dirty="0" smtClean="0"/>
              <a:t>{</a:t>
            </a:r>
            <a:endParaRPr lang="en-US" dirty="0" smtClean="0"/>
          </a:p>
          <a:p>
            <a:r>
              <a:rPr lang="fr-FR" dirty="0" err="1" smtClean="0"/>
              <a:t>int</a:t>
            </a:r>
            <a:r>
              <a:rPr lang="fr-FR" dirty="0" smtClean="0"/>
              <a:t> d;</a:t>
            </a:r>
            <a:endParaRPr lang="en-US" dirty="0" smtClean="0"/>
          </a:p>
          <a:p>
            <a:r>
              <a:rPr lang="fr-FR" dirty="0" smtClean="0"/>
              <a:t>d=x+y;</a:t>
            </a:r>
            <a:endParaRPr lang="en-US" dirty="0" smtClean="0"/>
          </a:p>
          <a:p>
            <a:r>
              <a:rPr lang="en-GB" dirty="0" err="1" smtClean="0"/>
              <a:t>printf</a:t>
            </a:r>
            <a:r>
              <a:rPr lang="en-GB" dirty="0" smtClean="0"/>
              <a:t>("The following is:\n");</a:t>
            </a:r>
            <a:endParaRPr lang="en-US" dirty="0" smtClean="0"/>
          </a:p>
          <a:p>
            <a:r>
              <a:rPr lang="en-GB" dirty="0" smtClean="0"/>
              <a:t>return (d);</a:t>
            </a:r>
            <a:endParaRPr lang="en-US" dirty="0" smtClean="0"/>
          </a:p>
          <a:p>
            <a:r>
              <a:rPr lang="en-GB" dirty="0" smtClean="0"/>
              <a:t>}	</a:t>
            </a:r>
            <a:endParaRPr lang="en-US" dirty="0" smtClean="0"/>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pPr lvl="0"/>
            <a:r>
              <a:rPr lang="en-GB" dirty="0" smtClean="0"/>
              <a:t>In the </a:t>
            </a:r>
            <a:r>
              <a:rPr lang="en-GB" dirty="0" err="1" smtClean="0"/>
              <a:t>calsum</a:t>
            </a:r>
            <a:r>
              <a:rPr lang="en-GB" dirty="0" smtClean="0"/>
              <a:t>() function these values get called in two variables x and y </a:t>
            </a:r>
            <a:endParaRPr lang="en-US" dirty="0" smtClean="0"/>
          </a:p>
          <a:p>
            <a:r>
              <a:rPr lang="fr-FR" dirty="0" err="1" smtClean="0"/>
              <a:t>calsum</a:t>
            </a:r>
            <a:r>
              <a:rPr lang="fr-FR" dirty="0" smtClean="0"/>
              <a:t>(</a:t>
            </a:r>
            <a:r>
              <a:rPr lang="fr-FR" dirty="0" err="1" smtClean="0"/>
              <a:t>x,y</a:t>
            </a:r>
            <a:r>
              <a:rPr lang="fr-FR" dirty="0" smtClean="0"/>
              <a:t>)</a:t>
            </a:r>
            <a:endParaRPr lang="en-US" dirty="0" smtClean="0"/>
          </a:p>
          <a:p>
            <a:r>
              <a:rPr lang="fr-FR" dirty="0" err="1" smtClean="0"/>
              <a:t>int</a:t>
            </a:r>
            <a:r>
              <a:rPr lang="fr-FR" dirty="0" smtClean="0"/>
              <a:t> </a:t>
            </a:r>
            <a:r>
              <a:rPr lang="fr-FR" dirty="0" err="1" smtClean="0"/>
              <a:t>x,y</a:t>
            </a:r>
            <a:r>
              <a:rPr lang="fr-FR" dirty="0" smtClean="0"/>
              <a:t>;</a:t>
            </a:r>
            <a:endParaRPr lang="en-US" dirty="0" smtClean="0"/>
          </a:p>
          <a:p>
            <a:pPr lvl="0" algn="just"/>
            <a:r>
              <a:rPr lang="en-GB" dirty="0" smtClean="0"/>
              <a:t>The variables a and b are called “</a:t>
            </a:r>
            <a:r>
              <a:rPr lang="en-GB" b="1" dirty="0" smtClean="0"/>
              <a:t>actual arguments</a:t>
            </a:r>
            <a:r>
              <a:rPr lang="en-GB" dirty="0" smtClean="0"/>
              <a:t>”, whereas the variables x y are called “</a:t>
            </a:r>
            <a:r>
              <a:rPr lang="en-GB" b="1" dirty="0" smtClean="0"/>
              <a:t>formal arguments</a:t>
            </a:r>
            <a:r>
              <a:rPr lang="en-GB" dirty="0" smtClean="0"/>
              <a:t>”. Any number of arguments can be passed to a function being called. The order, type and number of the actual and formal arguments must always be same.</a:t>
            </a:r>
            <a:endParaRPr lang="en-US" dirty="0" smtClean="0"/>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pPr lvl="0"/>
            <a:r>
              <a:rPr lang="en-GB" dirty="0" smtClean="0"/>
              <a:t>The 2 methods of declaring the formal arguments are the same:</a:t>
            </a:r>
            <a:endParaRPr lang="en-US" dirty="0" smtClean="0"/>
          </a:p>
          <a:p>
            <a:r>
              <a:rPr lang="en-US" dirty="0" err="1" smtClean="0"/>
              <a:t>calsum</a:t>
            </a:r>
            <a:r>
              <a:rPr lang="en-US" dirty="0" smtClean="0"/>
              <a:t>()</a:t>
            </a:r>
          </a:p>
          <a:p>
            <a:r>
              <a:rPr lang="en-US" dirty="0" err="1" smtClean="0"/>
              <a:t>int</a:t>
            </a:r>
            <a:r>
              <a:rPr lang="en-US" dirty="0" smtClean="0"/>
              <a:t> </a:t>
            </a:r>
            <a:r>
              <a:rPr lang="en-US" dirty="0" err="1" smtClean="0"/>
              <a:t>x,y</a:t>
            </a:r>
            <a:r>
              <a:rPr lang="en-US" dirty="0" smtClean="0"/>
              <a:t>;</a:t>
            </a:r>
          </a:p>
          <a:p>
            <a:r>
              <a:rPr lang="en-GB" dirty="0" smtClean="0"/>
              <a:t>and </a:t>
            </a:r>
            <a:endParaRPr lang="en-US" dirty="0" smtClean="0"/>
          </a:p>
          <a:p>
            <a:r>
              <a:rPr lang="en-GB" dirty="0" err="1" smtClean="0"/>
              <a:t>calsum</a:t>
            </a:r>
            <a:r>
              <a:rPr lang="en-GB" dirty="0" smtClean="0"/>
              <a:t>(</a:t>
            </a:r>
            <a:r>
              <a:rPr lang="en-GB" dirty="0" err="1" smtClean="0"/>
              <a:t>int</a:t>
            </a:r>
            <a:r>
              <a:rPr lang="en-GB" dirty="0" smtClean="0"/>
              <a:t> </a:t>
            </a:r>
            <a:r>
              <a:rPr lang="en-GB" dirty="0" err="1" smtClean="0"/>
              <a:t>x,int</a:t>
            </a:r>
            <a:r>
              <a:rPr lang="en-GB" dirty="0" smtClean="0"/>
              <a:t> y) commonly used</a:t>
            </a:r>
            <a:endParaRPr lang="en-US" dirty="0" smtClean="0"/>
          </a:p>
          <a:p>
            <a:pPr lvl="0"/>
            <a:r>
              <a:rPr lang="en-GB" dirty="0" smtClean="0"/>
              <a:t>In the above program if we want to return the sum of x, y, it is necessary to use the </a:t>
            </a:r>
            <a:r>
              <a:rPr lang="en-GB" b="1" dirty="0" smtClean="0"/>
              <a:t>return</a:t>
            </a:r>
            <a:r>
              <a:rPr lang="en-GB" dirty="0" smtClean="0"/>
              <a:t> statement.</a:t>
            </a:r>
            <a:endParaRPr lang="en-US" dirty="0" smtClean="0"/>
          </a:p>
          <a:p>
            <a:pPr lvl="0"/>
            <a:r>
              <a:rPr lang="en-GB" dirty="0" smtClean="0"/>
              <a:t>The return statement serves 2 purposes:</a:t>
            </a:r>
            <a:endParaRPr lang="en-US" dirty="0" smtClean="0"/>
          </a:p>
          <a:p>
            <a:pPr lvl="0"/>
            <a:r>
              <a:rPr lang="en-GB" dirty="0" smtClean="0"/>
              <a:t>On executing the return statement it immediately transfers the control back to the calling program.</a:t>
            </a:r>
            <a:endParaRPr lang="en-US" dirty="0" smtClean="0"/>
          </a:p>
          <a:p>
            <a:pPr lvl="0"/>
            <a:r>
              <a:rPr lang="en-GB" dirty="0" smtClean="0"/>
              <a:t>It returns the value present in the parentheses after return to the calling program. In the above program the value of sum of 2 numbers is being returned.</a:t>
            </a:r>
            <a:endParaRPr lang="en-US" dirty="0" smtClean="0"/>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lvl="0"/>
            <a:r>
              <a:rPr lang="en-GB" dirty="0" smtClean="0"/>
              <a:t>If we want that a called function should not return any value, in that case, we must mention so by using the keyword </a:t>
            </a:r>
            <a:r>
              <a:rPr lang="en-GB" b="1" dirty="0" smtClean="0"/>
              <a:t>void</a:t>
            </a:r>
            <a:r>
              <a:rPr lang="en-GB" dirty="0" smtClean="0"/>
              <a:t>.</a:t>
            </a:r>
            <a:endParaRPr lang="en-US" dirty="0" smtClean="0"/>
          </a:p>
          <a:p>
            <a:pPr>
              <a:buNone/>
            </a:pPr>
            <a:r>
              <a:rPr lang="en-GB" dirty="0" smtClean="0"/>
              <a:t>void message()</a:t>
            </a:r>
            <a:endParaRPr lang="en-US" dirty="0" smtClean="0"/>
          </a:p>
          <a:p>
            <a:pPr>
              <a:buNone/>
            </a:pPr>
            <a:r>
              <a:rPr lang="en-GB" dirty="0" smtClean="0"/>
              <a:t>{</a:t>
            </a:r>
            <a:endParaRPr lang="en-US" dirty="0" smtClean="0"/>
          </a:p>
          <a:p>
            <a:pPr>
              <a:buNone/>
            </a:pPr>
            <a:r>
              <a:rPr lang="en-GB" dirty="0" err="1" smtClean="0"/>
              <a:t>printf</a:t>
            </a:r>
            <a:r>
              <a:rPr lang="en-GB" dirty="0" smtClean="0"/>
              <a:t>(“C programming is easy\n”);</a:t>
            </a:r>
            <a:endParaRPr lang="en-US" dirty="0" smtClean="0"/>
          </a:p>
          <a:p>
            <a:pPr>
              <a:buNone/>
            </a:pPr>
            <a:r>
              <a:rPr lang="en-GB" dirty="0" smtClean="0"/>
              <a:t>}</a:t>
            </a:r>
            <a:endParaRPr lang="en-US" dirty="0" smtClean="0"/>
          </a:p>
          <a:p>
            <a:pPr lvl="0"/>
            <a:r>
              <a:rPr lang="en-GB" dirty="0" smtClean="0"/>
              <a:t>A function can return only one value at time. The following statement is invalid: return(</a:t>
            </a:r>
            <a:r>
              <a:rPr lang="en-GB" dirty="0" err="1" smtClean="0"/>
              <a:t>a,b</a:t>
            </a:r>
            <a:r>
              <a:rPr lang="en-GB"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t>
            </a:r>
            <a:r>
              <a:rPr lang="en-US" dirty="0" smtClean="0"/>
              <a:t/>
            </a:r>
            <a:br>
              <a:rPr lang="en-US" dirty="0" smtClean="0"/>
            </a:br>
            <a:r>
              <a:rPr lang="en-US" b="1" dirty="0" smtClean="0"/>
              <a:t>Function declaration and Prototypes</a:t>
            </a:r>
            <a:br>
              <a:rPr lang="en-US" b="1" dirty="0" smtClean="0"/>
            </a:br>
            <a:endParaRPr lang="en-US" dirty="0"/>
          </a:p>
        </p:txBody>
      </p:sp>
      <p:sp>
        <p:nvSpPr>
          <p:cNvPr id="3" name="Content Placeholder 2"/>
          <p:cNvSpPr>
            <a:spLocks noGrp="1"/>
          </p:cNvSpPr>
          <p:nvPr>
            <p:ph idx="1"/>
          </p:nvPr>
        </p:nvSpPr>
        <p:spPr/>
        <p:txBody>
          <a:bodyPr/>
          <a:lstStyle/>
          <a:p>
            <a:r>
              <a:rPr lang="en-US" dirty="0" smtClean="0"/>
              <a:t>A </a:t>
            </a:r>
            <a:r>
              <a:rPr lang="en-US" b="1" dirty="0" smtClean="0"/>
              <a:t>function prototype </a:t>
            </a:r>
            <a:r>
              <a:rPr lang="en-US" dirty="0" smtClean="0"/>
              <a:t>declares the function name, its parameters, and its return type to the rest of the program. </a:t>
            </a:r>
          </a:p>
          <a:p>
            <a:r>
              <a:rPr lang="en-US" dirty="0" smtClean="0"/>
              <a:t>This is done before a function is declared.  (In most cases at the beginning of a program)</a:t>
            </a:r>
          </a:p>
          <a:p>
            <a:r>
              <a:rPr lang="en-GB" dirty="0" smtClean="0"/>
              <a:t>Any C function by default returns an </a:t>
            </a:r>
            <a:r>
              <a:rPr lang="en-GB" dirty="0" err="1" smtClean="0"/>
              <a:t>int</a:t>
            </a:r>
            <a:r>
              <a:rPr lang="en-GB" dirty="0" smtClean="0"/>
              <a:t> value.</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Storage classes </a:t>
            </a:r>
            <a:r>
              <a:rPr lang="en-US" dirty="0" smtClean="0"/>
              <a:t/>
            </a:r>
            <a:br>
              <a:rPr lang="en-US" dirty="0" smtClean="0"/>
            </a:br>
            <a:endParaRPr lang="en-US" dirty="0"/>
          </a:p>
        </p:txBody>
      </p:sp>
      <p:sp>
        <p:nvSpPr>
          <p:cNvPr id="3" name="Content Placeholder 2"/>
          <p:cNvSpPr>
            <a:spLocks noGrp="1"/>
          </p:cNvSpPr>
          <p:nvPr>
            <p:ph idx="1"/>
          </p:nvPr>
        </p:nvSpPr>
        <p:spPr>
          <a:xfrm>
            <a:off x="457200" y="1066800"/>
            <a:ext cx="8229600" cy="5334000"/>
          </a:xfrm>
        </p:spPr>
        <p:txBody>
          <a:bodyPr>
            <a:normAutofit fontScale="92500" lnSpcReduction="10000"/>
          </a:bodyPr>
          <a:lstStyle/>
          <a:p>
            <a:endParaRPr lang="en-US" dirty="0" smtClean="0"/>
          </a:p>
          <a:p>
            <a:r>
              <a:rPr lang="en-GB" dirty="0" smtClean="0"/>
              <a:t>In C, all the variables have data types and storage classes.</a:t>
            </a:r>
          </a:p>
          <a:p>
            <a:r>
              <a:rPr lang="en-GB" dirty="0" smtClean="0"/>
              <a:t>Every identifier also has a storage class that provides its visibility, lifetime and location. There are 4 different storage classes in C. </a:t>
            </a:r>
          </a:p>
          <a:p>
            <a:r>
              <a:rPr lang="en-GB" dirty="0" smtClean="0"/>
              <a:t>They are</a:t>
            </a:r>
          </a:p>
          <a:p>
            <a:pPr>
              <a:buFontTx/>
              <a:buChar char="-"/>
            </a:pPr>
            <a:r>
              <a:rPr lang="en-GB" b="1" dirty="0" smtClean="0"/>
              <a:t>Automatic </a:t>
            </a:r>
            <a:r>
              <a:rPr lang="en-GB" b="1" dirty="0" smtClean="0"/>
              <a:t>storage </a:t>
            </a:r>
            <a:r>
              <a:rPr lang="en-GB" b="1" dirty="0" smtClean="0"/>
              <a:t>class</a:t>
            </a:r>
          </a:p>
          <a:p>
            <a:pPr>
              <a:buFontTx/>
              <a:buChar char="-"/>
            </a:pPr>
            <a:r>
              <a:rPr lang="en-GB" b="1" dirty="0" smtClean="0"/>
              <a:t>Register </a:t>
            </a:r>
            <a:r>
              <a:rPr lang="en-GB" b="1" dirty="0" smtClean="0"/>
              <a:t>storage class</a:t>
            </a:r>
            <a:endParaRPr lang="en-US" b="1" dirty="0" smtClean="0"/>
          </a:p>
          <a:p>
            <a:pPr>
              <a:buNone/>
            </a:pPr>
            <a:r>
              <a:rPr lang="en-GB" b="1" dirty="0" smtClean="0"/>
              <a:t>- Static storage class</a:t>
            </a:r>
            <a:endParaRPr lang="en-US" b="1" dirty="0" smtClean="0"/>
          </a:p>
          <a:p>
            <a:pPr>
              <a:buNone/>
            </a:pPr>
            <a:r>
              <a:rPr lang="en-GB" b="1" dirty="0" smtClean="0"/>
              <a:t>- Extern storage class</a:t>
            </a:r>
            <a:endParaRPr lang="en-US" b="1"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Automatic storage class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GB" dirty="0" smtClean="0"/>
              <a:t>Variables defined inside a function are local (internal) to the function they are declared, and called automatic variables.</a:t>
            </a:r>
          </a:p>
          <a:p>
            <a:r>
              <a:rPr lang="en-GB" dirty="0" smtClean="0"/>
              <a:t> They are more often referred to as automatic, after the fact that their memory space is automatically allocated as the function is entered and released. </a:t>
            </a:r>
            <a:endParaRPr lang="en-US" dirty="0" smtClean="0"/>
          </a:p>
          <a:p>
            <a:r>
              <a:rPr lang="en-GB" dirty="0" smtClean="0"/>
              <a:t>In other words, automatic variables are given only temporary memory space. </a:t>
            </a:r>
          </a:p>
          <a:p>
            <a:r>
              <a:rPr lang="en-GB" dirty="0" smtClean="0"/>
              <a:t>They are only accessed by the function in which it is defined.</a:t>
            </a:r>
          </a:p>
          <a:p>
            <a:r>
              <a:rPr lang="en-GB" dirty="0" smtClean="0"/>
              <a:t> They have no meaning outside the function in which they are declared. </a:t>
            </a:r>
            <a:endParaRPr lang="en-US" dirty="0" smtClean="0"/>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smtClean="0"/>
              <a:t>The C compiler treats any variable declared inside a function as an automatic variable,</a:t>
            </a:r>
          </a:p>
          <a:p>
            <a:r>
              <a:rPr lang="en-GB" dirty="0" smtClean="0"/>
              <a:t> it is not necessary to specify the keyword </a:t>
            </a:r>
            <a:r>
              <a:rPr lang="en-GB" b="1" dirty="0" smtClean="0"/>
              <a:t>auto</a:t>
            </a:r>
            <a:r>
              <a:rPr lang="en-GB" dirty="0" smtClean="0"/>
              <a:t> along with the variable declaration</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GB" dirty="0" smtClean="0"/>
              <a:t>#include&lt;</a:t>
            </a:r>
            <a:r>
              <a:rPr lang="en-GB" dirty="0" err="1" smtClean="0"/>
              <a:t>stdio.h</a:t>
            </a:r>
            <a:r>
              <a:rPr lang="en-GB" dirty="0" smtClean="0"/>
              <a:t>&gt;</a:t>
            </a:r>
            <a:endParaRPr lang="en-US" dirty="0" smtClean="0"/>
          </a:p>
          <a:p>
            <a:r>
              <a:rPr lang="en-GB" dirty="0" smtClean="0"/>
              <a:t>main()</a:t>
            </a:r>
            <a:endParaRPr lang="en-US" dirty="0" smtClean="0"/>
          </a:p>
          <a:p>
            <a:r>
              <a:rPr lang="en-GB" dirty="0" smtClean="0"/>
              <a:t>{</a:t>
            </a:r>
            <a:endParaRPr lang="en-US" dirty="0" smtClean="0"/>
          </a:p>
          <a:p>
            <a:r>
              <a:rPr lang="en-GB" dirty="0" smtClean="0"/>
              <a:t>auto </a:t>
            </a:r>
            <a:r>
              <a:rPr lang="en-GB" dirty="0" err="1" smtClean="0"/>
              <a:t>int</a:t>
            </a:r>
            <a:r>
              <a:rPr lang="en-GB" dirty="0" smtClean="0"/>
              <a:t> x=5;</a:t>
            </a:r>
            <a:endParaRPr lang="en-US" dirty="0" smtClean="0"/>
          </a:p>
          <a:p>
            <a:r>
              <a:rPr lang="en-GB" dirty="0" smtClean="0"/>
              <a:t>   {</a:t>
            </a:r>
            <a:endParaRPr lang="en-US" dirty="0" smtClean="0"/>
          </a:p>
          <a:p>
            <a:r>
              <a:rPr lang="en-GB" dirty="0" smtClean="0"/>
              <a:t>      auto </a:t>
            </a:r>
            <a:r>
              <a:rPr lang="en-GB" dirty="0" err="1" smtClean="0"/>
              <a:t>int</a:t>
            </a:r>
            <a:r>
              <a:rPr lang="en-GB" dirty="0" smtClean="0"/>
              <a:t> x=4;</a:t>
            </a:r>
            <a:endParaRPr lang="en-US" dirty="0" smtClean="0"/>
          </a:p>
          <a:p>
            <a:r>
              <a:rPr lang="en-GB" dirty="0" smtClean="0"/>
              <a:t>{</a:t>
            </a:r>
            <a:endParaRPr lang="en-US" dirty="0" smtClean="0"/>
          </a:p>
          <a:p>
            <a:r>
              <a:rPr lang="en-GB" dirty="0" smtClean="0"/>
              <a:t>   auto </a:t>
            </a:r>
            <a:r>
              <a:rPr lang="en-GB" dirty="0" err="1" smtClean="0"/>
              <a:t>int</a:t>
            </a:r>
            <a:r>
              <a:rPr lang="en-GB" dirty="0" smtClean="0"/>
              <a:t> x=3;</a:t>
            </a:r>
            <a:endParaRPr lang="en-US" dirty="0" smtClean="0"/>
          </a:p>
          <a:p>
            <a:r>
              <a:rPr lang="en-US" dirty="0" smtClean="0"/>
              <a:t>    </a:t>
            </a:r>
            <a:r>
              <a:rPr lang="fr-FR" dirty="0" err="1" smtClean="0"/>
              <a:t>printf</a:t>
            </a:r>
            <a:r>
              <a:rPr lang="fr-FR" dirty="0" smtClean="0"/>
              <a:t>("%d\t",x);</a:t>
            </a:r>
            <a:endParaRPr lang="en-US" dirty="0" smtClean="0"/>
          </a:p>
          <a:p>
            <a:r>
              <a:rPr lang="fr-FR" dirty="0" smtClean="0"/>
              <a:t>}</a:t>
            </a:r>
            <a:endParaRPr lang="en-US" dirty="0" smtClean="0"/>
          </a:p>
          <a:p>
            <a:r>
              <a:rPr lang="fr-FR" dirty="0" smtClean="0"/>
              <a:t>                </a:t>
            </a:r>
            <a:r>
              <a:rPr lang="fr-FR" dirty="0" err="1" smtClean="0"/>
              <a:t>printf</a:t>
            </a:r>
            <a:r>
              <a:rPr lang="fr-FR" dirty="0" smtClean="0"/>
              <a:t>("%d\t",x);</a:t>
            </a:r>
            <a:endParaRPr lang="en-US" dirty="0" smtClean="0"/>
          </a:p>
          <a:p>
            <a:r>
              <a:rPr lang="en-US" dirty="0" smtClean="0"/>
              <a:t>}</a:t>
            </a:r>
          </a:p>
          <a:p>
            <a:r>
              <a:rPr lang="en-US" dirty="0" err="1" smtClean="0"/>
              <a:t>printf</a:t>
            </a:r>
            <a:r>
              <a:rPr lang="en-US" dirty="0" smtClean="0"/>
              <a:t>("%d\</a:t>
            </a:r>
            <a:r>
              <a:rPr lang="en-US" dirty="0" err="1" smtClean="0"/>
              <a:t>t",x</a:t>
            </a:r>
            <a:r>
              <a:rPr lang="en-US" dirty="0" smtClean="0"/>
              <a:t>);</a:t>
            </a:r>
          </a:p>
          <a:p>
            <a:r>
              <a:rPr lang="en-GB" dirty="0" smtClean="0"/>
              <a:t>}</a:t>
            </a:r>
            <a:endParaRPr lang="en-US" dirty="0" smtClean="0"/>
          </a:p>
          <a:p>
            <a:r>
              <a:rPr lang="en-GB" dirty="0" smtClean="0"/>
              <a:t> </a:t>
            </a:r>
            <a:endParaRPr lang="en-US" dirty="0" smtClean="0"/>
          </a:p>
          <a:p>
            <a:r>
              <a:rPr lang="en-GB" dirty="0" smtClean="0"/>
              <a:t>The output</a:t>
            </a:r>
            <a:r>
              <a:rPr lang="en-GB" b="1" dirty="0" smtClean="0"/>
              <a:t> </a:t>
            </a:r>
            <a:r>
              <a:rPr lang="en-GB" dirty="0" smtClean="0"/>
              <a:t>will be 	3	4	5</a:t>
            </a:r>
            <a:endParaRPr lang="en-US" dirty="0" smtClean="0"/>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Register storage class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715000"/>
          </a:xfrm>
        </p:spPr>
        <p:txBody>
          <a:bodyPr>
            <a:normAutofit lnSpcReduction="10000"/>
          </a:bodyPr>
          <a:lstStyle/>
          <a:p>
            <a:r>
              <a:rPr lang="en-GB" dirty="0" smtClean="0"/>
              <a:t>The register storage class is similar to the previous one since the variables defined inside a function are local.</a:t>
            </a:r>
          </a:p>
          <a:p>
            <a:r>
              <a:rPr lang="en-GB" dirty="0" smtClean="0"/>
              <a:t> It can be accessed by the function in which it is defined </a:t>
            </a:r>
          </a:p>
          <a:p>
            <a:r>
              <a:rPr lang="en-GB" dirty="0" smtClean="0"/>
              <a:t>Its values cannot be accessed by any other function. </a:t>
            </a:r>
          </a:p>
          <a:p>
            <a:r>
              <a:rPr lang="en-GB" dirty="0" smtClean="0"/>
              <a:t>When defining a register variable inside a function it is more precise in C to use the keyword </a:t>
            </a:r>
            <a:r>
              <a:rPr lang="en-GB" b="1" dirty="0" smtClean="0"/>
              <a:t>register</a:t>
            </a:r>
            <a:r>
              <a:rPr lang="en-GB" dirty="0" smtClean="0"/>
              <a:t> before the definition of the variable.</a:t>
            </a:r>
            <a:endParaRPr lang="en-US" dirty="0" smtClean="0"/>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609600"/>
            <a:ext cx="8229600" cy="5516563"/>
          </a:xfrm>
        </p:spPr>
        <p:txBody>
          <a:bodyPr>
            <a:normAutofit fontScale="70000" lnSpcReduction="20000"/>
          </a:bodyPr>
          <a:lstStyle/>
          <a:p>
            <a:endParaRPr lang="en-GB" dirty="0" smtClean="0"/>
          </a:p>
          <a:p>
            <a:endParaRPr lang="en-GB" dirty="0" smtClean="0"/>
          </a:p>
          <a:p>
            <a:endParaRPr lang="en-GB" dirty="0" smtClean="0"/>
          </a:p>
          <a:p>
            <a:r>
              <a:rPr lang="en-GB" dirty="0" smtClean="0"/>
              <a:t>#include&lt;</a:t>
            </a:r>
            <a:r>
              <a:rPr lang="en-GB" dirty="0" err="1" smtClean="0"/>
              <a:t>stdio.h</a:t>
            </a:r>
            <a:r>
              <a:rPr lang="en-GB" dirty="0" smtClean="0"/>
              <a:t>&gt;</a:t>
            </a:r>
            <a:endParaRPr lang="en-US" dirty="0" smtClean="0"/>
          </a:p>
          <a:p>
            <a:r>
              <a:rPr lang="en-GB" dirty="0" smtClean="0"/>
              <a:t>main()</a:t>
            </a:r>
            <a:endParaRPr lang="en-US" dirty="0" smtClean="0"/>
          </a:p>
          <a:p>
            <a:r>
              <a:rPr lang="en-GB" dirty="0" smtClean="0"/>
              <a:t>{</a:t>
            </a:r>
            <a:endParaRPr lang="en-US" dirty="0" smtClean="0"/>
          </a:p>
          <a:p>
            <a:r>
              <a:rPr lang="en-GB" dirty="0" smtClean="0"/>
              <a:t>register </a:t>
            </a:r>
            <a:r>
              <a:rPr lang="en-GB" dirty="0" err="1" smtClean="0"/>
              <a:t>int</a:t>
            </a:r>
            <a:r>
              <a:rPr lang="en-GB" dirty="0" smtClean="0"/>
              <a:t>  x;</a:t>
            </a:r>
            <a:endParaRPr lang="en-US" dirty="0" smtClean="0"/>
          </a:p>
          <a:p>
            <a:r>
              <a:rPr lang="en-GB" dirty="0" smtClean="0"/>
              <a:t>for(x=1;x&lt;=10;x++)</a:t>
            </a:r>
            <a:endParaRPr lang="en-US" dirty="0" smtClean="0"/>
          </a:p>
          <a:p>
            <a:r>
              <a:rPr lang="en-GB" dirty="0" err="1" smtClean="0"/>
              <a:t>printf</a:t>
            </a:r>
            <a:r>
              <a:rPr lang="en-GB" dirty="0" smtClean="0"/>
              <a:t>(“\</a:t>
            </a:r>
            <a:r>
              <a:rPr lang="en-GB" dirty="0" err="1" smtClean="0"/>
              <a:t>n%d”,x</a:t>
            </a:r>
            <a:r>
              <a:rPr lang="en-GB" dirty="0" smtClean="0"/>
              <a:t>);</a:t>
            </a:r>
            <a:endParaRPr lang="en-US" dirty="0" smtClean="0"/>
          </a:p>
          <a:p>
            <a:r>
              <a:rPr lang="en-GB" dirty="0" smtClean="0"/>
              <a:t>}</a:t>
            </a:r>
            <a:endParaRPr lang="en-US" dirty="0" smtClean="0"/>
          </a:p>
          <a:p>
            <a:r>
              <a:rPr lang="en-GB" dirty="0" smtClean="0"/>
              <a:t> </a:t>
            </a:r>
            <a:endParaRPr lang="en-US" dirty="0" smtClean="0"/>
          </a:p>
          <a:p>
            <a:r>
              <a:rPr lang="en-GB" dirty="0" smtClean="0"/>
              <a:t>We cannot use the register storage class for all types of variables</a:t>
            </a:r>
            <a:endParaRPr lang="en-US" dirty="0" smtClean="0"/>
          </a:p>
          <a:p>
            <a:pPr>
              <a:buNone/>
            </a:pPr>
            <a:r>
              <a:rPr lang="en-GB" dirty="0" err="1" smtClean="0"/>
              <a:t>i.e</a:t>
            </a:r>
            <a:endParaRPr lang="en-US" dirty="0" smtClean="0"/>
          </a:p>
          <a:p>
            <a:pPr>
              <a:buNone/>
            </a:pPr>
            <a:r>
              <a:rPr lang="en-GB" dirty="0" smtClean="0"/>
              <a:t>register double x;</a:t>
            </a:r>
            <a:endParaRPr lang="en-US" dirty="0" smtClean="0"/>
          </a:p>
          <a:p>
            <a:pPr>
              <a:buNone/>
            </a:pPr>
            <a:r>
              <a:rPr lang="en-GB" dirty="0" smtClean="0"/>
              <a:t>register float y;</a:t>
            </a:r>
            <a:endParaRPr lang="en-US" dirty="0" smtClean="0"/>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Static storage class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GB" dirty="0" smtClean="0"/>
              <a:t>The static variables are stored in the memory. When the value of a static variable is not initialized it takes a value of zero.</a:t>
            </a:r>
            <a:endParaRPr lang="en-US" dirty="0" smtClean="0"/>
          </a:p>
          <a:p>
            <a:r>
              <a:rPr lang="en-GB" dirty="0" smtClean="0"/>
              <a:t>The word static in general refers to anything that is inert to change. When defining static variable inside a function is more precise in C use the keyword </a:t>
            </a:r>
            <a:r>
              <a:rPr lang="en-GB" b="1" dirty="0" smtClean="0"/>
              <a:t>static</a:t>
            </a:r>
            <a:r>
              <a:rPr lang="en-GB" dirty="0" smtClean="0"/>
              <a:t> before the definition of the variable. </a:t>
            </a:r>
            <a:endParaRPr lang="en-US" dirty="0" smtClean="0"/>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r>
              <a:rPr lang="en-GB" dirty="0" smtClean="0"/>
              <a:t>#include&lt;</a:t>
            </a:r>
            <a:r>
              <a:rPr lang="en-GB" dirty="0" err="1" smtClean="0"/>
              <a:t>stdio.h</a:t>
            </a:r>
            <a:r>
              <a:rPr lang="en-GB" dirty="0" smtClean="0"/>
              <a:t>&gt;</a:t>
            </a:r>
            <a:endParaRPr lang="en-US" dirty="0" smtClean="0"/>
          </a:p>
          <a:p>
            <a:r>
              <a:rPr lang="en-GB" dirty="0" smtClean="0"/>
              <a:t>main()</a:t>
            </a:r>
            <a:endParaRPr lang="en-US" dirty="0" smtClean="0"/>
          </a:p>
          <a:p>
            <a:r>
              <a:rPr lang="en-GB" dirty="0" smtClean="0"/>
              <a:t>{</a:t>
            </a:r>
            <a:endParaRPr lang="en-US" dirty="0" smtClean="0"/>
          </a:p>
          <a:p>
            <a:r>
              <a:rPr lang="en-GB" dirty="0" err="1" smtClean="0"/>
              <a:t>int</a:t>
            </a:r>
            <a:r>
              <a:rPr lang="en-GB" dirty="0" smtClean="0"/>
              <a:t> </a:t>
            </a:r>
            <a:r>
              <a:rPr lang="en-GB" dirty="0" err="1" smtClean="0"/>
              <a:t>i</a:t>
            </a:r>
            <a:r>
              <a:rPr lang="en-GB" dirty="0" smtClean="0"/>
              <a:t>;</a:t>
            </a:r>
            <a:endParaRPr lang="en-US" dirty="0" smtClean="0"/>
          </a:p>
          <a:p>
            <a:r>
              <a:rPr lang="en-GB" dirty="0" smtClean="0"/>
              <a:t>for(</a:t>
            </a:r>
            <a:r>
              <a:rPr lang="en-GB" dirty="0" err="1" smtClean="0"/>
              <a:t>i</a:t>
            </a:r>
            <a:r>
              <a:rPr lang="en-GB" dirty="0" smtClean="0"/>
              <a:t>=1;i&lt;=10;i++)</a:t>
            </a:r>
            <a:endParaRPr lang="en-US" dirty="0" smtClean="0"/>
          </a:p>
          <a:p>
            <a:r>
              <a:rPr lang="en-GB" dirty="0" err="1" smtClean="0"/>
              <a:t>printf</a:t>
            </a:r>
            <a:r>
              <a:rPr lang="en-GB" dirty="0" smtClean="0"/>
              <a:t>("%d ,%d\</a:t>
            </a:r>
            <a:r>
              <a:rPr lang="en-GB" dirty="0" err="1" smtClean="0"/>
              <a:t>n",i,f</a:t>
            </a:r>
            <a:r>
              <a:rPr lang="en-GB" dirty="0" smtClean="0"/>
              <a:t>(</a:t>
            </a:r>
            <a:r>
              <a:rPr lang="en-GB" dirty="0" err="1" smtClean="0"/>
              <a:t>i</a:t>
            </a:r>
            <a:r>
              <a:rPr lang="en-GB" dirty="0" smtClean="0"/>
              <a:t>));</a:t>
            </a:r>
            <a:endParaRPr lang="en-US" dirty="0" smtClean="0"/>
          </a:p>
          <a:p>
            <a:r>
              <a:rPr lang="en-GB" dirty="0" smtClean="0"/>
              <a:t>}</a:t>
            </a:r>
            <a:endParaRPr lang="en-US" dirty="0" smtClean="0"/>
          </a:p>
          <a:p>
            <a:r>
              <a:rPr lang="en-GB" dirty="0" smtClean="0"/>
              <a:t>f(x)</a:t>
            </a:r>
            <a:endParaRPr lang="en-US" dirty="0" smtClean="0"/>
          </a:p>
          <a:p>
            <a:r>
              <a:rPr lang="en-GB" dirty="0" err="1" smtClean="0"/>
              <a:t>int</a:t>
            </a:r>
            <a:r>
              <a:rPr lang="en-GB" dirty="0" smtClean="0"/>
              <a:t> x;</a:t>
            </a:r>
            <a:endParaRPr lang="en-US" dirty="0" smtClean="0"/>
          </a:p>
          <a:p>
            <a:r>
              <a:rPr lang="en-GB" dirty="0" smtClean="0"/>
              <a:t>{</a:t>
            </a:r>
            <a:endParaRPr lang="en-US" dirty="0" smtClean="0"/>
          </a:p>
          <a:p>
            <a:r>
              <a:rPr lang="en-GB" dirty="0" smtClean="0"/>
              <a:t>static </a:t>
            </a:r>
            <a:r>
              <a:rPr lang="en-GB" dirty="0" err="1" smtClean="0"/>
              <a:t>int</a:t>
            </a:r>
            <a:r>
              <a:rPr lang="en-GB" dirty="0" smtClean="0"/>
              <a:t> s=100;</a:t>
            </a:r>
            <a:endParaRPr lang="en-US" dirty="0" smtClean="0"/>
          </a:p>
          <a:p>
            <a:r>
              <a:rPr lang="en-GB" dirty="0" smtClean="0"/>
              <a:t>return s+=x;   //s=</a:t>
            </a:r>
            <a:r>
              <a:rPr lang="en-GB" dirty="0" err="1" smtClean="0"/>
              <a:t>s+x</a:t>
            </a:r>
            <a:endParaRPr lang="en-US" dirty="0" smtClean="0"/>
          </a:p>
          <a:p>
            <a:r>
              <a:rPr lang="en-GB"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Extern storage class</a:t>
            </a:r>
            <a:r>
              <a:rPr lang="en-US" dirty="0" smtClean="0"/>
              <a:t/>
            </a:r>
            <a:br>
              <a:rPr lang="en-US" dirty="0" smtClean="0"/>
            </a:br>
            <a:endParaRPr lang="en-US" dirty="0"/>
          </a:p>
        </p:txBody>
      </p:sp>
      <p:sp>
        <p:nvSpPr>
          <p:cNvPr id="3" name="Content Placeholder 2"/>
          <p:cNvSpPr>
            <a:spLocks noGrp="1"/>
          </p:cNvSpPr>
          <p:nvPr>
            <p:ph idx="1"/>
          </p:nvPr>
        </p:nvSpPr>
        <p:spPr>
          <a:xfrm>
            <a:off x="457200" y="1219200"/>
            <a:ext cx="8229600" cy="4906963"/>
          </a:xfrm>
        </p:spPr>
        <p:txBody>
          <a:bodyPr>
            <a:normAutofit fontScale="92500" lnSpcReduction="20000"/>
          </a:bodyPr>
          <a:lstStyle/>
          <a:p>
            <a:pPr algn="just"/>
            <a:r>
              <a:rPr lang="en-GB" dirty="0" smtClean="0"/>
              <a:t>Variables that are both alive and active throughout the entire program are called as external variables.</a:t>
            </a:r>
          </a:p>
          <a:p>
            <a:pPr algn="just"/>
            <a:r>
              <a:rPr lang="en-GB" dirty="0" smtClean="0"/>
              <a:t> They are also called global variables;</a:t>
            </a:r>
          </a:p>
          <a:p>
            <a:pPr algn="just"/>
            <a:r>
              <a:rPr lang="en-GB" dirty="0" smtClean="0"/>
              <a:t> they can be accessed by any function in a program. </a:t>
            </a:r>
          </a:p>
          <a:p>
            <a:pPr algn="just"/>
            <a:r>
              <a:rPr lang="en-GB" dirty="0" smtClean="0"/>
              <a:t>Global variables do not belong to any particular function. </a:t>
            </a:r>
            <a:endParaRPr lang="en-US" dirty="0" smtClean="0"/>
          </a:p>
          <a:p>
            <a:pPr algn="just"/>
            <a:r>
              <a:rPr lang="en-GB" dirty="0" smtClean="0"/>
              <a:t>When defining an extern variable or global variable in a program, it is more precise in C to use the keyword </a:t>
            </a:r>
            <a:r>
              <a:rPr lang="en-GB" b="1" dirty="0" smtClean="0"/>
              <a:t>extern </a:t>
            </a:r>
            <a:r>
              <a:rPr lang="en-GB" dirty="0" smtClean="0"/>
              <a:t>before the definition of the variable.</a:t>
            </a:r>
            <a:endParaRPr lang="en-US" dirty="0" smtClean="0"/>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62500" lnSpcReduction="20000"/>
          </a:bodyPr>
          <a:lstStyle/>
          <a:p>
            <a:r>
              <a:rPr lang="en-GB" dirty="0" smtClean="0"/>
              <a:t>#include&lt;</a:t>
            </a:r>
            <a:r>
              <a:rPr lang="en-GB" dirty="0" err="1" smtClean="0"/>
              <a:t>stdio.h</a:t>
            </a:r>
            <a:r>
              <a:rPr lang="en-GB" dirty="0" smtClean="0"/>
              <a:t>&gt;</a:t>
            </a:r>
            <a:endParaRPr lang="en-US" dirty="0" smtClean="0"/>
          </a:p>
          <a:p>
            <a:r>
              <a:rPr lang="en-US" dirty="0" err="1" smtClean="0"/>
              <a:t>int</a:t>
            </a:r>
            <a:r>
              <a:rPr lang="en-US" dirty="0" smtClean="0"/>
              <a:t> x;</a:t>
            </a:r>
          </a:p>
          <a:p>
            <a:r>
              <a:rPr lang="en-US" dirty="0" smtClean="0"/>
              <a:t>main()</a:t>
            </a:r>
          </a:p>
          <a:p>
            <a:r>
              <a:rPr lang="en-GB" dirty="0" smtClean="0"/>
              <a:t>{</a:t>
            </a:r>
            <a:endParaRPr lang="en-US" dirty="0" smtClean="0"/>
          </a:p>
          <a:p>
            <a:r>
              <a:rPr lang="en-GB" dirty="0" smtClean="0"/>
              <a:t>x=1;</a:t>
            </a:r>
            <a:endParaRPr lang="en-US" dirty="0" smtClean="0"/>
          </a:p>
          <a:p>
            <a:r>
              <a:rPr lang="en-GB" dirty="0" smtClean="0"/>
              <a:t>f();</a:t>
            </a:r>
            <a:endParaRPr lang="en-US" dirty="0" smtClean="0"/>
          </a:p>
          <a:p>
            <a:r>
              <a:rPr lang="en-GB" dirty="0" smtClean="0"/>
              <a:t> </a:t>
            </a:r>
            <a:endParaRPr lang="en-US" dirty="0" smtClean="0"/>
          </a:p>
          <a:p>
            <a:r>
              <a:rPr lang="en-GB" dirty="0" smtClean="0"/>
              <a:t>}</a:t>
            </a:r>
            <a:endParaRPr lang="en-US" dirty="0" smtClean="0"/>
          </a:p>
          <a:p>
            <a:r>
              <a:rPr lang="en-GB" dirty="0" smtClean="0"/>
              <a:t>f()</a:t>
            </a:r>
            <a:endParaRPr lang="en-US" dirty="0" smtClean="0"/>
          </a:p>
          <a:p>
            <a:r>
              <a:rPr lang="en-GB" dirty="0" smtClean="0"/>
              <a:t>{</a:t>
            </a:r>
            <a:endParaRPr lang="en-US" dirty="0" smtClean="0"/>
          </a:p>
          <a:p>
            <a:r>
              <a:rPr lang="en-GB" dirty="0" err="1" smtClean="0"/>
              <a:t>printf</a:t>
            </a:r>
            <a:r>
              <a:rPr lang="en-GB" dirty="0" smtClean="0"/>
              <a:t>("Value = %</a:t>
            </a:r>
            <a:r>
              <a:rPr lang="en-GB" dirty="0" err="1" smtClean="0"/>
              <a:t>d",x</a:t>
            </a:r>
            <a:r>
              <a:rPr lang="en-GB" dirty="0" smtClean="0"/>
              <a:t>);</a:t>
            </a:r>
            <a:endParaRPr lang="en-US" dirty="0" smtClean="0"/>
          </a:p>
          <a:p>
            <a:r>
              <a:rPr lang="en-GB" dirty="0" smtClean="0"/>
              <a:t>}</a:t>
            </a:r>
            <a:endParaRPr lang="en-US" dirty="0" smtClean="0"/>
          </a:p>
          <a:p>
            <a:r>
              <a:rPr lang="en-GB" b="1" dirty="0" smtClean="0"/>
              <a:t>output</a:t>
            </a:r>
            <a:endParaRPr lang="en-US" dirty="0" smtClean="0"/>
          </a:p>
          <a:p>
            <a:r>
              <a:rPr lang="en-GB" dirty="0" smtClean="0"/>
              <a:t>Value=1</a:t>
            </a:r>
            <a:endParaRPr lang="en-US" dirty="0" smtClean="0"/>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Lab activities </a:t>
            </a:r>
            <a:endParaRPr lang="en-US"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fr-FR" dirty="0"/>
              <a:t>A program to </a:t>
            </a:r>
            <a:r>
              <a:rPr lang="fr-FR" dirty="0" err="1"/>
              <a:t>calculate</a:t>
            </a:r>
            <a:r>
              <a:rPr lang="fr-FR" dirty="0"/>
              <a:t> the area  of a </a:t>
            </a:r>
            <a:r>
              <a:rPr lang="fr-FR" dirty="0" err="1"/>
              <a:t>cicle</a:t>
            </a:r>
            <a:r>
              <a:rPr lang="fr-FR" dirty="0"/>
              <a:t>  </a:t>
            </a:r>
            <a:r>
              <a:rPr lang="fr-FR" dirty="0" err="1"/>
              <a:t>using</a:t>
            </a:r>
            <a:r>
              <a:rPr lang="fr-FR" dirty="0"/>
              <a:t> four user defined </a:t>
            </a:r>
            <a:r>
              <a:rPr lang="fr-FR" dirty="0" err="1"/>
              <a:t>functions</a:t>
            </a:r>
            <a:r>
              <a:rPr lang="fr-FR" dirty="0"/>
              <a:t>.  </a:t>
            </a:r>
          </a:p>
          <a:p>
            <a:pPr marL="514350" lvl="0" indent="-514350">
              <a:buFont typeface="+mj-lt"/>
              <a:buAutoNum type="arabicPeriod"/>
            </a:pPr>
            <a:r>
              <a:rPr lang="en-US" dirty="0"/>
              <a:t>Write a C program to find sum of first n natural numbers using recursion. </a:t>
            </a:r>
          </a:p>
          <a:p>
            <a:pPr marL="514350" indent="-514350">
              <a:buFont typeface="+mj-lt"/>
              <a:buAutoNum type="arabicPeriod"/>
            </a:pPr>
            <a:r>
              <a:rPr lang="en-US" dirty="0" smtClean="0"/>
              <a:t>Write </a:t>
            </a:r>
            <a:r>
              <a:rPr lang="en-US" dirty="0" smtClean="0"/>
              <a:t>a  function that adds two integers and prints the </a:t>
            </a:r>
            <a:r>
              <a:rPr lang="en-US" dirty="0" smtClean="0"/>
              <a:t>sum using one of the user defined function type.</a:t>
            </a:r>
            <a:endParaRPr lang="en-US" dirty="0" smtClean="0"/>
          </a:p>
          <a:p>
            <a:pPr marL="514350" lvl="0" indent="-514350" fontAlgn="base">
              <a:buFont typeface="+mj-lt"/>
              <a:buAutoNum type="arabicPeriod"/>
            </a:pPr>
            <a:r>
              <a:rPr lang="en-US" dirty="0" smtClean="0"/>
              <a:t>Write a C program to compare two strings using library function </a:t>
            </a:r>
          </a:p>
          <a:p>
            <a:pPr marL="514350" indent="-514350">
              <a:buFont typeface="+mj-lt"/>
              <a:buAutoNum type="arabicPeriod"/>
            </a:pPr>
            <a:r>
              <a:rPr lang="en-US" dirty="0" smtClean="0"/>
              <a:t> Write a  function that multiply  3 integers and prints the </a:t>
            </a:r>
            <a:r>
              <a:rPr lang="en-US" dirty="0" smtClean="0"/>
              <a:t>product the  3 values will get using a keyboard.</a:t>
            </a:r>
            <a:endParaRPr lang="en-US" dirty="0" smtClean="0"/>
          </a:p>
          <a:p>
            <a:pPr marL="514350" indent="-514350">
              <a:buFont typeface="+mj-lt"/>
              <a:buAutoNum type="arabicPeriod"/>
            </a:pPr>
            <a:r>
              <a:rPr lang="fr-FR" dirty="0" smtClean="0"/>
              <a:t>A program to </a:t>
            </a:r>
            <a:r>
              <a:rPr lang="fr-FR" dirty="0" err="1" smtClean="0"/>
              <a:t>calculate</a:t>
            </a:r>
            <a:r>
              <a:rPr lang="fr-FR" dirty="0" smtClean="0"/>
              <a:t> the volume of a </a:t>
            </a:r>
            <a:r>
              <a:rPr lang="fr-FR" dirty="0" err="1" smtClean="0"/>
              <a:t>sphere</a:t>
            </a:r>
            <a:r>
              <a:rPr lang="fr-FR" dirty="0" smtClean="0"/>
              <a:t> </a:t>
            </a:r>
            <a:r>
              <a:rPr lang="fr-FR" dirty="0" err="1" smtClean="0"/>
              <a:t>using</a:t>
            </a:r>
            <a:r>
              <a:rPr lang="fr-FR" dirty="0" smtClean="0"/>
              <a:t> </a:t>
            </a:r>
            <a:r>
              <a:rPr lang="fr-FR" dirty="0" err="1" smtClean="0"/>
              <a:t>fonction.Formular</a:t>
            </a:r>
            <a:r>
              <a:rPr lang="fr-FR" dirty="0" smtClean="0"/>
              <a:t>: V=4/3(r*r*r)*pi </a:t>
            </a:r>
          </a:p>
          <a:p>
            <a:pPr marL="514350" indent="-514350">
              <a:buFont typeface="+mj-lt"/>
              <a:buAutoNum type="arabicPeriod"/>
            </a:pPr>
            <a:endParaRPr lang="fr-FR" dirty="0" smtClean="0"/>
          </a:p>
          <a:p>
            <a:pPr marL="514350" indent="-514350">
              <a:buFont typeface="+mj-lt"/>
              <a:buAutoNum type="arabicPeriod"/>
            </a:pPr>
            <a:endParaRPr lang="fr-FR" dirty="0" smtClean="0"/>
          </a:p>
          <a:p>
            <a:endParaRPr lang="en-US" dirty="0" smtClean="0"/>
          </a:p>
          <a:p>
            <a:pPr marL="514350" indent="-514350">
              <a:buFont typeface="+mj-lt"/>
              <a:buAutoNum type="arabicPeriod"/>
            </a:pPr>
            <a:endParaRPr lang="en-US" dirty="0" smtClean="0"/>
          </a:p>
          <a:p>
            <a:pPr marL="0" indent="0">
              <a:buNone/>
            </a:pPr>
            <a:endParaRPr lang="en-US" dirty="0" smtClean="0"/>
          </a:p>
          <a:p>
            <a:pPr marL="514350" indent="-514350">
              <a:buFont typeface="+mj-lt"/>
              <a:buAutoNum type="arabicPeriod"/>
            </a:pPr>
            <a:endParaRPr lang="en-US" dirty="0" smtClean="0"/>
          </a:p>
          <a:p>
            <a:pPr lvl="0">
              <a:buNone/>
            </a:pPr>
            <a:endParaRPr lang="en-US" dirty="0" smtClean="0"/>
          </a:p>
          <a:p>
            <a:pPr>
              <a:buNone/>
            </a:pPr>
            <a:endParaRPr lang="en-US" dirty="0" smtClean="0"/>
          </a:p>
          <a:p>
            <a:endParaRPr lang="en-US" dirty="0" smtClean="0"/>
          </a:p>
          <a:p>
            <a:endParaRPr lang="en-US" dirty="0"/>
          </a:p>
        </p:txBody>
      </p:sp>
      <p:cxnSp>
        <p:nvCxnSpPr>
          <p:cNvPr id="5" name="Straight Connector 4"/>
          <p:cNvCxnSpPr/>
          <p:nvPr/>
        </p:nvCxnSpPr>
        <p:spPr>
          <a:xfrm>
            <a:off x="304800" y="990600"/>
            <a:ext cx="7924800" cy="0"/>
          </a:xfrm>
          <a:prstGeom prst="line">
            <a:avLst/>
          </a:prstGeom>
          <a:ln w="635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962</TotalTime>
  <Words>2286</Words>
  <Application>Microsoft Office PowerPoint</Application>
  <PresentationFormat>On-screen Show (4:3)</PresentationFormat>
  <Paragraphs>586</Paragraphs>
  <Slides>57</Slides>
  <Notes>2</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Wingdings</vt:lpstr>
      <vt:lpstr>Office Theme</vt:lpstr>
      <vt:lpstr>Chapter 7 FUNCTIONS</vt:lpstr>
      <vt:lpstr>PowerPoint Presentation</vt:lpstr>
      <vt:lpstr>PowerPoint Presentation</vt:lpstr>
      <vt:lpstr> Library functions</vt:lpstr>
      <vt:lpstr> Some Built in Functions for String Handling string.h  </vt:lpstr>
      <vt:lpstr>PowerPoint Presentation</vt:lpstr>
      <vt:lpstr>PowerPoint Presentation</vt:lpstr>
      <vt:lpstr>PowerPoint Presentation</vt:lpstr>
      <vt:lpstr>Some built in Functions for Math Functions :math.h</vt:lpstr>
      <vt:lpstr>PowerPoint Presentation</vt:lpstr>
      <vt:lpstr> Some built in Functions for Character Handling </vt:lpstr>
      <vt:lpstr> /* To convert a string array to uppercase a character at a time using toupper() */ </vt:lpstr>
      <vt:lpstr>Exercises</vt:lpstr>
      <vt:lpstr>PowerPoint Presentation</vt:lpstr>
      <vt:lpstr>User Defined Functions: </vt:lpstr>
      <vt:lpstr>PowerPoint Presentation</vt:lpstr>
      <vt:lpstr>PowerPoint Presentation</vt:lpstr>
      <vt:lpstr>The general form of a function: </vt:lpstr>
      <vt:lpstr>PowerPoint Presentation</vt:lpstr>
      <vt:lpstr> Different  types  of  function:</vt:lpstr>
      <vt:lpstr> 1. Function with arguments and return value  </vt:lpstr>
      <vt:lpstr> 2. Function with arguments and return value </vt:lpstr>
      <vt:lpstr>Example 2</vt:lpstr>
      <vt:lpstr>3. Function with no arguments and no return value: </vt:lpstr>
      <vt:lpstr>Example 2</vt:lpstr>
      <vt:lpstr>4. Function with arguments but no return value</vt:lpstr>
      <vt:lpstr>Example 2</vt:lpstr>
      <vt:lpstr>Function with no arguments and return value</vt:lpstr>
      <vt:lpstr>Example 2</vt:lpstr>
      <vt:lpstr>  2. Functions with arguments and no return values.  </vt:lpstr>
      <vt:lpstr>3. Functions with arguments and return values. </vt:lpstr>
      <vt:lpstr>4. Functions with no arguments and return values. </vt:lpstr>
      <vt:lpstr> From this program a number of conclusion can be taken: </vt:lpstr>
      <vt:lpstr>Example1 </vt:lpstr>
      <vt:lpstr>Example2  </vt:lpstr>
      <vt:lpstr>Summary</vt:lpstr>
      <vt:lpstr>PowerPoint Presentation</vt:lpstr>
      <vt:lpstr>PowerPoint Presentation</vt:lpstr>
      <vt:lpstr>PowerPoint Presentation</vt:lpstr>
      <vt:lpstr>PowerPoint Presentation</vt:lpstr>
      <vt:lpstr>PowerPoint Presentation</vt:lpstr>
      <vt:lpstr>  Passing values between functions </vt:lpstr>
      <vt:lpstr>PowerPoint Presentation</vt:lpstr>
      <vt:lpstr>PowerPoint Presentation</vt:lpstr>
      <vt:lpstr>PowerPoint Presentation</vt:lpstr>
      <vt:lpstr>  Function declaration and Prototypes </vt:lpstr>
      <vt:lpstr>Storage classes  </vt:lpstr>
      <vt:lpstr>Automatic storage class </vt:lpstr>
      <vt:lpstr>PowerPoint Presentation</vt:lpstr>
      <vt:lpstr>PowerPoint Presentation</vt:lpstr>
      <vt:lpstr>Register storage class </vt:lpstr>
      <vt:lpstr>PowerPoint Presentation</vt:lpstr>
      <vt:lpstr>Static storage class </vt:lpstr>
      <vt:lpstr>PowerPoint Presentation</vt:lpstr>
      <vt:lpstr>Extern storage class </vt:lpstr>
      <vt:lpstr>example</vt:lpstr>
      <vt:lpstr>Lab activities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Irakiza</dc:creator>
  <cp:lastModifiedBy>HP 840</cp:lastModifiedBy>
  <cp:revision>77</cp:revision>
  <dcterms:created xsi:type="dcterms:W3CDTF">2012-04-26T18:01:51Z</dcterms:created>
  <dcterms:modified xsi:type="dcterms:W3CDTF">2026-06-28T18:02:01Z</dcterms:modified>
</cp:coreProperties>
</file>