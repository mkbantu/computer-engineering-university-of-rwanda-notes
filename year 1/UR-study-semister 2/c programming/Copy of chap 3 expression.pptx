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71" r:id="rId7"/>
    <p:sldId id="272" r:id="rId8"/>
    <p:sldId id="273" r:id="rId9"/>
    <p:sldId id="268" r:id="rId10"/>
    <p:sldId id="269" r:id="rId11"/>
    <p:sldId id="258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96E1A-BC16-4564-B3E4-E9F9CECDF2EB}" type="datetimeFigureOut">
              <a:rPr lang="en-US" smtClean="0"/>
              <a:pPr/>
              <a:t>3/4/2018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9D4AD-DEBB-4A50-9873-47ADAC457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Chapter  3 : OPERATORS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C uses different kind of operators.  An operator indicates an operation to be performed on data that yields a value.</a:t>
            </a:r>
          </a:p>
          <a:p>
            <a:pPr lvl="0"/>
            <a:r>
              <a:rPr lang="en-US" dirty="0" smtClean="0">
                <a:solidFill>
                  <a:schemeClr val="tx2"/>
                </a:solidFill>
              </a:rPr>
              <a:t>Arithmetic operators</a:t>
            </a:r>
          </a:p>
          <a:p>
            <a:pPr lvl="0"/>
            <a:r>
              <a:rPr lang="en-US" dirty="0" smtClean="0">
                <a:solidFill>
                  <a:schemeClr val="tx2"/>
                </a:solidFill>
              </a:rPr>
              <a:t>Relational operators</a:t>
            </a:r>
          </a:p>
          <a:p>
            <a:pPr lvl="0"/>
            <a:r>
              <a:rPr lang="en-US" dirty="0" smtClean="0">
                <a:solidFill>
                  <a:schemeClr val="tx2"/>
                </a:solidFill>
              </a:rPr>
              <a:t>Logical operators</a:t>
            </a:r>
          </a:p>
          <a:p>
            <a:pPr lvl="0"/>
            <a:r>
              <a:rPr lang="en-US" dirty="0" smtClean="0">
                <a:solidFill>
                  <a:schemeClr val="tx2"/>
                </a:solidFill>
              </a:rPr>
              <a:t>Conditional operator</a:t>
            </a:r>
          </a:p>
          <a:p>
            <a:pPr lvl="0"/>
            <a:r>
              <a:rPr lang="en-US" dirty="0" smtClean="0">
                <a:solidFill>
                  <a:schemeClr val="tx2"/>
                </a:solidFill>
              </a:rPr>
              <a:t>Assignment operator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Arithmetic Operators: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514350" lvl="0" indent="-514350">
              <a:buAutoNum type="arabicPeriod"/>
            </a:pPr>
            <a:r>
              <a:rPr lang="en-US" dirty="0" smtClean="0">
                <a:solidFill>
                  <a:schemeClr val="accent2"/>
                </a:solidFill>
              </a:rPr>
              <a:t>Binary operator</a:t>
            </a:r>
            <a:r>
              <a:rPr lang="en-US" dirty="0" smtClean="0"/>
              <a:t>: Used between two operands</a:t>
            </a:r>
          </a:p>
          <a:p>
            <a:pPr marL="514350" lvl="0" indent="-514350">
              <a:buAutoNum type="arabicPeriod"/>
            </a:pPr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29718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2+4=6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6/3=2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8-7=1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11%3=2 (Reminder is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6*3=18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Rules of precedence for binary operators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1 .When two operators of the same priority are found in the expression, precedence is given to the extreme left operator.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Example: 5    *    4   +  8   /   2;</a:t>
            </a:r>
          </a:p>
          <a:p>
            <a:pPr>
              <a:buNone/>
            </a:pPr>
            <a:r>
              <a:rPr lang="en-US" dirty="0" smtClean="0">
                <a:solidFill>
                  <a:schemeClr val="tx2"/>
                </a:solidFill>
              </a:rPr>
              <a:t>    5*4 is solved first, * and / have the same priority and the operator * occurs before /. </a:t>
            </a:r>
          </a:p>
          <a:p>
            <a:pPr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dirty="0" smtClean="0"/>
              <a:t>2. If there are more sets of parenthesis in the expression, the innermost parenthesis will be solved first, followed by the second and so on.</a:t>
            </a:r>
            <a:endParaRPr lang="en-US" dirty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2. </a:t>
            </a:r>
            <a:r>
              <a:rPr lang="en-US" dirty="0" smtClean="0">
                <a:solidFill>
                  <a:schemeClr val="accent2"/>
                </a:solidFill>
              </a:rPr>
              <a:t>Unary operator </a:t>
            </a:r>
            <a:r>
              <a:rPr lang="en-US" dirty="0" smtClean="0"/>
              <a:t>are operators which have only a single operand.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b="1" dirty="0" smtClean="0"/>
          </a:p>
          <a:p>
            <a:pPr>
              <a:buFont typeface="Wingdings" pitchFamily="2" charset="2"/>
              <a:buChar char="§"/>
            </a:pPr>
            <a:endParaRPr lang="en-US" b="1" dirty="0" smtClean="0"/>
          </a:p>
          <a:p>
            <a:pPr>
              <a:buFont typeface="Wingdings" pitchFamily="2" charset="2"/>
              <a:buChar char="§"/>
            </a:pPr>
            <a:endParaRPr lang="en-US" b="1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2895600"/>
          <a:ext cx="76962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/>
                <a:gridCol w="1475106"/>
                <a:gridCol w="3655694"/>
              </a:tblGrid>
              <a:tr h="41273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Unary operator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explanations</a:t>
                      </a:r>
                      <a:endParaRPr lang="en-US" dirty="0"/>
                    </a:p>
                  </a:txBody>
                  <a:tcPr/>
                </a:tc>
              </a:tr>
              <a:tr h="65406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minus (-),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x= -50;</a:t>
                      </a:r>
                    </a:p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y=-x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Unary minus is used to indicate or change the algebraic sign of a value.</a:t>
                      </a:r>
                    </a:p>
                  </a:txBody>
                  <a:tcPr/>
                </a:tc>
              </a:tr>
              <a:tr h="5896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b="1" dirty="0" smtClean="0"/>
                        <a:t>increment operator (++)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x=20;                y=10;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89617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 increased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</a:p>
                    <a:p>
                      <a:pPr>
                        <a:buFont typeface="Wingdings" pitchFamily="2" charset="2"/>
                        <a:buChar char="§"/>
                      </a:pP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 increased</a:t>
                      </a:r>
                      <a:endParaRPr lang="en-US" dirty="0" smtClean="0"/>
                    </a:p>
                    <a:p>
                      <a:pPr>
                        <a:buFont typeface="Wingdings" pitchFamily="2" charset="2"/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z=x*y++;</a:t>
                      </a:r>
                    </a:p>
                    <a:p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z=x*++y;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operator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adds one to its operand</a:t>
                      </a:r>
                      <a:endParaRPr lang="en-US" dirty="0"/>
                    </a:p>
                  </a:txBody>
                  <a:tcPr/>
                </a:tc>
              </a:tr>
              <a:tr h="73604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decrement operator  (--)</a:t>
                      </a: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 increased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</a:p>
                    <a:p>
                      <a:pPr>
                        <a:buFont typeface="Wingdings" pitchFamily="2" charset="2"/>
                        <a:buChar char="§"/>
                      </a:pP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 increased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800" kern="120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z=x*y-</a:t>
                      </a: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-;</a:t>
                      </a:r>
                    </a:p>
                    <a:p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z=x*--y;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operator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subtracts one from its operand.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29441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4400" b="1" dirty="0" smtClean="0">
                <a:solidFill>
                  <a:schemeClr val="tx2"/>
                </a:solidFill>
              </a:rPr>
              <a:t>Write a program to show the effect of increment operator as a suffix</a:t>
            </a:r>
            <a:endParaRPr lang="en-US" sz="4400" dirty="0" smtClean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3400" dirty="0" smtClean="0">
                <a:solidFill>
                  <a:schemeClr val="tx2"/>
                </a:solidFill>
              </a:rPr>
              <a:t> </a:t>
            </a:r>
          </a:p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fr-FR" dirty="0" smtClean="0"/>
              <a:t>main</a:t>
            </a:r>
            <a:r>
              <a:rPr lang="fr-FR" dirty="0" smtClean="0"/>
              <a:t>()</a:t>
            </a:r>
            <a:endParaRPr lang="en-US" dirty="0" smtClean="0"/>
          </a:p>
          <a:p>
            <a:pPr>
              <a:buNone/>
            </a:pPr>
            <a:r>
              <a:rPr lang="fr-FR" dirty="0" smtClean="0"/>
              <a:t>{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</a:t>
            </a:r>
            <a:r>
              <a:rPr lang="fr-FR" dirty="0" err="1" smtClean="0"/>
              <a:t>a,z,x</a:t>
            </a:r>
            <a:r>
              <a:rPr lang="fr-FR" dirty="0" smtClean="0"/>
              <a:t>=10,y=20;</a:t>
            </a:r>
            <a:endParaRPr lang="en-US" dirty="0" smtClean="0"/>
          </a:p>
          <a:p>
            <a:pPr>
              <a:buNone/>
            </a:pPr>
            <a:r>
              <a:rPr lang="fr-FR" dirty="0" smtClean="0"/>
              <a:t>z=x*y++ ;</a:t>
            </a:r>
            <a:endParaRPr lang="en-US" dirty="0" smtClean="0"/>
          </a:p>
          <a:p>
            <a:pPr>
              <a:buNone/>
            </a:pPr>
            <a:r>
              <a:rPr lang="fr-FR" dirty="0" smtClean="0"/>
              <a:t>a=x*y ;</a:t>
            </a:r>
            <a:endParaRPr lang="en-US" dirty="0" smtClean="0"/>
          </a:p>
          <a:p>
            <a:pPr>
              <a:buNone/>
            </a:pPr>
            <a:r>
              <a:rPr lang="fr-FR" dirty="0" err="1" smtClean="0"/>
              <a:t>printf</a:t>
            </a:r>
            <a:r>
              <a:rPr lang="fr-FR" dirty="0" smtClean="0"/>
              <a:t>(“\n %d %d”,</a:t>
            </a:r>
            <a:r>
              <a:rPr lang="fr-FR" dirty="0" err="1" smtClean="0"/>
              <a:t>z,a</a:t>
            </a:r>
            <a:r>
              <a:rPr lang="fr-FR" dirty="0" smtClean="0"/>
              <a:t>);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5100" b="1" u="sng" dirty="0" smtClean="0"/>
              <a:t>Output: </a:t>
            </a:r>
            <a:endParaRPr lang="en-US" sz="5100" dirty="0" smtClean="0"/>
          </a:p>
          <a:p>
            <a:pPr>
              <a:buNone/>
            </a:pPr>
            <a:r>
              <a:rPr lang="en-US" sz="5100" b="1" dirty="0" smtClean="0"/>
              <a:t>200 210</a:t>
            </a:r>
            <a:endParaRPr lang="en-US" sz="51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pPr>
              <a:buNone/>
            </a:pPr>
            <a:r>
              <a:rPr lang="en-US" sz="7200" b="1" dirty="0" smtClean="0">
                <a:solidFill>
                  <a:schemeClr val="tx2"/>
                </a:solidFill>
              </a:rPr>
              <a:t>Write a program to show the effect of increment operator as a prefix</a:t>
            </a:r>
          </a:p>
          <a:p>
            <a:pPr>
              <a:buNone/>
            </a:pPr>
            <a:endParaRPr lang="en-US" sz="7200" dirty="0" smtClean="0"/>
          </a:p>
          <a:p>
            <a:pPr>
              <a:buNone/>
            </a:pPr>
            <a:endParaRPr lang="en-US" sz="7200" dirty="0" smtClean="0"/>
          </a:p>
          <a:p>
            <a:pPr>
              <a:buNone/>
            </a:pPr>
            <a:r>
              <a:rPr lang="en-US" sz="7200" dirty="0" smtClean="0"/>
              <a:t>#include &lt;</a:t>
            </a:r>
            <a:r>
              <a:rPr lang="en-US" sz="7200" dirty="0" err="1" smtClean="0"/>
              <a:t>stdio.h</a:t>
            </a:r>
            <a:r>
              <a:rPr lang="en-US" sz="7200" dirty="0" smtClean="0"/>
              <a:t>&gt;</a:t>
            </a:r>
          </a:p>
          <a:p>
            <a:pPr>
              <a:buNone/>
            </a:pPr>
            <a:r>
              <a:rPr lang="fr-FR" sz="7000" dirty="0" smtClean="0"/>
              <a:t>main()</a:t>
            </a:r>
            <a:endParaRPr lang="en-US" sz="7000" dirty="0" smtClean="0"/>
          </a:p>
          <a:p>
            <a:pPr>
              <a:buNone/>
            </a:pPr>
            <a:r>
              <a:rPr lang="fr-FR" sz="7000" dirty="0" smtClean="0"/>
              <a:t>{</a:t>
            </a:r>
            <a:endParaRPr lang="en-US" sz="7000" dirty="0" smtClean="0"/>
          </a:p>
          <a:p>
            <a:pPr>
              <a:buNone/>
            </a:pPr>
            <a:endParaRPr lang="en-US" sz="7000" dirty="0" smtClean="0"/>
          </a:p>
          <a:p>
            <a:pPr>
              <a:buNone/>
            </a:pPr>
            <a:r>
              <a:rPr lang="fr-FR" sz="7000" dirty="0" err="1" smtClean="0"/>
              <a:t>int</a:t>
            </a:r>
            <a:r>
              <a:rPr lang="fr-FR" sz="7000" dirty="0" smtClean="0"/>
              <a:t> </a:t>
            </a:r>
            <a:r>
              <a:rPr lang="fr-FR" sz="7000" dirty="0" err="1" smtClean="0"/>
              <a:t>a,z,x</a:t>
            </a:r>
            <a:r>
              <a:rPr lang="fr-FR" sz="7000" dirty="0" smtClean="0"/>
              <a:t>=10,y=20;</a:t>
            </a:r>
            <a:endParaRPr lang="en-US" sz="7000" dirty="0" smtClean="0"/>
          </a:p>
          <a:p>
            <a:pPr>
              <a:buNone/>
            </a:pPr>
            <a:r>
              <a:rPr lang="fr-FR" sz="7000" dirty="0" smtClean="0"/>
              <a:t>z=x*++y ;</a:t>
            </a:r>
            <a:endParaRPr lang="en-US" sz="7000" dirty="0" smtClean="0"/>
          </a:p>
          <a:p>
            <a:pPr>
              <a:buNone/>
            </a:pPr>
            <a:r>
              <a:rPr lang="fr-FR" sz="7000" dirty="0" smtClean="0"/>
              <a:t>a=x*y ;</a:t>
            </a:r>
            <a:endParaRPr lang="en-US" sz="7000" dirty="0" smtClean="0"/>
          </a:p>
          <a:p>
            <a:pPr>
              <a:buNone/>
            </a:pPr>
            <a:r>
              <a:rPr lang="fr-FR" sz="7000" dirty="0" err="1" smtClean="0"/>
              <a:t>printf</a:t>
            </a:r>
            <a:r>
              <a:rPr lang="fr-FR" sz="7000" dirty="0" smtClean="0"/>
              <a:t>(“\n %d %d”,</a:t>
            </a:r>
            <a:r>
              <a:rPr lang="fr-FR" sz="7000" dirty="0" err="1" smtClean="0"/>
              <a:t>z,a</a:t>
            </a:r>
            <a:r>
              <a:rPr lang="fr-FR" sz="7000" dirty="0" smtClean="0"/>
              <a:t>);</a:t>
            </a:r>
            <a:endParaRPr lang="en-US" sz="7000" dirty="0" smtClean="0"/>
          </a:p>
          <a:p>
            <a:pPr>
              <a:buNone/>
            </a:pPr>
            <a:r>
              <a:rPr lang="en-US" sz="7000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9600" b="1" u="sng" dirty="0" smtClean="0"/>
              <a:t>Output: </a:t>
            </a:r>
            <a:endParaRPr lang="en-US" sz="9600" dirty="0" smtClean="0"/>
          </a:p>
          <a:p>
            <a:pPr>
              <a:buNone/>
            </a:pPr>
            <a:r>
              <a:rPr lang="en-US" sz="9600" b="1" dirty="0" smtClean="0"/>
              <a:t>210 210</a:t>
            </a:r>
            <a:endParaRPr lang="en-US" sz="96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chemeClr val="tx2"/>
                </a:solidFill>
              </a:rPr>
              <a:t> The size of ()  and The ‘&amp;’ operator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686800" cy="498316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8800" b="1" dirty="0" smtClean="0">
              <a:solidFill>
                <a:schemeClr val="tx2"/>
              </a:solidFill>
            </a:endParaRPr>
          </a:p>
          <a:p>
            <a:r>
              <a:rPr lang="en-US" sz="8800" b="1" dirty="0" smtClean="0">
                <a:solidFill>
                  <a:schemeClr val="tx2"/>
                </a:solidFill>
              </a:rPr>
              <a:t>The size of () </a:t>
            </a:r>
            <a:r>
              <a:rPr lang="en-US" sz="8800" b="1" dirty="0" smtClean="0"/>
              <a:t>gives the bytes occupied by a variable. The number of bytes occupied by a variable to variable depends upon its data type.</a:t>
            </a:r>
          </a:p>
          <a:p>
            <a:endParaRPr lang="en-US" sz="8800" b="1" dirty="0" smtClean="0"/>
          </a:p>
          <a:p>
            <a:r>
              <a:rPr lang="en-US" sz="8800" b="1" dirty="0" smtClean="0">
                <a:solidFill>
                  <a:schemeClr val="tx2"/>
                </a:solidFill>
              </a:rPr>
              <a:t>The ‘&amp;’ operator </a:t>
            </a:r>
            <a:r>
              <a:rPr lang="en-US" sz="8800" b="1" dirty="0" smtClean="0"/>
              <a:t>prints address of the variable in the memory.</a:t>
            </a:r>
          </a:p>
          <a:p>
            <a:pPr>
              <a:buNone/>
            </a:pPr>
            <a:endParaRPr lang="en-US" sz="5100" b="1" dirty="0" smtClean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5400" dirty="0" smtClean="0"/>
              <a:t>#include &lt;</a:t>
            </a:r>
            <a:r>
              <a:rPr lang="en-US" sz="5400" dirty="0" err="1" smtClean="0"/>
              <a:t>stdio.h</a:t>
            </a:r>
            <a:r>
              <a:rPr lang="en-US" sz="5400" dirty="0" smtClean="0"/>
              <a:t>&gt;</a:t>
            </a:r>
          </a:p>
          <a:p>
            <a:pPr>
              <a:buNone/>
            </a:pPr>
            <a:r>
              <a:rPr lang="en-US" sz="5400" dirty="0" smtClean="0"/>
              <a:t>main</a:t>
            </a:r>
            <a:r>
              <a:rPr lang="en-US" sz="5400" dirty="0" smtClean="0"/>
              <a:t>()</a:t>
            </a:r>
          </a:p>
          <a:p>
            <a:pPr>
              <a:buNone/>
            </a:pPr>
            <a:r>
              <a:rPr lang="en-US" sz="5400" dirty="0" smtClean="0"/>
              <a:t>{</a:t>
            </a:r>
          </a:p>
          <a:p>
            <a:pPr>
              <a:buNone/>
            </a:pP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int</a:t>
            </a:r>
            <a:r>
              <a:rPr lang="en-US" sz="5400" dirty="0" smtClean="0"/>
              <a:t> x=2 ;</a:t>
            </a:r>
          </a:p>
          <a:p>
            <a:pPr>
              <a:buNone/>
            </a:pPr>
            <a:r>
              <a:rPr lang="en-US" sz="5400" dirty="0" smtClean="0"/>
              <a:t>float y=4 ;</a:t>
            </a:r>
          </a:p>
          <a:p>
            <a:pPr>
              <a:buNone/>
            </a:pPr>
            <a:r>
              <a:rPr lang="en-US" sz="5400" dirty="0" err="1" smtClean="0"/>
              <a:t>printf</a:t>
            </a:r>
            <a:r>
              <a:rPr lang="en-US" sz="5400" dirty="0" smtClean="0"/>
              <a:t>(“\n  </a:t>
            </a:r>
            <a:r>
              <a:rPr lang="en-US" sz="5400" dirty="0" err="1" smtClean="0"/>
              <a:t>Sizeof</a:t>
            </a:r>
            <a:r>
              <a:rPr lang="en-US" sz="5400" dirty="0" smtClean="0"/>
              <a:t>(x)=%</a:t>
            </a:r>
            <a:r>
              <a:rPr lang="en-US" sz="5400" dirty="0" err="1" smtClean="0"/>
              <a:t>d”,sizeof</a:t>
            </a:r>
            <a:r>
              <a:rPr lang="en-US" sz="5400" dirty="0" smtClean="0"/>
              <a:t>(x));</a:t>
            </a:r>
          </a:p>
          <a:p>
            <a:pPr>
              <a:buNone/>
            </a:pPr>
            <a:r>
              <a:rPr lang="en-US" sz="5400" dirty="0" err="1" smtClean="0"/>
              <a:t>printf</a:t>
            </a:r>
            <a:r>
              <a:rPr lang="en-US" sz="5400" dirty="0" smtClean="0"/>
              <a:t>(“\n  </a:t>
            </a:r>
            <a:r>
              <a:rPr lang="en-US" sz="5400" dirty="0" err="1" smtClean="0"/>
              <a:t>Sizeof</a:t>
            </a:r>
            <a:r>
              <a:rPr lang="en-US" sz="5400" dirty="0" smtClean="0"/>
              <a:t>(y)=%</a:t>
            </a:r>
            <a:r>
              <a:rPr lang="en-US" sz="5400" dirty="0" err="1" smtClean="0"/>
              <a:t>d”,sizeof</a:t>
            </a:r>
            <a:r>
              <a:rPr lang="en-US" sz="5400" dirty="0" smtClean="0"/>
              <a:t>(y));</a:t>
            </a:r>
          </a:p>
          <a:p>
            <a:pPr>
              <a:buNone/>
            </a:pPr>
            <a:r>
              <a:rPr lang="en-US" sz="5400" dirty="0" err="1" smtClean="0"/>
              <a:t>printf</a:t>
            </a:r>
            <a:r>
              <a:rPr lang="en-US" sz="5400" dirty="0" smtClean="0"/>
              <a:t>(“\n  Address of x=%u and y=%</a:t>
            </a:r>
            <a:r>
              <a:rPr lang="en-US" sz="5400" dirty="0" err="1" smtClean="0"/>
              <a:t>u”,&amp;x,&amp;y</a:t>
            </a:r>
            <a:r>
              <a:rPr lang="en-US" sz="5400" dirty="0" smtClean="0"/>
              <a:t>);</a:t>
            </a:r>
          </a:p>
          <a:p>
            <a:pPr>
              <a:buNone/>
            </a:pPr>
            <a:r>
              <a:rPr lang="en-US" sz="5400" dirty="0" smtClean="0"/>
              <a:t>}</a:t>
            </a:r>
          </a:p>
          <a:p>
            <a:pPr>
              <a:buNone/>
            </a:pPr>
            <a:r>
              <a:rPr lang="en-US" sz="5400" dirty="0" smtClean="0"/>
              <a:t> </a:t>
            </a:r>
          </a:p>
          <a:p>
            <a:pPr>
              <a:buNone/>
            </a:pPr>
            <a:r>
              <a:rPr lang="en-US" sz="5400" b="1" u="sng" dirty="0" smtClean="0"/>
              <a:t>Output: </a:t>
            </a:r>
            <a:endParaRPr lang="en-US" sz="5400" b="1" dirty="0" smtClean="0"/>
          </a:p>
          <a:p>
            <a:pPr>
              <a:buNone/>
            </a:pPr>
            <a:r>
              <a:rPr lang="en-US" sz="5400" b="1" dirty="0" err="1" smtClean="0"/>
              <a:t>Sizeof</a:t>
            </a:r>
            <a:r>
              <a:rPr lang="en-US" sz="5400" b="1" dirty="0" smtClean="0"/>
              <a:t>(x)=2</a:t>
            </a:r>
          </a:p>
          <a:p>
            <a:pPr>
              <a:buNone/>
            </a:pPr>
            <a:r>
              <a:rPr lang="en-US" sz="5400" b="1" dirty="0" err="1" smtClean="0"/>
              <a:t>Sizeof</a:t>
            </a:r>
            <a:r>
              <a:rPr lang="en-US" sz="5400" b="1" dirty="0" smtClean="0"/>
              <a:t>(y)=4</a:t>
            </a:r>
          </a:p>
          <a:p>
            <a:pPr>
              <a:buNone/>
            </a:pPr>
            <a:r>
              <a:rPr lang="en-US" sz="5400" b="1" dirty="0" smtClean="0"/>
              <a:t>Address of x= 65524     and y=65522</a:t>
            </a:r>
          </a:p>
          <a:p>
            <a:pPr>
              <a:buNone/>
            </a:pPr>
            <a:endParaRPr lang="en-US" sz="5100" b="1" dirty="0" smtClean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1"/>
                </a:solidFill>
              </a:rPr>
              <a:t>Relational operators: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b="1" dirty="0" smtClean="0"/>
              <a:t>These operators:</a:t>
            </a:r>
            <a:r>
              <a:rPr lang="en-US" dirty="0" smtClean="0"/>
              <a:t> These operators provide the relationship between the two expressions. If the relation is true then it returns a value 1 otherwise 0 for false 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76399" y="3352800"/>
          <a:ext cx="4648202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62"/>
                <a:gridCol w="1787770"/>
                <a:gridCol w="1787770"/>
              </a:tblGrid>
              <a:tr h="411690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Return Value</a:t>
                      </a:r>
                      <a:endParaRPr lang="en-US" dirty="0"/>
                    </a:p>
                  </a:txBody>
                  <a:tcPr/>
                </a:tc>
              </a:tr>
              <a:tr h="4116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Greater than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5&gt;4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116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Less than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10&lt;9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907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Less than or equal than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10&lt;=10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907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Greater than or equal to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11&gt;=5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116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Equal to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2= = 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116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Not equal to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3!=3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3. Logical Operators</a:t>
            </a:r>
            <a:r>
              <a:rPr lang="en-US" b="1" i="1" dirty="0" smtClean="0">
                <a:solidFill>
                  <a:schemeClr val="accent1"/>
                </a:solidFill>
              </a:rPr>
              <a:t/>
            </a:r>
            <a:br>
              <a:rPr lang="en-US" b="1" i="1" dirty="0" smtClean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763000" cy="51355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 smtClean="0"/>
              <a:t>Logical operators:</a:t>
            </a:r>
            <a:r>
              <a:rPr lang="en-US" dirty="0" smtClean="0"/>
              <a:t> are used to join two expressions. After checking the conditions, logical </a:t>
            </a:r>
            <a:r>
              <a:rPr lang="en-US" b="1" dirty="0" smtClean="0"/>
              <a:t>true</a:t>
            </a:r>
            <a:r>
              <a:rPr lang="en-US" dirty="0" smtClean="0"/>
              <a:t> (</a:t>
            </a:r>
            <a:r>
              <a:rPr lang="en-US" b="1" dirty="0" smtClean="0"/>
              <a:t>1</a:t>
            </a:r>
            <a:r>
              <a:rPr lang="en-US" dirty="0" smtClean="0"/>
              <a:t>) or </a:t>
            </a:r>
            <a:r>
              <a:rPr lang="en-US" b="1" dirty="0" smtClean="0"/>
              <a:t>false</a:t>
            </a:r>
            <a:r>
              <a:rPr lang="en-US" dirty="0" smtClean="0"/>
              <a:t> (</a:t>
            </a:r>
            <a:r>
              <a:rPr lang="en-US" b="1" dirty="0" smtClean="0"/>
              <a:t>0)</a:t>
            </a:r>
            <a:r>
              <a:rPr lang="en-US" dirty="0" smtClean="0"/>
              <a:t> is provided.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352800"/>
          <a:ext cx="716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Return Value</a:t>
                      </a:r>
                      <a:endParaRPr lang="en-US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&amp;&amp;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Logical AND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5&gt;3 &amp;&amp; 5&lt;1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8580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||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Logical OR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8&gt;5 || 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8580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!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Logical Not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!(8= =8)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4. Conditional operator (? : 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06963"/>
          </a:xfrm>
        </p:spPr>
        <p:txBody>
          <a:bodyPr/>
          <a:lstStyle/>
          <a:p>
            <a:pPr marL="0" indent="0">
              <a:buFont typeface="Wingdings" pitchFamily="2" charset="2"/>
              <a:buChar char="§"/>
            </a:pPr>
            <a:r>
              <a:rPr lang="en-US" dirty="0" smtClean="0"/>
              <a:t>The </a:t>
            </a:r>
            <a:r>
              <a:rPr lang="en-US" b="1" dirty="0" smtClean="0"/>
              <a:t>conditional operator</a:t>
            </a:r>
            <a:r>
              <a:rPr lang="en-US" dirty="0" smtClean="0"/>
              <a:t> contains a condition followed by two statements or values. If the condition is true the first statement is executed otherwise the second statement.</a:t>
            </a:r>
          </a:p>
          <a:p>
            <a:pPr marL="0" indent="0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chemeClr val="accent1"/>
                </a:solidFill>
              </a:rPr>
              <a:t>Syntax: </a:t>
            </a:r>
            <a:r>
              <a:rPr lang="en-US" b="1" dirty="0" smtClean="0">
                <a:solidFill>
                  <a:schemeClr val="accent1"/>
                </a:solidFill>
              </a:rPr>
              <a:t>Condition? (expression1): (expression 2);</a:t>
            </a:r>
            <a:endParaRPr lang="en-US" dirty="0" smtClean="0">
              <a:solidFill>
                <a:schemeClr val="accent1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Example: 2= = 3?4:5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5. Assignment Operators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763000" cy="4754563"/>
          </a:xfrm>
        </p:spPr>
        <p:txBody>
          <a:bodyPr/>
          <a:lstStyle/>
          <a:p>
            <a:r>
              <a:rPr lang="en-US" dirty="0" smtClean="0"/>
              <a:t>The assignment operator takes the value of whatever is </a:t>
            </a:r>
            <a:r>
              <a:rPr lang="en-US" b="1" dirty="0" smtClean="0"/>
              <a:t>on the right hand side of the</a:t>
            </a:r>
            <a:r>
              <a:rPr lang="en-US" dirty="0" smtClean="0"/>
              <a:t> = </a:t>
            </a:r>
            <a:r>
              <a:rPr lang="en-US" b="1" dirty="0" smtClean="0"/>
              <a:t>symbol </a:t>
            </a:r>
            <a:r>
              <a:rPr lang="en-US" dirty="0" smtClean="0"/>
              <a:t>and puts it into</a:t>
            </a:r>
            <a:r>
              <a:rPr lang="en-US" b="1" dirty="0" smtClean="0"/>
              <a:t> the variable on the left hand side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chemeClr val="tx2"/>
                </a:solidFill>
              </a:rPr>
              <a:t>a=(c + d) </a:t>
            </a:r>
          </a:p>
          <a:p>
            <a:r>
              <a:rPr lang="en-US" smtClean="0"/>
              <a:t>                  b=1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568</Words>
  <Application>Microsoft Office PowerPoint</Application>
  <PresentationFormat>On-screen Show (4:3)</PresentationFormat>
  <Paragraphs>163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Chapter  3 : OPERATORS</vt:lpstr>
      <vt:lpstr>Operators</vt:lpstr>
      <vt:lpstr>Arithmetic Operators: </vt:lpstr>
      <vt:lpstr>Rules of precedence for binary operators </vt:lpstr>
      <vt:lpstr>Slide 5</vt:lpstr>
      <vt:lpstr>Example 1</vt:lpstr>
      <vt:lpstr>Example 2</vt:lpstr>
      <vt:lpstr>  The size of ()  and The ‘&amp;’ operator  </vt:lpstr>
      <vt:lpstr>2. Relational operators: </vt:lpstr>
      <vt:lpstr>3. Logical Operators </vt:lpstr>
      <vt:lpstr>4. Conditional operator (? : )</vt:lpstr>
      <vt:lpstr>5. Assignment Operators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Irakiza</dc:creator>
  <cp:lastModifiedBy>ange</cp:lastModifiedBy>
  <cp:revision>15</cp:revision>
  <dcterms:created xsi:type="dcterms:W3CDTF">2012-04-17T08:28:47Z</dcterms:created>
  <dcterms:modified xsi:type="dcterms:W3CDTF">2018-03-04T09:54:50Z</dcterms:modified>
</cp:coreProperties>
</file>