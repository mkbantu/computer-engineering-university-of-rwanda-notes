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90" r:id="rId2"/>
    <p:sldId id="525" r:id="rId3"/>
    <p:sldId id="526" r:id="rId4"/>
    <p:sldId id="527" r:id="rId5"/>
    <p:sldId id="50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2" autoAdjust="0"/>
    <p:restoredTop sz="94660"/>
  </p:normalViewPr>
  <p:slideViewPr>
    <p:cSldViewPr snapToGrid="0">
      <p:cViewPr varScale="1">
        <p:scale>
          <a:sx n="92" d="100"/>
          <a:sy n="92" d="100"/>
        </p:scale>
        <p:origin x="51"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24BD4-A495-4639-9097-F82A56325A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479DE3-2F68-4E23-82CF-740E0E8496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A58CF0-EFFD-448C-916C-0677D3B5293E}"/>
              </a:ext>
            </a:extLst>
          </p:cNvPr>
          <p:cNvSpPr>
            <a:spLocks noGrp="1"/>
          </p:cNvSpPr>
          <p:nvPr>
            <p:ph type="dt" sz="half" idx="10"/>
          </p:nvPr>
        </p:nvSpPr>
        <p:spPr/>
        <p:txBody>
          <a:bodyPr/>
          <a:lstStyle/>
          <a:p>
            <a:fld id="{C1790CF4-79F1-41A9-B947-298B3490BE02}" type="datetimeFigureOut">
              <a:rPr lang="en-US" smtClean="0"/>
              <a:t>5/26/2026</a:t>
            </a:fld>
            <a:endParaRPr lang="en-US"/>
          </a:p>
        </p:txBody>
      </p:sp>
      <p:sp>
        <p:nvSpPr>
          <p:cNvPr id="5" name="Footer Placeholder 4">
            <a:extLst>
              <a:ext uri="{FF2B5EF4-FFF2-40B4-BE49-F238E27FC236}">
                <a16:creationId xmlns:a16="http://schemas.microsoft.com/office/drawing/2014/main" id="{6D25C689-2DEE-493C-9DE0-14958FCD5E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0A4C82-A472-4292-9AC7-ECFCD65C981B}"/>
              </a:ext>
            </a:extLst>
          </p:cNvPr>
          <p:cNvSpPr>
            <a:spLocks noGrp="1"/>
          </p:cNvSpPr>
          <p:nvPr>
            <p:ph type="sldNum" sz="quarter" idx="12"/>
          </p:nvPr>
        </p:nvSpPr>
        <p:spPr/>
        <p:txBody>
          <a:bodyPr/>
          <a:lstStyle/>
          <a:p>
            <a:fld id="{49426E61-E632-4768-857A-8E4E999551FA}" type="slidenum">
              <a:rPr lang="en-US" smtClean="0"/>
              <a:t>‹#›</a:t>
            </a:fld>
            <a:endParaRPr lang="en-US"/>
          </a:p>
        </p:txBody>
      </p:sp>
    </p:spTree>
    <p:extLst>
      <p:ext uri="{BB962C8B-B14F-4D97-AF65-F5344CB8AC3E}">
        <p14:creationId xmlns:p14="http://schemas.microsoft.com/office/powerpoint/2010/main" val="4112926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B38E9-54EE-44A8-A476-B5D7390923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B6487A-A40B-4BB3-B5AB-DB4515DEDE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40AE21-A235-4ACE-8E10-3784E6258C60}"/>
              </a:ext>
            </a:extLst>
          </p:cNvPr>
          <p:cNvSpPr>
            <a:spLocks noGrp="1"/>
          </p:cNvSpPr>
          <p:nvPr>
            <p:ph type="dt" sz="half" idx="10"/>
          </p:nvPr>
        </p:nvSpPr>
        <p:spPr/>
        <p:txBody>
          <a:bodyPr/>
          <a:lstStyle/>
          <a:p>
            <a:fld id="{C1790CF4-79F1-41A9-B947-298B3490BE02}" type="datetimeFigureOut">
              <a:rPr lang="en-US" smtClean="0"/>
              <a:t>5/26/2026</a:t>
            </a:fld>
            <a:endParaRPr lang="en-US"/>
          </a:p>
        </p:txBody>
      </p:sp>
      <p:sp>
        <p:nvSpPr>
          <p:cNvPr id="5" name="Footer Placeholder 4">
            <a:extLst>
              <a:ext uri="{FF2B5EF4-FFF2-40B4-BE49-F238E27FC236}">
                <a16:creationId xmlns:a16="http://schemas.microsoft.com/office/drawing/2014/main" id="{0BEF680C-CE04-45D1-A272-FEC697F200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F51C0A-D94E-4808-8641-7ADC031A9C3A}"/>
              </a:ext>
            </a:extLst>
          </p:cNvPr>
          <p:cNvSpPr>
            <a:spLocks noGrp="1"/>
          </p:cNvSpPr>
          <p:nvPr>
            <p:ph type="sldNum" sz="quarter" idx="12"/>
          </p:nvPr>
        </p:nvSpPr>
        <p:spPr/>
        <p:txBody>
          <a:bodyPr/>
          <a:lstStyle/>
          <a:p>
            <a:fld id="{49426E61-E632-4768-857A-8E4E999551FA}" type="slidenum">
              <a:rPr lang="en-US" smtClean="0"/>
              <a:t>‹#›</a:t>
            </a:fld>
            <a:endParaRPr lang="en-US"/>
          </a:p>
        </p:txBody>
      </p:sp>
    </p:spTree>
    <p:extLst>
      <p:ext uri="{BB962C8B-B14F-4D97-AF65-F5344CB8AC3E}">
        <p14:creationId xmlns:p14="http://schemas.microsoft.com/office/powerpoint/2010/main" val="598714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EE510-D947-4FF5-AB60-098E344C29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08C58D-A10D-4493-9F36-3C69A5726A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798237-0224-471F-983D-FBD8467555E6}"/>
              </a:ext>
            </a:extLst>
          </p:cNvPr>
          <p:cNvSpPr>
            <a:spLocks noGrp="1"/>
          </p:cNvSpPr>
          <p:nvPr>
            <p:ph type="dt" sz="half" idx="10"/>
          </p:nvPr>
        </p:nvSpPr>
        <p:spPr/>
        <p:txBody>
          <a:bodyPr/>
          <a:lstStyle/>
          <a:p>
            <a:fld id="{C1790CF4-79F1-41A9-B947-298B3490BE02}" type="datetimeFigureOut">
              <a:rPr lang="en-US" smtClean="0"/>
              <a:t>5/26/2026</a:t>
            </a:fld>
            <a:endParaRPr lang="en-US"/>
          </a:p>
        </p:txBody>
      </p:sp>
      <p:sp>
        <p:nvSpPr>
          <p:cNvPr id="5" name="Footer Placeholder 4">
            <a:extLst>
              <a:ext uri="{FF2B5EF4-FFF2-40B4-BE49-F238E27FC236}">
                <a16:creationId xmlns:a16="http://schemas.microsoft.com/office/drawing/2014/main" id="{7E0D5A61-B72D-4A5A-A8FF-30B214F83F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31C975-5058-41A1-BE72-AFFCEDB6AC7B}"/>
              </a:ext>
            </a:extLst>
          </p:cNvPr>
          <p:cNvSpPr>
            <a:spLocks noGrp="1"/>
          </p:cNvSpPr>
          <p:nvPr>
            <p:ph type="sldNum" sz="quarter" idx="12"/>
          </p:nvPr>
        </p:nvSpPr>
        <p:spPr/>
        <p:txBody>
          <a:bodyPr/>
          <a:lstStyle/>
          <a:p>
            <a:fld id="{49426E61-E632-4768-857A-8E4E999551FA}" type="slidenum">
              <a:rPr lang="en-US" smtClean="0"/>
              <a:t>‹#›</a:t>
            </a:fld>
            <a:endParaRPr lang="en-US"/>
          </a:p>
        </p:txBody>
      </p:sp>
    </p:spTree>
    <p:extLst>
      <p:ext uri="{BB962C8B-B14F-4D97-AF65-F5344CB8AC3E}">
        <p14:creationId xmlns:p14="http://schemas.microsoft.com/office/powerpoint/2010/main" val="4135391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09EA1-F7A0-4183-AF62-3A1FABDA9A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69D713-595A-48A5-BE2F-987589656C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2EF372-CFD8-42E7-BE32-7D1C9518A5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1E95FD-598F-4355-9030-397C4D8D0837}"/>
              </a:ext>
            </a:extLst>
          </p:cNvPr>
          <p:cNvSpPr>
            <a:spLocks noGrp="1"/>
          </p:cNvSpPr>
          <p:nvPr>
            <p:ph type="dt" sz="half" idx="10"/>
          </p:nvPr>
        </p:nvSpPr>
        <p:spPr/>
        <p:txBody>
          <a:bodyPr/>
          <a:lstStyle/>
          <a:p>
            <a:fld id="{C1790CF4-79F1-41A9-B947-298B3490BE02}" type="datetimeFigureOut">
              <a:rPr lang="en-US" smtClean="0"/>
              <a:t>5/26/2026</a:t>
            </a:fld>
            <a:endParaRPr lang="en-US"/>
          </a:p>
        </p:txBody>
      </p:sp>
      <p:sp>
        <p:nvSpPr>
          <p:cNvPr id="6" name="Footer Placeholder 5">
            <a:extLst>
              <a:ext uri="{FF2B5EF4-FFF2-40B4-BE49-F238E27FC236}">
                <a16:creationId xmlns:a16="http://schemas.microsoft.com/office/drawing/2014/main" id="{13CE3DE1-7748-4921-8873-E3190F1F74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883AEE-D21E-4B37-8A2C-C9181FC18A4A}"/>
              </a:ext>
            </a:extLst>
          </p:cNvPr>
          <p:cNvSpPr>
            <a:spLocks noGrp="1"/>
          </p:cNvSpPr>
          <p:nvPr>
            <p:ph type="sldNum" sz="quarter" idx="12"/>
          </p:nvPr>
        </p:nvSpPr>
        <p:spPr/>
        <p:txBody>
          <a:bodyPr/>
          <a:lstStyle/>
          <a:p>
            <a:fld id="{49426E61-E632-4768-857A-8E4E999551FA}" type="slidenum">
              <a:rPr lang="en-US" smtClean="0"/>
              <a:t>‹#›</a:t>
            </a:fld>
            <a:endParaRPr lang="en-US"/>
          </a:p>
        </p:txBody>
      </p:sp>
    </p:spTree>
    <p:extLst>
      <p:ext uri="{BB962C8B-B14F-4D97-AF65-F5344CB8AC3E}">
        <p14:creationId xmlns:p14="http://schemas.microsoft.com/office/powerpoint/2010/main" val="1322310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47654-98F7-4A00-8A72-CE3EC70436C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885CBC-0C6A-435C-AE24-8BE472D04D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40F05-DAB1-4A04-B4A6-A716EB3909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1D9426-DFD8-4066-94C6-7122924107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CB19BD-4BC4-4537-9607-D6B3B560CB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C40DB1-A224-4B70-9945-05D551186A47}"/>
              </a:ext>
            </a:extLst>
          </p:cNvPr>
          <p:cNvSpPr>
            <a:spLocks noGrp="1"/>
          </p:cNvSpPr>
          <p:nvPr>
            <p:ph type="dt" sz="half" idx="10"/>
          </p:nvPr>
        </p:nvSpPr>
        <p:spPr/>
        <p:txBody>
          <a:bodyPr/>
          <a:lstStyle/>
          <a:p>
            <a:fld id="{C1790CF4-79F1-41A9-B947-298B3490BE02}" type="datetimeFigureOut">
              <a:rPr lang="en-US" smtClean="0"/>
              <a:t>5/26/2026</a:t>
            </a:fld>
            <a:endParaRPr lang="en-US"/>
          </a:p>
        </p:txBody>
      </p:sp>
      <p:sp>
        <p:nvSpPr>
          <p:cNvPr id="8" name="Footer Placeholder 7">
            <a:extLst>
              <a:ext uri="{FF2B5EF4-FFF2-40B4-BE49-F238E27FC236}">
                <a16:creationId xmlns:a16="http://schemas.microsoft.com/office/drawing/2014/main" id="{C0C42AAB-47A5-4E79-A662-C19A39A293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74E91F-3BD8-4B5C-9EC5-2D358127B723}"/>
              </a:ext>
            </a:extLst>
          </p:cNvPr>
          <p:cNvSpPr>
            <a:spLocks noGrp="1"/>
          </p:cNvSpPr>
          <p:nvPr>
            <p:ph type="sldNum" sz="quarter" idx="12"/>
          </p:nvPr>
        </p:nvSpPr>
        <p:spPr/>
        <p:txBody>
          <a:bodyPr/>
          <a:lstStyle/>
          <a:p>
            <a:fld id="{49426E61-E632-4768-857A-8E4E999551FA}" type="slidenum">
              <a:rPr lang="en-US" smtClean="0"/>
              <a:t>‹#›</a:t>
            </a:fld>
            <a:endParaRPr lang="en-US"/>
          </a:p>
        </p:txBody>
      </p:sp>
    </p:spTree>
    <p:extLst>
      <p:ext uri="{BB962C8B-B14F-4D97-AF65-F5344CB8AC3E}">
        <p14:creationId xmlns:p14="http://schemas.microsoft.com/office/powerpoint/2010/main" val="3240308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4B3B1-61EB-4D51-BF3D-DCD6F381DB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244B91-906A-4DED-BD7C-7799D83FE771}"/>
              </a:ext>
            </a:extLst>
          </p:cNvPr>
          <p:cNvSpPr>
            <a:spLocks noGrp="1"/>
          </p:cNvSpPr>
          <p:nvPr>
            <p:ph type="dt" sz="half" idx="10"/>
          </p:nvPr>
        </p:nvSpPr>
        <p:spPr/>
        <p:txBody>
          <a:bodyPr/>
          <a:lstStyle/>
          <a:p>
            <a:fld id="{C1790CF4-79F1-41A9-B947-298B3490BE02}" type="datetimeFigureOut">
              <a:rPr lang="en-US" smtClean="0"/>
              <a:t>5/26/2026</a:t>
            </a:fld>
            <a:endParaRPr lang="en-US"/>
          </a:p>
        </p:txBody>
      </p:sp>
      <p:sp>
        <p:nvSpPr>
          <p:cNvPr id="4" name="Footer Placeholder 3">
            <a:extLst>
              <a:ext uri="{FF2B5EF4-FFF2-40B4-BE49-F238E27FC236}">
                <a16:creationId xmlns:a16="http://schemas.microsoft.com/office/drawing/2014/main" id="{37BDC26A-E0D1-408E-8829-FE7EBDB0B7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4BE273-6FDE-4B4D-B36A-818FDA70C903}"/>
              </a:ext>
            </a:extLst>
          </p:cNvPr>
          <p:cNvSpPr>
            <a:spLocks noGrp="1"/>
          </p:cNvSpPr>
          <p:nvPr>
            <p:ph type="sldNum" sz="quarter" idx="12"/>
          </p:nvPr>
        </p:nvSpPr>
        <p:spPr/>
        <p:txBody>
          <a:bodyPr/>
          <a:lstStyle/>
          <a:p>
            <a:fld id="{49426E61-E632-4768-857A-8E4E999551FA}" type="slidenum">
              <a:rPr lang="en-US" smtClean="0"/>
              <a:t>‹#›</a:t>
            </a:fld>
            <a:endParaRPr lang="en-US"/>
          </a:p>
        </p:txBody>
      </p:sp>
    </p:spTree>
    <p:extLst>
      <p:ext uri="{BB962C8B-B14F-4D97-AF65-F5344CB8AC3E}">
        <p14:creationId xmlns:p14="http://schemas.microsoft.com/office/powerpoint/2010/main" val="1639174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3FAB11-F582-4241-A074-BD31DF21F31A}"/>
              </a:ext>
            </a:extLst>
          </p:cNvPr>
          <p:cNvSpPr>
            <a:spLocks noGrp="1"/>
          </p:cNvSpPr>
          <p:nvPr>
            <p:ph type="dt" sz="half" idx="10"/>
          </p:nvPr>
        </p:nvSpPr>
        <p:spPr/>
        <p:txBody>
          <a:bodyPr/>
          <a:lstStyle/>
          <a:p>
            <a:fld id="{C1790CF4-79F1-41A9-B947-298B3490BE02}" type="datetimeFigureOut">
              <a:rPr lang="en-US" smtClean="0"/>
              <a:t>5/26/2026</a:t>
            </a:fld>
            <a:endParaRPr lang="en-US"/>
          </a:p>
        </p:txBody>
      </p:sp>
      <p:sp>
        <p:nvSpPr>
          <p:cNvPr id="3" name="Footer Placeholder 2">
            <a:extLst>
              <a:ext uri="{FF2B5EF4-FFF2-40B4-BE49-F238E27FC236}">
                <a16:creationId xmlns:a16="http://schemas.microsoft.com/office/drawing/2014/main" id="{891B2A42-1C46-4B46-9F20-1ED2D4A8C7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A4FC4C-EB26-4CD1-8DE4-FAA79563BBA9}"/>
              </a:ext>
            </a:extLst>
          </p:cNvPr>
          <p:cNvSpPr>
            <a:spLocks noGrp="1"/>
          </p:cNvSpPr>
          <p:nvPr>
            <p:ph type="sldNum" sz="quarter" idx="12"/>
          </p:nvPr>
        </p:nvSpPr>
        <p:spPr/>
        <p:txBody>
          <a:bodyPr/>
          <a:lstStyle/>
          <a:p>
            <a:fld id="{49426E61-E632-4768-857A-8E4E999551FA}" type="slidenum">
              <a:rPr lang="en-US" smtClean="0"/>
              <a:t>‹#›</a:t>
            </a:fld>
            <a:endParaRPr lang="en-US"/>
          </a:p>
        </p:txBody>
      </p:sp>
    </p:spTree>
    <p:extLst>
      <p:ext uri="{BB962C8B-B14F-4D97-AF65-F5344CB8AC3E}">
        <p14:creationId xmlns:p14="http://schemas.microsoft.com/office/powerpoint/2010/main" val="1686805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CE630-2F89-4A48-A832-B7A29941C2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047FD6-ED99-4F30-B1F2-23157696B8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32F967-258B-49BD-9710-6EBD7D4EE8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E4F5A6-94FF-43F9-801A-07F7B4E236BB}"/>
              </a:ext>
            </a:extLst>
          </p:cNvPr>
          <p:cNvSpPr>
            <a:spLocks noGrp="1"/>
          </p:cNvSpPr>
          <p:nvPr>
            <p:ph type="dt" sz="half" idx="10"/>
          </p:nvPr>
        </p:nvSpPr>
        <p:spPr/>
        <p:txBody>
          <a:bodyPr/>
          <a:lstStyle/>
          <a:p>
            <a:fld id="{C1790CF4-79F1-41A9-B947-298B3490BE02}" type="datetimeFigureOut">
              <a:rPr lang="en-US" smtClean="0"/>
              <a:t>5/26/2026</a:t>
            </a:fld>
            <a:endParaRPr lang="en-US"/>
          </a:p>
        </p:txBody>
      </p:sp>
      <p:sp>
        <p:nvSpPr>
          <p:cNvPr id="6" name="Footer Placeholder 5">
            <a:extLst>
              <a:ext uri="{FF2B5EF4-FFF2-40B4-BE49-F238E27FC236}">
                <a16:creationId xmlns:a16="http://schemas.microsoft.com/office/drawing/2014/main" id="{7DD4A02F-F797-4075-8ABB-40DD871652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BC0AFD-EADE-4E95-A77C-B07B1CD96F53}"/>
              </a:ext>
            </a:extLst>
          </p:cNvPr>
          <p:cNvSpPr>
            <a:spLocks noGrp="1"/>
          </p:cNvSpPr>
          <p:nvPr>
            <p:ph type="sldNum" sz="quarter" idx="12"/>
          </p:nvPr>
        </p:nvSpPr>
        <p:spPr/>
        <p:txBody>
          <a:bodyPr/>
          <a:lstStyle/>
          <a:p>
            <a:fld id="{49426E61-E632-4768-857A-8E4E999551FA}" type="slidenum">
              <a:rPr lang="en-US" smtClean="0"/>
              <a:t>‹#›</a:t>
            </a:fld>
            <a:endParaRPr lang="en-US"/>
          </a:p>
        </p:txBody>
      </p:sp>
    </p:spTree>
    <p:extLst>
      <p:ext uri="{BB962C8B-B14F-4D97-AF65-F5344CB8AC3E}">
        <p14:creationId xmlns:p14="http://schemas.microsoft.com/office/powerpoint/2010/main" val="2014288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803F8-DA45-4EB2-B789-445315533C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217A44-F454-4F75-BD29-99F9A77754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F72F039-7C65-4812-A326-C8A0683C81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179A8F-A419-46F3-9674-D8B89C531D87}"/>
              </a:ext>
            </a:extLst>
          </p:cNvPr>
          <p:cNvSpPr>
            <a:spLocks noGrp="1"/>
          </p:cNvSpPr>
          <p:nvPr>
            <p:ph type="dt" sz="half" idx="10"/>
          </p:nvPr>
        </p:nvSpPr>
        <p:spPr/>
        <p:txBody>
          <a:bodyPr/>
          <a:lstStyle/>
          <a:p>
            <a:fld id="{C1790CF4-79F1-41A9-B947-298B3490BE02}" type="datetimeFigureOut">
              <a:rPr lang="en-US" smtClean="0"/>
              <a:t>5/26/2026</a:t>
            </a:fld>
            <a:endParaRPr lang="en-US"/>
          </a:p>
        </p:txBody>
      </p:sp>
      <p:sp>
        <p:nvSpPr>
          <p:cNvPr id="6" name="Footer Placeholder 5">
            <a:extLst>
              <a:ext uri="{FF2B5EF4-FFF2-40B4-BE49-F238E27FC236}">
                <a16:creationId xmlns:a16="http://schemas.microsoft.com/office/drawing/2014/main" id="{F095C341-C88D-40F1-B36B-9A54831F24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2D8EF1-D8E1-41B9-9E89-38769DB72C58}"/>
              </a:ext>
            </a:extLst>
          </p:cNvPr>
          <p:cNvSpPr>
            <a:spLocks noGrp="1"/>
          </p:cNvSpPr>
          <p:nvPr>
            <p:ph type="sldNum" sz="quarter" idx="12"/>
          </p:nvPr>
        </p:nvSpPr>
        <p:spPr/>
        <p:txBody>
          <a:bodyPr/>
          <a:lstStyle/>
          <a:p>
            <a:fld id="{49426E61-E632-4768-857A-8E4E999551FA}" type="slidenum">
              <a:rPr lang="en-US" smtClean="0"/>
              <a:t>‹#›</a:t>
            </a:fld>
            <a:endParaRPr lang="en-US"/>
          </a:p>
        </p:txBody>
      </p:sp>
    </p:spTree>
    <p:extLst>
      <p:ext uri="{BB962C8B-B14F-4D97-AF65-F5344CB8AC3E}">
        <p14:creationId xmlns:p14="http://schemas.microsoft.com/office/powerpoint/2010/main" val="736873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207EA-44CF-40C2-B3F5-514C0099BA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A366F3-7D34-4068-AE3B-6F19CA109D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ED431F-30A3-4ADA-8475-448E8967E12A}"/>
              </a:ext>
            </a:extLst>
          </p:cNvPr>
          <p:cNvSpPr>
            <a:spLocks noGrp="1"/>
          </p:cNvSpPr>
          <p:nvPr>
            <p:ph type="dt" sz="half" idx="10"/>
          </p:nvPr>
        </p:nvSpPr>
        <p:spPr/>
        <p:txBody>
          <a:bodyPr/>
          <a:lstStyle/>
          <a:p>
            <a:fld id="{C1790CF4-79F1-41A9-B947-298B3490BE02}" type="datetimeFigureOut">
              <a:rPr lang="en-US" smtClean="0"/>
              <a:t>5/26/2026</a:t>
            </a:fld>
            <a:endParaRPr lang="en-US"/>
          </a:p>
        </p:txBody>
      </p:sp>
      <p:sp>
        <p:nvSpPr>
          <p:cNvPr id="5" name="Footer Placeholder 4">
            <a:extLst>
              <a:ext uri="{FF2B5EF4-FFF2-40B4-BE49-F238E27FC236}">
                <a16:creationId xmlns:a16="http://schemas.microsoft.com/office/drawing/2014/main" id="{E76C317E-4726-4C29-B189-F3114245D1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9D13C5-E1D6-4AC2-839C-5405C2CFD718}"/>
              </a:ext>
            </a:extLst>
          </p:cNvPr>
          <p:cNvSpPr>
            <a:spLocks noGrp="1"/>
          </p:cNvSpPr>
          <p:nvPr>
            <p:ph type="sldNum" sz="quarter" idx="12"/>
          </p:nvPr>
        </p:nvSpPr>
        <p:spPr/>
        <p:txBody>
          <a:bodyPr/>
          <a:lstStyle/>
          <a:p>
            <a:fld id="{49426E61-E632-4768-857A-8E4E999551FA}" type="slidenum">
              <a:rPr lang="en-US" smtClean="0"/>
              <a:t>‹#›</a:t>
            </a:fld>
            <a:endParaRPr lang="en-US"/>
          </a:p>
        </p:txBody>
      </p:sp>
    </p:spTree>
    <p:extLst>
      <p:ext uri="{BB962C8B-B14F-4D97-AF65-F5344CB8AC3E}">
        <p14:creationId xmlns:p14="http://schemas.microsoft.com/office/powerpoint/2010/main" val="533146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5A8027-59BE-4B89-A503-7DA965AF9D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F0D571-B7D4-4CE8-918E-E7E40BA1CC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76677E-71CD-4B52-ADA0-844D31E713F7}"/>
              </a:ext>
            </a:extLst>
          </p:cNvPr>
          <p:cNvSpPr>
            <a:spLocks noGrp="1"/>
          </p:cNvSpPr>
          <p:nvPr>
            <p:ph type="dt" sz="half" idx="10"/>
          </p:nvPr>
        </p:nvSpPr>
        <p:spPr/>
        <p:txBody>
          <a:bodyPr/>
          <a:lstStyle/>
          <a:p>
            <a:fld id="{C1790CF4-79F1-41A9-B947-298B3490BE02}" type="datetimeFigureOut">
              <a:rPr lang="en-US" smtClean="0"/>
              <a:t>5/26/2026</a:t>
            </a:fld>
            <a:endParaRPr lang="en-US"/>
          </a:p>
        </p:txBody>
      </p:sp>
      <p:sp>
        <p:nvSpPr>
          <p:cNvPr id="5" name="Footer Placeholder 4">
            <a:extLst>
              <a:ext uri="{FF2B5EF4-FFF2-40B4-BE49-F238E27FC236}">
                <a16:creationId xmlns:a16="http://schemas.microsoft.com/office/drawing/2014/main" id="{50CCD3D9-421C-44E3-8856-6A149975E2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BE411-CC56-4085-A472-A527864EBE77}"/>
              </a:ext>
            </a:extLst>
          </p:cNvPr>
          <p:cNvSpPr>
            <a:spLocks noGrp="1"/>
          </p:cNvSpPr>
          <p:nvPr>
            <p:ph type="sldNum" sz="quarter" idx="12"/>
          </p:nvPr>
        </p:nvSpPr>
        <p:spPr/>
        <p:txBody>
          <a:bodyPr/>
          <a:lstStyle/>
          <a:p>
            <a:fld id="{49426E61-E632-4768-857A-8E4E999551FA}" type="slidenum">
              <a:rPr lang="en-US" smtClean="0"/>
              <a:t>‹#›</a:t>
            </a:fld>
            <a:endParaRPr lang="en-US"/>
          </a:p>
        </p:txBody>
      </p:sp>
    </p:spTree>
    <p:extLst>
      <p:ext uri="{BB962C8B-B14F-4D97-AF65-F5344CB8AC3E}">
        <p14:creationId xmlns:p14="http://schemas.microsoft.com/office/powerpoint/2010/main" val="2544710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3280C2-F9BE-4FC2-919F-041E08A086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86264B-52E7-417E-9BB0-89ECBA49B7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7B2FDD-1AF4-4460-9E6B-71EC3A827E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790CF4-79F1-41A9-B947-298B3490BE02}" type="datetimeFigureOut">
              <a:rPr lang="en-US" smtClean="0"/>
              <a:t>5/26/2026</a:t>
            </a:fld>
            <a:endParaRPr lang="en-US"/>
          </a:p>
        </p:txBody>
      </p:sp>
      <p:sp>
        <p:nvSpPr>
          <p:cNvPr id="5" name="Footer Placeholder 4">
            <a:extLst>
              <a:ext uri="{FF2B5EF4-FFF2-40B4-BE49-F238E27FC236}">
                <a16:creationId xmlns:a16="http://schemas.microsoft.com/office/drawing/2014/main" id="{05D9F243-DCD9-4A53-85CA-CFB774C9DD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7AF63D7-1079-42BB-80A1-4319695705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426E61-E632-4768-857A-8E4E999551FA}" type="slidenum">
              <a:rPr lang="en-US" smtClean="0"/>
              <a:t>‹#›</a:t>
            </a:fld>
            <a:endParaRPr lang="en-US"/>
          </a:p>
        </p:txBody>
      </p:sp>
    </p:spTree>
    <p:extLst>
      <p:ext uri="{BB962C8B-B14F-4D97-AF65-F5344CB8AC3E}">
        <p14:creationId xmlns:p14="http://schemas.microsoft.com/office/powerpoint/2010/main" val="1359645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88DE8582-932E-DC85-7A73-AE0427C48265}"/>
              </a:ext>
            </a:extLst>
          </p:cNvPr>
          <p:cNvSpPr>
            <a:spLocks noGrp="1"/>
          </p:cNvSpPr>
          <p:nvPr>
            <p:ph type="title"/>
          </p:nvPr>
        </p:nvSpPr>
        <p:spPr>
          <a:xfrm>
            <a:off x="1828800" y="274638"/>
            <a:ext cx="8686800" cy="1554162"/>
          </a:xfrm>
        </p:spPr>
        <p:txBody>
          <a:bodyPr/>
          <a:lstStyle/>
          <a:p>
            <a:r>
              <a:rPr lang="en-US" altLang="en-US" sz="4800" b="1" dirty="0">
                <a:solidFill>
                  <a:srgbClr val="00B050"/>
                </a:solidFill>
                <a:latin typeface="Times New Roman" panose="02020603050405020304" pitchFamily="18" charset="0"/>
                <a:cs typeface="Times New Roman" panose="02020603050405020304" pitchFamily="18" charset="0"/>
              </a:rPr>
              <a:t>Lesson 4: Characteristics of  Successful Entrepreneurs</a:t>
            </a:r>
            <a:endParaRPr lang="en-US" altLang="en-US" sz="4800"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286AB1-092A-158A-63CF-89440D17DE67}"/>
              </a:ext>
            </a:extLst>
          </p:cNvPr>
          <p:cNvSpPr>
            <a:spLocks noGrp="1"/>
          </p:cNvSpPr>
          <p:nvPr>
            <p:ph idx="1"/>
          </p:nvPr>
        </p:nvSpPr>
        <p:spPr/>
        <p:txBody>
          <a:bodyPr/>
          <a:lstStyle/>
          <a:p>
            <a:pPr marL="0" indent="0" algn="just">
              <a:buNone/>
              <a:defRPr/>
            </a:pPr>
            <a:r>
              <a:rPr lang="en-US" b="1" i="1" u="sng" dirty="0">
                <a:solidFill>
                  <a:srgbClr val="0070C0"/>
                </a:solidFill>
                <a:latin typeface="Times New Roman" panose="02020603050405020304" pitchFamily="18" charset="0"/>
                <a:cs typeface="Times New Roman" panose="02020603050405020304" pitchFamily="18" charset="0"/>
              </a:rPr>
              <a:t>Learning Objectives: </a:t>
            </a:r>
          </a:p>
          <a:p>
            <a:pPr algn="just">
              <a:defRPr/>
            </a:pPr>
            <a:r>
              <a:rPr lang="en-US" dirty="0">
                <a:latin typeface="Times New Roman" panose="02020603050405020304" pitchFamily="18" charset="0"/>
                <a:cs typeface="Times New Roman" panose="02020603050405020304" pitchFamily="18" charset="0"/>
              </a:rPr>
              <a:t>Understand the entrepreneurial journey and the concept of different entrepreneurial styles.</a:t>
            </a:r>
          </a:p>
          <a:p>
            <a:pPr algn="just">
              <a:defRPr/>
            </a:pPr>
            <a:r>
              <a:rPr lang="en-US" dirty="0">
                <a:latin typeface="Times New Roman" panose="02020603050405020304" pitchFamily="18" charset="0"/>
                <a:cs typeface="Times New Roman" panose="02020603050405020304" pitchFamily="18" charset="0"/>
              </a:rPr>
              <a:t>Understand each of the five entrepreneurial styles in the model and how they differ from each other.</a:t>
            </a:r>
          </a:p>
          <a:p>
            <a:pPr algn="just">
              <a:defRPr/>
            </a:pPr>
            <a:r>
              <a:rPr lang="en-US" dirty="0">
                <a:latin typeface="Times New Roman" panose="02020603050405020304" pitchFamily="18" charset="0"/>
                <a:cs typeface="Times New Roman" panose="02020603050405020304" pitchFamily="18" charset="0"/>
              </a:rPr>
              <a:t>Identify your potential entrepreneurship style based on personality traits, strengths, and weaknesses.</a:t>
            </a:r>
          </a:p>
          <a:p>
            <a:pPr algn="just">
              <a:defRPr/>
            </a:pPr>
            <a:r>
              <a:rPr lang="en-US" dirty="0">
                <a:latin typeface="Times New Roman" panose="02020603050405020304" pitchFamily="18" charset="0"/>
                <a:cs typeface="Times New Roman" panose="02020603050405020304" pitchFamily="18" charset="0"/>
              </a:rPr>
              <a:t>Understand how different entrepreneurship styles work, and how people with different styles work together.</a:t>
            </a:r>
          </a:p>
          <a:p>
            <a:pPr>
              <a:defRPr/>
            </a:pP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5C268-C59A-636A-BEFD-C265389D115E}"/>
              </a:ext>
            </a:extLst>
          </p:cNvPr>
          <p:cNvSpPr>
            <a:spLocks noGrp="1"/>
          </p:cNvSpPr>
          <p:nvPr>
            <p:ph type="title"/>
          </p:nvPr>
        </p:nvSpPr>
        <p:spPr/>
        <p:txBody>
          <a:bodyPr/>
          <a:lstStyle/>
          <a:p>
            <a:pPr algn="ctr"/>
            <a:r>
              <a:rPr lang="en-RW" b="1" kern="0" dirty="0">
                <a:solidFill>
                  <a:srgbClr val="212529"/>
                </a:solidFill>
                <a:latin typeface="Arial" panose="020B0604020202020204" pitchFamily="34" charset="0"/>
                <a:ea typeface="Times New Roman" panose="02020603050405020304" pitchFamily="18" charset="0"/>
                <a:cs typeface="Times New Roman" panose="02020603050405020304" pitchFamily="18" charset="0"/>
              </a:rPr>
              <a:t>Entrepreneurial style</a:t>
            </a:r>
            <a:endParaRPr lang="en-RW" dirty="0"/>
          </a:p>
        </p:txBody>
      </p:sp>
      <p:sp>
        <p:nvSpPr>
          <p:cNvPr id="3" name="Content Placeholder 2">
            <a:extLst>
              <a:ext uri="{FF2B5EF4-FFF2-40B4-BE49-F238E27FC236}">
                <a16:creationId xmlns:a16="http://schemas.microsoft.com/office/drawing/2014/main" id="{87CE219F-5672-49AD-7AE8-A9A226D266D2}"/>
              </a:ext>
            </a:extLst>
          </p:cNvPr>
          <p:cNvSpPr>
            <a:spLocks noGrp="1"/>
          </p:cNvSpPr>
          <p:nvPr>
            <p:ph idx="1"/>
          </p:nvPr>
        </p:nvSpPr>
        <p:spPr>
          <a:xfrm>
            <a:off x="838200" y="1363388"/>
            <a:ext cx="10515600" cy="5494612"/>
          </a:xfrm>
        </p:spPr>
        <p:txBody>
          <a:bodyPr>
            <a:normAutofit fontScale="92500" lnSpcReduction="20000"/>
          </a:bodyPr>
          <a:lstStyle/>
          <a:p>
            <a:pPr>
              <a:lnSpc>
                <a:spcPct val="115000"/>
              </a:lnSpc>
              <a:spcAft>
                <a:spcPts val="800"/>
              </a:spcAft>
            </a:pPr>
            <a:r>
              <a:rPr lang="en-RW" sz="1800" b="1"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Entrepreneurial style </a:t>
            </a:r>
            <a:r>
              <a:rPr lang="en-RW" sz="1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refers to transforming or providing shape to an idea or innovation that can lead to a successful business or organization. Also, different people can have different ways of thinking, which means their approaches and attitude towards transforming an idea or innovation are different. </a:t>
            </a:r>
            <a:endParaRPr lang="en-GB" sz="1800" kern="0" dirty="0" smtClean="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15000"/>
              </a:lnSpc>
              <a:spcAft>
                <a:spcPts val="800"/>
              </a:spcAft>
            </a:pPr>
            <a:r>
              <a:rPr lang="en-RW" sz="1800" kern="0" dirty="0" smtClean="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Based </a:t>
            </a:r>
            <a:r>
              <a:rPr lang="en-RW" sz="1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on this, we can segregate the advantages of </a:t>
            </a:r>
            <a:r>
              <a:rPr lang="en-RW" sz="1800" kern="0" dirty="0">
                <a:solidFill>
                  <a:srgbClr val="212529"/>
                </a:solidFill>
                <a:latin typeface="Arial" panose="020B0604020202020204" pitchFamily="34" charset="0"/>
                <a:ea typeface="Times New Roman" panose="02020603050405020304" pitchFamily="18" charset="0"/>
                <a:cs typeface="Times New Roman" panose="02020603050405020304" pitchFamily="18" charset="0"/>
              </a:rPr>
              <a:t>entrepreneurship</a:t>
            </a:r>
            <a:r>
              <a:rPr lang="en-US" sz="1800" kern="0" dirty="0">
                <a:solidFill>
                  <a:srgbClr val="212529"/>
                </a:solidFill>
                <a:latin typeface="Arial" panose="020B0604020202020204" pitchFamily="34" charset="0"/>
                <a:ea typeface="Times New Roman" panose="02020603050405020304" pitchFamily="18" charset="0"/>
                <a:cs typeface="Times New Roman" panose="02020603050405020304" pitchFamily="18" charset="0"/>
              </a:rPr>
              <a:t> </a:t>
            </a:r>
            <a:r>
              <a:rPr lang="en-RW" sz="1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into </a:t>
            </a:r>
            <a:r>
              <a:rPr lang="en-US" sz="1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six</a:t>
            </a:r>
            <a:r>
              <a:rPr lang="en-RW" sz="1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unique styles of entrepreneurship</a:t>
            </a:r>
            <a:r>
              <a:rPr lang="en-RW" sz="1800" kern="0" dirty="0" smtClean="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GB" sz="1800" kern="0" dirty="0" smtClean="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15000"/>
              </a:lnSpc>
              <a:spcAft>
                <a:spcPts val="800"/>
              </a:spcAft>
            </a:pPr>
            <a:r>
              <a:rPr lang="en-US" sz="2200" b="1" dirty="0">
                <a:solidFill>
                  <a:srgbClr val="FF0000"/>
                </a:solidFill>
                <a:latin typeface="Times New Roman" panose="02020603050405020304" pitchFamily="18" charset="0"/>
                <a:cs typeface="Times New Roman" panose="02020603050405020304" pitchFamily="18" charset="0"/>
              </a:rPr>
              <a:t>Types of entrepreneurial styles</a:t>
            </a:r>
            <a:endParaRPr lang="en-RW" sz="22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RW" sz="1800" b="1"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Managers</a:t>
            </a:r>
            <a:endParaRPr lang="en-RW"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RW" sz="1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The managerial style of entrepreneurship refers to working in a startup first over venturing on their own. Such entrepreneurs can often find themselves stuck in administrative roles and possibly fail to start something great themselves.</a:t>
            </a:r>
            <a:r>
              <a:rPr lang="en-US" sz="1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1800" kern="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E.g</a:t>
            </a:r>
            <a:r>
              <a:rPr lang="en-US" sz="1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1800" dirty="0"/>
              <a:t>Eric Schmidt CEO of Novell and sun microsystem, Dr. Diane </a:t>
            </a:r>
            <a:r>
              <a:rPr lang="en-US" sz="1800" dirty="0" err="1"/>
              <a:t>Karusisi</a:t>
            </a:r>
            <a:r>
              <a:rPr lang="en-US" sz="1800" dirty="0"/>
              <a:t> who was CEO of BK.</a:t>
            </a:r>
            <a:endParaRPr lang="en-RW"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RW" sz="1800" b="1"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Survivalists</a:t>
            </a:r>
            <a:endParaRPr lang="en-RW"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RW" sz="1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Survivalists' entrepreneurial style refers to entrepreneurship where people don't think much about long-term goals and benefits. Instead, they are more focused on sustaining their daily lives through small entrepreneur ventures such as shop selling accessories, DIYs, groceries, etc. </a:t>
            </a:r>
            <a:endParaRPr lang="en-RW"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en-RW"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RW" dirty="0"/>
          </a:p>
        </p:txBody>
      </p:sp>
    </p:spTree>
    <p:extLst>
      <p:ext uri="{BB962C8B-B14F-4D97-AF65-F5344CB8AC3E}">
        <p14:creationId xmlns:p14="http://schemas.microsoft.com/office/powerpoint/2010/main" val="38392904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B9A2-2470-2E32-06C1-0D12F299D944}"/>
              </a:ext>
            </a:extLst>
          </p:cNvPr>
          <p:cNvSpPr>
            <a:spLocks noGrp="1"/>
          </p:cNvSpPr>
          <p:nvPr>
            <p:ph type="title"/>
          </p:nvPr>
        </p:nvSpPr>
        <p:spPr/>
        <p:txBody>
          <a:bodyPr/>
          <a:lstStyle/>
          <a:p>
            <a:endParaRPr lang="en-RW"/>
          </a:p>
        </p:txBody>
      </p:sp>
      <p:sp>
        <p:nvSpPr>
          <p:cNvPr id="3" name="Content Placeholder 2">
            <a:extLst>
              <a:ext uri="{FF2B5EF4-FFF2-40B4-BE49-F238E27FC236}">
                <a16:creationId xmlns:a16="http://schemas.microsoft.com/office/drawing/2014/main" id="{0BFB371E-5928-57C3-EC8C-A50354F3C6E3}"/>
              </a:ext>
            </a:extLst>
          </p:cNvPr>
          <p:cNvSpPr>
            <a:spLocks noGrp="1"/>
          </p:cNvSpPr>
          <p:nvPr>
            <p:ph idx="1"/>
          </p:nvPr>
        </p:nvSpPr>
        <p:spPr/>
        <p:txBody>
          <a:bodyPr>
            <a:normAutofit fontScale="70000" lnSpcReduction="20000"/>
          </a:bodyPr>
          <a:lstStyle/>
          <a:p>
            <a:pPr marL="0" indent="0">
              <a:lnSpc>
                <a:spcPct val="115000"/>
              </a:lnSpc>
              <a:spcAft>
                <a:spcPts val="800"/>
              </a:spcAft>
              <a:buNone/>
            </a:pPr>
            <a:r>
              <a:rPr lang="en-US" sz="2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RW" sz="2800" b="1"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Calculators</a:t>
            </a:r>
            <a:endParaRPr lang="en-RW" sz="2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RW" sz="2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Calculator's style of entrepreneurship pays most importance to make money and profits from their entrepreneurial ideas. While thinking about money is not wrong such practices often lead to more failure than success.</a:t>
            </a:r>
            <a:r>
              <a:rPr lang="en-US" sz="2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800" kern="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E.g</a:t>
            </a:r>
            <a:r>
              <a:rPr lang="en-US" sz="2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dirty="0"/>
              <a:t>cryptocurrency and pyramid business systems like super marketing Global Ltd, Alliance, </a:t>
            </a:r>
            <a:r>
              <a:rPr lang="en-US" dirty="0" err="1"/>
              <a:t>bitsec</a:t>
            </a:r>
            <a:r>
              <a:rPr lang="en-US" dirty="0"/>
              <a:t> staking, billionaire trader etc.</a:t>
            </a:r>
            <a:endParaRPr lang="en-US" sz="2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15000"/>
              </a:lnSpc>
              <a:spcAft>
                <a:spcPts val="800"/>
              </a:spcAft>
            </a:pPr>
            <a:r>
              <a:rPr lang="en-RW" sz="2800" b="1"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Opportunists</a:t>
            </a:r>
            <a:endParaRPr lang="en-RW" sz="2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US" kern="0" dirty="0">
                <a:solidFill>
                  <a:srgbClr val="212529"/>
                </a:solidFill>
                <a:latin typeface="Arial" panose="020B0604020202020204" pitchFamily="34" charset="0"/>
                <a:ea typeface="Times New Roman" panose="02020603050405020304" pitchFamily="18" charset="0"/>
                <a:cs typeface="Times New Roman" panose="02020603050405020304" pitchFamily="18" charset="0"/>
              </a:rPr>
              <a:t> The optimistic entrepreneurship style is about making an entry into an industry or business at a reasonable time, where success is guaranteed, unlike</a:t>
            </a:r>
            <a:r>
              <a:rPr lang="en-RW" sz="2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other entrepreneurial styles.</a:t>
            </a:r>
            <a:r>
              <a:rPr lang="en-US" kern="0" dirty="0">
                <a:solidFill>
                  <a:srgbClr val="212529"/>
                </a:solidFill>
                <a:latin typeface="Arial" panose="020B0604020202020204" pitchFamily="34" charset="0"/>
                <a:ea typeface="Times New Roman" panose="02020603050405020304" pitchFamily="18" charset="0"/>
                <a:cs typeface="Times New Roman" panose="02020603050405020304" pitchFamily="18" charset="0"/>
              </a:rPr>
              <a:t> </a:t>
            </a:r>
            <a:r>
              <a:rPr lang="en-US" kern="0" dirty="0" err="1">
                <a:solidFill>
                  <a:srgbClr val="212529"/>
                </a:solidFill>
                <a:latin typeface="Arial" panose="020B0604020202020204" pitchFamily="34" charset="0"/>
                <a:ea typeface="Times New Roman" panose="02020603050405020304" pitchFamily="18" charset="0"/>
                <a:cs typeface="Times New Roman" panose="02020603050405020304" pitchFamily="18" charset="0"/>
              </a:rPr>
              <a:t>e.g</a:t>
            </a:r>
            <a:r>
              <a:rPr lang="en-US" kern="0" dirty="0">
                <a:solidFill>
                  <a:srgbClr val="212529"/>
                </a:solidFill>
                <a:latin typeface="Arial" panose="020B0604020202020204" pitchFamily="34" charset="0"/>
                <a:ea typeface="Times New Roman" panose="02020603050405020304" pitchFamily="18" charset="0"/>
                <a:cs typeface="Times New Roman" panose="02020603050405020304" pitchFamily="18" charset="0"/>
              </a:rPr>
              <a:t> </a:t>
            </a:r>
            <a:r>
              <a:rPr lang="en-US" kern="0" dirty="0">
                <a:solidFill>
                  <a:srgbClr val="212529"/>
                </a:solidFill>
                <a:highlight>
                  <a:srgbClr val="FFFF00"/>
                </a:highlight>
                <a:latin typeface="Arial" panose="020B0604020202020204" pitchFamily="34" charset="0"/>
                <a:ea typeface="Times New Roman" panose="02020603050405020304" pitchFamily="18" charset="0"/>
                <a:cs typeface="Times New Roman" panose="02020603050405020304" pitchFamily="18" charset="0"/>
              </a:rPr>
              <a:t>J</a:t>
            </a:r>
            <a:r>
              <a:rPr lang="en-US" dirty="0">
                <a:highlight>
                  <a:srgbClr val="FFFF00"/>
                </a:highlight>
              </a:rPr>
              <a:t>eff Bezos of  Amazon gained the opportunity of internet growth and started an e-commerce business(Amazon).</a:t>
            </a:r>
            <a:endParaRPr lang="en-RW" sz="2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en-RW" sz="2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RW" dirty="0"/>
          </a:p>
        </p:txBody>
      </p:sp>
    </p:spTree>
    <p:extLst>
      <p:ext uri="{BB962C8B-B14F-4D97-AF65-F5344CB8AC3E}">
        <p14:creationId xmlns:p14="http://schemas.microsoft.com/office/powerpoint/2010/main" val="16273262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3CBE6-76ED-2A5D-5518-F0052A3868C0}"/>
              </a:ext>
            </a:extLst>
          </p:cNvPr>
          <p:cNvSpPr>
            <a:spLocks noGrp="1"/>
          </p:cNvSpPr>
          <p:nvPr>
            <p:ph type="title"/>
          </p:nvPr>
        </p:nvSpPr>
        <p:spPr/>
        <p:txBody>
          <a:bodyPr/>
          <a:lstStyle/>
          <a:p>
            <a:endParaRPr lang="en-RW" dirty="0"/>
          </a:p>
        </p:txBody>
      </p:sp>
      <p:sp>
        <p:nvSpPr>
          <p:cNvPr id="3" name="Content Placeholder 2">
            <a:extLst>
              <a:ext uri="{FF2B5EF4-FFF2-40B4-BE49-F238E27FC236}">
                <a16:creationId xmlns:a16="http://schemas.microsoft.com/office/drawing/2014/main" id="{40114750-E992-A6BC-38DD-5D5D3B9667A5}"/>
              </a:ext>
            </a:extLst>
          </p:cNvPr>
          <p:cNvSpPr>
            <a:spLocks noGrp="1"/>
          </p:cNvSpPr>
          <p:nvPr>
            <p:ph idx="1"/>
          </p:nvPr>
        </p:nvSpPr>
        <p:spPr>
          <a:xfrm>
            <a:off x="838200" y="1825624"/>
            <a:ext cx="10515600" cy="4915417"/>
          </a:xfrm>
        </p:spPr>
        <p:txBody>
          <a:bodyPr>
            <a:normAutofit fontScale="70000" lnSpcReduction="20000"/>
          </a:bodyPr>
          <a:lstStyle/>
          <a:p>
            <a:pPr>
              <a:lnSpc>
                <a:spcPct val="115000"/>
              </a:lnSpc>
              <a:spcAft>
                <a:spcPts val="800"/>
              </a:spcAft>
            </a:pPr>
            <a:r>
              <a:rPr lang="en-RW" sz="2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RW" sz="2800" b="1"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Innovators</a:t>
            </a:r>
            <a:endParaRPr lang="en-RW" sz="2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RW" sz="2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Innovators are the most formidable entrepreneurs as they can withstand the various tricky situations throughout their entrepreneurial journey. Also, their attitude is what differentiates them from most other entrepreneurs</a:t>
            </a:r>
            <a:endParaRPr lang="en-US" sz="2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endParaRPr>
          </a:p>
          <a:p>
            <a:r>
              <a:rPr lang="en-US" b="1" dirty="0">
                <a:solidFill>
                  <a:srgbClr val="FF0000"/>
                </a:solidFill>
              </a:rPr>
              <a:t>Olivier </a:t>
            </a:r>
            <a:r>
              <a:rPr lang="en-US" b="1" dirty="0" err="1">
                <a:solidFill>
                  <a:srgbClr val="FF0000"/>
                </a:solidFill>
              </a:rPr>
              <a:t>Mukiza</a:t>
            </a:r>
            <a:r>
              <a:rPr lang="en-US" b="1" dirty="0">
                <a:solidFill>
                  <a:srgbClr val="FF0000"/>
                </a:solidFill>
              </a:rPr>
              <a:t> – </a:t>
            </a:r>
            <a:r>
              <a:rPr lang="en-US" dirty="0">
                <a:solidFill>
                  <a:srgbClr val="FF0000"/>
                </a:solidFill>
              </a:rPr>
              <a:t>Founder of </a:t>
            </a:r>
            <a:r>
              <a:rPr lang="en-US" dirty="0" err="1">
                <a:solidFill>
                  <a:srgbClr val="FF0000"/>
                </a:solidFill>
              </a:rPr>
              <a:t>HeHe</a:t>
            </a:r>
            <a:r>
              <a:rPr lang="en-US" dirty="0">
                <a:solidFill>
                  <a:srgbClr val="FF0000"/>
                </a:solidFill>
              </a:rPr>
              <a:t> Limited, a leading software company in Rwanda that provides digital solutions for businesses, including mobile commerce and supply chain management.</a:t>
            </a:r>
          </a:p>
          <a:p>
            <a:pPr>
              <a:lnSpc>
                <a:spcPct val="115000"/>
              </a:lnSpc>
              <a:spcAft>
                <a:spcPts val="800"/>
              </a:spcAft>
            </a:pPr>
            <a:endParaRPr lang="en-RW" sz="2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RW" sz="2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RW" sz="2800" b="1"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Revolutionaries</a:t>
            </a:r>
            <a:endParaRPr lang="en-RW" sz="2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RW" sz="2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Revolutionaries refer to a unique style of entrepreneurship. Such entrepreneurs are more focused on making worldwide changes, such as addressing the urgent issues at hand—for example, climate change.</a:t>
            </a:r>
            <a:r>
              <a:rPr lang="en-US" sz="2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800" kern="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E.g</a:t>
            </a:r>
            <a:r>
              <a:rPr lang="en-US" sz="2800" kern="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dirty="0"/>
              <a:t>Elon Musk of Tesla &amp; SpaceX. He </a:t>
            </a:r>
            <a:r>
              <a:rPr lang="en-US" dirty="0" err="1"/>
              <a:t>revolutionalized</a:t>
            </a:r>
            <a:r>
              <a:rPr lang="en-US" dirty="0"/>
              <a:t> the automobile industry with electric vehicles(Tesla) and space exploration with </a:t>
            </a:r>
            <a:r>
              <a:rPr lang="en-US" dirty="0" err="1"/>
              <a:t>spaceX</a:t>
            </a:r>
            <a:r>
              <a:rPr lang="en-US" dirty="0"/>
              <a:t>.</a:t>
            </a:r>
            <a:endParaRPr lang="en-RW" sz="2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RW" dirty="0"/>
          </a:p>
        </p:txBody>
      </p:sp>
    </p:spTree>
    <p:extLst>
      <p:ext uri="{BB962C8B-B14F-4D97-AF65-F5344CB8AC3E}">
        <p14:creationId xmlns:p14="http://schemas.microsoft.com/office/powerpoint/2010/main" val="42124696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9AE9DB8D-04C3-6743-6660-DEF721C4C545}"/>
              </a:ext>
            </a:extLst>
          </p:cNvPr>
          <p:cNvSpPr>
            <a:spLocks noGrp="1"/>
          </p:cNvSpPr>
          <p:nvPr>
            <p:ph type="title"/>
          </p:nvPr>
        </p:nvSpPr>
        <p:spPr>
          <a:xfrm>
            <a:off x="1600200" y="152400"/>
            <a:ext cx="8915400" cy="838200"/>
          </a:xfrm>
        </p:spPr>
        <p:txBody>
          <a:bodyPr/>
          <a:lstStyle/>
          <a:p>
            <a:r>
              <a:rPr lang="en-US" altLang="en-US" sz="4000">
                <a:latin typeface="Times New Roman" panose="02020603050405020304" pitchFamily="18" charset="0"/>
                <a:cs typeface="Times New Roman" panose="02020603050405020304" pitchFamily="18" charset="0"/>
              </a:rPr>
              <a:t>Successful entrepreneur’s characteristics</a:t>
            </a:r>
          </a:p>
        </p:txBody>
      </p:sp>
      <p:sp>
        <p:nvSpPr>
          <p:cNvPr id="30723" name="Content Placeholder 2">
            <a:extLst>
              <a:ext uri="{FF2B5EF4-FFF2-40B4-BE49-F238E27FC236}">
                <a16:creationId xmlns:a16="http://schemas.microsoft.com/office/drawing/2014/main" id="{BE5B8729-452A-EE16-28F6-B633A001F0AE}"/>
              </a:ext>
            </a:extLst>
          </p:cNvPr>
          <p:cNvSpPr>
            <a:spLocks noGrp="1"/>
          </p:cNvSpPr>
          <p:nvPr>
            <p:ph idx="1"/>
          </p:nvPr>
        </p:nvSpPr>
        <p:spPr>
          <a:xfrm>
            <a:off x="1752600" y="990600"/>
            <a:ext cx="8763000" cy="5334000"/>
          </a:xfrm>
        </p:spPr>
        <p:txBody>
          <a:bodyPr>
            <a:normAutofit fontScale="92500" lnSpcReduction="10000"/>
          </a:bodyPr>
          <a:lstStyle/>
          <a:p>
            <a:pPr marL="0" indent="0" algn="just">
              <a:buNone/>
            </a:pPr>
            <a:r>
              <a:rPr lang="en-US" altLang="en-US" sz="2400" dirty="0">
                <a:latin typeface="Times New Roman" panose="02020603050405020304" pitchFamily="18" charset="0"/>
                <a:cs typeface="Times New Roman" panose="02020603050405020304" pitchFamily="18" charset="0"/>
              </a:rPr>
              <a:t>A successful entrepreneur embodies many skills, talents and characteristics that allow them to thrive.</a:t>
            </a:r>
          </a:p>
          <a:p>
            <a:pPr marL="0" indent="0" algn="just">
              <a:buNone/>
            </a:pPr>
            <a:r>
              <a:rPr lang="en-US" altLang="en-US" sz="2400" dirty="0">
                <a:latin typeface="Times New Roman" panose="02020603050405020304" pitchFamily="18" charset="0"/>
                <a:cs typeface="Times New Roman" panose="02020603050405020304" pitchFamily="18" charset="0"/>
              </a:rPr>
              <a:t>The following are the characteristics of successful entrepreneurs:</a:t>
            </a:r>
          </a:p>
          <a:p>
            <a:pPr marL="0" indent="0" algn="just">
              <a:buNone/>
            </a:pPr>
            <a:r>
              <a:rPr lang="en-US" altLang="en-US" sz="2400" dirty="0">
                <a:latin typeface="Times New Roman" panose="02020603050405020304" pitchFamily="18" charset="0"/>
                <a:cs typeface="Times New Roman" panose="02020603050405020304" pitchFamily="18" charset="0"/>
              </a:rPr>
              <a:t>1- Curiosity-Curious allows them to seek new opportunities</a:t>
            </a:r>
          </a:p>
          <a:p>
            <a:pPr marL="0" indent="0" algn="just">
              <a:buNone/>
            </a:pPr>
            <a:r>
              <a:rPr lang="en-US" altLang="en-US" sz="2400" dirty="0">
                <a:latin typeface="Times New Roman" panose="02020603050405020304" pitchFamily="18" charset="0"/>
                <a:cs typeface="Times New Roman" panose="02020603050405020304" pitchFamily="18" charset="0"/>
              </a:rPr>
              <a:t>2- Structural experimentation- pursuing opportunities and test them</a:t>
            </a:r>
          </a:p>
          <a:p>
            <a:pPr marL="0" indent="0" algn="just">
              <a:buNone/>
            </a:pPr>
            <a:r>
              <a:rPr lang="en-US" altLang="en-US" sz="2400" dirty="0">
                <a:latin typeface="Times New Roman" panose="02020603050405020304" pitchFamily="18" charset="0"/>
                <a:cs typeface="Times New Roman" panose="02020603050405020304" pitchFamily="18" charset="0"/>
              </a:rPr>
              <a:t>3- Adaptability- changes in opportunities and challenges</a:t>
            </a:r>
          </a:p>
          <a:p>
            <a:pPr marL="0" indent="0" algn="just">
              <a:buNone/>
            </a:pPr>
            <a:r>
              <a:rPr lang="en-US" altLang="en-US" sz="2400" dirty="0">
                <a:latin typeface="Times New Roman" panose="02020603050405020304" pitchFamily="18" charset="0"/>
                <a:cs typeface="Times New Roman" panose="02020603050405020304" pitchFamily="18" charset="0"/>
              </a:rPr>
              <a:t>4- Decisiveness- make </a:t>
            </a:r>
            <a:r>
              <a:rPr lang="en-US" altLang="en-US" sz="2400" dirty="0" smtClean="0">
                <a:latin typeface="Times New Roman" panose="02020603050405020304" pitchFamily="18" charset="0"/>
                <a:cs typeface="Times New Roman" panose="02020603050405020304" pitchFamily="18" charset="0"/>
              </a:rPr>
              <a:t>irrational (crazy) </a:t>
            </a:r>
            <a:r>
              <a:rPr lang="en-US" altLang="en-US" sz="2400" dirty="0">
                <a:latin typeface="Times New Roman" panose="02020603050405020304" pitchFamily="18" charset="0"/>
                <a:cs typeface="Times New Roman" panose="02020603050405020304" pitchFamily="18" charset="0"/>
              </a:rPr>
              <a:t>decisions</a:t>
            </a:r>
          </a:p>
          <a:p>
            <a:pPr marL="0" indent="0" algn="just">
              <a:buNone/>
            </a:pPr>
            <a:r>
              <a:rPr lang="en-US" altLang="en-US" sz="2400" dirty="0">
                <a:latin typeface="Times New Roman" panose="02020603050405020304" pitchFamily="18" charset="0"/>
                <a:cs typeface="Times New Roman" panose="02020603050405020304" pitchFamily="18" charset="0"/>
              </a:rPr>
              <a:t>5- Team building- create well-rounded teams</a:t>
            </a:r>
          </a:p>
          <a:p>
            <a:pPr marL="0" indent="0" algn="just">
              <a:buNone/>
            </a:pPr>
            <a:r>
              <a:rPr lang="en-US" altLang="en-US" sz="2400" dirty="0">
                <a:latin typeface="Times New Roman" panose="02020603050405020304" pitchFamily="18" charset="0"/>
                <a:cs typeface="Times New Roman" panose="02020603050405020304" pitchFamily="18" charset="0"/>
              </a:rPr>
              <a:t>6- Risk tolerance- take steps to minimize them</a:t>
            </a:r>
          </a:p>
          <a:p>
            <a:pPr marL="0" indent="0" algn="just">
              <a:buNone/>
            </a:pPr>
            <a:r>
              <a:rPr lang="en-US" altLang="en-US" sz="2400" dirty="0">
                <a:latin typeface="Times New Roman" panose="02020603050405020304" pitchFamily="18" charset="0"/>
                <a:cs typeface="Times New Roman" panose="02020603050405020304" pitchFamily="18" charset="0"/>
              </a:rPr>
              <a:t>7- Comfortable with failure- start-ups normally fail</a:t>
            </a:r>
          </a:p>
          <a:p>
            <a:pPr marL="0" indent="0" algn="just">
              <a:buNone/>
            </a:pPr>
            <a:r>
              <a:rPr lang="en-US" altLang="en-US" sz="2400" dirty="0">
                <a:latin typeface="Times New Roman" panose="02020603050405020304" pitchFamily="18" charset="0"/>
                <a:cs typeface="Times New Roman" panose="02020603050405020304" pitchFamily="18" charset="0"/>
              </a:rPr>
              <a:t>8- Persistence- don’t give up easily</a:t>
            </a:r>
          </a:p>
          <a:p>
            <a:pPr marL="0" indent="0" algn="just">
              <a:buNone/>
            </a:pPr>
            <a:r>
              <a:rPr lang="en-US" altLang="en-US" sz="2400" dirty="0">
                <a:latin typeface="Times New Roman" panose="02020603050405020304" pitchFamily="18" charset="0"/>
                <a:cs typeface="Times New Roman" panose="02020603050405020304" pitchFamily="18" charset="0"/>
              </a:rPr>
              <a:t>9- Innovation- improving existing products/services to meet changing needs of customers</a:t>
            </a:r>
          </a:p>
          <a:p>
            <a:pPr marL="0" indent="0" algn="just">
              <a:buNone/>
            </a:pPr>
            <a:r>
              <a:rPr lang="en-US" altLang="en-US" sz="2400" dirty="0">
                <a:latin typeface="Times New Roman" panose="02020603050405020304" pitchFamily="18" charset="0"/>
                <a:cs typeface="Times New Roman" panose="02020603050405020304" pitchFamily="18" charset="0"/>
              </a:rPr>
              <a:t>10- Long term focus- focus on start </a:t>
            </a:r>
            <a:r>
              <a:rPr lang="en-US" altLang="en-US" sz="2400" dirty="0" smtClean="0">
                <a:latin typeface="Times New Roman" panose="02020603050405020304" pitchFamily="18" charset="0"/>
                <a:cs typeface="Times New Roman" panose="02020603050405020304" pitchFamily="18" charset="0"/>
              </a:rPr>
              <a:t>to </a:t>
            </a:r>
            <a:r>
              <a:rPr lang="en-US" altLang="en-US" sz="2400" dirty="0">
                <a:latin typeface="Times New Roman" panose="02020603050405020304" pitchFamily="18" charset="0"/>
                <a:cs typeface="Times New Roman" panose="02020603050405020304" pitchFamily="18" charset="0"/>
              </a:rPr>
              <a:t>end to ensure long-term success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585</Words>
  <Application>Microsoft Office PowerPoint</Application>
  <PresentationFormat>Widescreen</PresentationFormat>
  <Paragraphs>37</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Arial</vt:lpstr>
      <vt:lpstr>Calibri</vt:lpstr>
      <vt:lpstr>Calibri Light</vt:lpstr>
      <vt:lpstr>Times New Roman</vt:lpstr>
      <vt:lpstr>Office Theme</vt:lpstr>
      <vt:lpstr>Lesson 4: Characteristics of  Successful Entrepreneurs</vt:lpstr>
      <vt:lpstr>Entrepreneurial style</vt:lpstr>
      <vt:lpstr>PowerPoint Presentation</vt:lpstr>
      <vt:lpstr>PowerPoint Presentation</vt:lpstr>
      <vt:lpstr>Successful entrepreneur’s characteristics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 Characteristics of  Successful Entrepreneurs</dc:title>
  <dc:creator>m&amp;n technology</dc:creator>
  <cp:lastModifiedBy>PC</cp:lastModifiedBy>
  <cp:revision>7</cp:revision>
  <dcterms:created xsi:type="dcterms:W3CDTF">2025-02-27T08:49:27Z</dcterms:created>
  <dcterms:modified xsi:type="dcterms:W3CDTF">2026-05-26T05:23:08Z</dcterms:modified>
</cp:coreProperties>
</file>