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92" r:id="rId2"/>
    <p:sldId id="534" r:id="rId3"/>
    <p:sldId id="505" r:id="rId4"/>
    <p:sldId id="506" r:id="rId5"/>
    <p:sldId id="535" r:id="rId6"/>
    <p:sldId id="536" r:id="rId7"/>
    <p:sldId id="537" r:id="rId8"/>
    <p:sldId id="538" r:id="rId9"/>
    <p:sldId id="539" r:id="rId10"/>
    <p:sldId id="542" r:id="rId11"/>
    <p:sldId id="540" r:id="rId12"/>
    <p:sldId id="541" r:id="rId13"/>
    <p:sldId id="493" r:id="rId14"/>
    <p:sldId id="543" r:id="rId15"/>
    <p:sldId id="507" r:id="rId16"/>
    <p:sldId id="508" r:id="rId17"/>
    <p:sldId id="509" r:id="rId18"/>
    <p:sldId id="494" r:id="rId19"/>
    <p:sldId id="510" r:id="rId20"/>
    <p:sldId id="544" r:id="rId21"/>
    <p:sldId id="546" r:id="rId22"/>
    <p:sldId id="551" r:id="rId23"/>
    <p:sldId id="545" r:id="rId24"/>
    <p:sldId id="553" r:id="rId25"/>
    <p:sldId id="511" r:id="rId26"/>
    <p:sldId id="554" r:id="rId27"/>
    <p:sldId id="555" r:id="rId28"/>
    <p:sldId id="556" r:id="rId29"/>
    <p:sldId id="557" r:id="rId30"/>
    <p:sldId id="495" r:id="rId31"/>
    <p:sldId id="514" r:id="rId32"/>
    <p:sldId id="46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2" autoAdjust="0"/>
    <p:restoredTop sz="94660"/>
  </p:normalViewPr>
  <p:slideViewPr>
    <p:cSldViewPr snapToGrid="0">
      <p:cViewPr varScale="1">
        <p:scale>
          <a:sx n="78" d="100"/>
          <a:sy n="78" d="100"/>
        </p:scale>
        <p:origin x="26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0122-A9E1-41C8-8A04-102D2F3D22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3CA05B-520E-409B-974D-051D5E39F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22E09C-9E3A-4648-9D1C-D350AC506BCB}"/>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46713337-3CAE-4676-953C-E580138EF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36DC79-DE60-41C2-8F04-9AF4B6639301}"/>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2770362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4943D-F18A-4BD8-A8CB-34ED8F7BE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482EFF-98DA-4367-9AF6-7154B034E9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820D93-BF5D-4D0C-8809-5A9B9678C62D}"/>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88F191E7-CA4F-46F5-8E73-A697E01A3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C676F-B9BD-43E1-9F4E-A62B5B219BB4}"/>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18587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0C78C-083F-462E-8C30-705E3C8573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B77F37-1C7E-466B-B61F-CC0362C97C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15A3DF-224F-4C15-A33D-FDE3CFE3431C}"/>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0C9BFC8C-C4BF-4DEE-A488-68704C793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3306F-56CD-4A88-973E-29A273A4B4D1}"/>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895024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64E3-6C36-429D-AE91-535BE2D8E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E9CA8F-01C9-4060-887A-B5DE3181C7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30F725-9462-48F3-B7A8-B777660310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F7551-8EA2-4128-A1F6-F764D1F43215}"/>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6" name="Footer Placeholder 5">
            <a:extLst>
              <a:ext uri="{FF2B5EF4-FFF2-40B4-BE49-F238E27FC236}">
                <a16:creationId xmlns:a16="http://schemas.microsoft.com/office/drawing/2014/main" id="{8E0F8FD3-62F8-4991-80AC-1976B281E3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1BB222-8405-400E-8259-1DC18FEA09C9}"/>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1210662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2E231-C69A-4C28-8E98-7F28C4BAD9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54EA62-3A4B-45D1-A870-FDC6A68BFC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DE543D-212D-41F7-B004-36FFAAD7EB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CC5BD3-95EC-43AE-B077-A77442333A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2BEAAC-7523-4EC6-B17E-53D08A5406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360AB8-1885-4BB8-8F56-8F7C4B8FC000}"/>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8" name="Footer Placeholder 7">
            <a:extLst>
              <a:ext uri="{FF2B5EF4-FFF2-40B4-BE49-F238E27FC236}">
                <a16:creationId xmlns:a16="http://schemas.microsoft.com/office/drawing/2014/main" id="{38CFFD11-D529-4496-8511-D7884CF1F4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668AC9-73A9-479B-B254-27071F006A29}"/>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1319938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3FF36-C03B-4E75-AC67-F18A49E2FC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5B2C33-5B81-410C-A50B-5E7325BCFEAE}"/>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4" name="Footer Placeholder 3">
            <a:extLst>
              <a:ext uri="{FF2B5EF4-FFF2-40B4-BE49-F238E27FC236}">
                <a16:creationId xmlns:a16="http://schemas.microsoft.com/office/drawing/2014/main" id="{F2C36DC9-94A3-4C07-80DF-3CC22D08E4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475376-ADA0-4C39-A538-558FB98470F4}"/>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188908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C56BDA-E788-4691-9221-5BADD8041419}"/>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3" name="Footer Placeholder 2">
            <a:extLst>
              <a:ext uri="{FF2B5EF4-FFF2-40B4-BE49-F238E27FC236}">
                <a16:creationId xmlns:a16="http://schemas.microsoft.com/office/drawing/2014/main" id="{AD12C695-A854-4539-A87E-F2394E6687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8F0659-AFBE-4390-B576-F4FFFC1E9977}"/>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676298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F7E0-E800-425C-B2B6-FA8D7FE46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7EE1A4-207B-4CFA-BD7F-843C270EF6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E6F0FC-CAD6-4BFA-92DD-E40118480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0BCFDB-4A8C-4E9C-BA1D-599361DDD29B}"/>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6" name="Footer Placeholder 5">
            <a:extLst>
              <a:ext uri="{FF2B5EF4-FFF2-40B4-BE49-F238E27FC236}">
                <a16:creationId xmlns:a16="http://schemas.microsoft.com/office/drawing/2014/main" id="{B3B917EB-F1E7-4FDE-8767-DEA563130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271798-D668-4712-B3D3-CC51C10DA83D}"/>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015104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907FB-AF61-44DA-803D-1BEC8838B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FD576A-B8CE-4475-80BB-31D4E04D9D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F81C0C-52BC-458C-9BEF-A35B01EB6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2CDE6-ED3F-4D48-BDFE-00CE16488022}"/>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6" name="Footer Placeholder 5">
            <a:extLst>
              <a:ext uri="{FF2B5EF4-FFF2-40B4-BE49-F238E27FC236}">
                <a16:creationId xmlns:a16="http://schemas.microsoft.com/office/drawing/2014/main" id="{C4F21AA3-28F0-49BB-83E4-944F5F641F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C710EF-04F3-470A-82B5-E734983918C8}"/>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744687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9D85-6B36-4DA1-9943-95BF330F30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E8D253-999C-4604-B95B-8FAED0F22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AB699-8BC3-4395-AC4A-BC5F737A6936}"/>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DE32FB02-F276-40EE-A70D-39B40E3123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E8A97E-D1F0-4707-AF79-7A82C5DFCFDC}"/>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3587851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E4A76F-8BE5-496B-B83B-85DDA0EDDA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302D61-A313-4972-9193-F2BBC3A141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C98B35-0B1E-4D06-B56E-414E80AB7580}"/>
              </a:ext>
            </a:extLst>
          </p:cNvPr>
          <p:cNvSpPr>
            <a:spLocks noGrp="1"/>
          </p:cNvSpPr>
          <p:nvPr>
            <p:ph type="dt" sz="half" idx="10"/>
          </p:nvPr>
        </p:nvSpPr>
        <p:spPr/>
        <p:txBody>
          <a:body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B1341366-9745-44F9-BD62-BE654F1B3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6F075-C566-49FD-A30B-DFA4F1F8899A}"/>
              </a:ext>
            </a:extLst>
          </p:cNvPr>
          <p:cNvSpPr>
            <a:spLocks noGrp="1"/>
          </p:cNvSpPr>
          <p:nvPr>
            <p:ph type="sldNum" sz="quarter" idx="12"/>
          </p:nvPr>
        </p:nvSpPr>
        <p:spPr/>
        <p:txBody>
          <a:bodyPr/>
          <a:lstStyle/>
          <a:p>
            <a:fld id="{4CA364B7-E5F5-46C8-BD98-DF3D9C7EC32A}" type="slidenum">
              <a:rPr lang="en-US" smtClean="0"/>
              <a:t>‹#›</a:t>
            </a:fld>
            <a:endParaRPr lang="en-US"/>
          </a:p>
        </p:txBody>
      </p:sp>
    </p:spTree>
    <p:extLst>
      <p:ext uri="{BB962C8B-B14F-4D97-AF65-F5344CB8AC3E}">
        <p14:creationId xmlns:p14="http://schemas.microsoft.com/office/powerpoint/2010/main" val="155299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5D6A36-B395-4656-BCC7-6E1711CF0B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8C5E25-8EED-47D5-BDE8-3B4B1BB191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38203E-9AAF-4375-8F94-4C4DC099E4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39FF28-550F-4173-99E4-5A4FB44F40C5}" type="datetimeFigureOut">
              <a:rPr lang="en-US" smtClean="0"/>
              <a:t>4/24/2025</a:t>
            </a:fld>
            <a:endParaRPr lang="en-US"/>
          </a:p>
        </p:txBody>
      </p:sp>
      <p:sp>
        <p:nvSpPr>
          <p:cNvPr id="5" name="Footer Placeholder 4">
            <a:extLst>
              <a:ext uri="{FF2B5EF4-FFF2-40B4-BE49-F238E27FC236}">
                <a16:creationId xmlns:a16="http://schemas.microsoft.com/office/drawing/2014/main" id="{5ADF838F-3CF0-423C-8F6A-7791F4BF14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0D2981-2C8F-4823-9494-A5A76A4891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364B7-E5F5-46C8-BD98-DF3D9C7EC32A}" type="slidenum">
              <a:rPr lang="en-US" smtClean="0"/>
              <a:t>‹#›</a:t>
            </a:fld>
            <a:endParaRPr lang="en-US"/>
          </a:p>
        </p:txBody>
      </p:sp>
    </p:spTree>
    <p:extLst>
      <p:ext uri="{BB962C8B-B14F-4D97-AF65-F5344CB8AC3E}">
        <p14:creationId xmlns:p14="http://schemas.microsoft.com/office/powerpoint/2010/main" val="3603242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PFEooFjjq6w&amp;list=PL4-WOrA-_ookd31x7MKJ4UEHoh9gph7iE" TargetMode="External"/><Relationship Id="rId2" Type="http://schemas.openxmlformats.org/officeDocument/2006/relationships/hyperlink" Target="https://www.youtube.com/watch?v=4nTh3AP6kn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uNsgcdq3X8&amp;list=PL4-WOrA-_oon9B-z0zbNL0jP7QenNIad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9E045E87-4851-E6D9-2326-48E340685865}"/>
              </a:ext>
            </a:extLst>
          </p:cNvPr>
          <p:cNvSpPr>
            <a:spLocks noGrp="1"/>
          </p:cNvSpPr>
          <p:nvPr>
            <p:ph type="title"/>
          </p:nvPr>
        </p:nvSpPr>
        <p:spPr>
          <a:xfrm>
            <a:off x="1981200" y="274638"/>
            <a:ext cx="8229600" cy="3001962"/>
          </a:xfrm>
        </p:spPr>
        <p:txBody>
          <a:bodyPr/>
          <a:lstStyle/>
          <a:p>
            <a:r>
              <a:rPr lang="en-US" altLang="en-US" sz="4000" b="1" dirty="0">
                <a:solidFill>
                  <a:srgbClr val="00B050"/>
                </a:solidFill>
                <a:latin typeface="Times New Roman" panose="02020603050405020304" pitchFamily="18" charset="0"/>
                <a:cs typeface="Times New Roman" panose="02020603050405020304" pitchFamily="18" charset="0"/>
              </a:rPr>
              <a:t>Lesson 6: Design Thinking for Customer Delight</a:t>
            </a:r>
            <a:br>
              <a:rPr lang="en-US" altLang="en-US" dirty="0"/>
            </a:br>
            <a:endParaRPr lang="en-US" altLang="en-US" dirty="0"/>
          </a:p>
        </p:txBody>
      </p:sp>
      <p:sp>
        <p:nvSpPr>
          <p:cNvPr id="3" name="Content Placeholder 2">
            <a:extLst>
              <a:ext uri="{FF2B5EF4-FFF2-40B4-BE49-F238E27FC236}">
                <a16:creationId xmlns:a16="http://schemas.microsoft.com/office/drawing/2014/main" id="{F6AE5E14-6ED8-3E33-ADDF-161DB83B121E}"/>
              </a:ext>
            </a:extLst>
          </p:cNvPr>
          <p:cNvSpPr>
            <a:spLocks noGrp="1"/>
          </p:cNvSpPr>
          <p:nvPr>
            <p:ph idx="1"/>
          </p:nvPr>
        </p:nvSpPr>
        <p:spPr>
          <a:xfrm>
            <a:off x="1981200" y="2819401"/>
            <a:ext cx="8229600" cy="3306763"/>
          </a:xfrm>
        </p:spPr>
        <p:txBody>
          <a:bodyPr/>
          <a:lstStyle/>
          <a:p>
            <a:pPr marL="0" indent="0">
              <a:buNone/>
              <a:defRPr/>
            </a:pPr>
            <a:r>
              <a:rPr lang="en-US" b="1" i="1" u="sng" dirty="0">
                <a:solidFill>
                  <a:srgbClr val="0070C0"/>
                </a:solidFill>
              </a:rPr>
              <a:t>Learning Objectives</a:t>
            </a:r>
            <a:r>
              <a:rPr lang="en-US" i="1" u="sng" dirty="0">
                <a:solidFill>
                  <a:srgbClr val="0070C0"/>
                </a:solidFill>
              </a:rPr>
              <a:t>:</a:t>
            </a:r>
            <a:r>
              <a:rPr lang="en-US" i="1" u="sng" dirty="0"/>
              <a:t> </a:t>
            </a:r>
          </a:p>
          <a:p>
            <a:pPr>
              <a:defRPr/>
            </a:pPr>
            <a:r>
              <a:rPr lang="en-US" dirty="0">
                <a:latin typeface="Times New Roman" panose="02020603050405020304" pitchFamily="18" charset="0"/>
                <a:cs typeface="Times New Roman" panose="02020603050405020304" pitchFamily="18" charset="0"/>
              </a:rPr>
              <a:t>Describe the Design Thinking process.</a:t>
            </a:r>
          </a:p>
          <a:p>
            <a:pPr>
              <a:defRPr/>
            </a:pPr>
            <a:r>
              <a:rPr lang="en-US" dirty="0">
                <a:latin typeface="Times New Roman" panose="02020603050405020304" pitchFamily="18" charset="0"/>
                <a:cs typeface="Times New Roman" panose="02020603050405020304" pitchFamily="18" charset="0"/>
              </a:rPr>
              <a:t>Understand Design Thinking as a problem-solving process.</a:t>
            </a:r>
          </a:p>
          <a:p>
            <a:pPr>
              <a:defRPr/>
            </a:pPr>
            <a:r>
              <a:rPr lang="en-US" dirty="0">
                <a:latin typeface="Times New Roman" panose="02020603050405020304" pitchFamily="18" charset="0"/>
                <a:cs typeface="Times New Roman" panose="02020603050405020304" pitchFamily="18" charset="0"/>
              </a:rPr>
              <a:t>Describe the principles of Design Thinking.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6744-3E08-EB07-B8D2-5E3BBE354E92}"/>
              </a:ext>
            </a:extLst>
          </p:cNvPr>
          <p:cNvSpPr>
            <a:spLocks noGrp="1"/>
          </p:cNvSpPr>
          <p:nvPr>
            <p:ph type="title"/>
          </p:nvPr>
        </p:nvSpPr>
        <p:spPr/>
        <p:txBody>
          <a:bodyPr/>
          <a:lstStyle/>
          <a:p>
            <a:endParaRPr lang="en-RW"/>
          </a:p>
        </p:txBody>
      </p:sp>
      <p:sp>
        <p:nvSpPr>
          <p:cNvPr id="3" name="Content Placeholder 2">
            <a:extLst>
              <a:ext uri="{FF2B5EF4-FFF2-40B4-BE49-F238E27FC236}">
                <a16:creationId xmlns:a16="http://schemas.microsoft.com/office/drawing/2014/main" id="{9CFEC85C-1253-06BB-653E-D035E295F2BC}"/>
              </a:ext>
            </a:extLst>
          </p:cNvPr>
          <p:cNvSpPr>
            <a:spLocks noGrp="1"/>
          </p:cNvSpPr>
          <p:nvPr>
            <p:ph idx="1"/>
          </p:nvPr>
        </p:nvSpPr>
        <p:spPr/>
        <p:txBody>
          <a:bodyPr/>
          <a:lstStyle/>
          <a:p>
            <a:r>
              <a:rPr lang="en-US" b="1" dirty="0">
                <a:highlight>
                  <a:srgbClr val="FFFF00"/>
                </a:highlight>
                <a:hlinkClick r:id="rId2"/>
              </a:rPr>
              <a:t>Summery video for design thinking</a:t>
            </a:r>
          </a:p>
          <a:p>
            <a:r>
              <a:rPr lang="en-US" dirty="0">
                <a:hlinkClick r:id="rId3"/>
              </a:rPr>
              <a:t>What is Design Thinking (</a:t>
            </a:r>
            <a:r>
              <a:rPr lang="en-US" dirty="0" err="1">
                <a:hlinkClick r:id="rId3"/>
              </a:rPr>
              <a:t>youtube.com</a:t>
            </a:r>
            <a:r>
              <a:rPr lang="en-US" dirty="0">
                <a:hlinkClick r:id="rId3"/>
              </a:rPr>
              <a:t>)</a:t>
            </a:r>
            <a:endParaRPr lang="en-US" dirty="0"/>
          </a:p>
          <a:p>
            <a:r>
              <a:rPr lang="en-US" b="1" dirty="0">
                <a:highlight>
                  <a:srgbClr val="FFFF00"/>
                </a:highlight>
                <a:hlinkClick r:id="rId2"/>
              </a:rPr>
              <a:t>Detailed video on design thinking:</a:t>
            </a:r>
          </a:p>
          <a:p>
            <a:r>
              <a:rPr lang="en-US" dirty="0">
                <a:hlinkClick r:id="rId2"/>
              </a:rPr>
              <a:t>Design Thinking Full Course | Design Thinking Process | Design Thinking For Beginners | Simplilearn (</a:t>
            </a:r>
            <a:r>
              <a:rPr lang="en-US" dirty="0" err="1">
                <a:hlinkClick r:id="rId2"/>
              </a:rPr>
              <a:t>youtube.com</a:t>
            </a:r>
            <a:r>
              <a:rPr lang="en-US" dirty="0">
                <a:hlinkClick r:id="rId2"/>
              </a:rPr>
              <a:t>)</a:t>
            </a:r>
            <a:endParaRPr lang="en-RW" dirty="0"/>
          </a:p>
        </p:txBody>
      </p:sp>
    </p:spTree>
    <p:extLst>
      <p:ext uri="{BB962C8B-B14F-4D97-AF65-F5344CB8AC3E}">
        <p14:creationId xmlns:p14="http://schemas.microsoft.com/office/powerpoint/2010/main" val="2094378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3751252A-9FF2-9398-0F0A-AAF018C41901}"/>
              </a:ext>
            </a:extLst>
          </p:cNvPr>
          <p:cNvSpPr>
            <a:spLocks noGrp="1"/>
          </p:cNvSpPr>
          <p:nvPr>
            <p:ph type="title"/>
          </p:nvPr>
        </p:nvSpPr>
        <p:spPr/>
        <p:txBody>
          <a:bodyPr/>
          <a:lstStyle/>
          <a:p>
            <a:r>
              <a:rPr lang="en-US" altLang="en-US" sz="4000">
                <a:latin typeface="Times New Roman" panose="02020603050405020304" pitchFamily="18" charset="0"/>
                <a:cs typeface="Times New Roman" panose="02020603050405020304" pitchFamily="18" charset="0"/>
              </a:rPr>
              <a:t>Meaning</a:t>
            </a:r>
            <a:endParaRPr lang="en-US" altLang="en-US" sz="4000"/>
          </a:p>
        </p:txBody>
      </p:sp>
      <p:sp>
        <p:nvSpPr>
          <p:cNvPr id="36867" name="Content Placeholder 2">
            <a:extLst>
              <a:ext uri="{FF2B5EF4-FFF2-40B4-BE49-F238E27FC236}">
                <a16:creationId xmlns:a16="http://schemas.microsoft.com/office/drawing/2014/main" id="{F15CAFCD-DF1F-1DD7-7E45-94CAC0781D5D}"/>
              </a:ext>
            </a:extLst>
          </p:cNvPr>
          <p:cNvSpPr>
            <a:spLocks noGrp="1"/>
          </p:cNvSpPr>
          <p:nvPr>
            <p:ph idx="1"/>
          </p:nvPr>
        </p:nvSpPr>
        <p:spPr/>
        <p:txBody>
          <a:bodyPr/>
          <a:lstStyle/>
          <a:p>
            <a:pPr algn="just"/>
            <a:r>
              <a:rPr lang="en-US" altLang="en-US" b="1" dirty="0">
                <a:latin typeface="Times New Roman" panose="02020603050405020304" pitchFamily="18" charset="0"/>
                <a:cs typeface="Times New Roman" panose="02020603050405020304" pitchFamily="18" charset="0"/>
              </a:rPr>
              <a:t>Design thinking </a:t>
            </a:r>
            <a:r>
              <a:rPr lang="en-US" altLang="en-US" dirty="0">
                <a:latin typeface="Times New Roman" panose="02020603050405020304" pitchFamily="18" charset="0"/>
                <a:cs typeface="Times New Roman" panose="02020603050405020304" pitchFamily="18" charset="0"/>
              </a:rPr>
              <a:t>is the process that you can apply to solve a problem that people face or to create what people want or need, it can also be used to redesign or improve the process</a:t>
            </a:r>
          </a:p>
          <a:p>
            <a:pPr algn="just"/>
            <a:endParaRPr lang="en-US" altLang="en-US" dirty="0">
              <a:latin typeface="Times New Roman" panose="02020603050405020304" pitchFamily="18" charset="0"/>
              <a:cs typeface="Times New Roman" panose="02020603050405020304" pitchFamily="18" charset="0"/>
            </a:endParaRPr>
          </a:p>
          <a:p>
            <a:pPr algn="just"/>
            <a:r>
              <a:rPr lang="en-US" altLang="en-US" b="1" dirty="0">
                <a:latin typeface="Times New Roman" panose="02020603050405020304" pitchFamily="18" charset="0"/>
                <a:cs typeface="Times New Roman" panose="02020603050405020304" pitchFamily="18" charset="0"/>
              </a:rPr>
              <a:t>Customer delight </a:t>
            </a:r>
            <a:r>
              <a:rPr lang="en-US" altLang="en-US" dirty="0">
                <a:latin typeface="Times New Roman" panose="02020603050405020304" pitchFamily="18" charset="0"/>
                <a:cs typeface="Times New Roman" panose="02020603050405020304" pitchFamily="18" charset="0"/>
              </a:rPr>
              <a:t>is a way of letting your customers to be with positive emotions about your products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5AF908AE-E914-8208-5573-96A1E2907AC3}"/>
              </a:ext>
            </a:extLst>
          </p:cNvPr>
          <p:cNvSpPr>
            <a:spLocks noGrp="1"/>
          </p:cNvSpPr>
          <p:nvPr>
            <p:ph type="title"/>
          </p:nvPr>
        </p:nvSpPr>
        <p:spPr>
          <a:xfrm>
            <a:off x="1752600" y="704850"/>
            <a:ext cx="8763000" cy="666750"/>
          </a:xfrm>
        </p:spPr>
        <p:txBody>
          <a:bodyPr/>
          <a:lstStyle/>
          <a:p>
            <a:r>
              <a:rPr lang="en-US" altLang="en-US" sz="4000" b="1">
                <a:latin typeface="Times New Roman" panose="02020603050405020304" pitchFamily="18" charset="0"/>
                <a:cs typeface="Times New Roman" panose="02020603050405020304" pitchFamily="18" charset="0"/>
              </a:rPr>
              <a:t>Describe the Design Thinking process</a:t>
            </a:r>
            <a:endParaRPr lang="en-US" altLang="en-US" sz="4000" b="1"/>
          </a:p>
        </p:txBody>
      </p:sp>
      <p:sp>
        <p:nvSpPr>
          <p:cNvPr id="37891" name="Content Placeholder 2">
            <a:extLst>
              <a:ext uri="{FF2B5EF4-FFF2-40B4-BE49-F238E27FC236}">
                <a16:creationId xmlns:a16="http://schemas.microsoft.com/office/drawing/2014/main" id="{2E68BF0F-00FB-49C5-9F5C-E918EE29DF59}"/>
              </a:ext>
            </a:extLst>
          </p:cNvPr>
          <p:cNvSpPr>
            <a:spLocks noGrp="1"/>
          </p:cNvSpPr>
          <p:nvPr>
            <p:ph idx="1"/>
          </p:nvPr>
        </p:nvSpPr>
        <p:spPr/>
        <p:txBody>
          <a:bodyPr/>
          <a:lstStyle/>
          <a:p>
            <a:pPr marL="0" indent="0" algn="just">
              <a:buNone/>
            </a:pPr>
            <a:r>
              <a:rPr lang="en-US" altLang="en-US" b="1">
                <a:latin typeface="Times New Roman" panose="02020603050405020304" pitchFamily="18" charset="0"/>
                <a:cs typeface="Times New Roman" panose="02020603050405020304" pitchFamily="18" charset="0"/>
              </a:rPr>
              <a:t>Step 1- Empathy mode- </a:t>
            </a:r>
            <a:r>
              <a:rPr lang="en-US" altLang="en-US">
                <a:latin typeface="Times New Roman" panose="02020603050405020304" pitchFamily="18" charset="0"/>
                <a:cs typeface="Times New Roman" panose="02020603050405020304" pitchFamily="18" charset="0"/>
              </a:rPr>
              <a:t>understanding the user’s needs</a:t>
            </a:r>
          </a:p>
          <a:p>
            <a:pPr marL="0" indent="0" algn="just">
              <a:buNone/>
            </a:pPr>
            <a:r>
              <a:rPr lang="en-US" altLang="en-US" b="1">
                <a:latin typeface="Times New Roman" panose="02020603050405020304" pitchFamily="18" charset="0"/>
                <a:cs typeface="Times New Roman" panose="02020603050405020304" pitchFamily="18" charset="0"/>
              </a:rPr>
              <a:t>Step 2- Define mode- </a:t>
            </a:r>
            <a:r>
              <a:rPr lang="en-US" altLang="en-US">
                <a:latin typeface="Times New Roman" panose="02020603050405020304" pitchFamily="18" charset="0"/>
                <a:cs typeface="Times New Roman" panose="02020603050405020304" pitchFamily="18" charset="0"/>
              </a:rPr>
              <a:t>spend time on the information you collected from step 1</a:t>
            </a:r>
          </a:p>
          <a:p>
            <a:pPr marL="0" indent="0" algn="just">
              <a:buNone/>
            </a:pPr>
            <a:r>
              <a:rPr lang="en-US" altLang="en-US" b="1">
                <a:latin typeface="Times New Roman" panose="02020603050405020304" pitchFamily="18" charset="0"/>
                <a:cs typeface="Times New Roman" panose="02020603050405020304" pitchFamily="18" charset="0"/>
              </a:rPr>
              <a:t>Step 3- Ideate mode- </a:t>
            </a:r>
            <a:r>
              <a:rPr lang="en-US" altLang="en-US">
                <a:latin typeface="Times New Roman" panose="02020603050405020304" pitchFamily="18" charset="0"/>
                <a:cs typeface="Times New Roman" panose="02020603050405020304" pitchFamily="18" charset="0"/>
              </a:rPr>
              <a:t>generate ideas in sessions</a:t>
            </a:r>
          </a:p>
          <a:p>
            <a:pPr marL="0" indent="0" algn="just">
              <a:buNone/>
            </a:pPr>
            <a:r>
              <a:rPr lang="en-US" altLang="en-US" b="1">
                <a:latin typeface="Times New Roman" panose="02020603050405020304" pitchFamily="18" charset="0"/>
                <a:cs typeface="Times New Roman" panose="02020603050405020304" pitchFamily="18" charset="0"/>
              </a:rPr>
              <a:t>Step 4- Prototype mode- </a:t>
            </a:r>
            <a:r>
              <a:rPr lang="en-US" altLang="en-US">
                <a:latin typeface="Times New Roman" panose="02020603050405020304" pitchFamily="18" charset="0"/>
                <a:cs typeface="Times New Roman" panose="02020603050405020304" pitchFamily="18" charset="0"/>
              </a:rPr>
              <a:t>simple experimentation to test and validate ideas, design assumptions, and other aspects</a:t>
            </a:r>
          </a:p>
          <a:p>
            <a:pPr marL="0" indent="0" algn="just">
              <a:buNone/>
            </a:pPr>
            <a:r>
              <a:rPr lang="en-US" altLang="en-US" b="1">
                <a:latin typeface="Times New Roman" panose="02020603050405020304" pitchFamily="18" charset="0"/>
                <a:cs typeface="Times New Roman" panose="02020603050405020304" pitchFamily="18" charset="0"/>
              </a:rPr>
              <a:t>Step 5- Testing and evaluating mode-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32AE-9290-4EA8-AEB3-AE002B2DA416}"/>
              </a:ext>
            </a:extLst>
          </p:cNvPr>
          <p:cNvSpPr>
            <a:spLocks noGrp="1"/>
          </p:cNvSpPr>
          <p:nvPr>
            <p:ph type="title"/>
          </p:nvPr>
        </p:nvSpPr>
        <p:spPr/>
        <p:txBody>
          <a:bodyPr/>
          <a:lstStyle/>
          <a:p>
            <a:r>
              <a:rPr lang="en-US" b="1" dirty="0"/>
              <a:t>1. Empathize – Understanding User Needs</a:t>
            </a:r>
            <a:br>
              <a:rPr lang="en-US" b="1" dirty="0"/>
            </a:br>
            <a:endParaRPr lang="en-US" dirty="0"/>
          </a:p>
        </p:txBody>
      </p:sp>
      <p:sp>
        <p:nvSpPr>
          <p:cNvPr id="3" name="Content Placeholder 2">
            <a:extLst>
              <a:ext uri="{FF2B5EF4-FFF2-40B4-BE49-F238E27FC236}">
                <a16:creationId xmlns:a16="http://schemas.microsoft.com/office/drawing/2014/main" id="{4580F57A-279F-44EB-82C6-39CBF925C675}"/>
              </a:ext>
            </a:extLst>
          </p:cNvPr>
          <p:cNvSpPr>
            <a:spLocks noGrp="1"/>
          </p:cNvSpPr>
          <p:nvPr>
            <p:ph idx="1"/>
          </p:nvPr>
        </p:nvSpPr>
        <p:spPr>
          <a:xfrm>
            <a:off x="518984" y="1210962"/>
            <a:ext cx="10834816" cy="5281913"/>
          </a:xfrm>
        </p:spPr>
        <p:txBody>
          <a:bodyPr>
            <a:normAutofit fontScale="92500"/>
          </a:bodyPr>
          <a:lstStyle/>
          <a:p>
            <a:r>
              <a:rPr lang="en-US" dirty="0"/>
              <a:t>Develop a deep understanding of the users, their experiences, and their problems.</a:t>
            </a:r>
          </a:p>
          <a:p>
            <a:r>
              <a:rPr lang="en-US" b="1" dirty="0"/>
              <a:t>Methods:</a:t>
            </a:r>
          </a:p>
          <a:p>
            <a:r>
              <a:rPr lang="en-US" dirty="0"/>
              <a:t>Conduct user interviews to gather firsthand experiences.</a:t>
            </a:r>
          </a:p>
          <a:p>
            <a:r>
              <a:rPr lang="en-US" dirty="0"/>
              <a:t>Observe users in their natural environment to understand their behaviors.</a:t>
            </a:r>
          </a:p>
          <a:p>
            <a:r>
              <a:rPr lang="en-US" dirty="0"/>
              <a:t>Use surveys and questionnaires to collect broader feedback.</a:t>
            </a:r>
          </a:p>
          <a:p>
            <a:r>
              <a:rPr lang="en-US" dirty="0"/>
              <a:t>Create empathy maps to visualize user pain points and motivations.</a:t>
            </a:r>
          </a:p>
          <a:p>
            <a:r>
              <a:rPr lang="en-US" b="1" dirty="0"/>
              <a:t>Example:</a:t>
            </a:r>
          </a:p>
          <a:p>
            <a:r>
              <a:rPr lang="en-US" b="1" dirty="0"/>
              <a:t>Healthcare (Telemedicine App Design)</a:t>
            </a:r>
            <a:r>
              <a:rPr lang="en-US" dirty="0"/>
              <a:t> – A team developing a telemedicine app interviews elderly patients to understand their struggles with technology. They observe that many seniors have difficulty navigating complex app interfaces and remembering passwords</a:t>
            </a:r>
          </a:p>
          <a:p>
            <a:endParaRPr lang="en-US" dirty="0"/>
          </a:p>
        </p:txBody>
      </p:sp>
    </p:spTree>
    <p:extLst>
      <p:ext uri="{BB962C8B-B14F-4D97-AF65-F5344CB8AC3E}">
        <p14:creationId xmlns:p14="http://schemas.microsoft.com/office/powerpoint/2010/main" val="2887002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A0D16-3EBC-481C-89C4-6988F5F4C357}"/>
              </a:ext>
            </a:extLst>
          </p:cNvPr>
          <p:cNvSpPr>
            <a:spLocks noGrp="1"/>
          </p:cNvSpPr>
          <p:nvPr>
            <p:ph type="title"/>
          </p:nvPr>
        </p:nvSpPr>
        <p:spPr>
          <a:xfrm>
            <a:off x="838200" y="333632"/>
            <a:ext cx="10515600" cy="716691"/>
          </a:xfrm>
        </p:spPr>
        <p:txBody>
          <a:bodyPr>
            <a:normAutofit fontScale="90000"/>
          </a:bodyPr>
          <a:lstStyle/>
          <a:p>
            <a:br>
              <a:rPr lang="en-US" sz="3200" b="1" dirty="0"/>
            </a:br>
            <a:r>
              <a:rPr lang="en-US" sz="3200" b="1" dirty="0"/>
              <a:t>2. Define – Identifying the Core Problem</a:t>
            </a:r>
            <a:br>
              <a:rPr lang="en-US" sz="3200" b="1" dirty="0"/>
            </a:br>
            <a:endParaRPr lang="en-US" sz="3200" dirty="0"/>
          </a:p>
        </p:txBody>
      </p:sp>
      <p:sp>
        <p:nvSpPr>
          <p:cNvPr id="3" name="Content Placeholder 2">
            <a:extLst>
              <a:ext uri="{FF2B5EF4-FFF2-40B4-BE49-F238E27FC236}">
                <a16:creationId xmlns:a16="http://schemas.microsoft.com/office/drawing/2014/main" id="{BCEC6269-5F77-43BE-9E06-AFEFD8AAE032}"/>
              </a:ext>
            </a:extLst>
          </p:cNvPr>
          <p:cNvSpPr>
            <a:spLocks noGrp="1"/>
          </p:cNvSpPr>
          <p:nvPr>
            <p:ph idx="1"/>
          </p:nvPr>
        </p:nvSpPr>
        <p:spPr>
          <a:xfrm>
            <a:off x="420130" y="1050323"/>
            <a:ext cx="10933670" cy="5126640"/>
          </a:xfrm>
        </p:spPr>
        <p:txBody>
          <a:bodyPr>
            <a:normAutofit fontScale="92500" lnSpcReduction="10000"/>
          </a:bodyPr>
          <a:lstStyle/>
          <a:p>
            <a:r>
              <a:rPr lang="en-US" dirty="0"/>
              <a:t>Synthesize user research insights into a clear, well-defined problem statement.</a:t>
            </a:r>
          </a:p>
          <a:p>
            <a:r>
              <a:rPr lang="en-US" b="1" dirty="0"/>
              <a:t>Methods:</a:t>
            </a:r>
          </a:p>
          <a:p>
            <a:r>
              <a:rPr lang="en-US" dirty="0"/>
              <a:t>Identify patterns and pain points from the empathize phase.</a:t>
            </a:r>
          </a:p>
          <a:p>
            <a:r>
              <a:rPr lang="en-US" dirty="0"/>
              <a:t>Use point-of-view (</a:t>
            </a:r>
            <a:r>
              <a:rPr lang="en-US" dirty="0" err="1"/>
              <a:t>POV</a:t>
            </a:r>
            <a:r>
              <a:rPr lang="en-US" dirty="0"/>
              <a:t>) statements to frame problems from the user’s perspective.</a:t>
            </a:r>
          </a:p>
          <a:p>
            <a:r>
              <a:rPr lang="en-US" dirty="0"/>
              <a:t>Develop problem statements that focus on user needs.</a:t>
            </a:r>
          </a:p>
          <a:p>
            <a:r>
              <a:rPr lang="en-US" b="1" dirty="0"/>
              <a:t>Example:</a:t>
            </a:r>
          </a:p>
          <a:p>
            <a:r>
              <a:rPr lang="en-US" b="1" dirty="0"/>
              <a:t>E-Commerce</a:t>
            </a:r>
            <a:r>
              <a:rPr lang="en-US" dirty="0"/>
              <a:t> – An online store notices that customers abandon their shopping carts at the payment stage. After analyzing feedback, they define the problem as:</a:t>
            </a:r>
            <a:br>
              <a:rPr lang="en-US" dirty="0"/>
            </a:br>
            <a:r>
              <a:rPr lang="en-US" i="1" dirty="0"/>
              <a:t>"Customers find the checkout process confusing and are unsure about hidden fees, leading to abandoned carts."</a:t>
            </a:r>
            <a:endParaRPr lang="en-US" dirty="0"/>
          </a:p>
          <a:p>
            <a:endParaRPr lang="en-US" dirty="0"/>
          </a:p>
        </p:txBody>
      </p:sp>
    </p:spTree>
    <p:extLst>
      <p:ext uri="{BB962C8B-B14F-4D97-AF65-F5344CB8AC3E}">
        <p14:creationId xmlns:p14="http://schemas.microsoft.com/office/powerpoint/2010/main" val="2433741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60501-09E0-4255-995B-D1C1A5016E9A}"/>
              </a:ext>
            </a:extLst>
          </p:cNvPr>
          <p:cNvSpPr>
            <a:spLocks noGrp="1"/>
          </p:cNvSpPr>
          <p:nvPr>
            <p:ph type="title"/>
          </p:nvPr>
        </p:nvSpPr>
        <p:spPr>
          <a:xfrm>
            <a:off x="838200" y="365125"/>
            <a:ext cx="10515600" cy="512205"/>
          </a:xfrm>
        </p:spPr>
        <p:txBody>
          <a:bodyPr>
            <a:noAutofit/>
          </a:bodyPr>
          <a:lstStyle/>
          <a:p>
            <a:br>
              <a:rPr lang="en-US" sz="3200" b="1" dirty="0"/>
            </a:br>
            <a:r>
              <a:rPr lang="en-US" sz="3200" b="1" dirty="0"/>
              <a:t>3. Ideate – Generating Creative Solutions</a:t>
            </a:r>
            <a:br>
              <a:rPr lang="en-US" sz="3200" b="1" dirty="0"/>
            </a:br>
            <a:endParaRPr lang="en-US" sz="3200" dirty="0"/>
          </a:p>
        </p:txBody>
      </p:sp>
      <p:sp>
        <p:nvSpPr>
          <p:cNvPr id="3" name="Content Placeholder 2">
            <a:extLst>
              <a:ext uri="{FF2B5EF4-FFF2-40B4-BE49-F238E27FC236}">
                <a16:creationId xmlns:a16="http://schemas.microsoft.com/office/drawing/2014/main" id="{235E7509-649C-4FC5-912D-8E946DB3D0C8}"/>
              </a:ext>
            </a:extLst>
          </p:cNvPr>
          <p:cNvSpPr>
            <a:spLocks noGrp="1"/>
          </p:cNvSpPr>
          <p:nvPr>
            <p:ph idx="1"/>
          </p:nvPr>
        </p:nvSpPr>
        <p:spPr>
          <a:xfrm>
            <a:off x="838200" y="1037968"/>
            <a:ext cx="10515600" cy="5138995"/>
          </a:xfrm>
        </p:spPr>
        <p:txBody>
          <a:bodyPr>
            <a:normAutofit/>
          </a:bodyPr>
          <a:lstStyle/>
          <a:p>
            <a:r>
              <a:rPr lang="en-US" dirty="0"/>
              <a:t>Brainstorm multiple innovative solutions without judgment.</a:t>
            </a:r>
          </a:p>
          <a:p>
            <a:r>
              <a:rPr lang="en-US" b="1" dirty="0"/>
              <a:t>Methods:</a:t>
            </a:r>
          </a:p>
          <a:p>
            <a:r>
              <a:rPr lang="en-US" dirty="0"/>
              <a:t>Brainstorming sessions to generate as many ideas as possible.</a:t>
            </a:r>
          </a:p>
          <a:p>
            <a:r>
              <a:rPr lang="en-US" dirty="0"/>
              <a:t>Mind mapping to visually organize ideas.</a:t>
            </a:r>
          </a:p>
          <a:p>
            <a:r>
              <a:rPr lang="en-US" dirty="0"/>
              <a:t>SCAMPER technique (Substitute, Combine, Adapt, Modify, Put to another use, Eliminate, Reverse) to rethink existing solutions.</a:t>
            </a:r>
          </a:p>
          <a:p>
            <a:r>
              <a:rPr lang="en-US" b="1" dirty="0"/>
              <a:t>Example:</a:t>
            </a:r>
          </a:p>
          <a:p>
            <a:r>
              <a:rPr lang="en-US" b="1" dirty="0"/>
              <a:t>Automobile Industry </a:t>
            </a:r>
            <a:r>
              <a:rPr lang="en-US" dirty="0"/>
              <a:t>– A car manufacturer wants to improve driver safety. In brainstorming sessions, designers propose </a:t>
            </a:r>
            <a:r>
              <a:rPr lang="en-US" dirty="0">
                <a:solidFill>
                  <a:srgbClr val="FF0000"/>
                </a:solidFill>
              </a:rPr>
              <a:t>ideas like AI-powered collision alerts, auto-braking systems, and driver fatigue detection using eye-tracking cameras.</a:t>
            </a:r>
          </a:p>
          <a:p>
            <a:endParaRPr lang="en-US" dirty="0"/>
          </a:p>
        </p:txBody>
      </p:sp>
    </p:spTree>
    <p:extLst>
      <p:ext uri="{BB962C8B-B14F-4D97-AF65-F5344CB8AC3E}">
        <p14:creationId xmlns:p14="http://schemas.microsoft.com/office/powerpoint/2010/main" val="125211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9753E-0362-40E1-A923-2AD3392AFA28}"/>
              </a:ext>
            </a:extLst>
          </p:cNvPr>
          <p:cNvSpPr>
            <a:spLocks noGrp="1"/>
          </p:cNvSpPr>
          <p:nvPr>
            <p:ph type="title"/>
          </p:nvPr>
        </p:nvSpPr>
        <p:spPr/>
        <p:txBody>
          <a:bodyPr/>
          <a:lstStyle/>
          <a:p>
            <a:r>
              <a:rPr lang="en-US" b="1" dirty="0"/>
              <a:t>4. Prototype – Creating Tangible Solutions</a:t>
            </a:r>
            <a:br>
              <a:rPr lang="en-US" b="1" dirty="0"/>
            </a:br>
            <a:endParaRPr lang="en-US" dirty="0"/>
          </a:p>
        </p:txBody>
      </p:sp>
      <p:sp>
        <p:nvSpPr>
          <p:cNvPr id="3" name="Content Placeholder 2">
            <a:extLst>
              <a:ext uri="{FF2B5EF4-FFF2-40B4-BE49-F238E27FC236}">
                <a16:creationId xmlns:a16="http://schemas.microsoft.com/office/drawing/2014/main" id="{05B46B7F-7A94-432F-A7DA-582ED4772415}"/>
              </a:ext>
            </a:extLst>
          </p:cNvPr>
          <p:cNvSpPr>
            <a:spLocks noGrp="1"/>
          </p:cNvSpPr>
          <p:nvPr>
            <p:ph idx="1"/>
          </p:nvPr>
        </p:nvSpPr>
        <p:spPr>
          <a:xfrm>
            <a:off x="838200" y="1297459"/>
            <a:ext cx="10515600" cy="4879504"/>
          </a:xfrm>
        </p:spPr>
        <p:txBody>
          <a:bodyPr>
            <a:normAutofit/>
          </a:bodyPr>
          <a:lstStyle/>
          <a:p>
            <a:r>
              <a:rPr lang="en-US" dirty="0"/>
              <a:t>Develop low-cost, simple models of potential solutions to test ideas quickly.</a:t>
            </a:r>
          </a:p>
          <a:p>
            <a:pPr marL="0" indent="0">
              <a:buNone/>
            </a:pPr>
            <a:r>
              <a:rPr lang="en-US" b="1" dirty="0"/>
              <a:t>Methods:</a:t>
            </a:r>
          </a:p>
          <a:p>
            <a:r>
              <a:rPr lang="en-US" dirty="0"/>
              <a:t>Paper sketches and wireframes for digital products.</a:t>
            </a:r>
          </a:p>
          <a:p>
            <a:r>
              <a:rPr lang="en-US" dirty="0"/>
              <a:t>Mockups and models for physical products.</a:t>
            </a:r>
          </a:p>
          <a:p>
            <a:r>
              <a:rPr lang="en-US" dirty="0"/>
              <a:t>Role-playing to simulate user experiences.</a:t>
            </a:r>
          </a:p>
          <a:p>
            <a:r>
              <a:rPr lang="en-US" b="1" dirty="0"/>
              <a:t>Example:</a:t>
            </a:r>
          </a:p>
          <a:p>
            <a:r>
              <a:rPr lang="en-US" b="1" dirty="0"/>
              <a:t>Education Technology</a:t>
            </a:r>
            <a:r>
              <a:rPr lang="en-US" dirty="0"/>
              <a:t> – A team designing an interactive learning app creates a clickable prototype using </a:t>
            </a:r>
            <a:r>
              <a:rPr lang="en-US" dirty="0" err="1"/>
              <a:t>Figma</a:t>
            </a:r>
            <a:r>
              <a:rPr lang="en-US" dirty="0"/>
              <a:t>. They test different layouts and navigation flows before developing the full version.</a:t>
            </a:r>
          </a:p>
          <a:p>
            <a:endParaRPr lang="en-US" dirty="0"/>
          </a:p>
        </p:txBody>
      </p:sp>
    </p:spTree>
    <p:extLst>
      <p:ext uri="{BB962C8B-B14F-4D97-AF65-F5344CB8AC3E}">
        <p14:creationId xmlns:p14="http://schemas.microsoft.com/office/powerpoint/2010/main" val="80988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5B064-CD01-4040-958C-80C903E25C7A}"/>
              </a:ext>
            </a:extLst>
          </p:cNvPr>
          <p:cNvSpPr>
            <a:spLocks noGrp="1"/>
          </p:cNvSpPr>
          <p:nvPr>
            <p:ph type="title"/>
          </p:nvPr>
        </p:nvSpPr>
        <p:spPr/>
        <p:txBody>
          <a:bodyPr/>
          <a:lstStyle/>
          <a:p>
            <a:r>
              <a:rPr lang="en-US" b="1" dirty="0"/>
              <a:t>5. Test – Refining Through User Feedback</a:t>
            </a:r>
            <a:br>
              <a:rPr lang="en-US" b="1" dirty="0"/>
            </a:br>
            <a:endParaRPr lang="en-US" dirty="0"/>
          </a:p>
        </p:txBody>
      </p:sp>
      <p:sp>
        <p:nvSpPr>
          <p:cNvPr id="3" name="Content Placeholder 2">
            <a:extLst>
              <a:ext uri="{FF2B5EF4-FFF2-40B4-BE49-F238E27FC236}">
                <a16:creationId xmlns:a16="http://schemas.microsoft.com/office/drawing/2014/main" id="{DF1EABF1-ECD3-41E6-8450-D814135CCDF3}"/>
              </a:ext>
            </a:extLst>
          </p:cNvPr>
          <p:cNvSpPr>
            <a:spLocks noGrp="1"/>
          </p:cNvSpPr>
          <p:nvPr>
            <p:ph idx="1"/>
          </p:nvPr>
        </p:nvSpPr>
        <p:spPr>
          <a:xfrm>
            <a:off x="838200" y="1210962"/>
            <a:ext cx="10515600" cy="4966001"/>
          </a:xfrm>
        </p:spPr>
        <p:txBody>
          <a:bodyPr>
            <a:normAutofit/>
          </a:bodyPr>
          <a:lstStyle/>
          <a:p>
            <a:r>
              <a:rPr lang="en-US" dirty="0"/>
              <a:t>Validate and refine solutions based on real user feedback.</a:t>
            </a:r>
          </a:p>
          <a:p>
            <a:r>
              <a:rPr lang="en-US" b="1" dirty="0"/>
              <a:t>Methods:</a:t>
            </a:r>
          </a:p>
          <a:p>
            <a:r>
              <a:rPr lang="en-US" dirty="0"/>
              <a:t>Conduct usability testing with real users.</a:t>
            </a:r>
          </a:p>
          <a:p>
            <a:r>
              <a:rPr lang="en-US" dirty="0"/>
              <a:t>Observe how users interact with the prototype.</a:t>
            </a:r>
          </a:p>
          <a:p>
            <a:r>
              <a:rPr lang="en-US" dirty="0"/>
              <a:t>Gather qualitative and quantitative feedback to make improvements.</a:t>
            </a:r>
          </a:p>
          <a:p>
            <a:r>
              <a:rPr lang="en-US" b="1" dirty="0"/>
              <a:t>Example:</a:t>
            </a:r>
          </a:p>
          <a:p>
            <a:r>
              <a:rPr lang="en-US" b="1" dirty="0"/>
              <a:t>Fast Food Industry</a:t>
            </a:r>
            <a:r>
              <a:rPr lang="en-US" dirty="0"/>
              <a:t> – McDonald’s tested self-order kiosks in select locations to understand if customers preferred them over traditional counter service. After positive feedback, they scaled the solution globally.</a:t>
            </a:r>
          </a:p>
          <a:p>
            <a:endParaRPr lang="en-US" dirty="0"/>
          </a:p>
        </p:txBody>
      </p:sp>
    </p:spTree>
    <p:extLst>
      <p:ext uri="{BB962C8B-B14F-4D97-AF65-F5344CB8AC3E}">
        <p14:creationId xmlns:p14="http://schemas.microsoft.com/office/powerpoint/2010/main" val="27385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B55EF-63F6-4349-B4A3-07D4D186ABBA}"/>
              </a:ext>
            </a:extLst>
          </p:cNvPr>
          <p:cNvSpPr>
            <a:spLocks noGrp="1"/>
          </p:cNvSpPr>
          <p:nvPr>
            <p:ph type="title"/>
          </p:nvPr>
        </p:nvSpPr>
        <p:spPr/>
        <p:txBody>
          <a:bodyPr/>
          <a:lstStyle/>
          <a:p>
            <a:r>
              <a:rPr lang="en-US" b="1" dirty="0"/>
              <a:t>Key Principles of Design Thinking</a:t>
            </a:r>
            <a:br>
              <a:rPr lang="en-US" b="1" dirty="0"/>
            </a:br>
            <a:endParaRPr lang="en-US" dirty="0"/>
          </a:p>
        </p:txBody>
      </p:sp>
      <p:sp>
        <p:nvSpPr>
          <p:cNvPr id="3" name="Content Placeholder 2">
            <a:extLst>
              <a:ext uri="{FF2B5EF4-FFF2-40B4-BE49-F238E27FC236}">
                <a16:creationId xmlns:a16="http://schemas.microsoft.com/office/drawing/2014/main" id="{1C0689A7-C1BE-479F-9A56-362C883E3DBC}"/>
              </a:ext>
            </a:extLst>
          </p:cNvPr>
          <p:cNvSpPr>
            <a:spLocks noGrp="1"/>
          </p:cNvSpPr>
          <p:nvPr>
            <p:ph idx="1"/>
          </p:nvPr>
        </p:nvSpPr>
        <p:spPr/>
        <p:txBody>
          <a:bodyPr>
            <a:normAutofit lnSpcReduction="10000"/>
          </a:bodyPr>
          <a:lstStyle/>
          <a:p>
            <a:r>
              <a:rPr lang="en-US" b="1" dirty="0"/>
              <a:t>Human-Centered Approach</a:t>
            </a:r>
            <a:r>
              <a:rPr lang="en-US" dirty="0"/>
              <a:t> – Focuses on solving real-world problems by prioritizing user needs, experiences, and emotions.</a:t>
            </a:r>
          </a:p>
          <a:p>
            <a:r>
              <a:rPr lang="en-US" b="1" dirty="0"/>
              <a:t>Collaboration</a:t>
            </a:r>
            <a:r>
              <a:rPr lang="en-US" dirty="0"/>
              <a:t> – Encourages diverse teams to bring different perspectives to problem-solving.</a:t>
            </a:r>
          </a:p>
          <a:p>
            <a:r>
              <a:rPr lang="en-US" b="1" dirty="0"/>
              <a:t>Experimentation &amp; Iteration</a:t>
            </a:r>
            <a:r>
              <a:rPr lang="en-US" dirty="0"/>
              <a:t> – Involves prototyping, testing, and refining solutions based on feedback.</a:t>
            </a:r>
          </a:p>
          <a:p>
            <a:r>
              <a:rPr lang="en-US" b="1" dirty="0"/>
              <a:t>Empathy</a:t>
            </a:r>
            <a:r>
              <a:rPr lang="en-US" dirty="0"/>
              <a:t> – Requires designers to deeply understand and connect with the end-users.</a:t>
            </a:r>
          </a:p>
          <a:p>
            <a:r>
              <a:rPr lang="en-US" b="1" dirty="0"/>
              <a:t>Problem Reframing</a:t>
            </a:r>
            <a:r>
              <a:rPr lang="en-US" dirty="0"/>
              <a:t> – Encourages looking at problems from different angles to find innovative solutions.</a:t>
            </a:r>
          </a:p>
          <a:p>
            <a:endParaRPr lang="en-US" dirty="0"/>
          </a:p>
        </p:txBody>
      </p:sp>
    </p:spTree>
    <p:extLst>
      <p:ext uri="{BB962C8B-B14F-4D97-AF65-F5344CB8AC3E}">
        <p14:creationId xmlns:p14="http://schemas.microsoft.com/office/powerpoint/2010/main" val="201140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19337-B680-480C-B4DB-BE7A873B618C}"/>
              </a:ext>
            </a:extLst>
          </p:cNvPr>
          <p:cNvSpPr>
            <a:spLocks noGrp="1"/>
          </p:cNvSpPr>
          <p:nvPr>
            <p:ph type="title"/>
          </p:nvPr>
        </p:nvSpPr>
        <p:spPr/>
        <p:txBody>
          <a:bodyPr/>
          <a:lstStyle/>
          <a:p>
            <a:r>
              <a:rPr lang="en-US" b="1" dirty="0"/>
              <a:t>Why is Design Thinking Important?</a:t>
            </a:r>
            <a:br>
              <a:rPr lang="en-US" b="1" dirty="0"/>
            </a:br>
            <a:endParaRPr lang="en-US" dirty="0"/>
          </a:p>
        </p:txBody>
      </p:sp>
      <p:sp>
        <p:nvSpPr>
          <p:cNvPr id="3" name="Content Placeholder 2">
            <a:extLst>
              <a:ext uri="{FF2B5EF4-FFF2-40B4-BE49-F238E27FC236}">
                <a16:creationId xmlns:a16="http://schemas.microsoft.com/office/drawing/2014/main" id="{CFBA6A99-ECE8-4F5F-911E-40B78FFACC03}"/>
              </a:ext>
            </a:extLst>
          </p:cNvPr>
          <p:cNvSpPr>
            <a:spLocks noGrp="1"/>
          </p:cNvSpPr>
          <p:nvPr>
            <p:ph idx="1"/>
          </p:nvPr>
        </p:nvSpPr>
        <p:spPr>
          <a:xfrm>
            <a:off x="838200" y="1285103"/>
            <a:ext cx="10515600" cy="4891860"/>
          </a:xfrm>
        </p:spPr>
        <p:txBody>
          <a:bodyPr>
            <a:normAutofit/>
          </a:bodyPr>
          <a:lstStyle/>
          <a:p>
            <a:r>
              <a:rPr lang="en-US" sz="3200" dirty="0"/>
              <a:t>Promotes innovation by exploring multiple possibilities.</a:t>
            </a:r>
          </a:p>
          <a:p>
            <a:r>
              <a:rPr lang="en-US" sz="3200" dirty="0"/>
              <a:t>Enhances user experience by focusing on human needs.</a:t>
            </a:r>
          </a:p>
          <a:p>
            <a:r>
              <a:rPr lang="en-US" sz="3200" dirty="0"/>
              <a:t>Encourages agility and flexibility in problem-solving.</a:t>
            </a:r>
          </a:p>
          <a:p>
            <a:r>
              <a:rPr lang="en-US" sz="3200" dirty="0"/>
              <a:t>Helps organizations reduce risk by validating ideas before full-scale implementation.</a:t>
            </a:r>
          </a:p>
          <a:p>
            <a:endParaRPr lang="en-US" sz="3200" dirty="0"/>
          </a:p>
        </p:txBody>
      </p:sp>
    </p:spTree>
    <p:extLst>
      <p:ext uri="{BB962C8B-B14F-4D97-AF65-F5344CB8AC3E}">
        <p14:creationId xmlns:p14="http://schemas.microsoft.com/office/powerpoint/2010/main" val="63645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CC30-F8CD-4244-B100-9BD4BD21ADD3}"/>
              </a:ext>
            </a:extLst>
          </p:cNvPr>
          <p:cNvSpPr>
            <a:spLocks noGrp="1"/>
          </p:cNvSpPr>
          <p:nvPr>
            <p:ph type="title"/>
          </p:nvPr>
        </p:nvSpPr>
        <p:spPr/>
        <p:txBody>
          <a:bodyPr/>
          <a:lstStyle/>
          <a:p>
            <a:r>
              <a:rPr lang="en-US" b="1" dirty="0"/>
              <a:t>Applications of Design Thinking</a:t>
            </a:r>
            <a:br>
              <a:rPr lang="en-US" dirty="0"/>
            </a:br>
            <a:endParaRPr lang="en-US" dirty="0"/>
          </a:p>
        </p:txBody>
      </p:sp>
      <p:sp>
        <p:nvSpPr>
          <p:cNvPr id="3" name="Content Placeholder 2">
            <a:extLst>
              <a:ext uri="{FF2B5EF4-FFF2-40B4-BE49-F238E27FC236}">
                <a16:creationId xmlns:a16="http://schemas.microsoft.com/office/drawing/2014/main" id="{440AAEA3-066E-41BA-A97C-D3627104C507}"/>
              </a:ext>
            </a:extLst>
          </p:cNvPr>
          <p:cNvSpPr>
            <a:spLocks noGrp="1"/>
          </p:cNvSpPr>
          <p:nvPr>
            <p:ph idx="1"/>
          </p:nvPr>
        </p:nvSpPr>
        <p:spPr/>
        <p:txBody>
          <a:bodyPr/>
          <a:lstStyle/>
          <a:p>
            <a:r>
              <a:rPr lang="en-US" dirty="0"/>
              <a:t>Technology &amp; Product Development (e.g., Apple, Google)</a:t>
            </a:r>
          </a:p>
          <a:p>
            <a:r>
              <a:rPr lang="en-US" dirty="0"/>
              <a:t>Healthcare Innovations (e.g., Patient-centered solutions)</a:t>
            </a:r>
          </a:p>
          <a:p>
            <a:r>
              <a:rPr lang="en-US" dirty="0"/>
              <a:t>Business Strategy &amp; Services (e.g., Customer experience design)</a:t>
            </a:r>
          </a:p>
          <a:p>
            <a:r>
              <a:rPr lang="en-US" dirty="0"/>
              <a:t>Social Impact &amp; Policy Making (e.g., Designing public services)</a:t>
            </a:r>
          </a:p>
          <a:p>
            <a:endParaRPr lang="en-US" dirty="0"/>
          </a:p>
        </p:txBody>
      </p:sp>
    </p:spTree>
    <p:extLst>
      <p:ext uri="{BB962C8B-B14F-4D97-AF65-F5344CB8AC3E}">
        <p14:creationId xmlns:p14="http://schemas.microsoft.com/office/powerpoint/2010/main" val="330185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3D9CE142-EB65-A7EE-AC17-54C86815D1F7}"/>
              </a:ext>
            </a:extLst>
          </p:cNvPr>
          <p:cNvSpPr>
            <a:spLocks noGrp="1"/>
          </p:cNvSpPr>
          <p:nvPr>
            <p:ph type="title"/>
          </p:nvPr>
        </p:nvSpPr>
        <p:spPr>
          <a:xfrm>
            <a:off x="1981200" y="274638"/>
            <a:ext cx="8229600" cy="2468562"/>
          </a:xfrm>
        </p:spPr>
        <p:txBody>
          <a:bodyPr/>
          <a:lstStyle/>
          <a:p>
            <a:r>
              <a:rPr lang="en-US" altLang="en-US" sz="4000" b="1" dirty="0">
                <a:solidFill>
                  <a:srgbClr val="00B050"/>
                </a:solidFill>
                <a:latin typeface="Times New Roman" panose="02020603050405020304" pitchFamily="18" charset="0"/>
                <a:cs typeface="Times New Roman" panose="02020603050405020304" pitchFamily="18" charset="0"/>
              </a:rPr>
              <a:t>Lesson 7: Sales Skills to Become an Effective Entrepreneur</a:t>
            </a:r>
            <a:r>
              <a:rPr lang="en-US" altLang="en-US" sz="4000" dirty="0">
                <a:solidFill>
                  <a:srgbClr val="00B050"/>
                </a:solidFill>
                <a:latin typeface="Times New Roman" panose="02020603050405020304" pitchFamily="18" charset="0"/>
                <a:cs typeface="Times New Roman" panose="02020603050405020304" pitchFamily="18" charset="0"/>
              </a:rPr>
              <a:t> </a:t>
            </a:r>
            <a:br>
              <a:rPr lang="en-US" altLang="en-US" dirty="0"/>
            </a:br>
            <a:endParaRPr lang="en-US" altLang="en-US" dirty="0"/>
          </a:p>
        </p:txBody>
      </p:sp>
      <p:sp>
        <p:nvSpPr>
          <p:cNvPr id="3" name="Content Placeholder 2">
            <a:extLst>
              <a:ext uri="{FF2B5EF4-FFF2-40B4-BE49-F238E27FC236}">
                <a16:creationId xmlns:a16="http://schemas.microsoft.com/office/drawing/2014/main" id="{DDCF1393-92E4-8931-5F29-CF3572FD28E6}"/>
              </a:ext>
            </a:extLst>
          </p:cNvPr>
          <p:cNvSpPr>
            <a:spLocks noGrp="1"/>
          </p:cNvSpPr>
          <p:nvPr>
            <p:ph idx="1"/>
          </p:nvPr>
        </p:nvSpPr>
        <p:spPr>
          <a:xfrm>
            <a:off x="1322173" y="2743201"/>
            <a:ext cx="8888627" cy="3382963"/>
          </a:xfrm>
        </p:spPr>
        <p:txBody>
          <a:bodyPr/>
          <a:lstStyle/>
          <a:p>
            <a:pPr marL="0" indent="0">
              <a:buNone/>
              <a:defRPr/>
            </a:pPr>
            <a:r>
              <a:rPr lang="en-US" b="1" i="1" u="sng" dirty="0">
                <a:solidFill>
                  <a:srgbClr val="0070C0"/>
                </a:solidFill>
              </a:rPr>
              <a:t>Learning Objectives</a:t>
            </a:r>
            <a:r>
              <a:rPr lang="en-US" i="1" u="sng" dirty="0">
                <a:solidFill>
                  <a:srgbClr val="0070C0"/>
                </a:solidFill>
              </a:rPr>
              <a:t>:</a:t>
            </a:r>
            <a:r>
              <a:rPr lang="en-US" dirty="0">
                <a:solidFill>
                  <a:srgbClr val="0070C0"/>
                </a:solidFill>
              </a:rPr>
              <a:t> </a:t>
            </a:r>
          </a:p>
          <a:p>
            <a:pPr algn="just">
              <a:defRPr/>
            </a:pPr>
            <a:r>
              <a:rPr lang="en-US" dirty="0">
                <a:latin typeface="Times New Roman" panose="02020603050405020304" pitchFamily="18" charset="0"/>
                <a:cs typeface="Times New Roman" panose="02020603050405020304" pitchFamily="18" charset="0"/>
              </a:rPr>
              <a:t>Understand what is customer focus and how all selling effort should be kept customer-centric.</a:t>
            </a:r>
          </a:p>
          <a:p>
            <a:pPr algn="just">
              <a:defRPr/>
            </a:pPr>
            <a:r>
              <a:rPr lang="en-US" dirty="0">
                <a:latin typeface="Times New Roman" panose="02020603050405020304" pitchFamily="18" charset="0"/>
                <a:cs typeface="Times New Roman" panose="02020603050405020304" pitchFamily="18" charset="0"/>
              </a:rPr>
              <a:t>Use the skills/techniques of personal selling, Show and Tell, and Elevator Pitch to sell effectively.</a:t>
            </a:r>
          </a:p>
          <a:p>
            <a:pPr marL="0" indent="0">
              <a:buNone/>
              <a:defRP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D0055-2E88-4343-8586-ED3691C3E0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9C8125-611C-4735-9D32-F4B2B4A9E844}"/>
              </a:ext>
            </a:extLst>
          </p:cNvPr>
          <p:cNvSpPr>
            <a:spLocks noGrp="1"/>
          </p:cNvSpPr>
          <p:nvPr>
            <p:ph idx="1"/>
          </p:nvPr>
        </p:nvSpPr>
        <p:spPr/>
        <p:txBody>
          <a:bodyPr/>
          <a:lstStyle/>
          <a:p>
            <a:r>
              <a:rPr lang="en-US" dirty="0">
                <a:highlight>
                  <a:srgbClr val="FFFF00"/>
                </a:highlight>
                <a:hlinkClick r:id="rId2"/>
              </a:rPr>
              <a:t>Customer Profiling Introduction and Concept (youtube.com)</a:t>
            </a:r>
            <a:endParaRPr lang="en-US" dirty="0">
              <a:highlight>
                <a:srgbClr val="FFFF00"/>
              </a:highligh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57453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2A19132-3739-F1D7-673E-A63868AB3A90}"/>
              </a:ext>
            </a:extLst>
          </p:cNvPr>
          <p:cNvSpPr>
            <a:spLocks noGrp="1"/>
          </p:cNvSpPr>
          <p:nvPr>
            <p:ph type="title"/>
          </p:nvPr>
        </p:nvSpPr>
        <p:spPr>
          <a:xfrm>
            <a:off x="1981200" y="704850"/>
            <a:ext cx="8229600" cy="895350"/>
          </a:xfrm>
        </p:spPr>
        <p:txBody>
          <a:bodyPr/>
          <a:lstStyle/>
          <a:p>
            <a:r>
              <a:rPr lang="en-US" altLang="en-US"/>
              <a:t>Cont’d…..</a:t>
            </a:r>
          </a:p>
        </p:txBody>
      </p:sp>
      <p:sp>
        <p:nvSpPr>
          <p:cNvPr id="39939" name="Content Placeholder 2">
            <a:extLst>
              <a:ext uri="{FF2B5EF4-FFF2-40B4-BE49-F238E27FC236}">
                <a16:creationId xmlns:a16="http://schemas.microsoft.com/office/drawing/2014/main" id="{89FCBC64-AADC-BE07-AEA6-B8DD970F5A04}"/>
              </a:ext>
            </a:extLst>
          </p:cNvPr>
          <p:cNvSpPr>
            <a:spLocks noGrp="1"/>
          </p:cNvSpPr>
          <p:nvPr>
            <p:ph idx="1"/>
          </p:nvPr>
        </p:nvSpPr>
        <p:spPr>
          <a:xfrm>
            <a:off x="838200" y="1457960"/>
            <a:ext cx="10515600" cy="5120640"/>
          </a:xfrm>
        </p:spPr>
        <p:txBody>
          <a:bodyPr>
            <a:normAutofit fontScale="92500" lnSpcReduction="20000"/>
          </a:bodyPr>
          <a:lstStyle/>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Entrepreneurs need to get to know their customers in the process called customer profiling which will allow him to know their needs and what the right thing to serve them</a:t>
            </a:r>
          </a:p>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1- </a:t>
            </a:r>
            <a:r>
              <a:rPr lang="en-US" altLang="en-US" b="1" dirty="0">
                <a:latin typeface="Times" panose="02020603050405020304" pitchFamily="18" charset="0"/>
                <a:ea typeface="Times" panose="02020603050405020304" pitchFamily="18" charset="0"/>
                <a:cs typeface="Times" panose="02020603050405020304" pitchFamily="18" charset="0"/>
              </a:rPr>
              <a:t>Customer profiling </a:t>
            </a:r>
            <a:r>
              <a:rPr lang="en-US" altLang="en-US" dirty="0">
                <a:latin typeface="Times" panose="02020603050405020304" pitchFamily="18" charset="0"/>
                <a:ea typeface="Times" panose="02020603050405020304" pitchFamily="18" charset="0"/>
                <a:cs typeface="Times" panose="02020603050405020304" pitchFamily="18" charset="0"/>
              </a:rPr>
              <a:t>– Demographic (x-tics)</a:t>
            </a:r>
          </a:p>
          <a:p>
            <a:pPr marL="0" indent="0" algn="just">
              <a:buNone/>
            </a:pPr>
            <a:r>
              <a:rPr lang="en-US" altLang="en-US" dirty="0">
                <a:latin typeface="Times" panose="02020603050405020304" pitchFamily="18" charset="0"/>
                <a:ea typeface="Times" panose="02020603050405020304" pitchFamily="18" charset="0"/>
                <a:cs typeface="Times" panose="02020603050405020304" pitchFamily="18" charset="0"/>
              </a:rPr>
              <a:t>                                       - Psychographics (x-tics)</a:t>
            </a:r>
          </a:p>
          <a:p>
            <a:pPr marL="0" indent="0">
              <a:buNone/>
            </a:pPr>
            <a:r>
              <a:rPr lang="en-US" b="1" i="0" dirty="0">
                <a:solidFill>
                  <a:srgbClr val="0D0D0D"/>
                </a:solidFill>
                <a:effectLst/>
                <a:highlight>
                  <a:srgbClr val="FFFFFF"/>
                </a:highlight>
                <a:latin typeface="Söhne"/>
              </a:rPr>
              <a:t>Demographic customer profiling </a:t>
            </a:r>
            <a:r>
              <a:rPr lang="en-US" b="0" i="0" dirty="0">
                <a:solidFill>
                  <a:srgbClr val="0D0D0D"/>
                </a:solidFill>
                <a:effectLst/>
                <a:highlight>
                  <a:srgbClr val="FFFFFF"/>
                </a:highlight>
                <a:latin typeface="Söhne"/>
              </a:rPr>
              <a:t>involves categorizing and analyzing customers based on quantifiable characteristics such as age, gender, income, education, location, and more.</a:t>
            </a:r>
          </a:p>
          <a:p>
            <a:pPr marL="0" indent="0">
              <a:buNone/>
            </a:pPr>
            <a:br>
              <a:rPr lang="en-US" dirty="0"/>
            </a:br>
            <a:r>
              <a:rPr lang="en-US" b="1" i="0" dirty="0">
                <a:solidFill>
                  <a:srgbClr val="0D0D0D"/>
                </a:solidFill>
                <a:effectLst/>
                <a:highlight>
                  <a:srgbClr val="FFFFFF"/>
                </a:highlight>
                <a:latin typeface="Söhne"/>
              </a:rPr>
              <a:t>Psychographic customer profiling </a:t>
            </a:r>
            <a:r>
              <a:rPr lang="en-US" b="0" i="0" dirty="0">
                <a:solidFill>
                  <a:srgbClr val="0D0D0D"/>
                </a:solidFill>
                <a:effectLst/>
                <a:highlight>
                  <a:srgbClr val="FFFFFF"/>
                </a:highlight>
                <a:latin typeface="Söhne"/>
              </a:rPr>
              <a:t>involves analyzing customers based on their psychological and lifestyle characteristics, attitudes, values, interests, and behaviors.</a:t>
            </a:r>
          </a:p>
          <a:p>
            <a:pPr marL="0" indent="0">
              <a:buNone/>
            </a:pPr>
            <a:r>
              <a:rPr lang="en-US" altLang="en-US" b="1" dirty="0">
                <a:latin typeface="Times" panose="02020603050405020304" pitchFamily="18" charset="0"/>
                <a:ea typeface="Times" panose="02020603050405020304" pitchFamily="18" charset="0"/>
                <a:cs typeface="Times" panose="02020603050405020304" pitchFamily="18" charset="0"/>
              </a:rPr>
              <a:t>2- Waving customers- </a:t>
            </a:r>
            <a:r>
              <a:rPr lang="en-US" altLang="en-US" dirty="0">
                <a:latin typeface="Times" panose="02020603050405020304" pitchFamily="18" charset="0"/>
                <a:ea typeface="Times" panose="02020603050405020304" pitchFamily="18" charset="0"/>
                <a:cs typeface="Times" panose="02020603050405020304" pitchFamily="18" charset="0"/>
              </a:rPr>
              <a:t>way of impressing and exciting the customer greatly ( value customer and give attention to them)</a:t>
            </a:r>
          </a:p>
          <a:p>
            <a:pPr marL="0" indent="0">
              <a:buNone/>
            </a:pPr>
            <a:endParaRPr lang="en-US" altLang="en-US" dirty="0"/>
          </a:p>
          <a:p>
            <a:pPr marL="0" indent="0">
              <a:buNone/>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449CE24D-303A-33E9-D0B6-7C01A002F73C}"/>
              </a:ext>
            </a:extLst>
          </p:cNvPr>
          <p:cNvSpPr>
            <a:spLocks noGrp="1"/>
          </p:cNvSpPr>
          <p:nvPr>
            <p:ph type="title"/>
          </p:nvPr>
        </p:nvSpPr>
        <p:spPr>
          <a:xfrm>
            <a:off x="1981200" y="152400"/>
            <a:ext cx="8229600" cy="533400"/>
          </a:xfrm>
        </p:spPr>
        <p:txBody>
          <a:bodyPr>
            <a:normAutofit fontScale="90000"/>
          </a:bodyPr>
          <a:lstStyle/>
          <a:p>
            <a:r>
              <a:rPr lang="en-US" altLang="en-US"/>
              <a:t>Cont’d….</a:t>
            </a:r>
          </a:p>
        </p:txBody>
      </p:sp>
      <p:sp>
        <p:nvSpPr>
          <p:cNvPr id="3" name="Content Placeholder 2">
            <a:extLst>
              <a:ext uri="{FF2B5EF4-FFF2-40B4-BE49-F238E27FC236}">
                <a16:creationId xmlns:a16="http://schemas.microsoft.com/office/drawing/2014/main" id="{F8AD4566-E5A7-9EB4-12EC-BAD9E214A8BC}"/>
              </a:ext>
            </a:extLst>
          </p:cNvPr>
          <p:cNvSpPr>
            <a:spLocks noGrp="1"/>
          </p:cNvSpPr>
          <p:nvPr>
            <p:ph idx="1"/>
          </p:nvPr>
        </p:nvSpPr>
        <p:spPr>
          <a:xfrm>
            <a:off x="358346" y="716694"/>
            <a:ext cx="9852454" cy="5867400"/>
          </a:xfrm>
        </p:spPr>
        <p:txBody>
          <a:bodyPr>
            <a:normAutofit/>
          </a:bodyPr>
          <a:lstStyle/>
          <a:p>
            <a:pPr marL="0" indent="0">
              <a:buNone/>
              <a:defRPr/>
            </a:pPr>
            <a:r>
              <a:rPr lang="en-US" sz="3200" b="1" dirty="0">
                <a:latin typeface="Times" panose="02020603050405020304" pitchFamily="18" charset="0"/>
                <a:cs typeface="Times" panose="02020603050405020304" pitchFamily="18" charset="0"/>
              </a:rPr>
              <a:t>3- Personal selling- following the process-</a:t>
            </a:r>
          </a:p>
          <a:p>
            <a:pPr>
              <a:buFontTx/>
              <a:buChar char="-"/>
              <a:defRPr/>
            </a:pPr>
            <a:r>
              <a:rPr lang="en-US" sz="3200" dirty="0">
                <a:latin typeface="Times" panose="02020603050405020304" pitchFamily="18" charset="0"/>
                <a:cs typeface="Times" panose="02020603050405020304" pitchFamily="18" charset="0"/>
              </a:rPr>
              <a:t>1. Prospecting and qualifying )customers with money)</a:t>
            </a:r>
          </a:p>
          <a:p>
            <a:pPr>
              <a:buFontTx/>
              <a:buChar char="-"/>
              <a:defRPr/>
            </a:pPr>
            <a:r>
              <a:rPr lang="en-US" sz="3200" dirty="0">
                <a:latin typeface="Times" panose="02020603050405020304" pitchFamily="18" charset="0"/>
                <a:cs typeface="Times" panose="02020603050405020304" pitchFamily="18" charset="0"/>
              </a:rPr>
              <a:t>2. Pre-approach (seek for appointment)</a:t>
            </a:r>
          </a:p>
          <a:p>
            <a:pPr>
              <a:buFontTx/>
              <a:buChar char="-"/>
              <a:defRPr/>
            </a:pPr>
            <a:r>
              <a:rPr lang="en-US" sz="3200" dirty="0">
                <a:latin typeface="Times" panose="02020603050405020304" pitchFamily="18" charset="0"/>
                <a:cs typeface="Times" panose="02020603050405020304" pitchFamily="18" charset="0"/>
              </a:rPr>
              <a:t>3. Approach (talk to the authorities)</a:t>
            </a:r>
          </a:p>
          <a:p>
            <a:pPr>
              <a:buFontTx/>
              <a:buChar char="-"/>
              <a:defRPr/>
            </a:pPr>
            <a:r>
              <a:rPr lang="en-US" sz="3200" dirty="0">
                <a:latin typeface="Times" panose="02020603050405020304" pitchFamily="18" charset="0"/>
                <a:cs typeface="Times" panose="02020603050405020304" pitchFamily="18" charset="0"/>
              </a:rPr>
              <a:t>4. Presentation and demonstrations (products or services)</a:t>
            </a:r>
          </a:p>
          <a:p>
            <a:pPr>
              <a:buFontTx/>
              <a:buChar char="-"/>
              <a:defRPr/>
            </a:pPr>
            <a:r>
              <a:rPr lang="en-US" sz="3200" dirty="0">
                <a:latin typeface="Times" panose="02020603050405020304" pitchFamily="18" charset="0"/>
                <a:cs typeface="Times" panose="02020603050405020304" pitchFamily="18" charset="0"/>
              </a:rPr>
              <a:t>5. Handling objections (to customers who have </a:t>
            </a:r>
            <a:r>
              <a:rPr lang="en-US" sz="3200" dirty="0" err="1">
                <a:latin typeface="Times" panose="02020603050405020304" pitchFamily="18" charset="0"/>
                <a:cs typeface="Times" panose="02020603050405020304" pitchFamily="18" charset="0"/>
              </a:rPr>
              <a:t>querries</a:t>
            </a:r>
            <a:r>
              <a:rPr lang="en-US" sz="3200" dirty="0">
                <a:latin typeface="Times" panose="02020603050405020304" pitchFamily="18" charset="0"/>
                <a:cs typeface="Times" panose="02020603050405020304" pitchFamily="18" charset="0"/>
              </a:rPr>
              <a:t>)</a:t>
            </a:r>
          </a:p>
          <a:p>
            <a:pPr>
              <a:buFontTx/>
              <a:buChar char="-"/>
              <a:defRPr/>
            </a:pPr>
            <a:r>
              <a:rPr lang="en-US" sz="3200" dirty="0">
                <a:latin typeface="Times" panose="02020603050405020304" pitchFamily="18" charset="0"/>
                <a:cs typeface="Times" panose="02020603050405020304" pitchFamily="18" charset="0"/>
              </a:rPr>
              <a:t>6. Closing (actual buying and adopting products)</a:t>
            </a:r>
          </a:p>
          <a:p>
            <a:pPr>
              <a:buFontTx/>
              <a:buChar char="-"/>
              <a:defRPr/>
            </a:pPr>
            <a:r>
              <a:rPr lang="en-US" sz="3200" dirty="0">
                <a:latin typeface="Times" panose="02020603050405020304" pitchFamily="18" charset="0"/>
                <a:cs typeface="Times" panose="02020603050405020304" pitchFamily="18" charset="0"/>
              </a:rPr>
              <a:t>7. Follow-up (on prospect’s pattern of paying)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CC12305-0AC9-6A69-30A8-C4072EEE8B9C}"/>
              </a:ext>
            </a:extLst>
          </p:cNvPr>
          <p:cNvSpPr>
            <a:spLocks noGrp="1"/>
          </p:cNvSpPr>
          <p:nvPr>
            <p:ph type="title"/>
          </p:nvPr>
        </p:nvSpPr>
        <p:spPr>
          <a:xfrm>
            <a:off x="1981200" y="704850"/>
            <a:ext cx="8229600" cy="666750"/>
          </a:xfrm>
        </p:spPr>
        <p:txBody>
          <a:bodyPr>
            <a:normAutofit fontScale="90000"/>
          </a:bodyPr>
          <a:lstStyle/>
          <a:p>
            <a:r>
              <a:rPr lang="en-US" altLang="en-US"/>
              <a:t>Cont’d….</a:t>
            </a:r>
          </a:p>
        </p:txBody>
      </p:sp>
      <p:sp>
        <p:nvSpPr>
          <p:cNvPr id="41987" name="Content Placeholder 2">
            <a:extLst>
              <a:ext uri="{FF2B5EF4-FFF2-40B4-BE49-F238E27FC236}">
                <a16:creationId xmlns:a16="http://schemas.microsoft.com/office/drawing/2014/main" id="{55B2FCD2-ED27-CC6D-A3B7-34F5024C9B63}"/>
              </a:ext>
            </a:extLst>
          </p:cNvPr>
          <p:cNvSpPr>
            <a:spLocks noGrp="1"/>
          </p:cNvSpPr>
          <p:nvPr>
            <p:ph idx="1"/>
          </p:nvPr>
        </p:nvSpPr>
        <p:spPr>
          <a:xfrm>
            <a:off x="1981200" y="1371600"/>
            <a:ext cx="8229600" cy="4953000"/>
          </a:xfrm>
        </p:spPr>
        <p:txBody>
          <a:bodyPr>
            <a:normAutofit lnSpcReduction="10000"/>
          </a:bodyPr>
          <a:lstStyle/>
          <a:p>
            <a:pPr marL="0" indent="0" algn="just">
              <a:buNone/>
            </a:pPr>
            <a:r>
              <a:rPr lang="en-US" altLang="en-US" sz="3600" b="1" dirty="0">
                <a:latin typeface="Times New Roman" panose="02020603050405020304" pitchFamily="18" charset="0"/>
                <a:cs typeface="Times New Roman" panose="02020603050405020304" pitchFamily="18" charset="0"/>
              </a:rPr>
              <a:t>4- Show and tell </a:t>
            </a:r>
          </a:p>
          <a:p>
            <a:pPr marL="0" indent="0" algn="just">
              <a:buNone/>
            </a:pPr>
            <a:r>
              <a:rPr lang="en-US" altLang="en-US" dirty="0">
                <a:latin typeface="Times New Roman" panose="02020603050405020304" pitchFamily="18" charset="0"/>
                <a:cs typeface="Times New Roman" panose="02020603050405020304" pitchFamily="18" charset="0"/>
              </a:rPr>
              <a:t>The principle- tell the truth, narrate a story (talk about other customer’s stories), use the object or picture. For example if the product is a pen, a phone, a computer </a:t>
            </a:r>
            <a:r>
              <a:rPr lang="en-US" altLang="en-US" dirty="0" err="1">
                <a:latin typeface="Times New Roman" panose="02020603050405020304" pitchFamily="18" charset="0"/>
                <a:cs typeface="Times New Roman" panose="02020603050405020304" pitchFamily="18" charset="0"/>
              </a:rPr>
              <a:t>etc</a:t>
            </a:r>
            <a:endParaRPr lang="en-US" altLang="en-US" dirty="0">
              <a:latin typeface="Times New Roman" panose="02020603050405020304" pitchFamily="18" charset="0"/>
              <a:cs typeface="Times New Roman" panose="02020603050405020304" pitchFamily="18" charset="0"/>
            </a:endParaRPr>
          </a:p>
          <a:p>
            <a:pPr marL="0" indent="0" algn="just">
              <a:buNone/>
            </a:pPr>
            <a:r>
              <a:rPr lang="en-US" altLang="en-US" sz="3200" b="1" dirty="0">
                <a:latin typeface="Times New Roman" panose="02020603050405020304" pitchFamily="18" charset="0"/>
                <a:cs typeface="Times New Roman" panose="02020603050405020304" pitchFamily="18" charset="0"/>
              </a:rPr>
              <a:t>5- Elevator pitch- </a:t>
            </a:r>
            <a:r>
              <a:rPr lang="en-US" altLang="en-US" dirty="0">
                <a:latin typeface="Times New Roman" panose="02020603050405020304" pitchFamily="18" charset="0"/>
                <a:cs typeface="Times New Roman" panose="02020603050405020304" pitchFamily="18" charset="0"/>
              </a:rPr>
              <a:t>all about the concept and introduction.</a:t>
            </a:r>
          </a:p>
          <a:p>
            <a:pPr marL="0" indent="0" algn="just">
              <a:buNone/>
            </a:pPr>
            <a:r>
              <a:rPr lang="en-US" altLang="en-US" dirty="0">
                <a:latin typeface="Times New Roman" panose="02020603050405020304" pitchFamily="18" charset="0"/>
                <a:cs typeface="Times New Roman" panose="02020603050405020304" pitchFamily="18" charset="0"/>
              </a:rPr>
              <a:t>It is a way of introducing your self, getting across a key point or two and making a connection with someone (customer)</a:t>
            </a:r>
          </a:p>
          <a:p>
            <a:pPr marL="0" indent="0" algn="just">
              <a:buNone/>
            </a:pPr>
            <a:r>
              <a:rPr lang="en-US" altLang="en-US" b="1" dirty="0">
                <a:latin typeface="Times New Roman" panose="02020603050405020304" pitchFamily="18" charset="0"/>
                <a:cs typeface="Times New Roman" panose="02020603050405020304" pitchFamily="18" charset="0"/>
              </a:rPr>
              <a:t>Tips: </a:t>
            </a:r>
            <a:r>
              <a:rPr lang="en-US" altLang="en-US" dirty="0">
                <a:latin typeface="Times New Roman" panose="02020603050405020304" pitchFamily="18" charset="0"/>
                <a:cs typeface="Times New Roman" panose="02020603050405020304" pitchFamily="18" charset="0"/>
              </a:rPr>
              <a:t>identify your goal, communicate your USP (Unique selling proposition), engage with a question, put it all together, practice, practice </a:t>
            </a:r>
            <a:r>
              <a:rPr lang="en-US" altLang="en-US" dirty="0" err="1">
                <a:latin typeface="Times New Roman" panose="02020603050405020304" pitchFamily="18" charset="0"/>
                <a:cs typeface="Times New Roman" panose="02020603050405020304" pitchFamily="18" charset="0"/>
              </a:rPr>
              <a:t>practice</a:t>
            </a:r>
            <a:r>
              <a:rPr lang="en-US" altLang="en-US"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EBE65698-5516-8C8D-CB44-A9D4782E5307}"/>
              </a:ext>
            </a:extLst>
          </p:cNvPr>
          <p:cNvSpPr>
            <a:spLocks noGrp="1"/>
          </p:cNvSpPr>
          <p:nvPr>
            <p:ph type="title"/>
          </p:nvPr>
        </p:nvSpPr>
        <p:spPr>
          <a:xfrm>
            <a:off x="1981200" y="274638"/>
            <a:ext cx="8229600" cy="2849562"/>
          </a:xfrm>
        </p:spPr>
        <p:txBody>
          <a:bodyPr/>
          <a:lstStyle/>
          <a:p>
            <a:r>
              <a:rPr lang="en-US" altLang="en-US" b="1" dirty="0">
                <a:solidFill>
                  <a:srgbClr val="00B050"/>
                </a:solidFill>
                <a:latin typeface="Times New Roman" panose="02020603050405020304" pitchFamily="18" charset="0"/>
                <a:cs typeface="Times New Roman" panose="02020603050405020304" pitchFamily="18" charset="0"/>
              </a:rPr>
              <a:t>Lesson 8: Managing Risks and Learning from Failures</a:t>
            </a:r>
            <a:r>
              <a:rPr lang="en-US" altLang="en-US" dirty="0">
                <a:solidFill>
                  <a:srgbClr val="00B050"/>
                </a:solidFill>
              </a:rPr>
              <a:t> </a:t>
            </a:r>
            <a:br>
              <a:rPr lang="en-US" altLang="en-US" dirty="0"/>
            </a:br>
            <a:endParaRPr lang="en-US" altLang="en-US" dirty="0"/>
          </a:p>
        </p:txBody>
      </p:sp>
      <p:sp>
        <p:nvSpPr>
          <p:cNvPr id="3" name="Content Placeholder 2">
            <a:extLst>
              <a:ext uri="{FF2B5EF4-FFF2-40B4-BE49-F238E27FC236}">
                <a16:creationId xmlns:a16="http://schemas.microsoft.com/office/drawing/2014/main" id="{D96D712F-0A75-C1BC-49C1-5B6449D08FE9}"/>
              </a:ext>
            </a:extLst>
          </p:cNvPr>
          <p:cNvSpPr>
            <a:spLocks noGrp="1"/>
          </p:cNvSpPr>
          <p:nvPr>
            <p:ph idx="1"/>
          </p:nvPr>
        </p:nvSpPr>
        <p:spPr>
          <a:xfrm>
            <a:off x="1981200" y="3048001"/>
            <a:ext cx="8229600" cy="3078163"/>
          </a:xfrm>
        </p:spPr>
        <p:txBody>
          <a:bodyPr/>
          <a:lstStyle/>
          <a:p>
            <a:pPr marL="0" indent="0" algn="just">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a:t>
            </a:r>
            <a:r>
              <a:rPr lang="en-US" i="1" u="sng" dirty="0">
                <a:solidFill>
                  <a:srgbClr val="0070C0"/>
                </a:solidFill>
                <a:latin typeface="Times New Roman" panose="02020603050405020304" pitchFamily="18" charset="0"/>
                <a:cs typeface="Times New Roman" panose="02020603050405020304" pitchFamily="18" charset="0"/>
              </a:rPr>
              <a:t>:</a:t>
            </a:r>
            <a:r>
              <a:rPr lang="en-US" dirty="0">
                <a:solidFill>
                  <a:srgbClr val="0070C0"/>
                </a:solidFill>
                <a:latin typeface="Times New Roman" panose="02020603050405020304" pitchFamily="18" charset="0"/>
                <a:cs typeface="Times New Roman" panose="02020603050405020304" pitchFamily="18" charset="0"/>
              </a:rPr>
              <a:t> </a:t>
            </a:r>
          </a:p>
          <a:p>
            <a:pPr algn="just">
              <a:defRPr/>
            </a:pPr>
            <a:r>
              <a:rPr lang="en-US" dirty="0">
                <a:latin typeface="Times New Roman" panose="02020603050405020304" pitchFamily="18" charset="0"/>
                <a:cs typeface="Times New Roman" panose="02020603050405020304" pitchFamily="18" charset="0"/>
              </a:rPr>
              <a:t>Understand that risk-taking is a positive trait</a:t>
            </a:r>
          </a:p>
          <a:p>
            <a:pPr algn="just">
              <a:defRPr/>
            </a:pPr>
            <a:r>
              <a:rPr lang="en-US" dirty="0">
                <a:latin typeface="Times New Roman" panose="02020603050405020304" pitchFamily="18" charset="0"/>
                <a:cs typeface="Times New Roman" panose="02020603050405020304" pitchFamily="18" charset="0"/>
              </a:rPr>
              <a:t>Identify risk-taking traits and resilience traits</a:t>
            </a:r>
          </a:p>
          <a:p>
            <a:pPr algn="just">
              <a:defRPr/>
            </a:pPr>
            <a:r>
              <a:rPr lang="en-US" dirty="0">
                <a:latin typeface="Times New Roman" panose="02020603050405020304" pitchFamily="18" charset="0"/>
                <a:cs typeface="Times New Roman" panose="02020603050405020304" pitchFamily="18" charset="0"/>
              </a:rPr>
              <a:t>Appreciate the role of failure on the road to success and understand when to give up</a:t>
            </a:r>
          </a:p>
          <a:p>
            <a:pPr marL="0" indent="0">
              <a:buNone/>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837B0B-0612-EB92-B3B6-CE3152E271D8}"/>
              </a:ext>
            </a:extLst>
          </p:cNvPr>
          <p:cNvSpPr>
            <a:spLocks noGrp="1"/>
          </p:cNvSpPr>
          <p:nvPr>
            <p:ph type="title"/>
          </p:nvPr>
        </p:nvSpPr>
        <p:spPr>
          <a:xfrm>
            <a:off x="1981200" y="304800"/>
            <a:ext cx="8229600" cy="1066800"/>
          </a:xfrm>
        </p:spPr>
        <p:txBody>
          <a:bodyPr/>
          <a:lstStyle/>
          <a:p>
            <a:r>
              <a:rPr lang="en-US" altLang="en-US" b="1"/>
              <a:t>Meanings </a:t>
            </a:r>
          </a:p>
        </p:txBody>
      </p:sp>
      <p:sp>
        <p:nvSpPr>
          <p:cNvPr id="3" name="Content Placeholder 2">
            <a:extLst>
              <a:ext uri="{FF2B5EF4-FFF2-40B4-BE49-F238E27FC236}">
                <a16:creationId xmlns:a16="http://schemas.microsoft.com/office/drawing/2014/main" id="{6BF1D8E3-4494-3C22-655F-ABC8104D7F49}"/>
              </a:ext>
            </a:extLst>
          </p:cNvPr>
          <p:cNvSpPr>
            <a:spLocks noGrp="1"/>
          </p:cNvSpPr>
          <p:nvPr>
            <p:ph idx="1"/>
          </p:nvPr>
        </p:nvSpPr>
        <p:spPr>
          <a:xfrm>
            <a:off x="1981200" y="1371600"/>
            <a:ext cx="8229600" cy="4953000"/>
          </a:xfrm>
        </p:spPr>
        <p:txBody>
          <a:bodyPr>
            <a:normAutofit lnSpcReduction="10000"/>
          </a:bodyPr>
          <a:lstStyle/>
          <a:p>
            <a:pPr marL="0" indent="0" algn="just">
              <a:buNone/>
              <a:defRPr/>
            </a:pPr>
            <a:r>
              <a:rPr lang="en-US" sz="3200" b="1" dirty="0">
                <a:latin typeface="Times New Roman" panose="02020603050405020304" pitchFamily="18" charset="0"/>
                <a:cs typeface="Times New Roman" panose="02020603050405020304" pitchFamily="18" charset="0"/>
              </a:rPr>
              <a:t>Risk- </a:t>
            </a:r>
            <a:r>
              <a:rPr lang="en-US" dirty="0">
                <a:latin typeface="Times New Roman" panose="02020603050405020304" pitchFamily="18" charset="0"/>
                <a:cs typeface="Times New Roman" panose="02020603050405020304" pitchFamily="18" charset="0"/>
              </a:rPr>
              <a:t>an act of doing something that involves danger or risk to achieve a goal</a:t>
            </a:r>
          </a:p>
          <a:p>
            <a:pPr marL="0" indent="0" algn="just">
              <a:buNone/>
              <a:defRPr/>
            </a:pPr>
            <a:r>
              <a:rPr lang="en-US" b="1" dirty="0">
                <a:latin typeface="Times New Roman" panose="02020603050405020304" pitchFamily="18" charset="0"/>
                <a:cs typeface="Times New Roman" panose="02020603050405020304" pitchFamily="18" charset="0"/>
              </a:rPr>
              <a:t>Risk taking- </a:t>
            </a:r>
            <a:r>
              <a:rPr lang="en-US" dirty="0">
                <a:latin typeface="Times New Roman" panose="02020603050405020304" pitchFamily="18" charset="0"/>
                <a:cs typeface="Times New Roman" panose="02020603050405020304" pitchFamily="18" charset="0"/>
              </a:rPr>
              <a:t>is a moving towards the goal, but you are well aware that you may fail.</a:t>
            </a:r>
          </a:p>
          <a:p>
            <a:pPr marL="0" indent="0" algn="just">
              <a:buNone/>
              <a:defRPr/>
            </a:pPr>
            <a:endParaRPr lang="en-US" sz="3200" b="1" dirty="0">
              <a:latin typeface="Times New Roman" panose="02020603050405020304" pitchFamily="18" charset="0"/>
              <a:cs typeface="Times New Roman" panose="02020603050405020304" pitchFamily="18" charset="0"/>
            </a:endParaRPr>
          </a:p>
          <a:p>
            <a:pPr marL="0" indent="0" algn="just">
              <a:buNone/>
              <a:defRPr/>
            </a:pPr>
            <a:r>
              <a:rPr lang="en-US" sz="3200" b="1" dirty="0">
                <a:latin typeface="Times New Roman" panose="02020603050405020304" pitchFamily="18" charset="0"/>
                <a:cs typeface="Times New Roman" panose="02020603050405020304" pitchFamily="18" charset="0"/>
              </a:rPr>
              <a:t>Potential risks in business:</a:t>
            </a:r>
          </a:p>
          <a:p>
            <a:pPr algn="just">
              <a:buFontTx/>
              <a:buChar char="-"/>
              <a:defRPr/>
            </a:pPr>
            <a:r>
              <a:rPr lang="en-US" dirty="0">
                <a:latin typeface="Times New Roman" panose="02020603050405020304" pitchFamily="18" charset="0"/>
                <a:cs typeface="Times New Roman" panose="02020603050405020304" pitchFamily="18" charset="0"/>
              </a:rPr>
              <a:t>Financial risks</a:t>
            </a:r>
          </a:p>
          <a:p>
            <a:pPr algn="just">
              <a:buFontTx/>
              <a:buChar char="-"/>
              <a:defRPr/>
            </a:pPr>
            <a:r>
              <a:rPr lang="en-US" dirty="0">
                <a:latin typeface="Times New Roman" panose="02020603050405020304" pitchFamily="18" charset="0"/>
                <a:cs typeface="Times New Roman" panose="02020603050405020304" pitchFamily="18" charset="0"/>
              </a:rPr>
              <a:t>Legal risks</a:t>
            </a:r>
          </a:p>
          <a:p>
            <a:pPr algn="just">
              <a:buFontTx/>
              <a:buChar char="-"/>
              <a:defRPr/>
            </a:pPr>
            <a:r>
              <a:rPr lang="en-US" dirty="0">
                <a:latin typeface="Times New Roman" panose="02020603050405020304" pitchFamily="18" charset="0"/>
                <a:cs typeface="Times New Roman" panose="02020603050405020304" pitchFamily="18" charset="0"/>
              </a:rPr>
              <a:t>Operational risks</a:t>
            </a:r>
          </a:p>
          <a:p>
            <a:pPr algn="just">
              <a:buFontTx/>
              <a:buChar char="-"/>
              <a:defRPr/>
            </a:pPr>
            <a:r>
              <a:rPr lang="en-US" dirty="0">
                <a:latin typeface="Times New Roman" panose="02020603050405020304" pitchFamily="18" charset="0"/>
                <a:cs typeface="Times New Roman" panose="02020603050405020304" pitchFamily="18" charset="0"/>
              </a:rPr>
              <a:t>Security risks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13339-ED1D-4342-AD59-D452249236EB}"/>
              </a:ext>
            </a:extLst>
          </p:cNvPr>
          <p:cNvSpPr>
            <a:spLocks noGrp="1"/>
          </p:cNvSpPr>
          <p:nvPr>
            <p:ph idx="1"/>
          </p:nvPr>
        </p:nvSpPr>
        <p:spPr>
          <a:xfrm>
            <a:off x="838200" y="1173892"/>
            <a:ext cx="10515600" cy="5003071"/>
          </a:xfrm>
        </p:spPr>
        <p:txBody>
          <a:bodyPr>
            <a:normAutofit/>
          </a:bodyPr>
          <a:lstStyle/>
          <a:p>
            <a:pPr marL="0" indent="0">
              <a:buNone/>
            </a:pPr>
            <a:endParaRPr lang="en-US" sz="2000" dirty="0"/>
          </a:p>
          <a:p>
            <a:pPr lvl="0"/>
            <a:r>
              <a:rPr lang="en-US" b="1" dirty="0"/>
              <a:t>Financial Risks</a:t>
            </a:r>
            <a:endParaRPr lang="en-US" sz="2400" dirty="0"/>
          </a:p>
          <a:p>
            <a:pPr lvl="1"/>
            <a:r>
              <a:rPr lang="en-US" dirty="0"/>
              <a:t>Risks related to cash flow, profitability, and financial stability that may arise from poor financial management, market fluctuations, or economic downturns.</a:t>
            </a:r>
            <a:endParaRPr lang="en-US" sz="2000" dirty="0"/>
          </a:p>
          <a:p>
            <a:pPr lvl="1"/>
            <a:r>
              <a:rPr lang="en-US" b="1" dirty="0">
                <a:solidFill>
                  <a:srgbClr val="FF0000"/>
                </a:solidFill>
              </a:rPr>
              <a:t>Example</a:t>
            </a:r>
            <a:r>
              <a:rPr lang="en-US" dirty="0">
                <a:solidFill>
                  <a:srgbClr val="FF0000"/>
                </a:solidFill>
              </a:rPr>
              <a:t>: A retail business takes out a large loan but struggles with declining sales, making it difficult to repay the debt.</a:t>
            </a:r>
            <a:endParaRPr lang="en-US" sz="2000" dirty="0">
              <a:solidFill>
                <a:srgbClr val="FF0000"/>
              </a:solidFill>
            </a:endParaRPr>
          </a:p>
          <a:p>
            <a:pPr lvl="0"/>
            <a:r>
              <a:rPr lang="en-US" b="1" dirty="0"/>
              <a:t>Legal Risks</a:t>
            </a:r>
            <a:endParaRPr lang="en-US" sz="2400" dirty="0"/>
          </a:p>
          <a:p>
            <a:pPr lvl="1"/>
            <a:r>
              <a:rPr lang="en-US" dirty="0"/>
              <a:t>Risks associated with non-compliance with laws, contracts, or regulations, leading to fines, lawsuits, or reputational damage.</a:t>
            </a:r>
            <a:endParaRPr lang="en-US" sz="2000" dirty="0"/>
          </a:p>
          <a:p>
            <a:pPr lvl="1"/>
            <a:r>
              <a:rPr lang="en-US" b="1" dirty="0">
                <a:solidFill>
                  <a:srgbClr val="FF0000"/>
                </a:solidFill>
              </a:rPr>
              <a:t>Example</a:t>
            </a:r>
            <a:r>
              <a:rPr lang="en-US" dirty="0">
                <a:solidFill>
                  <a:srgbClr val="FF0000"/>
                </a:solidFill>
              </a:rPr>
              <a:t>: A company is charged or given penalties for using copyrighted images in its advertisements without proper licensing.</a:t>
            </a:r>
            <a:endParaRPr lang="en-US" sz="2000" dirty="0">
              <a:solidFill>
                <a:srgbClr val="FF0000"/>
              </a:solidFill>
            </a:endParaRPr>
          </a:p>
          <a:p>
            <a:endParaRPr lang="en-US" dirty="0"/>
          </a:p>
        </p:txBody>
      </p:sp>
    </p:spTree>
    <p:extLst>
      <p:ext uri="{BB962C8B-B14F-4D97-AF65-F5344CB8AC3E}">
        <p14:creationId xmlns:p14="http://schemas.microsoft.com/office/powerpoint/2010/main" val="1855571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ACBB4-BE70-4A43-BF7D-CA11C2AEA6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41873F-D434-4E11-B059-DA5F89154513}"/>
              </a:ext>
            </a:extLst>
          </p:cNvPr>
          <p:cNvSpPr>
            <a:spLocks noGrp="1"/>
          </p:cNvSpPr>
          <p:nvPr>
            <p:ph idx="1"/>
          </p:nvPr>
        </p:nvSpPr>
        <p:spPr/>
        <p:txBody>
          <a:bodyPr/>
          <a:lstStyle/>
          <a:p>
            <a:pPr marL="0" indent="0">
              <a:buNone/>
            </a:pPr>
            <a:r>
              <a:rPr lang="en-US" b="1" dirty="0"/>
              <a:t>1. Financial Risks</a:t>
            </a:r>
            <a:br>
              <a:rPr lang="en-US" dirty="0"/>
            </a:br>
            <a:r>
              <a:rPr lang="en-US" dirty="0"/>
              <a:t>These are risks related to how a business manages its money. Poor financial decisions, cash flow issues, or external economic factors can impact the company’s financial health.</a:t>
            </a:r>
          </a:p>
          <a:p>
            <a:pPr marL="0" indent="0">
              <a:buNone/>
            </a:pPr>
            <a:r>
              <a:rPr lang="en-US" b="1" dirty="0"/>
              <a:t>Such as;</a:t>
            </a:r>
            <a:endParaRPr lang="en-US" dirty="0"/>
          </a:p>
          <a:p>
            <a:r>
              <a:rPr lang="en-US" dirty="0"/>
              <a:t>Taking too much debt and failing to repay it.</a:t>
            </a:r>
          </a:p>
          <a:p>
            <a:r>
              <a:rPr lang="en-US" dirty="0"/>
              <a:t>Currency exchange rate fluctuations in international trade.</a:t>
            </a:r>
          </a:p>
          <a:p>
            <a:r>
              <a:rPr lang="en-US" dirty="0"/>
              <a:t>Poor investments that don’t yield returns. </a:t>
            </a:r>
            <a:r>
              <a:rPr lang="en-US" dirty="0" err="1"/>
              <a:t>i.e</a:t>
            </a:r>
            <a:r>
              <a:rPr lang="en-US" dirty="0"/>
              <a:t> Investing in ventures or assets that don’t generate profits can lead to losses</a:t>
            </a:r>
          </a:p>
          <a:p>
            <a:endParaRPr lang="en-US" dirty="0"/>
          </a:p>
        </p:txBody>
      </p:sp>
    </p:spTree>
    <p:extLst>
      <p:ext uri="{BB962C8B-B14F-4D97-AF65-F5344CB8AC3E}">
        <p14:creationId xmlns:p14="http://schemas.microsoft.com/office/powerpoint/2010/main" val="807745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D2A7-A93F-476D-9C32-B3C8896E9BB9}"/>
              </a:ext>
            </a:extLst>
          </p:cNvPr>
          <p:cNvSpPr>
            <a:spLocks noGrp="1"/>
          </p:cNvSpPr>
          <p:nvPr>
            <p:ph type="title"/>
          </p:nvPr>
        </p:nvSpPr>
        <p:spPr>
          <a:xfrm>
            <a:off x="838200" y="365125"/>
            <a:ext cx="10515600" cy="68519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CB0E260-0494-4FB6-83BF-C765FD4038FC}"/>
              </a:ext>
            </a:extLst>
          </p:cNvPr>
          <p:cNvSpPr>
            <a:spLocks noGrp="1"/>
          </p:cNvSpPr>
          <p:nvPr>
            <p:ph idx="1"/>
          </p:nvPr>
        </p:nvSpPr>
        <p:spPr>
          <a:xfrm>
            <a:off x="838200" y="1186249"/>
            <a:ext cx="10515600" cy="4990714"/>
          </a:xfrm>
        </p:spPr>
        <p:txBody>
          <a:bodyPr>
            <a:normAutofit/>
          </a:bodyPr>
          <a:lstStyle/>
          <a:p>
            <a:pPr marL="0" indent="0">
              <a:buNone/>
            </a:pPr>
            <a:r>
              <a:rPr lang="en-US" b="1" dirty="0"/>
              <a:t>2. Legal Risks</a:t>
            </a:r>
            <a:br>
              <a:rPr lang="en-US" dirty="0"/>
            </a:br>
            <a:r>
              <a:rPr lang="en-US" dirty="0"/>
              <a:t>Legal risks arise when a business fails to comply with laws or regulations. This includes contracts, labor laws, tax laws, and intellectual property rights.</a:t>
            </a:r>
          </a:p>
          <a:p>
            <a:r>
              <a:rPr lang="en-US" b="1" dirty="0"/>
              <a:t>Such as:</a:t>
            </a:r>
            <a:endParaRPr lang="en-US" dirty="0"/>
          </a:p>
          <a:p>
            <a:r>
              <a:rPr lang="en-US" dirty="0"/>
              <a:t>Using copyrighted images without permission.</a:t>
            </a:r>
          </a:p>
          <a:p>
            <a:r>
              <a:rPr lang="en-US" dirty="0"/>
              <a:t>Not following labor laws, resulting in lawsuits.</a:t>
            </a:r>
          </a:p>
          <a:p>
            <a:r>
              <a:rPr lang="en-US" dirty="0"/>
              <a:t>Breaching contract terms with suppliers or clients.</a:t>
            </a:r>
            <a:br>
              <a:rPr lang="en-US" dirty="0"/>
            </a:br>
            <a:r>
              <a:rPr lang="en-US" b="1" dirty="0"/>
              <a:t>example </a:t>
            </a:r>
          </a:p>
          <a:p>
            <a:r>
              <a:rPr lang="en-US" dirty="0">
                <a:solidFill>
                  <a:srgbClr val="FF0000"/>
                </a:solidFill>
              </a:rPr>
              <a:t>A clothing brand uses a design that closely resembles a copyrighted logo and is sued for infringement.</a:t>
            </a:r>
          </a:p>
          <a:p>
            <a:endParaRPr lang="en-US" dirty="0"/>
          </a:p>
          <a:p>
            <a:endParaRPr lang="en-US" dirty="0"/>
          </a:p>
        </p:txBody>
      </p:sp>
    </p:spTree>
    <p:extLst>
      <p:ext uri="{BB962C8B-B14F-4D97-AF65-F5344CB8AC3E}">
        <p14:creationId xmlns:p14="http://schemas.microsoft.com/office/powerpoint/2010/main" val="1492802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3E4D-138F-4B9F-ADC0-730A18861245}"/>
              </a:ext>
            </a:extLst>
          </p:cNvPr>
          <p:cNvSpPr>
            <a:spLocks noGrp="1"/>
          </p:cNvSpPr>
          <p:nvPr>
            <p:ph type="title"/>
          </p:nvPr>
        </p:nvSpPr>
        <p:spPr>
          <a:xfrm>
            <a:off x="838200" y="365125"/>
            <a:ext cx="10515600" cy="709913"/>
          </a:xfrm>
        </p:spPr>
        <p:txBody>
          <a:bodyPr/>
          <a:lstStyle/>
          <a:p>
            <a:endParaRPr lang="en-US" dirty="0"/>
          </a:p>
        </p:txBody>
      </p:sp>
      <p:sp>
        <p:nvSpPr>
          <p:cNvPr id="3" name="Content Placeholder 2">
            <a:extLst>
              <a:ext uri="{FF2B5EF4-FFF2-40B4-BE49-F238E27FC236}">
                <a16:creationId xmlns:a16="http://schemas.microsoft.com/office/drawing/2014/main" id="{35DD5605-D39D-4351-A3C0-7A74D0A77ACB}"/>
              </a:ext>
            </a:extLst>
          </p:cNvPr>
          <p:cNvSpPr>
            <a:spLocks noGrp="1"/>
          </p:cNvSpPr>
          <p:nvPr>
            <p:ph idx="1"/>
          </p:nvPr>
        </p:nvSpPr>
        <p:spPr>
          <a:xfrm>
            <a:off x="838200" y="1099752"/>
            <a:ext cx="10515600" cy="5101925"/>
          </a:xfrm>
        </p:spPr>
        <p:txBody>
          <a:bodyPr>
            <a:normAutofit fontScale="92500" lnSpcReduction="10000"/>
          </a:bodyPr>
          <a:lstStyle/>
          <a:p>
            <a:pPr marL="0" lvl="0" indent="0">
              <a:buNone/>
            </a:pPr>
            <a:r>
              <a:rPr lang="en-US" b="1" dirty="0"/>
              <a:t>3. Operational Risks</a:t>
            </a:r>
          </a:p>
          <a:p>
            <a:pPr marL="0" lvl="0" indent="0">
              <a:buNone/>
            </a:pPr>
            <a:r>
              <a:rPr lang="en-US" dirty="0"/>
              <a:t>Risks arising from internal business processes, system failures, supply chain disruptions, or human errors that affect day-to-day operations.</a:t>
            </a:r>
          </a:p>
          <a:p>
            <a:r>
              <a:rPr lang="en-US" b="1" dirty="0"/>
              <a:t>Such as:</a:t>
            </a:r>
            <a:endParaRPr lang="en-US" dirty="0"/>
          </a:p>
          <a:p>
            <a:r>
              <a:rPr lang="en-US" dirty="0"/>
              <a:t>A key machine in a factory breaks down, halting production.</a:t>
            </a:r>
          </a:p>
          <a:p>
            <a:r>
              <a:rPr lang="en-US" dirty="0"/>
              <a:t>An employee makes a major error in payroll processing.</a:t>
            </a:r>
          </a:p>
          <a:p>
            <a:r>
              <a:rPr lang="en-US" dirty="0"/>
              <a:t>A supplier fails to deliver crucial materials on time.</a:t>
            </a:r>
          </a:p>
          <a:p>
            <a:pPr marL="0" indent="0">
              <a:buNone/>
            </a:pPr>
            <a:r>
              <a:rPr lang="en-US" b="1" dirty="0">
                <a:solidFill>
                  <a:srgbClr val="FF0000"/>
                </a:solidFill>
              </a:rPr>
              <a:t>Example</a:t>
            </a:r>
            <a:r>
              <a:rPr lang="en-US" dirty="0">
                <a:solidFill>
                  <a:srgbClr val="FF0000"/>
                </a:solidFill>
              </a:rPr>
              <a:t>: </a:t>
            </a:r>
          </a:p>
          <a:p>
            <a:pPr marL="0" indent="0">
              <a:buNone/>
            </a:pPr>
            <a:r>
              <a:rPr lang="en-US" dirty="0">
                <a:solidFill>
                  <a:srgbClr val="FF0000"/>
                </a:solidFill>
              </a:rPr>
              <a:t>1. A manufacturing company experiences production delays due to a machine breakdown, leading to missed deadlines and dissatisfied customers.</a:t>
            </a:r>
          </a:p>
          <a:p>
            <a:pPr marL="0" indent="0">
              <a:buNone/>
            </a:pPr>
            <a:r>
              <a:rPr lang="en-US" sz="2900" dirty="0">
                <a:solidFill>
                  <a:srgbClr val="FF0000"/>
                </a:solidFill>
              </a:rPr>
              <a:t>2. A bakery depends on one supplier for flour, and the supplier suddenly goes out of business, disrupting daily operations.</a:t>
            </a:r>
          </a:p>
          <a:p>
            <a:pPr marL="0" indent="0">
              <a:buNone/>
            </a:pPr>
            <a:endParaRPr lang="en-US" sz="2000" dirty="0">
              <a:solidFill>
                <a:srgbClr val="FF0000"/>
              </a:solidFill>
            </a:endParaRPr>
          </a:p>
          <a:p>
            <a:endParaRPr lang="en-US" dirty="0"/>
          </a:p>
        </p:txBody>
      </p:sp>
    </p:spTree>
    <p:extLst>
      <p:ext uri="{BB962C8B-B14F-4D97-AF65-F5344CB8AC3E}">
        <p14:creationId xmlns:p14="http://schemas.microsoft.com/office/powerpoint/2010/main" val="1824470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88C4-7E9F-41C1-828A-7CD94BE13C1A}"/>
              </a:ext>
            </a:extLst>
          </p:cNvPr>
          <p:cNvSpPr>
            <a:spLocks noGrp="1"/>
          </p:cNvSpPr>
          <p:nvPr>
            <p:ph type="title"/>
          </p:nvPr>
        </p:nvSpPr>
        <p:spPr>
          <a:xfrm>
            <a:off x="838200" y="365125"/>
            <a:ext cx="10515600" cy="771697"/>
          </a:xfrm>
        </p:spPr>
        <p:txBody>
          <a:bodyPr/>
          <a:lstStyle/>
          <a:p>
            <a:endParaRPr lang="en-US" dirty="0"/>
          </a:p>
        </p:txBody>
      </p:sp>
      <p:sp>
        <p:nvSpPr>
          <p:cNvPr id="3" name="Content Placeholder 2">
            <a:extLst>
              <a:ext uri="{FF2B5EF4-FFF2-40B4-BE49-F238E27FC236}">
                <a16:creationId xmlns:a16="http://schemas.microsoft.com/office/drawing/2014/main" id="{CC4813BF-E7DB-4E35-AA2C-5369B7115AC0}"/>
              </a:ext>
            </a:extLst>
          </p:cNvPr>
          <p:cNvSpPr>
            <a:spLocks noGrp="1"/>
          </p:cNvSpPr>
          <p:nvPr>
            <p:ph idx="1"/>
          </p:nvPr>
        </p:nvSpPr>
        <p:spPr>
          <a:xfrm>
            <a:off x="838200" y="1445741"/>
            <a:ext cx="10515600" cy="4731222"/>
          </a:xfrm>
        </p:spPr>
        <p:txBody>
          <a:bodyPr>
            <a:normAutofit lnSpcReduction="10000"/>
          </a:bodyPr>
          <a:lstStyle/>
          <a:p>
            <a:pPr marL="0" indent="0">
              <a:buNone/>
            </a:pPr>
            <a:r>
              <a:rPr lang="en-US" b="1" dirty="0"/>
              <a:t>4. Security Risks</a:t>
            </a:r>
            <a:br>
              <a:rPr lang="en-US" dirty="0"/>
            </a:br>
            <a:r>
              <a:rPr lang="en-US" dirty="0"/>
              <a:t>These involve threats to data, systems, and physical safety. Cyberattacks, data breaches, or theft can lead to financial and reputational damage.</a:t>
            </a:r>
          </a:p>
          <a:p>
            <a:pPr marL="0" indent="0">
              <a:buNone/>
            </a:pPr>
            <a:r>
              <a:rPr lang="en-US" b="1" dirty="0"/>
              <a:t>Such as</a:t>
            </a:r>
            <a:endParaRPr lang="en-US" dirty="0"/>
          </a:p>
          <a:p>
            <a:r>
              <a:rPr lang="en-US" dirty="0"/>
              <a:t>Hackers steal customer credit card data.</a:t>
            </a:r>
          </a:p>
          <a:p>
            <a:r>
              <a:rPr lang="en-US" dirty="0"/>
              <a:t>An employee accidentally leaks sensitive business documents.</a:t>
            </a:r>
          </a:p>
          <a:p>
            <a:r>
              <a:rPr lang="en-US" dirty="0"/>
              <a:t>Office break-in resulting in stolen equipment.</a:t>
            </a:r>
          </a:p>
          <a:p>
            <a:pPr marL="0" indent="0">
              <a:buNone/>
            </a:pPr>
            <a:r>
              <a:rPr lang="en-US" b="1" dirty="0"/>
              <a:t>example</a:t>
            </a:r>
            <a:br>
              <a:rPr lang="en-US" dirty="0"/>
            </a:br>
            <a:r>
              <a:rPr lang="en-US" dirty="0">
                <a:solidFill>
                  <a:srgbClr val="FF0000"/>
                </a:solidFill>
              </a:rPr>
              <a:t>An e-commerce site is hacked, and customer data (like emails and passwords) is exposed, damaging customer trust.</a:t>
            </a:r>
          </a:p>
          <a:p>
            <a:endParaRPr lang="en-US" dirty="0"/>
          </a:p>
        </p:txBody>
      </p:sp>
    </p:spTree>
    <p:extLst>
      <p:ext uri="{BB962C8B-B14F-4D97-AF65-F5344CB8AC3E}">
        <p14:creationId xmlns:p14="http://schemas.microsoft.com/office/powerpoint/2010/main" val="2939524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279D6E6D-CF62-8412-4727-26581F4BE274}"/>
              </a:ext>
            </a:extLst>
          </p:cNvPr>
          <p:cNvSpPr>
            <a:spLocks noGrp="1"/>
          </p:cNvSpPr>
          <p:nvPr>
            <p:ph type="title"/>
          </p:nvPr>
        </p:nvSpPr>
        <p:spPr>
          <a:xfrm>
            <a:off x="716693" y="381000"/>
            <a:ext cx="9951308" cy="838200"/>
          </a:xfrm>
        </p:spPr>
        <p:txBody>
          <a:bodyPr/>
          <a:lstStyle/>
          <a:p>
            <a:r>
              <a:rPr lang="en-US" altLang="en-US" sz="4000" b="1" dirty="0">
                <a:latin typeface="Times New Roman" panose="02020603050405020304" pitchFamily="18" charset="0"/>
                <a:cs typeface="Times New Roman" panose="02020603050405020304" pitchFamily="18" charset="0"/>
              </a:rPr>
              <a:t>4 Essential Steps for Risk Management</a:t>
            </a:r>
          </a:p>
        </p:txBody>
      </p:sp>
      <p:sp>
        <p:nvSpPr>
          <p:cNvPr id="3" name="Content Placeholder 2">
            <a:extLst>
              <a:ext uri="{FF2B5EF4-FFF2-40B4-BE49-F238E27FC236}">
                <a16:creationId xmlns:a16="http://schemas.microsoft.com/office/drawing/2014/main" id="{6E4ABB62-D372-0896-6EDE-1F4B0084DF5B}"/>
              </a:ext>
            </a:extLst>
          </p:cNvPr>
          <p:cNvSpPr>
            <a:spLocks noGrp="1"/>
          </p:cNvSpPr>
          <p:nvPr>
            <p:ph idx="1"/>
          </p:nvPr>
        </p:nvSpPr>
        <p:spPr>
          <a:xfrm>
            <a:off x="630195" y="1219200"/>
            <a:ext cx="9809205" cy="5105400"/>
          </a:xfrm>
        </p:spPr>
        <p:txBody>
          <a:bodyPr>
            <a:normAutofit/>
          </a:bodyPr>
          <a:lstStyle/>
          <a:p>
            <a:pPr marL="0" indent="0" algn="just">
              <a:buNone/>
              <a:defRPr/>
            </a:pPr>
            <a:r>
              <a:rPr lang="en-US" b="1" dirty="0">
                <a:latin typeface="Times New Roman" panose="02020603050405020304" pitchFamily="18" charset="0"/>
                <a:cs typeface="Times New Roman" panose="02020603050405020304" pitchFamily="18" charset="0"/>
              </a:rPr>
              <a:t>Risk Management- </a:t>
            </a:r>
            <a:r>
              <a:rPr lang="en-US" dirty="0">
                <a:latin typeface="Times New Roman" panose="02020603050405020304" pitchFamily="18" charset="0"/>
                <a:cs typeface="Times New Roman" panose="02020603050405020304" pitchFamily="18" charset="0"/>
              </a:rPr>
              <a:t>is the process of identifying, assessing, managing and monitoring potential risks.</a:t>
            </a:r>
          </a:p>
          <a:p>
            <a:pPr marL="0" indent="0" algn="just">
              <a:buNone/>
              <a:defRPr/>
            </a:pPr>
            <a:r>
              <a:rPr lang="en-US" dirty="0">
                <a:latin typeface="Times New Roman" panose="02020603050405020304" pitchFamily="18" charset="0"/>
                <a:cs typeface="Times New Roman" panose="02020603050405020304" pitchFamily="18" charset="0"/>
              </a:rPr>
              <a:t>1- Risk Identification</a:t>
            </a:r>
          </a:p>
          <a:p>
            <a:pPr marL="0" indent="0" algn="just">
              <a:buNone/>
              <a:defRPr/>
            </a:pPr>
            <a:r>
              <a:rPr lang="en-US" dirty="0">
                <a:latin typeface="Times New Roman" panose="02020603050405020304" pitchFamily="18" charset="0"/>
                <a:cs typeface="Times New Roman" panose="02020603050405020304" pitchFamily="18" charset="0"/>
              </a:rPr>
              <a:t>2- Risk Assessment</a:t>
            </a:r>
          </a:p>
          <a:p>
            <a:pPr marL="0" indent="0" algn="just">
              <a:buNone/>
              <a:defRPr/>
            </a:pPr>
            <a:r>
              <a:rPr lang="en-US" dirty="0">
                <a:latin typeface="Times New Roman" panose="02020603050405020304" pitchFamily="18" charset="0"/>
                <a:cs typeface="Times New Roman" panose="02020603050405020304" pitchFamily="18" charset="0"/>
              </a:rPr>
              <a:t>3- Risk Treatment</a:t>
            </a:r>
          </a:p>
          <a:p>
            <a:pPr marL="0" indent="0" algn="just">
              <a:buNone/>
              <a:defRPr/>
            </a:pPr>
            <a:r>
              <a:rPr lang="en-US" dirty="0">
                <a:latin typeface="Times New Roman" panose="02020603050405020304" pitchFamily="18" charset="0"/>
                <a:cs typeface="Times New Roman" panose="02020603050405020304" pitchFamily="18" charset="0"/>
              </a:rPr>
              <a:t>4- Risk Monitoring and Reporting</a:t>
            </a:r>
          </a:p>
          <a:p>
            <a:pPr algn="just">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C660-BD61-4A1A-B1FC-2256376B9CC8}"/>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D4B9EC4-7611-4DCC-8FDD-D822FEB7BAA6}"/>
              </a:ext>
            </a:extLst>
          </p:cNvPr>
          <p:cNvSpPr>
            <a:spLocks noGrp="1"/>
          </p:cNvSpPr>
          <p:nvPr>
            <p:ph idx="1"/>
          </p:nvPr>
        </p:nvSpPr>
        <p:spPr>
          <a:xfrm>
            <a:off x="838200" y="1359243"/>
            <a:ext cx="10515600" cy="4817720"/>
          </a:xfrm>
        </p:spPr>
        <p:txBody>
          <a:bodyPr>
            <a:normAutofit fontScale="85000" lnSpcReduction="10000"/>
          </a:bodyPr>
          <a:lstStyle/>
          <a:p>
            <a:pPr marL="0" indent="0">
              <a:buNone/>
            </a:pPr>
            <a:r>
              <a:rPr lang="en-US" b="1" dirty="0"/>
              <a:t>1. Risk Identification</a:t>
            </a:r>
            <a:br>
              <a:rPr lang="en-US" dirty="0"/>
            </a:br>
            <a:r>
              <a:rPr lang="en-US" dirty="0"/>
              <a:t>This is the process of spotting all possible risks that might affect your business or project. It involves gathering information from different sources and perspectives.</a:t>
            </a:r>
          </a:p>
          <a:p>
            <a:pPr marL="0" indent="0">
              <a:buNone/>
            </a:pPr>
            <a:r>
              <a:rPr lang="en-US" b="1" dirty="0"/>
              <a:t>Such as;</a:t>
            </a:r>
            <a:endParaRPr lang="en-US" dirty="0"/>
          </a:p>
          <a:p>
            <a:r>
              <a:rPr lang="en-US" b="1" dirty="0"/>
              <a:t>Interviews with experts:</a:t>
            </a:r>
            <a:r>
              <a:rPr lang="en-US" dirty="0"/>
              <a:t> Talk to people with experience in similar projects or industries.</a:t>
            </a:r>
          </a:p>
          <a:p>
            <a:r>
              <a:rPr lang="en-US" b="1" dirty="0"/>
              <a:t>Brainstorming sessions:</a:t>
            </a:r>
            <a:r>
              <a:rPr lang="en-US" dirty="0"/>
              <a:t> Involve your team in generating a list of potential risks.</a:t>
            </a:r>
          </a:p>
          <a:p>
            <a:r>
              <a:rPr lang="en-US" b="1" dirty="0"/>
              <a:t>Lessons learned from previous projects:</a:t>
            </a:r>
            <a:r>
              <a:rPr lang="en-US" dirty="0"/>
              <a:t> Review past projects to see what went wrong or almost went wrong.</a:t>
            </a:r>
          </a:p>
          <a:p>
            <a:pPr marL="0" indent="0">
              <a:buNone/>
            </a:pPr>
            <a:r>
              <a:rPr lang="en-US" b="1" dirty="0"/>
              <a:t>Example</a:t>
            </a:r>
            <a:br>
              <a:rPr lang="en-US" dirty="0"/>
            </a:br>
            <a:r>
              <a:rPr lang="en-US" dirty="0">
                <a:solidFill>
                  <a:srgbClr val="FF0000"/>
                </a:solidFill>
              </a:rPr>
              <a:t>You're planning a new product launch. During brainstorming, the team identifies supply chain delays, technical bugs in the product, and customer dissatisfaction as potential risks.</a:t>
            </a:r>
          </a:p>
          <a:p>
            <a:endParaRPr lang="en-US" dirty="0"/>
          </a:p>
        </p:txBody>
      </p:sp>
    </p:spTree>
    <p:extLst>
      <p:ext uri="{BB962C8B-B14F-4D97-AF65-F5344CB8AC3E}">
        <p14:creationId xmlns:p14="http://schemas.microsoft.com/office/powerpoint/2010/main" val="1867856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E0D3-4F28-47FD-9FC0-866A5B33D957}"/>
              </a:ext>
            </a:extLst>
          </p:cNvPr>
          <p:cNvSpPr>
            <a:spLocks noGrp="1"/>
          </p:cNvSpPr>
          <p:nvPr>
            <p:ph type="title"/>
          </p:nvPr>
        </p:nvSpPr>
        <p:spPr>
          <a:xfrm>
            <a:off x="838200" y="365126"/>
            <a:ext cx="10515600" cy="59870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8EDDD0F-9597-4E5B-A3D1-1BD0B977E7BA}"/>
              </a:ext>
            </a:extLst>
          </p:cNvPr>
          <p:cNvSpPr>
            <a:spLocks noGrp="1"/>
          </p:cNvSpPr>
          <p:nvPr>
            <p:ph idx="1"/>
          </p:nvPr>
        </p:nvSpPr>
        <p:spPr>
          <a:xfrm>
            <a:off x="838200" y="1173892"/>
            <a:ext cx="10515600" cy="5003071"/>
          </a:xfrm>
        </p:spPr>
        <p:txBody>
          <a:bodyPr>
            <a:normAutofit fontScale="92500" lnSpcReduction="10000"/>
          </a:bodyPr>
          <a:lstStyle/>
          <a:p>
            <a:pPr marL="0" indent="0">
              <a:buNone/>
            </a:pPr>
            <a:r>
              <a:rPr lang="en-US" b="1" dirty="0"/>
              <a:t>2. Risk Assessment</a:t>
            </a:r>
          </a:p>
          <a:p>
            <a:r>
              <a:rPr lang="en-US" dirty="0">
                <a:latin typeface="Times New Roman" panose="02020603050405020304" pitchFamily="18" charset="0"/>
                <a:cs typeface="Times New Roman" panose="02020603050405020304" pitchFamily="18" charset="0"/>
              </a:rPr>
              <a:t>Identifying potential hazards and analyze what could happen if hazards occur</a:t>
            </a:r>
          </a:p>
          <a:p>
            <a:r>
              <a:rPr lang="en-US" dirty="0"/>
              <a:t>Once risks are identified, assess their likelihood (how likely they are to happen) and their impact (how serious the consequences would be).</a:t>
            </a:r>
          </a:p>
          <a:p>
            <a:pPr marL="0" indent="0">
              <a:buNone/>
            </a:pPr>
            <a:r>
              <a:rPr lang="en-US" b="1" dirty="0"/>
              <a:t>Such as;</a:t>
            </a:r>
            <a:endParaRPr lang="en-US" dirty="0"/>
          </a:p>
          <a:p>
            <a:r>
              <a:rPr lang="en-US" dirty="0"/>
              <a:t>Rate risks based on probability and severity.</a:t>
            </a:r>
          </a:p>
          <a:p>
            <a:r>
              <a:rPr lang="en-US" dirty="0"/>
              <a:t>Prioritize which ones need immediate attention.</a:t>
            </a:r>
          </a:p>
          <a:p>
            <a:r>
              <a:rPr lang="en-US" b="1" dirty="0"/>
              <a:t>Example:</a:t>
            </a:r>
            <a:br>
              <a:rPr lang="en-US" dirty="0"/>
            </a:br>
            <a:r>
              <a:rPr lang="en-US" dirty="0"/>
              <a:t>if you realize that supplier delays (identified earlier) are </a:t>
            </a:r>
            <a:r>
              <a:rPr lang="en-US" i="1" dirty="0"/>
              <a:t>very likely</a:t>
            </a:r>
            <a:r>
              <a:rPr lang="en-US" dirty="0"/>
              <a:t> and would </a:t>
            </a:r>
            <a:r>
              <a:rPr lang="en-US" i="1" dirty="0"/>
              <a:t>severely</a:t>
            </a:r>
            <a:r>
              <a:rPr lang="en-US" dirty="0"/>
              <a:t> delay the launch. A technical bug is </a:t>
            </a:r>
            <a:r>
              <a:rPr lang="en-US" i="1" dirty="0"/>
              <a:t>somewhat likely</a:t>
            </a:r>
            <a:r>
              <a:rPr lang="en-US" dirty="0"/>
              <a:t> but could be fixed quickly. So you prioritize the supply chain risk.</a:t>
            </a:r>
          </a:p>
          <a:p>
            <a:endParaRPr lang="en-US" dirty="0"/>
          </a:p>
        </p:txBody>
      </p:sp>
    </p:spTree>
    <p:extLst>
      <p:ext uri="{BB962C8B-B14F-4D97-AF65-F5344CB8AC3E}">
        <p14:creationId xmlns:p14="http://schemas.microsoft.com/office/powerpoint/2010/main" val="3057210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0D5B-764E-4118-A2A3-5A3235FF50C0}"/>
              </a:ext>
            </a:extLst>
          </p:cNvPr>
          <p:cNvSpPr>
            <a:spLocks noGrp="1"/>
          </p:cNvSpPr>
          <p:nvPr>
            <p:ph type="title"/>
          </p:nvPr>
        </p:nvSpPr>
        <p:spPr>
          <a:xfrm>
            <a:off x="838200" y="365125"/>
            <a:ext cx="10515600" cy="48749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5D81FC2-A6C5-446F-A68F-94E06BED635C}"/>
              </a:ext>
            </a:extLst>
          </p:cNvPr>
          <p:cNvSpPr>
            <a:spLocks noGrp="1"/>
          </p:cNvSpPr>
          <p:nvPr>
            <p:ph idx="1"/>
          </p:nvPr>
        </p:nvSpPr>
        <p:spPr>
          <a:xfrm>
            <a:off x="838200" y="1075038"/>
            <a:ext cx="10515600" cy="5101925"/>
          </a:xfrm>
        </p:spPr>
        <p:txBody>
          <a:bodyPr>
            <a:normAutofit fontScale="85000" lnSpcReduction="20000"/>
          </a:bodyPr>
          <a:lstStyle/>
          <a:p>
            <a:pPr marL="0" indent="0">
              <a:buNone/>
            </a:pPr>
            <a:r>
              <a:rPr lang="en-US" b="1" dirty="0">
                <a:latin typeface="Times" panose="02020603050405020304" pitchFamily="18" charset="0"/>
                <a:cs typeface="Times" panose="02020603050405020304" pitchFamily="18" charset="0"/>
              </a:rPr>
              <a:t>3. Risk Treatment</a:t>
            </a:r>
          </a:p>
          <a:p>
            <a:r>
              <a:rPr lang="en-US" dirty="0">
                <a:latin typeface="Times" panose="02020603050405020304" pitchFamily="18" charset="0"/>
                <a:cs typeface="Times" panose="02020603050405020304" pitchFamily="18" charset="0"/>
              </a:rPr>
              <a:t>first identify strategies by developing a statement plan, the objective risk management plan is to reduce the probability of the risk to occur</a:t>
            </a:r>
          </a:p>
          <a:p>
            <a:r>
              <a:rPr lang="en-US" dirty="0">
                <a:latin typeface="Times" panose="02020603050405020304" pitchFamily="18" charset="0"/>
                <a:cs typeface="Times" panose="02020603050405020304" pitchFamily="18" charset="0"/>
              </a:rPr>
              <a:t>Now that you know which risks are serious, plan how to deal with them. The goal is to reduce the chance of the risk happening or minimize the impact if it does.</a:t>
            </a:r>
          </a:p>
          <a:p>
            <a:pPr marL="0" indent="0">
              <a:buNone/>
            </a:pPr>
            <a:r>
              <a:rPr lang="en-US" b="1" dirty="0">
                <a:latin typeface="Times" panose="02020603050405020304" pitchFamily="18" charset="0"/>
                <a:cs typeface="Times" panose="02020603050405020304" pitchFamily="18" charset="0"/>
              </a:rPr>
              <a:t>Such as;</a:t>
            </a:r>
            <a:endParaRPr lang="en-US" dirty="0">
              <a:latin typeface="Times" panose="02020603050405020304" pitchFamily="18" charset="0"/>
              <a:cs typeface="Times" panose="02020603050405020304" pitchFamily="18" charset="0"/>
            </a:endParaRPr>
          </a:p>
          <a:p>
            <a:r>
              <a:rPr lang="en-US" b="1" dirty="0">
                <a:latin typeface="Times" panose="02020603050405020304" pitchFamily="18" charset="0"/>
                <a:cs typeface="Times" panose="02020603050405020304" pitchFamily="18" charset="0"/>
              </a:rPr>
              <a:t>Avoiding</a:t>
            </a:r>
            <a:r>
              <a:rPr lang="en-US" dirty="0">
                <a:latin typeface="Times" panose="02020603050405020304" pitchFamily="18" charset="0"/>
                <a:cs typeface="Times" panose="02020603050405020304" pitchFamily="18" charset="0"/>
              </a:rPr>
              <a:t> the risk (change plans to eliminate it)</a:t>
            </a:r>
          </a:p>
          <a:p>
            <a:r>
              <a:rPr lang="en-US" b="1" dirty="0">
                <a:latin typeface="Times" panose="02020603050405020304" pitchFamily="18" charset="0"/>
                <a:cs typeface="Times" panose="02020603050405020304" pitchFamily="18" charset="0"/>
              </a:rPr>
              <a:t>Reducing</a:t>
            </a:r>
            <a:r>
              <a:rPr lang="en-US" dirty="0">
                <a:latin typeface="Times" panose="02020603050405020304" pitchFamily="18" charset="0"/>
                <a:cs typeface="Times" panose="02020603050405020304" pitchFamily="18" charset="0"/>
              </a:rPr>
              <a:t> the risk (implement safeguards)</a:t>
            </a:r>
          </a:p>
          <a:p>
            <a:r>
              <a:rPr lang="en-US" b="1" dirty="0">
                <a:latin typeface="Times" panose="02020603050405020304" pitchFamily="18" charset="0"/>
                <a:cs typeface="Times" panose="02020603050405020304" pitchFamily="18" charset="0"/>
              </a:rPr>
              <a:t>Transferring</a:t>
            </a:r>
            <a:r>
              <a:rPr lang="en-US" dirty="0">
                <a:latin typeface="Times" panose="02020603050405020304" pitchFamily="18" charset="0"/>
                <a:cs typeface="Times" panose="02020603050405020304" pitchFamily="18" charset="0"/>
              </a:rPr>
              <a:t> the risk (e.g., using insurance)</a:t>
            </a:r>
          </a:p>
          <a:p>
            <a:r>
              <a:rPr lang="en-US" b="1" dirty="0">
                <a:latin typeface="Times" panose="02020603050405020304" pitchFamily="18" charset="0"/>
                <a:cs typeface="Times" panose="02020603050405020304" pitchFamily="18" charset="0"/>
              </a:rPr>
              <a:t>Accepting</a:t>
            </a:r>
            <a:r>
              <a:rPr lang="en-US" dirty="0">
                <a:latin typeface="Times" panose="02020603050405020304" pitchFamily="18" charset="0"/>
                <a:cs typeface="Times" panose="02020603050405020304" pitchFamily="18" charset="0"/>
              </a:rPr>
              <a:t> the risk (if it’s minor and manageable)</a:t>
            </a:r>
          </a:p>
          <a:p>
            <a:r>
              <a:rPr lang="en-US" b="1" dirty="0">
                <a:solidFill>
                  <a:srgbClr val="FF0000"/>
                </a:solidFill>
                <a:latin typeface="Times" panose="02020603050405020304" pitchFamily="18" charset="0"/>
                <a:cs typeface="Times" panose="02020603050405020304" pitchFamily="18" charset="0"/>
              </a:rPr>
              <a:t>Example:</a:t>
            </a:r>
            <a:br>
              <a:rPr lang="en-US" dirty="0">
                <a:solidFill>
                  <a:srgbClr val="FF0000"/>
                </a:solidFill>
                <a:latin typeface="Times" panose="02020603050405020304" pitchFamily="18" charset="0"/>
                <a:cs typeface="Times" panose="02020603050405020304" pitchFamily="18" charset="0"/>
              </a:rPr>
            </a:br>
            <a:r>
              <a:rPr lang="en-US" dirty="0">
                <a:solidFill>
                  <a:srgbClr val="FF0000"/>
                </a:solidFill>
                <a:latin typeface="Times" panose="02020603050405020304" pitchFamily="18" charset="0"/>
                <a:cs typeface="Times" panose="02020603050405020304" pitchFamily="18" charset="0"/>
              </a:rPr>
              <a:t>For the supplier delay risk, you decide to reduce it by finding a backup supplier and placing orders well in advance. This is added to your official Risk Management Plan.</a:t>
            </a:r>
          </a:p>
          <a:p>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15965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0D3E-315E-4280-95D6-90210CE00BE9}"/>
              </a:ext>
            </a:extLst>
          </p:cNvPr>
          <p:cNvSpPr>
            <a:spLocks noGrp="1"/>
          </p:cNvSpPr>
          <p:nvPr>
            <p:ph type="title"/>
          </p:nvPr>
        </p:nvSpPr>
        <p:spPr>
          <a:xfrm>
            <a:off x="838200" y="365125"/>
            <a:ext cx="10515600" cy="51220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CCB9BC4-4C43-4C77-88CB-79C127A7062B}"/>
              </a:ext>
            </a:extLst>
          </p:cNvPr>
          <p:cNvSpPr>
            <a:spLocks noGrp="1"/>
          </p:cNvSpPr>
          <p:nvPr>
            <p:ph idx="1"/>
          </p:nvPr>
        </p:nvSpPr>
        <p:spPr>
          <a:xfrm>
            <a:off x="838200" y="1013254"/>
            <a:ext cx="10515600" cy="5163709"/>
          </a:xfrm>
        </p:spPr>
        <p:txBody>
          <a:bodyPr>
            <a:normAutofit fontScale="92500" lnSpcReduction="20000"/>
          </a:bodyPr>
          <a:lstStyle/>
          <a:p>
            <a:pPr marL="0" indent="0">
              <a:buNone/>
            </a:pPr>
            <a:r>
              <a:rPr lang="en-US" b="1" dirty="0">
                <a:latin typeface="Times" panose="02020603050405020304" pitchFamily="18" charset="0"/>
                <a:cs typeface="Times" panose="02020603050405020304" pitchFamily="18" charset="0"/>
              </a:rPr>
              <a:t>4. Risk Monitoring and Reporting</a:t>
            </a:r>
          </a:p>
          <a:p>
            <a:r>
              <a:rPr lang="en-US" dirty="0">
                <a:latin typeface="Times" panose="02020603050405020304" pitchFamily="18" charset="0"/>
                <a:cs typeface="Times" panose="02020603050405020304" pitchFamily="18" charset="0"/>
              </a:rPr>
              <a:t>check on the applied solution- see if it can be updated and document the risk management process so that it can be used in the future.</a:t>
            </a:r>
          </a:p>
          <a:p>
            <a:r>
              <a:rPr lang="en-US" dirty="0">
                <a:latin typeface="Times" panose="02020603050405020304" pitchFamily="18" charset="0"/>
                <a:cs typeface="Times" panose="02020603050405020304" pitchFamily="18" charset="0"/>
              </a:rPr>
              <a:t> After treating the risks, keep monitoring them. Risks can evolve or new ones may appear. Also, document everything for future reference.</a:t>
            </a:r>
          </a:p>
          <a:p>
            <a:pPr marL="0" indent="0">
              <a:buNone/>
            </a:pPr>
            <a:r>
              <a:rPr lang="en-US" b="1" dirty="0">
                <a:latin typeface="Times" panose="02020603050405020304" pitchFamily="18" charset="0"/>
                <a:cs typeface="Times" panose="02020603050405020304" pitchFamily="18" charset="0"/>
              </a:rPr>
              <a:t>Such as;</a:t>
            </a:r>
          </a:p>
          <a:p>
            <a:r>
              <a:rPr lang="en-US" dirty="0">
                <a:latin typeface="Times" panose="02020603050405020304" pitchFamily="18" charset="0"/>
                <a:cs typeface="Times" panose="02020603050405020304" pitchFamily="18" charset="0"/>
              </a:rPr>
              <a:t>Regular check-ins to track progress of the risk mitigation actions.</a:t>
            </a:r>
          </a:p>
          <a:p>
            <a:r>
              <a:rPr lang="en-US" dirty="0">
                <a:latin typeface="Times" panose="02020603050405020304" pitchFamily="18" charset="0"/>
                <a:cs typeface="Times" panose="02020603050405020304" pitchFamily="18" charset="0"/>
              </a:rPr>
              <a:t>Update the plan if needed.</a:t>
            </a:r>
          </a:p>
          <a:p>
            <a:r>
              <a:rPr lang="en-US" dirty="0">
                <a:latin typeface="Times" panose="02020603050405020304" pitchFamily="18" charset="0"/>
                <a:cs typeface="Times" panose="02020603050405020304" pitchFamily="18" charset="0"/>
              </a:rPr>
              <a:t>Create reports that summarize risks and how they were handled.</a:t>
            </a:r>
          </a:p>
          <a:p>
            <a:r>
              <a:rPr lang="en-US" b="1" dirty="0">
                <a:latin typeface="Times" panose="02020603050405020304" pitchFamily="18" charset="0"/>
                <a:cs typeface="Times" panose="02020603050405020304" pitchFamily="18" charset="0"/>
              </a:rPr>
              <a:t>Example:</a:t>
            </a:r>
            <a:br>
              <a:rPr lang="en-US" dirty="0">
                <a:latin typeface="Times" panose="02020603050405020304" pitchFamily="18" charset="0"/>
                <a:cs typeface="Times" panose="02020603050405020304" pitchFamily="18" charset="0"/>
              </a:rPr>
            </a:br>
            <a:r>
              <a:rPr lang="en-US" dirty="0">
                <a:solidFill>
                  <a:srgbClr val="FF0000"/>
                </a:solidFill>
                <a:latin typeface="Times" panose="02020603050405020304" pitchFamily="18" charset="0"/>
                <a:cs typeface="Times" panose="02020603050405020304" pitchFamily="18" charset="0"/>
              </a:rPr>
              <a:t>You monitor the delivery timeline weekly. You find that the original supplier is still having delays, but thanks to the backup supplier, the schedule is unaffected. You document this in the project file for future teams to learn from.</a:t>
            </a:r>
          </a:p>
          <a:p>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452846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74E51BFF-710B-A89C-04C3-7A45BACD0500}"/>
              </a:ext>
            </a:extLst>
          </p:cNvPr>
          <p:cNvSpPr>
            <a:spLocks noGrp="1"/>
          </p:cNvSpPr>
          <p:nvPr>
            <p:ph type="title"/>
          </p:nvPr>
        </p:nvSpPr>
        <p:spPr>
          <a:xfrm>
            <a:off x="1981200" y="990600"/>
            <a:ext cx="8229600" cy="1066800"/>
          </a:xfrm>
        </p:spPr>
        <p:txBody>
          <a:bodyPr>
            <a:normAutofit fontScale="90000"/>
          </a:bodyPr>
          <a:lstStyle/>
          <a:p>
            <a:r>
              <a:rPr lang="en-US" altLang="en-US" b="1">
                <a:solidFill>
                  <a:srgbClr val="00B050"/>
                </a:solidFill>
                <a:latin typeface="Times New Roman" panose="02020603050405020304" pitchFamily="18" charset="0"/>
                <a:cs typeface="Times New Roman" panose="02020603050405020304" pitchFamily="18" charset="0"/>
              </a:rPr>
              <a:t>Lesson 9: Are You Ready to Be an Entrepreneur?</a:t>
            </a:r>
            <a:r>
              <a:rPr lang="en-US" altLang="en-US">
                <a:latin typeface="Times New Roman" panose="02020603050405020304" pitchFamily="18" charset="0"/>
                <a:cs typeface="Times New Roman" panose="02020603050405020304" pitchFamily="18" charset="0"/>
              </a:rPr>
              <a:t> </a:t>
            </a:r>
            <a:endParaRPr lang="en-US" altLang="en-US"/>
          </a:p>
        </p:txBody>
      </p:sp>
      <p:sp>
        <p:nvSpPr>
          <p:cNvPr id="3" name="Content Placeholder 2">
            <a:extLst>
              <a:ext uri="{FF2B5EF4-FFF2-40B4-BE49-F238E27FC236}">
                <a16:creationId xmlns:a16="http://schemas.microsoft.com/office/drawing/2014/main" id="{8B39EEF9-8ED1-3A87-AAA4-12C844069715}"/>
              </a:ext>
            </a:extLst>
          </p:cNvPr>
          <p:cNvSpPr>
            <a:spLocks noGrp="1"/>
          </p:cNvSpPr>
          <p:nvPr>
            <p:ph idx="1"/>
          </p:nvPr>
        </p:nvSpPr>
        <p:spPr>
          <a:xfrm>
            <a:off x="1981200" y="2438401"/>
            <a:ext cx="8229600" cy="3687763"/>
          </a:xfrm>
        </p:spPr>
        <p:txBody>
          <a:bodyPr/>
          <a:lstStyle/>
          <a:p>
            <a:pPr marL="0" indent="0" algn="just">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 </a:t>
            </a:r>
          </a:p>
          <a:p>
            <a:pPr algn="just">
              <a:defRPr/>
            </a:pPr>
            <a:r>
              <a:rPr lang="en-US" dirty="0">
                <a:latin typeface="Times New Roman" panose="02020603050405020304" pitchFamily="18" charset="0"/>
                <a:cs typeface="Times New Roman" panose="02020603050405020304" pitchFamily="18" charset="0"/>
              </a:rPr>
              <a:t>Identify the reasons why people want to become entrepreneurs.</a:t>
            </a:r>
          </a:p>
          <a:p>
            <a:pPr algn="just">
              <a:defRPr/>
            </a:pPr>
            <a:r>
              <a:rPr lang="en-US" dirty="0">
                <a:latin typeface="Times New Roman" panose="02020603050405020304" pitchFamily="18" charset="0"/>
                <a:cs typeface="Times New Roman" panose="02020603050405020304" pitchFamily="18" charset="0"/>
              </a:rPr>
              <a:t>Help participants identify why they would want to become entrepreneurs.</a:t>
            </a:r>
          </a:p>
          <a:p>
            <a:pPr algn="just">
              <a:defRPr/>
            </a:pPr>
            <a:r>
              <a:rPr lang="en-US" dirty="0">
                <a:latin typeface="Times New Roman" panose="02020603050405020304" pitchFamily="18" charset="0"/>
                <a:cs typeface="Times New Roman" panose="02020603050405020304" pitchFamily="18" charset="0"/>
              </a:rPr>
              <a:t>Give participants the real picture of the benefits and challenges of being an entrepreneur.</a:t>
            </a:r>
          </a:p>
          <a:p>
            <a:pPr marL="0" indent="0">
              <a:buNone/>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585BBBCD-EED2-B361-4D7F-5F0D4B0FF60C}"/>
              </a:ext>
            </a:extLst>
          </p:cNvPr>
          <p:cNvSpPr>
            <a:spLocks noGrp="1"/>
          </p:cNvSpPr>
          <p:nvPr>
            <p:ph type="title"/>
          </p:nvPr>
        </p:nvSpPr>
        <p:spPr>
          <a:xfrm>
            <a:off x="1981200" y="704850"/>
            <a:ext cx="8229600" cy="361950"/>
          </a:xfrm>
        </p:spPr>
        <p:txBody>
          <a:bodyPr>
            <a:normAutofit fontScale="90000"/>
          </a:bodyPr>
          <a:lstStyle/>
          <a:p>
            <a:r>
              <a:rPr lang="en-US" altLang="en-US"/>
              <a:t>Lesson 9 cont’d…</a:t>
            </a:r>
          </a:p>
        </p:txBody>
      </p:sp>
      <p:sp>
        <p:nvSpPr>
          <p:cNvPr id="3" name="Content Placeholder 2">
            <a:extLst>
              <a:ext uri="{FF2B5EF4-FFF2-40B4-BE49-F238E27FC236}">
                <a16:creationId xmlns:a16="http://schemas.microsoft.com/office/drawing/2014/main" id="{EF4037F6-0837-A61D-DD55-2064FFFD02F7}"/>
              </a:ext>
            </a:extLst>
          </p:cNvPr>
          <p:cNvSpPr>
            <a:spLocks noGrp="1"/>
          </p:cNvSpPr>
          <p:nvPr>
            <p:ph idx="1"/>
          </p:nvPr>
        </p:nvSpPr>
        <p:spPr>
          <a:xfrm>
            <a:off x="1828800" y="1066800"/>
            <a:ext cx="8534400" cy="5257800"/>
          </a:xfrm>
        </p:spPr>
        <p:txBody>
          <a:bodyPr/>
          <a:lstStyle/>
          <a:p>
            <a:pPr>
              <a:defRPr/>
            </a:pPr>
            <a:r>
              <a:rPr lang="en-US" b="1" dirty="0">
                <a:latin typeface="Times" pitchFamily="18" charset="0"/>
                <a:ea typeface="Tahoma" panose="020B0604030504040204" pitchFamily="34" charset="0"/>
                <a:cs typeface="Tahoma" panose="020B0604030504040204" pitchFamily="34" charset="0"/>
              </a:rPr>
              <a:t>An entrepreneur </a:t>
            </a:r>
            <a:r>
              <a:rPr lang="en-US" dirty="0">
                <a:latin typeface="Times" pitchFamily="18" charset="0"/>
                <a:ea typeface="Tahoma" panose="020B0604030504040204" pitchFamily="34" charset="0"/>
                <a:cs typeface="Tahoma" panose="020B0604030504040204" pitchFamily="34" charset="0"/>
              </a:rPr>
              <a:t>is a person who takes a risk of creating a business by investing skills, money, time or any other kind of resource</a:t>
            </a:r>
          </a:p>
          <a:p>
            <a:pPr>
              <a:defRPr/>
            </a:pPr>
            <a:r>
              <a:rPr lang="en-US" dirty="0">
                <a:latin typeface="Times" pitchFamily="18" charset="0"/>
                <a:ea typeface="Tahoma" panose="020B0604030504040204" pitchFamily="34" charset="0"/>
                <a:cs typeface="Tahoma" panose="020B0604030504040204" pitchFamily="34" charset="0"/>
              </a:rPr>
              <a:t>He’s a person who look at opportunities around him/her and turn them into business ideas</a:t>
            </a:r>
          </a:p>
          <a:p>
            <a:pPr marL="0" indent="0">
              <a:buNone/>
              <a:defRPr/>
            </a:pPr>
            <a:r>
              <a:rPr lang="en-US" b="1" dirty="0">
                <a:latin typeface="Times" pitchFamily="18" charset="0"/>
                <a:ea typeface="Tahoma" panose="020B0604030504040204" pitchFamily="34" charset="0"/>
                <a:cs typeface="Tahoma" panose="020B0604030504040204" pitchFamily="34" charset="0"/>
              </a:rPr>
              <a:t>Questions:</a:t>
            </a:r>
          </a:p>
          <a:p>
            <a:pPr marL="0" indent="0">
              <a:buNone/>
              <a:defRPr/>
            </a:pPr>
            <a:r>
              <a:rPr lang="en-US" dirty="0">
                <a:solidFill>
                  <a:srgbClr val="00B0F0"/>
                </a:solidFill>
                <a:latin typeface="Times" pitchFamily="18" charset="0"/>
                <a:ea typeface="Tahoma" panose="020B0604030504040204" pitchFamily="34" charset="0"/>
                <a:cs typeface="Tahoma" panose="020B0604030504040204" pitchFamily="34" charset="0"/>
              </a:rPr>
              <a:t>Why do you want to become entrepreneurs?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Solve society’s problems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Profit to live healthy</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Make more connections and networks</a:t>
            </a:r>
          </a:p>
          <a:p>
            <a:pPr>
              <a:buFont typeface="Wingdings" panose="05000000000000000000" pitchFamily="2" charset="2"/>
              <a:buChar char="Ø"/>
              <a:defRPr/>
            </a:pPr>
            <a:r>
              <a:rPr lang="en-US" dirty="0">
                <a:latin typeface="Times" pitchFamily="18" charset="0"/>
                <a:ea typeface="Tahoma" panose="020B0604030504040204" pitchFamily="34" charset="0"/>
                <a:cs typeface="Tahoma" panose="020B0604030504040204" pitchFamily="34" charset="0"/>
              </a:rPr>
              <a:t>Innovation for what others have tried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2E4D4B92-1939-5D50-18BC-63EED5BD0C5C}"/>
              </a:ext>
            </a:extLst>
          </p:cNvPr>
          <p:cNvSpPr>
            <a:spLocks noGrp="1"/>
          </p:cNvSpPr>
          <p:nvPr>
            <p:ph idx="1"/>
          </p:nvPr>
        </p:nvSpPr>
        <p:spPr/>
        <p:txBody>
          <a:bodyPr/>
          <a:lstStyle/>
          <a:p>
            <a:pPr marL="0" indent="0" algn="ctr">
              <a:buNone/>
            </a:pPr>
            <a:endParaRPr lang="en-US" altLang="en-US" sz="5400"/>
          </a:p>
          <a:p>
            <a:pPr marL="0" indent="0" algn="ctr">
              <a:buNone/>
            </a:pPr>
            <a:r>
              <a:rPr lang="en-US" altLang="en-US" sz="5400"/>
              <a:t>END!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1231</TotalTime>
  <Words>1704</Words>
  <Application>Microsoft Office PowerPoint</Application>
  <PresentationFormat>Widescreen</PresentationFormat>
  <Paragraphs>202</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Söhne</vt:lpstr>
      <vt:lpstr>Times</vt:lpstr>
      <vt:lpstr>Times New Roman</vt:lpstr>
      <vt:lpstr>Wingdings</vt:lpstr>
      <vt:lpstr>Office Theme</vt:lpstr>
      <vt:lpstr>Lesson 6: Design Thinking for Customer Delight </vt:lpstr>
      <vt:lpstr>PowerPoint Presentation</vt:lpstr>
      <vt:lpstr>Meaning</vt:lpstr>
      <vt:lpstr>Describe the Design Thinking process</vt:lpstr>
      <vt:lpstr>1. Empathize – Understanding User Needs </vt:lpstr>
      <vt:lpstr> 2. Define – Identifying the Core Problem </vt:lpstr>
      <vt:lpstr> 3. Ideate – Generating Creative Solutions </vt:lpstr>
      <vt:lpstr>4. Prototype – Creating Tangible Solutions </vt:lpstr>
      <vt:lpstr>5. Test – Refining Through User Feedback </vt:lpstr>
      <vt:lpstr>Key Principles of Design Thinking </vt:lpstr>
      <vt:lpstr>Why is Design Thinking Important? </vt:lpstr>
      <vt:lpstr>Applications of Design Thinking </vt:lpstr>
      <vt:lpstr>Lesson 7: Sales Skills to Become an Effective Entrepreneur  </vt:lpstr>
      <vt:lpstr>PowerPoint Presentation</vt:lpstr>
      <vt:lpstr>Cont’d…..</vt:lpstr>
      <vt:lpstr>Cont’d….</vt:lpstr>
      <vt:lpstr>Cont’d….</vt:lpstr>
      <vt:lpstr>Lesson 8: Managing Risks and Learning from Failures  </vt:lpstr>
      <vt:lpstr>Meanings </vt:lpstr>
      <vt:lpstr>PowerPoint Presentation</vt:lpstr>
      <vt:lpstr>PowerPoint Presentation</vt:lpstr>
      <vt:lpstr>PowerPoint Presentation</vt:lpstr>
      <vt:lpstr>PowerPoint Presentation</vt:lpstr>
      <vt:lpstr>PowerPoint Presentation</vt:lpstr>
      <vt:lpstr>4 Essential Steps for Risk Management</vt:lpstr>
      <vt:lpstr>PowerPoint Presentation</vt:lpstr>
      <vt:lpstr>PowerPoint Presentation</vt:lpstr>
      <vt:lpstr>PowerPoint Presentation</vt:lpstr>
      <vt:lpstr>PowerPoint Presentation</vt:lpstr>
      <vt:lpstr>Lesson 9: Are You Ready to Be an Entrepreneur? </vt:lpstr>
      <vt:lpstr>Lesson 9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m&amp;n technology</dc:creator>
  <cp:lastModifiedBy>m&amp;n technology</cp:lastModifiedBy>
  <cp:revision>19</cp:revision>
  <dcterms:created xsi:type="dcterms:W3CDTF">2025-02-27T10:36:34Z</dcterms:created>
  <dcterms:modified xsi:type="dcterms:W3CDTF">2025-04-24T12:10:25Z</dcterms:modified>
</cp:coreProperties>
</file>