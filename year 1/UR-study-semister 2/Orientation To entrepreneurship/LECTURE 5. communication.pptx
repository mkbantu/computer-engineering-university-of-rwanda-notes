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491" r:id="rId2"/>
    <p:sldId id="502" r:id="rId3"/>
    <p:sldId id="515" r:id="rId4"/>
    <p:sldId id="516" r:id="rId5"/>
    <p:sldId id="517" r:id="rId6"/>
    <p:sldId id="518" r:id="rId7"/>
    <p:sldId id="519" r:id="rId8"/>
    <p:sldId id="535" r:id="rId9"/>
    <p:sldId id="536" r:id="rId10"/>
    <p:sldId id="537" r:id="rId11"/>
    <p:sldId id="538" r:id="rId12"/>
    <p:sldId id="503" r:id="rId13"/>
    <p:sldId id="504" r:id="rId14"/>
    <p:sldId id="520" r:id="rId15"/>
    <p:sldId id="521" r:id="rId16"/>
    <p:sldId id="522" r:id="rId17"/>
  </p:sldIdLst>
  <p:sldSz cx="12192000" cy="6858000"/>
  <p:notesSz cx="6858000" cy="9144000"/>
  <p:defaultTextStyle>
    <a:defPPr>
      <a:defRPr lang="en-R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57" autoAdjust="0"/>
    <p:restoredTop sz="94660"/>
  </p:normalViewPr>
  <p:slideViewPr>
    <p:cSldViewPr snapToGrid="0">
      <p:cViewPr>
        <p:scale>
          <a:sx n="77" d="100"/>
          <a:sy n="77" d="100"/>
        </p:scale>
        <p:origin x="39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53359-BE4A-48DB-B700-FF0C83BCB14F}" type="datetimeFigureOut">
              <a:rPr lang="en-RW" smtClean="0"/>
              <a:t>02/27/2025</a:t>
            </a:fld>
            <a:endParaRPr lang="en-R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BE8177-6CEA-4010-AFD9-DEC5F9274222}" type="slidenum">
              <a:rPr lang="en-RW" smtClean="0"/>
              <a:t>‹#›</a:t>
            </a:fld>
            <a:endParaRPr lang="en-RW"/>
          </a:p>
        </p:txBody>
      </p:sp>
    </p:spTree>
    <p:extLst>
      <p:ext uri="{BB962C8B-B14F-4D97-AF65-F5344CB8AC3E}">
        <p14:creationId xmlns:p14="http://schemas.microsoft.com/office/powerpoint/2010/main" val="102015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8DD52-21AF-2809-E9C9-CA48CF9429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RW"/>
          </a:p>
        </p:txBody>
      </p:sp>
      <p:sp>
        <p:nvSpPr>
          <p:cNvPr id="3" name="Subtitle 2">
            <a:extLst>
              <a:ext uri="{FF2B5EF4-FFF2-40B4-BE49-F238E27FC236}">
                <a16:creationId xmlns:a16="http://schemas.microsoft.com/office/drawing/2014/main" id="{6F3E02E2-A56C-1D79-2B81-7CD8F3EFFB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RW"/>
          </a:p>
        </p:txBody>
      </p:sp>
      <p:sp>
        <p:nvSpPr>
          <p:cNvPr id="4" name="Date Placeholder 3">
            <a:extLst>
              <a:ext uri="{FF2B5EF4-FFF2-40B4-BE49-F238E27FC236}">
                <a16:creationId xmlns:a16="http://schemas.microsoft.com/office/drawing/2014/main" id="{0B001CD8-ABAD-8AF9-A721-3C9D8BC06986}"/>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5" name="Footer Placeholder 4">
            <a:extLst>
              <a:ext uri="{FF2B5EF4-FFF2-40B4-BE49-F238E27FC236}">
                <a16:creationId xmlns:a16="http://schemas.microsoft.com/office/drawing/2014/main" id="{13A2665F-E569-E694-2781-6034CE09EFE4}"/>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98CD7B24-F441-D744-1863-388BD3A6F001}"/>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4237038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1601B-4D63-6E1D-097B-2ED9894BAE83}"/>
              </a:ext>
            </a:extLst>
          </p:cNvPr>
          <p:cNvSpPr>
            <a:spLocks noGrp="1"/>
          </p:cNvSpPr>
          <p:nvPr>
            <p:ph type="title"/>
          </p:nvPr>
        </p:nvSpPr>
        <p:spPr/>
        <p:txBody>
          <a:bodyPr/>
          <a:lstStyle/>
          <a:p>
            <a:r>
              <a:rPr lang="en-US"/>
              <a:t>Click to edit Master title style</a:t>
            </a:r>
            <a:endParaRPr lang="en-RW"/>
          </a:p>
        </p:txBody>
      </p:sp>
      <p:sp>
        <p:nvSpPr>
          <p:cNvPr id="3" name="Content Placeholder 2">
            <a:extLst>
              <a:ext uri="{FF2B5EF4-FFF2-40B4-BE49-F238E27FC236}">
                <a16:creationId xmlns:a16="http://schemas.microsoft.com/office/drawing/2014/main" id="{E9CCD50F-EC5E-1CD5-9013-CC6BB3EC6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E9A3E61B-3432-8E3E-D941-440D801F9938}"/>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5" name="Footer Placeholder 4">
            <a:extLst>
              <a:ext uri="{FF2B5EF4-FFF2-40B4-BE49-F238E27FC236}">
                <a16:creationId xmlns:a16="http://schemas.microsoft.com/office/drawing/2014/main" id="{22497307-4D2F-E90C-918E-268C4EDCAB6B}"/>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CC0638B7-A5F2-18EA-7BD0-B4FF60B69D87}"/>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2896600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D3540-D27D-06AD-5778-D9B1BB4A97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RW"/>
          </a:p>
        </p:txBody>
      </p:sp>
      <p:sp>
        <p:nvSpPr>
          <p:cNvPr id="3" name="Text Placeholder 2">
            <a:extLst>
              <a:ext uri="{FF2B5EF4-FFF2-40B4-BE49-F238E27FC236}">
                <a16:creationId xmlns:a16="http://schemas.microsoft.com/office/drawing/2014/main" id="{69A75854-4FB4-2B2D-9832-D96CFAAF12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DA8AE5-2088-B78C-E7B9-E96229789505}"/>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5" name="Footer Placeholder 4">
            <a:extLst>
              <a:ext uri="{FF2B5EF4-FFF2-40B4-BE49-F238E27FC236}">
                <a16:creationId xmlns:a16="http://schemas.microsoft.com/office/drawing/2014/main" id="{81F1189C-B674-EB1C-ABAD-19FF31488FAD}"/>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AA91E55C-1A1D-C12A-E4C8-094F862B243C}"/>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67986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AD46A-C11A-099D-ACA9-8FD72B8D6146}"/>
              </a:ext>
            </a:extLst>
          </p:cNvPr>
          <p:cNvSpPr>
            <a:spLocks noGrp="1"/>
          </p:cNvSpPr>
          <p:nvPr>
            <p:ph type="title"/>
          </p:nvPr>
        </p:nvSpPr>
        <p:spPr/>
        <p:txBody>
          <a:bodyPr/>
          <a:lstStyle/>
          <a:p>
            <a:r>
              <a:rPr lang="en-US"/>
              <a:t>Click to edit Master title style</a:t>
            </a:r>
            <a:endParaRPr lang="en-RW"/>
          </a:p>
        </p:txBody>
      </p:sp>
      <p:sp>
        <p:nvSpPr>
          <p:cNvPr id="3" name="Content Placeholder 2">
            <a:extLst>
              <a:ext uri="{FF2B5EF4-FFF2-40B4-BE49-F238E27FC236}">
                <a16:creationId xmlns:a16="http://schemas.microsoft.com/office/drawing/2014/main" id="{39732BE2-D20E-EA6B-A879-9335E7DAD2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Content Placeholder 3">
            <a:extLst>
              <a:ext uri="{FF2B5EF4-FFF2-40B4-BE49-F238E27FC236}">
                <a16:creationId xmlns:a16="http://schemas.microsoft.com/office/drawing/2014/main" id="{F023FABD-0499-E587-FA5C-2C1057A363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5" name="Date Placeholder 4">
            <a:extLst>
              <a:ext uri="{FF2B5EF4-FFF2-40B4-BE49-F238E27FC236}">
                <a16:creationId xmlns:a16="http://schemas.microsoft.com/office/drawing/2014/main" id="{C55F39AE-5056-A8B8-31B8-FFBBEF4D9F06}"/>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6" name="Footer Placeholder 5">
            <a:extLst>
              <a:ext uri="{FF2B5EF4-FFF2-40B4-BE49-F238E27FC236}">
                <a16:creationId xmlns:a16="http://schemas.microsoft.com/office/drawing/2014/main" id="{6721AAED-78C6-4F38-0193-37AFB6C90549}"/>
              </a:ext>
            </a:extLst>
          </p:cNvPr>
          <p:cNvSpPr>
            <a:spLocks noGrp="1"/>
          </p:cNvSpPr>
          <p:nvPr>
            <p:ph type="ftr" sz="quarter" idx="11"/>
          </p:nvPr>
        </p:nvSpPr>
        <p:spPr/>
        <p:txBody>
          <a:bodyPr/>
          <a:lstStyle/>
          <a:p>
            <a:endParaRPr lang="en-RW"/>
          </a:p>
        </p:txBody>
      </p:sp>
      <p:sp>
        <p:nvSpPr>
          <p:cNvPr id="7" name="Slide Number Placeholder 6">
            <a:extLst>
              <a:ext uri="{FF2B5EF4-FFF2-40B4-BE49-F238E27FC236}">
                <a16:creationId xmlns:a16="http://schemas.microsoft.com/office/drawing/2014/main" id="{3765ADF0-568B-D92C-A3D3-1239CDE573CC}"/>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456522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73F13-0846-BD37-9144-EEEE1068AC20}"/>
              </a:ext>
            </a:extLst>
          </p:cNvPr>
          <p:cNvSpPr>
            <a:spLocks noGrp="1"/>
          </p:cNvSpPr>
          <p:nvPr>
            <p:ph type="title"/>
          </p:nvPr>
        </p:nvSpPr>
        <p:spPr>
          <a:xfrm>
            <a:off x="839788" y="365125"/>
            <a:ext cx="10515600" cy="1325563"/>
          </a:xfrm>
        </p:spPr>
        <p:txBody>
          <a:bodyPr/>
          <a:lstStyle/>
          <a:p>
            <a:r>
              <a:rPr lang="en-US"/>
              <a:t>Click to edit Master title style</a:t>
            </a:r>
            <a:endParaRPr lang="en-RW"/>
          </a:p>
        </p:txBody>
      </p:sp>
      <p:sp>
        <p:nvSpPr>
          <p:cNvPr id="3" name="Text Placeholder 2">
            <a:extLst>
              <a:ext uri="{FF2B5EF4-FFF2-40B4-BE49-F238E27FC236}">
                <a16:creationId xmlns:a16="http://schemas.microsoft.com/office/drawing/2014/main" id="{80B82D98-A699-7424-EBBE-C1639802AB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2C34E-F81E-92EF-CB4E-0AEC7977B2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5" name="Text Placeholder 4">
            <a:extLst>
              <a:ext uri="{FF2B5EF4-FFF2-40B4-BE49-F238E27FC236}">
                <a16:creationId xmlns:a16="http://schemas.microsoft.com/office/drawing/2014/main" id="{018EB984-05B8-D1B5-3144-0B822B6D9C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8F2775-871E-2750-B4FE-8495262788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7" name="Date Placeholder 6">
            <a:extLst>
              <a:ext uri="{FF2B5EF4-FFF2-40B4-BE49-F238E27FC236}">
                <a16:creationId xmlns:a16="http://schemas.microsoft.com/office/drawing/2014/main" id="{1C8D219C-51A4-D23A-7910-4E300FE74E24}"/>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8" name="Footer Placeholder 7">
            <a:extLst>
              <a:ext uri="{FF2B5EF4-FFF2-40B4-BE49-F238E27FC236}">
                <a16:creationId xmlns:a16="http://schemas.microsoft.com/office/drawing/2014/main" id="{934F11BF-853E-670B-3305-6120AE973D36}"/>
              </a:ext>
            </a:extLst>
          </p:cNvPr>
          <p:cNvSpPr>
            <a:spLocks noGrp="1"/>
          </p:cNvSpPr>
          <p:nvPr>
            <p:ph type="ftr" sz="quarter" idx="11"/>
          </p:nvPr>
        </p:nvSpPr>
        <p:spPr/>
        <p:txBody>
          <a:bodyPr/>
          <a:lstStyle/>
          <a:p>
            <a:endParaRPr lang="en-RW"/>
          </a:p>
        </p:txBody>
      </p:sp>
      <p:sp>
        <p:nvSpPr>
          <p:cNvPr id="9" name="Slide Number Placeholder 8">
            <a:extLst>
              <a:ext uri="{FF2B5EF4-FFF2-40B4-BE49-F238E27FC236}">
                <a16:creationId xmlns:a16="http://schemas.microsoft.com/office/drawing/2014/main" id="{8DE6A834-6652-66B1-62AB-208ED4729478}"/>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388386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D2003-D2E2-892F-56A2-23699C6BD9DD}"/>
              </a:ext>
            </a:extLst>
          </p:cNvPr>
          <p:cNvSpPr>
            <a:spLocks noGrp="1"/>
          </p:cNvSpPr>
          <p:nvPr>
            <p:ph type="title"/>
          </p:nvPr>
        </p:nvSpPr>
        <p:spPr/>
        <p:txBody>
          <a:bodyPr/>
          <a:lstStyle/>
          <a:p>
            <a:r>
              <a:rPr lang="en-US"/>
              <a:t>Click to edit Master title style</a:t>
            </a:r>
            <a:endParaRPr lang="en-RW"/>
          </a:p>
        </p:txBody>
      </p:sp>
      <p:sp>
        <p:nvSpPr>
          <p:cNvPr id="3" name="Date Placeholder 2">
            <a:extLst>
              <a:ext uri="{FF2B5EF4-FFF2-40B4-BE49-F238E27FC236}">
                <a16:creationId xmlns:a16="http://schemas.microsoft.com/office/drawing/2014/main" id="{C101D328-2585-D6FB-9106-315A09A6E140}"/>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4" name="Footer Placeholder 3">
            <a:extLst>
              <a:ext uri="{FF2B5EF4-FFF2-40B4-BE49-F238E27FC236}">
                <a16:creationId xmlns:a16="http://schemas.microsoft.com/office/drawing/2014/main" id="{565BAF12-7C54-1879-D257-1A1FEACE0464}"/>
              </a:ext>
            </a:extLst>
          </p:cNvPr>
          <p:cNvSpPr>
            <a:spLocks noGrp="1"/>
          </p:cNvSpPr>
          <p:nvPr>
            <p:ph type="ftr" sz="quarter" idx="11"/>
          </p:nvPr>
        </p:nvSpPr>
        <p:spPr/>
        <p:txBody>
          <a:bodyPr/>
          <a:lstStyle/>
          <a:p>
            <a:endParaRPr lang="en-RW"/>
          </a:p>
        </p:txBody>
      </p:sp>
      <p:sp>
        <p:nvSpPr>
          <p:cNvPr id="5" name="Slide Number Placeholder 4">
            <a:extLst>
              <a:ext uri="{FF2B5EF4-FFF2-40B4-BE49-F238E27FC236}">
                <a16:creationId xmlns:a16="http://schemas.microsoft.com/office/drawing/2014/main" id="{CF19AD3D-D624-5EC9-A375-DDF0420D05D5}"/>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1987748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B0E680-07F6-F75C-9395-A89728883A85}"/>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3" name="Footer Placeholder 2">
            <a:extLst>
              <a:ext uri="{FF2B5EF4-FFF2-40B4-BE49-F238E27FC236}">
                <a16:creationId xmlns:a16="http://schemas.microsoft.com/office/drawing/2014/main" id="{E43D3B38-7ECD-5E5A-74AA-C0D7A530B772}"/>
              </a:ext>
            </a:extLst>
          </p:cNvPr>
          <p:cNvSpPr>
            <a:spLocks noGrp="1"/>
          </p:cNvSpPr>
          <p:nvPr>
            <p:ph type="ftr" sz="quarter" idx="11"/>
          </p:nvPr>
        </p:nvSpPr>
        <p:spPr/>
        <p:txBody>
          <a:bodyPr/>
          <a:lstStyle/>
          <a:p>
            <a:endParaRPr lang="en-RW"/>
          </a:p>
        </p:txBody>
      </p:sp>
      <p:sp>
        <p:nvSpPr>
          <p:cNvPr id="4" name="Slide Number Placeholder 3">
            <a:extLst>
              <a:ext uri="{FF2B5EF4-FFF2-40B4-BE49-F238E27FC236}">
                <a16:creationId xmlns:a16="http://schemas.microsoft.com/office/drawing/2014/main" id="{73AB1939-82F4-D8B2-89B3-484CA86904EA}"/>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1848428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A5351-6B5B-A5B9-98B1-5C8C844DEA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RW"/>
          </a:p>
        </p:txBody>
      </p:sp>
      <p:sp>
        <p:nvSpPr>
          <p:cNvPr id="3" name="Content Placeholder 2">
            <a:extLst>
              <a:ext uri="{FF2B5EF4-FFF2-40B4-BE49-F238E27FC236}">
                <a16:creationId xmlns:a16="http://schemas.microsoft.com/office/drawing/2014/main" id="{64E17BA1-45D3-AB06-5E1A-4591CE2355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Text Placeholder 3">
            <a:extLst>
              <a:ext uri="{FF2B5EF4-FFF2-40B4-BE49-F238E27FC236}">
                <a16:creationId xmlns:a16="http://schemas.microsoft.com/office/drawing/2014/main" id="{D9CF1935-F366-E0F1-285F-30CE8C050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AD1063-DB90-B54D-2BD5-D6560B87A83F}"/>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6" name="Footer Placeholder 5">
            <a:extLst>
              <a:ext uri="{FF2B5EF4-FFF2-40B4-BE49-F238E27FC236}">
                <a16:creationId xmlns:a16="http://schemas.microsoft.com/office/drawing/2014/main" id="{99844DE8-83F5-1C8A-22C8-F400A190DAF5}"/>
              </a:ext>
            </a:extLst>
          </p:cNvPr>
          <p:cNvSpPr>
            <a:spLocks noGrp="1"/>
          </p:cNvSpPr>
          <p:nvPr>
            <p:ph type="ftr" sz="quarter" idx="11"/>
          </p:nvPr>
        </p:nvSpPr>
        <p:spPr/>
        <p:txBody>
          <a:bodyPr/>
          <a:lstStyle/>
          <a:p>
            <a:endParaRPr lang="en-RW"/>
          </a:p>
        </p:txBody>
      </p:sp>
      <p:sp>
        <p:nvSpPr>
          <p:cNvPr id="7" name="Slide Number Placeholder 6">
            <a:extLst>
              <a:ext uri="{FF2B5EF4-FFF2-40B4-BE49-F238E27FC236}">
                <a16:creationId xmlns:a16="http://schemas.microsoft.com/office/drawing/2014/main" id="{40161C97-7388-11C6-A803-14E4E0684ABC}"/>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876351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0FBDE-4C3C-7433-A21D-28E686731B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RW"/>
          </a:p>
        </p:txBody>
      </p:sp>
      <p:sp>
        <p:nvSpPr>
          <p:cNvPr id="3" name="Picture Placeholder 2">
            <a:extLst>
              <a:ext uri="{FF2B5EF4-FFF2-40B4-BE49-F238E27FC236}">
                <a16:creationId xmlns:a16="http://schemas.microsoft.com/office/drawing/2014/main" id="{37476241-E230-A53B-75F9-A4F0E2BD34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RW"/>
          </a:p>
        </p:txBody>
      </p:sp>
      <p:sp>
        <p:nvSpPr>
          <p:cNvPr id="4" name="Text Placeholder 3">
            <a:extLst>
              <a:ext uri="{FF2B5EF4-FFF2-40B4-BE49-F238E27FC236}">
                <a16:creationId xmlns:a16="http://schemas.microsoft.com/office/drawing/2014/main" id="{9E923630-C04D-9AA1-8625-94B33C1843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EE85C-6616-43DF-6500-A31A1CC2A2A2}"/>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6" name="Footer Placeholder 5">
            <a:extLst>
              <a:ext uri="{FF2B5EF4-FFF2-40B4-BE49-F238E27FC236}">
                <a16:creationId xmlns:a16="http://schemas.microsoft.com/office/drawing/2014/main" id="{44032760-056D-BAFF-47A7-59039FE6E8C3}"/>
              </a:ext>
            </a:extLst>
          </p:cNvPr>
          <p:cNvSpPr>
            <a:spLocks noGrp="1"/>
          </p:cNvSpPr>
          <p:nvPr>
            <p:ph type="ftr" sz="quarter" idx="11"/>
          </p:nvPr>
        </p:nvSpPr>
        <p:spPr/>
        <p:txBody>
          <a:bodyPr/>
          <a:lstStyle/>
          <a:p>
            <a:endParaRPr lang="en-RW"/>
          </a:p>
        </p:txBody>
      </p:sp>
      <p:sp>
        <p:nvSpPr>
          <p:cNvPr id="7" name="Slide Number Placeholder 6">
            <a:extLst>
              <a:ext uri="{FF2B5EF4-FFF2-40B4-BE49-F238E27FC236}">
                <a16:creationId xmlns:a16="http://schemas.microsoft.com/office/drawing/2014/main" id="{2083E735-D4C8-FB99-C214-034622C620F8}"/>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2369706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7F083-7DA5-DBF8-A96A-2AA0BA4AD1C1}"/>
              </a:ext>
            </a:extLst>
          </p:cNvPr>
          <p:cNvSpPr>
            <a:spLocks noGrp="1"/>
          </p:cNvSpPr>
          <p:nvPr>
            <p:ph type="title"/>
          </p:nvPr>
        </p:nvSpPr>
        <p:spPr/>
        <p:txBody>
          <a:bodyPr/>
          <a:lstStyle/>
          <a:p>
            <a:r>
              <a:rPr lang="en-US"/>
              <a:t>Click to edit Master title style</a:t>
            </a:r>
            <a:endParaRPr lang="en-RW"/>
          </a:p>
        </p:txBody>
      </p:sp>
      <p:sp>
        <p:nvSpPr>
          <p:cNvPr id="3" name="Vertical Text Placeholder 2">
            <a:extLst>
              <a:ext uri="{FF2B5EF4-FFF2-40B4-BE49-F238E27FC236}">
                <a16:creationId xmlns:a16="http://schemas.microsoft.com/office/drawing/2014/main" id="{2EC89DCF-9A78-2077-1086-CAC3146590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503D5C76-B774-6DE4-34C3-C4487056204A}"/>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5" name="Footer Placeholder 4">
            <a:extLst>
              <a:ext uri="{FF2B5EF4-FFF2-40B4-BE49-F238E27FC236}">
                <a16:creationId xmlns:a16="http://schemas.microsoft.com/office/drawing/2014/main" id="{BB0706FF-0F54-078D-6744-812E93BE2657}"/>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47B4B773-403E-530A-2A44-1CCBC2CFD681}"/>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150580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F1A073-4149-2386-FE47-D68F978809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RW"/>
          </a:p>
        </p:txBody>
      </p:sp>
      <p:sp>
        <p:nvSpPr>
          <p:cNvPr id="3" name="Vertical Text Placeholder 2">
            <a:extLst>
              <a:ext uri="{FF2B5EF4-FFF2-40B4-BE49-F238E27FC236}">
                <a16:creationId xmlns:a16="http://schemas.microsoft.com/office/drawing/2014/main" id="{8A2F0B02-04C6-E788-E501-9D73D408C0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9C7354DD-B2A0-E736-75A7-2FEE0FB9E373}"/>
              </a:ext>
            </a:extLst>
          </p:cNvPr>
          <p:cNvSpPr>
            <a:spLocks noGrp="1"/>
          </p:cNvSpPr>
          <p:nvPr>
            <p:ph type="dt" sz="half" idx="10"/>
          </p:nvPr>
        </p:nvSpPr>
        <p:spPr/>
        <p:txBody>
          <a:bodyPr/>
          <a:lstStyle/>
          <a:p>
            <a:fld id="{1980F7E9-0E15-49A3-87CD-E3F3B4DF0D3E}" type="datetimeFigureOut">
              <a:rPr lang="en-RW" smtClean="0"/>
              <a:t>02/27/2025</a:t>
            </a:fld>
            <a:endParaRPr lang="en-RW"/>
          </a:p>
        </p:txBody>
      </p:sp>
      <p:sp>
        <p:nvSpPr>
          <p:cNvPr id="5" name="Footer Placeholder 4">
            <a:extLst>
              <a:ext uri="{FF2B5EF4-FFF2-40B4-BE49-F238E27FC236}">
                <a16:creationId xmlns:a16="http://schemas.microsoft.com/office/drawing/2014/main" id="{68B38AFA-2FB2-5864-A009-0582E13EB5AD}"/>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DA57DAB6-FEED-0EA9-C736-8794A848793C}"/>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1077323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E8B9D7-817D-E206-0299-705C57E600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RW"/>
          </a:p>
        </p:txBody>
      </p:sp>
      <p:sp>
        <p:nvSpPr>
          <p:cNvPr id="3" name="Text Placeholder 2">
            <a:extLst>
              <a:ext uri="{FF2B5EF4-FFF2-40B4-BE49-F238E27FC236}">
                <a16:creationId xmlns:a16="http://schemas.microsoft.com/office/drawing/2014/main" id="{973DA858-1A64-FFFA-2643-1FA0AD89DF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41A7FE88-E0E6-512C-660E-F83A6BCB4D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80F7E9-0E15-49A3-87CD-E3F3B4DF0D3E}" type="datetimeFigureOut">
              <a:rPr lang="en-RW" smtClean="0"/>
              <a:t>02/27/2025</a:t>
            </a:fld>
            <a:endParaRPr lang="en-RW"/>
          </a:p>
        </p:txBody>
      </p:sp>
      <p:sp>
        <p:nvSpPr>
          <p:cNvPr id="5" name="Footer Placeholder 4">
            <a:extLst>
              <a:ext uri="{FF2B5EF4-FFF2-40B4-BE49-F238E27FC236}">
                <a16:creationId xmlns:a16="http://schemas.microsoft.com/office/drawing/2014/main" id="{160AB70B-B5FF-F8DF-2022-B5CB5E3373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RW"/>
          </a:p>
        </p:txBody>
      </p:sp>
      <p:sp>
        <p:nvSpPr>
          <p:cNvPr id="6" name="Slide Number Placeholder 5">
            <a:extLst>
              <a:ext uri="{FF2B5EF4-FFF2-40B4-BE49-F238E27FC236}">
                <a16:creationId xmlns:a16="http://schemas.microsoft.com/office/drawing/2014/main" id="{B58FF958-A65D-AEFD-EEDB-9005D4F0A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2A9EE0-8333-48D4-8E41-9BF4AA01403B}" type="slidenum">
              <a:rPr lang="en-RW" smtClean="0"/>
              <a:t>‹#›</a:t>
            </a:fld>
            <a:endParaRPr lang="en-RW"/>
          </a:p>
        </p:txBody>
      </p:sp>
    </p:spTree>
    <p:extLst>
      <p:ext uri="{BB962C8B-B14F-4D97-AF65-F5344CB8AC3E}">
        <p14:creationId xmlns:p14="http://schemas.microsoft.com/office/powerpoint/2010/main" val="325802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D593567-67D7-F7D4-4D8B-FE873D0EFA1C}"/>
              </a:ext>
            </a:extLst>
          </p:cNvPr>
          <p:cNvSpPr>
            <a:spLocks noGrp="1"/>
          </p:cNvSpPr>
          <p:nvPr>
            <p:ph type="title"/>
          </p:nvPr>
        </p:nvSpPr>
        <p:spPr>
          <a:xfrm>
            <a:off x="1981200" y="704850"/>
            <a:ext cx="8458200" cy="1143000"/>
          </a:xfrm>
        </p:spPr>
        <p:txBody>
          <a:bodyPr>
            <a:normAutofit fontScale="90000"/>
          </a:bodyPr>
          <a:lstStyle/>
          <a:p>
            <a:r>
              <a:rPr lang="en-US" altLang="en-US" sz="4800" b="1">
                <a:solidFill>
                  <a:srgbClr val="00B050"/>
                </a:solidFill>
                <a:latin typeface="Times New Roman" panose="02020603050405020304" pitchFamily="18" charset="0"/>
                <a:cs typeface="Times New Roman" panose="02020603050405020304" pitchFamily="18" charset="0"/>
              </a:rPr>
              <a:t>Lesson 5: Communicate Effectively</a:t>
            </a:r>
            <a:endParaRPr lang="en-US" altLang="en-US" sz="48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DDFD21C-7739-9F77-8339-69745696274A}"/>
              </a:ext>
            </a:extLst>
          </p:cNvPr>
          <p:cNvSpPr>
            <a:spLocks noGrp="1"/>
          </p:cNvSpPr>
          <p:nvPr>
            <p:ph idx="1"/>
          </p:nvPr>
        </p:nvSpPr>
        <p:spPr/>
        <p:txBody>
          <a:bodyPr/>
          <a:lstStyle/>
          <a:p>
            <a:pPr marL="0" indent="0">
              <a:buNone/>
              <a:defRPr/>
            </a:pPr>
            <a:r>
              <a:rPr lang="en-US" b="1" i="1" u="sng" dirty="0">
                <a:solidFill>
                  <a:srgbClr val="0070C0"/>
                </a:solidFill>
              </a:rPr>
              <a:t>Learning Objectives</a:t>
            </a:r>
            <a:r>
              <a:rPr lang="en-US" i="1" u="sng" dirty="0">
                <a:solidFill>
                  <a:srgbClr val="0070C0"/>
                </a:solidFill>
              </a:rPr>
              <a:t>:</a:t>
            </a:r>
            <a:r>
              <a:rPr lang="en-US" dirty="0">
                <a:solidFill>
                  <a:srgbClr val="0070C0"/>
                </a:solidFill>
              </a:rPr>
              <a:t> </a:t>
            </a:r>
          </a:p>
          <a:p>
            <a:pPr algn="just">
              <a:defRPr/>
            </a:pPr>
            <a:r>
              <a:rPr lang="en-US" dirty="0">
                <a:latin typeface="Times New Roman" panose="02020603050405020304" pitchFamily="18" charset="0"/>
                <a:cs typeface="Times New Roman" panose="02020603050405020304" pitchFamily="18" charset="0"/>
              </a:rPr>
              <a:t>Learn how incorrect assumptions and limiting our opinions about people can negatively impact our communication.</a:t>
            </a:r>
          </a:p>
          <a:p>
            <a:pPr algn="just">
              <a:defRPr/>
            </a:pPr>
            <a:r>
              <a:rPr lang="en-US" dirty="0">
                <a:latin typeface="Times New Roman" panose="02020603050405020304" pitchFamily="18" charset="0"/>
                <a:cs typeface="Times New Roman" panose="02020603050405020304" pitchFamily="18" charset="0"/>
              </a:rPr>
              <a:t>Identify the barriers which cause communication breakdowns, such as miscommunication and poor listening, and learn how to overcome them.</a:t>
            </a:r>
          </a:p>
          <a:p>
            <a:pPr algn="just">
              <a:defRPr/>
            </a:pPr>
            <a:r>
              <a:rPr lang="en-US" dirty="0">
                <a:latin typeface="Times New Roman" panose="02020603050405020304" pitchFamily="18" charset="0"/>
                <a:cs typeface="Times New Roman" panose="02020603050405020304" pitchFamily="18" charset="0"/>
              </a:rPr>
              <a:t>Understand the importance of listening and learn to listen actively.</a:t>
            </a:r>
          </a:p>
          <a:p>
            <a:pPr marL="0" indent="0">
              <a:buNone/>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75FA02A6-CE17-8F7D-FBF7-1E088314BE35}"/>
              </a:ext>
            </a:extLst>
          </p:cNvPr>
          <p:cNvSpPr>
            <a:spLocks noGrp="1"/>
          </p:cNvSpPr>
          <p:nvPr>
            <p:ph type="title"/>
          </p:nvPr>
        </p:nvSpPr>
        <p:spPr>
          <a:xfrm>
            <a:off x="1752600" y="704850"/>
            <a:ext cx="8915400" cy="1143000"/>
          </a:xfrm>
        </p:spPr>
        <p:txBody>
          <a:bodyPr>
            <a:normAutofit fontScale="90000"/>
          </a:bodyPr>
          <a:lstStyle/>
          <a:p>
            <a:r>
              <a:rPr lang="en-US" altLang="en-US" sz="2800" b="1" dirty="0">
                <a:latin typeface="Times New Roman" panose="02020603050405020304" pitchFamily="18" charset="0"/>
                <a:cs typeface="Times New Roman" panose="02020603050405020304" pitchFamily="18" charset="0"/>
              </a:rPr>
              <a:t>Learn how incorrect assumptions and limiting our opinions about people can negatively impact our communication.</a:t>
            </a:r>
            <a:endParaRPr lang="en-US" altLang="en-US" sz="2800" b="1" dirty="0"/>
          </a:p>
        </p:txBody>
      </p:sp>
      <p:sp>
        <p:nvSpPr>
          <p:cNvPr id="3" name="Content Placeholder 2">
            <a:extLst>
              <a:ext uri="{FF2B5EF4-FFF2-40B4-BE49-F238E27FC236}">
                <a16:creationId xmlns:a16="http://schemas.microsoft.com/office/drawing/2014/main" id="{8F830FA1-45D2-07A3-EC47-3C6C2B541966}"/>
              </a:ext>
            </a:extLst>
          </p:cNvPr>
          <p:cNvSpPr>
            <a:spLocks noGrp="1"/>
          </p:cNvSpPr>
          <p:nvPr>
            <p:ph idx="1"/>
          </p:nvPr>
        </p:nvSpPr>
        <p:spPr/>
        <p:txBody>
          <a:bodyPr>
            <a:normAutofit fontScale="92500" lnSpcReduction="10000"/>
          </a:bodyPr>
          <a:lstStyle/>
          <a:p>
            <a:pPr marL="0" indent="0" algn="ctr">
              <a:buNone/>
              <a:defRPr/>
            </a:pPr>
            <a:r>
              <a:rPr lang="en-US" b="1" dirty="0">
                <a:latin typeface="Times New Roman" panose="02020603050405020304" pitchFamily="18" charset="0"/>
                <a:cs typeface="Times New Roman" panose="02020603050405020304" pitchFamily="18" charset="0"/>
              </a:rPr>
              <a:t>“Everything is not what it is”</a:t>
            </a:r>
          </a:p>
          <a:p>
            <a:pPr>
              <a:defRPr/>
            </a:pPr>
            <a:r>
              <a:rPr lang="en-US" dirty="0">
                <a:latin typeface="Times New Roman" panose="02020603050405020304" pitchFamily="18" charset="0"/>
                <a:cs typeface="Times New Roman" panose="02020603050405020304" pitchFamily="18" charset="0"/>
              </a:rPr>
              <a:t>When we meet people for the first time, we first make assumptions about them, like how dirty they are, how do they look, and many other assumptions</a:t>
            </a:r>
          </a:p>
          <a:p>
            <a:pPr>
              <a:defRPr/>
            </a:pP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When we talk of effective communication we don’t mean perfect grammar or impressive words.</a:t>
            </a:r>
          </a:p>
          <a:p>
            <a:pPr marL="0" indent="0">
              <a:buNone/>
              <a:defRPr/>
            </a:pPr>
            <a:endParaRPr lang="en-US" b="1" dirty="0">
              <a:latin typeface="Times New Roman" panose="02020603050405020304" pitchFamily="18" charset="0"/>
              <a:cs typeface="Times New Roman" panose="02020603050405020304" pitchFamily="18" charset="0"/>
            </a:endParaRPr>
          </a:p>
          <a:p>
            <a:pPr marL="0" indent="0">
              <a:buNone/>
              <a:defRPr/>
            </a:pPr>
            <a:r>
              <a:rPr lang="en-US" b="1" dirty="0">
                <a:latin typeface="Times New Roman" panose="02020603050405020304" pitchFamily="18" charset="0"/>
                <a:cs typeface="Times New Roman" panose="02020603050405020304" pitchFamily="18" charset="0"/>
              </a:rPr>
              <a:t>We simply mean:</a:t>
            </a:r>
          </a:p>
          <a:p>
            <a:pPr marL="0" indent="0">
              <a:buNone/>
              <a:defRPr/>
            </a:pPr>
            <a:r>
              <a:rPr lang="en-US" dirty="0">
                <a:latin typeface="Times New Roman" panose="02020603050405020304" pitchFamily="18" charset="0"/>
                <a:cs typeface="Times New Roman" panose="02020603050405020304" pitchFamily="18" charset="0"/>
              </a:rPr>
              <a:t>Personality, body language, posture (how do get across to people and how we listen to them)</a:t>
            </a:r>
          </a:p>
          <a:p>
            <a:pPr marL="0" indent="0">
              <a:buNone/>
              <a:defRPr/>
            </a:pPr>
            <a:endParaRPr lang="en-US" dirty="0"/>
          </a:p>
          <a:p>
            <a:pPr>
              <a:defRP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9028-E09E-DAE8-1FDA-4A6D04A815B9}"/>
              </a:ext>
            </a:extLst>
          </p:cNvPr>
          <p:cNvSpPr>
            <a:spLocks noGrp="1"/>
          </p:cNvSpPr>
          <p:nvPr>
            <p:ph type="title"/>
          </p:nvPr>
        </p:nvSpPr>
        <p:spPr/>
        <p:txBody>
          <a:bodyPr/>
          <a:lstStyle/>
          <a:p>
            <a:endParaRPr lang="en-RW"/>
          </a:p>
        </p:txBody>
      </p:sp>
      <p:pic>
        <p:nvPicPr>
          <p:cNvPr id="5" name="Content Placeholder 4">
            <a:extLst>
              <a:ext uri="{FF2B5EF4-FFF2-40B4-BE49-F238E27FC236}">
                <a16:creationId xmlns:a16="http://schemas.microsoft.com/office/drawing/2014/main" id="{946B55C9-3BB2-3610-5F63-E85837080D01}"/>
              </a:ext>
            </a:extLst>
          </p:cNvPr>
          <p:cNvPicPr>
            <a:picLocks noGrp="1" noChangeAspect="1"/>
          </p:cNvPicPr>
          <p:nvPr>
            <p:ph idx="1"/>
          </p:nvPr>
        </p:nvPicPr>
        <p:blipFill>
          <a:blip r:embed="rId2"/>
          <a:stretch>
            <a:fillRect/>
          </a:stretch>
        </p:blipFill>
        <p:spPr>
          <a:xfrm>
            <a:off x="1246477" y="1825625"/>
            <a:ext cx="9699046" cy="4351338"/>
          </a:xfrm>
        </p:spPr>
      </p:pic>
    </p:spTree>
    <p:extLst>
      <p:ext uri="{BB962C8B-B14F-4D97-AF65-F5344CB8AC3E}">
        <p14:creationId xmlns:p14="http://schemas.microsoft.com/office/powerpoint/2010/main" val="1420847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8D62D-027E-19F8-613F-61AC50BD3731}"/>
              </a:ext>
            </a:extLst>
          </p:cNvPr>
          <p:cNvSpPr>
            <a:spLocks noGrp="1"/>
          </p:cNvSpPr>
          <p:nvPr>
            <p:ph type="title"/>
          </p:nvPr>
        </p:nvSpPr>
        <p:spPr/>
        <p:txBody>
          <a:bodyPr/>
          <a:lstStyle/>
          <a:p>
            <a:endParaRPr lang="en-RW"/>
          </a:p>
        </p:txBody>
      </p:sp>
      <p:pic>
        <p:nvPicPr>
          <p:cNvPr id="5" name="Content Placeholder 4">
            <a:extLst>
              <a:ext uri="{FF2B5EF4-FFF2-40B4-BE49-F238E27FC236}">
                <a16:creationId xmlns:a16="http://schemas.microsoft.com/office/drawing/2014/main" id="{F73D61AE-2929-36F7-4BC5-DD2B7FF96809}"/>
              </a:ext>
            </a:extLst>
          </p:cNvPr>
          <p:cNvPicPr>
            <a:picLocks noGrp="1" noChangeAspect="1"/>
          </p:cNvPicPr>
          <p:nvPr>
            <p:ph idx="1"/>
          </p:nvPr>
        </p:nvPicPr>
        <p:blipFill>
          <a:blip r:embed="rId2"/>
          <a:stretch>
            <a:fillRect/>
          </a:stretch>
        </p:blipFill>
        <p:spPr>
          <a:xfrm>
            <a:off x="1793989" y="1825625"/>
            <a:ext cx="8604021" cy="4351338"/>
          </a:xfrm>
        </p:spPr>
      </p:pic>
    </p:spTree>
    <p:extLst>
      <p:ext uri="{BB962C8B-B14F-4D97-AF65-F5344CB8AC3E}">
        <p14:creationId xmlns:p14="http://schemas.microsoft.com/office/powerpoint/2010/main" val="144710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88A6E-5C4F-9AC4-641B-6B2A8AB75A87}"/>
              </a:ext>
            </a:extLst>
          </p:cNvPr>
          <p:cNvSpPr>
            <a:spLocks noGrp="1"/>
          </p:cNvSpPr>
          <p:nvPr>
            <p:ph type="title"/>
          </p:nvPr>
        </p:nvSpPr>
        <p:spPr/>
        <p:txBody>
          <a:bodyPr/>
          <a:lstStyle/>
          <a:p>
            <a:r>
              <a:rPr lang="en-US" dirty="0"/>
              <a:t>Types of business communication</a:t>
            </a:r>
            <a:endParaRPr lang="en-RW" dirty="0"/>
          </a:p>
        </p:txBody>
      </p:sp>
      <p:sp>
        <p:nvSpPr>
          <p:cNvPr id="3" name="Content Placeholder 2">
            <a:extLst>
              <a:ext uri="{FF2B5EF4-FFF2-40B4-BE49-F238E27FC236}">
                <a16:creationId xmlns:a16="http://schemas.microsoft.com/office/drawing/2014/main" id="{81236ACC-7590-7705-D3FF-F8C4B00053C6}"/>
              </a:ext>
            </a:extLst>
          </p:cNvPr>
          <p:cNvSpPr>
            <a:spLocks noGrp="1"/>
          </p:cNvSpPr>
          <p:nvPr>
            <p:ph idx="1"/>
          </p:nvPr>
        </p:nvSpPr>
        <p:spPr/>
        <p:txBody>
          <a:bodyPr/>
          <a:lstStyle/>
          <a:p>
            <a:r>
              <a:rPr lang="en-US" dirty="0"/>
              <a:t>There are two types of business communication</a:t>
            </a:r>
          </a:p>
          <a:p>
            <a:pPr marL="0" indent="0">
              <a:buNone/>
            </a:pPr>
            <a:r>
              <a:rPr lang="en-US" dirty="0"/>
              <a:t>1. internal communication</a:t>
            </a:r>
          </a:p>
          <a:p>
            <a:pPr marL="0" indent="0">
              <a:buNone/>
            </a:pPr>
            <a:r>
              <a:rPr lang="en-US" dirty="0"/>
              <a:t>2. external communication </a:t>
            </a:r>
            <a:endParaRPr lang="en-RW" dirty="0"/>
          </a:p>
        </p:txBody>
      </p:sp>
    </p:spTree>
    <p:extLst>
      <p:ext uri="{BB962C8B-B14F-4D97-AF65-F5344CB8AC3E}">
        <p14:creationId xmlns:p14="http://schemas.microsoft.com/office/powerpoint/2010/main" val="802105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7A5D8-64BF-D1BD-ECC6-5BE63DF3FF17}"/>
              </a:ext>
            </a:extLst>
          </p:cNvPr>
          <p:cNvSpPr>
            <a:spLocks noGrp="1"/>
          </p:cNvSpPr>
          <p:nvPr>
            <p:ph type="title"/>
          </p:nvPr>
        </p:nvSpPr>
        <p:spPr/>
        <p:txBody>
          <a:bodyPr/>
          <a:lstStyle/>
          <a:p>
            <a:endParaRPr lang="en-RW"/>
          </a:p>
        </p:txBody>
      </p:sp>
      <p:pic>
        <p:nvPicPr>
          <p:cNvPr id="5" name="Content Placeholder 4">
            <a:extLst>
              <a:ext uri="{FF2B5EF4-FFF2-40B4-BE49-F238E27FC236}">
                <a16:creationId xmlns:a16="http://schemas.microsoft.com/office/drawing/2014/main" id="{D4427A95-DFCC-F21B-4A31-CE0678112934}"/>
              </a:ext>
            </a:extLst>
          </p:cNvPr>
          <p:cNvPicPr>
            <a:picLocks noGrp="1" noChangeAspect="1"/>
          </p:cNvPicPr>
          <p:nvPr>
            <p:ph idx="1"/>
          </p:nvPr>
        </p:nvPicPr>
        <p:blipFill>
          <a:blip r:embed="rId2"/>
          <a:stretch>
            <a:fillRect/>
          </a:stretch>
        </p:blipFill>
        <p:spPr>
          <a:xfrm>
            <a:off x="722759" y="1690688"/>
            <a:ext cx="9721280" cy="5115295"/>
          </a:xfrm>
        </p:spPr>
      </p:pic>
    </p:spTree>
    <p:extLst>
      <p:ext uri="{BB962C8B-B14F-4D97-AF65-F5344CB8AC3E}">
        <p14:creationId xmlns:p14="http://schemas.microsoft.com/office/powerpoint/2010/main" val="3348390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D9D14-580D-F0BB-6D55-BB5CCE530400}"/>
              </a:ext>
            </a:extLst>
          </p:cNvPr>
          <p:cNvSpPr>
            <a:spLocks noGrp="1"/>
          </p:cNvSpPr>
          <p:nvPr>
            <p:ph type="title"/>
          </p:nvPr>
        </p:nvSpPr>
        <p:spPr/>
        <p:txBody>
          <a:bodyPr/>
          <a:lstStyle/>
          <a:p>
            <a:endParaRPr lang="en-RW"/>
          </a:p>
        </p:txBody>
      </p:sp>
      <p:pic>
        <p:nvPicPr>
          <p:cNvPr id="5" name="Content Placeholder 4">
            <a:extLst>
              <a:ext uri="{FF2B5EF4-FFF2-40B4-BE49-F238E27FC236}">
                <a16:creationId xmlns:a16="http://schemas.microsoft.com/office/drawing/2014/main" id="{D12BC71F-700C-22A4-8D31-C7C6208D2BFA}"/>
              </a:ext>
            </a:extLst>
          </p:cNvPr>
          <p:cNvPicPr>
            <a:picLocks noGrp="1" noChangeAspect="1"/>
          </p:cNvPicPr>
          <p:nvPr>
            <p:ph idx="1"/>
          </p:nvPr>
        </p:nvPicPr>
        <p:blipFill>
          <a:blip r:embed="rId2"/>
          <a:stretch>
            <a:fillRect/>
          </a:stretch>
        </p:blipFill>
        <p:spPr>
          <a:xfrm>
            <a:off x="1253245" y="1787296"/>
            <a:ext cx="8865385" cy="4618979"/>
          </a:xfrm>
        </p:spPr>
      </p:pic>
    </p:spTree>
    <p:extLst>
      <p:ext uri="{BB962C8B-B14F-4D97-AF65-F5344CB8AC3E}">
        <p14:creationId xmlns:p14="http://schemas.microsoft.com/office/powerpoint/2010/main" val="3873283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506C-D4D2-4022-A241-EC12D78910D5}"/>
              </a:ext>
            </a:extLst>
          </p:cNvPr>
          <p:cNvSpPr>
            <a:spLocks noGrp="1"/>
          </p:cNvSpPr>
          <p:nvPr>
            <p:ph type="title"/>
          </p:nvPr>
        </p:nvSpPr>
        <p:spPr/>
        <p:txBody>
          <a:bodyPr>
            <a:normAutofit/>
          </a:bodyPr>
          <a:lstStyle/>
          <a:p>
            <a:r>
              <a:rPr lang="en-US" b="1" dirty="0"/>
              <a:t>Importance of Communication at work</a:t>
            </a:r>
            <a:br>
              <a:rPr lang="en-US" b="1" dirty="0"/>
            </a:br>
            <a:endParaRPr lang="en-US" dirty="0"/>
          </a:p>
        </p:txBody>
      </p:sp>
      <p:sp>
        <p:nvSpPr>
          <p:cNvPr id="3" name="Content Placeholder 2">
            <a:extLst>
              <a:ext uri="{FF2B5EF4-FFF2-40B4-BE49-F238E27FC236}">
                <a16:creationId xmlns:a16="http://schemas.microsoft.com/office/drawing/2014/main" id="{5975084D-A563-4B58-ABD0-ADEFF5AD5CFF}"/>
              </a:ext>
            </a:extLst>
          </p:cNvPr>
          <p:cNvSpPr>
            <a:spLocks noGrp="1"/>
          </p:cNvSpPr>
          <p:nvPr>
            <p:ph idx="1"/>
          </p:nvPr>
        </p:nvSpPr>
        <p:spPr>
          <a:xfrm>
            <a:off x="388307" y="1277654"/>
            <a:ext cx="11436263" cy="5110619"/>
          </a:xfrm>
        </p:spPr>
        <p:txBody>
          <a:bodyPr>
            <a:normAutofit fontScale="92500" lnSpcReduction="10000"/>
          </a:bodyPr>
          <a:lstStyle/>
          <a:p>
            <a:r>
              <a:rPr lang="en-US" b="1" dirty="0"/>
              <a:t>Clarity of Requirements</a:t>
            </a:r>
          </a:p>
          <a:p>
            <a:r>
              <a:rPr lang="en-US" dirty="0"/>
              <a:t>Entrepreneurs must clearly communicate their business vision, mission, and objectives to employees, investors, and stakeholders.</a:t>
            </a:r>
          </a:p>
          <a:p>
            <a:r>
              <a:rPr lang="en-US" dirty="0"/>
              <a:t>Ensures that team members understand their roles and responsibilities, reducing confusion and increasing efficiency.</a:t>
            </a:r>
          </a:p>
          <a:p>
            <a:r>
              <a:rPr lang="en-US" dirty="0"/>
              <a:t>Helps in securing funding by clearly explaining business models, market opportunities, and growth potential to investors.</a:t>
            </a:r>
          </a:p>
          <a:p>
            <a:r>
              <a:rPr lang="en-US" dirty="0"/>
              <a:t> </a:t>
            </a:r>
            <a:r>
              <a:rPr lang="en-US" b="1" dirty="0"/>
              <a:t>Feedback and Follow-Ups </a:t>
            </a:r>
          </a:p>
          <a:p>
            <a:r>
              <a:rPr lang="en-US" dirty="0"/>
              <a:t>Regular communication with employees, customers, and mentors helps entrepreneurs refine their strategies.</a:t>
            </a:r>
          </a:p>
          <a:p>
            <a:r>
              <a:rPr lang="en-US" dirty="0"/>
              <a:t>Follow-ups with clients and investors build trust and long-term relationships.</a:t>
            </a:r>
          </a:p>
          <a:p>
            <a:r>
              <a:rPr lang="en-US" dirty="0"/>
              <a:t>Enables entrepreneurs to pivot quickly when business conditions change by incorporating feedback.</a:t>
            </a:r>
          </a:p>
          <a:p>
            <a:endParaRPr lang="en-US" dirty="0"/>
          </a:p>
        </p:txBody>
      </p:sp>
    </p:spTree>
    <p:extLst>
      <p:ext uri="{BB962C8B-B14F-4D97-AF65-F5344CB8AC3E}">
        <p14:creationId xmlns:p14="http://schemas.microsoft.com/office/powerpoint/2010/main" val="4100009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29F5-C290-43A6-9941-52979D65DB4C}"/>
              </a:ext>
            </a:extLst>
          </p:cNvPr>
          <p:cNvSpPr>
            <a:spLocks noGrp="1"/>
          </p:cNvSpPr>
          <p:nvPr>
            <p:ph type="title"/>
          </p:nvPr>
        </p:nvSpPr>
        <p:spPr>
          <a:xfrm>
            <a:off x="838200" y="365125"/>
            <a:ext cx="10515600" cy="699587"/>
          </a:xfrm>
        </p:spPr>
        <p:txBody>
          <a:bodyPr/>
          <a:lstStyle/>
          <a:p>
            <a:endParaRPr lang="en-US" dirty="0"/>
          </a:p>
        </p:txBody>
      </p:sp>
      <p:sp>
        <p:nvSpPr>
          <p:cNvPr id="3" name="Content Placeholder 2">
            <a:extLst>
              <a:ext uri="{FF2B5EF4-FFF2-40B4-BE49-F238E27FC236}">
                <a16:creationId xmlns:a16="http://schemas.microsoft.com/office/drawing/2014/main" id="{E39751FB-A299-4CDD-9D80-544C3C3C4FB2}"/>
              </a:ext>
            </a:extLst>
          </p:cNvPr>
          <p:cNvSpPr>
            <a:spLocks noGrp="1"/>
          </p:cNvSpPr>
          <p:nvPr>
            <p:ph idx="1"/>
          </p:nvPr>
        </p:nvSpPr>
        <p:spPr>
          <a:xfrm>
            <a:off x="438411" y="1215025"/>
            <a:ext cx="11336055" cy="5423770"/>
          </a:xfrm>
        </p:spPr>
        <p:txBody>
          <a:bodyPr>
            <a:normAutofit/>
          </a:bodyPr>
          <a:lstStyle/>
          <a:p>
            <a:r>
              <a:rPr lang="en-US" b="1" dirty="0"/>
              <a:t> Progress and Obstacles</a:t>
            </a:r>
          </a:p>
          <a:p>
            <a:r>
              <a:rPr lang="en-US" dirty="0"/>
              <a:t>Team members can openly share challenges they face, allowing for faster problem-solving and decision-making.</a:t>
            </a:r>
          </a:p>
          <a:p>
            <a:r>
              <a:rPr lang="en-US" dirty="0"/>
              <a:t>Helps in managing risks and uncertainties in a dynamic business environment.</a:t>
            </a:r>
          </a:p>
          <a:p>
            <a:r>
              <a:rPr lang="en-US" b="1" dirty="0"/>
              <a:t>Strong Relationships</a:t>
            </a:r>
          </a:p>
          <a:p>
            <a:r>
              <a:rPr lang="en-US" dirty="0"/>
              <a:t>Entrepreneurs must network and build strong relationships with investors, customers, suppliers, and other stakeholders.</a:t>
            </a:r>
          </a:p>
          <a:p>
            <a:r>
              <a:rPr lang="en-US" dirty="0"/>
              <a:t>Good communication skills help in negotiating deals and securing business partnerships.</a:t>
            </a:r>
          </a:p>
          <a:p>
            <a:pPr marL="0" indent="0">
              <a:buNone/>
            </a:pPr>
            <a:endParaRPr lang="en-US" dirty="0"/>
          </a:p>
          <a:p>
            <a:endParaRPr lang="en-US" dirty="0"/>
          </a:p>
        </p:txBody>
      </p:sp>
    </p:spTree>
    <p:extLst>
      <p:ext uri="{BB962C8B-B14F-4D97-AF65-F5344CB8AC3E}">
        <p14:creationId xmlns:p14="http://schemas.microsoft.com/office/powerpoint/2010/main" val="2059430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A01A-45E5-4B17-900C-5D5D9C5507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9A6E2D-0753-49C8-9865-3948E1D9509B}"/>
              </a:ext>
            </a:extLst>
          </p:cNvPr>
          <p:cNvSpPr>
            <a:spLocks noGrp="1"/>
          </p:cNvSpPr>
          <p:nvPr>
            <p:ph idx="1"/>
          </p:nvPr>
        </p:nvSpPr>
        <p:spPr/>
        <p:txBody>
          <a:bodyPr>
            <a:normAutofit/>
          </a:bodyPr>
          <a:lstStyle/>
          <a:p>
            <a:r>
              <a:rPr lang="en-US" b="1" dirty="0"/>
              <a:t> Efficiency of Business  </a:t>
            </a:r>
          </a:p>
          <a:p>
            <a:r>
              <a:rPr lang="en-US" dirty="0"/>
              <a:t>Clear and transparent communication ensures that operations run smoothly, reducing delays and errors.</a:t>
            </a:r>
          </a:p>
          <a:p>
            <a:r>
              <a:rPr lang="en-US" dirty="0"/>
              <a:t>Helps in delegating tasks effectively, ensuring all team members work efficiently toward business goals.</a:t>
            </a:r>
          </a:p>
          <a:p>
            <a:r>
              <a:rPr lang="en-US" dirty="0"/>
              <a:t>Improves customer service by ensuring quick responses to inquiries and issues, leading to higher customer satisfaction.</a:t>
            </a:r>
          </a:p>
          <a:p>
            <a:endParaRPr lang="en-US" dirty="0"/>
          </a:p>
        </p:txBody>
      </p:sp>
    </p:spTree>
    <p:extLst>
      <p:ext uri="{BB962C8B-B14F-4D97-AF65-F5344CB8AC3E}">
        <p14:creationId xmlns:p14="http://schemas.microsoft.com/office/powerpoint/2010/main" val="2107065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CC2B2-ACD3-4864-989D-DBC384A7FE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49DD82-B4F6-4403-B5A2-3B31E0F37A08}"/>
              </a:ext>
            </a:extLst>
          </p:cNvPr>
          <p:cNvSpPr>
            <a:spLocks noGrp="1"/>
          </p:cNvSpPr>
          <p:nvPr>
            <p:ph idx="1"/>
          </p:nvPr>
        </p:nvSpPr>
        <p:spPr/>
        <p:txBody>
          <a:bodyPr/>
          <a:lstStyle/>
          <a:p>
            <a:r>
              <a:rPr lang="en-US" b="1" dirty="0"/>
              <a:t> Morale and Growth</a:t>
            </a:r>
          </a:p>
          <a:p>
            <a:r>
              <a:rPr lang="en-US" dirty="0"/>
              <a:t>Entrepreneurs who communicate well inspire and motivate their teams, leading to higher productivity.</a:t>
            </a:r>
          </a:p>
          <a:p>
            <a:r>
              <a:rPr lang="en-US" dirty="0"/>
              <a:t>Encourages an innovative and collaborative work environment, where employees feel valued and contribute ideas.</a:t>
            </a:r>
          </a:p>
          <a:p>
            <a:r>
              <a:rPr lang="en-US" dirty="0"/>
              <a:t>Helps in business expansion by effectively communicating growth plans to investors, partners, and employees.</a:t>
            </a:r>
          </a:p>
          <a:p>
            <a:endParaRPr lang="en-US" dirty="0"/>
          </a:p>
        </p:txBody>
      </p:sp>
    </p:spTree>
    <p:extLst>
      <p:ext uri="{BB962C8B-B14F-4D97-AF65-F5344CB8AC3E}">
        <p14:creationId xmlns:p14="http://schemas.microsoft.com/office/powerpoint/2010/main" val="3243204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377A5431-9DA3-4033-3889-FE4F8F2E50C8}"/>
              </a:ext>
            </a:extLst>
          </p:cNvPr>
          <p:cNvSpPr>
            <a:spLocks noGrp="1"/>
          </p:cNvSpPr>
          <p:nvPr>
            <p:ph type="title"/>
          </p:nvPr>
        </p:nvSpPr>
        <p:spPr>
          <a:xfrm>
            <a:off x="1981200" y="228600"/>
            <a:ext cx="8229600" cy="533400"/>
          </a:xfrm>
        </p:spPr>
        <p:txBody>
          <a:bodyPr>
            <a:normAutofit fontScale="90000"/>
          </a:bodyPr>
          <a:lstStyle/>
          <a:p>
            <a:r>
              <a:rPr lang="en-US" altLang="en-US" dirty="0">
                <a:latin typeface="Times New Roman" panose="02020603050405020304" pitchFamily="18" charset="0"/>
                <a:cs typeface="Times New Roman" panose="02020603050405020304" pitchFamily="18" charset="0"/>
              </a:rPr>
              <a:t>Barriers to communication</a:t>
            </a:r>
          </a:p>
        </p:txBody>
      </p:sp>
      <p:sp>
        <p:nvSpPr>
          <p:cNvPr id="3" name="Content Placeholder 2">
            <a:extLst>
              <a:ext uri="{FF2B5EF4-FFF2-40B4-BE49-F238E27FC236}">
                <a16:creationId xmlns:a16="http://schemas.microsoft.com/office/drawing/2014/main" id="{72C2A25D-66CB-CACF-B6A3-7CEE6B1CC4C7}"/>
              </a:ext>
            </a:extLst>
          </p:cNvPr>
          <p:cNvSpPr>
            <a:spLocks noGrp="1"/>
          </p:cNvSpPr>
          <p:nvPr>
            <p:ph idx="1"/>
          </p:nvPr>
        </p:nvSpPr>
        <p:spPr>
          <a:xfrm>
            <a:off x="350729" y="762000"/>
            <a:ext cx="11574049" cy="6096000"/>
          </a:xfrm>
        </p:spPr>
        <p:txBody>
          <a:bodyPr>
            <a:normAutofit fontScale="92500" lnSpcReduction="20000"/>
          </a:bodyPr>
          <a:lstStyle/>
          <a:p>
            <a:pPr>
              <a:buFontTx/>
              <a:buChar char="-"/>
              <a:defRPr/>
            </a:pPr>
            <a:r>
              <a:rPr lang="en-US" sz="3200" b="1" dirty="0">
                <a:latin typeface="Times" panose="02020603050405020304" pitchFamily="18" charset="0"/>
                <a:cs typeface="Times" panose="02020603050405020304" pitchFamily="18" charset="0"/>
              </a:rPr>
              <a:t>Miscommunication-</a:t>
            </a:r>
            <a:r>
              <a:rPr lang="en-US" sz="3600" dirty="0">
                <a:latin typeface="Times" panose="02020603050405020304" pitchFamily="18" charset="0"/>
                <a:cs typeface="Times" panose="02020603050405020304" pitchFamily="18" charset="0"/>
              </a:rPr>
              <a:t> (</a:t>
            </a:r>
            <a:r>
              <a:rPr lang="en-US" dirty="0">
                <a:latin typeface="Times" panose="02020603050405020304" pitchFamily="18" charset="0"/>
                <a:cs typeface="Times" panose="02020603050405020304" pitchFamily="18" charset="0"/>
              </a:rPr>
              <a:t>inability to communicate adequately and properly)</a:t>
            </a:r>
          </a:p>
          <a:p>
            <a:pPr marL="0" indent="0">
              <a:buNone/>
              <a:defRPr/>
            </a:pPr>
            <a:r>
              <a:rPr lang="en-US" sz="2400" b="0" i="0" dirty="0">
                <a:solidFill>
                  <a:srgbClr val="0D0D0D"/>
                </a:solidFill>
                <a:effectLst/>
                <a:latin typeface="Söhne"/>
              </a:rPr>
              <a:t>e.g. A manager emails a task assignment to their team without providing clear instructions. As a result, some team members misinterpret the instructions and work on the wrong tasks, leading to confusion and delays.</a:t>
            </a:r>
            <a:endParaRPr lang="en-US" sz="3600" dirty="0">
              <a:latin typeface="Times" panose="02020603050405020304" pitchFamily="18" charset="0"/>
              <a:cs typeface="Times" panose="02020603050405020304" pitchFamily="18" charset="0"/>
            </a:endParaRPr>
          </a:p>
          <a:p>
            <a:pPr>
              <a:buFontTx/>
              <a:buChar char="-"/>
              <a:defRPr/>
            </a:pPr>
            <a:r>
              <a:rPr lang="en-US" sz="3200" b="1" dirty="0">
                <a:latin typeface="Times" panose="02020603050405020304" pitchFamily="18" charset="0"/>
                <a:cs typeface="Times" panose="02020603050405020304" pitchFamily="18" charset="0"/>
              </a:rPr>
              <a:t>Poor listening- </a:t>
            </a:r>
            <a:r>
              <a:rPr lang="en-US" sz="2400" dirty="0">
                <a:latin typeface="Times" panose="02020603050405020304" pitchFamily="18" charset="0"/>
                <a:cs typeface="Times" panose="02020603050405020304" pitchFamily="18" charset="0"/>
              </a:rPr>
              <a:t>(when a listener doesn’t get the message from the speaker) </a:t>
            </a:r>
          </a:p>
          <a:p>
            <a:pPr>
              <a:buFontTx/>
              <a:buChar char="-"/>
              <a:defRPr/>
            </a:pPr>
            <a:r>
              <a:rPr lang="en-US" sz="3200" b="1" dirty="0">
                <a:latin typeface="Times" panose="02020603050405020304" pitchFamily="18" charset="0"/>
                <a:cs typeface="Times" panose="02020603050405020304" pitchFamily="18" charset="0"/>
              </a:rPr>
              <a:t>Technical difficulties </a:t>
            </a:r>
            <a:r>
              <a:rPr lang="en-US" sz="3600" dirty="0">
                <a:latin typeface="Times" panose="02020603050405020304" pitchFamily="18" charset="0"/>
                <a:cs typeface="Times" panose="02020603050405020304" pitchFamily="18" charset="0"/>
              </a:rPr>
              <a:t>(</a:t>
            </a:r>
            <a:r>
              <a:rPr lang="en-US" sz="2400" dirty="0" err="1">
                <a:latin typeface="Times" panose="02020603050405020304" pitchFamily="18" charset="0"/>
                <a:cs typeface="Times" panose="02020603050405020304" pitchFamily="18" charset="0"/>
              </a:rPr>
              <a:t>e.g</a:t>
            </a:r>
            <a:r>
              <a:rPr lang="en-US" sz="2400" dirty="0">
                <a:latin typeface="Times" panose="02020603050405020304" pitchFamily="18" charset="0"/>
                <a:cs typeface="Times" panose="02020603050405020304" pitchFamily="18" charset="0"/>
              </a:rPr>
              <a:t> over the phone especially if you lose the connection</a:t>
            </a:r>
            <a:r>
              <a:rPr lang="en-US" sz="3600" dirty="0">
                <a:latin typeface="Times" panose="02020603050405020304" pitchFamily="18" charset="0"/>
                <a:cs typeface="Times" panose="02020603050405020304" pitchFamily="18" charset="0"/>
              </a:rPr>
              <a:t>)</a:t>
            </a:r>
          </a:p>
          <a:p>
            <a:pPr>
              <a:buFontTx/>
              <a:buChar char="-"/>
              <a:defRPr/>
            </a:pPr>
            <a:r>
              <a:rPr lang="en-US" sz="3200" b="1" dirty="0">
                <a:latin typeface="Times" panose="02020603050405020304" pitchFamily="18" charset="0"/>
                <a:cs typeface="Times" panose="02020603050405020304" pitchFamily="18" charset="0"/>
              </a:rPr>
              <a:t>Data misinterpretation- </a:t>
            </a:r>
            <a:r>
              <a:rPr lang="en-US" sz="2400" dirty="0">
                <a:latin typeface="Times" panose="02020603050405020304" pitchFamily="18" charset="0"/>
                <a:cs typeface="Times" panose="02020603050405020304" pitchFamily="18" charset="0"/>
              </a:rPr>
              <a:t>(when the data is interpreted in the wrong way)</a:t>
            </a:r>
          </a:p>
          <a:p>
            <a:pPr marL="0" indent="0">
              <a:buNone/>
              <a:defRPr/>
            </a:pPr>
            <a:r>
              <a:rPr lang="en-US" sz="2300" b="1" i="0" dirty="0" err="1">
                <a:solidFill>
                  <a:srgbClr val="0D0D0D"/>
                </a:solidFill>
                <a:effectLst/>
                <a:latin typeface="Söhne"/>
              </a:rPr>
              <a:t>e.g</a:t>
            </a:r>
            <a:r>
              <a:rPr lang="en-US" sz="2300" b="1" dirty="0">
                <a:solidFill>
                  <a:srgbClr val="0D0D0D"/>
                </a:solidFill>
                <a:latin typeface="Söhne"/>
              </a:rPr>
              <a:t> </a:t>
            </a:r>
            <a:r>
              <a:rPr lang="en-US" sz="2300" b="1" i="0" dirty="0">
                <a:solidFill>
                  <a:srgbClr val="0D0D0D"/>
                </a:solidFill>
                <a:effectLst/>
                <a:latin typeface="Söhne"/>
              </a:rPr>
              <a:t>Customer Satisfaction Surveys</a:t>
            </a:r>
            <a:r>
              <a:rPr lang="en-US" sz="2300" b="0" i="0" dirty="0">
                <a:solidFill>
                  <a:srgbClr val="0D0D0D"/>
                </a:solidFill>
                <a:effectLst/>
                <a:latin typeface="Söhne"/>
              </a:rPr>
              <a:t>: A restaurant conducts customer satisfaction surveys and finds that a particular dish receives low ratings. The management decides to remove the dish from the menu, assuming it's disliked. Later, they discover that the low ratings were primarily due to customers' dissatisfaction with the portion size, not the taste of the dish itself.</a:t>
            </a:r>
            <a:endParaRPr lang="en-US" sz="2400" dirty="0">
              <a:latin typeface="Times" panose="02020603050405020304" pitchFamily="18" charset="0"/>
              <a:cs typeface="Times" panose="02020603050405020304" pitchFamily="18" charset="0"/>
            </a:endParaRPr>
          </a:p>
          <a:p>
            <a:pPr>
              <a:buFontTx/>
              <a:buChar char="-"/>
              <a:defRPr/>
            </a:pPr>
            <a:r>
              <a:rPr lang="en-US" sz="3200" b="1" dirty="0">
                <a:latin typeface="Times" panose="02020603050405020304" pitchFamily="18" charset="0"/>
                <a:cs typeface="Times" panose="02020603050405020304" pitchFamily="18" charset="0"/>
              </a:rPr>
              <a:t>Incomplete sentence- </a:t>
            </a:r>
            <a:r>
              <a:rPr lang="en-US" dirty="0">
                <a:latin typeface="Times" panose="02020603050405020304" pitchFamily="18" charset="0"/>
                <a:cs typeface="Times" panose="02020603050405020304" pitchFamily="18" charset="0"/>
              </a:rPr>
              <a:t>(when the speaker do not complete the sentence while presenting data). </a:t>
            </a:r>
            <a:r>
              <a:rPr lang="en-US" sz="2300" dirty="0" err="1">
                <a:solidFill>
                  <a:srgbClr val="0D0D0D"/>
                </a:solidFill>
                <a:latin typeface="Söhne"/>
              </a:rPr>
              <a:t>E.g</a:t>
            </a:r>
            <a:r>
              <a:rPr lang="en-US" sz="2300" dirty="0">
                <a:solidFill>
                  <a:srgbClr val="0D0D0D"/>
                </a:solidFill>
                <a:latin typeface="Söhne"/>
              </a:rPr>
              <a:t>  The sales numbers for Q1 were significantly higher than expected, with a growth ……</a:t>
            </a:r>
            <a:r>
              <a:rPr lang="en-US" sz="2300" dirty="0">
                <a:solidFill>
                  <a:schemeClr val="bg1"/>
                </a:solidFill>
                <a:latin typeface="Söhne"/>
              </a:rPr>
              <a:t>of 15% compared to last year</a:t>
            </a:r>
            <a:r>
              <a:rPr lang="en-US" sz="2300" dirty="0">
                <a:solidFill>
                  <a:srgbClr val="0D0D0D"/>
                </a:solidFill>
                <a:latin typeface="Söhne"/>
              </a:rPr>
              <a:t>.</a:t>
            </a:r>
          </a:p>
          <a:p>
            <a:pPr>
              <a:buFontTx/>
              <a:buChar char="-"/>
              <a:defRPr/>
            </a:pPr>
            <a:r>
              <a:rPr lang="en-US" sz="3200" b="1" dirty="0">
                <a:latin typeface="Times" panose="02020603050405020304" pitchFamily="18" charset="0"/>
                <a:cs typeface="Times" panose="02020603050405020304" pitchFamily="18" charset="0"/>
              </a:rPr>
              <a:t>No paraphrasing-</a:t>
            </a:r>
            <a:r>
              <a:rPr lang="en-US" sz="2400" dirty="0">
                <a:latin typeface="Times" panose="02020603050405020304" pitchFamily="18" charset="0"/>
                <a:cs typeface="Times" panose="02020603050405020304" pitchFamily="18" charset="0"/>
              </a:rPr>
              <a:t>( When the words are not restated)</a:t>
            </a:r>
            <a:endParaRPr lang="en-US" sz="3600" dirty="0">
              <a:latin typeface="Times" panose="02020603050405020304" pitchFamily="18" charset="0"/>
              <a:cs typeface="Times" panose="02020603050405020304" pitchFamily="18" charset="0"/>
            </a:endParaRPr>
          </a:p>
          <a:p>
            <a:pPr>
              <a:buFontTx/>
              <a:buChar char="-"/>
              <a:defRPr/>
            </a:pPr>
            <a:r>
              <a:rPr lang="en-US" sz="3200" b="1" dirty="0">
                <a:latin typeface="Times" panose="02020603050405020304" pitchFamily="18" charset="0"/>
                <a:cs typeface="Times" panose="02020603050405020304" pitchFamily="18" charset="0"/>
              </a:rPr>
              <a:t>Language-</a:t>
            </a:r>
            <a:r>
              <a:rPr lang="en-US" sz="2400" dirty="0">
                <a:latin typeface="Times" panose="02020603050405020304" pitchFamily="18" charset="0"/>
                <a:cs typeface="Times" panose="02020603050405020304" pitchFamily="18" charset="0"/>
              </a:rPr>
              <a:t>(When the listener is not familiar with the language)</a:t>
            </a:r>
          </a:p>
          <a:p>
            <a:pPr marL="0" indent="0">
              <a:buNone/>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10ABFA87-682D-500F-9A75-406B091470D0}"/>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How to overcome these barriers</a:t>
            </a:r>
          </a:p>
        </p:txBody>
      </p:sp>
      <p:sp>
        <p:nvSpPr>
          <p:cNvPr id="34819" name="Content Placeholder 2">
            <a:extLst>
              <a:ext uri="{FF2B5EF4-FFF2-40B4-BE49-F238E27FC236}">
                <a16:creationId xmlns:a16="http://schemas.microsoft.com/office/drawing/2014/main" id="{0B089F7A-B2F2-CEA7-4092-71936CF7C87B}"/>
              </a:ext>
            </a:extLst>
          </p:cNvPr>
          <p:cNvSpPr>
            <a:spLocks noGrp="1"/>
          </p:cNvSpPr>
          <p:nvPr>
            <p:ph idx="1"/>
          </p:nvPr>
        </p:nvSpPr>
        <p:spPr/>
        <p:txBody>
          <a:bodyPr/>
          <a:lstStyle/>
          <a:p>
            <a:pPr algn="just">
              <a:buFontTx/>
              <a:buChar char="-"/>
            </a:pPr>
            <a:r>
              <a:rPr lang="en-US" altLang="en-US" b="1">
                <a:latin typeface="Times New Roman" panose="02020603050405020304" pitchFamily="18" charset="0"/>
                <a:cs typeface="Times New Roman" panose="02020603050405020304" pitchFamily="18" charset="0"/>
              </a:rPr>
              <a:t>Eye contact- </a:t>
            </a:r>
            <a:r>
              <a:rPr lang="en-US" altLang="en-US">
                <a:latin typeface="Times New Roman" panose="02020603050405020304" pitchFamily="18" charset="0"/>
                <a:cs typeface="Times New Roman" panose="02020603050405020304" pitchFamily="18" charset="0"/>
              </a:rPr>
              <a:t>maintain eye contact when you speak to people</a:t>
            </a:r>
          </a:p>
          <a:p>
            <a:pPr algn="just">
              <a:buFontTx/>
              <a:buChar char="-"/>
            </a:pPr>
            <a:r>
              <a:rPr lang="en-US" altLang="en-US" b="1">
                <a:latin typeface="Times New Roman" panose="02020603050405020304" pitchFamily="18" charset="0"/>
                <a:cs typeface="Times New Roman" panose="02020603050405020304" pitchFamily="18" charset="0"/>
              </a:rPr>
              <a:t>Nod your head and say things like: </a:t>
            </a:r>
            <a:r>
              <a:rPr lang="en-US" altLang="en-US">
                <a:latin typeface="Times New Roman" panose="02020603050405020304" pitchFamily="18" charset="0"/>
                <a:cs typeface="Times New Roman" panose="02020603050405020304" pitchFamily="18" charset="0"/>
              </a:rPr>
              <a:t>hmmm, go, ahaa etc</a:t>
            </a:r>
          </a:p>
          <a:p>
            <a:pPr algn="just">
              <a:buFontTx/>
              <a:buChar char="-"/>
            </a:pPr>
            <a:r>
              <a:rPr lang="en-US" altLang="en-US" b="1">
                <a:latin typeface="Times New Roman" panose="02020603050405020304" pitchFamily="18" charset="0"/>
                <a:cs typeface="Times New Roman" panose="02020603050405020304" pitchFamily="18" charset="0"/>
              </a:rPr>
              <a:t>Let others to complete- </a:t>
            </a:r>
            <a:r>
              <a:rPr lang="en-US" altLang="en-US">
                <a:latin typeface="Times New Roman" panose="02020603050405020304" pitchFamily="18" charset="0"/>
                <a:cs typeface="Times New Roman" panose="02020603050405020304" pitchFamily="18" charset="0"/>
              </a:rPr>
              <a:t>let people complete their sentence</a:t>
            </a:r>
          </a:p>
          <a:p>
            <a:pPr algn="just">
              <a:buFontTx/>
              <a:buChar char="-"/>
            </a:pPr>
            <a:r>
              <a:rPr lang="en-US" altLang="en-US" b="1">
                <a:latin typeface="Times New Roman" panose="02020603050405020304" pitchFamily="18" charset="0"/>
                <a:cs typeface="Times New Roman" panose="02020603050405020304" pitchFamily="18" charset="0"/>
              </a:rPr>
              <a:t>Don’t jump to conclusion- </a:t>
            </a:r>
            <a:r>
              <a:rPr lang="en-US" altLang="en-US">
                <a:latin typeface="Times New Roman" panose="02020603050405020304" pitchFamily="18" charset="0"/>
                <a:cs typeface="Times New Roman" panose="02020603050405020304" pitchFamily="18" charset="0"/>
              </a:rPr>
              <a:t>do not conclude right at the beginning</a:t>
            </a:r>
          </a:p>
          <a:p>
            <a:pPr algn="just">
              <a:buFontTx/>
              <a:buChar char="-"/>
            </a:pPr>
            <a:r>
              <a:rPr lang="en-US" altLang="en-US" b="1">
                <a:latin typeface="Times New Roman" panose="02020603050405020304" pitchFamily="18" charset="0"/>
                <a:cs typeface="Times New Roman" panose="02020603050405020304" pitchFamily="18" charset="0"/>
              </a:rPr>
              <a:t>Clarify-</a:t>
            </a:r>
            <a:r>
              <a:rPr lang="en-US" altLang="en-US">
                <a:latin typeface="Times New Roman" panose="02020603050405020304" pitchFamily="18" charset="0"/>
                <a:cs typeface="Times New Roman" panose="02020603050405020304" pitchFamily="18" charset="0"/>
              </a:rPr>
              <a:t> always clarify your understanding</a:t>
            </a:r>
          </a:p>
          <a:p>
            <a:pPr algn="just">
              <a:buFontTx/>
              <a:buChar char="-"/>
            </a:pPr>
            <a:r>
              <a:rPr lang="en-US" altLang="en-US">
                <a:latin typeface="Times New Roman" panose="02020603050405020304" pitchFamily="18" charset="0"/>
                <a:cs typeface="Times New Roman" panose="02020603050405020304" pitchFamily="18" charset="0"/>
              </a:rPr>
              <a:t>Be </a:t>
            </a:r>
            <a:r>
              <a:rPr lang="en-US" altLang="en-US" b="1">
                <a:latin typeface="Times New Roman" panose="02020603050405020304" pitchFamily="18" charset="0"/>
                <a:cs typeface="Times New Roman" panose="02020603050405020304" pitchFamily="18" charset="0"/>
              </a:rPr>
              <a:t>patient</a:t>
            </a:r>
            <a:r>
              <a:rPr lang="en-US" altLang="en-US">
                <a:latin typeface="Times New Roman" panose="02020603050405020304" pitchFamily="18" charset="0"/>
                <a:cs typeface="Times New Roman" panose="02020603050405020304" pitchFamily="18" charset="0"/>
              </a:rPr>
              <a:t> and </a:t>
            </a:r>
            <a:r>
              <a:rPr lang="en-US" altLang="en-US" b="1">
                <a:latin typeface="Times New Roman" panose="02020603050405020304" pitchFamily="18" charset="0"/>
                <a:cs typeface="Times New Roman" panose="02020603050405020304" pitchFamily="18" charset="0"/>
              </a:rPr>
              <a:t>listen</a:t>
            </a:r>
            <a:r>
              <a:rPr lang="en-US" altLang="en-US">
                <a:latin typeface="Times New Roman" panose="02020603050405020304" pitchFamily="18" charset="0"/>
                <a:cs typeface="Times New Roman" panose="02020603050405020304" pitchFamily="18" charset="0"/>
              </a:rPr>
              <a:t> well (combine both)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27749-815D-75A8-BFF1-E83C67E3322A}"/>
              </a:ext>
            </a:extLst>
          </p:cNvPr>
          <p:cNvSpPr>
            <a:spLocks noGrp="1"/>
          </p:cNvSpPr>
          <p:nvPr>
            <p:ph type="title"/>
          </p:nvPr>
        </p:nvSpPr>
        <p:spPr/>
        <p:txBody>
          <a:bodyPr/>
          <a:lstStyle/>
          <a:p>
            <a:r>
              <a:rPr lang="en-US" dirty="0">
                <a:solidFill>
                  <a:srgbClr val="0D0D0D"/>
                </a:solidFill>
                <a:latin typeface="Söhne"/>
              </a:rPr>
              <a:t>C</a:t>
            </a:r>
            <a:r>
              <a:rPr lang="en-US" b="0" i="0" dirty="0">
                <a:solidFill>
                  <a:srgbClr val="0D0D0D"/>
                </a:solidFill>
                <a:effectLst/>
                <a:latin typeface="Söhne"/>
              </a:rPr>
              <a:t>ommunication style of an entrepreneur</a:t>
            </a:r>
            <a:endParaRPr lang="en-RW" dirty="0"/>
          </a:p>
        </p:txBody>
      </p:sp>
      <p:sp>
        <p:nvSpPr>
          <p:cNvPr id="3" name="Content Placeholder 2">
            <a:extLst>
              <a:ext uri="{FF2B5EF4-FFF2-40B4-BE49-F238E27FC236}">
                <a16:creationId xmlns:a16="http://schemas.microsoft.com/office/drawing/2014/main" id="{6C60CCFF-CECC-9A5B-E8DA-32515CEB9030}"/>
              </a:ext>
            </a:extLst>
          </p:cNvPr>
          <p:cNvSpPr>
            <a:spLocks noGrp="1"/>
          </p:cNvSpPr>
          <p:nvPr>
            <p:ph idx="1"/>
          </p:nvPr>
        </p:nvSpPr>
        <p:spPr>
          <a:xfrm>
            <a:off x="463463" y="1402915"/>
            <a:ext cx="11348581" cy="5089960"/>
          </a:xfrm>
        </p:spPr>
        <p:txBody>
          <a:bodyPr>
            <a:normAutofit fontScale="92500"/>
          </a:bodyPr>
          <a:lstStyle/>
          <a:p>
            <a:r>
              <a:rPr lang="en-US" b="0" i="0" dirty="0">
                <a:solidFill>
                  <a:srgbClr val="0D0D0D"/>
                </a:solidFill>
                <a:effectLst/>
                <a:latin typeface="Söhne"/>
              </a:rPr>
              <a:t>The communication style of an entrepreneur can vary depending on their personality, industry, and business goals. </a:t>
            </a:r>
          </a:p>
          <a:p>
            <a:pPr marL="0" indent="0">
              <a:buNone/>
            </a:pPr>
            <a:r>
              <a:rPr lang="en-US" b="1" i="0" dirty="0">
                <a:solidFill>
                  <a:srgbClr val="0D0D0D"/>
                </a:solidFill>
                <a:effectLst/>
                <a:latin typeface="Söhne"/>
              </a:rPr>
              <a:t>common characteristics and approaches for successful entrepreneurs </a:t>
            </a:r>
          </a:p>
          <a:p>
            <a:pPr algn="l">
              <a:buFont typeface="+mj-lt"/>
              <a:buAutoNum type="arabicPeriod"/>
            </a:pPr>
            <a:r>
              <a:rPr lang="en-US" b="1" i="0" dirty="0">
                <a:solidFill>
                  <a:srgbClr val="0D0D0D"/>
                </a:solidFill>
                <a:effectLst/>
                <a:latin typeface="Söhne"/>
              </a:rPr>
              <a:t> Visionary and Inspirational</a:t>
            </a:r>
            <a:r>
              <a:rPr lang="en-US" b="0" i="0" dirty="0">
                <a:solidFill>
                  <a:srgbClr val="0D0D0D"/>
                </a:solidFill>
                <a:effectLst/>
                <a:latin typeface="Söhne"/>
              </a:rPr>
              <a:t>:</a:t>
            </a:r>
          </a:p>
          <a:p>
            <a:pPr algn="l">
              <a:buFont typeface="Wingdings" panose="05000000000000000000" pitchFamily="2" charset="2"/>
              <a:buChar char="§"/>
            </a:pPr>
            <a:r>
              <a:rPr lang="en-US" b="0" i="0" dirty="0">
                <a:solidFill>
                  <a:srgbClr val="0D0D0D"/>
                </a:solidFill>
                <a:effectLst/>
                <a:latin typeface="Söhne"/>
              </a:rPr>
              <a:t> Entrepreneurs often have a strong vision for their business and are able to communicate it in an inspiring and convincing way. </a:t>
            </a:r>
          </a:p>
          <a:p>
            <a:pPr algn="l">
              <a:buFont typeface="Wingdings" panose="05000000000000000000" pitchFamily="2" charset="2"/>
              <a:buChar char="§"/>
            </a:pPr>
            <a:r>
              <a:rPr lang="en-US" b="0" i="0" dirty="0">
                <a:solidFill>
                  <a:srgbClr val="0D0D0D"/>
                </a:solidFill>
                <a:effectLst/>
                <a:latin typeface="Söhne"/>
              </a:rPr>
              <a:t>They use storytelling techniques to paint a brilliant picture of their goals and aspirations, motivating others to rally behind their vision.</a:t>
            </a:r>
          </a:p>
          <a:p>
            <a:pPr marL="0" indent="0" algn="l">
              <a:buNone/>
            </a:pPr>
            <a:r>
              <a:rPr lang="en-US" b="1" i="0" dirty="0">
                <a:solidFill>
                  <a:srgbClr val="0D0D0D"/>
                </a:solidFill>
                <a:effectLst/>
                <a:latin typeface="Söhne"/>
              </a:rPr>
              <a:t>2. Confident and Assertive</a:t>
            </a:r>
            <a:r>
              <a:rPr lang="en-US" b="0" i="0" dirty="0">
                <a:solidFill>
                  <a:srgbClr val="0D0D0D"/>
                </a:solidFill>
                <a:effectLst/>
                <a:latin typeface="Söhne"/>
              </a:rPr>
              <a:t>: Entrepreneurs are typically confident and assertive communicators. They are not afraid to share their ideas, voice their opinions, or take calculated risks. Their confidence brings trust and stimulates confidence in others, whether it's investors, employees, or customers.</a:t>
            </a:r>
          </a:p>
          <a:p>
            <a:pPr marL="0" indent="0">
              <a:buNone/>
            </a:pPr>
            <a:endParaRPr lang="en-RW" b="1" dirty="0"/>
          </a:p>
        </p:txBody>
      </p:sp>
    </p:spTree>
    <p:extLst>
      <p:ext uri="{BB962C8B-B14F-4D97-AF65-F5344CB8AC3E}">
        <p14:creationId xmlns:p14="http://schemas.microsoft.com/office/powerpoint/2010/main" val="2229095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196C4-43A6-C369-DC37-59FE49139A72}"/>
              </a:ext>
            </a:extLst>
          </p:cNvPr>
          <p:cNvSpPr>
            <a:spLocks noGrp="1"/>
          </p:cNvSpPr>
          <p:nvPr>
            <p:ph type="title"/>
          </p:nvPr>
        </p:nvSpPr>
        <p:spPr>
          <a:xfrm>
            <a:off x="838200" y="365126"/>
            <a:ext cx="10515600" cy="680686"/>
          </a:xfrm>
        </p:spPr>
        <p:txBody>
          <a:bodyPr>
            <a:normAutofit fontScale="90000"/>
          </a:bodyPr>
          <a:lstStyle/>
          <a:p>
            <a:endParaRPr lang="en-RW" dirty="0"/>
          </a:p>
        </p:txBody>
      </p:sp>
      <p:sp>
        <p:nvSpPr>
          <p:cNvPr id="3" name="Content Placeholder 2">
            <a:extLst>
              <a:ext uri="{FF2B5EF4-FFF2-40B4-BE49-F238E27FC236}">
                <a16:creationId xmlns:a16="http://schemas.microsoft.com/office/drawing/2014/main" id="{BBE485D1-E9FF-76A9-38B3-0F7D3933449A}"/>
              </a:ext>
            </a:extLst>
          </p:cNvPr>
          <p:cNvSpPr>
            <a:spLocks noGrp="1"/>
          </p:cNvSpPr>
          <p:nvPr>
            <p:ph idx="1"/>
          </p:nvPr>
        </p:nvSpPr>
        <p:spPr>
          <a:xfrm>
            <a:off x="425885" y="1346960"/>
            <a:ext cx="10927915" cy="5267383"/>
          </a:xfrm>
        </p:spPr>
        <p:txBody>
          <a:bodyPr>
            <a:normAutofit/>
          </a:bodyPr>
          <a:lstStyle/>
          <a:p>
            <a:pPr marL="0" indent="0" algn="l">
              <a:buNone/>
            </a:pPr>
            <a:r>
              <a:rPr lang="en-US" b="1" i="0" dirty="0">
                <a:solidFill>
                  <a:srgbClr val="0D0D0D"/>
                </a:solidFill>
                <a:effectLst/>
                <a:latin typeface="Söhne"/>
              </a:rPr>
              <a:t>3. Adaptable and Flexible</a:t>
            </a:r>
            <a:r>
              <a:rPr lang="en-US" b="0" i="0" dirty="0">
                <a:solidFill>
                  <a:srgbClr val="0D0D0D"/>
                </a:solidFill>
                <a:effectLst/>
                <a:latin typeface="Söhne"/>
              </a:rPr>
              <a:t>: </a:t>
            </a:r>
          </a:p>
          <a:p>
            <a:pPr algn="l">
              <a:buFont typeface="Wingdings" panose="05000000000000000000" pitchFamily="2" charset="2"/>
              <a:buChar char="§"/>
            </a:pPr>
            <a:r>
              <a:rPr lang="en-US" b="0" i="0" dirty="0">
                <a:solidFill>
                  <a:srgbClr val="0D0D0D"/>
                </a:solidFill>
                <a:effectLst/>
                <a:latin typeface="Söhne"/>
              </a:rPr>
              <a:t>Entrepreneurs need to be adaptable communicators who can express their message to different audiences and situations. Whether it's pitching to investors, negotiating with suppliers, or interacting with customers, they adjust their communication style to effectively engage with diverse stakeholders.</a:t>
            </a:r>
          </a:p>
          <a:p>
            <a:pPr marL="0" indent="0" algn="l">
              <a:buNone/>
            </a:pPr>
            <a:r>
              <a:rPr lang="en-US" b="1" i="0" dirty="0">
                <a:solidFill>
                  <a:srgbClr val="0D0D0D"/>
                </a:solidFill>
                <a:effectLst/>
                <a:latin typeface="Söhne"/>
              </a:rPr>
              <a:t>4. Transparent and Honest</a:t>
            </a:r>
            <a:r>
              <a:rPr lang="en-US" b="0" i="0" dirty="0">
                <a:solidFill>
                  <a:srgbClr val="0D0D0D"/>
                </a:solidFill>
                <a:effectLst/>
                <a:latin typeface="Söhne"/>
              </a:rPr>
              <a:t>:</a:t>
            </a:r>
          </a:p>
          <a:p>
            <a:pPr algn="l">
              <a:buFont typeface="Wingdings" panose="05000000000000000000" pitchFamily="2" charset="2"/>
              <a:buChar char="§"/>
            </a:pPr>
            <a:r>
              <a:rPr lang="en-US" b="0" i="0" dirty="0">
                <a:solidFill>
                  <a:srgbClr val="0D0D0D"/>
                </a:solidFill>
                <a:effectLst/>
                <a:latin typeface="Söhne"/>
              </a:rPr>
              <a:t> Successful entrepreneurs are honest and transparent in their communication, even when delivering difficult news or addressing challenges. They value open and honest communication within their team and with external partners.</a:t>
            </a:r>
          </a:p>
          <a:p>
            <a:endParaRPr lang="en-RW" dirty="0"/>
          </a:p>
        </p:txBody>
      </p:sp>
    </p:spTree>
    <p:extLst>
      <p:ext uri="{BB962C8B-B14F-4D97-AF65-F5344CB8AC3E}">
        <p14:creationId xmlns:p14="http://schemas.microsoft.com/office/powerpoint/2010/main" val="1849139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9EC94-DF80-37E2-9D25-4697E7BBF0A4}"/>
              </a:ext>
            </a:extLst>
          </p:cNvPr>
          <p:cNvSpPr>
            <a:spLocks noGrp="1"/>
          </p:cNvSpPr>
          <p:nvPr>
            <p:ph type="title"/>
          </p:nvPr>
        </p:nvSpPr>
        <p:spPr>
          <a:xfrm>
            <a:off x="838200" y="365126"/>
            <a:ext cx="10515600" cy="401438"/>
          </a:xfrm>
        </p:spPr>
        <p:txBody>
          <a:bodyPr>
            <a:normAutofit fontScale="90000"/>
          </a:bodyPr>
          <a:lstStyle/>
          <a:p>
            <a:endParaRPr lang="en-RW" dirty="0"/>
          </a:p>
        </p:txBody>
      </p:sp>
      <p:sp>
        <p:nvSpPr>
          <p:cNvPr id="3" name="Content Placeholder 2">
            <a:extLst>
              <a:ext uri="{FF2B5EF4-FFF2-40B4-BE49-F238E27FC236}">
                <a16:creationId xmlns:a16="http://schemas.microsoft.com/office/drawing/2014/main" id="{3AF6682A-9885-6D69-B3E3-E4044BF86900}"/>
              </a:ext>
            </a:extLst>
          </p:cNvPr>
          <p:cNvSpPr>
            <a:spLocks noGrp="1"/>
          </p:cNvSpPr>
          <p:nvPr>
            <p:ph idx="1"/>
          </p:nvPr>
        </p:nvSpPr>
        <p:spPr>
          <a:xfrm>
            <a:off x="388307" y="977030"/>
            <a:ext cx="10965493" cy="5880969"/>
          </a:xfrm>
        </p:spPr>
        <p:txBody>
          <a:bodyPr>
            <a:normAutofit/>
          </a:bodyPr>
          <a:lstStyle/>
          <a:p>
            <a:pPr marL="0" indent="0" algn="l">
              <a:buNone/>
            </a:pPr>
            <a:r>
              <a:rPr lang="en-US" b="1" dirty="0">
                <a:solidFill>
                  <a:srgbClr val="0D0D0D"/>
                </a:solidFill>
                <a:latin typeface="Söhne"/>
              </a:rPr>
              <a:t>6</a:t>
            </a:r>
            <a:r>
              <a:rPr lang="en-US" b="1" i="0" dirty="0">
                <a:solidFill>
                  <a:srgbClr val="0D0D0D"/>
                </a:solidFill>
                <a:effectLst/>
                <a:latin typeface="Söhne"/>
              </a:rPr>
              <a:t>. Strategic and Results-Oriented</a:t>
            </a:r>
            <a:r>
              <a:rPr lang="en-US" b="0" i="0" dirty="0">
                <a:solidFill>
                  <a:srgbClr val="0D0D0D"/>
                </a:solidFill>
                <a:effectLst/>
                <a:latin typeface="Söhne"/>
              </a:rPr>
              <a:t>: </a:t>
            </a:r>
          </a:p>
          <a:p>
            <a:pPr algn="l">
              <a:buFont typeface="Wingdings" panose="05000000000000000000" pitchFamily="2" charset="2"/>
              <a:buChar char="§"/>
            </a:pPr>
            <a:r>
              <a:rPr lang="en-US" b="0" i="0" dirty="0">
                <a:solidFill>
                  <a:srgbClr val="0D0D0D"/>
                </a:solidFill>
                <a:effectLst/>
                <a:latin typeface="Söhne"/>
              </a:rPr>
              <a:t>Entrepreneurs communicate with a strategic focus, always keeping their business goals and objectives in mind. </a:t>
            </a:r>
          </a:p>
          <a:p>
            <a:pPr algn="l">
              <a:buFont typeface="Wingdings" panose="05000000000000000000" pitchFamily="2" charset="2"/>
              <a:buChar char="§"/>
            </a:pPr>
            <a:r>
              <a:rPr lang="en-US" b="0" i="0" dirty="0">
                <a:solidFill>
                  <a:srgbClr val="0D0D0D"/>
                </a:solidFill>
                <a:effectLst/>
                <a:latin typeface="Söhne"/>
              </a:rPr>
              <a:t>They are results-oriented communicators who focus on driving action and achieving tangible outcomes. Their communication is purposeful and directed towards advancing their business objectives.</a:t>
            </a:r>
          </a:p>
          <a:p>
            <a:pPr marL="0" indent="0" algn="l">
              <a:buNone/>
            </a:pPr>
            <a:r>
              <a:rPr lang="en-US" b="1" i="0" dirty="0">
                <a:solidFill>
                  <a:srgbClr val="0D0D0D"/>
                </a:solidFill>
                <a:effectLst/>
                <a:latin typeface="Söhne"/>
              </a:rPr>
              <a:t>7. Continuous Learner and Listener</a:t>
            </a:r>
            <a:r>
              <a:rPr lang="en-US" b="0" i="0" dirty="0">
                <a:solidFill>
                  <a:srgbClr val="0D0D0D"/>
                </a:solidFill>
                <a:effectLst/>
                <a:latin typeface="Söhne"/>
              </a:rPr>
              <a:t>: </a:t>
            </a:r>
          </a:p>
          <a:p>
            <a:pPr algn="l">
              <a:buFont typeface="Wingdings" panose="05000000000000000000" pitchFamily="2" charset="2"/>
              <a:buChar char="§"/>
            </a:pPr>
            <a:r>
              <a:rPr lang="en-US" b="0" i="0" dirty="0">
                <a:solidFill>
                  <a:srgbClr val="0D0D0D"/>
                </a:solidFill>
                <a:effectLst/>
                <a:latin typeface="Söhne"/>
              </a:rPr>
              <a:t>Effective entrepreneurs are lifelong learners who continuously seek to improve their communication skills.</a:t>
            </a:r>
          </a:p>
          <a:p>
            <a:pPr algn="l">
              <a:buFont typeface="Wingdings" panose="05000000000000000000" pitchFamily="2" charset="2"/>
              <a:buChar char="§"/>
            </a:pPr>
            <a:r>
              <a:rPr lang="en-US" b="0" i="0" dirty="0">
                <a:solidFill>
                  <a:srgbClr val="0D0D0D"/>
                </a:solidFill>
                <a:effectLst/>
                <a:latin typeface="Söhne"/>
              </a:rPr>
              <a:t> They are active listeners who value feedback and are open to learning from others. They adapt their communication style based on feedback and new insights, constantly refining their approach to better connect with their audience.</a:t>
            </a:r>
          </a:p>
          <a:p>
            <a:endParaRPr lang="en-RW" dirty="0"/>
          </a:p>
        </p:txBody>
      </p:sp>
    </p:spTree>
    <p:extLst>
      <p:ext uri="{BB962C8B-B14F-4D97-AF65-F5344CB8AC3E}">
        <p14:creationId xmlns:p14="http://schemas.microsoft.com/office/powerpoint/2010/main" val="686772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786</TotalTime>
  <Words>1016</Words>
  <Application>Microsoft Office PowerPoint</Application>
  <PresentationFormat>Widescreen</PresentationFormat>
  <Paragraphs>74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Display</vt:lpstr>
      <vt:lpstr>Arial</vt:lpstr>
      <vt:lpstr>Söhne</vt:lpstr>
      <vt:lpstr>Times</vt:lpstr>
      <vt:lpstr>Times New Roman</vt:lpstr>
      <vt:lpstr>Wingdings</vt:lpstr>
      <vt:lpstr>Office Theme</vt:lpstr>
      <vt:lpstr>Lesson 5: Communicate Effectively</vt:lpstr>
      <vt:lpstr>Learn how incorrect assumptions and limiting our opinions about people can negatively impact our communication.</vt:lpstr>
      <vt:lpstr>PowerPoint Presentation</vt:lpstr>
      <vt:lpstr>PowerPoint Presentation</vt:lpstr>
      <vt:lpstr>Types of business communication</vt:lpstr>
      <vt:lpstr>PowerPoint Presentation</vt:lpstr>
      <vt:lpstr>PowerPoint Presentation</vt:lpstr>
      <vt:lpstr>Importance of Communication at work </vt:lpstr>
      <vt:lpstr>PowerPoint Presentation</vt:lpstr>
      <vt:lpstr>PowerPoint Presentation</vt:lpstr>
      <vt:lpstr>PowerPoint Presentation</vt:lpstr>
      <vt:lpstr>Barriers to communication</vt:lpstr>
      <vt:lpstr>How to overcome these barriers</vt:lpstr>
      <vt:lpstr>Communication style of an entrepreneur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Kellen Sumwiza</dc:creator>
  <cp:lastModifiedBy>m&amp;n technology</cp:lastModifiedBy>
  <cp:revision>17</cp:revision>
  <dcterms:created xsi:type="dcterms:W3CDTF">2024-04-21T21:19:28Z</dcterms:created>
  <dcterms:modified xsi:type="dcterms:W3CDTF">2025-02-27T10:47:47Z</dcterms:modified>
</cp:coreProperties>
</file>