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7" autoAdjust="0"/>
    <p:restoredTop sz="94660"/>
  </p:normalViewPr>
  <p:slideViewPr>
    <p:cSldViewPr snapToGrid="0">
      <p:cViewPr varScale="1">
        <p:scale>
          <a:sx n="87" d="100"/>
          <a:sy n="87" d="100"/>
        </p:scale>
        <p:origin x="57" y="55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37B1759E-DC3F-46B8-9E8D-CD37C7884811}" type="datetimeFigureOut">
              <a:rPr lang="en-GB" smtClean="0"/>
              <a:t>08/06/2026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10D5731-AE24-40A7-8B92-B75FBA002562}" type="slidenum">
              <a:rPr lang="en-GB" smtClean="0"/>
              <a:t>‹#›</a:t>
            </a:fld>
            <a:endParaRPr lang="en-GB"/>
          </a:p>
        </p:txBody>
      </p:sp>
    </p:spTree>
    <p:extLst>
      <p:ext uri="{BB962C8B-B14F-4D97-AF65-F5344CB8AC3E}">
        <p14:creationId xmlns:p14="http://schemas.microsoft.com/office/powerpoint/2010/main" val="1008857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37B1759E-DC3F-46B8-9E8D-CD37C7884811}" type="datetimeFigureOut">
              <a:rPr lang="en-GB" smtClean="0"/>
              <a:t>08/06/2026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10D5731-AE24-40A7-8B92-B75FBA002562}" type="slidenum">
              <a:rPr lang="en-GB" smtClean="0"/>
              <a:t>‹#›</a:t>
            </a:fld>
            <a:endParaRPr lang="en-GB"/>
          </a:p>
        </p:txBody>
      </p:sp>
    </p:spTree>
    <p:extLst>
      <p:ext uri="{BB962C8B-B14F-4D97-AF65-F5344CB8AC3E}">
        <p14:creationId xmlns:p14="http://schemas.microsoft.com/office/powerpoint/2010/main" val="2175228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7B1759E-DC3F-46B8-9E8D-CD37C7884811}" type="datetimeFigureOut">
              <a:rPr lang="en-GB" smtClean="0"/>
              <a:t>08/06/2026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10D5731-AE24-40A7-8B92-B75FBA002562}" type="slidenum">
              <a:rPr lang="en-GB" smtClean="0"/>
              <a:t>‹#›</a:t>
            </a:fld>
            <a:endParaRPr lang="en-GB"/>
          </a:p>
        </p:txBody>
      </p:sp>
    </p:spTree>
    <p:extLst>
      <p:ext uri="{BB962C8B-B14F-4D97-AF65-F5344CB8AC3E}">
        <p14:creationId xmlns:p14="http://schemas.microsoft.com/office/powerpoint/2010/main" val="754665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37B1759E-DC3F-46B8-9E8D-CD37C7884811}" type="datetimeFigureOut">
              <a:rPr lang="en-GB" smtClean="0"/>
              <a:t>08/06/2026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10D5731-AE24-40A7-8B92-B75FBA002562}" type="slidenum">
              <a:rPr lang="en-GB" smtClean="0"/>
              <a:t>‹#›</a:t>
            </a:fld>
            <a:endParaRPr lang="en-GB"/>
          </a:p>
        </p:txBody>
      </p:sp>
    </p:spTree>
    <p:extLst>
      <p:ext uri="{BB962C8B-B14F-4D97-AF65-F5344CB8AC3E}">
        <p14:creationId xmlns:p14="http://schemas.microsoft.com/office/powerpoint/2010/main" val="2292836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37B1759E-DC3F-46B8-9E8D-CD37C7884811}" type="datetimeFigureOut">
              <a:rPr lang="en-GB" smtClean="0"/>
              <a:t>08/06/2026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10D5731-AE24-40A7-8B92-B75FBA002562}" type="slidenum">
              <a:rPr lang="en-GB" smtClean="0"/>
              <a:t>‹#›</a:t>
            </a:fld>
            <a:endParaRPr lang="en-GB"/>
          </a:p>
        </p:txBody>
      </p:sp>
    </p:spTree>
    <p:extLst>
      <p:ext uri="{BB962C8B-B14F-4D97-AF65-F5344CB8AC3E}">
        <p14:creationId xmlns:p14="http://schemas.microsoft.com/office/powerpoint/2010/main" val="1221907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37B1759E-DC3F-46B8-9E8D-CD37C7884811}" type="datetimeFigureOut">
              <a:rPr lang="en-GB" smtClean="0"/>
              <a:t>08/06/2026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10D5731-AE24-40A7-8B92-B75FBA002562}" type="slidenum">
              <a:rPr lang="en-GB" smtClean="0"/>
              <a:t>‹#›</a:t>
            </a:fld>
            <a:endParaRPr lang="en-GB"/>
          </a:p>
        </p:txBody>
      </p:sp>
    </p:spTree>
    <p:extLst>
      <p:ext uri="{BB962C8B-B14F-4D97-AF65-F5344CB8AC3E}">
        <p14:creationId xmlns:p14="http://schemas.microsoft.com/office/powerpoint/2010/main" val="3785251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B1759E-DC3F-46B8-9E8D-CD37C7884811}" type="datetimeFigureOut">
              <a:rPr lang="en-GB" smtClean="0"/>
              <a:t>08/06/2026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10D5731-AE24-40A7-8B92-B75FBA002562}" type="slidenum">
              <a:rPr lang="en-GB" smtClean="0"/>
              <a:t>‹#›</a:t>
            </a:fld>
            <a:endParaRPr lang="en-GB"/>
          </a:p>
        </p:txBody>
      </p:sp>
    </p:spTree>
    <p:extLst>
      <p:ext uri="{BB962C8B-B14F-4D97-AF65-F5344CB8AC3E}">
        <p14:creationId xmlns:p14="http://schemas.microsoft.com/office/powerpoint/2010/main" val="3694091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7B1759E-DC3F-46B8-9E8D-CD37C7884811}" type="datetimeFigureOut">
              <a:rPr lang="en-GB" smtClean="0"/>
              <a:t>08/06/2026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10D5731-AE24-40A7-8B92-B75FBA002562}" type="slidenum">
              <a:rPr lang="en-GB" smtClean="0"/>
              <a:t>‹#›</a:t>
            </a:fld>
            <a:endParaRPr lang="en-GB"/>
          </a:p>
        </p:txBody>
      </p:sp>
    </p:spTree>
    <p:extLst>
      <p:ext uri="{BB962C8B-B14F-4D97-AF65-F5344CB8AC3E}">
        <p14:creationId xmlns:p14="http://schemas.microsoft.com/office/powerpoint/2010/main" val="3371342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7B1759E-DC3F-46B8-9E8D-CD37C7884811}" type="datetimeFigureOut">
              <a:rPr lang="en-GB" smtClean="0"/>
              <a:t>08/06/2026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10D5731-AE24-40A7-8B92-B75FBA002562}" type="slidenum">
              <a:rPr lang="en-GB" smtClean="0"/>
              <a:t>‹#›</a:t>
            </a:fld>
            <a:endParaRPr lang="en-GB"/>
          </a:p>
        </p:txBody>
      </p:sp>
    </p:spTree>
    <p:extLst>
      <p:ext uri="{BB962C8B-B14F-4D97-AF65-F5344CB8AC3E}">
        <p14:creationId xmlns:p14="http://schemas.microsoft.com/office/powerpoint/2010/main" val="3589142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37B1759E-DC3F-46B8-9E8D-CD37C7884811}" type="datetimeFigureOut">
              <a:rPr lang="en-GB" smtClean="0"/>
              <a:t>08/06/2026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10D5731-AE24-40A7-8B92-B75FBA002562}" type="slidenum">
              <a:rPr lang="en-GB" smtClean="0"/>
              <a:t>‹#›</a:t>
            </a:fld>
            <a:endParaRPr lang="en-GB"/>
          </a:p>
        </p:txBody>
      </p:sp>
    </p:spTree>
    <p:extLst>
      <p:ext uri="{BB962C8B-B14F-4D97-AF65-F5344CB8AC3E}">
        <p14:creationId xmlns:p14="http://schemas.microsoft.com/office/powerpoint/2010/main" val="17893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37B1759E-DC3F-46B8-9E8D-CD37C7884811}" type="datetimeFigureOut">
              <a:rPr lang="en-GB" smtClean="0"/>
              <a:t>08/06/2026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10D5731-AE24-40A7-8B92-B75FBA002562}" type="slidenum">
              <a:rPr lang="en-GB" smtClean="0"/>
              <a:t>‹#›</a:t>
            </a:fld>
            <a:endParaRPr lang="en-GB"/>
          </a:p>
        </p:txBody>
      </p:sp>
    </p:spTree>
    <p:extLst>
      <p:ext uri="{BB962C8B-B14F-4D97-AF65-F5344CB8AC3E}">
        <p14:creationId xmlns:p14="http://schemas.microsoft.com/office/powerpoint/2010/main" val="1513447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B1759E-DC3F-46B8-9E8D-CD37C7884811}" type="datetimeFigureOut">
              <a:rPr lang="en-GB" smtClean="0"/>
              <a:t>08/06/2026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0D5731-AE24-40A7-8B92-B75FBA002562}" type="slidenum">
              <a:rPr lang="en-GB" smtClean="0"/>
              <a:t>‹#›</a:t>
            </a:fld>
            <a:endParaRPr lang="en-GB"/>
          </a:p>
        </p:txBody>
      </p:sp>
    </p:spTree>
    <p:extLst>
      <p:ext uri="{BB962C8B-B14F-4D97-AF65-F5344CB8AC3E}">
        <p14:creationId xmlns:p14="http://schemas.microsoft.com/office/powerpoint/2010/main" val="285635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youtube.com/watch?v=-uNsgcdq3X8&amp;list=PL4-WOrA-_oon9B-z0zbNL0jP7QenNIado"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GB"/>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3187538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3D9CE142-EB65-A7EE-AC17-54C86815D1F7}"/>
              </a:ext>
            </a:extLst>
          </p:cNvPr>
          <p:cNvSpPr>
            <a:spLocks noGrp="1"/>
          </p:cNvSpPr>
          <p:nvPr>
            <p:ph type="title"/>
          </p:nvPr>
        </p:nvSpPr>
        <p:spPr>
          <a:xfrm>
            <a:off x="1981200" y="274638"/>
            <a:ext cx="8229600" cy="2468562"/>
          </a:xfrm>
        </p:spPr>
        <p:txBody>
          <a:bodyPr/>
          <a:lstStyle/>
          <a:p>
            <a:r>
              <a:rPr lang="en-US" altLang="en-US" sz="4000" b="1" dirty="0">
                <a:solidFill>
                  <a:srgbClr val="00B050"/>
                </a:solidFill>
                <a:latin typeface="Times New Roman" panose="02020603050405020304" pitchFamily="18" charset="0"/>
                <a:cs typeface="Times New Roman" panose="02020603050405020304" pitchFamily="18" charset="0"/>
              </a:rPr>
              <a:t>Lesson 7: Sales Skills to Become an Effective Entrepreneur</a:t>
            </a:r>
            <a:r>
              <a:rPr lang="en-US" altLang="en-US" sz="4000" dirty="0">
                <a:solidFill>
                  <a:srgbClr val="00B050"/>
                </a:solidFill>
                <a:latin typeface="Times New Roman" panose="02020603050405020304" pitchFamily="18" charset="0"/>
                <a:cs typeface="Times New Roman" panose="02020603050405020304" pitchFamily="18" charset="0"/>
              </a:rPr>
              <a:t> </a:t>
            </a:r>
            <a:r>
              <a:rPr lang="en-US" altLang="en-US" dirty="0"/>
              <a:t/>
            </a:r>
            <a:br>
              <a:rPr lang="en-US" altLang="en-US" dirty="0"/>
            </a:br>
            <a:endParaRPr lang="en-US" altLang="en-US" dirty="0"/>
          </a:p>
        </p:txBody>
      </p:sp>
      <p:sp>
        <p:nvSpPr>
          <p:cNvPr id="3" name="Content Placeholder 2">
            <a:extLst>
              <a:ext uri="{FF2B5EF4-FFF2-40B4-BE49-F238E27FC236}">
                <a16:creationId xmlns:a16="http://schemas.microsoft.com/office/drawing/2014/main" id="{DDCF1393-92E4-8931-5F29-CF3572FD28E6}"/>
              </a:ext>
            </a:extLst>
          </p:cNvPr>
          <p:cNvSpPr>
            <a:spLocks noGrp="1"/>
          </p:cNvSpPr>
          <p:nvPr>
            <p:ph idx="1"/>
          </p:nvPr>
        </p:nvSpPr>
        <p:spPr>
          <a:xfrm>
            <a:off x="1322173" y="2743201"/>
            <a:ext cx="8888627" cy="3382963"/>
          </a:xfrm>
        </p:spPr>
        <p:txBody>
          <a:bodyPr/>
          <a:lstStyle/>
          <a:p>
            <a:pPr marL="0" indent="0">
              <a:buNone/>
              <a:defRPr/>
            </a:pPr>
            <a:r>
              <a:rPr lang="en-US" b="1" i="1" u="sng" dirty="0">
                <a:solidFill>
                  <a:srgbClr val="0070C0"/>
                </a:solidFill>
              </a:rPr>
              <a:t>Learning Objectives</a:t>
            </a:r>
            <a:r>
              <a:rPr lang="en-US" i="1" u="sng" dirty="0">
                <a:solidFill>
                  <a:srgbClr val="0070C0"/>
                </a:solidFill>
              </a:rPr>
              <a:t>:</a:t>
            </a:r>
            <a:r>
              <a:rPr lang="en-US" dirty="0">
                <a:solidFill>
                  <a:srgbClr val="0070C0"/>
                </a:solidFill>
              </a:rPr>
              <a:t> </a:t>
            </a:r>
          </a:p>
          <a:p>
            <a:pPr algn="just">
              <a:defRPr/>
            </a:pPr>
            <a:r>
              <a:rPr lang="en-US" dirty="0">
                <a:latin typeface="Times New Roman" panose="02020603050405020304" pitchFamily="18" charset="0"/>
                <a:cs typeface="Times New Roman" panose="02020603050405020304" pitchFamily="18" charset="0"/>
              </a:rPr>
              <a:t>Understand what is customer focus and how all selling effort should be kept customer-centric.</a:t>
            </a:r>
          </a:p>
          <a:p>
            <a:pPr algn="just">
              <a:defRPr/>
            </a:pPr>
            <a:r>
              <a:rPr lang="en-US" dirty="0">
                <a:latin typeface="Times New Roman" panose="02020603050405020304" pitchFamily="18" charset="0"/>
                <a:cs typeface="Times New Roman" panose="02020603050405020304" pitchFamily="18" charset="0"/>
              </a:rPr>
              <a:t>Use the skills/techniques of personal selling, Show and Tell, and Elevator Pitch to sell effectively.</a:t>
            </a:r>
          </a:p>
          <a:p>
            <a:pPr marL="0" indent="0">
              <a:buNone/>
              <a:defRPr/>
            </a:pPr>
            <a:endParaRPr lang="en-US" dirty="0"/>
          </a:p>
        </p:txBody>
      </p:sp>
    </p:spTree>
    <p:extLst>
      <p:ext uri="{BB962C8B-B14F-4D97-AF65-F5344CB8AC3E}">
        <p14:creationId xmlns:p14="http://schemas.microsoft.com/office/powerpoint/2010/main" val="3019948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D0055-2E88-4343-8586-ED3691C3E09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9C8125-611C-4735-9D32-F4B2B4A9E844}"/>
              </a:ext>
            </a:extLst>
          </p:cNvPr>
          <p:cNvSpPr>
            <a:spLocks noGrp="1"/>
          </p:cNvSpPr>
          <p:nvPr>
            <p:ph idx="1"/>
          </p:nvPr>
        </p:nvSpPr>
        <p:spPr/>
        <p:txBody>
          <a:bodyPr/>
          <a:lstStyle/>
          <a:p>
            <a:r>
              <a:rPr lang="en-US" dirty="0">
                <a:highlight>
                  <a:srgbClr val="FFFF00"/>
                </a:highlight>
                <a:hlinkClick r:id="rId2"/>
              </a:rPr>
              <a:t>Customer Profiling Introduction and Concept (youtube.com)</a:t>
            </a:r>
            <a:endParaRPr lang="en-US" dirty="0">
              <a:highlight>
                <a:srgbClr val="FFFF00"/>
              </a:highlight>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714354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52A19132-3739-F1D7-673E-A63868AB3A90}"/>
              </a:ext>
            </a:extLst>
          </p:cNvPr>
          <p:cNvSpPr>
            <a:spLocks noGrp="1"/>
          </p:cNvSpPr>
          <p:nvPr>
            <p:ph type="title"/>
          </p:nvPr>
        </p:nvSpPr>
        <p:spPr>
          <a:xfrm>
            <a:off x="1981200" y="704850"/>
            <a:ext cx="8229600" cy="895350"/>
          </a:xfrm>
        </p:spPr>
        <p:txBody>
          <a:bodyPr/>
          <a:lstStyle/>
          <a:p>
            <a:r>
              <a:rPr lang="en-US" altLang="en-US"/>
              <a:t>Cont’d…..</a:t>
            </a:r>
          </a:p>
        </p:txBody>
      </p:sp>
      <p:sp>
        <p:nvSpPr>
          <p:cNvPr id="39939" name="Content Placeholder 2">
            <a:extLst>
              <a:ext uri="{FF2B5EF4-FFF2-40B4-BE49-F238E27FC236}">
                <a16:creationId xmlns:a16="http://schemas.microsoft.com/office/drawing/2014/main" id="{89FCBC64-AADC-BE07-AEA6-B8DD970F5A04}"/>
              </a:ext>
            </a:extLst>
          </p:cNvPr>
          <p:cNvSpPr>
            <a:spLocks noGrp="1"/>
          </p:cNvSpPr>
          <p:nvPr>
            <p:ph idx="1"/>
          </p:nvPr>
        </p:nvSpPr>
        <p:spPr>
          <a:xfrm>
            <a:off x="838200" y="1457960"/>
            <a:ext cx="10515600" cy="5120640"/>
          </a:xfrm>
        </p:spPr>
        <p:txBody>
          <a:bodyPr>
            <a:normAutofit fontScale="92500" lnSpcReduction="20000"/>
          </a:bodyPr>
          <a:lstStyle/>
          <a:p>
            <a:pPr marL="0" indent="0" algn="just">
              <a:buNone/>
            </a:pPr>
            <a:r>
              <a:rPr lang="en-US" altLang="en-US" dirty="0">
                <a:latin typeface="Times" panose="02020603050405020304" pitchFamily="18" charset="0"/>
                <a:ea typeface="Times" panose="02020603050405020304" pitchFamily="18" charset="0"/>
                <a:cs typeface="Times" panose="02020603050405020304" pitchFamily="18" charset="0"/>
              </a:rPr>
              <a:t>Entrepreneurs need to get to know their customers in the process called customer profiling which will allow him to know their needs and what the right thing to serve them</a:t>
            </a:r>
          </a:p>
          <a:p>
            <a:pPr marL="0" indent="0" algn="just">
              <a:buNone/>
            </a:pPr>
            <a:r>
              <a:rPr lang="en-US" altLang="en-US" dirty="0">
                <a:latin typeface="Times" panose="02020603050405020304" pitchFamily="18" charset="0"/>
                <a:ea typeface="Times" panose="02020603050405020304" pitchFamily="18" charset="0"/>
                <a:cs typeface="Times" panose="02020603050405020304" pitchFamily="18" charset="0"/>
              </a:rPr>
              <a:t>1- </a:t>
            </a:r>
            <a:r>
              <a:rPr lang="en-US" altLang="en-US" b="1" dirty="0">
                <a:latin typeface="Times" panose="02020603050405020304" pitchFamily="18" charset="0"/>
                <a:ea typeface="Times" panose="02020603050405020304" pitchFamily="18" charset="0"/>
                <a:cs typeface="Times" panose="02020603050405020304" pitchFamily="18" charset="0"/>
              </a:rPr>
              <a:t>Customer profiling </a:t>
            </a:r>
            <a:r>
              <a:rPr lang="en-US" altLang="en-US" dirty="0">
                <a:latin typeface="Times" panose="02020603050405020304" pitchFamily="18" charset="0"/>
                <a:ea typeface="Times" panose="02020603050405020304" pitchFamily="18" charset="0"/>
                <a:cs typeface="Times" panose="02020603050405020304" pitchFamily="18" charset="0"/>
              </a:rPr>
              <a:t>– Demographic (x-tics)</a:t>
            </a:r>
          </a:p>
          <a:p>
            <a:pPr marL="0" indent="0" algn="just">
              <a:buNone/>
            </a:pPr>
            <a:r>
              <a:rPr lang="en-US" altLang="en-US" dirty="0">
                <a:latin typeface="Times" panose="02020603050405020304" pitchFamily="18" charset="0"/>
                <a:ea typeface="Times" panose="02020603050405020304" pitchFamily="18" charset="0"/>
                <a:cs typeface="Times" panose="02020603050405020304" pitchFamily="18" charset="0"/>
              </a:rPr>
              <a:t>                                       - Psychographics (x-tics)</a:t>
            </a:r>
          </a:p>
          <a:p>
            <a:pPr marL="0" indent="0">
              <a:buNone/>
            </a:pPr>
            <a:r>
              <a:rPr lang="en-US" b="1" i="0" dirty="0">
                <a:solidFill>
                  <a:srgbClr val="0D0D0D"/>
                </a:solidFill>
                <a:effectLst/>
                <a:highlight>
                  <a:srgbClr val="FFFFFF"/>
                </a:highlight>
                <a:latin typeface="Söhne"/>
              </a:rPr>
              <a:t>Demographic customer profiling </a:t>
            </a:r>
            <a:r>
              <a:rPr lang="en-US" b="0" i="0" dirty="0">
                <a:solidFill>
                  <a:srgbClr val="0D0D0D"/>
                </a:solidFill>
                <a:effectLst/>
                <a:highlight>
                  <a:srgbClr val="FFFFFF"/>
                </a:highlight>
                <a:latin typeface="Söhne"/>
              </a:rPr>
              <a:t>involves categorizing and analyzing customers based on quantifiable characteristics such as age, gender, income, education, location, and more.</a:t>
            </a:r>
          </a:p>
          <a:p>
            <a:pPr marL="0" indent="0">
              <a:buNone/>
            </a:pPr>
            <a:r>
              <a:rPr lang="en-US" dirty="0"/>
              <a:t/>
            </a:r>
            <a:br>
              <a:rPr lang="en-US" dirty="0"/>
            </a:br>
            <a:r>
              <a:rPr lang="en-US" b="1" i="0" dirty="0">
                <a:solidFill>
                  <a:srgbClr val="0D0D0D"/>
                </a:solidFill>
                <a:effectLst/>
                <a:highlight>
                  <a:srgbClr val="FFFFFF"/>
                </a:highlight>
                <a:latin typeface="Söhne"/>
              </a:rPr>
              <a:t>Psychographic customer profiling </a:t>
            </a:r>
            <a:r>
              <a:rPr lang="en-US" b="0" i="0" dirty="0">
                <a:solidFill>
                  <a:srgbClr val="0D0D0D"/>
                </a:solidFill>
                <a:effectLst/>
                <a:highlight>
                  <a:srgbClr val="FFFFFF"/>
                </a:highlight>
                <a:latin typeface="Söhne"/>
              </a:rPr>
              <a:t>involves analyzing customers based on their psychological and lifestyle characteristics, attitudes, values, interests, and behaviors.</a:t>
            </a:r>
          </a:p>
          <a:p>
            <a:pPr marL="0" indent="0">
              <a:buNone/>
            </a:pPr>
            <a:r>
              <a:rPr lang="en-US" altLang="en-US" b="1" dirty="0">
                <a:latin typeface="Times" panose="02020603050405020304" pitchFamily="18" charset="0"/>
                <a:ea typeface="Times" panose="02020603050405020304" pitchFamily="18" charset="0"/>
                <a:cs typeface="Times" panose="02020603050405020304" pitchFamily="18" charset="0"/>
              </a:rPr>
              <a:t>2- Waving customers- </a:t>
            </a:r>
            <a:r>
              <a:rPr lang="en-US" altLang="en-US" dirty="0">
                <a:latin typeface="Times" panose="02020603050405020304" pitchFamily="18" charset="0"/>
                <a:ea typeface="Times" panose="02020603050405020304" pitchFamily="18" charset="0"/>
                <a:cs typeface="Times" panose="02020603050405020304" pitchFamily="18" charset="0"/>
              </a:rPr>
              <a:t>way of impressing and exciting the customer greatly ( value customer and give attention to them)</a:t>
            </a:r>
          </a:p>
          <a:p>
            <a:pPr marL="0" indent="0">
              <a:buNone/>
            </a:pPr>
            <a:endParaRPr lang="en-US" altLang="en-US" dirty="0"/>
          </a:p>
          <a:p>
            <a:pPr marL="0" indent="0">
              <a:buNone/>
            </a:pPr>
            <a:endParaRPr lang="en-US" altLang="en-US" dirty="0"/>
          </a:p>
        </p:txBody>
      </p:sp>
    </p:spTree>
    <p:extLst>
      <p:ext uri="{BB962C8B-B14F-4D97-AF65-F5344CB8AC3E}">
        <p14:creationId xmlns:p14="http://schemas.microsoft.com/office/powerpoint/2010/main" val="67485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449CE24D-303A-33E9-D0B6-7C01A002F73C}"/>
              </a:ext>
            </a:extLst>
          </p:cNvPr>
          <p:cNvSpPr>
            <a:spLocks noGrp="1"/>
          </p:cNvSpPr>
          <p:nvPr>
            <p:ph type="title"/>
          </p:nvPr>
        </p:nvSpPr>
        <p:spPr>
          <a:xfrm>
            <a:off x="1981200" y="152400"/>
            <a:ext cx="8229600" cy="533400"/>
          </a:xfrm>
        </p:spPr>
        <p:txBody>
          <a:bodyPr>
            <a:normAutofit fontScale="90000"/>
          </a:bodyPr>
          <a:lstStyle/>
          <a:p>
            <a:r>
              <a:rPr lang="en-US" altLang="en-US"/>
              <a:t>Cont’d….</a:t>
            </a:r>
          </a:p>
        </p:txBody>
      </p:sp>
      <p:sp>
        <p:nvSpPr>
          <p:cNvPr id="3" name="Content Placeholder 2">
            <a:extLst>
              <a:ext uri="{FF2B5EF4-FFF2-40B4-BE49-F238E27FC236}">
                <a16:creationId xmlns:a16="http://schemas.microsoft.com/office/drawing/2014/main" id="{F8AD4566-E5A7-9EB4-12EC-BAD9E214A8BC}"/>
              </a:ext>
            </a:extLst>
          </p:cNvPr>
          <p:cNvSpPr>
            <a:spLocks noGrp="1"/>
          </p:cNvSpPr>
          <p:nvPr>
            <p:ph idx="1"/>
          </p:nvPr>
        </p:nvSpPr>
        <p:spPr>
          <a:xfrm>
            <a:off x="358346" y="716694"/>
            <a:ext cx="9852454" cy="5867400"/>
          </a:xfrm>
        </p:spPr>
        <p:txBody>
          <a:bodyPr>
            <a:normAutofit/>
          </a:bodyPr>
          <a:lstStyle/>
          <a:p>
            <a:pPr marL="0" indent="0">
              <a:buNone/>
              <a:defRPr/>
            </a:pPr>
            <a:r>
              <a:rPr lang="en-US" sz="3200" b="1" dirty="0">
                <a:latin typeface="Times" panose="02020603050405020304" pitchFamily="18" charset="0"/>
                <a:cs typeface="Times" panose="02020603050405020304" pitchFamily="18" charset="0"/>
              </a:rPr>
              <a:t>3- Personal selling- following the process-</a:t>
            </a:r>
          </a:p>
          <a:p>
            <a:pPr>
              <a:buFontTx/>
              <a:buChar char="-"/>
              <a:defRPr/>
            </a:pPr>
            <a:r>
              <a:rPr lang="en-US" sz="3200" dirty="0">
                <a:latin typeface="Times" panose="02020603050405020304" pitchFamily="18" charset="0"/>
                <a:cs typeface="Times" panose="02020603050405020304" pitchFamily="18" charset="0"/>
              </a:rPr>
              <a:t>1. Prospecting and qualifying )customers with money)</a:t>
            </a:r>
          </a:p>
          <a:p>
            <a:pPr>
              <a:buFontTx/>
              <a:buChar char="-"/>
              <a:defRPr/>
            </a:pPr>
            <a:r>
              <a:rPr lang="en-US" sz="3200" dirty="0">
                <a:latin typeface="Times" panose="02020603050405020304" pitchFamily="18" charset="0"/>
                <a:cs typeface="Times" panose="02020603050405020304" pitchFamily="18" charset="0"/>
              </a:rPr>
              <a:t>2. Pre-approach (seek for appointment)</a:t>
            </a:r>
          </a:p>
          <a:p>
            <a:pPr>
              <a:buFontTx/>
              <a:buChar char="-"/>
              <a:defRPr/>
            </a:pPr>
            <a:r>
              <a:rPr lang="en-US" sz="3200" dirty="0">
                <a:latin typeface="Times" panose="02020603050405020304" pitchFamily="18" charset="0"/>
                <a:cs typeface="Times" panose="02020603050405020304" pitchFamily="18" charset="0"/>
              </a:rPr>
              <a:t>3. Approach (talk to the authorities)</a:t>
            </a:r>
          </a:p>
          <a:p>
            <a:pPr>
              <a:buFontTx/>
              <a:buChar char="-"/>
              <a:defRPr/>
            </a:pPr>
            <a:r>
              <a:rPr lang="en-US" sz="3200" dirty="0">
                <a:latin typeface="Times" panose="02020603050405020304" pitchFamily="18" charset="0"/>
                <a:cs typeface="Times" panose="02020603050405020304" pitchFamily="18" charset="0"/>
              </a:rPr>
              <a:t>4. Presentation and demonstrations (products or services)</a:t>
            </a:r>
          </a:p>
          <a:p>
            <a:pPr>
              <a:buFontTx/>
              <a:buChar char="-"/>
              <a:defRPr/>
            </a:pPr>
            <a:r>
              <a:rPr lang="en-US" sz="3200" dirty="0">
                <a:latin typeface="Times" panose="02020603050405020304" pitchFamily="18" charset="0"/>
                <a:cs typeface="Times" panose="02020603050405020304" pitchFamily="18" charset="0"/>
              </a:rPr>
              <a:t>5. Handling objections (to customers who have </a:t>
            </a:r>
            <a:r>
              <a:rPr lang="en-US" sz="3200" dirty="0" err="1">
                <a:latin typeface="Times" panose="02020603050405020304" pitchFamily="18" charset="0"/>
                <a:cs typeface="Times" panose="02020603050405020304" pitchFamily="18" charset="0"/>
              </a:rPr>
              <a:t>querries</a:t>
            </a:r>
            <a:r>
              <a:rPr lang="en-US" sz="3200" dirty="0">
                <a:latin typeface="Times" panose="02020603050405020304" pitchFamily="18" charset="0"/>
                <a:cs typeface="Times" panose="02020603050405020304" pitchFamily="18" charset="0"/>
              </a:rPr>
              <a:t>)</a:t>
            </a:r>
          </a:p>
          <a:p>
            <a:pPr>
              <a:buFontTx/>
              <a:buChar char="-"/>
              <a:defRPr/>
            </a:pPr>
            <a:r>
              <a:rPr lang="en-US" sz="3200" dirty="0">
                <a:latin typeface="Times" panose="02020603050405020304" pitchFamily="18" charset="0"/>
                <a:cs typeface="Times" panose="02020603050405020304" pitchFamily="18" charset="0"/>
              </a:rPr>
              <a:t>6. Closing (actual buying and adopting products)</a:t>
            </a:r>
          </a:p>
          <a:p>
            <a:pPr>
              <a:buFontTx/>
              <a:buChar char="-"/>
              <a:defRPr/>
            </a:pPr>
            <a:r>
              <a:rPr lang="en-US" sz="3200" dirty="0">
                <a:latin typeface="Times" panose="02020603050405020304" pitchFamily="18" charset="0"/>
                <a:cs typeface="Times" panose="02020603050405020304" pitchFamily="18" charset="0"/>
              </a:rPr>
              <a:t>7. Follow-up (on prospect’s pattern of paying)</a:t>
            </a:r>
          </a:p>
        </p:txBody>
      </p:sp>
    </p:spTree>
    <p:extLst>
      <p:ext uri="{BB962C8B-B14F-4D97-AF65-F5344CB8AC3E}">
        <p14:creationId xmlns:p14="http://schemas.microsoft.com/office/powerpoint/2010/main" val="1639340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4CC12305-0AC9-6A69-30A8-C4072EEE8B9C}"/>
              </a:ext>
            </a:extLst>
          </p:cNvPr>
          <p:cNvSpPr>
            <a:spLocks noGrp="1"/>
          </p:cNvSpPr>
          <p:nvPr>
            <p:ph type="title"/>
          </p:nvPr>
        </p:nvSpPr>
        <p:spPr>
          <a:xfrm>
            <a:off x="1981200" y="704850"/>
            <a:ext cx="8229600" cy="666750"/>
          </a:xfrm>
        </p:spPr>
        <p:txBody>
          <a:bodyPr>
            <a:normAutofit fontScale="90000"/>
          </a:bodyPr>
          <a:lstStyle/>
          <a:p>
            <a:r>
              <a:rPr lang="en-US" altLang="en-US"/>
              <a:t>Cont’d….</a:t>
            </a:r>
          </a:p>
        </p:txBody>
      </p:sp>
      <p:sp>
        <p:nvSpPr>
          <p:cNvPr id="41987" name="Content Placeholder 2">
            <a:extLst>
              <a:ext uri="{FF2B5EF4-FFF2-40B4-BE49-F238E27FC236}">
                <a16:creationId xmlns:a16="http://schemas.microsoft.com/office/drawing/2014/main" id="{55B2FCD2-ED27-CC6D-A3B7-34F5024C9B63}"/>
              </a:ext>
            </a:extLst>
          </p:cNvPr>
          <p:cNvSpPr>
            <a:spLocks noGrp="1"/>
          </p:cNvSpPr>
          <p:nvPr>
            <p:ph idx="1"/>
          </p:nvPr>
        </p:nvSpPr>
        <p:spPr>
          <a:xfrm>
            <a:off x="1981200" y="1371600"/>
            <a:ext cx="8229600" cy="4953000"/>
          </a:xfrm>
        </p:spPr>
        <p:txBody>
          <a:bodyPr>
            <a:normAutofit lnSpcReduction="10000"/>
          </a:bodyPr>
          <a:lstStyle/>
          <a:p>
            <a:pPr marL="0" indent="0" algn="just">
              <a:buNone/>
            </a:pPr>
            <a:r>
              <a:rPr lang="en-US" altLang="en-US" sz="3600" b="1" dirty="0">
                <a:latin typeface="Times New Roman" panose="02020603050405020304" pitchFamily="18" charset="0"/>
                <a:cs typeface="Times New Roman" panose="02020603050405020304" pitchFamily="18" charset="0"/>
              </a:rPr>
              <a:t>4- Show and tell </a:t>
            </a:r>
          </a:p>
          <a:p>
            <a:pPr marL="0" indent="0" algn="just">
              <a:buNone/>
            </a:pPr>
            <a:r>
              <a:rPr lang="en-US" altLang="en-US" dirty="0">
                <a:latin typeface="Times New Roman" panose="02020603050405020304" pitchFamily="18" charset="0"/>
                <a:cs typeface="Times New Roman" panose="02020603050405020304" pitchFamily="18" charset="0"/>
              </a:rPr>
              <a:t>The principle- tell the truth, narrate a story (talk about other customer’s stories), use the object or picture. For example if the product is a pen, a phone, a computer </a:t>
            </a:r>
            <a:r>
              <a:rPr lang="en-US" altLang="en-US" dirty="0" err="1">
                <a:latin typeface="Times New Roman" panose="02020603050405020304" pitchFamily="18" charset="0"/>
                <a:cs typeface="Times New Roman" panose="02020603050405020304" pitchFamily="18" charset="0"/>
              </a:rPr>
              <a:t>etc</a:t>
            </a:r>
            <a:endParaRPr lang="en-US" altLang="en-US" dirty="0">
              <a:latin typeface="Times New Roman" panose="02020603050405020304" pitchFamily="18" charset="0"/>
              <a:cs typeface="Times New Roman" panose="02020603050405020304" pitchFamily="18" charset="0"/>
            </a:endParaRPr>
          </a:p>
          <a:p>
            <a:pPr marL="0" indent="0" algn="just">
              <a:buNone/>
            </a:pPr>
            <a:r>
              <a:rPr lang="en-US" altLang="en-US" sz="3200" b="1" dirty="0">
                <a:latin typeface="Times New Roman" panose="02020603050405020304" pitchFamily="18" charset="0"/>
                <a:cs typeface="Times New Roman" panose="02020603050405020304" pitchFamily="18" charset="0"/>
              </a:rPr>
              <a:t>5- Elevator pitch- </a:t>
            </a:r>
            <a:r>
              <a:rPr lang="en-US" altLang="en-US" dirty="0">
                <a:latin typeface="Times New Roman" panose="02020603050405020304" pitchFamily="18" charset="0"/>
                <a:cs typeface="Times New Roman" panose="02020603050405020304" pitchFamily="18" charset="0"/>
              </a:rPr>
              <a:t>all about the concept and introduction.</a:t>
            </a:r>
          </a:p>
          <a:p>
            <a:pPr marL="0" indent="0" algn="just">
              <a:buNone/>
            </a:pPr>
            <a:r>
              <a:rPr lang="en-US" altLang="en-US" dirty="0">
                <a:latin typeface="Times New Roman" panose="02020603050405020304" pitchFamily="18" charset="0"/>
                <a:cs typeface="Times New Roman" panose="02020603050405020304" pitchFamily="18" charset="0"/>
              </a:rPr>
              <a:t>It is a way of introducing your self, getting across a key point or two and making a connection with someone (customer)</a:t>
            </a:r>
          </a:p>
          <a:p>
            <a:pPr marL="0" indent="0" algn="just">
              <a:buNone/>
            </a:pPr>
            <a:r>
              <a:rPr lang="en-US" altLang="en-US" b="1" dirty="0">
                <a:latin typeface="Times New Roman" panose="02020603050405020304" pitchFamily="18" charset="0"/>
                <a:cs typeface="Times New Roman" panose="02020603050405020304" pitchFamily="18" charset="0"/>
              </a:rPr>
              <a:t>Tips: </a:t>
            </a:r>
            <a:r>
              <a:rPr lang="en-US" altLang="en-US" dirty="0">
                <a:latin typeface="Times New Roman" panose="02020603050405020304" pitchFamily="18" charset="0"/>
                <a:cs typeface="Times New Roman" panose="02020603050405020304" pitchFamily="18" charset="0"/>
              </a:rPr>
              <a:t>identify your goal, communicate your USP (Unique selling proposition), engage with a question, put it all together, practice, practice </a:t>
            </a:r>
            <a:r>
              <a:rPr lang="en-US" altLang="en-US" dirty="0" err="1">
                <a:latin typeface="Times New Roman" panose="02020603050405020304" pitchFamily="18" charset="0"/>
                <a:cs typeface="Times New Roman" panose="02020603050405020304" pitchFamily="18" charset="0"/>
              </a:rPr>
              <a:t>practice</a:t>
            </a:r>
            <a:r>
              <a:rPr lang="en-US" alt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182973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EBE65698-5516-8C8D-CB44-A9D4782E5307}"/>
              </a:ext>
            </a:extLst>
          </p:cNvPr>
          <p:cNvSpPr>
            <a:spLocks noGrp="1"/>
          </p:cNvSpPr>
          <p:nvPr>
            <p:ph type="title"/>
          </p:nvPr>
        </p:nvSpPr>
        <p:spPr>
          <a:xfrm>
            <a:off x="1981200" y="274638"/>
            <a:ext cx="8229600" cy="2849562"/>
          </a:xfrm>
        </p:spPr>
        <p:txBody>
          <a:bodyPr/>
          <a:lstStyle/>
          <a:p>
            <a:r>
              <a:rPr lang="en-US" altLang="en-US" b="1" dirty="0">
                <a:solidFill>
                  <a:srgbClr val="00B050"/>
                </a:solidFill>
                <a:latin typeface="Times New Roman" panose="02020603050405020304" pitchFamily="18" charset="0"/>
                <a:cs typeface="Times New Roman" panose="02020603050405020304" pitchFamily="18" charset="0"/>
              </a:rPr>
              <a:t>Lesson 8: Managing Risks and Learning from Failures</a:t>
            </a:r>
            <a:r>
              <a:rPr lang="en-US" altLang="en-US" dirty="0">
                <a:solidFill>
                  <a:srgbClr val="00B050"/>
                </a:solidFill>
              </a:rPr>
              <a:t> </a:t>
            </a:r>
            <a:r>
              <a:rPr lang="en-US" altLang="en-US" dirty="0"/>
              <a:t/>
            </a:r>
            <a:br>
              <a:rPr lang="en-US" altLang="en-US" dirty="0"/>
            </a:br>
            <a:endParaRPr lang="en-US" altLang="en-US" dirty="0"/>
          </a:p>
        </p:txBody>
      </p:sp>
      <p:sp>
        <p:nvSpPr>
          <p:cNvPr id="3" name="Content Placeholder 2">
            <a:extLst>
              <a:ext uri="{FF2B5EF4-FFF2-40B4-BE49-F238E27FC236}">
                <a16:creationId xmlns:a16="http://schemas.microsoft.com/office/drawing/2014/main" id="{D96D712F-0A75-C1BC-49C1-5B6449D08FE9}"/>
              </a:ext>
            </a:extLst>
          </p:cNvPr>
          <p:cNvSpPr>
            <a:spLocks noGrp="1"/>
          </p:cNvSpPr>
          <p:nvPr>
            <p:ph idx="1"/>
          </p:nvPr>
        </p:nvSpPr>
        <p:spPr>
          <a:xfrm>
            <a:off x="1981200" y="3048001"/>
            <a:ext cx="8229600" cy="3078163"/>
          </a:xfrm>
        </p:spPr>
        <p:txBody>
          <a:bodyPr/>
          <a:lstStyle/>
          <a:p>
            <a:pPr marL="0" indent="0" algn="just">
              <a:buNone/>
              <a:defRPr/>
            </a:pPr>
            <a:r>
              <a:rPr lang="en-US" b="1" i="1" u="sng" dirty="0">
                <a:solidFill>
                  <a:srgbClr val="0070C0"/>
                </a:solidFill>
                <a:latin typeface="Times New Roman" panose="02020603050405020304" pitchFamily="18" charset="0"/>
                <a:cs typeface="Times New Roman" panose="02020603050405020304" pitchFamily="18" charset="0"/>
              </a:rPr>
              <a:t>Learning Objectives</a:t>
            </a:r>
            <a:r>
              <a:rPr lang="en-US" i="1" u="sng" dirty="0">
                <a:solidFill>
                  <a:srgbClr val="0070C0"/>
                </a:solidFill>
                <a:latin typeface="Times New Roman" panose="02020603050405020304" pitchFamily="18" charset="0"/>
                <a:cs typeface="Times New Roman" panose="02020603050405020304" pitchFamily="18" charset="0"/>
              </a:rPr>
              <a:t>:</a:t>
            </a:r>
            <a:r>
              <a:rPr lang="en-US" dirty="0">
                <a:solidFill>
                  <a:srgbClr val="0070C0"/>
                </a:solidFill>
                <a:latin typeface="Times New Roman" panose="02020603050405020304" pitchFamily="18" charset="0"/>
                <a:cs typeface="Times New Roman" panose="02020603050405020304" pitchFamily="18" charset="0"/>
              </a:rPr>
              <a:t> </a:t>
            </a:r>
          </a:p>
          <a:p>
            <a:pPr algn="just">
              <a:defRPr/>
            </a:pPr>
            <a:r>
              <a:rPr lang="en-US" dirty="0">
                <a:latin typeface="Times New Roman" panose="02020603050405020304" pitchFamily="18" charset="0"/>
                <a:cs typeface="Times New Roman" panose="02020603050405020304" pitchFamily="18" charset="0"/>
              </a:rPr>
              <a:t>Understand that risk-taking is a positive trait</a:t>
            </a:r>
          </a:p>
          <a:p>
            <a:pPr algn="just">
              <a:defRPr/>
            </a:pPr>
            <a:r>
              <a:rPr lang="en-US" dirty="0">
                <a:latin typeface="Times New Roman" panose="02020603050405020304" pitchFamily="18" charset="0"/>
                <a:cs typeface="Times New Roman" panose="02020603050405020304" pitchFamily="18" charset="0"/>
              </a:rPr>
              <a:t>Identify risk-taking traits and resilience traits</a:t>
            </a:r>
          </a:p>
          <a:p>
            <a:pPr algn="just">
              <a:defRPr/>
            </a:pPr>
            <a:r>
              <a:rPr lang="en-US" dirty="0">
                <a:latin typeface="Times New Roman" panose="02020603050405020304" pitchFamily="18" charset="0"/>
                <a:cs typeface="Times New Roman" panose="02020603050405020304" pitchFamily="18" charset="0"/>
              </a:rPr>
              <a:t>Appreciate the role of failure on the road to success and understand when to give up</a:t>
            </a:r>
          </a:p>
          <a:p>
            <a:pPr marL="0" indent="0">
              <a:buNone/>
              <a:defRPr/>
            </a:pPr>
            <a:endParaRPr lang="en-US" dirty="0"/>
          </a:p>
        </p:txBody>
      </p:sp>
    </p:spTree>
    <p:extLst>
      <p:ext uri="{BB962C8B-B14F-4D97-AF65-F5344CB8AC3E}">
        <p14:creationId xmlns:p14="http://schemas.microsoft.com/office/powerpoint/2010/main" val="608718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E5837B0B-0612-EB92-B3B6-CE3152E271D8}"/>
              </a:ext>
            </a:extLst>
          </p:cNvPr>
          <p:cNvSpPr>
            <a:spLocks noGrp="1"/>
          </p:cNvSpPr>
          <p:nvPr>
            <p:ph type="title"/>
          </p:nvPr>
        </p:nvSpPr>
        <p:spPr>
          <a:xfrm>
            <a:off x="1981200" y="304800"/>
            <a:ext cx="8229600" cy="1066800"/>
          </a:xfrm>
        </p:spPr>
        <p:txBody>
          <a:bodyPr/>
          <a:lstStyle/>
          <a:p>
            <a:r>
              <a:rPr lang="en-US" altLang="en-US" b="1"/>
              <a:t>Meanings </a:t>
            </a:r>
          </a:p>
        </p:txBody>
      </p:sp>
      <p:sp>
        <p:nvSpPr>
          <p:cNvPr id="3" name="Content Placeholder 2">
            <a:extLst>
              <a:ext uri="{FF2B5EF4-FFF2-40B4-BE49-F238E27FC236}">
                <a16:creationId xmlns:a16="http://schemas.microsoft.com/office/drawing/2014/main" id="{6BF1D8E3-4494-3C22-655F-ABC8104D7F49}"/>
              </a:ext>
            </a:extLst>
          </p:cNvPr>
          <p:cNvSpPr>
            <a:spLocks noGrp="1"/>
          </p:cNvSpPr>
          <p:nvPr>
            <p:ph idx="1"/>
          </p:nvPr>
        </p:nvSpPr>
        <p:spPr>
          <a:xfrm>
            <a:off x="1981200" y="1371600"/>
            <a:ext cx="8229600" cy="4953000"/>
          </a:xfrm>
        </p:spPr>
        <p:txBody>
          <a:bodyPr>
            <a:normAutofit lnSpcReduction="10000"/>
          </a:bodyPr>
          <a:lstStyle/>
          <a:p>
            <a:pPr marL="0" indent="0" algn="just">
              <a:buNone/>
              <a:defRPr/>
            </a:pPr>
            <a:r>
              <a:rPr lang="en-US" sz="3200" b="1" dirty="0">
                <a:latin typeface="Times New Roman" panose="02020603050405020304" pitchFamily="18" charset="0"/>
                <a:cs typeface="Times New Roman" panose="02020603050405020304" pitchFamily="18" charset="0"/>
              </a:rPr>
              <a:t>Risk- </a:t>
            </a:r>
            <a:r>
              <a:rPr lang="en-US" dirty="0">
                <a:latin typeface="Times New Roman" panose="02020603050405020304" pitchFamily="18" charset="0"/>
                <a:cs typeface="Times New Roman" panose="02020603050405020304" pitchFamily="18" charset="0"/>
              </a:rPr>
              <a:t>an act of doing something that involves danger or risk to achieve a goal</a:t>
            </a:r>
          </a:p>
          <a:p>
            <a:pPr marL="0" indent="0" algn="just">
              <a:buNone/>
              <a:defRPr/>
            </a:pPr>
            <a:r>
              <a:rPr lang="en-US" b="1" dirty="0">
                <a:latin typeface="Times New Roman" panose="02020603050405020304" pitchFamily="18" charset="0"/>
                <a:cs typeface="Times New Roman" panose="02020603050405020304" pitchFamily="18" charset="0"/>
              </a:rPr>
              <a:t>Risk taking- </a:t>
            </a:r>
            <a:r>
              <a:rPr lang="en-US" dirty="0">
                <a:latin typeface="Times New Roman" panose="02020603050405020304" pitchFamily="18" charset="0"/>
                <a:cs typeface="Times New Roman" panose="02020603050405020304" pitchFamily="18" charset="0"/>
              </a:rPr>
              <a:t>is a moving towards the goal, but you are well aware that you may fail.</a:t>
            </a:r>
          </a:p>
          <a:p>
            <a:pPr marL="0" indent="0" algn="just">
              <a:buNone/>
              <a:defRPr/>
            </a:pPr>
            <a:endParaRPr lang="en-US" sz="3200" b="1" dirty="0">
              <a:latin typeface="Times New Roman" panose="02020603050405020304" pitchFamily="18" charset="0"/>
              <a:cs typeface="Times New Roman" panose="02020603050405020304" pitchFamily="18" charset="0"/>
            </a:endParaRPr>
          </a:p>
          <a:p>
            <a:pPr marL="0" indent="0" algn="just">
              <a:buNone/>
              <a:defRPr/>
            </a:pPr>
            <a:r>
              <a:rPr lang="en-US" sz="3200" b="1" dirty="0">
                <a:latin typeface="Times New Roman" panose="02020603050405020304" pitchFamily="18" charset="0"/>
                <a:cs typeface="Times New Roman" panose="02020603050405020304" pitchFamily="18" charset="0"/>
              </a:rPr>
              <a:t>Potential risks in business:</a:t>
            </a:r>
          </a:p>
          <a:p>
            <a:pPr algn="just">
              <a:buFontTx/>
              <a:buChar char="-"/>
              <a:defRPr/>
            </a:pPr>
            <a:r>
              <a:rPr lang="en-US" dirty="0">
                <a:latin typeface="Times New Roman" panose="02020603050405020304" pitchFamily="18" charset="0"/>
                <a:cs typeface="Times New Roman" panose="02020603050405020304" pitchFamily="18" charset="0"/>
              </a:rPr>
              <a:t>Financial risks</a:t>
            </a:r>
          </a:p>
          <a:p>
            <a:pPr algn="just">
              <a:buFontTx/>
              <a:buChar char="-"/>
              <a:defRPr/>
            </a:pPr>
            <a:r>
              <a:rPr lang="en-US" dirty="0">
                <a:latin typeface="Times New Roman" panose="02020603050405020304" pitchFamily="18" charset="0"/>
                <a:cs typeface="Times New Roman" panose="02020603050405020304" pitchFamily="18" charset="0"/>
              </a:rPr>
              <a:t>Legal risks</a:t>
            </a:r>
          </a:p>
          <a:p>
            <a:pPr algn="just">
              <a:buFontTx/>
              <a:buChar char="-"/>
              <a:defRPr/>
            </a:pPr>
            <a:r>
              <a:rPr lang="en-US" dirty="0">
                <a:latin typeface="Times New Roman" panose="02020603050405020304" pitchFamily="18" charset="0"/>
                <a:cs typeface="Times New Roman" panose="02020603050405020304" pitchFamily="18" charset="0"/>
              </a:rPr>
              <a:t>Operational risks</a:t>
            </a:r>
          </a:p>
          <a:p>
            <a:pPr algn="just">
              <a:buFontTx/>
              <a:buChar char="-"/>
              <a:defRPr/>
            </a:pPr>
            <a:r>
              <a:rPr lang="en-US" dirty="0">
                <a:latin typeface="Times New Roman" panose="02020603050405020304" pitchFamily="18" charset="0"/>
                <a:cs typeface="Times New Roman" panose="02020603050405020304" pitchFamily="18" charset="0"/>
              </a:rPr>
              <a:t>Security risks</a:t>
            </a:r>
          </a:p>
        </p:txBody>
      </p:sp>
    </p:spTree>
    <p:extLst>
      <p:ext uri="{BB962C8B-B14F-4D97-AF65-F5344CB8AC3E}">
        <p14:creationId xmlns:p14="http://schemas.microsoft.com/office/powerpoint/2010/main" val="3733198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113339-ED1D-4342-AD59-D452249236EB}"/>
              </a:ext>
            </a:extLst>
          </p:cNvPr>
          <p:cNvSpPr>
            <a:spLocks noGrp="1"/>
          </p:cNvSpPr>
          <p:nvPr>
            <p:ph idx="1"/>
          </p:nvPr>
        </p:nvSpPr>
        <p:spPr>
          <a:xfrm>
            <a:off x="838200" y="1173892"/>
            <a:ext cx="10515600" cy="5003071"/>
          </a:xfrm>
        </p:spPr>
        <p:txBody>
          <a:bodyPr>
            <a:normAutofit/>
          </a:bodyPr>
          <a:lstStyle/>
          <a:p>
            <a:pPr marL="0" indent="0">
              <a:buNone/>
            </a:pPr>
            <a:endParaRPr lang="en-US" sz="2000" dirty="0"/>
          </a:p>
          <a:p>
            <a:pPr lvl="0"/>
            <a:r>
              <a:rPr lang="en-US" b="1" dirty="0"/>
              <a:t>Financial Risks</a:t>
            </a:r>
            <a:endParaRPr lang="en-US" sz="2400" dirty="0"/>
          </a:p>
          <a:p>
            <a:pPr lvl="1"/>
            <a:r>
              <a:rPr lang="en-US" dirty="0"/>
              <a:t>Risks related to cash flow, profitability, and financial stability that may arise from poor financial management, market fluctuations, or economic downturns.</a:t>
            </a:r>
            <a:endParaRPr lang="en-US" sz="2000" dirty="0"/>
          </a:p>
          <a:p>
            <a:pPr lvl="1"/>
            <a:r>
              <a:rPr lang="en-US" b="1" dirty="0">
                <a:solidFill>
                  <a:srgbClr val="FF0000"/>
                </a:solidFill>
              </a:rPr>
              <a:t>Example</a:t>
            </a:r>
            <a:r>
              <a:rPr lang="en-US" dirty="0">
                <a:solidFill>
                  <a:srgbClr val="FF0000"/>
                </a:solidFill>
              </a:rPr>
              <a:t>: A retail business takes out a large loan but struggles with declining sales, making it difficult to repay the debt.</a:t>
            </a:r>
            <a:endParaRPr lang="en-US" sz="2000" dirty="0">
              <a:solidFill>
                <a:srgbClr val="FF0000"/>
              </a:solidFill>
            </a:endParaRPr>
          </a:p>
          <a:p>
            <a:pPr lvl="0"/>
            <a:r>
              <a:rPr lang="en-US" b="1" dirty="0"/>
              <a:t>Legal Risks</a:t>
            </a:r>
            <a:endParaRPr lang="en-US" sz="2400" dirty="0"/>
          </a:p>
          <a:p>
            <a:pPr lvl="1"/>
            <a:r>
              <a:rPr lang="en-US" dirty="0"/>
              <a:t>Risks associated with non-compliance with laws, contracts, or regulations, leading to fines, lawsuits, or reputational damage.</a:t>
            </a:r>
            <a:endParaRPr lang="en-US" sz="2000" dirty="0"/>
          </a:p>
          <a:p>
            <a:pPr lvl="1"/>
            <a:r>
              <a:rPr lang="en-US" b="1" dirty="0">
                <a:solidFill>
                  <a:srgbClr val="FF0000"/>
                </a:solidFill>
              </a:rPr>
              <a:t>Example</a:t>
            </a:r>
            <a:r>
              <a:rPr lang="en-US" dirty="0">
                <a:solidFill>
                  <a:srgbClr val="FF0000"/>
                </a:solidFill>
              </a:rPr>
              <a:t>: A company is charged or given penalties for using copyrighted images in its advertisements without proper licensing.</a:t>
            </a:r>
            <a:endParaRPr lang="en-US" sz="2000" dirty="0">
              <a:solidFill>
                <a:srgbClr val="FF0000"/>
              </a:solidFill>
            </a:endParaRPr>
          </a:p>
          <a:p>
            <a:endParaRPr lang="en-US" dirty="0"/>
          </a:p>
        </p:txBody>
      </p:sp>
    </p:spTree>
    <p:extLst>
      <p:ext uri="{BB962C8B-B14F-4D97-AF65-F5344CB8AC3E}">
        <p14:creationId xmlns:p14="http://schemas.microsoft.com/office/powerpoint/2010/main" val="209806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ACBB4-BE70-4A43-BF7D-CA11C2AEA6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41873F-D434-4E11-B059-DA5F89154513}"/>
              </a:ext>
            </a:extLst>
          </p:cNvPr>
          <p:cNvSpPr>
            <a:spLocks noGrp="1"/>
          </p:cNvSpPr>
          <p:nvPr>
            <p:ph idx="1"/>
          </p:nvPr>
        </p:nvSpPr>
        <p:spPr/>
        <p:txBody>
          <a:bodyPr/>
          <a:lstStyle/>
          <a:p>
            <a:pPr marL="0" indent="0">
              <a:buNone/>
            </a:pPr>
            <a:r>
              <a:rPr lang="en-US" b="1" dirty="0"/>
              <a:t>1. Financial Risks</a:t>
            </a:r>
            <a:r>
              <a:rPr lang="en-US" dirty="0"/>
              <a:t/>
            </a:r>
            <a:br>
              <a:rPr lang="en-US" dirty="0"/>
            </a:br>
            <a:r>
              <a:rPr lang="en-US" dirty="0"/>
              <a:t>These are risks related to how a business manages its money. Poor financial decisions, cash flow issues, or external economic factors can impact the company’s financial health.</a:t>
            </a:r>
          </a:p>
          <a:p>
            <a:pPr marL="0" indent="0">
              <a:buNone/>
            </a:pPr>
            <a:r>
              <a:rPr lang="en-US" b="1" dirty="0"/>
              <a:t>Such as;</a:t>
            </a:r>
            <a:endParaRPr lang="en-US" dirty="0"/>
          </a:p>
          <a:p>
            <a:r>
              <a:rPr lang="en-US" dirty="0"/>
              <a:t>Taking too much debt and failing to repay it.</a:t>
            </a:r>
          </a:p>
          <a:p>
            <a:r>
              <a:rPr lang="en-US" dirty="0"/>
              <a:t>Currency exchange rate fluctuations in international trade.</a:t>
            </a:r>
          </a:p>
          <a:p>
            <a:r>
              <a:rPr lang="en-US" dirty="0"/>
              <a:t>Poor investments that don’t yield returns. </a:t>
            </a:r>
            <a:r>
              <a:rPr lang="en-US" dirty="0" err="1"/>
              <a:t>i.e</a:t>
            </a:r>
            <a:r>
              <a:rPr lang="en-US" dirty="0"/>
              <a:t> Investing in ventures or assets that don’t generate profits can lead to losses</a:t>
            </a:r>
          </a:p>
          <a:p>
            <a:endParaRPr lang="en-US" dirty="0"/>
          </a:p>
        </p:txBody>
      </p:sp>
    </p:spTree>
    <p:extLst>
      <p:ext uri="{BB962C8B-B14F-4D97-AF65-F5344CB8AC3E}">
        <p14:creationId xmlns:p14="http://schemas.microsoft.com/office/powerpoint/2010/main" val="1429411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ED2A7-A93F-476D-9C32-B3C8896E9BB9}"/>
              </a:ext>
            </a:extLst>
          </p:cNvPr>
          <p:cNvSpPr>
            <a:spLocks noGrp="1"/>
          </p:cNvSpPr>
          <p:nvPr>
            <p:ph type="title"/>
          </p:nvPr>
        </p:nvSpPr>
        <p:spPr>
          <a:xfrm>
            <a:off x="838200" y="365125"/>
            <a:ext cx="10515600" cy="685199"/>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9CB0E260-0494-4FB6-83BF-C765FD4038FC}"/>
              </a:ext>
            </a:extLst>
          </p:cNvPr>
          <p:cNvSpPr>
            <a:spLocks noGrp="1"/>
          </p:cNvSpPr>
          <p:nvPr>
            <p:ph idx="1"/>
          </p:nvPr>
        </p:nvSpPr>
        <p:spPr>
          <a:xfrm>
            <a:off x="838200" y="1186249"/>
            <a:ext cx="10515600" cy="4990714"/>
          </a:xfrm>
        </p:spPr>
        <p:txBody>
          <a:bodyPr>
            <a:normAutofit/>
          </a:bodyPr>
          <a:lstStyle/>
          <a:p>
            <a:pPr marL="0" indent="0">
              <a:buNone/>
            </a:pPr>
            <a:r>
              <a:rPr lang="en-US" b="1" dirty="0"/>
              <a:t>2. Legal Risks</a:t>
            </a:r>
            <a:r>
              <a:rPr lang="en-US" dirty="0"/>
              <a:t/>
            </a:r>
            <a:br>
              <a:rPr lang="en-US" dirty="0"/>
            </a:br>
            <a:r>
              <a:rPr lang="en-US" dirty="0"/>
              <a:t>Legal risks arise when a business fails to comply with laws or regulations. This includes contracts, labor laws, tax laws, and intellectual property rights.</a:t>
            </a:r>
          </a:p>
          <a:p>
            <a:r>
              <a:rPr lang="en-US" b="1" dirty="0"/>
              <a:t>Such as:</a:t>
            </a:r>
            <a:endParaRPr lang="en-US" dirty="0"/>
          </a:p>
          <a:p>
            <a:r>
              <a:rPr lang="en-US" dirty="0"/>
              <a:t>Using copyrighted images without permission.</a:t>
            </a:r>
          </a:p>
          <a:p>
            <a:r>
              <a:rPr lang="en-US" dirty="0"/>
              <a:t>Not following labor laws, resulting in lawsuits.</a:t>
            </a:r>
          </a:p>
          <a:p>
            <a:r>
              <a:rPr lang="en-US" dirty="0"/>
              <a:t>Breaching contract terms with suppliers or clients.</a:t>
            </a:r>
            <a:br>
              <a:rPr lang="en-US" dirty="0"/>
            </a:br>
            <a:r>
              <a:rPr lang="en-US" b="1" dirty="0"/>
              <a:t>example </a:t>
            </a:r>
          </a:p>
          <a:p>
            <a:r>
              <a:rPr lang="en-US" dirty="0">
                <a:solidFill>
                  <a:srgbClr val="FF0000"/>
                </a:solidFill>
              </a:rPr>
              <a:t>A clothing brand uses a design that closely resembles a copyrighted logo and is sued for infringement.</a:t>
            </a:r>
          </a:p>
          <a:p>
            <a:endParaRPr lang="en-US" dirty="0"/>
          </a:p>
          <a:p>
            <a:endParaRPr lang="en-US" dirty="0"/>
          </a:p>
        </p:txBody>
      </p:sp>
    </p:spTree>
    <p:extLst>
      <p:ext uri="{BB962C8B-B14F-4D97-AF65-F5344CB8AC3E}">
        <p14:creationId xmlns:p14="http://schemas.microsoft.com/office/powerpoint/2010/main" val="3252979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13E4D-138F-4B9F-ADC0-730A18861245}"/>
              </a:ext>
            </a:extLst>
          </p:cNvPr>
          <p:cNvSpPr>
            <a:spLocks noGrp="1"/>
          </p:cNvSpPr>
          <p:nvPr>
            <p:ph type="title"/>
          </p:nvPr>
        </p:nvSpPr>
        <p:spPr>
          <a:xfrm>
            <a:off x="838200" y="365125"/>
            <a:ext cx="10515600" cy="709913"/>
          </a:xfrm>
        </p:spPr>
        <p:txBody>
          <a:bodyPr/>
          <a:lstStyle/>
          <a:p>
            <a:endParaRPr lang="en-US" dirty="0"/>
          </a:p>
        </p:txBody>
      </p:sp>
      <p:sp>
        <p:nvSpPr>
          <p:cNvPr id="3" name="Content Placeholder 2">
            <a:extLst>
              <a:ext uri="{FF2B5EF4-FFF2-40B4-BE49-F238E27FC236}">
                <a16:creationId xmlns:a16="http://schemas.microsoft.com/office/drawing/2014/main" id="{35DD5605-D39D-4351-A3C0-7A74D0A77ACB}"/>
              </a:ext>
            </a:extLst>
          </p:cNvPr>
          <p:cNvSpPr>
            <a:spLocks noGrp="1"/>
          </p:cNvSpPr>
          <p:nvPr>
            <p:ph idx="1"/>
          </p:nvPr>
        </p:nvSpPr>
        <p:spPr>
          <a:xfrm>
            <a:off x="838200" y="1099752"/>
            <a:ext cx="10515600" cy="5101925"/>
          </a:xfrm>
        </p:spPr>
        <p:txBody>
          <a:bodyPr>
            <a:normAutofit fontScale="92500" lnSpcReduction="10000"/>
          </a:bodyPr>
          <a:lstStyle/>
          <a:p>
            <a:pPr marL="0" lvl="0" indent="0">
              <a:buNone/>
            </a:pPr>
            <a:r>
              <a:rPr lang="en-US" b="1" dirty="0"/>
              <a:t>3. Operational Risks</a:t>
            </a:r>
          </a:p>
          <a:p>
            <a:pPr marL="0" lvl="0" indent="0">
              <a:buNone/>
            </a:pPr>
            <a:r>
              <a:rPr lang="en-US" dirty="0"/>
              <a:t>Risks arising from internal business processes, system failures, supply chain disruptions, or human errors that affect day-to-day operations.</a:t>
            </a:r>
          </a:p>
          <a:p>
            <a:r>
              <a:rPr lang="en-US" b="1" dirty="0"/>
              <a:t>Such as:</a:t>
            </a:r>
            <a:endParaRPr lang="en-US" dirty="0"/>
          </a:p>
          <a:p>
            <a:r>
              <a:rPr lang="en-US" dirty="0"/>
              <a:t>A key machine in a factory breaks down, halting production.</a:t>
            </a:r>
          </a:p>
          <a:p>
            <a:r>
              <a:rPr lang="en-US" dirty="0"/>
              <a:t>An employee makes a major error in payroll processing.</a:t>
            </a:r>
          </a:p>
          <a:p>
            <a:r>
              <a:rPr lang="en-US" dirty="0"/>
              <a:t>A supplier fails to deliver crucial materials on time.</a:t>
            </a:r>
          </a:p>
          <a:p>
            <a:pPr marL="0" indent="0">
              <a:buNone/>
            </a:pPr>
            <a:r>
              <a:rPr lang="en-US" b="1" dirty="0">
                <a:solidFill>
                  <a:srgbClr val="FF0000"/>
                </a:solidFill>
              </a:rPr>
              <a:t>Example</a:t>
            </a:r>
            <a:r>
              <a:rPr lang="en-US" dirty="0">
                <a:solidFill>
                  <a:srgbClr val="FF0000"/>
                </a:solidFill>
              </a:rPr>
              <a:t>: </a:t>
            </a:r>
          </a:p>
          <a:p>
            <a:pPr marL="0" indent="0">
              <a:buNone/>
            </a:pPr>
            <a:r>
              <a:rPr lang="en-US" dirty="0">
                <a:solidFill>
                  <a:srgbClr val="FF0000"/>
                </a:solidFill>
              </a:rPr>
              <a:t>1. A manufacturing company experiences production delays due to a machine breakdown, leading to missed deadlines and dissatisfied customers.</a:t>
            </a:r>
          </a:p>
          <a:p>
            <a:pPr marL="0" indent="0">
              <a:buNone/>
            </a:pPr>
            <a:r>
              <a:rPr lang="en-US" sz="2900" dirty="0">
                <a:solidFill>
                  <a:srgbClr val="FF0000"/>
                </a:solidFill>
              </a:rPr>
              <a:t>2. A bakery depends on one supplier for flour, and the supplier suddenly goes out of business, disrupting daily operations.</a:t>
            </a:r>
          </a:p>
          <a:p>
            <a:pPr marL="0" indent="0">
              <a:buNone/>
            </a:pPr>
            <a:endParaRPr lang="en-US" sz="2000" dirty="0">
              <a:solidFill>
                <a:srgbClr val="FF0000"/>
              </a:solidFill>
            </a:endParaRPr>
          </a:p>
          <a:p>
            <a:endParaRPr lang="en-US" dirty="0"/>
          </a:p>
        </p:txBody>
      </p:sp>
    </p:spTree>
    <p:extLst>
      <p:ext uri="{BB962C8B-B14F-4D97-AF65-F5344CB8AC3E}">
        <p14:creationId xmlns:p14="http://schemas.microsoft.com/office/powerpoint/2010/main" val="2148634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F88C4-7E9F-41C1-828A-7CD94BE13C1A}"/>
              </a:ext>
            </a:extLst>
          </p:cNvPr>
          <p:cNvSpPr>
            <a:spLocks noGrp="1"/>
          </p:cNvSpPr>
          <p:nvPr>
            <p:ph type="title"/>
          </p:nvPr>
        </p:nvSpPr>
        <p:spPr>
          <a:xfrm>
            <a:off x="838200" y="365125"/>
            <a:ext cx="10515600" cy="771697"/>
          </a:xfrm>
        </p:spPr>
        <p:txBody>
          <a:bodyPr/>
          <a:lstStyle/>
          <a:p>
            <a:endParaRPr lang="en-US" dirty="0"/>
          </a:p>
        </p:txBody>
      </p:sp>
      <p:sp>
        <p:nvSpPr>
          <p:cNvPr id="3" name="Content Placeholder 2">
            <a:extLst>
              <a:ext uri="{FF2B5EF4-FFF2-40B4-BE49-F238E27FC236}">
                <a16:creationId xmlns:a16="http://schemas.microsoft.com/office/drawing/2014/main" id="{CC4813BF-E7DB-4E35-AA2C-5369B7115AC0}"/>
              </a:ext>
            </a:extLst>
          </p:cNvPr>
          <p:cNvSpPr>
            <a:spLocks noGrp="1"/>
          </p:cNvSpPr>
          <p:nvPr>
            <p:ph idx="1"/>
          </p:nvPr>
        </p:nvSpPr>
        <p:spPr>
          <a:xfrm>
            <a:off x="838200" y="1445741"/>
            <a:ext cx="10515600" cy="4731222"/>
          </a:xfrm>
        </p:spPr>
        <p:txBody>
          <a:bodyPr>
            <a:normAutofit lnSpcReduction="10000"/>
          </a:bodyPr>
          <a:lstStyle/>
          <a:p>
            <a:pPr marL="0" indent="0">
              <a:buNone/>
            </a:pPr>
            <a:r>
              <a:rPr lang="en-US" b="1" dirty="0"/>
              <a:t>4. Security Risks</a:t>
            </a:r>
            <a:r>
              <a:rPr lang="en-US" dirty="0"/>
              <a:t/>
            </a:r>
            <a:br>
              <a:rPr lang="en-US" dirty="0"/>
            </a:br>
            <a:r>
              <a:rPr lang="en-US" dirty="0"/>
              <a:t>These involve threats to data, systems, and physical safety. Cyberattacks, data breaches, or theft can lead to financial and reputational damage.</a:t>
            </a:r>
          </a:p>
          <a:p>
            <a:pPr marL="0" indent="0">
              <a:buNone/>
            </a:pPr>
            <a:r>
              <a:rPr lang="en-US" b="1" dirty="0"/>
              <a:t>Such as</a:t>
            </a:r>
            <a:endParaRPr lang="en-US" dirty="0"/>
          </a:p>
          <a:p>
            <a:r>
              <a:rPr lang="en-US" dirty="0"/>
              <a:t>Hackers steal customer credit card data.</a:t>
            </a:r>
          </a:p>
          <a:p>
            <a:r>
              <a:rPr lang="en-US" dirty="0"/>
              <a:t>An employee accidentally leaks sensitive business documents.</a:t>
            </a:r>
          </a:p>
          <a:p>
            <a:r>
              <a:rPr lang="en-US" dirty="0"/>
              <a:t>Office break-in resulting in stolen equipment.</a:t>
            </a:r>
          </a:p>
          <a:p>
            <a:pPr marL="0" indent="0">
              <a:buNone/>
            </a:pPr>
            <a:r>
              <a:rPr lang="en-US" b="1" dirty="0"/>
              <a:t>example</a:t>
            </a:r>
            <a:r>
              <a:rPr lang="en-US" dirty="0"/>
              <a:t/>
            </a:r>
            <a:br>
              <a:rPr lang="en-US" dirty="0"/>
            </a:br>
            <a:r>
              <a:rPr lang="en-US" dirty="0">
                <a:solidFill>
                  <a:srgbClr val="FF0000"/>
                </a:solidFill>
              </a:rPr>
              <a:t>An e-commerce site is hacked, and customer data (like emails and passwords) is exposed, damaging customer trust.</a:t>
            </a:r>
          </a:p>
          <a:p>
            <a:endParaRPr lang="en-US" dirty="0"/>
          </a:p>
        </p:txBody>
      </p:sp>
    </p:spTree>
    <p:extLst>
      <p:ext uri="{BB962C8B-B14F-4D97-AF65-F5344CB8AC3E}">
        <p14:creationId xmlns:p14="http://schemas.microsoft.com/office/powerpoint/2010/main" val="1623503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279D6E6D-CF62-8412-4727-26581F4BE274}"/>
              </a:ext>
            </a:extLst>
          </p:cNvPr>
          <p:cNvSpPr>
            <a:spLocks noGrp="1"/>
          </p:cNvSpPr>
          <p:nvPr>
            <p:ph type="title"/>
          </p:nvPr>
        </p:nvSpPr>
        <p:spPr>
          <a:xfrm>
            <a:off x="716693" y="381000"/>
            <a:ext cx="9951308" cy="838200"/>
          </a:xfrm>
        </p:spPr>
        <p:txBody>
          <a:bodyPr/>
          <a:lstStyle/>
          <a:p>
            <a:r>
              <a:rPr lang="en-US" altLang="en-US" sz="4000" b="1" dirty="0">
                <a:latin typeface="Times New Roman" panose="02020603050405020304" pitchFamily="18" charset="0"/>
                <a:cs typeface="Times New Roman" panose="02020603050405020304" pitchFamily="18" charset="0"/>
              </a:rPr>
              <a:t>4 Essential Steps for Risk Management</a:t>
            </a:r>
          </a:p>
        </p:txBody>
      </p:sp>
      <p:sp>
        <p:nvSpPr>
          <p:cNvPr id="3" name="Content Placeholder 2">
            <a:extLst>
              <a:ext uri="{FF2B5EF4-FFF2-40B4-BE49-F238E27FC236}">
                <a16:creationId xmlns:a16="http://schemas.microsoft.com/office/drawing/2014/main" id="{6E4ABB62-D372-0896-6EDE-1F4B0084DF5B}"/>
              </a:ext>
            </a:extLst>
          </p:cNvPr>
          <p:cNvSpPr>
            <a:spLocks noGrp="1"/>
          </p:cNvSpPr>
          <p:nvPr>
            <p:ph idx="1"/>
          </p:nvPr>
        </p:nvSpPr>
        <p:spPr>
          <a:xfrm>
            <a:off x="630195" y="1219200"/>
            <a:ext cx="9809205" cy="5105400"/>
          </a:xfrm>
        </p:spPr>
        <p:txBody>
          <a:bodyPr>
            <a:normAutofit/>
          </a:bodyPr>
          <a:lstStyle/>
          <a:p>
            <a:pPr marL="0" indent="0" algn="just">
              <a:buNone/>
              <a:defRPr/>
            </a:pPr>
            <a:r>
              <a:rPr lang="en-US" b="1" dirty="0">
                <a:latin typeface="Times New Roman" panose="02020603050405020304" pitchFamily="18" charset="0"/>
                <a:cs typeface="Times New Roman" panose="02020603050405020304" pitchFamily="18" charset="0"/>
              </a:rPr>
              <a:t>Risk Management- </a:t>
            </a:r>
            <a:r>
              <a:rPr lang="en-US" dirty="0">
                <a:latin typeface="Times New Roman" panose="02020603050405020304" pitchFamily="18" charset="0"/>
                <a:cs typeface="Times New Roman" panose="02020603050405020304" pitchFamily="18" charset="0"/>
              </a:rPr>
              <a:t>is the process of identifying, assessing, managing and monitoring potential risks.</a:t>
            </a:r>
          </a:p>
          <a:p>
            <a:pPr marL="0" indent="0" algn="just">
              <a:buNone/>
              <a:defRPr/>
            </a:pPr>
            <a:r>
              <a:rPr lang="en-US" dirty="0">
                <a:latin typeface="Times New Roman" panose="02020603050405020304" pitchFamily="18" charset="0"/>
                <a:cs typeface="Times New Roman" panose="02020603050405020304" pitchFamily="18" charset="0"/>
              </a:rPr>
              <a:t>1- Risk Identification</a:t>
            </a:r>
          </a:p>
          <a:p>
            <a:pPr marL="0" indent="0" algn="just">
              <a:buNone/>
              <a:defRPr/>
            </a:pPr>
            <a:r>
              <a:rPr lang="en-US" dirty="0">
                <a:latin typeface="Times New Roman" panose="02020603050405020304" pitchFamily="18" charset="0"/>
                <a:cs typeface="Times New Roman" panose="02020603050405020304" pitchFamily="18" charset="0"/>
              </a:rPr>
              <a:t>2- Risk Assessment</a:t>
            </a:r>
          </a:p>
          <a:p>
            <a:pPr marL="0" indent="0" algn="just">
              <a:buNone/>
              <a:defRPr/>
            </a:pPr>
            <a:r>
              <a:rPr lang="en-US" dirty="0">
                <a:latin typeface="Times New Roman" panose="02020603050405020304" pitchFamily="18" charset="0"/>
                <a:cs typeface="Times New Roman" panose="02020603050405020304" pitchFamily="18" charset="0"/>
              </a:rPr>
              <a:t>3- Risk Treatment</a:t>
            </a:r>
          </a:p>
          <a:p>
            <a:pPr marL="0" indent="0" algn="just">
              <a:buNone/>
              <a:defRPr/>
            </a:pPr>
            <a:r>
              <a:rPr lang="en-US" dirty="0">
                <a:latin typeface="Times New Roman" panose="02020603050405020304" pitchFamily="18" charset="0"/>
                <a:cs typeface="Times New Roman" panose="02020603050405020304" pitchFamily="18" charset="0"/>
              </a:rPr>
              <a:t>4- Risk Monitoring and Reporting</a:t>
            </a:r>
          </a:p>
          <a:p>
            <a:pPr algn="just">
              <a:defRP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20376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EC660-BD61-4A1A-B1FC-2256376B9CC8}"/>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1D4B9EC4-7611-4DCC-8FDD-D822FEB7BAA6}"/>
              </a:ext>
            </a:extLst>
          </p:cNvPr>
          <p:cNvSpPr>
            <a:spLocks noGrp="1"/>
          </p:cNvSpPr>
          <p:nvPr>
            <p:ph idx="1"/>
          </p:nvPr>
        </p:nvSpPr>
        <p:spPr>
          <a:xfrm>
            <a:off x="838200" y="1359243"/>
            <a:ext cx="10515600" cy="4817720"/>
          </a:xfrm>
        </p:spPr>
        <p:txBody>
          <a:bodyPr>
            <a:normAutofit fontScale="85000" lnSpcReduction="10000"/>
          </a:bodyPr>
          <a:lstStyle/>
          <a:p>
            <a:pPr marL="0" indent="0">
              <a:buNone/>
            </a:pPr>
            <a:r>
              <a:rPr lang="en-US" b="1" dirty="0"/>
              <a:t>1. Risk Identification</a:t>
            </a:r>
            <a:r>
              <a:rPr lang="en-US" dirty="0"/>
              <a:t/>
            </a:r>
            <a:br>
              <a:rPr lang="en-US" dirty="0"/>
            </a:br>
            <a:r>
              <a:rPr lang="en-US" dirty="0"/>
              <a:t>This is the process of spotting all possible risks that might affect your business or project. It involves gathering information from different sources and perspectives.</a:t>
            </a:r>
          </a:p>
          <a:p>
            <a:pPr marL="0" indent="0">
              <a:buNone/>
            </a:pPr>
            <a:r>
              <a:rPr lang="en-US" b="1" dirty="0"/>
              <a:t>Such as;</a:t>
            </a:r>
            <a:endParaRPr lang="en-US" dirty="0"/>
          </a:p>
          <a:p>
            <a:r>
              <a:rPr lang="en-US" b="1" dirty="0"/>
              <a:t>Interviews with experts:</a:t>
            </a:r>
            <a:r>
              <a:rPr lang="en-US" dirty="0"/>
              <a:t> Talk to people with experience in similar projects or industries.</a:t>
            </a:r>
          </a:p>
          <a:p>
            <a:r>
              <a:rPr lang="en-US" b="1" dirty="0"/>
              <a:t>Brainstorming sessions:</a:t>
            </a:r>
            <a:r>
              <a:rPr lang="en-US" dirty="0"/>
              <a:t> Involve your team in generating a list of potential risks.</a:t>
            </a:r>
          </a:p>
          <a:p>
            <a:r>
              <a:rPr lang="en-US" b="1" dirty="0"/>
              <a:t>Lessons learned from previous projects:</a:t>
            </a:r>
            <a:r>
              <a:rPr lang="en-US" dirty="0"/>
              <a:t> Review past projects to see what went wrong or almost went wrong.</a:t>
            </a:r>
          </a:p>
          <a:p>
            <a:pPr marL="0" indent="0">
              <a:buNone/>
            </a:pPr>
            <a:r>
              <a:rPr lang="en-US" b="1" dirty="0"/>
              <a:t>Example</a:t>
            </a:r>
            <a:r>
              <a:rPr lang="en-US" dirty="0"/>
              <a:t/>
            </a:r>
            <a:br>
              <a:rPr lang="en-US" dirty="0"/>
            </a:br>
            <a:r>
              <a:rPr lang="en-US" dirty="0">
                <a:solidFill>
                  <a:srgbClr val="FF0000"/>
                </a:solidFill>
              </a:rPr>
              <a:t>You're planning a new product launch. During brainstorming, the team identifies supply chain delays, technical bugs in the product, and customer dissatisfaction as potential risks.</a:t>
            </a:r>
          </a:p>
          <a:p>
            <a:endParaRPr lang="en-US" dirty="0"/>
          </a:p>
        </p:txBody>
      </p:sp>
    </p:spTree>
    <p:extLst>
      <p:ext uri="{BB962C8B-B14F-4D97-AF65-F5344CB8AC3E}">
        <p14:creationId xmlns:p14="http://schemas.microsoft.com/office/powerpoint/2010/main" val="1623173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FE0D3-4F28-47FD-9FC0-866A5B33D957}"/>
              </a:ext>
            </a:extLst>
          </p:cNvPr>
          <p:cNvSpPr>
            <a:spLocks noGrp="1"/>
          </p:cNvSpPr>
          <p:nvPr>
            <p:ph type="title"/>
          </p:nvPr>
        </p:nvSpPr>
        <p:spPr>
          <a:xfrm>
            <a:off x="838200" y="365126"/>
            <a:ext cx="10515600" cy="59870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18EDDD0F-9597-4E5B-A3D1-1BD0B977E7BA}"/>
              </a:ext>
            </a:extLst>
          </p:cNvPr>
          <p:cNvSpPr>
            <a:spLocks noGrp="1"/>
          </p:cNvSpPr>
          <p:nvPr>
            <p:ph idx="1"/>
          </p:nvPr>
        </p:nvSpPr>
        <p:spPr>
          <a:xfrm>
            <a:off x="838200" y="1173892"/>
            <a:ext cx="10515600" cy="5003071"/>
          </a:xfrm>
        </p:spPr>
        <p:txBody>
          <a:bodyPr>
            <a:normAutofit fontScale="92500" lnSpcReduction="10000"/>
          </a:bodyPr>
          <a:lstStyle/>
          <a:p>
            <a:pPr marL="0" indent="0">
              <a:buNone/>
            </a:pPr>
            <a:r>
              <a:rPr lang="en-US" b="1" dirty="0"/>
              <a:t>2. Risk Assessment</a:t>
            </a:r>
          </a:p>
          <a:p>
            <a:r>
              <a:rPr lang="en-US" dirty="0">
                <a:latin typeface="Times New Roman" panose="02020603050405020304" pitchFamily="18" charset="0"/>
                <a:cs typeface="Times New Roman" panose="02020603050405020304" pitchFamily="18" charset="0"/>
              </a:rPr>
              <a:t>Identifying potential hazards and analyze what could happen if hazards occur</a:t>
            </a:r>
          </a:p>
          <a:p>
            <a:r>
              <a:rPr lang="en-US" dirty="0"/>
              <a:t>Once risks are identified, assess their likelihood (how likely they are to happen) and their impact (how serious the consequences would be).</a:t>
            </a:r>
          </a:p>
          <a:p>
            <a:pPr marL="0" indent="0">
              <a:buNone/>
            </a:pPr>
            <a:r>
              <a:rPr lang="en-US" b="1" dirty="0"/>
              <a:t>Such as;</a:t>
            </a:r>
            <a:endParaRPr lang="en-US" dirty="0"/>
          </a:p>
          <a:p>
            <a:r>
              <a:rPr lang="en-US" dirty="0"/>
              <a:t>Rate risks based on probability and severity.</a:t>
            </a:r>
          </a:p>
          <a:p>
            <a:r>
              <a:rPr lang="en-US" dirty="0"/>
              <a:t>Prioritize which ones need immediate attention.</a:t>
            </a:r>
          </a:p>
          <a:p>
            <a:r>
              <a:rPr lang="en-US" b="1" dirty="0"/>
              <a:t>Example:</a:t>
            </a:r>
            <a:r>
              <a:rPr lang="en-US" dirty="0"/>
              <a:t/>
            </a:r>
            <a:br>
              <a:rPr lang="en-US" dirty="0"/>
            </a:br>
            <a:r>
              <a:rPr lang="en-US" dirty="0"/>
              <a:t>if you realize that supplier delays (identified earlier) are </a:t>
            </a:r>
            <a:r>
              <a:rPr lang="en-US" i="1" dirty="0"/>
              <a:t>very likely</a:t>
            </a:r>
            <a:r>
              <a:rPr lang="en-US" dirty="0"/>
              <a:t> and would </a:t>
            </a:r>
            <a:r>
              <a:rPr lang="en-US" i="1" dirty="0"/>
              <a:t>severely</a:t>
            </a:r>
            <a:r>
              <a:rPr lang="en-US" dirty="0"/>
              <a:t> delay the launch. A technical bug is </a:t>
            </a:r>
            <a:r>
              <a:rPr lang="en-US" i="1" dirty="0"/>
              <a:t>somewhat likely</a:t>
            </a:r>
            <a:r>
              <a:rPr lang="en-US" dirty="0"/>
              <a:t> but could be fixed quickly. So you prioritize the supply chain risk.</a:t>
            </a:r>
          </a:p>
          <a:p>
            <a:endParaRPr lang="en-US" dirty="0"/>
          </a:p>
        </p:txBody>
      </p:sp>
    </p:spTree>
    <p:extLst>
      <p:ext uri="{BB962C8B-B14F-4D97-AF65-F5344CB8AC3E}">
        <p14:creationId xmlns:p14="http://schemas.microsoft.com/office/powerpoint/2010/main" val="26274187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00D5B-764E-4118-A2A3-5A3235FF50C0}"/>
              </a:ext>
            </a:extLst>
          </p:cNvPr>
          <p:cNvSpPr>
            <a:spLocks noGrp="1"/>
          </p:cNvSpPr>
          <p:nvPr>
            <p:ph type="title"/>
          </p:nvPr>
        </p:nvSpPr>
        <p:spPr>
          <a:xfrm>
            <a:off x="838200" y="365125"/>
            <a:ext cx="10515600" cy="487491"/>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A5D81FC2-A6C5-446F-A68F-94E06BED635C}"/>
              </a:ext>
            </a:extLst>
          </p:cNvPr>
          <p:cNvSpPr>
            <a:spLocks noGrp="1"/>
          </p:cNvSpPr>
          <p:nvPr>
            <p:ph idx="1"/>
          </p:nvPr>
        </p:nvSpPr>
        <p:spPr>
          <a:xfrm>
            <a:off x="838200" y="1075038"/>
            <a:ext cx="10515600" cy="5101925"/>
          </a:xfrm>
        </p:spPr>
        <p:txBody>
          <a:bodyPr>
            <a:normAutofit fontScale="85000" lnSpcReduction="20000"/>
          </a:bodyPr>
          <a:lstStyle/>
          <a:p>
            <a:pPr marL="0" indent="0">
              <a:buNone/>
            </a:pPr>
            <a:r>
              <a:rPr lang="en-US" b="1" dirty="0">
                <a:latin typeface="Times" panose="02020603050405020304" pitchFamily="18" charset="0"/>
                <a:cs typeface="Times" panose="02020603050405020304" pitchFamily="18" charset="0"/>
              </a:rPr>
              <a:t>3. Risk Treatment</a:t>
            </a:r>
          </a:p>
          <a:p>
            <a:r>
              <a:rPr lang="en-US" dirty="0">
                <a:latin typeface="Times" panose="02020603050405020304" pitchFamily="18" charset="0"/>
                <a:cs typeface="Times" panose="02020603050405020304" pitchFamily="18" charset="0"/>
              </a:rPr>
              <a:t>first identify strategies by developing a statement plan, the objective risk management plan is to reduce the probability of the risk to occur</a:t>
            </a:r>
          </a:p>
          <a:p>
            <a:r>
              <a:rPr lang="en-US" dirty="0">
                <a:latin typeface="Times" panose="02020603050405020304" pitchFamily="18" charset="0"/>
                <a:cs typeface="Times" panose="02020603050405020304" pitchFamily="18" charset="0"/>
              </a:rPr>
              <a:t>Now that you know which risks are serious, plan how to deal with them. The goal is to reduce the chance of the risk happening or minimize the impact if it does.</a:t>
            </a:r>
          </a:p>
          <a:p>
            <a:pPr marL="0" indent="0">
              <a:buNone/>
            </a:pPr>
            <a:r>
              <a:rPr lang="en-US" b="1" dirty="0">
                <a:latin typeface="Times" panose="02020603050405020304" pitchFamily="18" charset="0"/>
                <a:cs typeface="Times" panose="02020603050405020304" pitchFamily="18" charset="0"/>
              </a:rPr>
              <a:t>Such as;</a:t>
            </a:r>
            <a:endParaRPr lang="en-US" dirty="0">
              <a:latin typeface="Times" panose="02020603050405020304" pitchFamily="18" charset="0"/>
              <a:cs typeface="Times" panose="02020603050405020304" pitchFamily="18" charset="0"/>
            </a:endParaRPr>
          </a:p>
          <a:p>
            <a:r>
              <a:rPr lang="en-US" b="1" dirty="0">
                <a:latin typeface="Times" panose="02020603050405020304" pitchFamily="18" charset="0"/>
                <a:cs typeface="Times" panose="02020603050405020304" pitchFamily="18" charset="0"/>
              </a:rPr>
              <a:t>Avoiding</a:t>
            </a:r>
            <a:r>
              <a:rPr lang="en-US" dirty="0">
                <a:latin typeface="Times" panose="02020603050405020304" pitchFamily="18" charset="0"/>
                <a:cs typeface="Times" panose="02020603050405020304" pitchFamily="18" charset="0"/>
              </a:rPr>
              <a:t> the risk (change plans to eliminate it)</a:t>
            </a:r>
          </a:p>
          <a:p>
            <a:r>
              <a:rPr lang="en-US" b="1" dirty="0">
                <a:latin typeface="Times" panose="02020603050405020304" pitchFamily="18" charset="0"/>
                <a:cs typeface="Times" panose="02020603050405020304" pitchFamily="18" charset="0"/>
              </a:rPr>
              <a:t>Reducing</a:t>
            </a:r>
            <a:r>
              <a:rPr lang="en-US" dirty="0">
                <a:latin typeface="Times" panose="02020603050405020304" pitchFamily="18" charset="0"/>
                <a:cs typeface="Times" panose="02020603050405020304" pitchFamily="18" charset="0"/>
              </a:rPr>
              <a:t> the risk (implement safeguards)</a:t>
            </a:r>
          </a:p>
          <a:p>
            <a:r>
              <a:rPr lang="en-US" b="1" dirty="0">
                <a:latin typeface="Times" panose="02020603050405020304" pitchFamily="18" charset="0"/>
                <a:cs typeface="Times" panose="02020603050405020304" pitchFamily="18" charset="0"/>
              </a:rPr>
              <a:t>Transferring</a:t>
            </a:r>
            <a:r>
              <a:rPr lang="en-US" dirty="0">
                <a:latin typeface="Times" panose="02020603050405020304" pitchFamily="18" charset="0"/>
                <a:cs typeface="Times" panose="02020603050405020304" pitchFamily="18" charset="0"/>
              </a:rPr>
              <a:t> the risk (e.g., using insurance)</a:t>
            </a:r>
          </a:p>
          <a:p>
            <a:r>
              <a:rPr lang="en-US" b="1" dirty="0">
                <a:latin typeface="Times" panose="02020603050405020304" pitchFamily="18" charset="0"/>
                <a:cs typeface="Times" panose="02020603050405020304" pitchFamily="18" charset="0"/>
              </a:rPr>
              <a:t>Accepting</a:t>
            </a:r>
            <a:r>
              <a:rPr lang="en-US" dirty="0">
                <a:latin typeface="Times" panose="02020603050405020304" pitchFamily="18" charset="0"/>
                <a:cs typeface="Times" panose="02020603050405020304" pitchFamily="18" charset="0"/>
              </a:rPr>
              <a:t> the risk (if it’s minor and manageable)</a:t>
            </a:r>
          </a:p>
          <a:p>
            <a:r>
              <a:rPr lang="en-US" b="1" dirty="0">
                <a:solidFill>
                  <a:srgbClr val="FF0000"/>
                </a:solidFill>
                <a:latin typeface="Times" panose="02020603050405020304" pitchFamily="18" charset="0"/>
                <a:cs typeface="Times" panose="02020603050405020304" pitchFamily="18" charset="0"/>
              </a:rPr>
              <a:t>Example:</a:t>
            </a:r>
            <a:r>
              <a:rPr lang="en-US" dirty="0">
                <a:solidFill>
                  <a:srgbClr val="FF0000"/>
                </a:solidFill>
                <a:latin typeface="Times" panose="02020603050405020304" pitchFamily="18" charset="0"/>
                <a:cs typeface="Times" panose="02020603050405020304" pitchFamily="18" charset="0"/>
              </a:rPr>
              <a:t/>
            </a:r>
            <a:br>
              <a:rPr lang="en-US" dirty="0">
                <a:solidFill>
                  <a:srgbClr val="FF0000"/>
                </a:solidFill>
                <a:latin typeface="Times" panose="02020603050405020304" pitchFamily="18" charset="0"/>
                <a:cs typeface="Times" panose="02020603050405020304" pitchFamily="18" charset="0"/>
              </a:rPr>
            </a:br>
            <a:r>
              <a:rPr lang="en-US" dirty="0">
                <a:solidFill>
                  <a:srgbClr val="FF0000"/>
                </a:solidFill>
                <a:latin typeface="Times" panose="02020603050405020304" pitchFamily="18" charset="0"/>
                <a:cs typeface="Times" panose="02020603050405020304" pitchFamily="18" charset="0"/>
              </a:rPr>
              <a:t>For the supplier delay risk, you decide to reduce it by finding a backup supplier and placing orders well in advance. This is added to your official Risk Management Plan.</a:t>
            </a:r>
          </a:p>
          <a:p>
            <a:endParaRPr lang="en-US"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3237692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60D3E-315E-4280-95D6-90210CE00BE9}"/>
              </a:ext>
            </a:extLst>
          </p:cNvPr>
          <p:cNvSpPr>
            <a:spLocks noGrp="1"/>
          </p:cNvSpPr>
          <p:nvPr>
            <p:ph type="title"/>
          </p:nvPr>
        </p:nvSpPr>
        <p:spPr>
          <a:xfrm>
            <a:off x="838200" y="365125"/>
            <a:ext cx="10515600" cy="51220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ECCB9BC4-4C43-4C77-88CB-79C127A7062B}"/>
              </a:ext>
            </a:extLst>
          </p:cNvPr>
          <p:cNvSpPr>
            <a:spLocks noGrp="1"/>
          </p:cNvSpPr>
          <p:nvPr>
            <p:ph idx="1"/>
          </p:nvPr>
        </p:nvSpPr>
        <p:spPr>
          <a:xfrm>
            <a:off x="838200" y="1013254"/>
            <a:ext cx="10515600" cy="5163709"/>
          </a:xfrm>
        </p:spPr>
        <p:txBody>
          <a:bodyPr>
            <a:normAutofit fontScale="92500" lnSpcReduction="20000"/>
          </a:bodyPr>
          <a:lstStyle/>
          <a:p>
            <a:pPr marL="0" indent="0">
              <a:buNone/>
            </a:pPr>
            <a:r>
              <a:rPr lang="en-US" b="1" dirty="0">
                <a:latin typeface="Times" panose="02020603050405020304" pitchFamily="18" charset="0"/>
                <a:cs typeface="Times" panose="02020603050405020304" pitchFamily="18" charset="0"/>
              </a:rPr>
              <a:t>4. Risk Monitoring and Reporting</a:t>
            </a:r>
          </a:p>
          <a:p>
            <a:r>
              <a:rPr lang="en-US" dirty="0">
                <a:latin typeface="Times" panose="02020603050405020304" pitchFamily="18" charset="0"/>
                <a:cs typeface="Times" panose="02020603050405020304" pitchFamily="18" charset="0"/>
              </a:rPr>
              <a:t>check on the applied solution- see if it can be updated and document the risk management process so that it can be used in the future.</a:t>
            </a:r>
          </a:p>
          <a:p>
            <a:r>
              <a:rPr lang="en-US" dirty="0">
                <a:latin typeface="Times" panose="02020603050405020304" pitchFamily="18" charset="0"/>
                <a:cs typeface="Times" panose="02020603050405020304" pitchFamily="18" charset="0"/>
              </a:rPr>
              <a:t> After treating the risks, keep monitoring them. Risks can evolve or new ones may appear. Also, document everything for future reference.</a:t>
            </a:r>
          </a:p>
          <a:p>
            <a:pPr marL="0" indent="0">
              <a:buNone/>
            </a:pPr>
            <a:r>
              <a:rPr lang="en-US" b="1" dirty="0">
                <a:latin typeface="Times" panose="02020603050405020304" pitchFamily="18" charset="0"/>
                <a:cs typeface="Times" panose="02020603050405020304" pitchFamily="18" charset="0"/>
              </a:rPr>
              <a:t>Such as;</a:t>
            </a:r>
          </a:p>
          <a:p>
            <a:r>
              <a:rPr lang="en-US" dirty="0">
                <a:latin typeface="Times" panose="02020603050405020304" pitchFamily="18" charset="0"/>
                <a:cs typeface="Times" panose="02020603050405020304" pitchFamily="18" charset="0"/>
              </a:rPr>
              <a:t>Regular check-ins to track progress of the risk mitigation actions.</a:t>
            </a:r>
          </a:p>
          <a:p>
            <a:r>
              <a:rPr lang="en-US" dirty="0">
                <a:latin typeface="Times" panose="02020603050405020304" pitchFamily="18" charset="0"/>
                <a:cs typeface="Times" panose="02020603050405020304" pitchFamily="18" charset="0"/>
              </a:rPr>
              <a:t>Update the plan if needed.</a:t>
            </a:r>
          </a:p>
          <a:p>
            <a:r>
              <a:rPr lang="en-US" dirty="0">
                <a:latin typeface="Times" panose="02020603050405020304" pitchFamily="18" charset="0"/>
                <a:cs typeface="Times" panose="02020603050405020304" pitchFamily="18" charset="0"/>
              </a:rPr>
              <a:t>Create reports that summarize risks and how they were handled.</a:t>
            </a:r>
          </a:p>
          <a:p>
            <a:r>
              <a:rPr lang="en-US" b="1" dirty="0">
                <a:latin typeface="Times" panose="02020603050405020304" pitchFamily="18" charset="0"/>
                <a:cs typeface="Times" panose="02020603050405020304" pitchFamily="18" charset="0"/>
              </a:rPr>
              <a:t>Example:</a:t>
            </a:r>
            <a:r>
              <a:rPr lang="en-US" dirty="0">
                <a:latin typeface="Times" panose="02020603050405020304" pitchFamily="18" charset="0"/>
                <a:cs typeface="Times" panose="02020603050405020304" pitchFamily="18" charset="0"/>
              </a:rPr>
              <a:t/>
            </a:r>
            <a:br>
              <a:rPr lang="en-US" dirty="0">
                <a:latin typeface="Times" panose="02020603050405020304" pitchFamily="18" charset="0"/>
                <a:cs typeface="Times" panose="02020603050405020304" pitchFamily="18" charset="0"/>
              </a:rPr>
            </a:br>
            <a:r>
              <a:rPr lang="en-US" dirty="0">
                <a:solidFill>
                  <a:srgbClr val="FF0000"/>
                </a:solidFill>
                <a:latin typeface="Times" panose="02020603050405020304" pitchFamily="18" charset="0"/>
                <a:cs typeface="Times" panose="02020603050405020304" pitchFamily="18" charset="0"/>
              </a:rPr>
              <a:t>You monitor the delivery timeline weekly. You find that the original supplier is still having delays, but thanks to the backup supplier, the schedule is unaffected. You document this in the project file for future teams to learn from.</a:t>
            </a:r>
          </a:p>
          <a:p>
            <a:endParaRPr lang="en-US"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42560321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74E51BFF-710B-A89C-04C3-7A45BACD0500}"/>
              </a:ext>
            </a:extLst>
          </p:cNvPr>
          <p:cNvSpPr>
            <a:spLocks noGrp="1"/>
          </p:cNvSpPr>
          <p:nvPr>
            <p:ph type="title"/>
          </p:nvPr>
        </p:nvSpPr>
        <p:spPr>
          <a:xfrm>
            <a:off x="1981200" y="990600"/>
            <a:ext cx="8229600" cy="1066800"/>
          </a:xfrm>
        </p:spPr>
        <p:txBody>
          <a:bodyPr>
            <a:normAutofit fontScale="90000"/>
          </a:bodyPr>
          <a:lstStyle/>
          <a:p>
            <a:r>
              <a:rPr lang="en-US" altLang="en-US" b="1">
                <a:solidFill>
                  <a:srgbClr val="00B050"/>
                </a:solidFill>
                <a:latin typeface="Times New Roman" panose="02020603050405020304" pitchFamily="18" charset="0"/>
                <a:cs typeface="Times New Roman" panose="02020603050405020304" pitchFamily="18" charset="0"/>
              </a:rPr>
              <a:t>Lesson 9: Are You Ready to Be an Entrepreneur?</a:t>
            </a:r>
            <a:r>
              <a:rPr lang="en-US" altLang="en-US">
                <a:latin typeface="Times New Roman" panose="02020603050405020304" pitchFamily="18" charset="0"/>
                <a:cs typeface="Times New Roman" panose="02020603050405020304" pitchFamily="18" charset="0"/>
              </a:rPr>
              <a:t> </a:t>
            </a:r>
            <a:endParaRPr lang="en-US" altLang="en-US"/>
          </a:p>
        </p:txBody>
      </p:sp>
      <p:sp>
        <p:nvSpPr>
          <p:cNvPr id="3" name="Content Placeholder 2">
            <a:extLst>
              <a:ext uri="{FF2B5EF4-FFF2-40B4-BE49-F238E27FC236}">
                <a16:creationId xmlns:a16="http://schemas.microsoft.com/office/drawing/2014/main" id="{8B39EEF9-8ED1-3A87-AAA4-12C844069715}"/>
              </a:ext>
            </a:extLst>
          </p:cNvPr>
          <p:cNvSpPr>
            <a:spLocks noGrp="1"/>
          </p:cNvSpPr>
          <p:nvPr>
            <p:ph idx="1"/>
          </p:nvPr>
        </p:nvSpPr>
        <p:spPr>
          <a:xfrm>
            <a:off x="1981200" y="2438401"/>
            <a:ext cx="8229600" cy="3687763"/>
          </a:xfrm>
        </p:spPr>
        <p:txBody>
          <a:bodyPr/>
          <a:lstStyle/>
          <a:p>
            <a:pPr marL="0" indent="0" algn="just">
              <a:buNone/>
              <a:defRPr/>
            </a:pPr>
            <a:r>
              <a:rPr lang="en-US" b="1" i="1" u="sng" dirty="0">
                <a:solidFill>
                  <a:srgbClr val="0070C0"/>
                </a:solidFill>
                <a:latin typeface="Times New Roman" panose="02020603050405020304" pitchFamily="18" charset="0"/>
                <a:cs typeface="Times New Roman" panose="02020603050405020304" pitchFamily="18" charset="0"/>
              </a:rPr>
              <a:t>Learning Objectives: </a:t>
            </a:r>
          </a:p>
          <a:p>
            <a:pPr algn="just">
              <a:defRPr/>
            </a:pPr>
            <a:r>
              <a:rPr lang="en-US" dirty="0">
                <a:latin typeface="Times New Roman" panose="02020603050405020304" pitchFamily="18" charset="0"/>
                <a:cs typeface="Times New Roman" panose="02020603050405020304" pitchFamily="18" charset="0"/>
              </a:rPr>
              <a:t>Identify the reasons why people want to become entrepreneurs.</a:t>
            </a:r>
          </a:p>
          <a:p>
            <a:pPr algn="just">
              <a:defRPr/>
            </a:pPr>
            <a:r>
              <a:rPr lang="en-US" dirty="0">
                <a:latin typeface="Times New Roman" panose="02020603050405020304" pitchFamily="18" charset="0"/>
                <a:cs typeface="Times New Roman" panose="02020603050405020304" pitchFamily="18" charset="0"/>
              </a:rPr>
              <a:t>Help participants identify why they would want to become entrepreneurs.</a:t>
            </a:r>
          </a:p>
          <a:p>
            <a:pPr algn="just">
              <a:defRPr/>
            </a:pPr>
            <a:r>
              <a:rPr lang="en-US" dirty="0">
                <a:latin typeface="Times New Roman" panose="02020603050405020304" pitchFamily="18" charset="0"/>
                <a:cs typeface="Times New Roman" panose="02020603050405020304" pitchFamily="18" charset="0"/>
              </a:rPr>
              <a:t>Give participants the real picture of the benefits and challenges of being an entrepreneur.</a:t>
            </a:r>
          </a:p>
          <a:p>
            <a:pPr marL="0" indent="0">
              <a:buNone/>
              <a:defRPr/>
            </a:pPr>
            <a:endParaRPr lang="en-US" dirty="0"/>
          </a:p>
        </p:txBody>
      </p:sp>
    </p:spTree>
    <p:extLst>
      <p:ext uri="{BB962C8B-B14F-4D97-AF65-F5344CB8AC3E}">
        <p14:creationId xmlns:p14="http://schemas.microsoft.com/office/powerpoint/2010/main" val="1952017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585BBBCD-EED2-B361-4D7F-5F0D4B0FF60C}"/>
              </a:ext>
            </a:extLst>
          </p:cNvPr>
          <p:cNvSpPr>
            <a:spLocks noGrp="1"/>
          </p:cNvSpPr>
          <p:nvPr>
            <p:ph type="title"/>
          </p:nvPr>
        </p:nvSpPr>
        <p:spPr>
          <a:xfrm>
            <a:off x="1981200" y="704850"/>
            <a:ext cx="8229600" cy="361950"/>
          </a:xfrm>
        </p:spPr>
        <p:txBody>
          <a:bodyPr>
            <a:normAutofit fontScale="90000"/>
          </a:bodyPr>
          <a:lstStyle/>
          <a:p>
            <a:r>
              <a:rPr lang="en-US" altLang="en-US"/>
              <a:t>Lesson 9 cont’d…</a:t>
            </a:r>
          </a:p>
        </p:txBody>
      </p:sp>
      <p:sp>
        <p:nvSpPr>
          <p:cNvPr id="3" name="Content Placeholder 2">
            <a:extLst>
              <a:ext uri="{FF2B5EF4-FFF2-40B4-BE49-F238E27FC236}">
                <a16:creationId xmlns:a16="http://schemas.microsoft.com/office/drawing/2014/main" id="{EF4037F6-0837-A61D-DD55-2064FFFD02F7}"/>
              </a:ext>
            </a:extLst>
          </p:cNvPr>
          <p:cNvSpPr>
            <a:spLocks noGrp="1"/>
          </p:cNvSpPr>
          <p:nvPr>
            <p:ph idx="1"/>
          </p:nvPr>
        </p:nvSpPr>
        <p:spPr>
          <a:xfrm>
            <a:off x="1828800" y="1066800"/>
            <a:ext cx="8534400" cy="5257800"/>
          </a:xfrm>
        </p:spPr>
        <p:txBody>
          <a:bodyPr/>
          <a:lstStyle/>
          <a:p>
            <a:pPr>
              <a:defRPr/>
            </a:pPr>
            <a:r>
              <a:rPr lang="en-US" b="1" dirty="0">
                <a:latin typeface="Times" pitchFamily="18" charset="0"/>
                <a:ea typeface="Tahoma" panose="020B0604030504040204" pitchFamily="34" charset="0"/>
                <a:cs typeface="Tahoma" panose="020B0604030504040204" pitchFamily="34" charset="0"/>
              </a:rPr>
              <a:t>An entrepreneur </a:t>
            </a:r>
            <a:r>
              <a:rPr lang="en-US" dirty="0">
                <a:latin typeface="Times" pitchFamily="18" charset="0"/>
                <a:ea typeface="Tahoma" panose="020B0604030504040204" pitchFamily="34" charset="0"/>
                <a:cs typeface="Tahoma" panose="020B0604030504040204" pitchFamily="34" charset="0"/>
              </a:rPr>
              <a:t>is a person who takes a risk of creating a business by investing skills, money, time or any other kind of resource</a:t>
            </a:r>
          </a:p>
          <a:p>
            <a:pPr>
              <a:defRPr/>
            </a:pPr>
            <a:r>
              <a:rPr lang="en-US" dirty="0">
                <a:latin typeface="Times" pitchFamily="18" charset="0"/>
                <a:ea typeface="Tahoma" panose="020B0604030504040204" pitchFamily="34" charset="0"/>
                <a:cs typeface="Tahoma" panose="020B0604030504040204" pitchFamily="34" charset="0"/>
              </a:rPr>
              <a:t>He’s a person who look at opportunities around him/her and turn them into business ideas</a:t>
            </a:r>
          </a:p>
          <a:p>
            <a:pPr marL="0" indent="0">
              <a:buNone/>
              <a:defRPr/>
            </a:pPr>
            <a:r>
              <a:rPr lang="en-US" b="1" dirty="0">
                <a:latin typeface="Times" pitchFamily="18" charset="0"/>
                <a:ea typeface="Tahoma" panose="020B0604030504040204" pitchFamily="34" charset="0"/>
                <a:cs typeface="Tahoma" panose="020B0604030504040204" pitchFamily="34" charset="0"/>
              </a:rPr>
              <a:t>Questions:</a:t>
            </a:r>
          </a:p>
          <a:p>
            <a:pPr marL="0" indent="0">
              <a:buNone/>
              <a:defRPr/>
            </a:pPr>
            <a:r>
              <a:rPr lang="en-US" dirty="0">
                <a:solidFill>
                  <a:srgbClr val="00B0F0"/>
                </a:solidFill>
                <a:latin typeface="Times" pitchFamily="18" charset="0"/>
                <a:ea typeface="Tahoma" panose="020B0604030504040204" pitchFamily="34" charset="0"/>
                <a:cs typeface="Tahoma" panose="020B0604030504040204" pitchFamily="34" charset="0"/>
              </a:rPr>
              <a:t>Why do you want to become entrepreneurs?</a:t>
            </a:r>
          </a:p>
          <a:p>
            <a:pPr>
              <a:buFont typeface="Wingdings" panose="05000000000000000000" pitchFamily="2" charset="2"/>
              <a:buChar char="Ø"/>
              <a:defRPr/>
            </a:pPr>
            <a:r>
              <a:rPr lang="en-US" dirty="0">
                <a:latin typeface="Times" pitchFamily="18" charset="0"/>
                <a:ea typeface="Tahoma" panose="020B0604030504040204" pitchFamily="34" charset="0"/>
                <a:cs typeface="Tahoma" panose="020B0604030504040204" pitchFamily="34" charset="0"/>
              </a:rPr>
              <a:t>Solve society’s problems</a:t>
            </a:r>
          </a:p>
          <a:p>
            <a:pPr>
              <a:buFont typeface="Wingdings" panose="05000000000000000000" pitchFamily="2" charset="2"/>
              <a:buChar char="Ø"/>
              <a:defRPr/>
            </a:pPr>
            <a:r>
              <a:rPr lang="en-US" dirty="0">
                <a:latin typeface="Times" pitchFamily="18" charset="0"/>
                <a:ea typeface="Tahoma" panose="020B0604030504040204" pitchFamily="34" charset="0"/>
                <a:cs typeface="Tahoma" panose="020B0604030504040204" pitchFamily="34" charset="0"/>
              </a:rPr>
              <a:t>Profit to live healthy</a:t>
            </a:r>
          </a:p>
          <a:p>
            <a:pPr>
              <a:buFont typeface="Wingdings" panose="05000000000000000000" pitchFamily="2" charset="2"/>
              <a:buChar char="Ø"/>
              <a:defRPr/>
            </a:pPr>
            <a:r>
              <a:rPr lang="en-US" dirty="0">
                <a:latin typeface="Times" pitchFamily="18" charset="0"/>
                <a:ea typeface="Tahoma" panose="020B0604030504040204" pitchFamily="34" charset="0"/>
                <a:cs typeface="Tahoma" panose="020B0604030504040204" pitchFamily="34" charset="0"/>
              </a:rPr>
              <a:t>Make more connections and networks</a:t>
            </a:r>
          </a:p>
          <a:p>
            <a:pPr>
              <a:buFont typeface="Wingdings" panose="05000000000000000000" pitchFamily="2" charset="2"/>
              <a:buChar char="Ø"/>
              <a:defRPr/>
            </a:pPr>
            <a:r>
              <a:rPr lang="en-US" dirty="0">
                <a:latin typeface="Times" pitchFamily="18" charset="0"/>
                <a:ea typeface="Tahoma" panose="020B0604030504040204" pitchFamily="34" charset="0"/>
                <a:cs typeface="Tahoma" panose="020B0604030504040204" pitchFamily="34" charset="0"/>
              </a:rPr>
              <a:t>Innovation for what others have tried</a:t>
            </a:r>
          </a:p>
        </p:txBody>
      </p:sp>
    </p:spTree>
    <p:extLst>
      <p:ext uri="{BB962C8B-B14F-4D97-AF65-F5344CB8AC3E}">
        <p14:creationId xmlns:p14="http://schemas.microsoft.com/office/powerpoint/2010/main" val="11593111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ntent Placeholder 2">
            <a:extLst>
              <a:ext uri="{FF2B5EF4-FFF2-40B4-BE49-F238E27FC236}">
                <a16:creationId xmlns:a16="http://schemas.microsoft.com/office/drawing/2014/main" id="{2E4D4B92-1939-5D50-18BC-63EED5BD0C5C}"/>
              </a:ext>
            </a:extLst>
          </p:cNvPr>
          <p:cNvSpPr>
            <a:spLocks noGrp="1"/>
          </p:cNvSpPr>
          <p:nvPr>
            <p:ph idx="1"/>
          </p:nvPr>
        </p:nvSpPr>
        <p:spPr/>
        <p:txBody>
          <a:bodyPr/>
          <a:lstStyle/>
          <a:p>
            <a:pPr marL="0" indent="0" algn="ctr">
              <a:buNone/>
            </a:pPr>
            <a:endParaRPr lang="en-US" altLang="en-US" sz="5400"/>
          </a:p>
          <a:p>
            <a:pPr marL="0" indent="0" algn="ctr">
              <a:buNone/>
            </a:pPr>
            <a:r>
              <a:rPr lang="en-US" altLang="en-US" sz="5400"/>
              <a:t>END! </a:t>
            </a:r>
          </a:p>
        </p:txBody>
      </p:sp>
    </p:spTree>
    <p:extLst>
      <p:ext uri="{BB962C8B-B14F-4D97-AF65-F5344CB8AC3E}">
        <p14:creationId xmlns:p14="http://schemas.microsoft.com/office/powerpoint/2010/main" val="8314979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1549</Words>
  <Application>Microsoft Office PowerPoint</Application>
  <PresentationFormat>Widescreen</PresentationFormat>
  <Paragraphs>126</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Calibri</vt:lpstr>
      <vt:lpstr>Calibri Light</vt:lpstr>
      <vt:lpstr>Söhne</vt:lpstr>
      <vt:lpstr>Tahoma</vt:lpstr>
      <vt:lpstr>Times</vt:lpstr>
      <vt:lpstr>Times New Roman</vt:lpstr>
      <vt:lpstr>Wingdings</vt:lpstr>
      <vt:lpstr>Office Theme</vt:lpstr>
      <vt:lpstr>PowerPoint Presentation</vt:lpstr>
      <vt:lpstr>Lesson 7: Sales Skills to Become an Effective Entrepreneur  </vt:lpstr>
      <vt:lpstr>PowerPoint Presentation</vt:lpstr>
      <vt:lpstr>Cont’d…..</vt:lpstr>
      <vt:lpstr>Cont’d….</vt:lpstr>
      <vt:lpstr>Cont’d….</vt:lpstr>
      <vt:lpstr>Lesson 8: Managing Risks and Learning from Failures  </vt:lpstr>
      <vt:lpstr>Meanings </vt:lpstr>
      <vt:lpstr>PowerPoint Presentation</vt:lpstr>
      <vt:lpstr>PowerPoint Presentation</vt:lpstr>
      <vt:lpstr>PowerPoint Presentation</vt:lpstr>
      <vt:lpstr>PowerPoint Presentation</vt:lpstr>
      <vt:lpstr>PowerPoint Presentation</vt:lpstr>
      <vt:lpstr>4 Essential Steps for Risk Management</vt:lpstr>
      <vt:lpstr>PowerPoint Presentation</vt:lpstr>
      <vt:lpstr>PowerPoint Presentation</vt:lpstr>
      <vt:lpstr>PowerPoint Presentation</vt:lpstr>
      <vt:lpstr>PowerPoint Presentation</vt:lpstr>
      <vt:lpstr>Lesson 9: Are You Ready to Be an Entrepreneur? </vt:lpstr>
      <vt:lpstr>Lesson 9 cont’d…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PC</cp:lastModifiedBy>
  <cp:revision>1</cp:revision>
  <dcterms:created xsi:type="dcterms:W3CDTF">2026-06-08T17:45:38Z</dcterms:created>
  <dcterms:modified xsi:type="dcterms:W3CDTF">2026-06-08T17:45:59Z</dcterms:modified>
</cp:coreProperties>
</file>