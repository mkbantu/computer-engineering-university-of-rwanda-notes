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9" r:id="rId2"/>
    <p:sldId id="499" r:id="rId3"/>
    <p:sldId id="620" r:id="rId4"/>
    <p:sldId id="621" r:id="rId5"/>
    <p:sldId id="622" r:id="rId6"/>
    <p:sldId id="626" r:id="rId7"/>
    <p:sldId id="627" r:id="rId8"/>
    <p:sldId id="628" r:id="rId9"/>
    <p:sldId id="630" r:id="rId10"/>
    <p:sldId id="631" r:id="rId11"/>
    <p:sldId id="632" r:id="rId12"/>
    <p:sldId id="633" r:id="rId13"/>
    <p:sldId id="634" r:id="rId14"/>
    <p:sldId id="635" r:id="rId15"/>
    <p:sldId id="616" r:id="rId16"/>
    <p:sldId id="617" r:id="rId17"/>
    <p:sldId id="618" r:id="rId18"/>
    <p:sldId id="619" r:id="rId19"/>
    <p:sldId id="615" r:id="rId20"/>
    <p:sldId id="623" r:id="rId21"/>
    <p:sldId id="624" r:id="rId22"/>
    <p:sldId id="625" r:id="rId23"/>
    <p:sldId id="50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2" autoAdjust="0"/>
    <p:restoredTop sz="94660"/>
  </p:normalViewPr>
  <p:slideViewPr>
    <p:cSldViewPr snapToGrid="0">
      <p:cViewPr varScale="1">
        <p:scale>
          <a:sx n="92" d="100"/>
          <a:sy n="92" d="100"/>
        </p:scale>
        <p:origin x="51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2C8E-FDB4-4CB3-BD97-39B14888E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051EE-5FEB-48E7-86FE-A1A05BE40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BA29-9210-4C81-A553-EC58087D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139CB-65CC-41A7-871E-6D8359FC1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C54A-8881-4F82-9EE1-D1FA2B50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5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38038-35BE-440E-9B92-65F8D91A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A6300-8AC8-4548-B611-6E97A1DD4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BE115-6CD7-4229-859A-BEF30708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AA4F1-12CA-4F10-87EE-B3930933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63EBB-E0B7-4591-BC71-455724F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79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BD87-087A-4C7E-98E7-6CB4F3F17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3BAA7-5502-4E0B-A625-0A2D50CE7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21B1D-744A-48BF-96E9-B6FACD53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32411-634A-4616-8CC3-A1555345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F2EC5-D3F3-4326-B29C-EE4C8FC8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3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3072B-A6D5-46F4-B5CD-A2AF08B6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9C6AE-5229-4DE0-91F1-51F54B7A5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A6EE1-2CD7-4EFD-81EE-331A0965F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0FB6D-EA98-4935-866A-AD88B3D0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429CD-FE00-405D-AD27-D7E232E9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C90CB-F43F-4460-977D-8BE23D28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8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BAB6-9FBB-4855-8B72-9105AE66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7623C-C012-4187-A403-0EB15FE3A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63EA5-6426-4F4F-9B67-CCE41282C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9D1B4-CCDC-4CC2-9F70-1D88EA900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2B9C99-EB6A-4B54-A203-654C6BF11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C4306-594E-41D1-BC9B-6D156386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41E6A-6353-48F1-BF4F-733934ADF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31F0F5-A851-4963-9AB7-6C20E000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4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CFFD-DA61-40C4-84B8-7C4B2EF1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A642E-25B5-4CEA-A3F2-C76819B16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9CF62-50F7-4E7F-81C6-E500D5836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EE047-D6C8-4DBD-B29A-5AEEED1F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2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0982D-9A5E-4BFF-906A-D9BEEE2F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DB6C2-B675-4A9F-BDAE-B7005577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59561-2C76-4E35-AD58-78CA1A6E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3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F135-9DF4-4AEA-B6E5-40F6EE5B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EE524-B931-4CE1-8B3B-CB7C6E78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7EC90-2674-4217-BAF8-CBE896BB6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9D869-74CB-4344-9905-8A92D2DE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F4E60-C6CD-4D1F-8BBD-F5CFE871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1D6D1-C5AA-4AB9-B9B6-19A0CCFC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3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D507-E623-478D-93F9-BAF95F91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18B00-36BA-4004-B2B0-381C00138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EDAF6-FF96-478F-B372-53C397DF1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308E2-0A36-40F0-9701-9711443A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84DD9-7536-46FD-BE62-C0AFE12A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7340D-8DD5-45D1-87B3-88913861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3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AA4B6-9CEF-46A1-8E45-487F4C8F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96695-42E8-4BE5-9D05-D306C8ED3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2FF66-55B4-4012-A7DB-BA5C520D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9B9C6-CBA6-476F-AB10-6AA57F2B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563CB-128C-4806-88F1-A6A2E547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8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B1D10-4A67-4E46-B79E-6A59CD807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75D03-0735-4B5C-90F2-BDDD01EED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1F0DA-7241-4E06-BF10-45760DEE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3CEA8-1E24-4F0F-A5A1-1816D2C05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E514A-7776-4FA6-9C35-21C8A0B4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9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38E29-BE9F-4267-A714-7EB41850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24BC1-0C54-4941-A09B-6471BFCC3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DDD35-80E5-44BA-8CA3-29D1B7A97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9CF14-F041-46C7-9C7B-77B2553B0EF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34DA4-C923-4421-8B1C-647B867AF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B00B3-95F0-425D-8EA5-7B19B0F58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3B9C2-3297-429D-8B9F-186E37666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bc.com/news/world-africa-17145106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1C85F82-0397-E380-C36A-DC6C6EB5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630362"/>
          </a:xfrm>
        </p:spPr>
        <p:txBody>
          <a:bodyPr/>
          <a:lstStyle/>
          <a:p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 3: Listen to Some Success Stories</a:t>
            </a:r>
            <a:r>
              <a:rPr lang="en-US" altLang="en-US" dirty="0">
                <a:solidFill>
                  <a:srgbClr val="00B050"/>
                </a:solidFill>
              </a:rPr>
              <a:t> 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A1154-5F15-7348-70A6-D1B48ABE6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Objectives: </a:t>
            </a:r>
          </a:p>
          <a:p>
            <a:pPr algn="just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ordinary people become successful global entrepreneurs,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journeys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challenges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their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successes.</a:t>
            </a:r>
          </a:p>
          <a:p>
            <a:pPr algn="just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ordinary people from their own countries have become successful entrepreneurs.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F9412F23-4638-1701-A5C0-A8152318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04800"/>
            <a:ext cx="8915400" cy="91440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Global Legends and local Heroes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6E0E4-3D8A-1C0B-8288-FBF0B51FF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371600"/>
            <a:ext cx="8534400" cy="49530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launched products and formed ventures that have completely transformed the lives of people on a global and even on a local scale.</a:t>
            </a:r>
          </a:p>
          <a:p>
            <a:pPr marL="0" indent="0" algn="just">
              <a:buNone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lesson among the global legends, the following entrepreneurs were studied:</a:t>
            </a:r>
          </a:p>
          <a:p>
            <a:pPr marL="0" indent="0" algn="just"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Travis Kalanick who formed Uber</a:t>
            </a:r>
          </a:p>
          <a:p>
            <a:pPr marL="0" indent="0" algn="just"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Mark Zuckerberg who created Facebook</a:t>
            </a:r>
          </a:p>
          <a:p>
            <a:pPr marL="0" indent="0" algn="just"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Danae Ringelmann who initiated Indiegogo</a:t>
            </a:r>
          </a:p>
          <a:p>
            <a:pPr algn="just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legends:</a:t>
            </a:r>
          </a:p>
          <a:p>
            <a:pPr marL="0" indent="0" algn="just"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Kelvin Marcharia who created sunrise tracking and Julian Rotich who formed Ushahidi all from Kenya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8B7A-0EE0-4B0A-8712-92237491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48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/>
            </a:r>
            <a:br>
              <a:rPr lang="en-US" sz="4000" b="1" dirty="0"/>
            </a:br>
            <a:r>
              <a:rPr lang="en-US" sz="4000" b="1" dirty="0">
                <a:solidFill>
                  <a:srgbClr val="FF0000"/>
                </a:solidFill>
              </a:rPr>
              <a:t>Travis Kalanick: The Man Behind Uber’s Global Ride-Sharing Revolution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041B-1DA7-41C0-BD64-EE37762D0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797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Early Struggles and Entrepreneurial Spirit</a:t>
            </a:r>
          </a:p>
          <a:p>
            <a:r>
              <a:rPr lang="en-US" dirty="0"/>
              <a:t>Born in 1976 in Los Angeles, Kalanick showed early interest in technology and business.</a:t>
            </a:r>
          </a:p>
          <a:p>
            <a:r>
              <a:rPr lang="en-US" dirty="0"/>
              <a:t>Dropped out of UCLA to work on his first startup, Scour, a peer-to-peer file-sharing company.</a:t>
            </a:r>
          </a:p>
          <a:p>
            <a:r>
              <a:rPr lang="en-US" dirty="0"/>
              <a:t>Scour faced legal battles and eventually filed for bankruptcy, but Kalanick remained determined.</a:t>
            </a:r>
          </a:p>
          <a:p>
            <a:r>
              <a:rPr lang="en-US" b="1" dirty="0"/>
              <a:t>Founding Uber: A Game-Changer in Transportation</a:t>
            </a:r>
          </a:p>
          <a:p>
            <a:r>
              <a:rPr lang="en-US" dirty="0"/>
              <a:t>In 2009, Kalanick co-founded </a:t>
            </a:r>
            <a:r>
              <a:rPr lang="en-US" b="1" dirty="0"/>
              <a:t>Uber</a:t>
            </a:r>
            <a:r>
              <a:rPr lang="en-US" dirty="0"/>
              <a:t> with Garrett Camp after struggling to find a taxi in Paris.</a:t>
            </a:r>
          </a:p>
          <a:p>
            <a:r>
              <a:rPr lang="en-US" dirty="0"/>
              <a:t>Initially started as a luxury black car service in San Francisco.</a:t>
            </a:r>
          </a:p>
          <a:p>
            <a:r>
              <a:rPr lang="en-US" dirty="0"/>
              <a:t>Focused on making transportation convenient, affordable, and accessible.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06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CAA0-271A-4D0B-8ED2-04AD2C6E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6BCC-B35D-4CBF-AA56-065606B7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Overcoming Challenges</a:t>
            </a:r>
          </a:p>
          <a:p>
            <a:r>
              <a:rPr lang="en-US" dirty="0"/>
              <a:t>Faced resistance (conflicts) from traditional taxi industries and government regulations.</a:t>
            </a:r>
          </a:p>
          <a:p>
            <a:r>
              <a:rPr lang="en-US" dirty="0"/>
              <a:t>Expanded aggressively worldwide despite legal and operational challenges.</a:t>
            </a:r>
          </a:p>
          <a:p>
            <a:r>
              <a:rPr lang="en-US" dirty="0"/>
              <a:t>Developed UberX, a budget-friendly option, which led to massive global success.</a:t>
            </a:r>
          </a:p>
          <a:p>
            <a:r>
              <a:rPr lang="en-US" b="1" dirty="0"/>
              <a:t>Impact and Growth</a:t>
            </a:r>
          </a:p>
          <a:p>
            <a:r>
              <a:rPr lang="en-US" dirty="0"/>
              <a:t>Uber disrupted the transportation industry and became a </a:t>
            </a:r>
            <a:r>
              <a:rPr lang="en-US" b="1" dirty="0"/>
              <a:t>multi-billion-dollar</a:t>
            </a:r>
            <a:r>
              <a:rPr lang="en-US" dirty="0"/>
              <a:t> company.</a:t>
            </a:r>
          </a:p>
          <a:p>
            <a:r>
              <a:rPr lang="en-US" dirty="0"/>
              <a:t>Expanded beyond ridesharing into food delivery (Uber Eats) and logistics.</a:t>
            </a:r>
          </a:p>
          <a:p>
            <a:r>
              <a:rPr lang="en-US" dirty="0"/>
              <a:t>Created job opportunities for millions of drivers worldwide.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651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7762-3EA1-4CDD-B186-461C56DC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0E80E-66DC-4650-AF40-54EF5CA2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Advice to Entrepreneurs</a:t>
            </a:r>
          </a:p>
          <a:p>
            <a:r>
              <a:rPr lang="en-US" dirty="0"/>
              <a:t>"Take risks and move fast" – Kalanick’s philosophy on innovation and scaling businesses.</a:t>
            </a:r>
          </a:p>
          <a:p>
            <a:r>
              <a:rPr lang="en-US" dirty="0"/>
              <a:t>Believed in </a:t>
            </a:r>
            <a:r>
              <a:rPr lang="en-US" b="1" dirty="0"/>
              <a:t>"hustling"</a:t>
            </a:r>
            <a:r>
              <a:rPr lang="en-US" dirty="0"/>
              <a:t> and pushing boundaries to achieve success.</a:t>
            </a:r>
          </a:p>
          <a:p>
            <a:r>
              <a:rPr lang="en-US" b="1" dirty="0"/>
              <a:t>Legacy and Future Vision</a:t>
            </a:r>
          </a:p>
          <a:p>
            <a:r>
              <a:rPr lang="en-US" dirty="0"/>
              <a:t>Stepped down as Uber CEO in 2017 but remains a key figure in tech entrepreneurship.</a:t>
            </a:r>
          </a:p>
          <a:p>
            <a:r>
              <a:rPr lang="en-US" dirty="0"/>
              <a:t>Invests in startups and real estate through </a:t>
            </a:r>
            <a:r>
              <a:rPr lang="en-US" b="1" dirty="0" err="1"/>
              <a:t>CloudKitchens</a:t>
            </a:r>
            <a:r>
              <a:rPr lang="en-US" dirty="0"/>
              <a:t>, his latest venture.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42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D740-1F4B-488D-9DB9-FDE31125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Mark Zuckerberg: The Success Story of Facebook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E05B6-2397-4982-9EFE-18A2ABF06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Introduction</a:t>
            </a:r>
            <a:endParaRPr lang="en-US" dirty="0"/>
          </a:p>
          <a:p>
            <a:pPr lvl="0"/>
            <a:r>
              <a:rPr lang="en-US" dirty="0"/>
              <a:t>Mark Zuckerberg, born in 1984, is a tech entrepreneur and the co-founder of Facebook.</a:t>
            </a:r>
          </a:p>
          <a:p>
            <a:pPr lvl="0"/>
            <a:r>
              <a:rPr lang="en-US" dirty="0"/>
              <a:t>Created Facebook while studying at Harvard University in 2004.</a:t>
            </a:r>
          </a:p>
          <a:p>
            <a:pPr lvl="0"/>
            <a:r>
              <a:rPr lang="en-US" dirty="0"/>
              <a:t>Became one of the youngest billionaires in the world.</a:t>
            </a:r>
          </a:p>
          <a:p>
            <a:r>
              <a:rPr lang="en-US" b="1" dirty="0"/>
              <a:t>The Early Days</a:t>
            </a:r>
            <a:endParaRPr lang="en-US" dirty="0"/>
          </a:p>
          <a:p>
            <a:pPr lvl="0"/>
            <a:r>
              <a:rPr lang="en-US" dirty="0"/>
              <a:t>Developed interest in programming at an early age.</a:t>
            </a:r>
          </a:p>
          <a:p>
            <a:pPr lvl="0"/>
            <a:r>
              <a:rPr lang="en-US" dirty="0"/>
              <a:t>Created early software like "</a:t>
            </a:r>
            <a:r>
              <a:rPr lang="en-US" dirty="0" err="1"/>
              <a:t>ZuckNet</a:t>
            </a:r>
            <a:r>
              <a:rPr lang="en-US" dirty="0"/>
              <a:t>" and "Synapse Media Player."</a:t>
            </a:r>
          </a:p>
          <a:p>
            <a:pPr lvl="0"/>
            <a:r>
              <a:rPr lang="en-US" dirty="0"/>
              <a:t>Attended Harvard University and built "</a:t>
            </a:r>
            <a:r>
              <a:rPr lang="en-US" dirty="0" err="1"/>
              <a:t>Facemash</a:t>
            </a:r>
            <a:r>
              <a:rPr lang="en-US" dirty="0"/>
              <a:t>," a controversial site that compared student photos.</a:t>
            </a:r>
          </a:p>
          <a:p>
            <a:r>
              <a:rPr lang="en-US" b="1" dirty="0"/>
              <a:t>The Birth of Facebook</a:t>
            </a:r>
            <a:endParaRPr lang="en-US" dirty="0"/>
          </a:p>
          <a:p>
            <a:pPr lvl="0"/>
            <a:r>
              <a:rPr lang="en-US" dirty="0"/>
              <a:t>In 2004, launched "The Facebook" with college roommates.</a:t>
            </a:r>
          </a:p>
          <a:p>
            <a:pPr lvl="0"/>
            <a:r>
              <a:rPr lang="en-US" dirty="0"/>
              <a:t>Initially exclusive to Harvard students, later expanded to other Ivy League schools.</a:t>
            </a:r>
          </a:p>
          <a:p>
            <a:pPr lvl="0"/>
            <a:r>
              <a:rPr lang="en-US" dirty="0"/>
              <a:t>Gained rapid popularity, leading to investments and expansion.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701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DCD9-A3F5-44A0-9AD3-68766138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6F390-1792-4C46-A3B7-EAF49DBBE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Facebook’s Growth</a:t>
            </a:r>
            <a:endParaRPr lang="en-US" dirty="0"/>
          </a:p>
          <a:p>
            <a:pPr lvl="0"/>
            <a:r>
              <a:rPr lang="en-US" dirty="0"/>
              <a:t>2005: Secured $12.7 million in funding from Accel Partners.</a:t>
            </a:r>
          </a:p>
          <a:p>
            <a:pPr lvl="0"/>
            <a:r>
              <a:rPr lang="en-US" dirty="0"/>
              <a:t>2006: Opened Facebook to the public, introduced the News Feed feature.</a:t>
            </a:r>
          </a:p>
          <a:p>
            <a:pPr lvl="0"/>
            <a:r>
              <a:rPr lang="en-US" dirty="0"/>
              <a:t>2008: Became the youngest billionaire at age 24.</a:t>
            </a:r>
          </a:p>
          <a:p>
            <a:pPr lvl="0"/>
            <a:r>
              <a:rPr lang="en-US" dirty="0"/>
              <a:t>2012: Facebook went public with a $104 billion valuation.</a:t>
            </a:r>
          </a:p>
          <a:p>
            <a:r>
              <a:rPr lang="en-US" b="1" dirty="0"/>
              <a:t>Challenges and Controversies(disagreements)</a:t>
            </a:r>
            <a:endParaRPr lang="en-US" dirty="0"/>
          </a:p>
          <a:p>
            <a:pPr lvl="0"/>
            <a:r>
              <a:rPr lang="en-US" dirty="0"/>
              <a:t>Faced lawsuits from Winklevoss twins (</a:t>
            </a:r>
            <a:r>
              <a:rPr lang="en-US" dirty="0" err="1"/>
              <a:t>ConnectU</a:t>
            </a:r>
            <a:r>
              <a:rPr lang="en-US" dirty="0"/>
              <a:t>) over intellectual property rights.</a:t>
            </a:r>
          </a:p>
          <a:p>
            <a:pPr lvl="0"/>
            <a:r>
              <a:rPr lang="en-US" dirty="0"/>
              <a:t>Privacy concerns and data security issues (Cambridge Analytica scandal in 2018).</a:t>
            </a:r>
          </a:p>
          <a:p>
            <a:pPr lvl="0"/>
            <a:r>
              <a:rPr lang="en-US" dirty="0"/>
              <a:t>Criticism over handling of misinformation and user data policies.</a:t>
            </a:r>
          </a:p>
          <a:p>
            <a:r>
              <a:rPr lang="en-US" b="1" dirty="0"/>
              <a:t>Facebook's Innovations and Acquisitions</a:t>
            </a:r>
            <a:endParaRPr lang="en-US" dirty="0"/>
          </a:p>
          <a:p>
            <a:pPr lvl="0"/>
            <a:r>
              <a:rPr lang="en-US" dirty="0"/>
              <a:t>Acquired Instagram (2012) and WhatsApp (2014).</a:t>
            </a:r>
          </a:p>
          <a:p>
            <a:pPr lvl="0"/>
            <a:r>
              <a:rPr lang="en-US" dirty="0"/>
              <a:t>Launched Messenger, Facebook Live, and Marketplace.</a:t>
            </a:r>
          </a:p>
          <a:p>
            <a:pPr lvl="0"/>
            <a:r>
              <a:rPr lang="en-US" dirty="0"/>
              <a:t>Rebranded as Meta in 2021 to focus on the metaverse and VR technologies.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87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E86A-9D00-4E87-9A3C-28AC1DF1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45596-BF15-49B0-BED4-6E611FAB6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6757"/>
            <a:ext cx="10515600" cy="5250206"/>
          </a:xfrm>
        </p:spPr>
        <p:txBody>
          <a:bodyPr>
            <a:normAutofit/>
          </a:bodyPr>
          <a:lstStyle/>
          <a:p>
            <a:r>
              <a:rPr lang="en-US" b="1" dirty="0"/>
              <a:t>Lessons from Zuckerberg’s Success</a:t>
            </a:r>
            <a:endParaRPr lang="en-US" dirty="0"/>
          </a:p>
          <a:p>
            <a:pPr lvl="0"/>
            <a:r>
              <a:rPr lang="en-US" dirty="0"/>
              <a:t>Innovation: Constantly adapting and evolving.</a:t>
            </a:r>
          </a:p>
          <a:p>
            <a:pPr lvl="0"/>
            <a:r>
              <a:rPr lang="en-US" dirty="0"/>
              <a:t>Risk-taking: Dropped out of Harvard to focus on Facebook.</a:t>
            </a:r>
          </a:p>
          <a:p>
            <a:pPr lvl="0"/>
            <a:r>
              <a:rPr lang="en-US" dirty="0"/>
              <a:t>Visionary Leadership: Focused on connecting people globally.</a:t>
            </a:r>
          </a:p>
          <a:p>
            <a:pPr lvl="0"/>
            <a:r>
              <a:rPr lang="en-US" dirty="0"/>
              <a:t>Resilience: Overcame legal and business challenges.</a:t>
            </a:r>
          </a:p>
          <a:p>
            <a:r>
              <a:rPr lang="en-US" b="1" dirty="0"/>
              <a:t>Conclusion</a:t>
            </a:r>
            <a:endParaRPr lang="en-US" dirty="0"/>
          </a:p>
          <a:p>
            <a:pPr lvl="0"/>
            <a:r>
              <a:rPr lang="en-US" dirty="0"/>
              <a:t>Mark Zuckerberg transformed social networking with Facebook.</a:t>
            </a:r>
          </a:p>
          <a:p>
            <a:pPr lvl="0"/>
            <a:r>
              <a:rPr lang="en-US" dirty="0"/>
              <a:t>Continues to innovate in AI, VR, and digital connectivity through Meta.</a:t>
            </a:r>
          </a:p>
          <a:p>
            <a:pPr lvl="0"/>
            <a:r>
              <a:rPr lang="en-US" dirty="0"/>
              <a:t>His story highlights determination, strategic vision, and adaptability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20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Danae Ringelmann Came Up With Indiegogo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Indiegogo, a leading crowdfunding platform, was co-founded by Danae Ringelmann.</a:t>
            </a:r>
          </a:p>
          <a:p>
            <a:pPr marL="0" indent="0">
              <a:buNone/>
            </a:pPr>
            <a:r>
              <a:rPr dirty="0"/>
              <a:t>• Inspired by her parents' struggles as small-business owners.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b="1" dirty="0"/>
              <a:t>Mission: </a:t>
            </a:r>
            <a:r>
              <a:rPr dirty="0"/>
              <a:t>Democratize funding for entrepreneurs and creators.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Idea &amp; Early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Worked on Wall Street and saw financial barriers for small businesses.</a:t>
            </a:r>
          </a:p>
          <a:p>
            <a:pPr marL="0" indent="0">
              <a:buNone/>
            </a:pPr>
            <a:r>
              <a:rPr dirty="0"/>
              <a:t>• Developed Indiegogo’s concept at UC Berkeley with co-founders Eric Schell &amp; Slava Rubin.</a:t>
            </a:r>
          </a:p>
          <a:p>
            <a:pPr marL="0" indent="0">
              <a:buNone/>
            </a:pPr>
            <a:r>
              <a:rPr dirty="0"/>
              <a:t>• Launched in 2008, but faced investor </a:t>
            </a:r>
            <a:r>
              <a:rPr lang="en-US" dirty="0"/>
              <a:t>doubt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90 rejections before securing funding in 2011.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Raised $40 million in venture capital (2014).</a:t>
            </a:r>
          </a:p>
          <a:p>
            <a:pPr marL="0" indent="0">
              <a:buNone/>
            </a:pPr>
            <a:r>
              <a:rPr dirty="0"/>
              <a:t>• Hosted 250,000+ campaigns in 224 countries.</a:t>
            </a:r>
          </a:p>
          <a:p>
            <a:pPr marL="0" indent="0">
              <a:buNone/>
            </a:pPr>
            <a:r>
              <a:rPr dirty="0"/>
              <a:t>• Notable campaigns:</a:t>
            </a:r>
            <a:endParaRPr lang="en-US" dirty="0"/>
          </a:p>
          <a:p>
            <a:r>
              <a:rPr lang="en-US" dirty="0"/>
              <a:t>Hour of Code – Raised $4M (Mark Zuckerberg supported).</a:t>
            </a:r>
          </a:p>
          <a:p>
            <a:r>
              <a:rPr dirty="0"/>
              <a:t>Schindler of the Congo – Funded a life-saving kidney transplant.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Crowdfunding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Helped shift the funding landscape.</a:t>
            </a:r>
          </a:p>
          <a:p>
            <a:pPr marL="0" indent="0">
              <a:buNone/>
            </a:pPr>
            <a:r>
              <a:rPr dirty="0"/>
              <a:t>• Early struggles with awareness – “Crowdfunding” wasn’t a known term.</a:t>
            </a:r>
          </a:p>
          <a:p>
            <a:pPr marL="0" indent="0">
              <a:buNone/>
            </a:pPr>
            <a:r>
              <a:rPr dirty="0"/>
              <a:t>• SEC rules in 2015 to allow equity crowdfunding (new challenge).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Indiegogo revolutionized fundraising for entrepreneurs, artists, and causes.</a:t>
            </a:r>
          </a:p>
          <a:p>
            <a:r>
              <a:t>• Enabled ordinary people to participate in funding decisions.</a:t>
            </a:r>
          </a:p>
          <a:p>
            <a:r>
              <a:t>• Danae’s journey: Persistence, resilience, and a vision to fix finance.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Indiegogo paved the way for modern crowdfunding.</a:t>
            </a:r>
          </a:p>
          <a:p>
            <a:r>
              <a:t>• A success story built on passion, innovation, and perseverance.</a:t>
            </a:r>
          </a:p>
          <a:p>
            <a:r>
              <a:t>• Key takeaway: Big ideas can thrive with the right platform and persistence.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C24D-1208-4D6F-AF5F-79B1C945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Olivier </a:t>
            </a:r>
            <a:r>
              <a:rPr lang="en-US" b="1" dirty="0" err="1"/>
              <a:t>Nizeyimana</a:t>
            </a:r>
            <a:r>
              <a:rPr lang="en-US" b="1" dirty="0"/>
              <a:t> &amp; Volcanoes Transport Company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9C40-93B0-46A0-976F-D1C80ACFB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Story of Entrepreneurship &amp; Success</a:t>
            </a:r>
          </a:p>
          <a:p>
            <a:r>
              <a:rPr lang="en-US" b="1" dirty="0"/>
              <a:t>Introduction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Founder of Volcanoes Transport Company</a:t>
            </a:r>
          </a:p>
          <a:p>
            <a:pPr lvl="0"/>
            <a:r>
              <a:rPr lang="en-US" dirty="0"/>
              <a:t>Established: 1999</a:t>
            </a:r>
          </a:p>
          <a:p>
            <a:pPr lvl="0"/>
            <a:r>
              <a:rPr lang="en-US" dirty="0"/>
              <a:t>Country: Rwanda</a:t>
            </a:r>
          </a:p>
          <a:p>
            <a:pPr lvl="0"/>
            <a:r>
              <a:rPr lang="en-US" dirty="0"/>
              <a:t>Business: Volcanoes Transport Company</a:t>
            </a:r>
          </a:p>
          <a:p>
            <a:r>
              <a:rPr lang="en-US" b="1" dirty="0"/>
              <a:t>Inspiration for the Business</a:t>
            </a:r>
            <a:endParaRPr lang="en-US" dirty="0"/>
          </a:p>
          <a:p>
            <a:pPr lvl="0"/>
            <a:r>
              <a:rPr lang="en-US" dirty="0"/>
              <a:t>Faced long travel times as a student at Rwanda's National University</a:t>
            </a:r>
          </a:p>
          <a:p>
            <a:pPr lvl="0"/>
            <a:r>
              <a:rPr lang="en-US" dirty="0"/>
              <a:t>Saw an opportunity to provide punctual and reliable transport</a:t>
            </a:r>
          </a:p>
          <a:p>
            <a:pPr lvl="0"/>
            <a:r>
              <a:rPr lang="en-US" dirty="0"/>
              <a:t>Launched a bus company with punctuality as a core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385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6761-F5AB-4547-8EC0-FFD67D4C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9A107-6D2D-419F-A061-5C74553C7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Overcoming Initial Challenges</a:t>
            </a:r>
            <a:endParaRPr lang="en-US" dirty="0"/>
          </a:p>
          <a:p>
            <a:pPr lvl="0"/>
            <a:r>
              <a:rPr lang="en-US" dirty="0"/>
              <a:t>Couldn’t get a bank loan due to his young age</a:t>
            </a:r>
          </a:p>
          <a:p>
            <a:pPr lvl="0"/>
            <a:r>
              <a:rPr lang="en-US" dirty="0"/>
              <a:t>Convinced </a:t>
            </a:r>
            <a:r>
              <a:rPr lang="en-US" dirty="0" err="1"/>
              <a:t>Akagera</a:t>
            </a:r>
            <a:r>
              <a:rPr lang="en-US" dirty="0"/>
              <a:t> Motors to provide buses on credit</a:t>
            </a:r>
          </a:p>
          <a:p>
            <a:pPr lvl="0"/>
            <a:r>
              <a:rPr lang="en-US" dirty="0"/>
              <a:t>Family helped raise a down payment of 17 million Rwandan francs ($28,000)</a:t>
            </a:r>
          </a:p>
          <a:p>
            <a:r>
              <a:rPr lang="en-US" b="1" dirty="0"/>
              <a:t>Business Growth</a:t>
            </a:r>
            <a:endParaRPr lang="en-US" dirty="0"/>
          </a:p>
          <a:p>
            <a:pPr lvl="0"/>
            <a:r>
              <a:rPr lang="en-US" dirty="0"/>
              <a:t>Started with 2 buses, now owns more than 60</a:t>
            </a:r>
          </a:p>
          <a:p>
            <a:pPr lvl="0"/>
            <a:r>
              <a:rPr lang="en-US" dirty="0"/>
              <a:t>Expanded routes across southern Rwanda and Kigali</a:t>
            </a:r>
          </a:p>
          <a:p>
            <a:pPr lvl="0"/>
            <a:r>
              <a:rPr lang="en-US" dirty="0"/>
              <a:t>Employs over 250 people, from drivers to ticket sellers</a:t>
            </a:r>
          </a:p>
          <a:p>
            <a:pPr lvl="0"/>
            <a:r>
              <a:rPr lang="en-US" dirty="0"/>
              <a:t>Business now valued at over $3 million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44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4B5F-02AF-4DB0-BA69-11528AD3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F14F9-FAF6-4DBD-8E84-D11790694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Key Business Strategies</a:t>
            </a:r>
            <a:endParaRPr lang="en-US" dirty="0"/>
          </a:p>
          <a:p>
            <a:pPr lvl="0"/>
            <a:r>
              <a:rPr lang="en-US" dirty="0"/>
              <a:t>Close involvement in daily operations</a:t>
            </a:r>
          </a:p>
          <a:p>
            <a:pPr lvl="0"/>
            <a:r>
              <a:rPr lang="en-US" dirty="0"/>
              <a:t>Maintains strong relationships with employees</a:t>
            </a:r>
          </a:p>
          <a:p>
            <a:pPr lvl="0"/>
            <a:r>
              <a:rPr lang="en-US" dirty="0"/>
              <a:t>Introduced strict time schedules, overcoming "African time"</a:t>
            </a:r>
          </a:p>
          <a:p>
            <a:pPr lvl="0"/>
            <a:r>
              <a:rPr lang="en-US" dirty="0"/>
              <a:t>Increased bus departures from every 3 hours to every 30 minutes</a:t>
            </a:r>
          </a:p>
          <a:p>
            <a:r>
              <a:rPr lang="en-US" b="1" dirty="0"/>
              <a:t>Impact &amp; Challenges</a:t>
            </a:r>
            <a:endParaRPr lang="en-US" dirty="0"/>
          </a:p>
          <a:p>
            <a:pPr lvl="0"/>
            <a:r>
              <a:rPr lang="en-US" dirty="0"/>
              <a:t>Created jobs and boosted transportation reliability</a:t>
            </a:r>
          </a:p>
          <a:p>
            <a:pPr lvl="0"/>
            <a:r>
              <a:rPr lang="en-US" dirty="0"/>
              <a:t>Faced initial struggles with low passenger numbers</a:t>
            </a:r>
          </a:p>
          <a:p>
            <a:pPr lvl="0"/>
            <a:r>
              <a:rPr lang="en-US" dirty="0"/>
              <a:t>Improved customer trust and efficiency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966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2CBF-E3D1-40A8-8739-CCDBBF13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4F0EA-9B73-416D-B51E-0C9C4CD88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Business Advice</a:t>
            </a:r>
            <a:endParaRPr lang="en-US" dirty="0"/>
          </a:p>
          <a:p>
            <a:pPr lvl="0"/>
            <a:r>
              <a:rPr lang="en-US" dirty="0"/>
              <a:t>Take risks and make the first step</a:t>
            </a:r>
          </a:p>
          <a:p>
            <a:pPr lvl="0"/>
            <a:r>
              <a:rPr lang="en-US" dirty="0"/>
              <a:t>Have a solid business plan based on market research</a:t>
            </a:r>
          </a:p>
          <a:p>
            <a:pPr lvl="0"/>
            <a:r>
              <a:rPr lang="en-US" dirty="0"/>
              <a:t>Focus on managing capital effectively</a:t>
            </a:r>
          </a:p>
          <a:p>
            <a:pPr lvl="0"/>
            <a:r>
              <a:rPr lang="en-US" dirty="0"/>
              <a:t>Work towards long-term sustainability</a:t>
            </a:r>
          </a:p>
          <a:p>
            <a:r>
              <a:rPr lang="en-US" b="1" dirty="0"/>
              <a:t>Future Plans</a:t>
            </a:r>
            <a:endParaRPr lang="en-US" dirty="0"/>
          </a:p>
          <a:p>
            <a:pPr lvl="0"/>
            <a:r>
              <a:rPr lang="en-US" dirty="0"/>
              <a:t>Expansion into international markets</a:t>
            </a:r>
          </a:p>
          <a:p>
            <a:pPr lvl="0"/>
            <a:r>
              <a:rPr lang="en-US" dirty="0"/>
              <a:t>Recently launched Kigali-Bujumbura route (Burundi)</a:t>
            </a:r>
          </a:p>
          <a:p>
            <a:pPr lvl="0"/>
            <a:r>
              <a:rPr lang="en-US" dirty="0"/>
              <a:t>Plans to expand to Uganda and Kenya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905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D7476-1CC6-4E3B-A8DC-F1AD32D8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6035F-782A-48E5-B4A5-08DB24336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The bus boss who fought against 'African time' - BBC News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95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EFBD-6431-4ED1-9778-C43296FF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4000" dirty="0"/>
              <a:t>AC Group: Transforming Public Transport in Kigali</a:t>
            </a:r>
            <a:br>
              <a:rPr lang="en-US" sz="4000" dirty="0"/>
            </a:br>
            <a:r>
              <a:rPr lang="en-US" sz="4000" dirty="0" err="1"/>
              <a:t>Tap&amp;Go</a:t>
            </a:r>
            <a:r>
              <a:rPr lang="en-US" sz="4000" dirty="0"/>
              <a:t> and Smart Mobility Solutions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7B40-B90D-416E-B5F3-51226F006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205" y="1594022"/>
            <a:ext cx="11069595" cy="4582941"/>
          </a:xfrm>
        </p:spPr>
        <p:txBody>
          <a:bodyPr>
            <a:normAutofit/>
          </a:bodyPr>
          <a:lstStyle/>
          <a:p>
            <a:r>
              <a:rPr lang="en-US" dirty="0"/>
              <a:t>Patrick </a:t>
            </a:r>
            <a:r>
              <a:rPr lang="en-US" dirty="0" err="1"/>
              <a:t>Buchana</a:t>
            </a:r>
            <a:r>
              <a:rPr lang="en-US" dirty="0"/>
              <a:t> Nsenga (Co-founder, AC Group)</a:t>
            </a:r>
          </a:p>
          <a:p>
            <a:r>
              <a:rPr lang="en-US" b="1" dirty="0"/>
              <a:t>Introduction</a:t>
            </a:r>
            <a:endParaRPr lang="en-US" dirty="0"/>
          </a:p>
          <a:p>
            <a:r>
              <a:rPr lang="en-US" dirty="0"/>
              <a:t>Founded in 2013, started operations in 2014</a:t>
            </a:r>
          </a:p>
          <a:p>
            <a:r>
              <a:rPr lang="en-US" dirty="0"/>
              <a:t>Goal: Improve Kigali’s public transport efficiency and accessibility</a:t>
            </a:r>
          </a:p>
          <a:p>
            <a:r>
              <a:rPr lang="en-US" dirty="0"/>
              <a:t>Solution: </a:t>
            </a:r>
            <a:r>
              <a:rPr lang="en-US" dirty="0" err="1"/>
              <a:t>Tap&amp;Go</a:t>
            </a:r>
            <a:r>
              <a:rPr lang="en-US" dirty="0"/>
              <a:t> card for cashless bus payments</a:t>
            </a:r>
          </a:p>
          <a:p>
            <a:r>
              <a:rPr lang="en-US" b="1" dirty="0"/>
              <a:t>Identifying the Problem</a:t>
            </a:r>
            <a:endParaRPr lang="en-US" dirty="0"/>
          </a:p>
          <a:p>
            <a:r>
              <a:rPr lang="en-US" dirty="0"/>
              <a:t>Unpredictable travel times for travelers</a:t>
            </a:r>
          </a:p>
          <a:p>
            <a:r>
              <a:rPr lang="en-US" dirty="0"/>
              <a:t>Revenue loss due to cash handling issues (30-40% leakage)</a:t>
            </a:r>
          </a:p>
          <a:p>
            <a:r>
              <a:rPr lang="en-US" dirty="0"/>
              <a:t>Price fluctuations, especially during rain or peak hours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502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1F4A1-3C83-4B04-ACFC-AD75E5D6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F620-2135-4234-B65A-CF6BD57BA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Tap&amp;Go</a:t>
            </a:r>
            <a:r>
              <a:rPr lang="en-US" b="1" dirty="0"/>
              <a:t> Solution</a:t>
            </a:r>
            <a:endParaRPr lang="en-US" dirty="0"/>
          </a:p>
          <a:p>
            <a:r>
              <a:rPr lang="en-US" dirty="0"/>
              <a:t>Introduced cashless payments in Kigali’s buses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Ensured price stability</a:t>
            </a:r>
          </a:p>
          <a:p>
            <a:pPr lvl="1"/>
            <a:r>
              <a:rPr lang="en-US" dirty="0"/>
              <a:t>Recovered lost revenue for bus companies</a:t>
            </a:r>
          </a:p>
          <a:p>
            <a:pPr lvl="1"/>
            <a:r>
              <a:rPr lang="en-US" dirty="0"/>
              <a:t>Encouraged reinvestment in more buses</a:t>
            </a:r>
          </a:p>
          <a:p>
            <a:r>
              <a:rPr lang="en-US" b="1" dirty="0"/>
              <a:t>Innovations Beyond </a:t>
            </a:r>
            <a:r>
              <a:rPr lang="en-US" b="1" dirty="0" err="1"/>
              <a:t>Tap&amp;Go</a:t>
            </a:r>
            <a:endParaRPr lang="en-US" dirty="0"/>
          </a:p>
          <a:p>
            <a:r>
              <a:rPr lang="en-US" dirty="0"/>
              <a:t>Fleet Management System: Monitors bus locations and optimizes scheduling</a:t>
            </a:r>
          </a:p>
          <a:p>
            <a:r>
              <a:rPr lang="en-US" dirty="0"/>
              <a:t>4G </a:t>
            </a:r>
            <a:r>
              <a:rPr lang="en-US" dirty="0" err="1"/>
              <a:t>WiFi</a:t>
            </a:r>
            <a:r>
              <a:rPr lang="en-US" dirty="0"/>
              <a:t> on buses: Enhancing commuter experience (300,000 users daily)</a:t>
            </a:r>
          </a:p>
          <a:p>
            <a:r>
              <a:rPr lang="en-US" dirty="0"/>
              <a:t>Data-driven decision-making: Supporting Kigali’s smart transport initiatives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809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FCC0-234F-405A-B64C-C7108ED39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049"/>
            <a:ext cx="10515600" cy="5447914"/>
          </a:xfrm>
        </p:spPr>
        <p:txBody>
          <a:bodyPr>
            <a:normAutofit/>
          </a:bodyPr>
          <a:lstStyle/>
          <a:p>
            <a:r>
              <a:rPr lang="en-US" b="1" dirty="0"/>
              <a:t>Impact of AC Group</a:t>
            </a:r>
            <a:endParaRPr lang="en-US" dirty="0"/>
          </a:p>
          <a:p>
            <a:r>
              <a:rPr lang="en-US" dirty="0"/>
              <a:t>Kigali’s public transport is now 100% cashless</a:t>
            </a:r>
          </a:p>
          <a:p>
            <a:r>
              <a:rPr lang="en-US" dirty="0"/>
              <a:t>Improved financial credibility for bus companies</a:t>
            </a:r>
          </a:p>
          <a:p>
            <a:r>
              <a:rPr lang="en-US" dirty="0"/>
              <a:t>Increased efficiency and reduced delays in public transport</a:t>
            </a:r>
          </a:p>
          <a:p>
            <a:r>
              <a:rPr lang="en-US" dirty="0"/>
              <a:t>Contribution to Rwanda’s Public Transport Generation 2 initiative</a:t>
            </a:r>
          </a:p>
          <a:p>
            <a:r>
              <a:rPr lang="en-US" b="1" dirty="0"/>
              <a:t>Challenges &amp; Overcoming Them</a:t>
            </a:r>
            <a:endParaRPr lang="en-US" dirty="0"/>
          </a:p>
          <a:p>
            <a:r>
              <a:rPr lang="en-US" b="1" dirty="0"/>
              <a:t>Funding:</a:t>
            </a:r>
            <a:r>
              <a:rPr lang="en-US" dirty="0"/>
              <a:t> Started with small investments and raised capital gradually</a:t>
            </a:r>
          </a:p>
          <a:p>
            <a:r>
              <a:rPr lang="en-US" b="1" dirty="0"/>
              <a:t>Talent Recruitment:</a:t>
            </a:r>
            <a:r>
              <a:rPr lang="en-US" dirty="0"/>
              <a:t> Hired people aligned with company values and trained internally</a:t>
            </a:r>
          </a:p>
          <a:p>
            <a:r>
              <a:rPr lang="en-US" b="1" dirty="0"/>
              <a:t>Business Learning Curve:</a:t>
            </a:r>
            <a:r>
              <a:rPr lang="en-US" dirty="0"/>
              <a:t> Adapted to management and business development beyond tech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74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F796860E-5E22-C284-835A-26CA2930D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04850"/>
            <a:ext cx="8229600" cy="6667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Cont’d..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F5061161-F3CC-2088-0A00-743FDF08C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305800" cy="47244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Some questions that students were supposed to ask entrepreneurs:</a:t>
            </a:r>
          </a:p>
          <a:p>
            <a:pPr marL="0" indent="0" algn="just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1- why did you start a business?</a:t>
            </a:r>
          </a:p>
          <a:p>
            <a:pPr marL="0" indent="0" algn="just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2- why didn’t you take up a job instead?</a:t>
            </a:r>
          </a:p>
          <a:p>
            <a:pPr marL="0" indent="0" algn="just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3- who are the people that encouraged you and help you shape your idea?</a:t>
            </a:r>
          </a:p>
          <a:p>
            <a:pPr marL="0" indent="0" algn="just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4- what is special about your products or services?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1481</Words>
  <Application>Microsoft Office PowerPoint</Application>
  <PresentationFormat>Widescreen</PresentationFormat>
  <Paragraphs>171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Lesson 3: Listen to Some Success Stories </vt:lpstr>
      <vt:lpstr>Global Legends and local Heroes</vt:lpstr>
      <vt:lpstr> Travis Kalanick: The Man Behind Uber’s Global Ride-Sharing Revolution </vt:lpstr>
      <vt:lpstr>PowerPoint Presentation</vt:lpstr>
      <vt:lpstr>PowerPoint Presentation</vt:lpstr>
      <vt:lpstr>Mark Zuckerberg: The Success Story of Facebook </vt:lpstr>
      <vt:lpstr>PowerPoint Presentation</vt:lpstr>
      <vt:lpstr>PowerPoint Presentation</vt:lpstr>
      <vt:lpstr>How Danae Ringelmann Came Up With Indiegogo</vt:lpstr>
      <vt:lpstr>The Idea &amp; Early Challenges</vt:lpstr>
      <vt:lpstr>Growth &amp; Milestones</vt:lpstr>
      <vt:lpstr>Crowdfunding Evolution</vt:lpstr>
      <vt:lpstr>Impact &amp; Legacy</vt:lpstr>
      <vt:lpstr>Conclusion</vt:lpstr>
      <vt:lpstr>Olivier Nizeyimana &amp; Volcanoes Transport Company</vt:lpstr>
      <vt:lpstr>PowerPoint Presentation</vt:lpstr>
      <vt:lpstr>PowerPoint Presentation</vt:lpstr>
      <vt:lpstr>PowerPoint Presentation</vt:lpstr>
      <vt:lpstr>PowerPoint Presentation</vt:lpstr>
      <vt:lpstr>  AC Group: Transforming Public Transport in Kigali Tap&amp;Go and Smart Mobility Solutions  </vt:lpstr>
      <vt:lpstr>PowerPoint Presentation</vt:lpstr>
      <vt:lpstr>PowerPoint Presentation</vt:lpstr>
      <vt:lpstr>Cont’d..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3: Listen to Some Success Stories </dc:title>
  <dc:creator>m&amp;n technology</dc:creator>
  <cp:lastModifiedBy>PC</cp:lastModifiedBy>
  <cp:revision>3</cp:revision>
  <dcterms:created xsi:type="dcterms:W3CDTF">2025-02-27T07:58:44Z</dcterms:created>
  <dcterms:modified xsi:type="dcterms:W3CDTF">2026-05-26T05:02:28Z</dcterms:modified>
</cp:coreProperties>
</file>