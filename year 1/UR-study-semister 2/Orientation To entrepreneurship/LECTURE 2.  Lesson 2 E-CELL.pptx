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488" r:id="rId2"/>
    <p:sldId id="496" r:id="rId3"/>
    <p:sldId id="498" r:id="rId4"/>
    <p:sldId id="516" r:id="rId5"/>
    <p:sldId id="517" r:id="rId6"/>
    <p:sldId id="518" r:id="rId7"/>
    <p:sldId id="519" r:id="rId8"/>
    <p:sldId id="520" r:id="rId9"/>
    <p:sldId id="521" r:id="rId10"/>
    <p:sldId id="522" r:id="rId11"/>
    <p:sldId id="608" r:id="rId12"/>
    <p:sldId id="610" r:id="rId13"/>
    <p:sldId id="613" r:id="rId14"/>
    <p:sldId id="515" r:id="rId15"/>
    <p:sldId id="257" r:id="rId16"/>
    <p:sldId id="258" r:id="rId17"/>
    <p:sldId id="259" r:id="rId18"/>
    <p:sldId id="260" r:id="rId19"/>
    <p:sldId id="261" r:id="rId20"/>
    <p:sldId id="530" r:id="rId21"/>
    <p:sldId id="296" r:id="rId22"/>
    <p:sldId id="288" r:id="rId23"/>
    <p:sldId id="289" r:id="rId24"/>
    <p:sldId id="615" r:id="rId25"/>
    <p:sldId id="616" r:id="rId26"/>
    <p:sldId id="617" r:id="rId27"/>
    <p:sldId id="290" r:id="rId28"/>
    <p:sldId id="291" r:id="rId29"/>
    <p:sldId id="292" r:id="rId30"/>
    <p:sldId id="293" r:id="rId31"/>
    <p:sldId id="295" r:id="rId32"/>
    <p:sldId id="256" r:id="rId33"/>
    <p:sldId id="531" r:id="rId34"/>
    <p:sldId id="532" r:id="rId35"/>
    <p:sldId id="533" r:id="rId36"/>
    <p:sldId id="534" r:id="rId37"/>
    <p:sldId id="535" r:id="rId38"/>
    <p:sldId id="262" r:id="rId39"/>
    <p:sldId id="263" r:id="rId40"/>
    <p:sldId id="264" r:id="rId41"/>
    <p:sldId id="265" r:id="rId42"/>
    <p:sldId id="266" r:id="rId43"/>
    <p:sldId id="267" r:id="rId44"/>
    <p:sldId id="268" r:id="rId45"/>
    <p:sldId id="299" r:id="rId46"/>
    <p:sldId id="300" r:id="rId47"/>
  </p:sldIdLst>
  <p:sldSz cx="12192000" cy="6858000"/>
  <p:notesSz cx="6858000" cy="9144000"/>
  <p:defaultTextStyle>
    <a:defPPr>
      <a:defRPr lang="en-R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98AF6-0455-4A9B-9521-3FED0CD508C8}" v="5" dt="2024-03-26T14:05:54.0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60" autoAdjust="0"/>
    <p:restoredTop sz="94660"/>
  </p:normalViewPr>
  <p:slideViewPr>
    <p:cSldViewPr snapToGrid="0">
      <p:cViewPr varScale="1">
        <p:scale>
          <a:sx n="71" d="100"/>
          <a:sy n="71" d="100"/>
        </p:scale>
        <p:origin x="45" y="9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llen Sumwiza" userId="92217104495dd53b" providerId="LiveId" clId="{1A441DA3-51C0-4D25-8421-B8DC5B1B5AC9}"/>
    <pc:docChg chg="custSel addSld delSld modSld">
      <pc:chgData name="Kellen Sumwiza" userId="92217104495dd53b" providerId="LiveId" clId="{1A441DA3-51C0-4D25-8421-B8DC5B1B5AC9}" dt="2024-03-20T08:22:14.536" v="567" actId="313"/>
      <pc:docMkLst>
        <pc:docMk/>
      </pc:docMkLst>
      <pc:sldChg chg="modSp mod">
        <pc:chgData name="Kellen Sumwiza" userId="92217104495dd53b" providerId="LiveId" clId="{1A441DA3-51C0-4D25-8421-B8DC5B1B5AC9}" dt="2024-03-20T03:42:41.734" v="338" actId="20577"/>
        <pc:sldMkLst>
          <pc:docMk/>
          <pc:sldMk cId="3879384329" sldId="288"/>
        </pc:sldMkLst>
        <pc:spChg chg="mod">
          <ac:chgData name="Kellen Sumwiza" userId="92217104495dd53b" providerId="LiveId" clId="{1A441DA3-51C0-4D25-8421-B8DC5B1B5AC9}" dt="2024-03-20T03:42:41.734" v="338" actId="20577"/>
          <ac:spMkLst>
            <pc:docMk/>
            <pc:sldMk cId="3879384329" sldId="288"/>
            <ac:spMk id="3" creationId="{00000000-0000-0000-0000-000000000000}"/>
          </ac:spMkLst>
        </pc:spChg>
      </pc:sldChg>
      <pc:sldChg chg="modSp mod">
        <pc:chgData name="Kellen Sumwiza" userId="92217104495dd53b" providerId="LiveId" clId="{1A441DA3-51C0-4D25-8421-B8DC5B1B5AC9}" dt="2024-03-20T05:33:20.973" v="372" actId="113"/>
        <pc:sldMkLst>
          <pc:docMk/>
          <pc:sldMk cId="1621621841" sldId="289"/>
        </pc:sldMkLst>
        <pc:spChg chg="mod">
          <ac:chgData name="Kellen Sumwiza" userId="92217104495dd53b" providerId="LiveId" clId="{1A441DA3-51C0-4D25-8421-B8DC5B1B5AC9}" dt="2024-03-20T05:33:20.973" v="372" actId="113"/>
          <ac:spMkLst>
            <pc:docMk/>
            <pc:sldMk cId="1621621841" sldId="289"/>
            <ac:spMk id="3" creationId="{00000000-0000-0000-0000-000000000000}"/>
          </ac:spMkLst>
        </pc:spChg>
      </pc:sldChg>
      <pc:sldChg chg="add">
        <pc:chgData name="Kellen Sumwiza" userId="92217104495dd53b" providerId="LiveId" clId="{1A441DA3-51C0-4D25-8421-B8DC5B1B5AC9}" dt="2024-03-20T04:04:20.672" v="345"/>
        <pc:sldMkLst>
          <pc:docMk/>
          <pc:sldMk cId="1857421648" sldId="290"/>
        </pc:sldMkLst>
      </pc:sldChg>
      <pc:sldChg chg="add">
        <pc:chgData name="Kellen Sumwiza" userId="92217104495dd53b" providerId="LiveId" clId="{1A441DA3-51C0-4D25-8421-B8DC5B1B5AC9}" dt="2024-03-20T04:04:20.672" v="345"/>
        <pc:sldMkLst>
          <pc:docMk/>
          <pc:sldMk cId="3968794648" sldId="291"/>
        </pc:sldMkLst>
      </pc:sldChg>
      <pc:sldChg chg="add">
        <pc:chgData name="Kellen Sumwiza" userId="92217104495dd53b" providerId="LiveId" clId="{1A441DA3-51C0-4D25-8421-B8DC5B1B5AC9}" dt="2024-03-20T04:04:20.672" v="345"/>
        <pc:sldMkLst>
          <pc:docMk/>
          <pc:sldMk cId="3967469902" sldId="292"/>
        </pc:sldMkLst>
      </pc:sldChg>
      <pc:sldChg chg="add">
        <pc:chgData name="Kellen Sumwiza" userId="92217104495dd53b" providerId="LiveId" clId="{1A441DA3-51C0-4D25-8421-B8DC5B1B5AC9}" dt="2024-03-20T04:04:20.672" v="345"/>
        <pc:sldMkLst>
          <pc:docMk/>
          <pc:sldMk cId="2506193594" sldId="293"/>
        </pc:sldMkLst>
      </pc:sldChg>
      <pc:sldChg chg="add">
        <pc:chgData name="Kellen Sumwiza" userId="92217104495dd53b" providerId="LiveId" clId="{1A441DA3-51C0-4D25-8421-B8DC5B1B5AC9}" dt="2024-03-20T04:04:20.672" v="345"/>
        <pc:sldMkLst>
          <pc:docMk/>
          <pc:sldMk cId="3054528870" sldId="295"/>
        </pc:sldMkLst>
      </pc:sldChg>
      <pc:sldChg chg="modSp mod">
        <pc:chgData name="Kellen Sumwiza" userId="92217104495dd53b" providerId="LiveId" clId="{1A441DA3-51C0-4D25-8421-B8DC5B1B5AC9}" dt="2024-03-20T08:22:14.536" v="567" actId="313"/>
        <pc:sldMkLst>
          <pc:docMk/>
          <pc:sldMk cId="2129882983" sldId="296"/>
        </pc:sldMkLst>
        <pc:spChg chg="mod">
          <ac:chgData name="Kellen Sumwiza" userId="92217104495dd53b" providerId="LiveId" clId="{1A441DA3-51C0-4D25-8421-B8DC5B1B5AC9}" dt="2024-03-20T08:22:14.536" v="567" actId="313"/>
          <ac:spMkLst>
            <pc:docMk/>
            <pc:sldMk cId="2129882983" sldId="296"/>
            <ac:spMk id="3" creationId="{00000000-0000-0000-0000-000000000000}"/>
          </ac:spMkLst>
        </pc:spChg>
      </pc:sldChg>
      <pc:sldChg chg="add">
        <pc:chgData name="Kellen Sumwiza" userId="92217104495dd53b" providerId="LiveId" clId="{1A441DA3-51C0-4D25-8421-B8DC5B1B5AC9}" dt="2024-03-20T04:04:20.672" v="345"/>
        <pc:sldMkLst>
          <pc:docMk/>
          <pc:sldMk cId="4238631568" sldId="297"/>
        </pc:sldMkLst>
      </pc:sldChg>
      <pc:sldChg chg="add">
        <pc:chgData name="Kellen Sumwiza" userId="92217104495dd53b" providerId="LiveId" clId="{1A441DA3-51C0-4D25-8421-B8DC5B1B5AC9}" dt="2024-03-20T04:04:20.672" v="345"/>
        <pc:sldMkLst>
          <pc:docMk/>
          <pc:sldMk cId="467759724" sldId="298"/>
        </pc:sldMkLst>
      </pc:sldChg>
      <pc:sldChg chg="modSp add mod">
        <pc:chgData name="Kellen Sumwiza" userId="92217104495dd53b" providerId="LiveId" clId="{1A441DA3-51C0-4D25-8421-B8DC5B1B5AC9}" dt="2024-03-20T04:04:20.765" v="346" actId="27636"/>
        <pc:sldMkLst>
          <pc:docMk/>
          <pc:sldMk cId="128777362" sldId="299"/>
        </pc:sldMkLst>
        <pc:spChg chg="mod">
          <ac:chgData name="Kellen Sumwiza" userId="92217104495dd53b" providerId="LiveId" clId="{1A441DA3-51C0-4D25-8421-B8DC5B1B5AC9}" dt="2024-03-20T04:04:20.765" v="346" actId="27636"/>
          <ac:spMkLst>
            <pc:docMk/>
            <pc:sldMk cId="128777362" sldId="299"/>
            <ac:spMk id="3" creationId="{00000000-0000-0000-0000-000000000000}"/>
          </ac:spMkLst>
        </pc:spChg>
      </pc:sldChg>
      <pc:sldChg chg="modSp add mod">
        <pc:chgData name="Kellen Sumwiza" userId="92217104495dd53b" providerId="LiveId" clId="{1A441DA3-51C0-4D25-8421-B8DC5B1B5AC9}" dt="2024-03-20T04:04:20.781" v="347" actId="27636"/>
        <pc:sldMkLst>
          <pc:docMk/>
          <pc:sldMk cId="2346078703" sldId="300"/>
        </pc:sldMkLst>
        <pc:spChg chg="mod">
          <ac:chgData name="Kellen Sumwiza" userId="92217104495dd53b" providerId="LiveId" clId="{1A441DA3-51C0-4D25-8421-B8DC5B1B5AC9}" dt="2024-03-20T04:04:20.781" v="347" actId="27636"/>
          <ac:spMkLst>
            <pc:docMk/>
            <pc:sldMk cId="2346078703" sldId="300"/>
            <ac:spMk id="3" creationId="{00000000-0000-0000-0000-000000000000}"/>
          </ac:spMkLst>
        </pc:spChg>
      </pc:sldChg>
      <pc:sldChg chg="modSp mod">
        <pc:chgData name="Kellen Sumwiza" userId="92217104495dd53b" providerId="LiveId" clId="{1A441DA3-51C0-4D25-8421-B8DC5B1B5AC9}" dt="2024-03-19T06:53:15.354" v="1"/>
        <pc:sldMkLst>
          <pc:docMk/>
          <pc:sldMk cId="3470457971" sldId="515"/>
        </pc:sldMkLst>
        <pc:spChg chg="mod">
          <ac:chgData name="Kellen Sumwiza" userId="92217104495dd53b" providerId="LiveId" clId="{1A441DA3-51C0-4D25-8421-B8DC5B1B5AC9}" dt="2024-03-19T06:53:15.354" v="1"/>
          <ac:spMkLst>
            <pc:docMk/>
            <pc:sldMk cId="3470457971" sldId="515"/>
            <ac:spMk id="3" creationId="{1BD8B17D-536C-6DB4-584E-D2FABCA90D3F}"/>
          </ac:spMkLst>
        </pc:spChg>
      </pc:sldChg>
      <pc:sldChg chg="modSp new del mod">
        <pc:chgData name="Kellen Sumwiza" userId="92217104495dd53b" providerId="LiveId" clId="{1A441DA3-51C0-4D25-8421-B8DC5B1B5AC9}" dt="2024-03-19T13:36:41.835" v="326" actId="2696"/>
        <pc:sldMkLst>
          <pc:docMk/>
          <pc:sldMk cId="3223792032" sldId="525"/>
        </pc:sldMkLst>
        <pc:spChg chg="mod">
          <ac:chgData name="Kellen Sumwiza" userId="92217104495dd53b" providerId="LiveId" clId="{1A441DA3-51C0-4D25-8421-B8DC5B1B5AC9}" dt="2024-03-19T06:58:26.683" v="325" actId="20577"/>
          <ac:spMkLst>
            <pc:docMk/>
            <pc:sldMk cId="3223792032" sldId="525"/>
            <ac:spMk id="3" creationId="{96A1A67D-D264-713F-FB70-3F65E03DC49C}"/>
          </ac:spMkLst>
        </pc:spChg>
      </pc:sldChg>
      <pc:sldChg chg="new">
        <pc:chgData name="Kellen Sumwiza" userId="92217104495dd53b" providerId="LiveId" clId="{1A441DA3-51C0-4D25-8421-B8DC5B1B5AC9}" dt="2024-03-20T03:43:45.940" v="341" actId="680"/>
        <pc:sldMkLst>
          <pc:docMk/>
          <pc:sldMk cId="4144995056" sldId="525"/>
        </pc:sldMkLst>
      </pc:sldChg>
    </pc:docChg>
  </pc:docChgLst>
  <pc:docChgLst>
    <pc:chgData name="Kellen Sumwiza" userId="92217104495dd53b" providerId="LiveId" clId="{07898AF6-0455-4A9B-9521-3FED0CD508C8}"/>
    <pc:docChg chg="undo custSel addSld delSld modSld">
      <pc:chgData name="Kellen Sumwiza" userId="92217104495dd53b" providerId="LiveId" clId="{07898AF6-0455-4A9B-9521-3FED0CD508C8}" dt="2024-04-20T11:03:09.252" v="268" actId="20577"/>
      <pc:docMkLst>
        <pc:docMk/>
      </pc:docMkLst>
      <pc:sldChg chg="delSp mod">
        <pc:chgData name="Kellen Sumwiza" userId="92217104495dd53b" providerId="LiveId" clId="{07898AF6-0455-4A9B-9521-3FED0CD508C8}" dt="2024-03-26T10:23:24.800" v="146" actId="478"/>
        <pc:sldMkLst>
          <pc:docMk/>
          <pc:sldMk cId="0" sldId="256"/>
        </pc:sldMkLst>
        <pc:spChg chg="del">
          <ac:chgData name="Kellen Sumwiza" userId="92217104495dd53b" providerId="LiveId" clId="{07898AF6-0455-4A9B-9521-3FED0CD508C8}" dt="2024-03-26T10:23:24.800" v="146" actId="478"/>
          <ac:spMkLst>
            <pc:docMk/>
            <pc:sldMk cId="0" sldId="256"/>
            <ac:spMk id="5123" creationId="{00000000-0000-0000-0000-000000000000}"/>
          </ac:spMkLst>
        </pc:spChg>
      </pc:sldChg>
      <pc:sldChg chg="addSp delSp mod">
        <pc:chgData name="Kellen Sumwiza" userId="92217104495dd53b" providerId="LiveId" clId="{07898AF6-0455-4A9B-9521-3FED0CD508C8}" dt="2024-03-26T05:58:55.641" v="122" actId="22"/>
        <pc:sldMkLst>
          <pc:docMk/>
          <pc:sldMk cId="2950639020" sldId="261"/>
        </pc:sldMkLst>
        <pc:spChg chg="add del">
          <ac:chgData name="Kellen Sumwiza" userId="92217104495dd53b" providerId="LiveId" clId="{07898AF6-0455-4A9B-9521-3FED0CD508C8}" dt="2024-03-26T05:58:55.641" v="122" actId="22"/>
          <ac:spMkLst>
            <pc:docMk/>
            <pc:sldMk cId="2950639020" sldId="261"/>
            <ac:spMk id="5" creationId="{8AEBF15D-9055-BEFB-065B-B6587083C59E}"/>
          </ac:spMkLst>
        </pc:spChg>
      </pc:sldChg>
      <pc:sldChg chg="modSp mod">
        <pc:chgData name="Kellen Sumwiza" userId="92217104495dd53b" providerId="LiveId" clId="{07898AF6-0455-4A9B-9521-3FED0CD508C8}" dt="2024-04-20T11:02:40.782" v="260" actId="20577"/>
        <pc:sldMkLst>
          <pc:docMk/>
          <pc:sldMk cId="0" sldId="264"/>
        </pc:sldMkLst>
        <pc:spChg chg="mod">
          <ac:chgData name="Kellen Sumwiza" userId="92217104495dd53b" providerId="LiveId" clId="{07898AF6-0455-4A9B-9521-3FED0CD508C8}" dt="2024-04-20T11:02:40.782" v="260" actId="20577"/>
          <ac:spMkLst>
            <pc:docMk/>
            <pc:sldMk cId="0" sldId="264"/>
            <ac:spMk id="13315" creationId="{00000000-0000-0000-0000-000000000000}"/>
          </ac:spMkLst>
        </pc:spChg>
      </pc:sldChg>
      <pc:sldChg chg="modSp mod">
        <pc:chgData name="Kellen Sumwiza" userId="92217104495dd53b" providerId="LiveId" clId="{07898AF6-0455-4A9B-9521-3FED0CD508C8}" dt="2024-03-26T10:23:19.294" v="144" actId="27636"/>
        <pc:sldMkLst>
          <pc:docMk/>
          <pc:sldMk cId="0" sldId="265"/>
        </pc:sldMkLst>
        <pc:spChg chg="mod">
          <ac:chgData name="Kellen Sumwiza" userId="92217104495dd53b" providerId="LiveId" clId="{07898AF6-0455-4A9B-9521-3FED0CD508C8}" dt="2024-03-26T10:23:19.294" v="144" actId="27636"/>
          <ac:spMkLst>
            <pc:docMk/>
            <pc:sldMk cId="0" sldId="265"/>
            <ac:spMk id="14338" creationId="{00000000-0000-0000-0000-000000000000}"/>
          </ac:spMkLst>
        </pc:spChg>
      </pc:sldChg>
      <pc:sldChg chg="modSp mod">
        <pc:chgData name="Kellen Sumwiza" userId="92217104495dd53b" providerId="LiveId" clId="{07898AF6-0455-4A9B-9521-3FED0CD508C8}" dt="2024-04-20T11:03:09.252" v="268" actId="20577"/>
        <pc:sldMkLst>
          <pc:docMk/>
          <pc:sldMk cId="0" sldId="266"/>
        </pc:sldMkLst>
        <pc:spChg chg="mod">
          <ac:chgData name="Kellen Sumwiza" userId="92217104495dd53b" providerId="LiveId" clId="{07898AF6-0455-4A9B-9521-3FED0CD508C8}" dt="2024-04-20T11:03:09.252" v="268" actId="20577"/>
          <ac:spMkLst>
            <pc:docMk/>
            <pc:sldMk cId="0" sldId="266"/>
            <ac:spMk id="15363" creationId="{00000000-0000-0000-0000-000000000000}"/>
          </ac:spMkLst>
        </pc:spChg>
      </pc:sldChg>
      <pc:sldChg chg="modSp mod">
        <pc:chgData name="Kellen Sumwiza" userId="92217104495dd53b" providerId="LiveId" clId="{07898AF6-0455-4A9B-9521-3FED0CD508C8}" dt="2024-03-26T10:23:19.326" v="145" actId="27636"/>
        <pc:sldMkLst>
          <pc:docMk/>
          <pc:sldMk cId="0" sldId="267"/>
        </pc:sldMkLst>
        <pc:spChg chg="mod">
          <ac:chgData name="Kellen Sumwiza" userId="92217104495dd53b" providerId="LiveId" clId="{07898AF6-0455-4A9B-9521-3FED0CD508C8}" dt="2024-03-26T10:23:19.326" v="145" actId="27636"/>
          <ac:spMkLst>
            <pc:docMk/>
            <pc:sldMk cId="0" sldId="267"/>
            <ac:spMk id="16386" creationId="{00000000-0000-0000-0000-000000000000}"/>
          </ac:spMkLst>
        </pc:spChg>
      </pc:sldChg>
      <pc:sldChg chg="modSp mod">
        <pc:chgData name="Kellen Sumwiza" userId="92217104495dd53b" providerId="LiveId" clId="{07898AF6-0455-4A9B-9521-3FED0CD508C8}" dt="2024-03-26T13:55:51.291" v="236" actId="255"/>
        <pc:sldMkLst>
          <pc:docMk/>
          <pc:sldMk cId="1857421648" sldId="290"/>
        </pc:sldMkLst>
        <pc:spChg chg="mod">
          <ac:chgData name="Kellen Sumwiza" userId="92217104495dd53b" providerId="LiveId" clId="{07898AF6-0455-4A9B-9521-3FED0CD508C8}" dt="2024-03-26T13:55:51.291" v="236" actId="255"/>
          <ac:spMkLst>
            <pc:docMk/>
            <pc:sldMk cId="1857421648" sldId="290"/>
            <ac:spMk id="3" creationId="{00000000-0000-0000-0000-000000000000}"/>
          </ac:spMkLst>
        </pc:spChg>
      </pc:sldChg>
      <pc:sldChg chg="modSp mod">
        <pc:chgData name="Kellen Sumwiza" userId="92217104495dd53b" providerId="LiveId" clId="{07898AF6-0455-4A9B-9521-3FED0CD508C8}" dt="2024-03-26T13:54:43.866" v="233" actId="20577"/>
        <pc:sldMkLst>
          <pc:docMk/>
          <pc:sldMk cId="2129882983" sldId="296"/>
        </pc:sldMkLst>
        <pc:spChg chg="mod">
          <ac:chgData name="Kellen Sumwiza" userId="92217104495dd53b" providerId="LiveId" clId="{07898AF6-0455-4A9B-9521-3FED0CD508C8}" dt="2024-03-26T13:54:43.866" v="233" actId="20577"/>
          <ac:spMkLst>
            <pc:docMk/>
            <pc:sldMk cId="2129882983" sldId="296"/>
            <ac:spMk id="3" creationId="{00000000-0000-0000-0000-000000000000}"/>
          </ac:spMkLst>
        </pc:spChg>
      </pc:sldChg>
      <pc:sldChg chg="del">
        <pc:chgData name="Kellen Sumwiza" userId="92217104495dd53b" providerId="LiveId" clId="{07898AF6-0455-4A9B-9521-3FED0CD508C8}" dt="2024-03-26T10:25:55.192" v="147" actId="2696"/>
        <pc:sldMkLst>
          <pc:docMk/>
          <pc:sldMk cId="4238631568" sldId="297"/>
        </pc:sldMkLst>
      </pc:sldChg>
      <pc:sldChg chg="modSp mod">
        <pc:chgData name="Kellen Sumwiza" userId="92217104495dd53b" providerId="LiveId" clId="{07898AF6-0455-4A9B-9521-3FED0CD508C8}" dt="2024-03-20T21:46:49.227" v="2" actId="27636"/>
        <pc:sldMkLst>
          <pc:docMk/>
          <pc:sldMk cId="0" sldId="499"/>
        </pc:sldMkLst>
        <pc:spChg chg="mod">
          <ac:chgData name="Kellen Sumwiza" userId="92217104495dd53b" providerId="LiveId" clId="{07898AF6-0455-4A9B-9521-3FED0CD508C8}" dt="2024-03-20T21:46:49.227" v="2" actId="27636"/>
          <ac:spMkLst>
            <pc:docMk/>
            <pc:sldMk cId="0" sldId="499"/>
            <ac:spMk id="3" creationId="{6846E0E4-3D8A-1C0B-8288-FBF0B51FF137}"/>
          </ac:spMkLst>
        </pc:spChg>
      </pc:sldChg>
      <pc:sldChg chg="modSp mod">
        <pc:chgData name="Kellen Sumwiza" userId="92217104495dd53b" providerId="LiveId" clId="{07898AF6-0455-4A9B-9521-3FED0CD508C8}" dt="2024-03-20T21:46:49.227" v="3" actId="27636"/>
        <pc:sldMkLst>
          <pc:docMk/>
          <pc:sldMk cId="0" sldId="500"/>
        </pc:sldMkLst>
        <pc:spChg chg="mod">
          <ac:chgData name="Kellen Sumwiza" userId="92217104495dd53b" providerId="LiveId" clId="{07898AF6-0455-4A9B-9521-3FED0CD508C8}" dt="2024-03-20T21:46:49.227" v="3" actId="27636"/>
          <ac:spMkLst>
            <pc:docMk/>
            <pc:sldMk cId="0" sldId="500"/>
            <ac:spMk id="28674" creationId="{F796860E-5E22-C284-835A-26CA2930D878}"/>
          </ac:spMkLst>
        </pc:spChg>
      </pc:sldChg>
      <pc:sldChg chg="modSp mod">
        <pc:chgData name="Kellen Sumwiza" userId="92217104495dd53b" providerId="LiveId" clId="{07898AF6-0455-4A9B-9521-3FED0CD508C8}" dt="2024-03-20T21:45:41.776" v="0" actId="27636"/>
        <pc:sldMkLst>
          <pc:docMk/>
          <pc:sldMk cId="0" sldId="501"/>
        </pc:sldMkLst>
        <pc:spChg chg="mod">
          <ac:chgData name="Kellen Sumwiza" userId="92217104495dd53b" providerId="LiveId" clId="{07898AF6-0455-4A9B-9521-3FED0CD508C8}" dt="2024-03-20T21:45:41.776" v="0" actId="27636"/>
          <ac:spMkLst>
            <pc:docMk/>
            <pc:sldMk cId="0" sldId="501"/>
            <ac:spMk id="30723" creationId="{BE5B8729-452A-EE16-28F6-B633A001F0AE}"/>
          </ac:spMkLst>
        </pc:spChg>
      </pc:sldChg>
      <pc:sldChg chg="modSp mod">
        <pc:chgData name="Kellen Sumwiza" userId="92217104495dd53b" providerId="LiveId" clId="{07898AF6-0455-4A9B-9521-3FED0CD508C8}" dt="2024-03-26T05:58:45.925" v="120" actId="21"/>
        <pc:sldMkLst>
          <pc:docMk/>
          <pc:sldMk cId="3470457971" sldId="515"/>
        </pc:sldMkLst>
        <pc:spChg chg="mod">
          <ac:chgData name="Kellen Sumwiza" userId="92217104495dd53b" providerId="LiveId" clId="{07898AF6-0455-4A9B-9521-3FED0CD508C8}" dt="2024-03-26T05:58:45.925" v="120" actId="21"/>
          <ac:spMkLst>
            <pc:docMk/>
            <pc:sldMk cId="3470457971" sldId="515"/>
            <ac:spMk id="3" creationId="{1BD8B17D-536C-6DB4-584E-D2FABCA90D3F}"/>
          </ac:spMkLst>
        </pc:spChg>
      </pc:sldChg>
      <pc:sldChg chg="modSp mod">
        <pc:chgData name="Kellen Sumwiza" userId="92217104495dd53b" providerId="LiveId" clId="{07898AF6-0455-4A9B-9521-3FED0CD508C8}" dt="2024-03-26T04:39:15.682" v="118" actId="113"/>
        <pc:sldMkLst>
          <pc:docMk/>
          <pc:sldMk cId="3077088197" sldId="516"/>
        </pc:sldMkLst>
        <pc:spChg chg="mod">
          <ac:chgData name="Kellen Sumwiza" userId="92217104495dd53b" providerId="LiveId" clId="{07898AF6-0455-4A9B-9521-3FED0CD508C8}" dt="2024-03-26T04:39:15.682" v="118" actId="113"/>
          <ac:spMkLst>
            <pc:docMk/>
            <pc:sldMk cId="3077088197" sldId="516"/>
            <ac:spMk id="3" creationId="{71DB5AC4-A483-553B-9494-7DBEC75ADFCB}"/>
          </ac:spMkLst>
        </pc:spChg>
      </pc:sldChg>
      <pc:sldChg chg="modSp new mod">
        <pc:chgData name="Kellen Sumwiza" userId="92217104495dd53b" providerId="LiveId" clId="{07898AF6-0455-4A9B-9521-3FED0CD508C8}" dt="2024-03-21T05:28:24.708" v="87" actId="20577"/>
        <pc:sldMkLst>
          <pc:docMk/>
          <pc:sldMk cId="3839290433" sldId="525"/>
        </pc:sldMkLst>
        <pc:spChg chg="mod">
          <ac:chgData name="Kellen Sumwiza" userId="92217104495dd53b" providerId="LiveId" clId="{07898AF6-0455-4A9B-9521-3FED0CD508C8}" dt="2024-03-21T05:26:53.594" v="79" actId="20577"/>
          <ac:spMkLst>
            <pc:docMk/>
            <pc:sldMk cId="3839290433" sldId="525"/>
            <ac:spMk id="2" creationId="{A9C5C268-C59A-636A-BEFD-C265389D115E}"/>
          </ac:spMkLst>
        </pc:spChg>
        <pc:spChg chg="mod">
          <ac:chgData name="Kellen Sumwiza" userId="92217104495dd53b" providerId="LiveId" clId="{07898AF6-0455-4A9B-9521-3FED0CD508C8}" dt="2024-03-21T05:28:24.708" v="87" actId="20577"/>
          <ac:spMkLst>
            <pc:docMk/>
            <pc:sldMk cId="3839290433" sldId="525"/>
            <ac:spMk id="3" creationId="{87CE219F-5672-49AD-7AE8-A9A226D266D2}"/>
          </ac:spMkLst>
        </pc:spChg>
      </pc:sldChg>
      <pc:sldChg chg="del">
        <pc:chgData name="Kellen Sumwiza" userId="92217104495dd53b" providerId="LiveId" clId="{07898AF6-0455-4A9B-9521-3FED0CD508C8}" dt="2024-03-20T21:45:47.174" v="1" actId="2696"/>
        <pc:sldMkLst>
          <pc:docMk/>
          <pc:sldMk cId="4144995056" sldId="525"/>
        </pc:sldMkLst>
      </pc:sldChg>
      <pc:sldChg chg="modSp new mod">
        <pc:chgData name="Kellen Sumwiza" userId="92217104495dd53b" providerId="LiveId" clId="{07898AF6-0455-4A9B-9521-3FED0CD508C8}" dt="2024-03-21T05:22:38.435" v="56" actId="27636"/>
        <pc:sldMkLst>
          <pc:docMk/>
          <pc:sldMk cId="1627326274" sldId="526"/>
        </pc:sldMkLst>
        <pc:spChg chg="mod">
          <ac:chgData name="Kellen Sumwiza" userId="92217104495dd53b" providerId="LiveId" clId="{07898AF6-0455-4A9B-9521-3FED0CD508C8}" dt="2024-03-21T05:22:38.435" v="56" actId="27636"/>
          <ac:spMkLst>
            <pc:docMk/>
            <pc:sldMk cId="1627326274" sldId="526"/>
            <ac:spMk id="3" creationId="{0BFB371E-5928-57C3-EC8C-A50354F3C6E3}"/>
          </ac:spMkLst>
        </pc:spChg>
      </pc:sldChg>
      <pc:sldChg chg="modSp new mod">
        <pc:chgData name="Kellen Sumwiza" userId="92217104495dd53b" providerId="LiveId" clId="{07898AF6-0455-4A9B-9521-3FED0CD508C8}" dt="2024-03-21T05:25:51.498" v="66" actId="27636"/>
        <pc:sldMkLst>
          <pc:docMk/>
          <pc:sldMk cId="4212469610" sldId="527"/>
        </pc:sldMkLst>
        <pc:spChg chg="mod">
          <ac:chgData name="Kellen Sumwiza" userId="92217104495dd53b" providerId="LiveId" clId="{07898AF6-0455-4A9B-9521-3FED0CD508C8}" dt="2024-03-21T05:25:51.498" v="66" actId="27636"/>
          <ac:spMkLst>
            <pc:docMk/>
            <pc:sldMk cId="4212469610" sldId="527"/>
            <ac:spMk id="3" creationId="{40114750-E992-A6BC-38DD-5D5D3B9667A5}"/>
          </ac:spMkLst>
        </pc:spChg>
      </pc:sldChg>
      <pc:sldChg chg="modSp new mod">
        <pc:chgData name="Kellen Sumwiza" userId="92217104495dd53b" providerId="LiveId" clId="{07898AF6-0455-4A9B-9521-3FED0CD508C8}" dt="2024-03-21T05:48:24.460" v="117" actId="27636"/>
        <pc:sldMkLst>
          <pc:docMk/>
          <pc:sldMk cId="340609676" sldId="528"/>
        </pc:sldMkLst>
        <pc:spChg chg="mod">
          <ac:chgData name="Kellen Sumwiza" userId="92217104495dd53b" providerId="LiveId" clId="{07898AF6-0455-4A9B-9521-3FED0CD508C8}" dt="2024-03-21T05:46:46.257" v="100"/>
          <ac:spMkLst>
            <pc:docMk/>
            <pc:sldMk cId="340609676" sldId="528"/>
            <ac:spMk id="2" creationId="{D47C147D-CF0F-0B21-0E5C-1E89BF6F9A29}"/>
          </ac:spMkLst>
        </pc:spChg>
        <pc:spChg chg="mod">
          <ac:chgData name="Kellen Sumwiza" userId="92217104495dd53b" providerId="LiveId" clId="{07898AF6-0455-4A9B-9521-3FED0CD508C8}" dt="2024-03-21T05:48:24.460" v="117" actId="27636"/>
          <ac:spMkLst>
            <pc:docMk/>
            <pc:sldMk cId="340609676" sldId="528"/>
            <ac:spMk id="3" creationId="{E7FE9D14-C033-CE8F-E308-001727EAB475}"/>
          </ac:spMkLst>
        </pc:spChg>
      </pc:sldChg>
      <pc:sldChg chg="modSp new del mod">
        <pc:chgData name="Kellen Sumwiza" userId="92217104495dd53b" providerId="LiveId" clId="{07898AF6-0455-4A9B-9521-3FED0CD508C8}" dt="2024-03-21T05:32:55.799" v="96" actId="2696"/>
        <pc:sldMkLst>
          <pc:docMk/>
          <pc:sldMk cId="1781265928" sldId="528"/>
        </pc:sldMkLst>
        <pc:spChg chg="mod">
          <ac:chgData name="Kellen Sumwiza" userId="92217104495dd53b" providerId="LiveId" clId="{07898AF6-0455-4A9B-9521-3FED0CD508C8}" dt="2024-03-21T05:31:58.295" v="93"/>
          <ac:spMkLst>
            <pc:docMk/>
            <pc:sldMk cId="1781265928" sldId="528"/>
            <ac:spMk id="2" creationId="{E6E1C318-8B06-35AE-0FD9-AA8C5390CAA1}"/>
          </ac:spMkLst>
        </pc:spChg>
        <pc:spChg chg="mod">
          <ac:chgData name="Kellen Sumwiza" userId="92217104495dd53b" providerId="LiveId" clId="{07898AF6-0455-4A9B-9521-3FED0CD508C8}" dt="2024-03-21T05:32:10.210" v="95" actId="113"/>
          <ac:spMkLst>
            <pc:docMk/>
            <pc:sldMk cId="1781265928" sldId="528"/>
            <ac:spMk id="3" creationId="{ABE65BC4-864D-32D4-DB11-EC634E7169D3}"/>
          </ac:spMkLst>
        </pc:spChg>
      </pc:sldChg>
      <pc:sldChg chg="modSp new mod">
        <pc:chgData name="Kellen Sumwiza" userId="92217104495dd53b" providerId="LiveId" clId="{07898AF6-0455-4A9B-9521-3FED0CD508C8}" dt="2024-03-21T05:48:05.052" v="110" actId="113"/>
        <pc:sldMkLst>
          <pc:docMk/>
          <pc:sldMk cId="2911086699" sldId="529"/>
        </pc:sldMkLst>
        <pc:spChg chg="mod">
          <ac:chgData name="Kellen Sumwiza" userId="92217104495dd53b" providerId="LiveId" clId="{07898AF6-0455-4A9B-9521-3FED0CD508C8}" dt="2024-03-21T05:48:05.052" v="110" actId="113"/>
          <ac:spMkLst>
            <pc:docMk/>
            <pc:sldMk cId="2911086699" sldId="529"/>
            <ac:spMk id="3" creationId="{17CBC241-59DE-DD54-3D3D-6A1958BA4A23}"/>
          </ac:spMkLst>
        </pc:spChg>
      </pc:sldChg>
      <pc:sldChg chg="modSp new mod">
        <pc:chgData name="Kellen Sumwiza" userId="92217104495dd53b" providerId="LiveId" clId="{07898AF6-0455-4A9B-9521-3FED0CD508C8}" dt="2024-03-26T05:59:18.096" v="141" actId="20577"/>
        <pc:sldMkLst>
          <pc:docMk/>
          <pc:sldMk cId="1339298198" sldId="530"/>
        </pc:sldMkLst>
        <pc:spChg chg="mod">
          <ac:chgData name="Kellen Sumwiza" userId="92217104495dd53b" providerId="LiveId" clId="{07898AF6-0455-4A9B-9521-3FED0CD508C8}" dt="2024-03-26T05:59:18.096" v="141" actId="20577"/>
          <ac:spMkLst>
            <pc:docMk/>
            <pc:sldMk cId="1339298198" sldId="530"/>
            <ac:spMk id="2" creationId="{5F6DA6CF-5CFE-F259-2B0B-3A2DD13ED16E}"/>
          </ac:spMkLst>
        </pc:spChg>
        <pc:spChg chg="mod">
          <ac:chgData name="Kellen Sumwiza" userId="92217104495dd53b" providerId="LiveId" clId="{07898AF6-0455-4A9B-9521-3FED0CD508C8}" dt="2024-03-26T05:59:01.486" v="124"/>
          <ac:spMkLst>
            <pc:docMk/>
            <pc:sldMk cId="1339298198" sldId="530"/>
            <ac:spMk id="3" creationId="{F0ABB45A-BF77-0918-A692-84F56F36EE19}"/>
          </ac:spMkLst>
        </pc:spChg>
      </pc:sldChg>
      <pc:sldChg chg="modSp mod">
        <pc:chgData name="Kellen Sumwiza" userId="92217104495dd53b" providerId="LiveId" clId="{07898AF6-0455-4A9B-9521-3FED0CD508C8}" dt="2024-03-26T10:23:19.043" v="142" actId="27636"/>
        <pc:sldMkLst>
          <pc:docMk/>
          <pc:sldMk cId="0" sldId="531"/>
        </pc:sldMkLst>
        <pc:spChg chg="mod">
          <ac:chgData name="Kellen Sumwiza" userId="92217104495dd53b" providerId="LiveId" clId="{07898AF6-0455-4A9B-9521-3FED0CD508C8}" dt="2024-03-26T10:23:19.043" v="142" actId="27636"/>
          <ac:spMkLst>
            <pc:docMk/>
            <pc:sldMk cId="0" sldId="531"/>
            <ac:spMk id="3075" creationId="{00000000-0000-0000-0000-000000000000}"/>
          </ac:spMkLst>
        </pc:spChg>
      </pc:sldChg>
      <pc:sldChg chg="modSp mod">
        <pc:chgData name="Kellen Sumwiza" userId="92217104495dd53b" providerId="LiveId" clId="{07898AF6-0455-4A9B-9521-3FED0CD508C8}" dt="2024-03-26T10:23:19.184" v="143" actId="27636"/>
        <pc:sldMkLst>
          <pc:docMk/>
          <pc:sldMk cId="0" sldId="535"/>
        </pc:sldMkLst>
        <pc:spChg chg="mod">
          <ac:chgData name="Kellen Sumwiza" userId="92217104495dd53b" providerId="LiveId" clId="{07898AF6-0455-4A9B-9521-3FED0CD508C8}" dt="2024-03-26T10:23:19.184" v="143" actId="27636"/>
          <ac:spMkLst>
            <pc:docMk/>
            <pc:sldMk cId="0" sldId="535"/>
            <ac:spMk id="7171" creationId="{00000000-0000-0000-0000-000000000000}"/>
          </ac:spMkLst>
        </pc:spChg>
      </pc:sldChg>
      <pc:sldChg chg="modSp mod">
        <pc:chgData name="Kellen Sumwiza" userId="92217104495dd53b" providerId="LiveId" clId="{07898AF6-0455-4A9B-9521-3FED0CD508C8}" dt="2024-03-26T14:05:54.129" v="237" actId="27636"/>
        <pc:sldMkLst>
          <pc:docMk/>
          <pc:sldMk cId="676714376" sldId="540"/>
        </pc:sldMkLst>
        <pc:spChg chg="mod">
          <ac:chgData name="Kellen Sumwiza" userId="92217104495dd53b" providerId="LiveId" clId="{07898AF6-0455-4A9B-9521-3FED0CD508C8}" dt="2024-03-26T14:05:54.129" v="237" actId="27636"/>
          <ac:spMkLst>
            <pc:docMk/>
            <pc:sldMk cId="676714376" sldId="540"/>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6D40F9-97D1-4CBA-BCF4-85458765231E}" type="datetimeFigureOut">
              <a:rPr lang="en-RW" smtClean="0"/>
              <a:t>05/05/2026</a:t>
            </a:fld>
            <a:endParaRPr lang="en-R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6B6B3A-B486-4B0F-BA51-C2EE61785246}" type="slidenum">
              <a:rPr lang="en-RW" smtClean="0"/>
              <a:t>‹#›</a:t>
            </a:fld>
            <a:endParaRPr lang="en-RW"/>
          </a:p>
        </p:txBody>
      </p:sp>
    </p:spTree>
    <p:extLst>
      <p:ext uri="{BB962C8B-B14F-4D97-AF65-F5344CB8AC3E}">
        <p14:creationId xmlns:p14="http://schemas.microsoft.com/office/powerpoint/2010/main" val="402712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46F39-FB62-7A88-DBE7-42EE03CC77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RW"/>
          </a:p>
        </p:txBody>
      </p:sp>
      <p:sp>
        <p:nvSpPr>
          <p:cNvPr id="3" name="Subtitle 2">
            <a:extLst>
              <a:ext uri="{FF2B5EF4-FFF2-40B4-BE49-F238E27FC236}">
                <a16:creationId xmlns:a16="http://schemas.microsoft.com/office/drawing/2014/main" id="{18FE70FD-CA1D-ECA2-B020-DE308B02BE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RW"/>
          </a:p>
        </p:txBody>
      </p:sp>
      <p:sp>
        <p:nvSpPr>
          <p:cNvPr id="4" name="Date Placeholder 3">
            <a:extLst>
              <a:ext uri="{FF2B5EF4-FFF2-40B4-BE49-F238E27FC236}">
                <a16:creationId xmlns:a16="http://schemas.microsoft.com/office/drawing/2014/main" id="{F834243F-91F4-AFDD-4808-227B0EE141D7}"/>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5" name="Footer Placeholder 4">
            <a:extLst>
              <a:ext uri="{FF2B5EF4-FFF2-40B4-BE49-F238E27FC236}">
                <a16:creationId xmlns:a16="http://schemas.microsoft.com/office/drawing/2014/main" id="{B96D5790-DF5A-080C-0106-DA166EA53FFC}"/>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DBF3A573-8A22-5C65-5784-98B50BA945D2}"/>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1838216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964AE-1C90-406B-A4F4-BC1BFEB9E034}"/>
              </a:ext>
            </a:extLst>
          </p:cNvPr>
          <p:cNvSpPr>
            <a:spLocks noGrp="1"/>
          </p:cNvSpPr>
          <p:nvPr>
            <p:ph type="title"/>
          </p:nvPr>
        </p:nvSpPr>
        <p:spPr/>
        <p:txBody>
          <a:bodyPr/>
          <a:lstStyle/>
          <a:p>
            <a:r>
              <a:rPr lang="en-US"/>
              <a:t>Click to edit Master title style</a:t>
            </a:r>
            <a:endParaRPr lang="en-RW"/>
          </a:p>
        </p:txBody>
      </p:sp>
      <p:sp>
        <p:nvSpPr>
          <p:cNvPr id="3" name="Content Placeholder 2">
            <a:extLst>
              <a:ext uri="{FF2B5EF4-FFF2-40B4-BE49-F238E27FC236}">
                <a16:creationId xmlns:a16="http://schemas.microsoft.com/office/drawing/2014/main" id="{E3F4D18E-1A90-1360-D1AD-85F22AD868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B84BCD8B-0383-C855-6E51-64CD4469A10E}"/>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5" name="Footer Placeholder 4">
            <a:extLst>
              <a:ext uri="{FF2B5EF4-FFF2-40B4-BE49-F238E27FC236}">
                <a16:creationId xmlns:a16="http://schemas.microsoft.com/office/drawing/2014/main" id="{72F196C0-9CB0-26E9-2CDA-CDB7A16D014A}"/>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8031E59A-6FEA-5B0A-2672-7D6E0201B31C}"/>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4242822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73843-294C-337E-5289-C9D130F285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RW"/>
          </a:p>
        </p:txBody>
      </p:sp>
      <p:sp>
        <p:nvSpPr>
          <p:cNvPr id="3" name="Text Placeholder 2">
            <a:extLst>
              <a:ext uri="{FF2B5EF4-FFF2-40B4-BE49-F238E27FC236}">
                <a16:creationId xmlns:a16="http://schemas.microsoft.com/office/drawing/2014/main" id="{C5B90202-D6DC-91FE-E3D5-8CADB2C801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70B3E-F685-4458-A479-8AD89B403F03}"/>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5" name="Footer Placeholder 4">
            <a:extLst>
              <a:ext uri="{FF2B5EF4-FFF2-40B4-BE49-F238E27FC236}">
                <a16:creationId xmlns:a16="http://schemas.microsoft.com/office/drawing/2014/main" id="{52AA6375-6DAD-E566-1C04-FD195A2852B9}"/>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7CB68CE9-9306-BD79-8717-730ABB1F98A7}"/>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2167245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6D4EF-A0A5-20C5-6C3D-F60A8FFE092F}"/>
              </a:ext>
            </a:extLst>
          </p:cNvPr>
          <p:cNvSpPr>
            <a:spLocks noGrp="1"/>
          </p:cNvSpPr>
          <p:nvPr>
            <p:ph type="title"/>
          </p:nvPr>
        </p:nvSpPr>
        <p:spPr/>
        <p:txBody>
          <a:bodyPr/>
          <a:lstStyle/>
          <a:p>
            <a:r>
              <a:rPr lang="en-US"/>
              <a:t>Click to edit Master title style</a:t>
            </a:r>
            <a:endParaRPr lang="en-RW"/>
          </a:p>
        </p:txBody>
      </p:sp>
      <p:sp>
        <p:nvSpPr>
          <p:cNvPr id="3" name="Content Placeholder 2">
            <a:extLst>
              <a:ext uri="{FF2B5EF4-FFF2-40B4-BE49-F238E27FC236}">
                <a16:creationId xmlns:a16="http://schemas.microsoft.com/office/drawing/2014/main" id="{4E126936-C3AB-3C5C-2178-993FFBCC45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Content Placeholder 3">
            <a:extLst>
              <a:ext uri="{FF2B5EF4-FFF2-40B4-BE49-F238E27FC236}">
                <a16:creationId xmlns:a16="http://schemas.microsoft.com/office/drawing/2014/main" id="{CF3CEED8-BB93-04C1-1637-4F3C507FE1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5" name="Date Placeholder 4">
            <a:extLst>
              <a:ext uri="{FF2B5EF4-FFF2-40B4-BE49-F238E27FC236}">
                <a16:creationId xmlns:a16="http://schemas.microsoft.com/office/drawing/2014/main" id="{377F8993-ED42-0464-5E24-875685420C5C}"/>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6" name="Footer Placeholder 5">
            <a:extLst>
              <a:ext uri="{FF2B5EF4-FFF2-40B4-BE49-F238E27FC236}">
                <a16:creationId xmlns:a16="http://schemas.microsoft.com/office/drawing/2014/main" id="{FA4F5F2D-A6B3-4848-0303-AA9B5CB45771}"/>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E0BD0625-AAE4-A736-FBAB-31C51ABB2C5F}"/>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857067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51A04-F7DF-ED02-24C8-A7700B892B8B}"/>
              </a:ext>
            </a:extLst>
          </p:cNvPr>
          <p:cNvSpPr>
            <a:spLocks noGrp="1"/>
          </p:cNvSpPr>
          <p:nvPr>
            <p:ph type="title"/>
          </p:nvPr>
        </p:nvSpPr>
        <p:spPr>
          <a:xfrm>
            <a:off x="839788" y="365125"/>
            <a:ext cx="10515600" cy="1325563"/>
          </a:xfrm>
        </p:spPr>
        <p:txBody>
          <a:bodyPr/>
          <a:lstStyle/>
          <a:p>
            <a:r>
              <a:rPr lang="en-US"/>
              <a:t>Click to edit Master title style</a:t>
            </a:r>
            <a:endParaRPr lang="en-RW"/>
          </a:p>
        </p:txBody>
      </p:sp>
      <p:sp>
        <p:nvSpPr>
          <p:cNvPr id="3" name="Text Placeholder 2">
            <a:extLst>
              <a:ext uri="{FF2B5EF4-FFF2-40B4-BE49-F238E27FC236}">
                <a16:creationId xmlns:a16="http://schemas.microsoft.com/office/drawing/2014/main" id="{C600C1DC-D8D3-A3B0-B107-9B88171B30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8CBFAC-557D-4094-14E1-21C6E6A366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5" name="Text Placeholder 4">
            <a:extLst>
              <a:ext uri="{FF2B5EF4-FFF2-40B4-BE49-F238E27FC236}">
                <a16:creationId xmlns:a16="http://schemas.microsoft.com/office/drawing/2014/main" id="{2D35E690-3108-7C75-1D03-B1632EB1CE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0A1ACA-1C0A-B9BA-B4FE-81F06DB3E6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7" name="Date Placeholder 6">
            <a:extLst>
              <a:ext uri="{FF2B5EF4-FFF2-40B4-BE49-F238E27FC236}">
                <a16:creationId xmlns:a16="http://schemas.microsoft.com/office/drawing/2014/main" id="{685FF77B-E332-3FA4-1C96-35E528EAEE67}"/>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8" name="Footer Placeholder 7">
            <a:extLst>
              <a:ext uri="{FF2B5EF4-FFF2-40B4-BE49-F238E27FC236}">
                <a16:creationId xmlns:a16="http://schemas.microsoft.com/office/drawing/2014/main" id="{AB4D57F3-EA8C-AF4E-D20E-3E322E6B746C}"/>
              </a:ext>
            </a:extLst>
          </p:cNvPr>
          <p:cNvSpPr>
            <a:spLocks noGrp="1"/>
          </p:cNvSpPr>
          <p:nvPr>
            <p:ph type="ftr" sz="quarter" idx="11"/>
          </p:nvPr>
        </p:nvSpPr>
        <p:spPr/>
        <p:txBody>
          <a:bodyPr/>
          <a:lstStyle/>
          <a:p>
            <a:endParaRPr lang="en-RW"/>
          </a:p>
        </p:txBody>
      </p:sp>
      <p:sp>
        <p:nvSpPr>
          <p:cNvPr id="9" name="Slide Number Placeholder 8">
            <a:extLst>
              <a:ext uri="{FF2B5EF4-FFF2-40B4-BE49-F238E27FC236}">
                <a16:creationId xmlns:a16="http://schemas.microsoft.com/office/drawing/2014/main" id="{A98BD342-FB7D-D8AD-1D35-014980751151}"/>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3912252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7135D-189A-C4CA-F95C-496A81534168}"/>
              </a:ext>
            </a:extLst>
          </p:cNvPr>
          <p:cNvSpPr>
            <a:spLocks noGrp="1"/>
          </p:cNvSpPr>
          <p:nvPr>
            <p:ph type="title"/>
          </p:nvPr>
        </p:nvSpPr>
        <p:spPr/>
        <p:txBody>
          <a:bodyPr/>
          <a:lstStyle/>
          <a:p>
            <a:r>
              <a:rPr lang="en-US"/>
              <a:t>Click to edit Master title style</a:t>
            </a:r>
            <a:endParaRPr lang="en-RW"/>
          </a:p>
        </p:txBody>
      </p:sp>
      <p:sp>
        <p:nvSpPr>
          <p:cNvPr id="3" name="Date Placeholder 2">
            <a:extLst>
              <a:ext uri="{FF2B5EF4-FFF2-40B4-BE49-F238E27FC236}">
                <a16:creationId xmlns:a16="http://schemas.microsoft.com/office/drawing/2014/main" id="{2A854681-1D84-C0B1-F9E7-8F2DB65638EC}"/>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4" name="Footer Placeholder 3">
            <a:extLst>
              <a:ext uri="{FF2B5EF4-FFF2-40B4-BE49-F238E27FC236}">
                <a16:creationId xmlns:a16="http://schemas.microsoft.com/office/drawing/2014/main" id="{A2CE070C-B6FE-CCF9-3AA6-4A0938C2694F}"/>
              </a:ext>
            </a:extLst>
          </p:cNvPr>
          <p:cNvSpPr>
            <a:spLocks noGrp="1"/>
          </p:cNvSpPr>
          <p:nvPr>
            <p:ph type="ftr" sz="quarter" idx="11"/>
          </p:nvPr>
        </p:nvSpPr>
        <p:spPr/>
        <p:txBody>
          <a:bodyPr/>
          <a:lstStyle/>
          <a:p>
            <a:endParaRPr lang="en-RW"/>
          </a:p>
        </p:txBody>
      </p:sp>
      <p:sp>
        <p:nvSpPr>
          <p:cNvPr id="5" name="Slide Number Placeholder 4">
            <a:extLst>
              <a:ext uri="{FF2B5EF4-FFF2-40B4-BE49-F238E27FC236}">
                <a16:creationId xmlns:a16="http://schemas.microsoft.com/office/drawing/2014/main" id="{BD6E0F83-1B73-11DC-4937-0D9CA1B23D33}"/>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1598446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F97979-455D-E2A0-22E4-CA04F02AB0E9}"/>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3" name="Footer Placeholder 2">
            <a:extLst>
              <a:ext uri="{FF2B5EF4-FFF2-40B4-BE49-F238E27FC236}">
                <a16:creationId xmlns:a16="http://schemas.microsoft.com/office/drawing/2014/main" id="{4BDE4A53-90CC-ED2E-7689-5284926C9E00}"/>
              </a:ext>
            </a:extLst>
          </p:cNvPr>
          <p:cNvSpPr>
            <a:spLocks noGrp="1"/>
          </p:cNvSpPr>
          <p:nvPr>
            <p:ph type="ftr" sz="quarter" idx="11"/>
          </p:nvPr>
        </p:nvSpPr>
        <p:spPr/>
        <p:txBody>
          <a:bodyPr/>
          <a:lstStyle/>
          <a:p>
            <a:endParaRPr lang="en-RW"/>
          </a:p>
        </p:txBody>
      </p:sp>
      <p:sp>
        <p:nvSpPr>
          <p:cNvPr id="4" name="Slide Number Placeholder 3">
            <a:extLst>
              <a:ext uri="{FF2B5EF4-FFF2-40B4-BE49-F238E27FC236}">
                <a16:creationId xmlns:a16="http://schemas.microsoft.com/office/drawing/2014/main" id="{CF87DB9A-EA67-C0CA-2CC1-263A96B8D204}"/>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2505137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FAD36-B6B1-AF80-638C-0BF534EB9B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RW"/>
          </a:p>
        </p:txBody>
      </p:sp>
      <p:sp>
        <p:nvSpPr>
          <p:cNvPr id="3" name="Content Placeholder 2">
            <a:extLst>
              <a:ext uri="{FF2B5EF4-FFF2-40B4-BE49-F238E27FC236}">
                <a16:creationId xmlns:a16="http://schemas.microsoft.com/office/drawing/2014/main" id="{9DB2827D-03CA-A51E-8488-A2A48BB264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Text Placeholder 3">
            <a:extLst>
              <a:ext uri="{FF2B5EF4-FFF2-40B4-BE49-F238E27FC236}">
                <a16:creationId xmlns:a16="http://schemas.microsoft.com/office/drawing/2014/main" id="{DEA02E5F-2692-1466-21B9-726DC5A5F9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D657D0-709F-5C66-9DDB-886936E9729A}"/>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6" name="Footer Placeholder 5">
            <a:extLst>
              <a:ext uri="{FF2B5EF4-FFF2-40B4-BE49-F238E27FC236}">
                <a16:creationId xmlns:a16="http://schemas.microsoft.com/office/drawing/2014/main" id="{EB209BAD-4C54-05DD-5C21-44B8699C7A06}"/>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1D8FE0C7-8DA2-1539-0C5F-F6ECA1F1C855}"/>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2187476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46057-7F6E-C0F2-8E9E-B8466D3BC1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RW"/>
          </a:p>
        </p:txBody>
      </p:sp>
      <p:sp>
        <p:nvSpPr>
          <p:cNvPr id="3" name="Picture Placeholder 2">
            <a:extLst>
              <a:ext uri="{FF2B5EF4-FFF2-40B4-BE49-F238E27FC236}">
                <a16:creationId xmlns:a16="http://schemas.microsoft.com/office/drawing/2014/main" id="{D7B84FB6-5EC0-6096-E9B9-27B1DDBC40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W"/>
          </a:p>
        </p:txBody>
      </p:sp>
      <p:sp>
        <p:nvSpPr>
          <p:cNvPr id="4" name="Text Placeholder 3">
            <a:extLst>
              <a:ext uri="{FF2B5EF4-FFF2-40B4-BE49-F238E27FC236}">
                <a16:creationId xmlns:a16="http://schemas.microsoft.com/office/drawing/2014/main" id="{62A3EE66-6510-01E2-E24B-E3171A492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5D63B9-7178-E751-3518-9247351A73B0}"/>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6" name="Footer Placeholder 5">
            <a:extLst>
              <a:ext uri="{FF2B5EF4-FFF2-40B4-BE49-F238E27FC236}">
                <a16:creationId xmlns:a16="http://schemas.microsoft.com/office/drawing/2014/main" id="{74B96ECD-EF54-FD44-4D88-87BF01379920}"/>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0B628A5C-8619-4D15-AC30-C16A726BF59B}"/>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2004708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55C7-3D3E-2B2E-A2B7-177B57535FE7}"/>
              </a:ext>
            </a:extLst>
          </p:cNvPr>
          <p:cNvSpPr>
            <a:spLocks noGrp="1"/>
          </p:cNvSpPr>
          <p:nvPr>
            <p:ph type="title"/>
          </p:nvPr>
        </p:nvSpPr>
        <p:spPr/>
        <p:txBody>
          <a:bodyPr/>
          <a:lstStyle/>
          <a:p>
            <a:r>
              <a:rPr lang="en-US"/>
              <a:t>Click to edit Master title style</a:t>
            </a:r>
            <a:endParaRPr lang="en-RW"/>
          </a:p>
        </p:txBody>
      </p:sp>
      <p:sp>
        <p:nvSpPr>
          <p:cNvPr id="3" name="Vertical Text Placeholder 2">
            <a:extLst>
              <a:ext uri="{FF2B5EF4-FFF2-40B4-BE49-F238E27FC236}">
                <a16:creationId xmlns:a16="http://schemas.microsoft.com/office/drawing/2014/main" id="{C0FE9E19-CC4A-12B8-41C7-EE0E8B1F83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F1B391AC-1EE4-EC7B-7E06-469B82288D50}"/>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5" name="Footer Placeholder 4">
            <a:extLst>
              <a:ext uri="{FF2B5EF4-FFF2-40B4-BE49-F238E27FC236}">
                <a16:creationId xmlns:a16="http://schemas.microsoft.com/office/drawing/2014/main" id="{EDA8E8D6-8D95-15A9-47F2-84A1998D68EF}"/>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A02DC2BB-8C6B-F54B-E0F7-C47FCC477E82}"/>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212230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8EC161-3B4D-6788-1AF7-2F2712335D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RW"/>
          </a:p>
        </p:txBody>
      </p:sp>
      <p:sp>
        <p:nvSpPr>
          <p:cNvPr id="3" name="Vertical Text Placeholder 2">
            <a:extLst>
              <a:ext uri="{FF2B5EF4-FFF2-40B4-BE49-F238E27FC236}">
                <a16:creationId xmlns:a16="http://schemas.microsoft.com/office/drawing/2014/main" id="{F6B6C0DD-4AD9-3944-CACA-9A62DD85BD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A2FF81ED-EE44-DB2E-D7DB-77891442A003}"/>
              </a:ext>
            </a:extLst>
          </p:cNvPr>
          <p:cNvSpPr>
            <a:spLocks noGrp="1"/>
          </p:cNvSpPr>
          <p:nvPr>
            <p:ph type="dt" sz="half" idx="10"/>
          </p:nvPr>
        </p:nvSpPr>
        <p:spPr/>
        <p:txBody>
          <a:bodyPr/>
          <a:lstStyle/>
          <a:p>
            <a:fld id="{0A961DBC-5A11-453F-B278-49FB2F21E8B1}" type="datetimeFigureOut">
              <a:rPr lang="en-RW" smtClean="0"/>
              <a:t>05/05/2026</a:t>
            </a:fld>
            <a:endParaRPr lang="en-RW"/>
          </a:p>
        </p:txBody>
      </p:sp>
      <p:sp>
        <p:nvSpPr>
          <p:cNvPr id="5" name="Footer Placeholder 4">
            <a:extLst>
              <a:ext uri="{FF2B5EF4-FFF2-40B4-BE49-F238E27FC236}">
                <a16:creationId xmlns:a16="http://schemas.microsoft.com/office/drawing/2014/main" id="{27F46DDA-9FB0-C0D0-DBA1-2B89CD0FC678}"/>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49640E55-A2A8-789B-CED7-03FB85614A31}"/>
              </a:ext>
            </a:extLst>
          </p:cNvPr>
          <p:cNvSpPr>
            <a:spLocks noGrp="1"/>
          </p:cNvSpPr>
          <p:nvPr>
            <p:ph type="sldNum" sz="quarter" idx="12"/>
          </p:nvPr>
        </p:nvSpPr>
        <p:spPr/>
        <p:txBody>
          <a:bodyPr/>
          <a:lstStyle/>
          <a:p>
            <a:fld id="{F3633969-9A9F-4DDD-BEF7-85B16FF41486}" type="slidenum">
              <a:rPr lang="en-RW" smtClean="0"/>
              <a:t>‹#›</a:t>
            </a:fld>
            <a:endParaRPr lang="en-RW"/>
          </a:p>
        </p:txBody>
      </p:sp>
    </p:spTree>
    <p:extLst>
      <p:ext uri="{BB962C8B-B14F-4D97-AF65-F5344CB8AC3E}">
        <p14:creationId xmlns:p14="http://schemas.microsoft.com/office/powerpoint/2010/main" val="498520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C6F193-5EAD-6561-D66A-AC1BCE2133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RW"/>
          </a:p>
        </p:txBody>
      </p:sp>
      <p:sp>
        <p:nvSpPr>
          <p:cNvPr id="3" name="Text Placeholder 2">
            <a:extLst>
              <a:ext uri="{FF2B5EF4-FFF2-40B4-BE49-F238E27FC236}">
                <a16:creationId xmlns:a16="http://schemas.microsoft.com/office/drawing/2014/main" id="{73D232C6-B03F-577D-0AA7-0AE48707EA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6DEED6D7-EC53-1B9B-773F-FD87A747C1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961DBC-5A11-453F-B278-49FB2F21E8B1}" type="datetimeFigureOut">
              <a:rPr lang="en-RW" smtClean="0"/>
              <a:t>05/05/2026</a:t>
            </a:fld>
            <a:endParaRPr lang="en-RW"/>
          </a:p>
        </p:txBody>
      </p:sp>
      <p:sp>
        <p:nvSpPr>
          <p:cNvPr id="5" name="Footer Placeholder 4">
            <a:extLst>
              <a:ext uri="{FF2B5EF4-FFF2-40B4-BE49-F238E27FC236}">
                <a16:creationId xmlns:a16="http://schemas.microsoft.com/office/drawing/2014/main" id="{FA39F6EE-E32E-FC61-31B1-4458D6AFBF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RW"/>
          </a:p>
        </p:txBody>
      </p:sp>
      <p:sp>
        <p:nvSpPr>
          <p:cNvPr id="6" name="Slide Number Placeholder 5">
            <a:extLst>
              <a:ext uri="{FF2B5EF4-FFF2-40B4-BE49-F238E27FC236}">
                <a16:creationId xmlns:a16="http://schemas.microsoft.com/office/drawing/2014/main" id="{EDBAB437-318F-D347-B1C0-E3060908D4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633969-9A9F-4DDD-BEF7-85B16FF41486}" type="slidenum">
              <a:rPr lang="en-RW" smtClean="0"/>
              <a:t>‹#›</a:t>
            </a:fld>
            <a:endParaRPr lang="en-RW"/>
          </a:p>
        </p:txBody>
      </p:sp>
    </p:spTree>
    <p:extLst>
      <p:ext uri="{BB962C8B-B14F-4D97-AF65-F5344CB8AC3E}">
        <p14:creationId xmlns:p14="http://schemas.microsoft.com/office/powerpoint/2010/main" val="1051310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A5_6LeHrK0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9buzXpp2z5I" TargetMode="External"/><Relationship Id="rId2" Type="http://schemas.openxmlformats.org/officeDocument/2006/relationships/hyperlink" Target="https://www.youtube.com/watch?v=RH5O7kW_wRI"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youtube.com/watch?v=yuqgdCbdikc"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EB3E2A25-DDFA-3D1E-6DA1-5522597FF1B2}"/>
              </a:ext>
            </a:extLst>
          </p:cNvPr>
          <p:cNvSpPr>
            <a:spLocks noGrp="1"/>
          </p:cNvSpPr>
          <p:nvPr>
            <p:ph type="title"/>
          </p:nvPr>
        </p:nvSpPr>
        <p:spPr>
          <a:xfrm>
            <a:off x="1981200" y="274638"/>
            <a:ext cx="8229600" cy="1554162"/>
          </a:xfrm>
        </p:spPr>
        <p:txBody>
          <a:bodyPr/>
          <a:lstStyle/>
          <a:p>
            <a:r>
              <a:rPr lang="en-US" altLang="en-US" b="1" dirty="0">
                <a:solidFill>
                  <a:srgbClr val="00B050"/>
                </a:solidFill>
                <a:latin typeface="Times New Roman" panose="02020603050405020304" pitchFamily="18" charset="0"/>
                <a:cs typeface="Times New Roman" panose="02020603050405020304" pitchFamily="18" charset="0"/>
              </a:rPr>
              <a:t>Lesson 2: Explore E-cells on Campus</a:t>
            </a:r>
            <a:r>
              <a:rPr lang="en-US" altLang="en-US" dirty="0">
                <a:solidFill>
                  <a:srgbClr val="00B050"/>
                </a:solidFill>
              </a:rPr>
              <a:t> </a:t>
            </a:r>
            <a:endParaRPr lang="en-US" altLang="en-US" dirty="0"/>
          </a:p>
        </p:txBody>
      </p:sp>
      <p:sp>
        <p:nvSpPr>
          <p:cNvPr id="3" name="Content Placeholder 2">
            <a:extLst>
              <a:ext uri="{FF2B5EF4-FFF2-40B4-BE49-F238E27FC236}">
                <a16:creationId xmlns:a16="http://schemas.microsoft.com/office/drawing/2014/main" id="{B9FE0F67-658A-4B62-BE97-1177A8C13967}"/>
              </a:ext>
            </a:extLst>
          </p:cNvPr>
          <p:cNvSpPr>
            <a:spLocks noGrp="1"/>
          </p:cNvSpPr>
          <p:nvPr>
            <p:ph idx="1"/>
          </p:nvPr>
        </p:nvSpPr>
        <p:spPr/>
        <p:txBody>
          <a:bodyPr/>
          <a:lstStyle/>
          <a:p>
            <a:pPr marL="0" indent="0">
              <a:buNone/>
              <a:defRPr/>
            </a:pPr>
            <a:r>
              <a:rPr lang="en-US" b="1" i="1" u="sng" dirty="0">
                <a:solidFill>
                  <a:srgbClr val="0070C0"/>
                </a:solidFill>
                <a:latin typeface="Times New Roman" panose="02020603050405020304" pitchFamily="18" charset="0"/>
                <a:cs typeface="Times New Roman" panose="02020603050405020304" pitchFamily="18" charset="0"/>
              </a:rPr>
              <a:t>Learning Objectives</a:t>
            </a:r>
            <a:r>
              <a:rPr lang="en-US" i="1" u="sng" dirty="0">
                <a:solidFill>
                  <a:srgbClr val="0070C0"/>
                </a:solidFill>
                <a:latin typeface="Times New Roman" panose="02020603050405020304" pitchFamily="18" charset="0"/>
                <a:cs typeface="Times New Roman" panose="02020603050405020304" pitchFamily="18" charset="0"/>
              </a:rPr>
              <a:t>: </a:t>
            </a:r>
            <a:r>
              <a:rPr lang="en-US" dirty="0"/>
              <a:t> </a:t>
            </a:r>
          </a:p>
          <a:p>
            <a:pPr>
              <a:defRPr/>
            </a:pPr>
            <a:r>
              <a:rPr lang="en-US" dirty="0">
                <a:latin typeface="Times New Roman" panose="02020603050405020304" pitchFamily="18" charset="0"/>
                <a:cs typeface="Times New Roman" panose="02020603050405020304" pitchFamily="18" charset="0"/>
              </a:rPr>
              <a:t>Appreciate the fact that E-cells help shape career dreams and develop skills required to build a successful career.</a:t>
            </a:r>
          </a:p>
          <a:p>
            <a:pPr>
              <a:defRPr/>
            </a:pPr>
            <a:r>
              <a:rPr lang="en-US" dirty="0">
                <a:latin typeface="Times New Roman" panose="02020603050405020304" pitchFamily="18" charset="0"/>
                <a:cs typeface="Times New Roman" panose="02020603050405020304" pitchFamily="18" charset="0"/>
              </a:rPr>
              <a:t>Understand how E-cells can transform individuals into successful leaders and entrepreneurs.</a:t>
            </a:r>
          </a:p>
          <a:p>
            <a:pPr>
              <a:defRPr/>
            </a:pPr>
            <a:r>
              <a:rPr lang="en-US" dirty="0">
                <a:latin typeface="Times New Roman" panose="02020603050405020304" pitchFamily="18" charset="0"/>
                <a:cs typeface="Times New Roman" panose="02020603050405020304" pitchFamily="18" charset="0"/>
              </a:rPr>
              <a:t>Get inspired by the success story of Practo’s founder, Shashank.</a:t>
            </a:r>
          </a:p>
          <a:p>
            <a:pPr>
              <a:defRPr/>
            </a:pPr>
            <a:r>
              <a:rPr lang="en-US" dirty="0">
                <a:latin typeface="Times New Roman" panose="02020603050405020304" pitchFamily="18" charset="0"/>
                <a:cs typeface="Times New Roman" panose="02020603050405020304" pitchFamily="18" charset="0"/>
              </a:rPr>
              <a:t>Express your dreams.</a:t>
            </a:r>
          </a:p>
          <a:p>
            <a:pPr marL="0" indent="0">
              <a:buNone/>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F581A3E0-93E7-3621-14F3-F70C245807CF}"/>
              </a:ext>
            </a:extLst>
          </p:cNvPr>
          <p:cNvSpPr>
            <a:spLocks noGrp="1"/>
          </p:cNvSpPr>
          <p:nvPr>
            <p:ph type="title"/>
          </p:nvPr>
        </p:nvSpPr>
        <p:spPr>
          <a:xfrm>
            <a:off x="1981200" y="304800"/>
            <a:ext cx="8229600" cy="457200"/>
          </a:xfrm>
        </p:spPr>
        <p:txBody>
          <a:bodyPr>
            <a:normAutofit fontScale="90000"/>
          </a:bodyPr>
          <a:lstStyle/>
          <a:p>
            <a:r>
              <a:rPr lang="en-US" altLang="en-US"/>
              <a:t>E-cells cont’d… </a:t>
            </a:r>
          </a:p>
        </p:txBody>
      </p:sp>
      <p:sp>
        <p:nvSpPr>
          <p:cNvPr id="3" name="Content Placeholder 2">
            <a:extLst>
              <a:ext uri="{FF2B5EF4-FFF2-40B4-BE49-F238E27FC236}">
                <a16:creationId xmlns:a16="http://schemas.microsoft.com/office/drawing/2014/main" id="{DA95E345-388E-25D3-E650-07D18CF2EE12}"/>
              </a:ext>
            </a:extLst>
          </p:cNvPr>
          <p:cNvSpPr>
            <a:spLocks noGrp="1"/>
          </p:cNvSpPr>
          <p:nvPr>
            <p:ph idx="1"/>
          </p:nvPr>
        </p:nvSpPr>
        <p:spPr>
          <a:xfrm>
            <a:off x="1828800" y="1066800"/>
            <a:ext cx="8382000" cy="5257800"/>
          </a:xfrm>
        </p:spPr>
        <p:txBody>
          <a:bodyPr>
            <a:normAutofit/>
          </a:bodyPr>
          <a:lstStyle/>
          <a:p>
            <a:pPr marL="0" indent="0" algn="just">
              <a:buNone/>
              <a:defRPr/>
            </a:pPr>
            <a:r>
              <a:rPr lang="en-US" sz="3200" b="1" dirty="0">
                <a:latin typeface="Times New Roman" panose="02020603050405020304" pitchFamily="18" charset="0"/>
                <a:cs typeface="Times New Roman" panose="02020603050405020304" pitchFamily="18" charset="0"/>
              </a:rPr>
              <a:t>An Entrepreneurship Cell (E-Cell): is a club run by students to:</a:t>
            </a:r>
          </a:p>
          <a:p>
            <a:pPr marL="0" indent="0" algn="just">
              <a:buNone/>
              <a:defRPr/>
            </a:pPr>
            <a:endParaRPr lang="en-US" sz="3200" b="1" dirty="0">
              <a:latin typeface="Times New Roman" panose="02020603050405020304" pitchFamily="18" charset="0"/>
              <a:cs typeface="Times New Roman" panose="02020603050405020304" pitchFamily="18" charset="0"/>
            </a:endParaRPr>
          </a:p>
          <a:p>
            <a:pPr algn="just">
              <a:buFontTx/>
              <a:buChar char="-"/>
              <a:defRPr/>
            </a:pPr>
            <a:r>
              <a:rPr lang="en-US" sz="3200" dirty="0">
                <a:latin typeface="Times New Roman" panose="02020603050405020304" pitchFamily="18" charset="0"/>
                <a:cs typeface="Times New Roman" panose="02020603050405020304" pitchFamily="18" charset="0"/>
              </a:rPr>
              <a:t>Practice and promote entrepreneurship in their campus communities</a:t>
            </a:r>
          </a:p>
          <a:p>
            <a:pPr marL="0" indent="0" algn="just">
              <a:buNone/>
              <a:defRPr/>
            </a:pPr>
            <a:endParaRPr lang="en-US" sz="3200" dirty="0">
              <a:latin typeface="Times New Roman" panose="02020603050405020304" pitchFamily="18" charset="0"/>
              <a:cs typeface="Times New Roman" panose="02020603050405020304" pitchFamily="18" charset="0"/>
            </a:endParaRPr>
          </a:p>
          <a:p>
            <a:pPr algn="just">
              <a:buFontTx/>
              <a:buChar char="-"/>
              <a:defRPr/>
            </a:pPr>
            <a:r>
              <a:rPr lang="en-US" sz="3200" dirty="0">
                <a:latin typeface="Times New Roman" panose="02020603050405020304" pitchFamily="18" charset="0"/>
                <a:cs typeface="Times New Roman" panose="02020603050405020304" pitchFamily="18" charset="0"/>
              </a:rPr>
              <a:t>Explore entrepreneurship as a career option</a:t>
            </a:r>
          </a:p>
          <a:p>
            <a:pPr marL="0" indent="0">
              <a:buNone/>
              <a:defRPr/>
            </a:pP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A0E2E2A2-86AB-1EF2-8070-988AA06B075E}"/>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What does an E-cell do?</a:t>
            </a:r>
          </a:p>
        </p:txBody>
      </p:sp>
      <p:sp>
        <p:nvSpPr>
          <p:cNvPr id="3" name="Content Placeholder 2">
            <a:extLst>
              <a:ext uri="{FF2B5EF4-FFF2-40B4-BE49-F238E27FC236}">
                <a16:creationId xmlns:a16="http://schemas.microsoft.com/office/drawing/2014/main" id="{6B80C593-3EF3-BEDA-D421-161F9C306B04}"/>
              </a:ext>
            </a:extLst>
          </p:cNvPr>
          <p:cNvSpPr>
            <a:spLocks noGrp="1"/>
          </p:cNvSpPr>
          <p:nvPr>
            <p:ph idx="1"/>
          </p:nvPr>
        </p:nvSpPr>
        <p:spPr/>
        <p:txBody>
          <a:bodyPr/>
          <a:lstStyle/>
          <a:p>
            <a:pPr marL="0" indent="0" algn="just">
              <a:buNone/>
              <a:defRPr/>
            </a:pPr>
            <a:r>
              <a:rPr lang="en-US" b="1" dirty="0">
                <a:latin typeface="Times New Roman" panose="02020603050405020304" pitchFamily="18" charset="0"/>
                <a:cs typeface="Times New Roman" panose="02020603050405020304" pitchFamily="18" charset="0"/>
              </a:rPr>
              <a:t>An e-cell provides students the space and opportunities to develop the following activities:</a:t>
            </a:r>
          </a:p>
          <a:p>
            <a:pPr algn="just">
              <a:buFontTx/>
              <a:buChar char="-"/>
              <a:defRPr/>
            </a:pPr>
            <a:r>
              <a:rPr lang="en-US" dirty="0">
                <a:latin typeface="Times New Roman" panose="02020603050405020304" pitchFamily="18" charset="0"/>
                <a:cs typeface="Times New Roman" panose="02020603050405020304" pitchFamily="18" charset="0"/>
              </a:rPr>
              <a:t>Leadership skills</a:t>
            </a:r>
          </a:p>
          <a:p>
            <a:pPr algn="just">
              <a:buFontTx/>
              <a:buChar char="-"/>
              <a:defRPr/>
            </a:pPr>
            <a:r>
              <a:rPr lang="en-US" dirty="0">
                <a:latin typeface="Times New Roman" panose="02020603050405020304" pitchFamily="18" charset="0"/>
                <a:cs typeface="Times New Roman" panose="02020603050405020304" pitchFamily="18" charset="0"/>
              </a:rPr>
              <a:t>Innovation and generation of new ideas</a:t>
            </a:r>
          </a:p>
          <a:p>
            <a:pPr algn="just">
              <a:buFontTx/>
              <a:buChar char="-"/>
              <a:defRPr/>
            </a:pPr>
            <a:r>
              <a:rPr lang="en-US" dirty="0">
                <a:latin typeface="Times New Roman" panose="02020603050405020304" pitchFamily="18" charset="0"/>
                <a:cs typeface="Times New Roman" panose="02020603050405020304" pitchFamily="18" charset="0"/>
              </a:rPr>
              <a:t>Creative and critical thinking</a:t>
            </a:r>
          </a:p>
          <a:p>
            <a:pPr algn="just">
              <a:buFontTx/>
              <a:buChar char="-"/>
              <a:defRPr/>
            </a:pPr>
            <a:r>
              <a:rPr lang="en-US" dirty="0">
                <a:latin typeface="Times New Roman" panose="02020603050405020304" pitchFamily="18" charset="0"/>
                <a:cs typeface="Times New Roman" panose="02020603050405020304" pitchFamily="18" charset="0"/>
              </a:rPr>
              <a:t>Opportunity evaluation</a:t>
            </a:r>
          </a:p>
          <a:p>
            <a:pPr algn="just">
              <a:buFontTx/>
              <a:buChar char="-"/>
              <a:defRPr/>
            </a:pPr>
            <a:r>
              <a:rPr lang="en-US" dirty="0">
                <a:latin typeface="Times New Roman" panose="02020603050405020304" pitchFamily="18" charset="0"/>
                <a:cs typeface="Times New Roman" panose="02020603050405020304" pitchFamily="18" charset="0"/>
              </a:rPr>
              <a:t>Business planning</a:t>
            </a:r>
          </a:p>
          <a:p>
            <a:pPr algn="just">
              <a:buFontTx/>
              <a:buChar char="-"/>
              <a:defRPr/>
            </a:pPr>
            <a:r>
              <a:rPr lang="en-US" dirty="0">
                <a:latin typeface="Times New Roman" panose="02020603050405020304" pitchFamily="18" charset="0"/>
                <a:cs typeface="Times New Roman" panose="02020603050405020304" pitchFamily="18" charset="0"/>
              </a:rPr>
              <a:t>Team building and raising resources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8360-859E-6DC3-4171-C37EA5048147}"/>
              </a:ext>
            </a:extLst>
          </p:cNvPr>
          <p:cNvSpPr>
            <a:spLocks noGrp="1"/>
          </p:cNvSpPr>
          <p:nvPr>
            <p:ph type="title"/>
          </p:nvPr>
        </p:nvSpPr>
        <p:spPr>
          <a:xfrm>
            <a:off x="838200" y="365126"/>
            <a:ext cx="10515600" cy="499848"/>
          </a:xfrm>
        </p:spPr>
        <p:txBody>
          <a:bodyPr>
            <a:normAutofit fontScale="90000"/>
          </a:bodyPr>
          <a:lstStyle/>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Leadership skills</a:t>
            </a:r>
            <a:br>
              <a:rPr lang="en-US" dirty="0">
                <a:latin typeface="Times New Roman" panose="02020603050405020304" pitchFamily="18"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71DB5AC4-A483-553B-9494-7DBEC75ADFCB}"/>
              </a:ext>
            </a:extLst>
          </p:cNvPr>
          <p:cNvSpPr>
            <a:spLocks noGrp="1"/>
          </p:cNvSpPr>
          <p:nvPr>
            <p:ph idx="1"/>
          </p:nvPr>
        </p:nvSpPr>
        <p:spPr>
          <a:xfrm>
            <a:off x="247135" y="842474"/>
            <a:ext cx="9888850" cy="5430864"/>
          </a:xfrm>
        </p:spPr>
        <p:txBody>
          <a:bodyPr>
            <a:noAutofit/>
          </a:bodyPr>
          <a:lstStyle/>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Communication: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Effective communication is fundamental for conveying ideas, expectations, and feedback clearly. Leaders should be adept at both speaking and listening, ensuring everyone understands their roles and responsibilities.</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Decision-making: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Leaders must make timely and well-informed decisions, weighing various factors and potential outcomes. Developing a framework for decision-making can enhance efficiency and effectiveness.</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Strategic Thinking: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Having a clear vision and the ability to formulate strategies to achieve it is essential. This involves </a:t>
            </a:r>
            <a:r>
              <a:rPr lang="en-RW" sz="2000" kern="100" dirty="0" err="1">
                <a:effectLst/>
                <a:latin typeface="Aptos" panose="020B0004020202020204" pitchFamily="34" charset="0"/>
                <a:ea typeface="Aptos" panose="020B0004020202020204" pitchFamily="34" charset="0"/>
                <a:cs typeface="Times New Roman" panose="02020603050405020304" pitchFamily="18" charset="0"/>
              </a:rPr>
              <a:t>analyzing</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 trends, foreseeing future opportunities and threats, and devising plans accordingly.</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Conflict Resolution: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Conflicts may arise within teams or between stakeholders, and leaders must address them constructively. Developing skills in negotiation, mediation, and problem-solving can help mitigate conflicts and maintain productivity.</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Delegation: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Effective leaders delegate tasks appropriately, leveraging the strengths of team members while also fostering their growth and development. Delegation frees up time for leaders to focus on high-priority tasks and strategic initiatives.</a:t>
            </a:r>
          </a:p>
          <a:p>
            <a:endParaRPr lang="en-RW" sz="2000" dirty="0"/>
          </a:p>
        </p:txBody>
      </p:sp>
    </p:spTree>
    <p:extLst>
      <p:ext uri="{BB962C8B-B14F-4D97-AF65-F5344CB8AC3E}">
        <p14:creationId xmlns:p14="http://schemas.microsoft.com/office/powerpoint/2010/main" val="30770881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DED97-6B98-A6E3-E5B0-BA29C20AE3A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Innovation and generation of new ideas</a:t>
            </a:r>
            <a:br>
              <a:rPr lang="en-US" dirty="0">
                <a:latin typeface="Times New Roman" panose="02020603050405020304" pitchFamily="18"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B0E22A94-D326-A467-4AE3-D82610895430}"/>
              </a:ext>
            </a:extLst>
          </p:cNvPr>
          <p:cNvSpPr>
            <a:spLocks noGrp="1"/>
          </p:cNvSpPr>
          <p:nvPr>
            <p:ph idx="1"/>
          </p:nvPr>
        </p:nvSpPr>
        <p:spPr>
          <a:xfrm>
            <a:off x="838200" y="1396240"/>
            <a:ext cx="10515600" cy="5261905"/>
          </a:xfrm>
        </p:spPr>
        <p:txBody>
          <a:bodyPr>
            <a:normAutofit/>
          </a:bodyPr>
          <a:lstStyle/>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Creativity Techniques: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Encourage brainstorming sessions, mind mapping, or other creative exercises to stimulate idea generation.</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Cross-functional Collaboration: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Foster collaboration between different departments or disciplines to bring diverse perspectives and expertise together, often leading to innovative solutions.</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Experimentation and Risk-Taking: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Cultivate a culture where experimentation is encouraged, even if it means accepting the possibility of failure. Taking calculated risks can lead to breakthrough innovations.</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Continuous Learning: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Encourage employees to stay updated on industry trends, emerging technologies, and best practices through training programs, workshops, or conferences.</a:t>
            </a:r>
          </a:p>
          <a:p>
            <a:endParaRPr lang="en-RW" sz="2000" dirty="0"/>
          </a:p>
        </p:txBody>
      </p:sp>
    </p:spTree>
    <p:extLst>
      <p:ext uri="{BB962C8B-B14F-4D97-AF65-F5344CB8AC3E}">
        <p14:creationId xmlns:p14="http://schemas.microsoft.com/office/powerpoint/2010/main" val="31635350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D99C4-BE05-AA0F-A6DD-E94287AC97B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Creative and critical thinking</a:t>
            </a:r>
            <a:br>
              <a:rPr lang="en-US" dirty="0">
                <a:latin typeface="Times New Roman" panose="02020603050405020304" pitchFamily="18"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B6AC2404-A0D2-3ED6-3542-5895D7D3F9E7}"/>
              </a:ext>
            </a:extLst>
          </p:cNvPr>
          <p:cNvSpPr>
            <a:spLocks noGrp="1"/>
          </p:cNvSpPr>
          <p:nvPr>
            <p:ph idx="1"/>
          </p:nvPr>
        </p:nvSpPr>
        <p:spPr/>
        <p:txBody>
          <a:bodyPr>
            <a:normAutofit fontScale="85000" lnSpcReduction="20000"/>
          </a:bodyPr>
          <a:lstStyle/>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Divergent Thinking: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Encourage thinking outside the box and exploring multiple perspectives or solutions to a problem.</a:t>
            </a:r>
          </a:p>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Problem-Solving Skills: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Provide frameworks like design thinking or the scientific method to systematically approach and solve complex problems.</a:t>
            </a:r>
          </a:p>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Analytical Skills: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Foster the ability to analyse information critically, separating fact from opinion and identifying underlying assumptions.</a:t>
            </a:r>
          </a:p>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Feedback Culture: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Encourage giving and receiving constructive feedback, which can help refine ideas and solutions through iterative processes.</a:t>
            </a:r>
          </a:p>
          <a:p>
            <a:endParaRPr lang="en-US" sz="2400" b="1" dirty="0">
              <a:latin typeface="Aptos" panose="020B0004020202020204" pitchFamily="34" charset="0"/>
              <a:cs typeface="Times New Roman" panose="02020603050405020304" pitchFamily="18" charset="0"/>
            </a:endParaRPr>
          </a:p>
          <a:p>
            <a:endParaRPr lang="en-RW" sz="2400" dirty="0"/>
          </a:p>
        </p:txBody>
      </p:sp>
    </p:spTree>
    <p:extLst>
      <p:ext uri="{BB962C8B-B14F-4D97-AF65-F5344CB8AC3E}">
        <p14:creationId xmlns:p14="http://schemas.microsoft.com/office/powerpoint/2010/main" val="2867908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7F53-6A76-CEBA-0D51-B35B8E04DDB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Opportunity evaluation</a:t>
            </a:r>
            <a:br>
              <a:rPr lang="en-US" dirty="0">
                <a:latin typeface="Times New Roman" panose="02020603050405020304" pitchFamily="18"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72ED3398-BD03-2301-ACA4-0C215755B1F1}"/>
              </a:ext>
            </a:extLst>
          </p:cNvPr>
          <p:cNvSpPr>
            <a:spLocks noGrp="1"/>
          </p:cNvSpPr>
          <p:nvPr>
            <p:ph idx="1"/>
          </p:nvPr>
        </p:nvSpPr>
        <p:spPr/>
        <p:txBody>
          <a:bodyPr>
            <a:normAutofit fontScale="92500" lnSpcReduction="10000"/>
          </a:bodyPr>
          <a:lstStyle/>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Market Research: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Conduct thorough market research to identify emerging trends, customer needs, and potential gaps in the market.</a:t>
            </a:r>
          </a:p>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SWOT Analysis: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Evaluate the strengths, weaknesses, opportunities, and threats associated with each potential opportunity.</a:t>
            </a:r>
          </a:p>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Cost-Benefit Analysis: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Assess the potential risks and rewards of pursuing a particular opportunity, considering factors such as resources required, market demand, and competitive landscape.</a:t>
            </a:r>
          </a:p>
          <a:p>
            <a:endParaRPr lang="en-RW" sz="2400" dirty="0"/>
          </a:p>
        </p:txBody>
      </p:sp>
    </p:spTree>
    <p:extLst>
      <p:ext uri="{BB962C8B-B14F-4D97-AF65-F5344CB8AC3E}">
        <p14:creationId xmlns:p14="http://schemas.microsoft.com/office/powerpoint/2010/main" val="20275667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56830-FCBA-3DA9-9EF9-B6B5C8B52EB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Business planning</a:t>
            </a:r>
            <a:br>
              <a:rPr lang="en-US" dirty="0">
                <a:latin typeface="Times New Roman" panose="02020603050405020304" pitchFamily="18"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F7DCA651-624F-1C61-98DA-403263919B12}"/>
              </a:ext>
            </a:extLst>
          </p:cNvPr>
          <p:cNvSpPr>
            <a:spLocks noGrp="1"/>
          </p:cNvSpPr>
          <p:nvPr>
            <p:ph idx="1"/>
          </p:nvPr>
        </p:nvSpPr>
        <p:spPr/>
        <p:txBody>
          <a:bodyPr>
            <a:noAutofit/>
          </a:bodyPr>
          <a:lstStyle/>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Strategic Planning: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Develop a clear vision and mission for the business, along with specific goals and objectives to guide decision-making.</a:t>
            </a:r>
          </a:p>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Financial Planning: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Create detailed financial forecasts, budgets, and projections to ensure the business's financial health and sustainability.</a:t>
            </a:r>
          </a:p>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Operational Planning: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Define operational processes, workflows, and systems to streamline business operations and maximize efficiency.</a:t>
            </a:r>
          </a:p>
          <a:p>
            <a:pPr>
              <a:lnSpc>
                <a:spcPct val="115000"/>
              </a:lnSpc>
              <a:spcAft>
                <a:spcPts val="800"/>
              </a:spcAft>
            </a:pPr>
            <a:r>
              <a:rPr lang="en-RW" sz="2400" b="1" kern="100" dirty="0">
                <a:effectLst/>
                <a:latin typeface="Aptos" panose="020B0004020202020204" pitchFamily="34" charset="0"/>
                <a:ea typeface="Aptos" panose="020B0004020202020204" pitchFamily="34" charset="0"/>
                <a:cs typeface="Times New Roman" panose="02020603050405020304" pitchFamily="18" charset="0"/>
              </a:rPr>
              <a:t>Risk Management: </a:t>
            </a:r>
            <a:r>
              <a:rPr lang="en-RW" sz="2400" kern="100" dirty="0">
                <a:effectLst/>
                <a:latin typeface="Aptos" panose="020B0004020202020204" pitchFamily="34" charset="0"/>
                <a:ea typeface="Aptos" panose="020B0004020202020204" pitchFamily="34" charset="0"/>
                <a:cs typeface="Times New Roman" panose="02020603050405020304" pitchFamily="18" charset="0"/>
              </a:rPr>
              <a:t>Identify potential risks to the business and develop strategies to mitigate them, such as insurance policies, contingency plans, or diversification of revenue streams.</a:t>
            </a:r>
          </a:p>
          <a:p>
            <a:endParaRPr lang="en-RW" sz="2400" dirty="0"/>
          </a:p>
        </p:txBody>
      </p:sp>
    </p:spTree>
    <p:extLst>
      <p:ext uri="{BB962C8B-B14F-4D97-AF65-F5344CB8AC3E}">
        <p14:creationId xmlns:p14="http://schemas.microsoft.com/office/powerpoint/2010/main" val="6122874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C2F3D-AC80-EF40-C57C-EAF4F4EB9D8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Team building and raising resources</a:t>
            </a:r>
            <a:br>
              <a:rPr lang="en-US" dirty="0">
                <a:latin typeface="Times New Roman" panose="02020603050405020304" pitchFamily="18"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F9C17386-D2EA-1F6B-400B-99BCE39CB762}"/>
              </a:ext>
            </a:extLst>
          </p:cNvPr>
          <p:cNvSpPr>
            <a:spLocks noGrp="1"/>
          </p:cNvSpPr>
          <p:nvPr>
            <p:ph idx="1"/>
          </p:nvPr>
        </p:nvSpPr>
        <p:spPr>
          <a:xfrm>
            <a:off x="838200" y="1223319"/>
            <a:ext cx="10515600" cy="4953644"/>
          </a:xfrm>
        </p:spPr>
        <p:txBody>
          <a:bodyPr>
            <a:normAutofit fontScale="85000" lnSpcReduction="10000"/>
          </a:bodyPr>
          <a:lstStyle/>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Recruitment and Talent Development: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Recruit individuals with diverse skills and backgrounds who are aligned with the company's values and goals. Provide opportunities for training and professional development to enhance team members' skills and capabilities.</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Networking and Partnerships: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Build relationships with potential investors, strategic partners, suppliers, and other stakeholders who can provide resources, expertise, or support.</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Motivation and Engagement: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Foster a positive work culture where team members feel valued, motivated, and engaged. Recognize and reward their contributions, and provide opportunities for autonomy, mastery, and purpose.</a:t>
            </a:r>
          </a:p>
          <a:p>
            <a:pPr>
              <a:lnSpc>
                <a:spcPct val="115000"/>
              </a:lnSpc>
              <a:spcAft>
                <a:spcPts val="800"/>
              </a:spcAft>
            </a:pPr>
            <a:r>
              <a:rPr lang="en-RW" sz="2000" b="1" kern="100" dirty="0">
                <a:effectLst/>
                <a:latin typeface="Aptos" panose="020B0004020202020204" pitchFamily="34" charset="0"/>
                <a:ea typeface="Aptos" panose="020B0004020202020204" pitchFamily="34" charset="0"/>
                <a:cs typeface="Times New Roman" panose="02020603050405020304" pitchFamily="18" charset="0"/>
              </a:rPr>
              <a:t>Resource Allocation: </a:t>
            </a:r>
            <a:r>
              <a:rPr lang="en-RW" sz="2000" kern="100" dirty="0">
                <a:effectLst/>
                <a:latin typeface="Aptos" panose="020B0004020202020204" pitchFamily="34" charset="0"/>
                <a:ea typeface="Aptos" panose="020B0004020202020204" pitchFamily="34" charset="0"/>
                <a:cs typeface="Times New Roman" panose="02020603050405020304" pitchFamily="18" charset="0"/>
              </a:rPr>
              <a:t>Effectively allocate resources, including financial, human, and technological resources, to support the team's goals and initiatives. Prioritize investments that yield the highest return on investment and align with the business's strategic priorities.</a:t>
            </a:r>
          </a:p>
          <a:p>
            <a:endParaRPr lang="en-RW" sz="2000" dirty="0"/>
          </a:p>
        </p:txBody>
      </p:sp>
    </p:spTree>
    <p:extLst>
      <p:ext uri="{BB962C8B-B14F-4D97-AF65-F5344CB8AC3E}">
        <p14:creationId xmlns:p14="http://schemas.microsoft.com/office/powerpoint/2010/main" val="14428625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CDCBE-0A84-3E4B-6E2E-A126E4D3589A}"/>
              </a:ext>
            </a:extLst>
          </p:cNvPr>
          <p:cNvSpPr>
            <a:spLocks noGrp="1"/>
          </p:cNvSpPr>
          <p:nvPr>
            <p:ph type="title"/>
          </p:nvPr>
        </p:nvSpPr>
        <p:spPr/>
        <p:txBody>
          <a:bodyPr/>
          <a:lstStyle/>
          <a:p>
            <a:r>
              <a:rPr lang="en-US" dirty="0"/>
              <a:t>Why join an e-cells </a:t>
            </a:r>
            <a:endParaRPr lang="en-RW" dirty="0"/>
          </a:p>
        </p:txBody>
      </p:sp>
      <p:sp>
        <p:nvSpPr>
          <p:cNvPr id="3" name="Content Placeholder 2">
            <a:extLst>
              <a:ext uri="{FF2B5EF4-FFF2-40B4-BE49-F238E27FC236}">
                <a16:creationId xmlns:a16="http://schemas.microsoft.com/office/drawing/2014/main" id="{9C56C011-CAB2-A80C-0543-242CE5C3D1B1}"/>
              </a:ext>
            </a:extLst>
          </p:cNvPr>
          <p:cNvSpPr>
            <a:spLocks noGrp="1"/>
          </p:cNvSpPr>
          <p:nvPr>
            <p:ph idx="1"/>
          </p:nvPr>
        </p:nvSpPr>
        <p:spPr>
          <a:xfrm>
            <a:off x="838200" y="1825625"/>
            <a:ext cx="10515600" cy="843434"/>
          </a:xfrm>
        </p:spPr>
        <p:txBody>
          <a:bodyPr/>
          <a:lstStyle/>
          <a:p>
            <a:r>
              <a:rPr lang="en-US" dirty="0">
                <a:hlinkClick r:id="rId2"/>
              </a:rPr>
              <a:t>Why Join an E cell Introduction (youtube.com)</a:t>
            </a:r>
            <a:endParaRPr lang="en-US" dirty="0"/>
          </a:p>
          <a:p>
            <a:endParaRPr lang="en-US" dirty="0"/>
          </a:p>
          <a:p>
            <a:endParaRPr lang="en-RW" dirty="0"/>
          </a:p>
        </p:txBody>
      </p:sp>
    </p:spTree>
    <p:extLst>
      <p:ext uri="{BB962C8B-B14F-4D97-AF65-F5344CB8AC3E}">
        <p14:creationId xmlns:p14="http://schemas.microsoft.com/office/powerpoint/2010/main" val="5327937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B3352-1316-4C55-A90A-BE5E02DD32CA}"/>
              </a:ext>
            </a:extLst>
          </p:cNvPr>
          <p:cNvSpPr>
            <a:spLocks noGrp="1"/>
          </p:cNvSpPr>
          <p:nvPr>
            <p:ph type="title"/>
          </p:nvPr>
        </p:nvSpPr>
        <p:spPr/>
        <p:txBody>
          <a:bodyPr/>
          <a:lstStyle/>
          <a:p>
            <a:pPr algn="ctr"/>
            <a:r>
              <a:rPr lang="en-US" dirty="0"/>
              <a:t>Why join an e-cells </a:t>
            </a:r>
          </a:p>
        </p:txBody>
      </p:sp>
      <p:sp>
        <p:nvSpPr>
          <p:cNvPr id="3" name="Content Placeholder 2">
            <a:extLst>
              <a:ext uri="{FF2B5EF4-FFF2-40B4-BE49-F238E27FC236}">
                <a16:creationId xmlns:a16="http://schemas.microsoft.com/office/drawing/2014/main" id="{84C6A4DB-E452-4B26-B0B8-56E027C1D42D}"/>
              </a:ext>
            </a:extLst>
          </p:cNvPr>
          <p:cNvSpPr>
            <a:spLocks noGrp="1"/>
          </p:cNvSpPr>
          <p:nvPr>
            <p:ph idx="1"/>
          </p:nvPr>
        </p:nvSpPr>
        <p:spPr/>
        <p:txBody>
          <a:bodyPr>
            <a:normAutofit fontScale="85000" lnSpcReduction="10000"/>
          </a:bodyPr>
          <a:lstStyle/>
          <a:p>
            <a:r>
              <a:rPr lang="en-US" b="1" dirty="0"/>
              <a:t>Networking Opportunities</a:t>
            </a:r>
            <a:endParaRPr lang="en-US" dirty="0"/>
          </a:p>
          <a:p>
            <a:pPr lvl="1"/>
            <a:r>
              <a:rPr lang="en-US" dirty="0"/>
              <a:t>Connect with successful entrepreneurs, investors, and mentors.</a:t>
            </a:r>
          </a:p>
          <a:p>
            <a:pPr lvl="1"/>
            <a:r>
              <a:rPr lang="en-US" dirty="0"/>
              <a:t>Attend startup events, guest lectures, and panel discussions.</a:t>
            </a:r>
          </a:p>
          <a:p>
            <a:r>
              <a:rPr lang="en-US" b="1" dirty="0"/>
              <a:t>Skill Development</a:t>
            </a:r>
            <a:endParaRPr lang="en-US" dirty="0"/>
          </a:p>
          <a:p>
            <a:pPr lvl="1"/>
            <a:r>
              <a:rPr lang="en-US" dirty="0"/>
              <a:t>Learn essential entrepreneurial skills like business planning, marketing, and pitching.</a:t>
            </a:r>
          </a:p>
          <a:p>
            <a:pPr lvl="1"/>
            <a:r>
              <a:rPr lang="en-US" dirty="0"/>
              <a:t>Gain hands-on experience through workshops and competitions.</a:t>
            </a:r>
          </a:p>
          <a:p>
            <a:r>
              <a:rPr lang="en-US" b="1" dirty="0"/>
              <a:t>Funding &amp; Incubation Support</a:t>
            </a:r>
            <a:endParaRPr lang="en-US" dirty="0"/>
          </a:p>
          <a:p>
            <a:pPr lvl="1"/>
            <a:r>
              <a:rPr lang="en-US" dirty="0"/>
              <a:t>Access seed funding opportunities through grants, competitions, and investor pitches.</a:t>
            </a:r>
          </a:p>
          <a:p>
            <a:pPr lvl="1"/>
            <a:r>
              <a:rPr lang="en-US" dirty="0"/>
              <a:t>Get support for developing business ideas through incubation centers.</a:t>
            </a:r>
          </a:p>
          <a:p>
            <a:endParaRPr lang="en-US" dirty="0"/>
          </a:p>
        </p:txBody>
      </p:sp>
    </p:spTree>
    <p:extLst>
      <p:ext uri="{BB962C8B-B14F-4D97-AF65-F5344CB8AC3E}">
        <p14:creationId xmlns:p14="http://schemas.microsoft.com/office/powerpoint/2010/main" val="19502975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DF48F-DBB2-46AB-A134-A32D329ADB04}"/>
              </a:ext>
            </a:extLst>
          </p:cNvPr>
          <p:cNvSpPr>
            <a:spLocks noGrp="1"/>
          </p:cNvSpPr>
          <p:nvPr>
            <p:ph type="title"/>
          </p:nvPr>
        </p:nvSpPr>
        <p:spPr/>
        <p:txBody>
          <a:bodyPr/>
          <a:lstStyle/>
          <a:p>
            <a:endParaRPr lang="en-US" dirty="0"/>
          </a:p>
        </p:txBody>
      </p:sp>
      <p:sp>
        <p:nvSpPr>
          <p:cNvPr id="4" name="Rectangle 1">
            <a:extLst>
              <a:ext uri="{FF2B5EF4-FFF2-40B4-BE49-F238E27FC236}">
                <a16:creationId xmlns:a16="http://schemas.microsoft.com/office/drawing/2014/main" id="{04C6BEC6-B6B2-44C6-B3C7-C35FA3976132}"/>
              </a:ext>
            </a:extLst>
          </p:cNvPr>
          <p:cNvSpPr>
            <a:spLocks noGrp="1" noChangeArrowheads="1"/>
          </p:cNvSpPr>
          <p:nvPr>
            <p:ph idx="1"/>
          </p:nvPr>
        </p:nvSpPr>
        <p:spPr bwMode="auto">
          <a:xfrm>
            <a:off x="271845" y="2209667"/>
            <a:ext cx="1091101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Startup Support &amp; Competitions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Participate in hackathons, business plan competitions, and startup fests.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Get mentorship to refine ideas and create viable business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Collaborations &amp; Internships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Work with industry leaders, startups, and research labs.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Gain internship opportunities in early-stage startups.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8708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2DE7A-4123-4F73-9A06-80D26877C211}"/>
              </a:ext>
            </a:extLst>
          </p:cNvPr>
          <p:cNvSpPr>
            <a:spLocks noGrp="1"/>
          </p:cNvSpPr>
          <p:nvPr>
            <p:ph type="title"/>
          </p:nvPr>
        </p:nvSpPr>
        <p:spPr/>
        <p:txBody>
          <a:bodyPr/>
          <a:lstStyle/>
          <a:p>
            <a:r>
              <a:rPr lang="en-US" dirty="0"/>
              <a:t>Some of UR entrepreneurship initiatives</a:t>
            </a:r>
          </a:p>
        </p:txBody>
      </p:sp>
      <p:sp>
        <p:nvSpPr>
          <p:cNvPr id="3" name="Content Placeholder 2">
            <a:extLst>
              <a:ext uri="{FF2B5EF4-FFF2-40B4-BE49-F238E27FC236}">
                <a16:creationId xmlns:a16="http://schemas.microsoft.com/office/drawing/2014/main" id="{1F79E11D-97FE-4D31-8B2E-F80AE2167801}"/>
              </a:ext>
            </a:extLst>
          </p:cNvPr>
          <p:cNvSpPr>
            <a:spLocks noGrp="1"/>
          </p:cNvSpPr>
          <p:nvPr>
            <p:ph idx="1"/>
          </p:nvPr>
        </p:nvSpPr>
        <p:spPr/>
        <p:txBody>
          <a:bodyPr>
            <a:normAutofit fontScale="62500" lnSpcReduction="20000"/>
          </a:bodyPr>
          <a:lstStyle/>
          <a:p>
            <a:r>
              <a:rPr lang="en-US" b="1" dirty="0"/>
              <a:t>Centre for Innovation and Entrepreneurship (UR-CIE)</a:t>
            </a:r>
          </a:p>
          <a:p>
            <a:pPr>
              <a:buFont typeface="Wingdings" panose="05000000000000000000" pitchFamily="2" charset="2"/>
              <a:buChar char="Ø"/>
            </a:pPr>
            <a:r>
              <a:rPr lang="en-US" dirty="0"/>
              <a:t>This center enhances the capacity of staff and students to manage innovation projects and increases the utilization of research outputs that address socio-economic development needs.</a:t>
            </a:r>
          </a:p>
          <a:p>
            <a:r>
              <a:rPr lang="en-US" b="1" dirty="0"/>
              <a:t>Grid Innovation and Incubation Hub (</a:t>
            </a:r>
            <a:r>
              <a:rPr lang="en-US" b="1" dirty="0" err="1"/>
              <a:t>GIIH</a:t>
            </a:r>
            <a:r>
              <a:rPr lang="en-US" b="1" dirty="0"/>
              <a:t>)</a:t>
            </a:r>
          </a:p>
          <a:p>
            <a:pPr>
              <a:buFont typeface="Wingdings" panose="05000000000000000000" pitchFamily="2" charset="2"/>
              <a:buChar char="Ø"/>
            </a:pPr>
            <a:r>
              <a:rPr lang="en-US" dirty="0"/>
              <a:t> Hosted by the African Centre of Excellence in Energy for Sustainable Development</a:t>
            </a:r>
          </a:p>
          <a:p>
            <a:pPr>
              <a:buFont typeface="Wingdings" panose="05000000000000000000" pitchFamily="2" charset="2"/>
              <a:buChar char="Ø"/>
            </a:pPr>
            <a:r>
              <a:rPr lang="en-US" dirty="0"/>
              <a:t> Research, innovation, and entrepreneurship initiative that fosters partnerships between industry, government, and researchers.</a:t>
            </a:r>
          </a:p>
          <a:p>
            <a:r>
              <a:rPr lang="en-US" b="1" dirty="0" err="1"/>
              <a:t>HATANA</a:t>
            </a:r>
            <a:r>
              <a:rPr lang="en-US" b="1" dirty="0"/>
              <a:t> Innovation Bootcamp</a:t>
            </a:r>
          </a:p>
          <a:p>
            <a:pPr>
              <a:buFont typeface="Wingdings" panose="05000000000000000000" pitchFamily="2" charset="2"/>
              <a:buChar char="Ø"/>
            </a:pPr>
            <a:r>
              <a:rPr lang="en-US" dirty="0"/>
              <a:t>Supported by the Mastercard Foundation Scholars Program</a:t>
            </a:r>
          </a:p>
          <a:p>
            <a:pPr>
              <a:buFont typeface="Wingdings" panose="05000000000000000000" pitchFamily="2" charset="2"/>
              <a:buChar char="Ø"/>
            </a:pPr>
            <a:r>
              <a:rPr lang="en-US" dirty="0"/>
              <a:t>Guides participants on the basics of innovation and entrepreneurship. </a:t>
            </a:r>
          </a:p>
          <a:p>
            <a:pPr>
              <a:buFont typeface="Wingdings" panose="05000000000000000000" pitchFamily="2" charset="2"/>
              <a:buChar char="Ø"/>
            </a:pPr>
            <a:r>
              <a:rPr lang="en-US" dirty="0"/>
              <a:t>Selected teams compete for grants to develop prototypes of their innovative ideas</a:t>
            </a:r>
          </a:p>
        </p:txBody>
      </p:sp>
    </p:spTree>
    <p:extLst>
      <p:ext uri="{BB962C8B-B14F-4D97-AF65-F5344CB8AC3E}">
        <p14:creationId xmlns:p14="http://schemas.microsoft.com/office/powerpoint/2010/main" val="2892312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4CE34-4A3B-9F6A-7835-6B3A1C3C742A}"/>
              </a:ext>
            </a:extLst>
          </p:cNvPr>
          <p:cNvSpPr>
            <a:spLocks noGrp="1"/>
          </p:cNvSpPr>
          <p:nvPr>
            <p:ph type="title"/>
          </p:nvPr>
        </p:nvSpPr>
        <p:spPr/>
        <p:txBody>
          <a:bodyPr/>
          <a:lstStyle/>
          <a:p>
            <a:r>
              <a:rPr lang="en-US" dirty="0"/>
              <a:t>   Activity 2 </a:t>
            </a:r>
            <a:endParaRPr lang="en-RW" dirty="0"/>
          </a:p>
        </p:txBody>
      </p:sp>
      <p:sp>
        <p:nvSpPr>
          <p:cNvPr id="3" name="Content Placeholder 2">
            <a:extLst>
              <a:ext uri="{FF2B5EF4-FFF2-40B4-BE49-F238E27FC236}">
                <a16:creationId xmlns:a16="http://schemas.microsoft.com/office/drawing/2014/main" id="{1BD8B17D-536C-6DB4-584E-D2FABCA90D3F}"/>
              </a:ext>
            </a:extLst>
          </p:cNvPr>
          <p:cNvSpPr>
            <a:spLocks noGrp="1"/>
          </p:cNvSpPr>
          <p:nvPr>
            <p:ph idx="1"/>
          </p:nvPr>
        </p:nvSpPr>
        <p:spPr/>
        <p:txBody>
          <a:bodyPr/>
          <a:lstStyle/>
          <a:p>
            <a:r>
              <a:rPr lang="en-US" dirty="0">
                <a:hlinkClick r:id="rId2"/>
              </a:rPr>
              <a:t>Dream it, Do it – Activity Instructions (youtube.com)</a:t>
            </a:r>
            <a:endParaRPr lang="en-US" dirty="0"/>
          </a:p>
          <a:p>
            <a:r>
              <a:rPr lang="en-US" dirty="0">
                <a:hlinkClick r:id="rId3"/>
              </a:rPr>
              <a:t>Dream it, Do it – Activity Debrief (youtube.com)</a:t>
            </a:r>
            <a:endParaRPr lang="en-US" dirty="0"/>
          </a:p>
          <a:p>
            <a:pPr marL="0" indent="0">
              <a:buNone/>
            </a:pPr>
            <a:endParaRPr lang="en-RW" dirty="0"/>
          </a:p>
        </p:txBody>
      </p:sp>
    </p:spTree>
    <p:extLst>
      <p:ext uri="{BB962C8B-B14F-4D97-AF65-F5344CB8AC3E}">
        <p14:creationId xmlns:p14="http://schemas.microsoft.com/office/powerpoint/2010/main" val="34704579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D531-1C7F-ACF6-9ED7-EEECE98197A9}"/>
              </a:ext>
            </a:extLst>
          </p:cNvPr>
          <p:cNvSpPr>
            <a:spLocks noGrp="1"/>
          </p:cNvSpPr>
          <p:nvPr>
            <p:ph type="title"/>
          </p:nvPr>
        </p:nvSpPr>
        <p:spPr/>
        <p:txBody>
          <a:bodyPr/>
          <a:lstStyle/>
          <a:p>
            <a:r>
              <a:rPr lang="en-RW" sz="4400" b="1" kern="100" dirty="0">
                <a:effectLst/>
                <a:latin typeface="Aptos" panose="020B0004020202020204" pitchFamily="34" charset="0"/>
                <a:ea typeface="Aptos" panose="020B0004020202020204" pitchFamily="34" charset="0"/>
                <a:cs typeface="Times New Roman" panose="02020603050405020304" pitchFamily="18" charset="0"/>
              </a:rPr>
              <a:t>The story of Shashank</a:t>
            </a:r>
            <a:r>
              <a:rPr lang="en-RW" sz="4400" kern="100" dirty="0">
                <a:effectLst/>
                <a:latin typeface="Aptos" panose="020B0004020202020204" pitchFamily="34" charset="0"/>
                <a:ea typeface="Aptos" panose="020B0004020202020204" pitchFamily="34" charset="0"/>
                <a:cs typeface="Times New Roman" panose="02020603050405020304" pitchFamily="18" charset="0"/>
              </a:rPr>
              <a:t/>
            </a:r>
            <a:br>
              <a:rPr lang="en-RW" sz="4400" kern="100" dirty="0">
                <a:effectLst/>
                <a:latin typeface="Aptos" panose="020B0004020202020204" pitchFamily="34" charset="0"/>
                <a:ea typeface="Aptos" panose="020B0004020202020204" pitchFamily="34" charset="0"/>
                <a:cs typeface="Times New Roman" panose="02020603050405020304" pitchFamily="18" charset="0"/>
              </a:rPr>
            </a:br>
            <a:endParaRPr lang="en-RW" dirty="0"/>
          </a:p>
        </p:txBody>
      </p:sp>
      <p:sp>
        <p:nvSpPr>
          <p:cNvPr id="3" name="Content Placeholder 2">
            <a:extLst>
              <a:ext uri="{FF2B5EF4-FFF2-40B4-BE49-F238E27FC236}">
                <a16:creationId xmlns:a16="http://schemas.microsoft.com/office/drawing/2014/main" id="{F02300FA-3529-3369-B4FC-90A0D7BE9731}"/>
              </a:ext>
            </a:extLst>
          </p:cNvPr>
          <p:cNvSpPr>
            <a:spLocks noGrp="1"/>
          </p:cNvSpPr>
          <p:nvPr>
            <p:ph idx="1"/>
          </p:nvPr>
        </p:nvSpPr>
        <p:spPr/>
        <p:txBody>
          <a:bodyPr>
            <a:normAutofit fontScale="77500" lnSpcReduction="20000"/>
          </a:bodyPr>
          <a:lstStyle/>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Shashank was born into a middle-class family in a bustling city. From a young age, he displayed an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innate curiosity and a passion for problem-solving.</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His parents, recognizing his potential, encouraged him to pursue his interests and supported his academic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endeavors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In high school, Shashank excelled in mathematics and science, but he also had a keen interest in entrepreneurship. He often dreamed of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creating innovative solutions to address pressing issues in society</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However, like many teenagers, he was unsure of how to turn his aspirations into reality.</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Upon graduating from high school, Shashank decided to pursue a degree in engineering at a prestigious university. It was during his college years that he discovered the Entrepreneurship Cell (E-cell), a student-run organization dedicated to fostering entrepreneurial spirit and providing support to aspiring entrepreneurs.</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Joining the E-cell was a turning point for Shashank. He immersed himself in the vibrant entrepreneurial community</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 attending workshops, networking events, and startup competitions.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Inspired by the innovative ideas and passionate individuals he met; Shashank became determined to pursue his own entrepreneurial venture.</a:t>
            </a:r>
          </a:p>
          <a:p>
            <a:endParaRPr lang="en-RW" dirty="0"/>
          </a:p>
        </p:txBody>
      </p:sp>
    </p:spTree>
    <p:extLst>
      <p:ext uri="{BB962C8B-B14F-4D97-AF65-F5344CB8AC3E}">
        <p14:creationId xmlns:p14="http://schemas.microsoft.com/office/powerpoint/2010/main" val="34230050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7E5E-B862-0B7D-FB3F-E9CF7C6EE412}"/>
              </a:ext>
            </a:extLst>
          </p:cNvPr>
          <p:cNvSpPr>
            <a:spLocks noGrp="1"/>
          </p:cNvSpPr>
          <p:nvPr>
            <p:ph type="title"/>
          </p:nvPr>
        </p:nvSpPr>
        <p:spPr/>
        <p:txBody>
          <a:bodyPr/>
          <a:lstStyle/>
          <a:p>
            <a:endParaRPr lang="en-RW"/>
          </a:p>
        </p:txBody>
      </p:sp>
      <p:sp>
        <p:nvSpPr>
          <p:cNvPr id="3" name="Content Placeholder 2">
            <a:extLst>
              <a:ext uri="{FF2B5EF4-FFF2-40B4-BE49-F238E27FC236}">
                <a16:creationId xmlns:a16="http://schemas.microsoft.com/office/drawing/2014/main" id="{452B87D4-3DF5-E683-187F-004E3C6DC5E2}"/>
              </a:ext>
            </a:extLst>
          </p:cNvPr>
          <p:cNvSpPr>
            <a:spLocks noGrp="1"/>
          </p:cNvSpPr>
          <p:nvPr>
            <p:ph idx="1"/>
          </p:nvPr>
        </p:nvSpPr>
        <p:spPr/>
        <p:txBody>
          <a:bodyPr>
            <a:normAutofit fontScale="92500" lnSpcReduction="20000"/>
          </a:bodyPr>
          <a:lstStyle/>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During his second year of college, Shashank teamed up with a group of like-minded classmates to develop a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mobile application</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aimed at improving access to education for underprivileged children</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They spent countless hours brainstorming, designing, and refining their product,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fueled</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by their shared vision of making a positive impact on society.</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Despite facing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numerous challenges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and setbacks along the way, including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technical hurdles, funding constraints, and doubts from </a:t>
            </a:r>
            <a:r>
              <a:rPr lang="en-RW" sz="1800" kern="100" dirty="0" err="1">
                <a:effectLst/>
                <a:highlight>
                  <a:srgbClr val="FFFF00"/>
                </a:highlight>
                <a:latin typeface="Aptos" panose="020B0004020202020204" pitchFamily="34" charset="0"/>
                <a:ea typeface="Aptos" panose="020B0004020202020204" pitchFamily="34" charset="0"/>
                <a:cs typeface="Times New Roman" panose="02020603050405020304" pitchFamily="18" charset="0"/>
              </a:rPr>
              <a:t>skeptics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Shashank and his team persevered. With the guidance and support of mentors from the E-cell, they successfully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launched their app</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which gained traction and recognition within the education sector.</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As their startup grew, Shashank found himself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wearing many hats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 from coding and product development to marketing and fundraising. He embraced the opportunity to learn and grow as an entrepreneur, continuously seeking feedback, honing his skills, and expanding his network.</a:t>
            </a:r>
          </a:p>
          <a:p>
            <a:endParaRPr lang="en-RW" dirty="0"/>
          </a:p>
        </p:txBody>
      </p:sp>
    </p:spTree>
    <p:extLst>
      <p:ext uri="{BB962C8B-B14F-4D97-AF65-F5344CB8AC3E}">
        <p14:creationId xmlns:p14="http://schemas.microsoft.com/office/powerpoint/2010/main" val="32322860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E714C-9BCB-EF2D-97EB-72661E46BA42}"/>
              </a:ext>
            </a:extLst>
          </p:cNvPr>
          <p:cNvSpPr>
            <a:spLocks noGrp="1"/>
          </p:cNvSpPr>
          <p:nvPr>
            <p:ph type="title"/>
          </p:nvPr>
        </p:nvSpPr>
        <p:spPr/>
        <p:txBody>
          <a:bodyPr/>
          <a:lstStyle/>
          <a:p>
            <a:endParaRPr lang="en-RW"/>
          </a:p>
        </p:txBody>
      </p:sp>
      <p:sp>
        <p:nvSpPr>
          <p:cNvPr id="3" name="Content Placeholder 2">
            <a:extLst>
              <a:ext uri="{FF2B5EF4-FFF2-40B4-BE49-F238E27FC236}">
                <a16:creationId xmlns:a16="http://schemas.microsoft.com/office/drawing/2014/main" id="{B81167F6-677D-3E8A-2B4B-8D270A16F501}"/>
              </a:ext>
            </a:extLst>
          </p:cNvPr>
          <p:cNvSpPr>
            <a:spLocks noGrp="1"/>
          </p:cNvSpPr>
          <p:nvPr>
            <p:ph idx="1"/>
          </p:nvPr>
        </p:nvSpPr>
        <p:spPr/>
        <p:txBody>
          <a:bodyPr/>
          <a:lstStyle/>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Years later, Shashank's startup evolved into a thriving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social enterprise, reaching thousands of children across the country</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and garnering attention from investors and media alike. Despite his success, Shashank remained humble and grounded, always mindful of the core values that drove him to embark on his entrepreneurial journey in the first place.</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Today, Shashank serves as </a:t>
            </a:r>
            <a:r>
              <a:rPr lang="en-RW" sz="1800" u="sng"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a role model and inspiration to aspiring entrepreneurs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sharing his experiences and insights to help others realize their own dreams of making a difference in the world. His story is a testament to the power of passion, perseverance, and community in driving meaningful change and creating lasting impact.</a:t>
            </a:r>
          </a:p>
          <a:p>
            <a:endParaRPr lang="en-RW" dirty="0"/>
          </a:p>
        </p:txBody>
      </p:sp>
    </p:spTree>
    <p:extLst>
      <p:ext uri="{BB962C8B-B14F-4D97-AF65-F5344CB8AC3E}">
        <p14:creationId xmlns:p14="http://schemas.microsoft.com/office/powerpoint/2010/main" val="38649179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47FDA-B342-A6CC-C034-1053BD29DD8F}"/>
              </a:ext>
            </a:extLst>
          </p:cNvPr>
          <p:cNvSpPr>
            <a:spLocks noGrp="1"/>
          </p:cNvSpPr>
          <p:nvPr>
            <p:ph type="title"/>
          </p:nvPr>
        </p:nvSpPr>
        <p:spPr/>
        <p:txBody>
          <a:bodyPr/>
          <a:lstStyle/>
          <a:p>
            <a:r>
              <a:rPr lang="en-US" b="1" dirty="0"/>
              <a:t>How Shashank generated idea to start </a:t>
            </a:r>
            <a:r>
              <a:rPr lang="en-US" b="1" dirty="0" err="1" smtClean="0"/>
              <a:t>Practo</a:t>
            </a:r>
            <a:endParaRPr lang="en-RW" b="1" dirty="0"/>
          </a:p>
        </p:txBody>
      </p:sp>
      <p:sp>
        <p:nvSpPr>
          <p:cNvPr id="3" name="Content Placeholder 2">
            <a:extLst>
              <a:ext uri="{FF2B5EF4-FFF2-40B4-BE49-F238E27FC236}">
                <a16:creationId xmlns:a16="http://schemas.microsoft.com/office/drawing/2014/main" id="{BF54B32A-ED68-85EA-3B49-C72B82062847}"/>
              </a:ext>
            </a:extLst>
          </p:cNvPr>
          <p:cNvSpPr>
            <a:spLocks noGrp="1"/>
          </p:cNvSpPr>
          <p:nvPr>
            <p:ph idx="1"/>
          </p:nvPr>
        </p:nvSpPr>
        <p:spPr/>
        <p:txBody>
          <a:bodyPr>
            <a:normAutofit fontScale="85000" lnSpcReduction="10000"/>
          </a:bodyPr>
          <a:lstStyle/>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Shashank ND is the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co-founder of </a:t>
            </a:r>
            <a:r>
              <a:rPr lang="en-RW" sz="1800" kern="100" dirty="0" err="1">
                <a:effectLst/>
                <a:highlight>
                  <a:srgbClr val="FFFF00"/>
                </a:highlight>
                <a:latin typeface="Aptos" panose="020B0004020202020204" pitchFamily="34" charset="0"/>
                <a:ea typeface="Aptos" panose="020B0004020202020204" pitchFamily="34" charset="0"/>
                <a:cs typeface="Times New Roman" panose="02020603050405020304" pitchFamily="18" charset="0"/>
              </a:rPr>
              <a:t>Practo</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a leading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healthcare platform </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that connects millions of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patients with doctors and healthcare </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providers worldwide. The success story of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Practo</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and Shashank's journey as an entrepreneur is quite inspiring.</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The idea for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Practo</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stemmed from a personal experience Shashank had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while trying to find a good doctor for his parents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He realized the challenges people face in accessing quality healthcare services, including finding the right doctors, booking appointments, and managing medical records. This experience planted the seed for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Practo</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a platform that aims to simplify healthcare access and management through technology.</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Shashank, along with his friend and co-founder Abhinav Lal, officially started </a:t>
            </a:r>
            <a:r>
              <a:rPr lang="en-RW" sz="1800" kern="100" dirty="0" err="1">
                <a:effectLst/>
                <a:highlight>
                  <a:srgbClr val="FFFF00"/>
                </a:highlight>
                <a:latin typeface="Aptos" panose="020B0004020202020204" pitchFamily="34" charset="0"/>
                <a:ea typeface="Aptos" panose="020B0004020202020204" pitchFamily="34" charset="0"/>
                <a:cs typeface="Times New Roman" panose="02020603050405020304" pitchFamily="18" charset="0"/>
              </a:rPr>
              <a:t>Practo</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 in 2008</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They began by building a comprehensive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database of doctors, clinics, and hospitals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initially focusing on their home country, India. They aimed to provide users with an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easy-to-use platform </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where they could search for healthcare providers based on specialty, location, patient reviews, and other criteria.</a:t>
            </a:r>
          </a:p>
          <a:p>
            <a:endParaRPr lang="en-RW" dirty="0"/>
          </a:p>
        </p:txBody>
      </p:sp>
    </p:spTree>
    <p:extLst>
      <p:ext uri="{BB962C8B-B14F-4D97-AF65-F5344CB8AC3E}">
        <p14:creationId xmlns:p14="http://schemas.microsoft.com/office/powerpoint/2010/main" val="1731246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D6CC2-25AA-9959-830D-E0A5E9B54395}"/>
              </a:ext>
            </a:extLst>
          </p:cNvPr>
          <p:cNvSpPr>
            <a:spLocks noGrp="1"/>
          </p:cNvSpPr>
          <p:nvPr>
            <p:ph type="title"/>
          </p:nvPr>
        </p:nvSpPr>
        <p:spPr/>
        <p:txBody>
          <a:bodyPr/>
          <a:lstStyle/>
          <a:p>
            <a:endParaRPr lang="en-RW" dirty="0"/>
          </a:p>
        </p:txBody>
      </p:sp>
      <p:sp>
        <p:nvSpPr>
          <p:cNvPr id="3" name="Content Placeholder 2">
            <a:extLst>
              <a:ext uri="{FF2B5EF4-FFF2-40B4-BE49-F238E27FC236}">
                <a16:creationId xmlns:a16="http://schemas.microsoft.com/office/drawing/2014/main" id="{F36F298E-B2C9-6B58-64C8-34BE9DFA2E6E}"/>
              </a:ext>
            </a:extLst>
          </p:cNvPr>
          <p:cNvSpPr>
            <a:spLocks noGrp="1"/>
          </p:cNvSpPr>
          <p:nvPr>
            <p:ph idx="1"/>
          </p:nvPr>
        </p:nvSpPr>
        <p:spPr/>
        <p:txBody>
          <a:bodyPr>
            <a:normAutofit fontScale="92500" lnSpcReduction="20000"/>
          </a:bodyPr>
          <a:lstStyle/>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Over the years,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Practo</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evolved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and expanded its services to offer appointment booking, online consultations, telemedicine, electronic health records (</a:t>
            </a:r>
            <a:r>
              <a:rPr lang="en-RW" sz="1800" kern="100" dirty="0" err="1">
                <a:effectLst/>
                <a:highlight>
                  <a:srgbClr val="FFFF00"/>
                </a:highlight>
                <a:latin typeface="Aptos" panose="020B0004020202020204" pitchFamily="34" charset="0"/>
                <a:ea typeface="Aptos" panose="020B0004020202020204" pitchFamily="34" charset="0"/>
                <a:cs typeface="Times New Roman" panose="02020603050405020304" pitchFamily="18" charset="0"/>
              </a:rPr>
              <a:t>EHR</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and health insurance services. Shashank's vision and dedication to improving healthcare access through technology played a significant role in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Practo's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growth and success.</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The company's innovative approach to healthcare technology garnered attention not only in India but also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globally</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Practo</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quickly became one of the leading healthcare platforms,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serving millions of users and partnering with thousands of healthcare providers worldwide.</a:t>
            </a:r>
          </a:p>
          <a:p>
            <a:pPr algn="just">
              <a:lnSpc>
                <a:spcPct val="115000"/>
              </a:lnSpc>
              <a:spcAft>
                <a:spcPts val="800"/>
              </a:spcAft>
            </a:pPr>
            <a:r>
              <a:rPr lang="en-RW" sz="1800" kern="100" dirty="0">
                <a:effectLst/>
                <a:latin typeface="Aptos" panose="020B0004020202020204" pitchFamily="34" charset="0"/>
                <a:ea typeface="Aptos" panose="020B0004020202020204" pitchFamily="34" charset="0"/>
                <a:cs typeface="Times New Roman" panose="02020603050405020304" pitchFamily="18" charset="0"/>
              </a:rPr>
              <a:t>Shashank's leadership, coupled with his entrepreneurial spirit and commitment to making a positive impact on healthcare, has been instrumental in </a:t>
            </a:r>
            <a:r>
              <a:rPr lang="en-RW" sz="1800" kern="100" dirty="0" err="1">
                <a:effectLst/>
                <a:latin typeface="Aptos" panose="020B0004020202020204" pitchFamily="34" charset="0"/>
                <a:ea typeface="Aptos" panose="020B0004020202020204" pitchFamily="34" charset="0"/>
                <a:cs typeface="Times New Roman" panose="02020603050405020304" pitchFamily="18" charset="0"/>
              </a:rPr>
              <a:t>Practo's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journey from a startup to a successful multinational company. His story serves as an inspiration to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aspiring entrepreneurs</a:t>
            </a:r>
            <a:r>
              <a:rPr lang="en-RW" sz="1800" kern="100" dirty="0">
                <a:effectLst/>
                <a:latin typeface="Aptos" panose="020B0004020202020204" pitchFamily="34" charset="0"/>
                <a:ea typeface="Aptos" panose="020B0004020202020204" pitchFamily="34" charset="0"/>
                <a:cs typeface="Times New Roman" panose="02020603050405020304" pitchFamily="18" charset="0"/>
              </a:rPr>
              <a:t>, highlighting the importance of </a:t>
            </a:r>
            <a:r>
              <a:rPr lang="en-RW" sz="18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identifying problems, leveraging technology, and staying focused on the mission despite challenges along the way</a:t>
            </a:r>
          </a:p>
          <a:p>
            <a:endParaRPr lang="en-RW" dirty="0"/>
          </a:p>
        </p:txBody>
      </p:sp>
    </p:spTree>
    <p:extLst>
      <p:ext uri="{BB962C8B-B14F-4D97-AF65-F5344CB8AC3E}">
        <p14:creationId xmlns:p14="http://schemas.microsoft.com/office/powerpoint/2010/main" val="2950639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A6CF-5CFE-F259-2B0B-3A2DD13ED16E}"/>
              </a:ext>
            </a:extLst>
          </p:cNvPr>
          <p:cNvSpPr>
            <a:spLocks noGrp="1"/>
          </p:cNvSpPr>
          <p:nvPr>
            <p:ph type="title"/>
          </p:nvPr>
        </p:nvSpPr>
        <p:spPr/>
        <p:txBody>
          <a:bodyPr/>
          <a:lstStyle/>
          <a:p>
            <a:r>
              <a:rPr lang="en-US" dirty="0"/>
              <a:t>Class activity</a:t>
            </a:r>
            <a:endParaRPr lang="en-RW" dirty="0"/>
          </a:p>
        </p:txBody>
      </p:sp>
      <p:sp>
        <p:nvSpPr>
          <p:cNvPr id="3" name="Content Placeholder 2">
            <a:extLst>
              <a:ext uri="{FF2B5EF4-FFF2-40B4-BE49-F238E27FC236}">
                <a16:creationId xmlns:a16="http://schemas.microsoft.com/office/drawing/2014/main" id="{F0ABB45A-BF77-0918-A692-84F56F36EE19}"/>
              </a:ext>
            </a:extLst>
          </p:cNvPr>
          <p:cNvSpPr>
            <a:spLocks noGrp="1"/>
          </p:cNvSpPr>
          <p:nvPr>
            <p:ph idx="1"/>
          </p:nvPr>
        </p:nvSpPr>
        <p:spPr/>
        <p:txBody>
          <a:bodyPr/>
          <a:lstStyle/>
          <a:p>
            <a:r>
              <a:rPr lang="en-US" dirty="0"/>
              <a:t>Video: Idea Planes –Activity Instructions</a:t>
            </a:r>
          </a:p>
          <a:p>
            <a:r>
              <a:rPr lang="en-US" dirty="0">
                <a:hlinkClick r:id="rId2"/>
              </a:rPr>
              <a:t>Idea Planes – Activity Instructions (</a:t>
            </a:r>
            <a:r>
              <a:rPr lang="en-US" dirty="0" err="1">
                <a:hlinkClick r:id="rId2"/>
              </a:rPr>
              <a:t>youtube.com</a:t>
            </a:r>
            <a:r>
              <a:rPr lang="en-US" dirty="0">
                <a:hlinkClick r:id="rId2"/>
              </a:rPr>
              <a:t>)</a:t>
            </a:r>
            <a:endParaRPr lang="en-US" dirty="0"/>
          </a:p>
          <a:p>
            <a:r>
              <a:rPr lang="en-US" dirty="0"/>
              <a:t>Video: Idea Planes –Activity Debrief</a:t>
            </a:r>
          </a:p>
          <a:p>
            <a:endParaRPr lang="en-RW" dirty="0"/>
          </a:p>
        </p:txBody>
      </p:sp>
    </p:spTree>
    <p:extLst>
      <p:ext uri="{BB962C8B-B14F-4D97-AF65-F5344CB8AC3E}">
        <p14:creationId xmlns:p14="http://schemas.microsoft.com/office/powerpoint/2010/main" val="1339298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A BUSINESS IDEA</a:t>
            </a:r>
          </a:p>
        </p:txBody>
      </p:sp>
      <p:sp>
        <p:nvSpPr>
          <p:cNvPr id="3" name="Content Placeholder 2"/>
          <p:cNvSpPr>
            <a:spLocks noGrp="1"/>
          </p:cNvSpPr>
          <p:nvPr>
            <p:ph idx="1"/>
          </p:nvPr>
        </p:nvSpPr>
        <p:spPr/>
        <p:txBody>
          <a:bodyPr/>
          <a:lstStyle/>
          <a:p>
            <a:pPr algn="ctr"/>
            <a:r>
              <a:rPr lang="en-US" b="1" dirty="0" smtClean="0">
                <a:solidFill>
                  <a:srgbClr val="FF0000"/>
                </a:solidFill>
              </a:rPr>
              <a:t>GROUP ASSIGNMENT 2</a:t>
            </a:r>
          </a:p>
          <a:p>
            <a:pPr algn="ctr"/>
            <a:r>
              <a:rPr lang="en-US" b="1" dirty="0" smtClean="0"/>
              <a:t>IDENTIFY </a:t>
            </a:r>
            <a:r>
              <a:rPr lang="en-US" b="1" dirty="0"/>
              <a:t>BUSINESS OPPORTUNITIES AND DEVELOP A SUCCESSFUL BUSINESS IDEA(a problem to solve)</a:t>
            </a:r>
          </a:p>
          <a:p>
            <a:pPr algn="ctr"/>
            <a:r>
              <a:rPr lang="en-US" b="0" i="0" dirty="0">
                <a:solidFill>
                  <a:srgbClr val="0D0D0D"/>
                </a:solidFill>
                <a:effectLst/>
                <a:latin typeface="Söhne"/>
              </a:rPr>
              <a:t>In your groups </a:t>
            </a:r>
            <a:r>
              <a:rPr lang="en-US" dirty="0">
                <a:solidFill>
                  <a:srgbClr val="0D0D0D"/>
                </a:solidFill>
                <a:latin typeface="Söhne"/>
              </a:rPr>
              <a:t>each one generate the idea and brainstorm and choose one business idea</a:t>
            </a:r>
          </a:p>
          <a:p>
            <a:pPr algn="ctr"/>
            <a:r>
              <a:rPr lang="en-US" b="0" i="0" dirty="0">
                <a:solidFill>
                  <a:srgbClr val="0D0D0D"/>
                </a:solidFill>
                <a:effectLst/>
                <a:latin typeface="Söhne"/>
              </a:rPr>
              <a:t>Use the provided template to generate your business idea</a:t>
            </a:r>
          </a:p>
          <a:p>
            <a:pPr algn="ctr"/>
            <a:endParaRPr lang="en-US" b="1" dirty="0"/>
          </a:p>
        </p:txBody>
      </p:sp>
    </p:spTree>
    <p:extLst>
      <p:ext uri="{BB962C8B-B14F-4D97-AF65-F5344CB8AC3E}">
        <p14:creationId xmlns:p14="http://schemas.microsoft.com/office/powerpoint/2010/main" val="2129882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rgbClr val="00B050"/>
                </a:solidFill>
                <a:latin typeface="Times New Roman" panose="02020603050405020304" pitchFamily="18" charset="0"/>
                <a:cs typeface="Times New Roman" panose="02020603050405020304" pitchFamily="18" charset="0"/>
              </a:rPr>
              <a:t>Three ways  to identify a business opportunity</a:t>
            </a:r>
            <a:endParaRPr lang="en-US" dirty="0"/>
          </a:p>
        </p:txBody>
      </p:sp>
      <p:sp>
        <p:nvSpPr>
          <p:cNvPr id="3" name="Content Placeholder 2"/>
          <p:cNvSpPr>
            <a:spLocks noGrp="1"/>
          </p:cNvSpPr>
          <p:nvPr>
            <p:ph idx="1"/>
          </p:nvPr>
        </p:nvSpPr>
        <p:spPr/>
        <p:txBody>
          <a:bodyPr>
            <a:normAutofit/>
          </a:bodyPr>
          <a:lstStyle/>
          <a:p>
            <a:r>
              <a:rPr lang="en-US" dirty="0"/>
              <a:t>These are approaches that help to identifying opportunities and study how they create opportunities for entrepreneurs to pursue.</a:t>
            </a:r>
          </a:p>
          <a:p>
            <a:pPr marL="0" indent="0">
              <a:buNone/>
            </a:pPr>
            <a:endParaRPr lang="en-US" dirty="0"/>
          </a:p>
          <a:p>
            <a:r>
              <a:rPr lang="en-US" dirty="0"/>
              <a:t>Entrepreneurs can understand such ways by studying, analyzing and understanding how there can be an opportunity.</a:t>
            </a:r>
          </a:p>
          <a:p>
            <a:r>
              <a:rPr lang="en-US" dirty="0"/>
              <a:t>They can also do it by reading and understanding reports produced by researchers.</a:t>
            </a:r>
          </a:p>
          <a:p>
            <a:endParaRPr lang="en-US" dirty="0"/>
          </a:p>
        </p:txBody>
      </p:sp>
    </p:spTree>
    <p:extLst>
      <p:ext uri="{BB962C8B-B14F-4D97-AF65-F5344CB8AC3E}">
        <p14:creationId xmlns:p14="http://schemas.microsoft.com/office/powerpoint/2010/main" val="3879384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solidFill>
                  <a:srgbClr val="00B050"/>
                </a:solidFill>
                <a:latin typeface="Times New Roman" panose="02020603050405020304" pitchFamily="18" charset="0"/>
                <a:cs typeface="Times New Roman" panose="02020603050405020304" pitchFamily="18" charset="0"/>
              </a:rPr>
              <a:t>Three ways  to identify a business opportunity</a:t>
            </a:r>
            <a:endParaRPr lang="en-US" dirty="0"/>
          </a:p>
        </p:txBody>
      </p:sp>
      <p:sp>
        <p:nvSpPr>
          <p:cNvPr id="3" name="Content Placeholder 2"/>
          <p:cNvSpPr>
            <a:spLocks noGrp="1"/>
          </p:cNvSpPr>
          <p:nvPr>
            <p:ph idx="1"/>
          </p:nvPr>
        </p:nvSpPr>
        <p:spPr/>
        <p:txBody>
          <a:bodyPr/>
          <a:lstStyle/>
          <a:p>
            <a:pPr marL="0" indent="0">
              <a:buNone/>
            </a:pPr>
            <a:r>
              <a:rPr lang="en-US" dirty="0"/>
              <a:t>1. Observing Trends (PEST Analysis)</a:t>
            </a:r>
          </a:p>
          <a:p>
            <a:pPr marL="0" indent="0">
              <a:buNone/>
            </a:pPr>
            <a:r>
              <a:rPr lang="en-US" dirty="0"/>
              <a:t>2. Solving a Problem</a:t>
            </a:r>
          </a:p>
          <a:p>
            <a:pPr marL="0" indent="0">
              <a:buNone/>
            </a:pPr>
            <a:r>
              <a:rPr lang="en-US" dirty="0"/>
              <a:t>3. Finding Gaps in the Marketplace</a:t>
            </a:r>
          </a:p>
          <a:p>
            <a:endParaRPr lang="en-US" dirty="0"/>
          </a:p>
        </p:txBody>
      </p:sp>
    </p:spTree>
    <p:extLst>
      <p:ext uri="{BB962C8B-B14F-4D97-AF65-F5344CB8AC3E}">
        <p14:creationId xmlns:p14="http://schemas.microsoft.com/office/powerpoint/2010/main" val="1621621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9982E-9537-4BE2-88FE-2692DE48EAC9}"/>
              </a:ext>
            </a:extLst>
          </p:cNvPr>
          <p:cNvSpPr>
            <a:spLocks noGrp="1"/>
          </p:cNvSpPr>
          <p:nvPr>
            <p:ph type="title"/>
          </p:nvPr>
        </p:nvSpPr>
        <p:spPr>
          <a:xfrm>
            <a:off x="838200" y="365126"/>
            <a:ext cx="10515600" cy="315912"/>
          </a:xfrm>
        </p:spPr>
        <p:txBody>
          <a:bodyPr>
            <a:normAutofit fontScale="90000"/>
          </a:bodyPr>
          <a:lstStyle/>
          <a:p>
            <a:r>
              <a:rPr lang="en-US" altLang="en-US" b="1" dirty="0">
                <a:solidFill>
                  <a:srgbClr val="00B050"/>
                </a:solidFill>
                <a:latin typeface="Times New Roman" panose="02020603050405020304" pitchFamily="18" charset="0"/>
                <a:cs typeface="Times New Roman" panose="02020603050405020304" pitchFamily="18" charset="0"/>
              </a:rPr>
              <a:t>Three ways  to identify a business opportunity</a:t>
            </a:r>
            <a:endParaRPr lang="en-US" dirty="0"/>
          </a:p>
        </p:txBody>
      </p:sp>
      <p:sp>
        <p:nvSpPr>
          <p:cNvPr id="3" name="Content Placeholder 2">
            <a:extLst>
              <a:ext uri="{FF2B5EF4-FFF2-40B4-BE49-F238E27FC236}">
                <a16:creationId xmlns:a16="http://schemas.microsoft.com/office/drawing/2014/main" id="{A7C8ACA0-7159-469F-B715-EE347A5EDA39}"/>
              </a:ext>
            </a:extLst>
          </p:cNvPr>
          <p:cNvSpPr>
            <a:spLocks noGrp="1"/>
          </p:cNvSpPr>
          <p:nvPr>
            <p:ph idx="1"/>
          </p:nvPr>
        </p:nvSpPr>
        <p:spPr>
          <a:xfrm>
            <a:off x="838200" y="976187"/>
            <a:ext cx="10515600" cy="5807676"/>
          </a:xfrm>
        </p:spPr>
        <p:txBody>
          <a:bodyPr>
            <a:normAutofit fontScale="85000" lnSpcReduction="20000"/>
          </a:bodyPr>
          <a:lstStyle/>
          <a:p>
            <a:pPr marL="0" indent="0">
              <a:buNone/>
            </a:pPr>
            <a:r>
              <a:rPr lang="en-US" b="1" dirty="0"/>
              <a:t>1. Observing Trends (PEST Analysis)</a:t>
            </a:r>
          </a:p>
          <a:p>
            <a:r>
              <a:rPr lang="en-US" dirty="0"/>
              <a:t>Business opportunities can be discovered by analyzing </a:t>
            </a:r>
            <a:r>
              <a:rPr lang="en-US" b="1" dirty="0"/>
              <a:t>Political, Economic, Social, and Technological (PEST) trends</a:t>
            </a:r>
            <a:r>
              <a:rPr lang="en-US" dirty="0"/>
              <a:t> that shape industries.</a:t>
            </a:r>
          </a:p>
          <a:p>
            <a:r>
              <a:rPr lang="en-US" b="1" dirty="0"/>
              <a:t>Political Trends:</a:t>
            </a:r>
            <a:r>
              <a:rPr lang="en-US" dirty="0"/>
              <a:t> Government policies, regulations, and trade agreements can open up new markets.</a:t>
            </a:r>
          </a:p>
          <a:p>
            <a:pPr lvl="1"/>
            <a:r>
              <a:rPr lang="en-US" i="1" dirty="0">
                <a:solidFill>
                  <a:srgbClr val="FF0000"/>
                </a:solidFill>
              </a:rPr>
              <a:t>Example:</a:t>
            </a:r>
            <a:r>
              <a:rPr lang="en-US" dirty="0">
                <a:solidFill>
                  <a:srgbClr val="FF0000"/>
                </a:solidFill>
              </a:rPr>
              <a:t> Government incentives for renewable energy → Opportunity in </a:t>
            </a:r>
            <a:r>
              <a:rPr lang="en-US" b="1" dirty="0">
                <a:solidFill>
                  <a:srgbClr val="FF0000"/>
                </a:solidFill>
              </a:rPr>
              <a:t>solar and wind power solutions.</a:t>
            </a:r>
            <a:endParaRPr lang="en-US" dirty="0">
              <a:solidFill>
                <a:srgbClr val="FF0000"/>
              </a:solidFill>
            </a:endParaRPr>
          </a:p>
          <a:p>
            <a:r>
              <a:rPr lang="en-US" b="1" dirty="0"/>
              <a:t>Economic Trends:</a:t>
            </a:r>
            <a:r>
              <a:rPr lang="en-US" dirty="0"/>
              <a:t> Changes in income levels, inflation, and digital transactions affect consumer spending.</a:t>
            </a:r>
          </a:p>
          <a:p>
            <a:pPr lvl="1"/>
            <a:r>
              <a:rPr lang="en-US" i="1" dirty="0">
                <a:solidFill>
                  <a:srgbClr val="FF0000"/>
                </a:solidFill>
              </a:rPr>
              <a:t>Example:</a:t>
            </a:r>
            <a:r>
              <a:rPr lang="en-US" dirty="0">
                <a:solidFill>
                  <a:srgbClr val="FF0000"/>
                </a:solidFill>
              </a:rPr>
              <a:t> Rise in the digital economy → Growth in </a:t>
            </a:r>
            <a:r>
              <a:rPr lang="en-US" b="1" dirty="0">
                <a:solidFill>
                  <a:srgbClr val="FF0000"/>
                </a:solidFill>
              </a:rPr>
              <a:t>e-commerce, fintech, and remote work services.</a:t>
            </a:r>
            <a:endParaRPr lang="en-US" dirty="0">
              <a:solidFill>
                <a:srgbClr val="FF0000"/>
              </a:solidFill>
            </a:endParaRPr>
          </a:p>
          <a:p>
            <a:r>
              <a:rPr lang="en-US" b="1" dirty="0"/>
              <a:t>Social Trends:</a:t>
            </a:r>
            <a:r>
              <a:rPr lang="en-US" dirty="0"/>
              <a:t> Consumer behavior, demographics, and lifestyle changes drive demand for new products.</a:t>
            </a:r>
          </a:p>
          <a:p>
            <a:pPr lvl="1"/>
            <a:r>
              <a:rPr lang="en-US" i="1" dirty="0">
                <a:solidFill>
                  <a:srgbClr val="FF0000"/>
                </a:solidFill>
              </a:rPr>
              <a:t>Example:</a:t>
            </a:r>
            <a:r>
              <a:rPr lang="en-US" dirty="0">
                <a:solidFill>
                  <a:srgbClr val="FF0000"/>
                </a:solidFill>
              </a:rPr>
              <a:t> Increasing health awareness → Demand for </a:t>
            </a:r>
            <a:r>
              <a:rPr lang="en-US" b="1" dirty="0">
                <a:solidFill>
                  <a:srgbClr val="FF0000"/>
                </a:solidFill>
              </a:rPr>
              <a:t>organic food, fitness apps, and wellness products</a:t>
            </a:r>
            <a:r>
              <a:rPr lang="en-US" b="1" dirty="0"/>
              <a:t>.</a:t>
            </a:r>
            <a:endParaRPr lang="en-US" dirty="0"/>
          </a:p>
          <a:p>
            <a:r>
              <a:rPr lang="en-US" b="1" dirty="0"/>
              <a:t>Technological Trends:</a:t>
            </a:r>
            <a:r>
              <a:rPr lang="en-US" dirty="0"/>
              <a:t> Advancements in AI, automation, and IoT create new business models.</a:t>
            </a:r>
          </a:p>
          <a:p>
            <a:pPr lvl="1"/>
            <a:r>
              <a:rPr lang="en-US" i="1" dirty="0">
                <a:solidFill>
                  <a:srgbClr val="FF0000"/>
                </a:solidFill>
              </a:rPr>
              <a:t>Example:</a:t>
            </a:r>
            <a:r>
              <a:rPr lang="en-US" dirty="0">
                <a:solidFill>
                  <a:srgbClr val="FF0000"/>
                </a:solidFill>
              </a:rPr>
              <a:t> Smart farming solutions to </a:t>
            </a:r>
            <a:r>
              <a:rPr lang="en-US" b="1" dirty="0">
                <a:solidFill>
                  <a:srgbClr val="FF0000"/>
                </a:solidFill>
              </a:rPr>
              <a:t>increase crop yields and reduce costs in agribusiness.</a:t>
            </a:r>
            <a:endParaRPr lang="en-US" dirty="0">
              <a:solidFill>
                <a:srgbClr val="FF0000"/>
              </a:solidFill>
            </a:endParaRPr>
          </a:p>
          <a:p>
            <a:endParaRPr lang="en-US" dirty="0"/>
          </a:p>
        </p:txBody>
      </p:sp>
    </p:spTree>
    <p:extLst>
      <p:ext uri="{BB962C8B-B14F-4D97-AF65-F5344CB8AC3E}">
        <p14:creationId xmlns:p14="http://schemas.microsoft.com/office/powerpoint/2010/main" val="4119684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A2ED-055E-4F2F-A110-A720F6B0267E}"/>
              </a:ext>
            </a:extLst>
          </p:cNvPr>
          <p:cNvSpPr>
            <a:spLocks noGrp="1"/>
          </p:cNvSpPr>
          <p:nvPr>
            <p:ph type="title"/>
          </p:nvPr>
        </p:nvSpPr>
        <p:spPr>
          <a:xfrm>
            <a:off x="838200" y="365126"/>
            <a:ext cx="10515600" cy="623416"/>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47F1847C-9436-42F4-AA45-6FB0F0199972}"/>
              </a:ext>
            </a:extLst>
          </p:cNvPr>
          <p:cNvSpPr>
            <a:spLocks noGrp="1"/>
          </p:cNvSpPr>
          <p:nvPr>
            <p:ph idx="1"/>
          </p:nvPr>
        </p:nvSpPr>
        <p:spPr>
          <a:xfrm>
            <a:off x="838200" y="1363060"/>
            <a:ext cx="10515600" cy="4351338"/>
          </a:xfrm>
        </p:spPr>
        <p:txBody>
          <a:bodyPr>
            <a:normAutofit fontScale="77500" lnSpcReduction="20000"/>
          </a:bodyPr>
          <a:lstStyle/>
          <a:p>
            <a:pPr marL="0" indent="0">
              <a:buNone/>
            </a:pPr>
            <a:r>
              <a:rPr lang="en-US" b="1" dirty="0"/>
              <a:t>2. solving a problem</a:t>
            </a:r>
          </a:p>
          <a:p>
            <a:r>
              <a:rPr lang="en-US" b="1" dirty="0"/>
              <a:t>How to Identify a Problem:</a:t>
            </a:r>
            <a:endParaRPr lang="en-US" dirty="0"/>
          </a:p>
          <a:p>
            <a:r>
              <a:rPr lang="en-US" dirty="0"/>
              <a:t>Observe pain points in daily life or industry inefficiencies.</a:t>
            </a:r>
          </a:p>
          <a:p>
            <a:r>
              <a:rPr lang="en-US" dirty="0"/>
              <a:t>Gather customer feedback on what frustrates them.</a:t>
            </a:r>
          </a:p>
          <a:p>
            <a:r>
              <a:rPr lang="en-US" dirty="0"/>
              <a:t>Look for problems that lack a simple or affordable solution.</a:t>
            </a:r>
          </a:p>
          <a:p>
            <a:r>
              <a:rPr lang="en-US" dirty="0"/>
              <a:t> </a:t>
            </a:r>
            <a:r>
              <a:rPr lang="en-US" b="1" dirty="0"/>
              <a:t>Examples:</a:t>
            </a:r>
            <a:endParaRPr lang="en-US" dirty="0"/>
          </a:p>
          <a:p>
            <a:r>
              <a:rPr lang="en-US" b="1" dirty="0"/>
              <a:t>Traffic Congestion</a:t>
            </a:r>
            <a:r>
              <a:rPr lang="en-US" dirty="0"/>
              <a:t> → </a:t>
            </a:r>
            <a:r>
              <a:rPr lang="en-US" i="1" dirty="0"/>
              <a:t>Ride-sharing &amp; electric bike solutions (e.g., Uber).</a:t>
            </a:r>
            <a:endParaRPr lang="en-US" dirty="0"/>
          </a:p>
          <a:p>
            <a:r>
              <a:rPr lang="en-US" b="1" dirty="0"/>
              <a:t>Unreliable Power Supply</a:t>
            </a:r>
            <a:r>
              <a:rPr lang="en-US" dirty="0"/>
              <a:t> → </a:t>
            </a:r>
            <a:r>
              <a:rPr lang="en-US" i="1" dirty="0"/>
              <a:t>Solar-powered home systems for off-grid areas.</a:t>
            </a:r>
            <a:endParaRPr lang="en-US" dirty="0"/>
          </a:p>
          <a:p>
            <a:r>
              <a:rPr lang="en-US" b="1" dirty="0"/>
              <a:t>Limited Access to Clean Water</a:t>
            </a:r>
            <a:r>
              <a:rPr lang="en-US" dirty="0"/>
              <a:t> → </a:t>
            </a:r>
            <a:r>
              <a:rPr lang="en-US" i="1" dirty="0"/>
              <a:t>Affordable water purification systems.</a:t>
            </a:r>
            <a:endParaRPr lang="en-US" dirty="0"/>
          </a:p>
          <a:p>
            <a:endParaRPr lang="en-US" dirty="0"/>
          </a:p>
        </p:txBody>
      </p:sp>
    </p:spTree>
    <p:extLst>
      <p:ext uri="{BB962C8B-B14F-4D97-AF65-F5344CB8AC3E}">
        <p14:creationId xmlns:p14="http://schemas.microsoft.com/office/powerpoint/2010/main" val="1932153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2714C9-BB39-42FD-B988-837C2D75AA6B}"/>
              </a:ext>
            </a:extLst>
          </p:cNvPr>
          <p:cNvSpPr>
            <a:spLocks noGrp="1"/>
          </p:cNvSpPr>
          <p:nvPr>
            <p:ph idx="1"/>
          </p:nvPr>
        </p:nvSpPr>
        <p:spPr>
          <a:xfrm>
            <a:off x="838200" y="852616"/>
            <a:ext cx="10515600" cy="5324347"/>
          </a:xfrm>
        </p:spPr>
        <p:txBody>
          <a:bodyPr>
            <a:normAutofit fontScale="92500" lnSpcReduction="20000"/>
          </a:bodyPr>
          <a:lstStyle/>
          <a:p>
            <a:pPr marL="0" indent="0">
              <a:buNone/>
            </a:pPr>
            <a:r>
              <a:rPr lang="en-US" b="1" dirty="0"/>
              <a:t>3. Finding Gaps in the Marketplace</a:t>
            </a:r>
          </a:p>
          <a:p>
            <a:r>
              <a:rPr lang="en-US" b="1" dirty="0"/>
              <a:t>How to Find Market Gaps:</a:t>
            </a:r>
            <a:endParaRPr lang="en-US" dirty="0"/>
          </a:p>
          <a:p>
            <a:r>
              <a:rPr lang="en-US" dirty="0"/>
              <a:t>Analyze competitors to see what's missing.</a:t>
            </a:r>
          </a:p>
          <a:p>
            <a:r>
              <a:rPr lang="en-US" dirty="0"/>
              <a:t>Identify products/services that lack availability in certain areas.</a:t>
            </a:r>
          </a:p>
          <a:p>
            <a:r>
              <a:rPr lang="en-US" dirty="0"/>
              <a:t>Observe changing customer preferences that aren't being addressed.</a:t>
            </a:r>
          </a:p>
          <a:p>
            <a:r>
              <a:rPr lang="en-US" b="1" dirty="0"/>
              <a:t>Examples:</a:t>
            </a:r>
            <a:endParaRPr lang="en-US" dirty="0"/>
          </a:p>
          <a:p>
            <a:r>
              <a:rPr lang="en-US" b="1" dirty="0"/>
              <a:t>Limited Online Grocery Services in Small Towns</a:t>
            </a:r>
            <a:r>
              <a:rPr lang="en-US" dirty="0"/>
              <a:t> → </a:t>
            </a:r>
            <a:r>
              <a:rPr lang="en-US" i="1" dirty="0"/>
              <a:t>Opportunity: Launch a local delivery platform.</a:t>
            </a:r>
            <a:endParaRPr lang="en-US" dirty="0"/>
          </a:p>
          <a:p>
            <a:r>
              <a:rPr lang="en-US" b="1" dirty="0"/>
              <a:t>Lack of Affordable Healthcare</a:t>
            </a:r>
            <a:r>
              <a:rPr lang="en-US" dirty="0"/>
              <a:t> → </a:t>
            </a:r>
            <a:r>
              <a:rPr lang="en-US" i="1" dirty="0"/>
              <a:t>Telemedicine services to connect patients with doctors remotely.</a:t>
            </a:r>
            <a:endParaRPr lang="en-US" dirty="0"/>
          </a:p>
          <a:p>
            <a:r>
              <a:rPr lang="en-US" b="1" dirty="0"/>
              <a:t>Few Women-Focused Financial Services</a:t>
            </a:r>
            <a:r>
              <a:rPr lang="en-US" dirty="0"/>
              <a:t> → </a:t>
            </a:r>
            <a:r>
              <a:rPr lang="en-US" i="1" dirty="0"/>
              <a:t>Creating banking products tailored to female entrepreneurs.</a:t>
            </a:r>
            <a:endParaRPr lang="en-US" dirty="0"/>
          </a:p>
          <a:p>
            <a:endParaRPr lang="en-US" dirty="0"/>
          </a:p>
          <a:p>
            <a:pPr marL="0" indent="0">
              <a:buNone/>
            </a:pPr>
            <a:endParaRPr lang="en-US" dirty="0"/>
          </a:p>
        </p:txBody>
      </p:sp>
    </p:spTree>
    <p:extLst>
      <p:ext uri="{BB962C8B-B14F-4D97-AF65-F5344CB8AC3E}">
        <p14:creationId xmlns:p14="http://schemas.microsoft.com/office/powerpoint/2010/main" val="1957621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a:latin typeface="Avenir Next Regular"/>
                <a:ea typeface="Avenir Next Regular"/>
                <a:cs typeface="Avenir Next Regular"/>
                <a:sym typeface="Avenir Next Regular"/>
              </a:rPr>
              <a:t>Form Team and Assign Roles </a:t>
            </a:r>
            <a:r>
              <a:rPr lang="en-US" sz="4800" b="1" dirty="0">
                <a:latin typeface="Avenir Next Regular"/>
                <a:ea typeface="Avenir Next Regular"/>
                <a:cs typeface="Avenir Next Regular"/>
                <a:sym typeface="Avenir Next Regular"/>
              </a:rPr>
              <a:t>– </a:t>
            </a:r>
            <a:r>
              <a:rPr lang="en-US" sz="4000" b="1" dirty="0">
                <a:latin typeface="Avenir Next Regular"/>
                <a:ea typeface="Avenir Next Regular"/>
                <a:cs typeface="Avenir Next Regular"/>
                <a:sym typeface="Avenir Next Regular"/>
              </a:rPr>
              <a:t>Process Flow</a:t>
            </a:r>
            <a:br>
              <a:rPr lang="en-US" sz="4000" b="1" dirty="0">
                <a:latin typeface="Avenir Next Regular"/>
                <a:ea typeface="Avenir Next Regular"/>
                <a:cs typeface="Avenir Next Regular"/>
                <a:sym typeface="Avenir Next Regular"/>
              </a:rPr>
            </a:br>
            <a:endParaRPr lang="en-US" dirty="0"/>
          </a:p>
        </p:txBody>
      </p:sp>
      <p:sp>
        <p:nvSpPr>
          <p:cNvPr id="3" name="Content Placeholder 2"/>
          <p:cNvSpPr>
            <a:spLocks noGrp="1"/>
          </p:cNvSpPr>
          <p:nvPr>
            <p:ph idx="1"/>
          </p:nvPr>
        </p:nvSpPr>
        <p:spPr/>
        <p:txBody>
          <a:bodyPr>
            <a:noAutofit/>
          </a:bodyPr>
          <a:lstStyle/>
          <a:p>
            <a:pPr lvl="0" defTabSz="825500">
              <a:defRPr sz="1800"/>
            </a:pPr>
            <a:r>
              <a:rPr lang="en-US" sz="3200" dirty="0">
                <a:latin typeface="Times New Roman" panose="02020603050405020304" pitchFamily="18" charset="0"/>
                <a:ea typeface="Avenir Next Regular"/>
                <a:cs typeface="Times New Roman" panose="02020603050405020304" pitchFamily="18" charset="0"/>
                <a:sym typeface="Avenir Next Regular"/>
              </a:rPr>
              <a:t>Entrepreneurship is a long journey and can become lonely without a team working together with you. What's more, you can’t be everywhere and or possess all the skills to guide your venture to success. That is where your team comes in! Each member plays a particular role in a venture. Someone becomes a CEO, someone a CFO, and so on. So, who are the people you would like to work with in your practice venture? And what role would you like to take up? We believe that every team member should have a fair shot to take up the role of a CEO. To nominate yourself as the CEO,</a:t>
            </a:r>
            <a:r>
              <a:rPr lang="en-US" sz="3200" b="1" dirty="0">
                <a:latin typeface="Times New Roman" panose="02020603050405020304" pitchFamily="18" charset="0"/>
                <a:ea typeface="Avenir Next Demi Bold"/>
                <a:cs typeface="Times New Roman" panose="02020603050405020304" pitchFamily="18" charset="0"/>
                <a:sym typeface="Avenir Next Demi Bold"/>
              </a:rPr>
              <a:t> make your Elevator Pitch!</a:t>
            </a:r>
          </a:p>
        </p:txBody>
      </p:sp>
    </p:spTree>
    <p:extLst>
      <p:ext uri="{BB962C8B-B14F-4D97-AF65-F5344CB8AC3E}">
        <p14:creationId xmlns:p14="http://schemas.microsoft.com/office/powerpoint/2010/main" val="1857421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1" dirty="0"/>
              <a:t>1. Sign up </a:t>
            </a:r>
          </a:p>
          <a:p>
            <a:pPr lvl="0"/>
            <a:r>
              <a:rPr lang="en-US" dirty="0">
                <a:latin typeface="Avenir Book"/>
                <a:ea typeface="Avenir Book"/>
                <a:cs typeface="Avenir Book"/>
                <a:sym typeface="Avenir Book"/>
              </a:rPr>
              <a:t>You can sign up to be a CEO by entering your name for the elevator pitch activity, which is the second part of this activity.</a:t>
            </a:r>
          </a:p>
          <a:p>
            <a:pPr lvl="0"/>
            <a:r>
              <a:rPr lang="en-US" b="1" dirty="0">
                <a:latin typeface="Avenir Book"/>
                <a:ea typeface="Avenir Book"/>
                <a:cs typeface="Avenir Book"/>
                <a:sym typeface="Avenir Book"/>
              </a:rPr>
              <a:t>2. Campaign</a:t>
            </a:r>
          </a:p>
          <a:p>
            <a:r>
              <a:rPr lang="en-US" dirty="0"/>
              <a:t>Fill up the document in the second part of this activity to create your elevator pitch. Moreover, if you are creatively inclined, you can make a poster to showcase yourself as the CEO to work with. </a:t>
            </a:r>
          </a:p>
          <a:p>
            <a:pPr lvl="0"/>
            <a:endParaRPr lang="en-US" dirty="0">
              <a:latin typeface="Avenir Book"/>
              <a:ea typeface="Avenir Book"/>
              <a:cs typeface="Avenir Book"/>
              <a:sym typeface="Avenir Book"/>
            </a:endParaRPr>
          </a:p>
          <a:p>
            <a:endParaRPr lang="en-US" dirty="0"/>
          </a:p>
        </p:txBody>
      </p:sp>
      <p:sp>
        <p:nvSpPr>
          <p:cNvPr id="4" name="Shape 37"/>
          <p:cNvSpPr>
            <a:spLocks noGrp="1"/>
          </p:cNvSpPr>
          <p:nvPr>
            <p:ph type="title"/>
          </p:nvPr>
        </p:nvSpPr>
        <p:spPr>
          <a:xfrm>
            <a:off x="4776717" y="1345834"/>
            <a:ext cx="2638566" cy="576463"/>
          </a:xfrm>
          <a:prstGeom prst="rect">
            <a:avLst/>
          </a:prstGeom>
          <a:ln w="3175">
            <a:miter lim="400000"/>
          </a:ln>
          <a:extLst>
            <a:ext uri="{C572A759-6A51-4108-AA02-DFA0A04FC94B}">
              <ma14:wrappingTextBoxFlag xmlns:ma14="http://schemas.microsoft.com/office/mac/drawingml/2011/main" xmlns="" val="1"/>
            </a:ext>
          </a:extLst>
        </p:spPr>
        <p:txBody>
          <a:bodyPr wrap="none" lIns="11124" tIns="11124" rIns="11124" bIns="11124" anchor="ctr">
            <a:spAutoFit/>
          </a:bodyPr>
          <a:lstStyle>
            <a:lvl1pPr defTabSz="825500">
              <a:defRPr sz="2000">
                <a:latin typeface="Avenir Black"/>
                <a:ea typeface="Avenir Black"/>
                <a:cs typeface="Avenir Black"/>
                <a:sym typeface="Avenir Black"/>
              </a:defRPr>
            </a:lvl1pPr>
          </a:lstStyle>
          <a:p>
            <a:pPr lvl="0">
              <a:defRPr sz="1800"/>
            </a:pPr>
            <a:r>
              <a:rPr sz="3600" dirty="0"/>
              <a:t>How it works</a:t>
            </a:r>
          </a:p>
        </p:txBody>
      </p:sp>
    </p:spTree>
    <p:extLst>
      <p:ext uri="{BB962C8B-B14F-4D97-AF65-F5344CB8AC3E}">
        <p14:creationId xmlns:p14="http://schemas.microsoft.com/office/powerpoint/2010/main" val="3968794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lvl="0" indent="0">
              <a:buNone/>
            </a:pPr>
            <a:r>
              <a:rPr lang="en-US" dirty="0"/>
              <a:t>3. </a:t>
            </a:r>
            <a:r>
              <a:rPr lang="en-US" b="1" dirty="0">
                <a:solidFill>
                  <a:schemeClr val="tx1"/>
                </a:solidFill>
              </a:rPr>
              <a:t>Elevator Pitch</a:t>
            </a:r>
          </a:p>
          <a:p>
            <a:pPr marL="0" lvl="0" indent="0">
              <a:buNone/>
            </a:pPr>
            <a:r>
              <a:rPr lang="en-US" dirty="0"/>
              <a:t>You get 60 seconds to talk about skills, your entrepreneurial style, and why people should join your team. </a:t>
            </a:r>
          </a:p>
          <a:p>
            <a:pPr marL="0" lvl="0" indent="0">
              <a:buNone/>
            </a:pPr>
            <a:r>
              <a:rPr lang="en-US" dirty="0"/>
              <a:t>4. </a:t>
            </a:r>
            <a:r>
              <a:rPr lang="en-US" b="1" dirty="0"/>
              <a:t>Preferences</a:t>
            </a:r>
          </a:p>
          <a:p>
            <a:pPr lvl="0" defTabSz="825500">
              <a:lnSpc>
                <a:spcPct val="90000"/>
              </a:lnSpc>
              <a:defRPr sz="1800"/>
            </a:pPr>
            <a:r>
              <a:rPr lang="en-US" dirty="0">
                <a:latin typeface="Avenir Book"/>
                <a:ea typeface="Avenir Book"/>
                <a:cs typeface="Avenir Book"/>
                <a:sym typeface="Avenir Book"/>
              </a:rPr>
              <a:t>If you are </a:t>
            </a:r>
            <a:r>
              <a:rPr lang="en-US" b="1" dirty="0">
                <a:latin typeface="Avenir Book"/>
                <a:ea typeface="Avenir Book"/>
                <a:cs typeface="Avenir Book"/>
                <a:sym typeface="Avenir Book"/>
              </a:rPr>
              <a:t>not</a:t>
            </a:r>
            <a:r>
              <a:rPr lang="en-US" dirty="0">
                <a:latin typeface="Avenir Book"/>
                <a:ea typeface="Avenir Book"/>
                <a:cs typeface="Avenir Book"/>
                <a:sym typeface="Avenir Book"/>
              </a:rPr>
              <a:t> making an elevator pitch, you can write down which CEO you’d like to work with. </a:t>
            </a:r>
          </a:p>
          <a:p>
            <a:pPr lvl="0" defTabSz="825500">
              <a:lnSpc>
                <a:spcPct val="90000"/>
              </a:lnSpc>
              <a:defRPr sz="1800"/>
            </a:pPr>
            <a:r>
              <a:rPr lang="en-US" dirty="0">
                <a:latin typeface="Avenir Book"/>
                <a:ea typeface="Avenir Book"/>
                <a:cs typeface="Avenir Book"/>
                <a:sym typeface="Avenir Book"/>
              </a:rPr>
              <a:t>You can write up to 5 names, in the order of your preference.</a:t>
            </a:r>
          </a:p>
          <a:p>
            <a:pPr marL="0" lvl="0" indent="0">
              <a:buNone/>
            </a:pPr>
            <a:endParaRPr lang="en-US" dirty="0"/>
          </a:p>
          <a:p>
            <a:pPr marL="0" indent="0">
              <a:buNone/>
            </a:pPr>
            <a:endParaRPr lang="en-US" dirty="0"/>
          </a:p>
        </p:txBody>
      </p:sp>
    </p:spTree>
    <p:extLst>
      <p:ext uri="{BB962C8B-B14F-4D97-AF65-F5344CB8AC3E}">
        <p14:creationId xmlns:p14="http://schemas.microsoft.com/office/powerpoint/2010/main" val="39674699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b="1" dirty="0">
                <a:solidFill>
                  <a:schemeClr val="tx1"/>
                </a:solidFill>
              </a:rPr>
              <a:t>Form Teams</a:t>
            </a:r>
          </a:p>
          <a:p>
            <a:pPr lvl="0">
              <a:defRPr sz="1800"/>
            </a:pPr>
            <a:r>
              <a:rPr lang="en-US" dirty="0"/>
              <a:t>Your Facilitator will help you form teams once the elevator pitches are done. Teams will be formed basis your preferences and a good mix of entrepreneurial styles. </a:t>
            </a:r>
          </a:p>
          <a:p>
            <a:pPr lvl="0">
              <a:defRPr sz="1800"/>
            </a:pPr>
            <a:r>
              <a:rPr lang="en-US" dirty="0"/>
              <a:t>Each person in the team must take up a specific role, such as Chief Executive Officer (CEO), Chief Marketing Officer (CMO), Chief Financial Officer (CFO), Chief Operating Officer (COO), Chief Product Officer (CPO), Sales Head, etc.</a:t>
            </a:r>
          </a:p>
          <a:p>
            <a:endParaRPr lang="en-US" dirty="0"/>
          </a:p>
        </p:txBody>
      </p:sp>
    </p:spTree>
    <p:extLst>
      <p:ext uri="{BB962C8B-B14F-4D97-AF65-F5344CB8AC3E}">
        <p14:creationId xmlns:p14="http://schemas.microsoft.com/office/powerpoint/2010/main" val="2506193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Checklist</a:t>
            </a:r>
          </a:p>
          <a:p>
            <a:r>
              <a:rPr lang="en-US" dirty="0"/>
              <a:t>Get the paper for writing preferences</a:t>
            </a:r>
          </a:p>
          <a:p>
            <a:r>
              <a:rPr lang="en-US" dirty="0"/>
              <a:t>Elevator pitch framework</a:t>
            </a:r>
          </a:p>
          <a:p>
            <a:r>
              <a:rPr lang="en-US" dirty="0"/>
              <a:t>Pens/Pencils</a:t>
            </a:r>
          </a:p>
        </p:txBody>
      </p:sp>
    </p:spTree>
    <p:extLst>
      <p:ext uri="{BB962C8B-B14F-4D97-AF65-F5344CB8AC3E}">
        <p14:creationId xmlns:p14="http://schemas.microsoft.com/office/powerpoint/2010/main" val="3054528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a:defRPr/>
            </a:pPr>
            <a:r>
              <a:rPr lang="en-US" dirty="0"/>
              <a:t>FEASIBILITY ANALYSIS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981200" y="1"/>
            <a:ext cx="8229600" cy="715963"/>
          </a:xfrm>
        </p:spPr>
        <p:txBody>
          <a:bodyPr/>
          <a:lstStyle/>
          <a:p>
            <a:pPr eaLnBrk="1" hangingPunct="1"/>
            <a:r>
              <a:rPr lang="en-US" sz="3200" b="1"/>
              <a:t>Introduction</a:t>
            </a:r>
          </a:p>
        </p:txBody>
      </p:sp>
      <p:sp>
        <p:nvSpPr>
          <p:cNvPr id="3075" name="Content Placeholder 2"/>
          <p:cNvSpPr>
            <a:spLocks noGrp="1"/>
          </p:cNvSpPr>
          <p:nvPr>
            <p:ph idx="1"/>
          </p:nvPr>
        </p:nvSpPr>
        <p:spPr>
          <a:xfrm>
            <a:off x="185351" y="715964"/>
            <a:ext cx="11553568" cy="6065836"/>
          </a:xfrm>
        </p:spPr>
        <p:txBody>
          <a:bodyPr>
            <a:normAutofit/>
          </a:bodyPr>
          <a:lstStyle/>
          <a:p>
            <a:pPr marL="274320" indent="-274320" algn="just">
              <a:buClr>
                <a:schemeClr val="accent3"/>
              </a:buClr>
              <a:buFont typeface="Wingdings 2"/>
              <a:buChar char=""/>
              <a:defRPr/>
            </a:pPr>
            <a:r>
              <a:rPr lang="en-US" b="1" dirty="0"/>
              <a:t>Feasibility  analysis </a:t>
            </a:r>
            <a:r>
              <a:rPr lang="en-US" dirty="0"/>
              <a:t>is the process of determining if a business idea is viable/workable/possible.</a:t>
            </a:r>
          </a:p>
          <a:p>
            <a:pPr marL="274320" indent="-274320" algn="just">
              <a:buClr>
                <a:schemeClr val="accent3"/>
              </a:buClr>
              <a:buFont typeface="Wingdings 2"/>
              <a:buChar char=""/>
              <a:defRPr/>
            </a:pPr>
            <a:r>
              <a:rPr lang="en-US" dirty="0"/>
              <a:t>As a preliminary/beginning/groundwork evaluation of a business idea, a feasibility analysis is completed to determine if an idea is worth/meaning pursuing and to screen ideas before spending  resources on them.</a:t>
            </a:r>
          </a:p>
          <a:p>
            <a:pPr marL="274320" indent="-274320" algn="just">
              <a:buClr>
                <a:schemeClr val="accent3"/>
              </a:buClr>
              <a:buFont typeface="Wingdings 2"/>
              <a:buChar char=""/>
              <a:defRPr/>
            </a:pPr>
            <a:r>
              <a:rPr lang="en-US" dirty="0"/>
              <a:t>It follows the </a:t>
            </a:r>
            <a:r>
              <a:rPr lang="en-US" b="1" dirty="0"/>
              <a:t>opportunity recognition stage </a:t>
            </a:r>
            <a:r>
              <a:rPr lang="en-US" dirty="0"/>
              <a:t> but comes before the </a:t>
            </a:r>
            <a:r>
              <a:rPr lang="en-US" b="1" dirty="0"/>
              <a:t>development of a business plan.</a:t>
            </a:r>
          </a:p>
          <a:p>
            <a:pPr marL="274320" indent="-274320" algn="just">
              <a:buClr>
                <a:schemeClr val="accent3"/>
              </a:buClr>
              <a:buFont typeface="Wingdings 2"/>
              <a:buChar char=""/>
              <a:defRPr/>
            </a:pPr>
            <a:r>
              <a:rPr lang="en-US" dirty="0"/>
              <a:t>When a business idea is deemed unworkable, it should be dropped or rethought; if it is rethought and slightly a different version of the original idea emerges, the new idea should be subjected to the same level of feasibility as the original idea.</a:t>
            </a:r>
          </a:p>
          <a:p>
            <a:pPr marL="274320" indent="-274320" algn="just">
              <a:buClr>
                <a:schemeClr val="accent3"/>
              </a:buClr>
              <a:buFont typeface="Wingdings 2"/>
              <a:buChar char=""/>
              <a:defRPr/>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981200" y="274638"/>
            <a:ext cx="8229600" cy="411162"/>
          </a:xfrm>
        </p:spPr>
        <p:txBody>
          <a:bodyPr>
            <a:normAutofit fontScale="90000"/>
          </a:bodyPr>
          <a:lstStyle/>
          <a:p>
            <a:pPr>
              <a:defRPr/>
            </a:pPr>
            <a:r>
              <a:rPr lang="en-US" sz="3200" b="1" dirty="0"/>
              <a:t>Feasibility  analysis framework</a:t>
            </a:r>
            <a:endParaRPr lang="en-US" sz="3200" dirty="0"/>
          </a:p>
        </p:txBody>
      </p:sp>
      <p:sp>
        <p:nvSpPr>
          <p:cNvPr id="7171" name="Content Placeholder 2"/>
          <p:cNvSpPr>
            <a:spLocks noGrp="1"/>
          </p:cNvSpPr>
          <p:nvPr>
            <p:ph idx="1"/>
          </p:nvPr>
        </p:nvSpPr>
        <p:spPr>
          <a:xfrm>
            <a:off x="1676400" y="990601"/>
            <a:ext cx="8839200" cy="5135563"/>
          </a:xfrm>
        </p:spPr>
        <p:txBody>
          <a:bodyPr/>
          <a:lstStyle/>
          <a:p>
            <a:pPr eaLnBrk="1" hangingPunct="1">
              <a:buFont typeface="Arial" charset="0"/>
              <a:buNone/>
            </a:pPr>
            <a:endParaRPr lang="en-US"/>
          </a:p>
        </p:txBody>
      </p:sp>
      <p:sp>
        <p:nvSpPr>
          <p:cNvPr id="6" name="Rectangle 5"/>
          <p:cNvSpPr/>
          <p:nvPr/>
        </p:nvSpPr>
        <p:spPr>
          <a:xfrm>
            <a:off x="1828800" y="2743200"/>
            <a:ext cx="18288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PROPOSED BUSINESS VENTURE</a:t>
            </a:r>
          </a:p>
        </p:txBody>
      </p:sp>
      <p:sp>
        <p:nvSpPr>
          <p:cNvPr id="7173" name="TextBox 8"/>
          <p:cNvSpPr txBox="1">
            <a:spLocks noChangeArrowheads="1"/>
          </p:cNvSpPr>
          <p:nvPr/>
        </p:nvSpPr>
        <p:spPr bwMode="auto">
          <a:xfrm>
            <a:off x="5791200" y="1828800"/>
            <a:ext cx="609600" cy="369888"/>
          </a:xfrm>
          <a:prstGeom prst="rect">
            <a:avLst/>
          </a:prstGeom>
          <a:noFill/>
          <a:ln w="9525">
            <a:noFill/>
            <a:miter lim="800000"/>
            <a:headEnd/>
            <a:tailEnd/>
          </a:ln>
        </p:spPr>
        <p:txBody>
          <a:bodyPr>
            <a:spAutoFit/>
          </a:bodyPr>
          <a:lstStyle/>
          <a:p>
            <a:endParaRPr lang="en-US"/>
          </a:p>
        </p:txBody>
      </p:sp>
      <p:cxnSp>
        <p:nvCxnSpPr>
          <p:cNvPr id="11" name="Straight Arrow Connector 10"/>
          <p:cNvCxnSpPr/>
          <p:nvPr/>
        </p:nvCxnSpPr>
        <p:spPr>
          <a:xfrm>
            <a:off x="3733800" y="32004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2133601" y="3276601"/>
            <a:ext cx="39624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114800" y="129540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114800" y="236220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114800" y="381000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114800" y="5257800"/>
            <a:ext cx="609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572000" y="990600"/>
            <a:ext cx="21336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Product /Service Feasibility</a:t>
            </a:r>
          </a:p>
        </p:txBody>
      </p:sp>
      <p:sp>
        <p:nvSpPr>
          <p:cNvPr id="23" name="Rectangle 22"/>
          <p:cNvSpPr/>
          <p:nvPr/>
        </p:nvSpPr>
        <p:spPr>
          <a:xfrm>
            <a:off x="4724400" y="1981200"/>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Industry /Market Feasibility</a:t>
            </a:r>
          </a:p>
        </p:txBody>
      </p:sp>
      <p:sp>
        <p:nvSpPr>
          <p:cNvPr id="24" name="Rectangle 23"/>
          <p:cNvSpPr/>
          <p:nvPr/>
        </p:nvSpPr>
        <p:spPr>
          <a:xfrm>
            <a:off x="4724400" y="3429000"/>
            <a:ext cx="18288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Organizational Feasibility</a:t>
            </a:r>
          </a:p>
        </p:txBody>
      </p:sp>
      <p:sp>
        <p:nvSpPr>
          <p:cNvPr id="25" name="Rectangle 24"/>
          <p:cNvSpPr/>
          <p:nvPr/>
        </p:nvSpPr>
        <p:spPr>
          <a:xfrm>
            <a:off x="4724400" y="4800600"/>
            <a:ext cx="18288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t>Financial Feasibility</a:t>
            </a:r>
          </a:p>
        </p:txBody>
      </p:sp>
      <p:cxnSp>
        <p:nvCxnSpPr>
          <p:cNvPr id="26" name="Straight Connector 25"/>
          <p:cNvCxnSpPr/>
          <p:nvPr/>
        </p:nvCxnSpPr>
        <p:spPr>
          <a:xfrm>
            <a:off x="6477000" y="129540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553200" y="2362200"/>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553200" y="381000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6553200" y="533400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2133601" y="3275013"/>
            <a:ext cx="39624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flipH="1">
            <a:off x="5105400" y="3276600"/>
            <a:ext cx="4038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7086600" y="19050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7162800" y="46482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7543800" y="16764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Yes in all four areas</a:t>
            </a:r>
          </a:p>
        </p:txBody>
      </p:sp>
      <p:sp>
        <p:nvSpPr>
          <p:cNvPr id="37" name="Rectangle 36"/>
          <p:cNvSpPr/>
          <p:nvPr/>
        </p:nvSpPr>
        <p:spPr>
          <a:xfrm>
            <a:off x="7543800" y="4419600"/>
            <a:ext cx="1371600" cy="6858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b="1" dirty="0"/>
              <a:t>No in 1  or more areas</a:t>
            </a:r>
          </a:p>
        </p:txBody>
      </p:sp>
      <p:sp>
        <p:nvSpPr>
          <p:cNvPr id="38" name="Rectangle 37"/>
          <p:cNvSpPr/>
          <p:nvPr/>
        </p:nvSpPr>
        <p:spPr>
          <a:xfrm>
            <a:off x="9296400" y="1447800"/>
            <a:ext cx="13716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PROCEED WITH BUSINESS PLAN</a:t>
            </a:r>
          </a:p>
        </p:txBody>
      </p:sp>
      <p:sp>
        <p:nvSpPr>
          <p:cNvPr id="39" name="Rectangle 38"/>
          <p:cNvSpPr/>
          <p:nvPr/>
        </p:nvSpPr>
        <p:spPr>
          <a:xfrm>
            <a:off x="9220200" y="4267200"/>
            <a:ext cx="1447800" cy="121920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b="1" dirty="0"/>
              <a:t>DROP OR RETHINK BUSINESS IDEA</a:t>
            </a:r>
          </a:p>
        </p:txBody>
      </p:sp>
      <p:cxnSp>
        <p:nvCxnSpPr>
          <p:cNvPr id="50" name="Straight Arrow Connector 49"/>
          <p:cNvCxnSpPr>
            <a:stCxn id="36" idx="3"/>
          </p:cNvCxnSpPr>
          <p:nvPr/>
        </p:nvCxnSpPr>
        <p:spPr>
          <a:xfrm flipV="1">
            <a:off x="8991600" y="1905000"/>
            <a:ext cx="3048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8915400" y="47244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1981200" y="274638"/>
            <a:ext cx="8229600" cy="563562"/>
          </a:xfrm>
        </p:spPr>
        <p:txBody>
          <a:bodyPr/>
          <a:lstStyle/>
          <a:p>
            <a:pPr eaLnBrk="1" hangingPunct="1"/>
            <a:r>
              <a:rPr lang="en-US" sz="3200" b="1" dirty="0">
                <a:solidFill>
                  <a:srgbClr val="FF0000"/>
                </a:solidFill>
              </a:rPr>
              <a:t>Product/Service Feasibility</a:t>
            </a:r>
          </a:p>
        </p:txBody>
      </p:sp>
      <p:sp>
        <p:nvSpPr>
          <p:cNvPr id="8195" name="Content Placeholder 2"/>
          <p:cNvSpPr>
            <a:spLocks noGrp="1"/>
          </p:cNvSpPr>
          <p:nvPr>
            <p:ph idx="1"/>
          </p:nvPr>
        </p:nvSpPr>
        <p:spPr>
          <a:xfrm>
            <a:off x="1981200" y="914400"/>
            <a:ext cx="8229600" cy="5486400"/>
          </a:xfrm>
        </p:spPr>
        <p:txBody>
          <a:bodyPr>
            <a:normAutofit fontScale="92500" lnSpcReduction="20000"/>
          </a:bodyPr>
          <a:lstStyle/>
          <a:p>
            <a:pPr eaLnBrk="1" hangingPunct="1"/>
            <a:r>
              <a:rPr lang="en-US" dirty="0"/>
              <a:t>This is an assessment of the overall appeal of the product or service being proposed.</a:t>
            </a:r>
          </a:p>
          <a:p>
            <a:pPr eaLnBrk="1" hangingPunct="1"/>
            <a:r>
              <a:rPr lang="en-US" dirty="0"/>
              <a:t>Before rushing  a prospective product or service into development, a firm should be confident it’s what customers want and that the product or service will have an adequate market.</a:t>
            </a:r>
          </a:p>
          <a:p>
            <a:pPr eaLnBrk="1" hangingPunct="1"/>
            <a:r>
              <a:rPr lang="en-US" dirty="0"/>
              <a:t>In entrepreneurship, all factors are important, but   for most firms, the number one success factor  is delivering a superior product or service.</a:t>
            </a:r>
          </a:p>
          <a:p>
            <a:pPr eaLnBrk="1" hangingPunct="1"/>
            <a:r>
              <a:rPr lang="en-US" dirty="0"/>
              <a:t>New product success or failure is largely decided in the first flays of the game.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981200" y="0"/>
            <a:ext cx="8229600" cy="685800"/>
          </a:xfrm>
        </p:spPr>
        <p:txBody>
          <a:bodyPr>
            <a:normAutofit fontScale="90000"/>
          </a:bodyPr>
          <a:lstStyle/>
          <a:p>
            <a:pPr>
              <a:defRPr/>
            </a:pPr>
            <a:r>
              <a:rPr lang="en-US" sz="2400" b="1"/>
              <a:t>The following are some of the benefits of conducting a product/service feasibility analysis:</a:t>
            </a:r>
          </a:p>
        </p:txBody>
      </p:sp>
      <p:graphicFrame>
        <p:nvGraphicFramePr>
          <p:cNvPr id="4" name="Content Placeholder 3"/>
          <p:cNvGraphicFramePr>
            <a:graphicFrameLocks noGrp="1"/>
          </p:cNvGraphicFramePr>
          <p:nvPr>
            <p:ph idx="1"/>
          </p:nvPr>
        </p:nvGraphicFramePr>
        <p:xfrm>
          <a:off x="1981200" y="838200"/>
          <a:ext cx="8229600" cy="52959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850900">
                <a:tc>
                  <a:txBody>
                    <a:bodyPr/>
                    <a:lstStyle/>
                    <a:p>
                      <a:r>
                        <a:rPr lang="en-US" dirty="0"/>
                        <a:t>BENEFIT</a:t>
                      </a:r>
                    </a:p>
                  </a:txBody>
                  <a:tcPr/>
                </a:tc>
                <a:tc>
                  <a:txBody>
                    <a:bodyPr/>
                    <a:lstStyle/>
                    <a:p>
                      <a:r>
                        <a:rPr lang="en-US" dirty="0"/>
                        <a:t>EXPLANANTION</a:t>
                      </a:r>
                    </a:p>
                  </a:txBody>
                  <a:tcPr/>
                </a:tc>
                <a:extLst>
                  <a:ext uri="{0D108BD9-81ED-4DB2-BD59-A6C34878D82A}">
                    <a16:rowId xmlns:a16="http://schemas.microsoft.com/office/drawing/2014/main" val="10000"/>
                  </a:ext>
                </a:extLst>
              </a:tr>
              <a:tr h="850900">
                <a:tc>
                  <a:txBody>
                    <a:bodyPr/>
                    <a:lstStyle/>
                    <a:p>
                      <a:r>
                        <a:rPr lang="en-US" dirty="0"/>
                        <a:t>Getting the product right the first time</a:t>
                      </a:r>
                    </a:p>
                  </a:txBody>
                  <a:tcPr/>
                </a:tc>
                <a:tc>
                  <a:txBody>
                    <a:bodyPr/>
                    <a:lstStyle/>
                    <a:p>
                      <a:r>
                        <a:rPr lang="en-US" dirty="0"/>
                        <a:t>You know what consumers want because you asked them. You also tested a product’s usability and the quality of the user’s experience.</a:t>
                      </a:r>
                    </a:p>
                  </a:txBody>
                  <a:tcPr/>
                </a:tc>
                <a:extLst>
                  <a:ext uri="{0D108BD9-81ED-4DB2-BD59-A6C34878D82A}">
                    <a16:rowId xmlns:a16="http://schemas.microsoft.com/office/drawing/2014/main" val="10001"/>
                  </a:ext>
                </a:extLst>
              </a:tr>
              <a:tr h="850900">
                <a:tc>
                  <a:txBody>
                    <a:bodyPr/>
                    <a:lstStyle/>
                    <a:p>
                      <a:r>
                        <a:rPr lang="en-US" dirty="0"/>
                        <a:t>A</a:t>
                      </a:r>
                      <a:r>
                        <a:rPr lang="en-US" baseline="0" dirty="0"/>
                        <a:t>n “early adopter” community emerges</a:t>
                      </a:r>
                      <a:endParaRPr lang="en-US" dirty="0"/>
                    </a:p>
                  </a:txBody>
                  <a:tcPr/>
                </a:tc>
                <a:tc>
                  <a:txBody>
                    <a:bodyPr/>
                    <a:lstStyle/>
                    <a:p>
                      <a:r>
                        <a:rPr lang="en-US" dirty="0"/>
                        <a:t>The firms or</a:t>
                      </a:r>
                      <a:r>
                        <a:rPr lang="en-US" baseline="0" dirty="0"/>
                        <a:t> individuals that participate in the feasibility analysis often become a co’s first customers or adopters. These customers provide additional feedback as the product or service rolls out.</a:t>
                      </a:r>
                      <a:endParaRPr lang="en-US" dirty="0"/>
                    </a:p>
                  </a:txBody>
                  <a:tcPr/>
                </a:tc>
                <a:extLst>
                  <a:ext uri="{0D108BD9-81ED-4DB2-BD59-A6C34878D82A}">
                    <a16:rowId xmlns:a16="http://schemas.microsoft.com/office/drawing/2014/main" val="10002"/>
                  </a:ext>
                </a:extLst>
              </a:tr>
              <a:tr h="850900">
                <a:tc>
                  <a:txBody>
                    <a:bodyPr/>
                    <a:lstStyle/>
                    <a:p>
                      <a:r>
                        <a:rPr lang="en-US" dirty="0"/>
                        <a:t>Avoiding any obvious </a:t>
                      </a:r>
                      <a:r>
                        <a:rPr lang="en-US" b="0" dirty="0"/>
                        <a:t>faults</a:t>
                      </a:r>
                      <a:r>
                        <a:rPr lang="en-US" b="1" baseline="0" dirty="0"/>
                        <a:t> </a:t>
                      </a:r>
                      <a:r>
                        <a:rPr lang="en-US" dirty="0"/>
                        <a:t>in product or service design</a:t>
                      </a:r>
                    </a:p>
                  </a:txBody>
                  <a:tcPr/>
                </a:tc>
                <a:tc>
                  <a:txBody>
                    <a:bodyPr/>
                    <a:lstStyle/>
                    <a:p>
                      <a:r>
                        <a:rPr lang="en-US" dirty="0"/>
                        <a:t>By asking prospective customers to test the usability of a product or the ease of use of a service, obvious design errors</a:t>
                      </a:r>
                      <a:r>
                        <a:rPr lang="en-US" baseline="0" dirty="0"/>
                        <a:t> are usually uncovered.</a:t>
                      </a:r>
                      <a:endParaRPr lang="en-US" dirty="0"/>
                    </a:p>
                  </a:txBody>
                  <a:tcPr/>
                </a:tc>
                <a:extLst>
                  <a:ext uri="{0D108BD9-81ED-4DB2-BD59-A6C34878D82A}">
                    <a16:rowId xmlns:a16="http://schemas.microsoft.com/office/drawing/2014/main" val="10003"/>
                  </a:ext>
                </a:extLst>
              </a:tr>
              <a:tr h="850900">
                <a:tc>
                  <a:txBody>
                    <a:bodyPr/>
                    <a:lstStyle/>
                    <a:p>
                      <a:r>
                        <a:rPr lang="en-US" dirty="0"/>
                        <a:t>Using capital and time more efficiently</a:t>
                      </a:r>
                    </a:p>
                  </a:txBody>
                  <a:tcPr/>
                </a:tc>
                <a:tc>
                  <a:txBody>
                    <a:bodyPr/>
                    <a:lstStyle/>
                    <a:p>
                      <a:r>
                        <a:rPr lang="en-US" dirty="0"/>
                        <a:t>Because</a:t>
                      </a:r>
                      <a:r>
                        <a:rPr lang="en-US" baseline="0" dirty="0"/>
                        <a:t> you have an idea of what customers want, you won’t spend as much time or money chasing ideas that customers don’t want.</a:t>
                      </a:r>
                      <a:endParaRPr lang="en-US" dirty="0"/>
                    </a:p>
                  </a:txBody>
                  <a:tcPr/>
                </a:tc>
                <a:extLst>
                  <a:ext uri="{0D108BD9-81ED-4DB2-BD59-A6C34878D82A}">
                    <a16:rowId xmlns:a16="http://schemas.microsoft.com/office/drawing/2014/main" val="10004"/>
                  </a:ext>
                </a:extLst>
              </a:tr>
              <a:tr h="850900">
                <a:tc>
                  <a:txBody>
                    <a:bodyPr/>
                    <a:lstStyle/>
                    <a:p>
                      <a:r>
                        <a:rPr lang="en-US" dirty="0"/>
                        <a:t>Gaining insight into additional product and service offerings</a:t>
                      </a:r>
                    </a:p>
                  </a:txBody>
                  <a:tcPr/>
                </a:tc>
                <a:tc>
                  <a:txBody>
                    <a:bodyPr/>
                    <a:lstStyle/>
                    <a:p>
                      <a:r>
                        <a:rPr lang="en-US" dirty="0"/>
                        <a:t>Often, conducting</a:t>
                      </a:r>
                      <a:r>
                        <a:rPr lang="en-US" baseline="0" dirty="0"/>
                        <a:t> a feasibility analysis for one product or service prompts the recognition of the need for additional products or services.</a:t>
                      </a:r>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981200" y="274638"/>
            <a:ext cx="8229600" cy="563562"/>
          </a:xfrm>
        </p:spPr>
        <p:txBody>
          <a:bodyPr/>
          <a:lstStyle/>
          <a:p>
            <a:pPr eaLnBrk="1" hangingPunct="1"/>
            <a:r>
              <a:rPr lang="en-US" sz="2800" b="1"/>
              <a:t>The product/service Concept Test</a:t>
            </a:r>
          </a:p>
        </p:txBody>
      </p:sp>
      <p:sp>
        <p:nvSpPr>
          <p:cNvPr id="7171" name="Content Placeholder 2"/>
          <p:cNvSpPr>
            <a:spLocks noGrp="1"/>
          </p:cNvSpPr>
          <p:nvPr>
            <p:ph idx="1"/>
          </p:nvPr>
        </p:nvSpPr>
        <p:spPr>
          <a:xfrm>
            <a:off x="2057400" y="838200"/>
            <a:ext cx="8382000" cy="5791200"/>
          </a:xfrm>
        </p:spPr>
        <p:txBody>
          <a:bodyPr>
            <a:normAutofit fontScale="92500" lnSpcReduction="10000"/>
          </a:bodyPr>
          <a:lstStyle/>
          <a:p>
            <a:pPr marL="274320" indent="-274320">
              <a:buClr>
                <a:schemeClr val="accent3"/>
              </a:buClr>
              <a:buFont typeface="Wingdings 2"/>
              <a:buChar char=""/>
              <a:defRPr/>
            </a:pPr>
            <a:r>
              <a:rPr lang="en-US" sz="2500" dirty="0"/>
              <a:t>A  product concept test involves showing a preliminary description of the product or service idea to prospective customers to gauge customer interest, desirability and purchase intent/committed/intended to.</a:t>
            </a:r>
          </a:p>
          <a:p>
            <a:pPr marL="274320" indent="-274320">
              <a:buClr>
                <a:schemeClr val="accent3"/>
              </a:buClr>
              <a:buFont typeface="Wingdings 2"/>
              <a:buChar char=""/>
              <a:defRPr/>
            </a:pPr>
            <a:r>
              <a:rPr lang="en-US" sz="2500" dirty="0"/>
              <a:t>The whole issue is about knowing how likely customers would be to buy a product like that:</a:t>
            </a:r>
          </a:p>
          <a:p>
            <a:pPr marL="640080" lvl="1" indent="-246888">
              <a:buFont typeface="Wingdings 2"/>
              <a:buChar char=""/>
              <a:defRPr/>
            </a:pPr>
            <a:r>
              <a:rPr lang="en-US" sz="2500" dirty="0"/>
              <a:t>Definitely would buy it!</a:t>
            </a:r>
          </a:p>
          <a:p>
            <a:pPr marL="640080" lvl="1" indent="-246888">
              <a:buFont typeface="Wingdings 2"/>
              <a:buChar char=""/>
              <a:defRPr/>
            </a:pPr>
            <a:r>
              <a:rPr lang="en-US" sz="2500" dirty="0"/>
              <a:t>Probably would buy it!</a:t>
            </a:r>
          </a:p>
          <a:p>
            <a:pPr marL="640080" lvl="1" indent="-246888">
              <a:buFont typeface="Wingdings 2"/>
              <a:buChar char=""/>
              <a:defRPr/>
            </a:pPr>
            <a:r>
              <a:rPr lang="en-US" sz="2500" dirty="0"/>
              <a:t>Might  or might not buy!</a:t>
            </a:r>
          </a:p>
          <a:p>
            <a:pPr marL="640080" lvl="1" indent="-246888">
              <a:buFont typeface="Wingdings 2"/>
              <a:buChar char=""/>
              <a:defRPr/>
            </a:pPr>
            <a:r>
              <a:rPr lang="en-US" sz="2500" dirty="0"/>
              <a:t>Probably would not buy it!</a:t>
            </a:r>
          </a:p>
          <a:p>
            <a:pPr marL="640080" lvl="1" indent="-246888">
              <a:buFont typeface="Wingdings 2"/>
              <a:buChar char=""/>
              <a:defRPr/>
            </a:pPr>
            <a:r>
              <a:rPr lang="en-US" sz="2500" dirty="0"/>
              <a:t>Definitely would not buy it!</a:t>
            </a:r>
          </a:p>
          <a:p>
            <a:pPr marL="274320" indent="-274320">
              <a:buClr>
                <a:schemeClr val="accent3"/>
              </a:buClr>
              <a:buFont typeface="Wingdings 2"/>
              <a:buChar char=""/>
              <a:defRPr/>
            </a:pPr>
            <a:r>
              <a:rPr lang="en-US" sz="2500" dirty="0"/>
              <a:t>The number of people who </a:t>
            </a:r>
            <a:r>
              <a:rPr lang="en-US" sz="2500" b="1" dirty="0"/>
              <a:t>definitely would buy </a:t>
            </a:r>
            <a:r>
              <a:rPr lang="en-US" sz="2500" dirty="0"/>
              <a:t>it and </a:t>
            </a:r>
            <a:r>
              <a:rPr lang="en-US" sz="2500" b="1" dirty="0"/>
              <a:t>probably would buy</a:t>
            </a:r>
            <a:r>
              <a:rPr lang="en-US" sz="2500" dirty="0"/>
              <a:t> it are typically combined and used as a gauge of customer interest.</a:t>
            </a:r>
          </a:p>
          <a:p>
            <a:pPr marL="274320" indent="-274320">
              <a:buClr>
                <a:schemeClr val="accent3"/>
              </a:buClr>
              <a:buFont typeface="Wingdings 2"/>
              <a:buChar char=""/>
              <a:defRPr/>
            </a:pPr>
            <a:endParaRPr lang="en-US" sz="2400" dirty="0"/>
          </a:p>
          <a:p>
            <a:pPr marL="274320" indent="-274320">
              <a:buClr>
                <a:schemeClr val="accent3"/>
              </a:buClr>
              <a:buFont typeface="Wingdings 2"/>
              <a:buChar char=""/>
              <a:defRPr/>
            </a:pP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981200" y="274638"/>
            <a:ext cx="8229600" cy="868362"/>
          </a:xfrm>
        </p:spPr>
        <p:txBody>
          <a:bodyPr>
            <a:normAutofit fontScale="90000"/>
          </a:bodyPr>
          <a:lstStyle/>
          <a:p>
            <a:pPr eaLnBrk="1" hangingPunct="1"/>
            <a:r>
              <a:rPr lang="en-US" sz="2800" b="1"/>
              <a:t>A well designed concept test/statement should include the following:</a:t>
            </a:r>
          </a:p>
        </p:txBody>
      </p:sp>
      <p:sp>
        <p:nvSpPr>
          <p:cNvPr id="11267" name="Content Placeholder 2"/>
          <p:cNvSpPr>
            <a:spLocks noGrp="1"/>
          </p:cNvSpPr>
          <p:nvPr>
            <p:ph idx="1"/>
          </p:nvPr>
        </p:nvSpPr>
        <p:spPr>
          <a:xfrm>
            <a:off x="1981200" y="1143001"/>
            <a:ext cx="8229600" cy="4983163"/>
          </a:xfrm>
        </p:spPr>
        <p:txBody>
          <a:bodyPr/>
          <a:lstStyle/>
          <a:p>
            <a:pPr eaLnBrk="1" hangingPunct="1"/>
            <a:r>
              <a:rPr lang="en-US" dirty="0"/>
              <a:t>A description of the product or service being offered.</a:t>
            </a:r>
          </a:p>
          <a:p>
            <a:pPr eaLnBrk="1" hangingPunct="1"/>
            <a:r>
              <a:rPr lang="en-US" dirty="0"/>
              <a:t>The intended target market.</a:t>
            </a:r>
          </a:p>
          <a:p>
            <a:pPr eaLnBrk="1" hangingPunct="1"/>
            <a:r>
              <a:rPr lang="en-US" dirty="0"/>
              <a:t>The benefits of the product or service.</a:t>
            </a:r>
          </a:p>
          <a:p>
            <a:pPr eaLnBrk="1" hangingPunct="1"/>
            <a:r>
              <a:rPr lang="en-US" dirty="0"/>
              <a:t>A description of how the product will be positioned relative to similar ones in the market.</a:t>
            </a:r>
          </a:p>
          <a:p>
            <a:pPr eaLnBrk="1" hangingPunct="1"/>
            <a:r>
              <a:rPr lang="en-US" dirty="0"/>
              <a:t>A description of how that product will be sold and distributed.</a:t>
            </a:r>
          </a:p>
          <a:p>
            <a:pPr eaLnBrk="1" hangingPunct="1"/>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981200" y="274638"/>
            <a:ext cx="8229600" cy="563562"/>
          </a:xfrm>
        </p:spPr>
        <p:txBody>
          <a:bodyPr/>
          <a:lstStyle/>
          <a:p>
            <a:pPr eaLnBrk="1" hangingPunct="1"/>
            <a:r>
              <a:rPr lang="en-US" sz="2800" b="1"/>
              <a:t>The product/Service Usability Testing</a:t>
            </a:r>
          </a:p>
        </p:txBody>
      </p:sp>
      <p:sp>
        <p:nvSpPr>
          <p:cNvPr id="12291" name="Content Placeholder 2"/>
          <p:cNvSpPr>
            <a:spLocks noGrp="1"/>
          </p:cNvSpPr>
          <p:nvPr>
            <p:ph idx="1"/>
          </p:nvPr>
        </p:nvSpPr>
        <p:spPr>
          <a:xfrm>
            <a:off x="1981200" y="838200"/>
            <a:ext cx="8229600" cy="6019800"/>
          </a:xfrm>
        </p:spPr>
        <p:txBody>
          <a:bodyPr>
            <a:normAutofit lnSpcReduction="10000"/>
          </a:bodyPr>
          <a:lstStyle/>
          <a:p>
            <a:pPr eaLnBrk="1" hangingPunct="1"/>
            <a:r>
              <a:rPr lang="en-US" dirty="0"/>
              <a:t>This is a form of product/service feasibility analysis, which measures the product’s ease of use and the user’s perception of the experience.</a:t>
            </a:r>
          </a:p>
          <a:p>
            <a:pPr eaLnBrk="1" hangingPunct="1"/>
            <a:r>
              <a:rPr lang="en-US" dirty="0"/>
              <a:t>Usability tests are sometimes called user tests or field trials depending of the circumstances involved.</a:t>
            </a:r>
          </a:p>
          <a:p>
            <a:pPr eaLnBrk="1" hangingPunct="1"/>
            <a:r>
              <a:rPr lang="en-US" dirty="0"/>
              <a:t>Some entrepreneurs , working within limited budgets, develop a fairly basic prototype and ask friends or colleagues to use the product, then complete an evaluation form or give verbal feedback.</a:t>
            </a:r>
          </a:p>
          <a:p>
            <a:pPr eaLnBrk="1" hangingPunct="1"/>
            <a:r>
              <a:rPr lang="en-US" dirty="0"/>
              <a:t>Other companies invest on  elaborated usability testing programs and facilities.</a:t>
            </a:r>
          </a:p>
          <a:p>
            <a:pPr eaLnBrk="1" hangingPunct="1">
              <a:buFont typeface="Arial" charset="0"/>
              <a:buNone/>
            </a:pPr>
            <a:endParaRPr lang="en-US" dirty="0"/>
          </a:p>
          <a:p>
            <a:pPr eaLnBrk="1" hangingPunct="1"/>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981200" y="274638"/>
            <a:ext cx="8229600" cy="487362"/>
          </a:xfrm>
        </p:spPr>
        <p:txBody>
          <a:bodyPr/>
          <a:lstStyle/>
          <a:p>
            <a:pPr eaLnBrk="1" hangingPunct="1"/>
            <a:r>
              <a:rPr lang="en-US" sz="2800" b="1" dirty="0">
                <a:solidFill>
                  <a:srgbClr val="FF0000"/>
                </a:solidFill>
              </a:rPr>
              <a:t>Industry/Market Feasibility</a:t>
            </a:r>
          </a:p>
        </p:txBody>
      </p:sp>
      <p:sp>
        <p:nvSpPr>
          <p:cNvPr id="13315" name="Content Placeholder 2"/>
          <p:cNvSpPr>
            <a:spLocks noGrp="1"/>
          </p:cNvSpPr>
          <p:nvPr>
            <p:ph idx="1"/>
          </p:nvPr>
        </p:nvSpPr>
        <p:spPr>
          <a:xfrm>
            <a:off x="1981200" y="838201"/>
            <a:ext cx="8229600" cy="5287963"/>
          </a:xfrm>
        </p:spPr>
        <p:txBody>
          <a:bodyPr/>
          <a:lstStyle/>
          <a:p>
            <a:pPr eaLnBrk="1" hangingPunct="1"/>
            <a:r>
              <a:rPr lang="en-US" dirty="0"/>
              <a:t>This is an assessment of the overall appeal of the market for the product/service being proposed.</a:t>
            </a:r>
          </a:p>
          <a:p>
            <a:pPr eaLnBrk="1" hangingPunct="1"/>
            <a:r>
              <a:rPr lang="en-US" dirty="0"/>
              <a:t>For feasibility analysis, there are </a:t>
            </a:r>
            <a:r>
              <a:rPr lang="en-US" b="1" dirty="0"/>
              <a:t>three issues </a:t>
            </a:r>
            <a:r>
              <a:rPr lang="en-US" dirty="0"/>
              <a:t>that a proposed business should consider:</a:t>
            </a:r>
          </a:p>
          <a:p>
            <a:pPr lvl="1" eaLnBrk="1" hangingPunct="1"/>
            <a:r>
              <a:rPr lang="en-US" b="1" dirty="0"/>
              <a:t>Industry attractiveness</a:t>
            </a:r>
          </a:p>
          <a:p>
            <a:pPr lvl="1" eaLnBrk="1" hangingPunct="1"/>
            <a:r>
              <a:rPr lang="en-US" b="1" dirty="0"/>
              <a:t>Market timeliness</a:t>
            </a:r>
          </a:p>
          <a:p>
            <a:pPr lvl="1" eaLnBrk="1" hangingPunct="1"/>
            <a:r>
              <a:rPr lang="en-US" b="1" dirty="0"/>
              <a:t>Identification of a market niche (place).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981200" y="274638"/>
            <a:ext cx="8229600" cy="563562"/>
          </a:xfrm>
        </p:spPr>
        <p:txBody>
          <a:bodyPr>
            <a:normAutofit fontScale="90000"/>
          </a:bodyPr>
          <a:lstStyle/>
          <a:p>
            <a:pPr eaLnBrk="1" hangingPunct="1"/>
            <a:r>
              <a:rPr lang="en-US" sz="2800" b="1"/>
              <a:t>Industry Attractiveness</a:t>
            </a:r>
            <a:r>
              <a:rPr lang="en-US"/>
              <a:t>:</a:t>
            </a:r>
          </a:p>
        </p:txBody>
      </p:sp>
      <p:sp>
        <p:nvSpPr>
          <p:cNvPr id="14339" name="Content Placeholder 2"/>
          <p:cNvSpPr>
            <a:spLocks noGrp="1"/>
          </p:cNvSpPr>
          <p:nvPr>
            <p:ph idx="1"/>
          </p:nvPr>
        </p:nvSpPr>
        <p:spPr>
          <a:xfrm>
            <a:off x="1981200" y="990600"/>
            <a:ext cx="8229600" cy="5486400"/>
          </a:xfrm>
        </p:spPr>
        <p:txBody>
          <a:bodyPr>
            <a:normAutofit fontScale="92500" lnSpcReduction="20000"/>
          </a:bodyPr>
          <a:lstStyle/>
          <a:p>
            <a:pPr eaLnBrk="1" hangingPunct="1"/>
            <a:r>
              <a:rPr lang="en-US" dirty="0"/>
              <a:t>Industries vary considerably in terms of their growth rate.</a:t>
            </a:r>
          </a:p>
          <a:p>
            <a:pPr eaLnBrk="1" hangingPunct="1"/>
            <a:r>
              <a:rPr lang="en-US" dirty="0"/>
              <a:t>An industry that is growing is more attractive because it more receptive  to new entrants and new products introduction.</a:t>
            </a:r>
          </a:p>
          <a:p>
            <a:pPr eaLnBrk="1" hangingPunct="1"/>
            <a:r>
              <a:rPr lang="en-US" dirty="0"/>
              <a:t>One of the worst ways for entrepreneurs to explain potential market attractiveness is to describe some huge market, and think that size guarantees success.</a:t>
            </a:r>
          </a:p>
          <a:p>
            <a:pPr eaLnBrk="1" hangingPunct="1"/>
            <a:r>
              <a:rPr lang="en-US" dirty="0"/>
              <a:t>This can only work if the start-up/ new venture has some real advantage over its competitors and some way of preventing imitation, or if they are pioneers in that market.</a:t>
            </a:r>
          </a:p>
          <a:p>
            <a:pPr eaLnBrk="1" hangingPunct="1"/>
            <a:endParaRPr lang="en-US" dirty="0"/>
          </a:p>
          <a:p>
            <a:pPr eaLnBrk="1" hangingPunct="1"/>
            <a:endParaRPr lang="en-US" dirty="0"/>
          </a:p>
          <a:p>
            <a:pPr eaLnBrk="1" hangingPunct="1"/>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981200" y="274638"/>
            <a:ext cx="8229600" cy="563562"/>
          </a:xfrm>
        </p:spPr>
        <p:txBody>
          <a:bodyPr/>
          <a:lstStyle/>
          <a:p>
            <a:pPr eaLnBrk="1" hangingPunct="1"/>
            <a:r>
              <a:rPr lang="en-US" sz="2800" b="1"/>
              <a:t>Market Timeliness:</a:t>
            </a:r>
          </a:p>
        </p:txBody>
      </p:sp>
      <p:sp>
        <p:nvSpPr>
          <p:cNvPr id="15363" name="Content Placeholder 2"/>
          <p:cNvSpPr>
            <a:spLocks noGrp="1"/>
          </p:cNvSpPr>
          <p:nvPr>
            <p:ph idx="1"/>
          </p:nvPr>
        </p:nvSpPr>
        <p:spPr>
          <a:xfrm>
            <a:off x="1981200" y="914401"/>
            <a:ext cx="8229600" cy="5211763"/>
          </a:xfrm>
        </p:spPr>
        <p:txBody>
          <a:bodyPr/>
          <a:lstStyle/>
          <a:p>
            <a:pPr eaLnBrk="1" hangingPunct="1"/>
            <a:r>
              <a:rPr lang="en-US" dirty="0"/>
              <a:t>This all about making sure that your product/service is launched at the right time.</a:t>
            </a:r>
          </a:p>
          <a:p>
            <a:pPr eaLnBrk="1" hangingPunct="1">
              <a:buFont typeface="Arial" charset="0"/>
              <a:buNone/>
            </a:pPr>
            <a:r>
              <a:rPr lang="en-US" b="1" dirty="0"/>
              <a:t>Identifying a Niche</a:t>
            </a:r>
            <a:r>
              <a:rPr lang="en-US" dirty="0"/>
              <a:t>:</a:t>
            </a:r>
          </a:p>
          <a:p>
            <a:pPr eaLnBrk="1" hangingPunct="1"/>
            <a:r>
              <a:rPr lang="en-US" dirty="0"/>
              <a:t>This is all about identifying the a niche </a:t>
            </a:r>
            <a:r>
              <a:rPr lang="en-US"/>
              <a:t>(place) market </a:t>
            </a:r>
            <a:r>
              <a:rPr lang="en-US" dirty="0"/>
              <a:t>in which the firm can participate.</a:t>
            </a:r>
          </a:p>
          <a:p>
            <a:pPr eaLnBrk="1" hangingPunct="1"/>
            <a:r>
              <a:rPr lang="en-US" dirty="0"/>
              <a:t>A niche market is a place within a larger market, that represents a narrower group of customers with similar interests.</a:t>
            </a:r>
          </a:p>
          <a:p>
            <a:pPr eaLnBrk="1" hangingPunct="1"/>
            <a:endParaRPr lang="en-US" dirty="0"/>
          </a:p>
          <a:p>
            <a:pPr eaLnBrk="1" hangingPunct="1">
              <a:buFont typeface="Arial" charset="0"/>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981200" y="274638"/>
            <a:ext cx="8229600" cy="487362"/>
          </a:xfrm>
        </p:spPr>
        <p:txBody>
          <a:bodyPr>
            <a:normAutofit fontScale="90000"/>
          </a:bodyPr>
          <a:lstStyle/>
          <a:p>
            <a:pPr eaLnBrk="1" hangingPunct="1"/>
            <a:r>
              <a:rPr lang="en-US" sz="3200" b="1" dirty="0">
                <a:solidFill>
                  <a:srgbClr val="FF0000"/>
                </a:solidFill>
              </a:rPr>
              <a:t>Organizational Feasibility</a:t>
            </a:r>
          </a:p>
        </p:txBody>
      </p:sp>
      <p:sp>
        <p:nvSpPr>
          <p:cNvPr id="16387" name="Content Placeholder 2"/>
          <p:cNvSpPr>
            <a:spLocks noGrp="1"/>
          </p:cNvSpPr>
          <p:nvPr>
            <p:ph idx="1"/>
          </p:nvPr>
        </p:nvSpPr>
        <p:spPr>
          <a:xfrm>
            <a:off x="1981200" y="990601"/>
            <a:ext cx="8229600" cy="5135563"/>
          </a:xfrm>
        </p:spPr>
        <p:txBody>
          <a:bodyPr/>
          <a:lstStyle/>
          <a:p>
            <a:pPr eaLnBrk="1" hangingPunct="1"/>
            <a:r>
              <a:rPr lang="en-US" dirty="0"/>
              <a:t>This is conducted to determine whether a proposal business has sufficient management expertise and other resources to successfully launch its business.</a:t>
            </a:r>
          </a:p>
          <a:p>
            <a:pPr eaLnBrk="1" hangingPunct="1"/>
            <a:r>
              <a:rPr lang="en-US" dirty="0"/>
              <a:t>Two issues must be given special consideration here:</a:t>
            </a:r>
          </a:p>
          <a:p>
            <a:pPr lvl="1" eaLnBrk="1" hangingPunct="1"/>
            <a:r>
              <a:rPr lang="en-US" b="1" dirty="0"/>
              <a:t>Management competence :</a:t>
            </a:r>
            <a:r>
              <a:rPr lang="en-US" dirty="0"/>
              <a:t>(conceptual , human and technical skills, experience, familiarity with the industry etc.)</a:t>
            </a:r>
          </a:p>
          <a:p>
            <a:pPr lvl="1" eaLnBrk="1" hangingPunct="1"/>
            <a:r>
              <a:rPr lang="en-US" b="1" dirty="0"/>
              <a:t>Resource Sufficiency</a:t>
            </a:r>
            <a:endParaRPr lang="en-US" dirty="0"/>
          </a:p>
          <a:p>
            <a:pPr eaLnBrk="1" hangingPunct="1">
              <a:buFont typeface="Arial" charset="0"/>
              <a:buNone/>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981200" y="274638"/>
            <a:ext cx="8229600" cy="868362"/>
          </a:xfrm>
        </p:spPr>
        <p:txBody>
          <a:bodyPr/>
          <a:lstStyle/>
          <a:p>
            <a:pPr eaLnBrk="1" hangingPunct="1"/>
            <a:r>
              <a:rPr lang="en-US" sz="2800" b="1" dirty="0">
                <a:solidFill>
                  <a:srgbClr val="FF0000"/>
                </a:solidFill>
              </a:rPr>
              <a:t>Financial Feasibility</a:t>
            </a:r>
          </a:p>
        </p:txBody>
      </p:sp>
      <p:sp>
        <p:nvSpPr>
          <p:cNvPr id="17411" name="Content Placeholder 2"/>
          <p:cNvSpPr>
            <a:spLocks noGrp="1"/>
          </p:cNvSpPr>
          <p:nvPr>
            <p:ph idx="1"/>
          </p:nvPr>
        </p:nvSpPr>
        <p:spPr>
          <a:xfrm>
            <a:off x="1981200" y="1066800"/>
            <a:ext cx="8229600" cy="5257800"/>
          </a:xfrm>
        </p:spPr>
        <p:txBody>
          <a:bodyPr/>
          <a:lstStyle/>
          <a:p>
            <a:pPr eaLnBrk="1" hangingPunct="1"/>
            <a:r>
              <a:rPr lang="en-US"/>
              <a:t>The most important issues to consider here are total start up cash needed, financial performance of similar businesses and the overall  financial attractiveness of the proposed venture.</a:t>
            </a:r>
          </a:p>
          <a:p>
            <a:pPr eaLnBrk="1" hangingPunct="1"/>
            <a:r>
              <a:rPr lang="en-US"/>
              <a:t>There is need to clearly show where the money to start up the business will come from and if it’ll be a loan, elaborate a plan on how to pay it back.</a:t>
            </a:r>
          </a:p>
          <a:p>
            <a:pPr eaLnBrk="1" hangingPunct="1"/>
            <a:endParaRPr lang="en-US"/>
          </a:p>
          <a:p>
            <a:pPr eaLnBrk="1" hangingPunct="1"/>
            <a:endParaRPr lang="en-US"/>
          </a:p>
          <a:p>
            <a:pPr eaLnBrk="1" hangingPunct="1"/>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A business plan </a:t>
            </a:r>
          </a:p>
        </p:txBody>
      </p:sp>
      <p:sp>
        <p:nvSpPr>
          <p:cNvPr id="3" name="Content Placeholder 2"/>
          <p:cNvSpPr>
            <a:spLocks noGrp="1"/>
          </p:cNvSpPr>
          <p:nvPr>
            <p:ph idx="1"/>
          </p:nvPr>
        </p:nvSpPr>
        <p:spPr/>
        <p:txBody>
          <a:bodyPr>
            <a:normAutofit fontScale="77500" lnSpcReduction="20000"/>
          </a:bodyPr>
          <a:lstStyle/>
          <a:p>
            <a:pPr marL="0" indent="0">
              <a:buNone/>
            </a:pPr>
            <a:endParaRPr lang="en-US" b="1" dirty="0"/>
          </a:p>
          <a:p>
            <a:pPr>
              <a:spcAft>
                <a:spcPts val="0"/>
              </a:spcAft>
              <a:buFont typeface="Arial" pitchFamily="34" charset="0"/>
              <a:buChar char="•"/>
              <a:defRPr/>
            </a:pPr>
            <a:r>
              <a:rPr lang="en-US" sz="3800" dirty="0"/>
              <a:t>A business plan is a written narrative, typically 25 to 35 pages long, that describes what a new business intends to accomplish and how it intends to accomplish it.</a:t>
            </a:r>
          </a:p>
          <a:p>
            <a:pPr>
              <a:spcAft>
                <a:spcPts val="0"/>
              </a:spcAft>
              <a:buFont typeface="Arial" pitchFamily="34" charset="0"/>
              <a:buChar char="•"/>
              <a:defRPr/>
            </a:pPr>
            <a:r>
              <a:rPr lang="en-US" sz="3800" dirty="0"/>
              <a:t>a detailed account of how the entrepreneur plans to convert his ideas and vision into real, functioning business. It is a document that outlines all the steps that the entrepreneur intendeds to follow to achieve the objectives or goals he has already envisioned/planned/proposed for his business.</a:t>
            </a:r>
          </a:p>
          <a:p>
            <a:endParaRPr lang="en-US" b="1" dirty="0"/>
          </a:p>
          <a:p>
            <a:endParaRPr lang="en-US" dirty="0"/>
          </a:p>
        </p:txBody>
      </p:sp>
    </p:spTree>
    <p:extLst>
      <p:ext uri="{BB962C8B-B14F-4D97-AF65-F5344CB8AC3E}">
        <p14:creationId xmlns:p14="http://schemas.microsoft.com/office/powerpoint/2010/main" val="128777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business plan</a:t>
            </a:r>
          </a:p>
        </p:txBody>
      </p:sp>
      <p:sp>
        <p:nvSpPr>
          <p:cNvPr id="3" name="Content Placeholder 2"/>
          <p:cNvSpPr>
            <a:spLocks noGrp="1"/>
          </p:cNvSpPr>
          <p:nvPr>
            <p:ph idx="1"/>
          </p:nvPr>
        </p:nvSpPr>
        <p:spPr/>
        <p:txBody>
          <a:bodyPr>
            <a:normAutofit fontScale="92500" lnSpcReduction="20000"/>
          </a:bodyPr>
          <a:lstStyle/>
          <a:p>
            <a:pPr>
              <a:spcAft>
                <a:spcPts val="0"/>
              </a:spcAft>
              <a:buFont typeface="Arial" pitchFamily="34" charset="0"/>
              <a:buChar char="•"/>
              <a:defRPr/>
            </a:pPr>
            <a:r>
              <a:rPr lang="en-US" sz="3800" dirty="0"/>
              <a:t>For most new ventures, the business plan is a dual-purpose document:</a:t>
            </a:r>
          </a:p>
          <a:p>
            <a:pPr lvl="1">
              <a:spcAft>
                <a:spcPts val="0"/>
              </a:spcAft>
              <a:buFont typeface="Arial" pitchFamily="34" charset="0"/>
              <a:buChar char="–"/>
              <a:defRPr/>
            </a:pPr>
            <a:r>
              <a:rPr lang="en-US" sz="3800" b="1" dirty="0"/>
              <a:t>Inside the firm</a:t>
            </a:r>
            <a:r>
              <a:rPr lang="en-US" sz="3800" dirty="0"/>
              <a:t>, it helps the company develop a “road map” to follow in executing its strategies and plans.</a:t>
            </a:r>
          </a:p>
          <a:p>
            <a:pPr lvl="1">
              <a:spcAft>
                <a:spcPts val="0"/>
              </a:spcAft>
              <a:buFont typeface="Arial" pitchFamily="34" charset="0"/>
              <a:buChar char="–"/>
              <a:defRPr/>
            </a:pPr>
            <a:r>
              <a:rPr lang="en-US" sz="3800" b="1" dirty="0"/>
              <a:t>Outside the firm, </a:t>
            </a:r>
            <a:r>
              <a:rPr lang="en-US" sz="3800" dirty="0"/>
              <a:t>it introduces potential investors and other stakeholders to the business opportunity the firm is pursuing and how it intends to pursue it.</a:t>
            </a:r>
          </a:p>
          <a:p>
            <a:endParaRPr lang="en-US" dirty="0"/>
          </a:p>
        </p:txBody>
      </p:sp>
    </p:spTree>
    <p:extLst>
      <p:ext uri="{BB962C8B-B14F-4D97-AF65-F5344CB8AC3E}">
        <p14:creationId xmlns:p14="http://schemas.microsoft.com/office/powerpoint/2010/main" val="2346078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3613</TotalTime>
  <Words>3916</Words>
  <Application>Microsoft Office PowerPoint</Application>
  <PresentationFormat>Widescreen</PresentationFormat>
  <Paragraphs>252</Paragraphs>
  <Slides>46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46</vt:i4>
      </vt:variant>
    </vt:vector>
  </HeadingPairs>
  <TitlesOfParts>
    <vt:vector size="58" baseType="lpstr">
      <vt:lpstr>Aptos</vt:lpstr>
      <vt:lpstr>Aptos Display</vt:lpstr>
      <vt:lpstr>Arial</vt:lpstr>
      <vt:lpstr>Avenir Black</vt:lpstr>
      <vt:lpstr>Avenir Book</vt:lpstr>
      <vt:lpstr>Avenir Next Demi Bold</vt:lpstr>
      <vt:lpstr>Avenir Next Regular</vt:lpstr>
      <vt:lpstr>Söhne</vt:lpstr>
      <vt:lpstr>Times New Roman</vt:lpstr>
      <vt:lpstr>Wingdings</vt:lpstr>
      <vt:lpstr>Wingdings 2</vt:lpstr>
      <vt:lpstr>Office Theme</vt:lpstr>
      <vt:lpstr>Lesson 2: Explore E-cells on Campus </vt:lpstr>
      <vt:lpstr>E-cells cont’d… </vt:lpstr>
      <vt:lpstr>What does an E-cell do?</vt:lpstr>
      <vt:lpstr>            Leadership skills </vt:lpstr>
      <vt:lpstr>Innovation and generation of new ideas </vt:lpstr>
      <vt:lpstr>Creative and critical thinking </vt:lpstr>
      <vt:lpstr>Opportunity evaluation </vt:lpstr>
      <vt:lpstr>Business planning </vt:lpstr>
      <vt:lpstr>Team building and raising resources </vt:lpstr>
      <vt:lpstr>Why join an e-cells </vt:lpstr>
      <vt:lpstr>Why join an e-cells </vt:lpstr>
      <vt:lpstr>PowerPoint Presentation</vt:lpstr>
      <vt:lpstr>Some of UR entrepreneurship initiatives</vt:lpstr>
      <vt:lpstr>   Activity 2 </vt:lpstr>
      <vt:lpstr>The story of Shashank </vt:lpstr>
      <vt:lpstr>PowerPoint Presentation</vt:lpstr>
      <vt:lpstr>PowerPoint Presentation</vt:lpstr>
      <vt:lpstr>How Shashank generated idea to start Practo</vt:lpstr>
      <vt:lpstr>PowerPoint Presentation</vt:lpstr>
      <vt:lpstr>Class activity</vt:lpstr>
      <vt:lpstr>GENERATING A BUSINESS IDEA</vt:lpstr>
      <vt:lpstr>Three ways  to identify a business opportunity</vt:lpstr>
      <vt:lpstr>Three ways  to identify a business opportunity</vt:lpstr>
      <vt:lpstr>Three ways  to identify a business opportunity</vt:lpstr>
      <vt:lpstr>PowerPoint Presentation</vt:lpstr>
      <vt:lpstr>PowerPoint Presentation</vt:lpstr>
      <vt:lpstr>Form Team and Assign Roles – Process Flow </vt:lpstr>
      <vt:lpstr>How it works</vt:lpstr>
      <vt:lpstr>PowerPoint Presentation</vt:lpstr>
      <vt:lpstr>PowerPoint Presentation</vt:lpstr>
      <vt:lpstr>PowerPoint Presentation</vt:lpstr>
      <vt:lpstr>FEASIBILITY ANALYSIS</vt:lpstr>
      <vt:lpstr>Introduction</vt:lpstr>
      <vt:lpstr>Feasibility  analysis framework</vt:lpstr>
      <vt:lpstr>Product/Service Feasibility</vt:lpstr>
      <vt:lpstr>The following are some of the benefits of conducting a product/service feasibility analysis:</vt:lpstr>
      <vt:lpstr>The product/service Concept Test</vt:lpstr>
      <vt:lpstr>A well designed concept test/statement should include the following:</vt:lpstr>
      <vt:lpstr>The product/Service Usability Testing</vt:lpstr>
      <vt:lpstr>Industry/Market Feasibility</vt:lpstr>
      <vt:lpstr>Industry Attractiveness:</vt:lpstr>
      <vt:lpstr>Market Timeliness:</vt:lpstr>
      <vt:lpstr>Organizational Feasibility</vt:lpstr>
      <vt:lpstr>Financial Feasibility</vt:lpstr>
      <vt:lpstr>A business plan </vt:lpstr>
      <vt:lpstr>A business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 Explore E-cells on Campus </dc:title>
  <dc:creator>Kellen Sumwiza</dc:creator>
  <cp:lastModifiedBy>PC</cp:lastModifiedBy>
  <cp:revision>56</cp:revision>
  <dcterms:created xsi:type="dcterms:W3CDTF">2024-03-18T08:08:58Z</dcterms:created>
  <dcterms:modified xsi:type="dcterms:W3CDTF">2026-05-05T06:55:14Z</dcterms:modified>
</cp:coreProperties>
</file>