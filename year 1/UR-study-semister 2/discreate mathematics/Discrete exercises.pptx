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8" d="100"/>
          <a:sy n="78" d="100"/>
        </p:scale>
        <p:origin x="4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D2CF6A-1E86-4F71-B04B-B8D2EE1A9CE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2863736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D2CF6A-1E86-4F71-B04B-B8D2EE1A9CE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4278828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D2CF6A-1E86-4F71-B04B-B8D2EE1A9CE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243592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D2CF6A-1E86-4F71-B04B-B8D2EE1A9CE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3551717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D2CF6A-1E86-4F71-B04B-B8D2EE1A9CE4}"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3437905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D2CF6A-1E86-4F71-B04B-B8D2EE1A9CE4}" type="datetimeFigureOut">
              <a:rPr lang="en-US" smtClean="0"/>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635367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2CF6A-1E86-4F71-B04B-B8D2EE1A9CE4}" type="datetimeFigureOut">
              <a:rPr lang="en-US" smtClean="0"/>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3237603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D2CF6A-1E86-4F71-B04B-B8D2EE1A9CE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1554031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D2CF6A-1E86-4F71-B04B-B8D2EE1A9CE4}"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654283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D2CF6A-1E86-4F71-B04B-B8D2EE1A9CE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2563560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D2CF6A-1E86-4F71-B04B-B8D2EE1A9CE4}"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8975F0-6437-4CDC-ABE0-D1CE99F88C73}" type="slidenum">
              <a:rPr lang="en-US" smtClean="0"/>
              <a:t>‹#›</a:t>
            </a:fld>
            <a:endParaRPr lang="en-US"/>
          </a:p>
        </p:txBody>
      </p:sp>
    </p:spTree>
    <p:extLst>
      <p:ext uri="{BB962C8B-B14F-4D97-AF65-F5344CB8AC3E}">
        <p14:creationId xmlns:p14="http://schemas.microsoft.com/office/powerpoint/2010/main" val="2411502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D2CF6A-1E86-4F71-B04B-B8D2EE1A9CE4}" type="datetimeFigureOut">
              <a:rPr lang="en-US" smtClean="0"/>
              <a:t>5/31/2026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8975F0-6437-4CDC-ABE0-D1CE99F88C73}" type="slidenum">
              <a:rPr lang="en-US" smtClean="0"/>
              <a:t>‹#›</a:t>
            </a:fld>
            <a:endParaRPr lang="en-US"/>
          </a:p>
        </p:txBody>
      </p:sp>
    </p:spTree>
    <p:extLst>
      <p:ext uri="{BB962C8B-B14F-4D97-AF65-F5344CB8AC3E}">
        <p14:creationId xmlns:p14="http://schemas.microsoft.com/office/powerpoint/2010/main" val="3184688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a:t>
            </a:r>
            <a:r>
              <a:rPr lang="en-US" dirty="0" smtClean="0"/>
              <a:t>xercises</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734318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8281"/>
            <a:ext cx="9144000" cy="2862322"/>
          </a:xfrm>
          <a:prstGeom prst="rect">
            <a:avLst/>
          </a:prstGeom>
        </p:spPr>
        <p:txBody>
          <a:bodyPr wrap="square">
            <a:spAutoFit/>
          </a:bodyPr>
          <a:lstStyle/>
          <a:p>
            <a:r>
              <a:rPr lang="en-US" dirty="0" smtClean="0"/>
              <a:t>1.Whichofthesesentencesarepropositions?Whatarethe </a:t>
            </a:r>
            <a:r>
              <a:rPr lang="en-US" dirty="0" err="1" smtClean="0"/>
              <a:t>truthvaluesofthosethatarepropositions</a:t>
            </a:r>
            <a:r>
              <a:rPr lang="en-US" dirty="0" smtClean="0"/>
              <a:t>? a) </a:t>
            </a:r>
            <a:r>
              <a:rPr lang="en-US" dirty="0" err="1" smtClean="0"/>
              <a:t>BostonisthecapitalofMassachusetts</a:t>
            </a:r>
            <a:r>
              <a:rPr lang="en-US" dirty="0" smtClean="0"/>
              <a:t>. b)</a:t>
            </a:r>
            <a:r>
              <a:rPr lang="en-US" dirty="0" err="1" smtClean="0"/>
              <a:t>MiamiisthecapitalofFlorida</a:t>
            </a:r>
            <a:r>
              <a:rPr lang="en-US" dirty="0" smtClean="0"/>
              <a:t>. c) 2+3=5. d) 5+7=10. e) x+2=11. f) </a:t>
            </a:r>
            <a:r>
              <a:rPr lang="en-US" dirty="0" err="1" smtClean="0"/>
              <a:t>Answerthisquestion</a:t>
            </a:r>
            <a:r>
              <a:rPr lang="en-US" dirty="0" smtClean="0"/>
              <a:t>.</a:t>
            </a:r>
          </a:p>
          <a:p>
            <a:r>
              <a:rPr lang="en-US" dirty="0" smtClean="0"/>
              <a:t>2.Whichofthesearepropositions?Whatarethetruthvalues </a:t>
            </a:r>
            <a:r>
              <a:rPr lang="en-US" dirty="0" err="1" smtClean="0"/>
              <a:t>ofthosethatarepropositions</a:t>
            </a:r>
            <a:r>
              <a:rPr lang="en-US" dirty="0" smtClean="0"/>
              <a:t>? a) </a:t>
            </a:r>
            <a:r>
              <a:rPr lang="en-US" dirty="0" err="1" smtClean="0"/>
              <a:t>Donotpassgo</a:t>
            </a:r>
            <a:r>
              <a:rPr lang="en-US" dirty="0" smtClean="0"/>
              <a:t>. b)</a:t>
            </a:r>
            <a:r>
              <a:rPr lang="en-US" dirty="0" err="1" smtClean="0"/>
              <a:t>Whattimeisit</a:t>
            </a:r>
            <a:r>
              <a:rPr lang="en-US" dirty="0" smtClean="0"/>
              <a:t>? c) </a:t>
            </a:r>
            <a:r>
              <a:rPr lang="en-US" dirty="0" err="1" smtClean="0"/>
              <a:t>TherearenoblackfliesinMaine</a:t>
            </a:r>
            <a:r>
              <a:rPr lang="en-US" dirty="0" smtClean="0"/>
              <a:t>. d) 4+x=5. e) </a:t>
            </a:r>
            <a:r>
              <a:rPr lang="en-US" dirty="0" err="1" smtClean="0"/>
              <a:t>Themoonismadeofgreencheese</a:t>
            </a:r>
            <a:r>
              <a:rPr lang="en-US" dirty="0" smtClean="0"/>
              <a:t>. f) 2n≥100. </a:t>
            </a:r>
          </a:p>
          <a:p>
            <a:r>
              <a:rPr lang="en-US" dirty="0" smtClean="0"/>
              <a:t>8. Let p and q be the propositions p : I bought a lottery ticket this week. q : I won the million dollar jackpot. Express each of these propositions as an English </a:t>
            </a:r>
            <a:r>
              <a:rPr lang="en-US" dirty="0" err="1" smtClean="0"/>
              <a:t>sen</a:t>
            </a:r>
            <a:r>
              <a:rPr lang="en-US" dirty="0" smtClean="0"/>
              <a:t> </a:t>
            </a:r>
            <a:r>
              <a:rPr lang="en-US" dirty="0" err="1" smtClean="0"/>
              <a:t>tence</a:t>
            </a:r>
            <a:r>
              <a:rPr lang="en-US" dirty="0" smtClean="0"/>
              <a:t>. a) ¬p d) </a:t>
            </a:r>
            <a:r>
              <a:rPr lang="en-US" dirty="0" err="1" smtClean="0"/>
              <a:t>p∧q</a:t>
            </a:r>
            <a:r>
              <a:rPr lang="en-US" dirty="0" smtClean="0"/>
              <a:t> g) ¬p∧¬q b) </a:t>
            </a:r>
            <a:r>
              <a:rPr lang="en-US" dirty="0" err="1" smtClean="0"/>
              <a:t>p∨q</a:t>
            </a:r>
            <a:r>
              <a:rPr lang="en-US" dirty="0" smtClean="0"/>
              <a:t> e) p ↔q c) p →q f) ¬p →¬q h) ¬p∨(p∧ q) .</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093" y="3010603"/>
            <a:ext cx="8452022" cy="3439624"/>
          </a:xfrm>
          <a:prstGeom prst="rect">
            <a:avLst/>
          </a:prstGeom>
        </p:spPr>
      </p:pic>
    </p:spTree>
    <p:extLst>
      <p:ext uri="{BB962C8B-B14F-4D97-AF65-F5344CB8AC3E}">
        <p14:creationId xmlns:p14="http://schemas.microsoft.com/office/powerpoint/2010/main" val="82014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6497"/>
            <a:ext cx="12192000" cy="5355312"/>
          </a:xfrm>
          <a:prstGeom prst="rect">
            <a:avLst/>
          </a:prstGeom>
        </p:spPr>
        <p:txBody>
          <a:bodyPr wrap="square">
            <a:spAutoFit/>
          </a:bodyPr>
          <a:lstStyle/>
          <a:p>
            <a:r>
              <a:rPr lang="en-US" dirty="0" smtClean="0"/>
              <a:t>11. Let p and q be the propositions p : It is below freezing. q : It is snowing. Write these propositions using p and q and logical connectives (including negations). a) It is below freezing and snowing. b) It is below freezing but not snowing. c) It is not below freezing and it is not snowing. d) It is either snowing or below freezing (or both). e) If it is below freezing, it is also snowing. f) Either it is below freezing or it is snowing, but it is not snowing if it is below freezing. g) That it is below freezing is necessary and sufficient for it to be snowing.</a:t>
            </a:r>
          </a:p>
          <a:p>
            <a:r>
              <a:rPr lang="en-US" dirty="0" smtClean="0"/>
              <a:t>22. Write each of these statements in the form “if p, then q” in English. [Hint: Refer to the list of common ways to ex press conditional statements provided in this section.] a) It is necessary to wash the boss’s car to get promoted. b) Winds from the south imply a spring thaw. c) A sufficient condition for the warranty to be good is that you bought the computer less than a year ago. d) Willy gets caught whenever he cheats. e) </a:t>
            </a:r>
            <a:r>
              <a:rPr lang="en-US" dirty="0" err="1" smtClean="0"/>
              <a:t>Youcanaccessthewebsiteonlyifyoupayasubscrip</a:t>
            </a:r>
            <a:r>
              <a:rPr lang="en-US" dirty="0" smtClean="0"/>
              <a:t> </a:t>
            </a:r>
            <a:r>
              <a:rPr lang="en-US" dirty="0" err="1" smtClean="0"/>
              <a:t>tion</a:t>
            </a:r>
            <a:r>
              <a:rPr lang="en-US" dirty="0" smtClean="0"/>
              <a:t> fee. f) Getting elected follows from knowing the right </a:t>
            </a:r>
            <a:r>
              <a:rPr lang="en-US" dirty="0" err="1" smtClean="0"/>
              <a:t>peo</a:t>
            </a:r>
            <a:r>
              <a:rPr lang="en-US" dirty="0" smtClean="0"/>
              <a:t> </a:t>
            </a:r>
            <a:r>
              <a:rPr lang="en-US" dirty="0" err="1" smtClean="0"/>
              <a:t>ple</a:t>
            </a:r>
            <a:r>
              <a:rPr lang="en-US" dirty="0" smtClean="0"/>
              <a:t>. g) Carol gets seasick whenever she is on a boat.</a:t>
            </a:r>
          </a:p>
          <a:p>
            <a:r>
              <a:rPr lang="en-US" dirty="0" smtClean="0"/>
              <a:t>32. </a:t>
            </a:r>
            <a:r>
              <a:rPr lang="en-US" dirty="0" err="1" smtClean="0"/>
              <a:t>Constructatruthtableforeachofthesecompoundpropo</a:t>
            </a:r>
            <a:r>
              <a:rPr lang="en-US" dirty="0" smtClean="0"/>
              <a:t> </a:t>
            </a:r>
            <a:r>
              <a:rPr lang="en-US" dirty="0" err="1" smtClean="0"/>
              <a:t>sitions</a:t>
            </a:r>
            <a:r>
              <a:rPr lang="en-US" dirty="0" smtClean="0"/>
              <a:t>. a) p →¬p c) p⊕(</a:t>
            </a:r>
            <a:r>
              <a:rPr lang="en-US" dirty="0" err="1" smtClean="0"/>
              <a:t>p∨q</a:t>
            </a:r>
            <a:r>
              <a:rPr lang="en-US" dirty="0" smtClean="0"/>
              <a:t>) e) (q →¬p)↔(p ↔q) f) (p ↔q)⊕(p ↔¬q) b) p ↔¬p d) (p ∧q)→(</a:t>
            </a:r>
            <a:r>
              <a:rPr lang="en-US" dirty="0" err="1" smtClean="0"/>
              <a:t>p∨q</a:t>
            </a:r>
            <a:r>
              <a:rPr lang="en-US" dirty="0" smtClean="0"/>
              <a:t>)</a:t>
            </a:r>
          </a:p>
          <a:p>
            <a:r>
              <a:rPr lang="en-US" dirty="0" smtClean="0"/>
              <a:t>43. Find the bitwise OR, bitwise AND, and bitwise XOR of each of these pairs of bit strings. a) 101 1110, 010 0001 b) 1111 0000, 1010 1010 c) 00 0111 0001, 10 0100 1000 d) 11 1111 1111, 00 0000 0000 44. Evaluate each of these expressions. a) 11000 ∧(0 1011 ∨11011) b) (0 1111 ∧ 1 0101) ∨ 0 1000 c) (0 1010 ⊕ 11011) ⊕0 1000 d) (1 1011 ∨ 0 1010) ∧ (1 0001 ∨ 1 1011).</a:t>
            </a:r>
          </a:p>
          <a:p>
            <a:r>
              <a:rPr lang="en-US" dirty="0" smtClean="0"/>
              <a:t>42. Construct a combinatorial circuit using inverters, OR gates, and </a:t>
            </a:r>
            <a:r>
              <a:rPr lang="en-US" dirty="0" err="1" smtClean="0"/>
              <a:t>AND</a:t>
            </a:r>
            <a:r>
              <a:rPr lang="en-US" dirty="0" smtClean="0"/>
              <a:t> gates that produces the output (p ∧¬r)∨(¬q ∧r)</a:t>
            </a:r>
            <a:r>
              <a:rPr lang="en-US" dirty="0" err="1" smtClean="0"/>
              <a:t>frominput</a:t>
            </a:r>
            <a:r>
              <a:rPr lang="en-US" dirty="0" smtClean="0"/>
              <a:t> bits p, q, and r. 43. Construct a combinatorial circuit using inverters, OR gates, and </a:t>
            </a:r>
            <a:r>
              <a:rPr lang="en-US" dirty="0" err="1" smtClean="0"/>
              <a:t>AND</a:t>
            </a:r>
            <a:r>
              <a:rPr lang="en-US" dirty="0" smtClean="0"/>
              <a:t> gates that produces the output ((¬p ∨¬r)∧¬q)∨(¬p∧(q ∨r))from input bits p, q, and r</a:t>
            </a:r>
          </a:p>
          <a:p>
            <a:endParaRPr lang="en-US" dirty="0" smtClean="0"/>
          </a:p>
        </p:txBody>
      </p:sp>
    </p:spTree>
    <p:extLst>
      <p:ext uri="{BB962C8B-B14F-4D97-AF65-F5344CB8AC3E}">
        <p14:creationId xmlns:p14="http://schemas.microsoft.com/office/powerpoint/2010/main" val="3454133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2192000" cy="8679299"/>
          </a:xfrm>
          <a:prstGeom prst="rect">
            <a:avLst/>
          </a:prstGeom>
        </p:spPr>
        <p:txBody>
          <a:bodyPr wrap="square">
            <a:spAutoFit/>
          </a:bodyPr>
          <a:lstStyle/>
          <a:p>
            <a:pPr marL="342900" indent="-342900">
              <a:buAutoNum type="arabicPeriod"/>
            </a:pPr>
            <a:r>
              <a:rPr lang="en-US" dirty="0" smtClean="0"/>
              <a:t>1.LetP(x)denotethestatement“x≤4.”Whatarethese </a:t>
            </a:r>
            <a:r>
              <a:rPr lang="en-US" dirty="0" err="1" smtClean="0"/>
              <a:t>truthvalues</a:t>
            </a:r>
            <a:r>
              <a:rPr lang="en-US" dirty="0" smtClean="0"/>
              <a:t>? a) P(0) b) P(4) c) P(6)</a:t>
            </a:r>
          </a:p>
          <a:p>
            <a:r>
              <a:rPr lang="en-US" dirty="0" smtClean="0"/>
              <a:t>7.TranslatethesestatementsintoEnglish,whereC(x)</a:t>
            </a:r>
            <a:r>
              <a:rPr lang="en-US" dirty="0" err="1" smtClean="0"/>
              <a:t>is“x</a:t>
            </a:r>
            <a:r>
              <a:rPr lang="en-US" dirty="0" smtClean="0"/>
              <a:t> </a:t>
            </a:r>
            <a:r>
              <a:rPr lang="en-US" dirty="0" err="1" smtClean="0"/>
              <a:t>isacomedian”andF</a:t>
            </a:r>
            <a:r>
              <a:rPr lang="en-US" dirty="0" smtClean="0"/>
              <a:t>(x)</a:t>
            </a:r>
            <a:r>
              <a:rPr lang="en-US" dirty="0" err="1" smtClean="0"/>
              <a:t>is“xisfunny”andthedomain</a:t>
            </a:r>
            <a:r>
              <a:rPr lang="en-US" dirty="0" smtClean="0"/>
              <a:t> </a:t>
            </a:r>
            <a:r>
              <a:rPr lang="en-US" dirty="0" err="1" smtClean="0"/>
              <a:t>consistsofallpeople</a:t>
            </a:r>
            <a:r>
              <a:rPr lang="en-US" dirty="0" smtClean="0"/>
              <a:t>. a) ∀x(C(x)→F(x)) b) ∀x(C(x)∧F(x)) c) ∃x(C(x)→F(x)) d) ∃x(C(x)∧F(x))</a:t>
            </a:r>
          </a:p>
          <a:p>
            <a:pPr marL="342900" indent="-342900">
              <a:buAutoNum type="arabicPeriod"/>
            </a:pPr>
            <a:r>
              <a:rPr lang="en-US" dirty="0" smtClean="0"/>
              <a:t>12.LetQ(x)bethestatement“x+1&gt;2x.”Ifthedomain </a:t>
            </a:r>
            <a:r>
              <a:rPr lang="en-US" dirty="0" err="1" smtClean="0"/>
              <a:t>consistsofallintegers,whatarethesetruthvalues</a:t>
            </a:r>
            <a:r>
              <a:rPr lang="en-US" dirty="0" smtClean="0"/>
              <a:t>? a)Q(0) b)Q(−1) c) Q(1) d) ∃</a:t>
            </a:r>
            <a:r>
              <a:rPr lang="en-US" dirty="0" err="1" smtClean="0"/>
              <a:t>xQ</a:t>
            </a:r>
            <a:r>
              <a:rPr lang="en-US" dirty="0" smtClean="0"/>
              <a:t>(x) e) ∀</a:t>
            </a:r>
            <a:r>
              <a:rPr lang="en-US" dirty="0" err="1" smtClean="0"/>
              <a:t>xQ</a:t>
            </a:r>
            <a:r>
              <a:rPr lang="en-US" dirty="0" smtClean="0"/>
              <a:t>(x) f) ∃</a:t>
            </a:r>
            <a:r>
              <a:rPr lang="en-US" dirty="0" err="1" smtClean="0"/>
              <a:t>x¬Q</a:t>
            </a:r>
            <a:r>
              <a:rPr lang="en-US" dirty="0" smtClean="0"/>
              <a:t>(x) g) ∀</a:t>
            </a:r>
            <a:r>
              <a:rPr lang="en-US" dirty="0" err="1" smtClean="0"/>
              <a:t>x¬Q</a:t>
            </a:r>
            <a:r>
              <a:rPr lang="en-US" dirty="0" smtClean="0"/>
              <a:t>(x) </a:t>
            </a:r>
          </a:p>
          <a:p>
            <a:pPr marL="342900" indent="-342900">
              <a:buAutoNum type="arabicPeriod"/>
            </a:pPr>
            <a:r>
              <a:rPr lang="en-US" dirty="0" smtClean="0"/>
              <a:t>25. Translate each of these statements into logical </a:t>
            </a:r>
            <a:r>
              <a:rPr lang="en-US" dirty="0" err="1" smtClean="0"/>
              <a:t>expres</a:t>
            </a:r>
            <a:r>
              <a:rPr lang="en-US" dirty="0" smtClean="0"/>
              <a:t> </a:t>
            </a:r>
            <a:r>
              <a:rPr lang="en-US" dirty="0" err="1" smtClean="0"/>
              <a:t>sions</a:t>
            </a:r>
            <a:r>
              <a:rPr lang="en-US" dirty="0" smtClean="0"/>
              <a:t> using predicates, quantifiers, and logical </a:t>
            </a:r>
            <a:r>
              <a:rPr lang="en-US" dirty="0" err="1" smtClean="0"/>
              <a:t>connec</a:t>
            </a:r>
            <a:r>
              <a:rPr lang="en-US" dirty="0" smtClean="0"/>
              <a:t> </a:t>
            </a:r>
            <a:r>
              <a:rPr lang="en-US" dirty="0" err="1" smtClean="0"/>
              <a:t>tives</a:t>
            </a:r>
            <a:r>
              <a:rPr lang="en-US" dirty="0" smtClean="0"/>
              <a:t>. a) </a:t>
            </a:r>
            <a:r>
              <a:rPr lang="en-US" dirty="0" err="1" smtClean="0"/>
              <a:t>Noone</a:t>
            </a:r>
            <a:r>
              <a:rPr lang="en-US" dirty="0" smtClean="0"/>
              <a:t> is perfect. b) Not everyone is perfect. c) All your friends are perfect. d) At least one of your friends is perfect</a:t>
            </a:r>
          </a:p>
          <a:p>
            <a:pPr marL="342900" indent="-342900">
              <a:buAutoNum type="arabicPeriod"/>
            </a:pPr>
            <a:r>
              <a:rPr lang="en-US" dirty="0" smtClean="0"/>
              <a:t>e) Everyone is your friend and is perfect. f) Not everybody is your friend or someone is not perfect</a:t>
            </a:r>
          </a:p>
          <a:p>
            <a:pPr marL="342900" indent="-342900">
              <a:buAutoNum type="arabicPeriod"/>
            </a:pPr>
            <a:r>
              <a:rPr lang="en-US" dirty="0" smtClean="0"/>
              <a:t>29. Express each of these statements using logical operators, predicates, and quantifiers. a) Some propositions are tautologies. b) The negation of a contradiction is a tautology. c) The disjunction of two contingencies can be a </a:t>
            </a:r>
            <a:r>
              <a:rPr lang="en-US" dirty="0" err="1" smtClean="0"/>
              <a:t>tautol</a:t>
            </a:r>
            <a:r>
              <a:rPr lang="en-US" dirty="0" smtClean="0"/>
              <a:t> </a:t>
            </a:r>
            <a:r>
              <a:rPr lang="en-US" dirty="0" err="1" smtClean="0"/>
              <a:t>ogy</a:t>
            </a:r>
            <a:r>
              <a:rPr lang="en-US" dirty="0" smtClean="0"/>
              <a:t>. d) The conjunction of two tautologies is a tautology.</a:t>
            </a:r>
          </a:p>
          <a:p>
            <a:pPr marL="342900" indent="-342900">
              <a:buAutoNum type="arabicPeriod"/>
            </a:pPr>
            <a:r>
              <a:rPr lang="en-US" dirty="0" smtClean="0"/>
              <a:t>33. Express each of these statements using quantifiers. Then form the negation of the statement, so that no negation is to the left of a quantifier. Next, express the negation in simple English. (Do not simply use the phrase “It is not the case that.”) a) Some old dogs can learn new tricks. b) </a:t>
            </a:r>
            <a:r>
              <a:rPr lang="en-US" dirty="0" err="1" smtClean="0"/>
              <a:t>Norabbit</a:t>
            </a:r>
            <a:r>
              <a:rPr lang="en-US" dirty="0" smtClean="0"/>
              <a:t> knows calculus. c) Every bird can fly. d) There is no dog that can talk. e) There is no one in this class who knows French and Russian</a:t>
            </a:r>
          </a:p>
          <a:p>
            <a:pPr marL="342900" indent="-342900">
              <a:buAutoNum type="arabicPeriod"/>
            </a:pPr>
            <a:r>
              <a:rPr lang="en-US" dirty="0" smtClean="0"/>
              <a:t>39. Translate these specifications into English where F(p)is “Printer p is out of service,” B(p) is “Printer p is busy,” L(j) is “Print job j is lost,” and Q(j) is “Print job j is queued.” a) ∃p(F(p)∧B(p)) →∃</a:t>
            </a:r>
            <a:r>
              <a:rPr lang="en-US" dirty="0" err="1" smtClean="0"/>
              <a:t>jL</a:t>
            </a:r>
            <a:r>
              <a:rPr lang="en-US" dirty="0" smtClean="0"/>
              <a:t>(j) b) ∀</a:t>
            </a:r>
            <a:r>
              <a:rPr lang="en-US" dirty="0" err="1" smtClean="0"/>
              <a:t>pB</a:t>
            </a:r>
            <a:r>
              <a:rPr lang="en-US" dirty="0" smtClean="0"/>
              <a:t>(p) →∃</a:t>
            </a:r>
            <a:r>
              <a:rPr lang="en-US" dirty="0" err="1" smtClean="0"/>
              <a:t>jQ</a:t>
            </a:r>
            <a:r>
              <a:rPr lang="en-US" dirty="0" smtClean="0"/>
              <a:t>(j) c) ∃j(Q(j)∧L(j)) →∃pF(p) d) (∀</a:t>
            </a:r>
            <a:r>
              <a:rPr lang="en-US" dirty="0" err="1" smtClean="0"/>
              <a:t>pB</a:t>
            </a:r>
            <a:r>
              <a:rPr lang="en-US" dirty="0" smtClean="0"/>
              <a:t>(p)∧∀</a:t>
            </a:r>
            <a:r>
              <a:rPr lang="en-US" dirty="0" err="1" smtClean="0"/>
              <a:t>jQ</a:t>
            </a:r>
            <a:r>
              <a:rPr lang="en-US" dirty="0" smtClean="0"/>
              <a:t>(j)) →∃</a:t>
            </a:r>
            <a:r>
              <a:rPr lang="en-US" dirty="0" err="1" smtClean="0"/>
              <a:t>jL</a:t>
            </a:r>
            <a:r>
              <a:rPr lang="en-US" dirty="0" smtClean="0"/>
              <a:t>(j)</a:t>
            </a:r>
          </a:p>
          <a:p>
            <a:pPr marL="342900" indent="-342900">
              <a:buAutoNum type="arabicPeriod"/>
            </a:pPr>
            <a:r>
              <a:rPr lang="en-US" dirty="0" smtClean="0"/>
              <a:t>9. Let L(</a:t>
            </a:r>
            <a:r>
              <a:rPr lang="en-US" dirty="0" err="1" smtClean="0"/>
              <a:t>x,y</a:t>
            </a:r>
            <a:r>
              <a:rPr lang="en-US" dirty="0" smtClean="0"/>
              <a:t>) be the statement “x loves y,” where the do main for both x and y consists of all people in the world. Use quantifiers to express each of these statements. a) Everybody loves Jerry. b) Everybody loves somebody. c) There is somebody whom everybody loves. d) Nobody loves everybody. e) There is somebody whom Lydia does not love. f) There is somebody whom no one loves. g) There is exactly one person whom everybody loves. h) There are exactly two people whom Lynn loves. </a:t>
            </a:r>
            <a:r>
              <a:rPr lang="en-US" dirty="0" err="1" smtClean="0"/>
              <a:t>i</a:t>
            </a:r>
            <a:r>
              <a:rPr lang="en-US" dirty="0" smtClean="0"/>
              <a:t>) Everyone loves himself or herself. j) There is someone who loves no one besides himself or herself.</a:t>
            </a:r>
          </a:p>
          <a:p>
            <a:pPr marL="342900" indent="-342900">
              <a:buAutoNum type="arabicPeriod"/>
            </a:pPr>
            <a:r>
              <a:rPr lang="en-US" dirty="0" smtClean="0"/>
              <a:t>26. Prove that if n is a positive integer, then n is even if and only if 7n + 4 is even. 27. Prove that if n is a positive integer, then n is odd if and only if 5n + 6 is odd.</a:t>
            </a:r>
          </a:p>
          <a:p>
            <a:pPr marL="342900" indent="-342900">
              <a:buAutoNum type="arabicPeriod"/>
            </a:pPr>
            <a:r>
              <a:rPr lang="en-US" dirty="0" smtClean="0"/>
              <a:t>1. List the members of these sets. a) {x | x is a real number such that x2 = 1} b) {x | x is a positive integer less than 12} c) {x | x is the square of an integer and x</a:t>
            </a:r>
          </a:p>
          <a:p>
            <a:pPr marL="342900" indent="-342900">
              <a:buAutoNum type="arabicPeriod"/>
            </a:pPr>
            <a:r>
              <a:rPr lang="en-US" dirty="0" smtClean="0"/>
              <a:t>7. For each of the following sets, determine whether 2 is an element of that set. a) {x ∈ </a:t>
            </a:r>
            <a:r>
              <a:rPr lang="en-US" dirty="0" err="1" smtClean="0"/>
              <a:t>R|x</a:t>
            </a:r>
            <a:r>
              <a:rPr lang="en-US" dirty="0" smtClean="0"/>
              <a:t> </a:t>
            </a:r>
            <a:r>
              <a:rPr lang="en-US" dirty="0" err="1" smtClean="0"/>
              <a:t>isaninteger</a:t>
            </a:r>
            <a:r>
              <a:rPr lang="en-US" dirty="0" smtClean="0"/>
              <a:t> greater than 1} b) {x ∈ </a:t>
            </a:r>
            <a:r>
              <a:rPr lang="en-US" dirty="0" err="1" smtClean="0"/>
              <a:t>R|x</a:t>
            </a:r>
            <a:r>
              <a:rPr lang="en-US" dirty="0" smtClean="0"/>
              <a:t> </a:t>
            </a:r>
            <a:r>
              <a:rPr lang="en-US" dirty="0" err="1" smtClean="0"/>
              <a:t>isthe</a:t>
            </a:r>
            <a:r>
              <a:rPr lang="en-US" dirty="0" smtClean="0"/>
              <a:t> square of an integer} c) {2,{2}} d) {{2},{{2}}} e) {{2},{2,{2}}} f) {{{2}}} </a:t>
            </a:r>
          </a:p>
          <a:p>
            <a:pPr marL="342900" indent="-342900">
              <a:buAutoNum type="arabicPeriod"/>
            </a:pPr>
            <a:r>
              <a:rPr lang="en-US" dirty="0" smtClean="0"/>
              <a:t>9. Determine whether each of these statements is true or false. a) 0 ∈∅ c) {0}⊂∅ e) {0}∈{0} g) {∅} ⊆ {∅} b) ∅∈{0} d) ∅⊂{0} f) {0}⊂{0</a:t>
            </a:r>
            <a:endParaRPr lang="en-US" dirty="0"/>
          </a:p>
        </p:txBody>
      </p:sp>
    </p:spTree>
    <p:extLst>
      <p:ext uri="{BB962C8B-B14F-4D97-AF65-F5344CB8AC3E}">
        <p14:creationId xmlns:p14="http://schemas.microsoft.com/office/powerpoint/2010/main" val="3968381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6496"/>
            <a:ext cx="12192000" cy="6463308"/>
          </a:xfrm>
          <a:prstGeom prst="rect">
            <a:avLst/>
          </a:prstGeom>
        </p:spPr>
        <p:txBody>
          <a:bodyPr wrap="square">
            <a:spAutoFit/>
          </a:bodyPr>
          <a:lstStyle/>
          <a:p>
            <a:r>
              <a:rPr lang="en-US" dirty="0" smtClean="0"/>
              <a:t>20. What is the cardinality of each of these sets? a) ∅ b) {∅} c) {∅,{∅}} d) {∅,{∅},{∅,{∅}}}</a:t>
            </a:r>
          </a:p>
          <a:p>
            <a:r>
              <a:rPr lang="en-US" dirty="0" smtClean="0"/>
              <a:t>24. Determine whether each of these sets is the power set of a set, where a and b are distinct elements. a) ∅ c) {∅,{a},{∅,a}} b) {∅,{a}} d) {∅,{a},{b},{</a:t>
            </a:r>
            <a:r>
              <a:rPr lang="en-US" dirty="0" err="1" smtClean="0"/>
              <a:t>a,b</a:t>
            </a:r>
            <a:r>
              <a:rPr lang="en-US" dirty="0" smtClean="0"/>
              <a:t>}}</a:t>
            </a:r>
          </a:p>
          <a:p>
            <a:r>
              <a:rPr lang="en-US" dirty="0" smtClean="0"/>
              <a:t>27. Let A ={</a:t>
            </a:r>
            <a:r>
              <a:rPr lang="en-US" dirty="0" err="1" smtClean="0"/>
              <a:t>a,b,c,d</a:t>
            </a:r>
            <a:r>
              <a:rPr lang="en-US" dirty="0" smtClean="0"/>
              <a:t>} and B ={</a:t>
            </a:r>
            <a:r>
              <a:rPr lang="en-US" dirty="0" err="1" smtClean="0"/>
              <a:t>y,z</a:t>
            </a:r>
            <a:r>
              <a:rPr lang="en-US" dirty="0" smtClean="0"/>
              <a:t>}. Find a) A×B. b) B ×A.</a:t>
            </a:r>
          </a:p>
          <a:p>
            <a:r>
              <a:rPr lang="en-US" dirty="0" smtClean="0"/>
              <a:t>32. Let A ={</a:t>
            </a:r>
            <a:r>
              <a:rPr lang="en-US" dirty="0" err="1" smtClean="0"/>
              <a:t>a,b,c</a:t>
            </a:r>
            <a:r>
              <a:rPr lang="en-US" dirty="0" smtClean="0"/>
              <a:t>}, B ={</a:t>
            </a:r>
            <a:r>
              <a:rPr lang="en-US" dirty="0" err="1" smtClean="0"/>
              <a:t>x,y</a:t>
            </a:r>
            <a:r>
              <a:rPr lang="en-US" dirty="0" smtClean="0"/>
              <a:t>}, and C ={0,1}. Find a) A×B×C. b) C ×B×A. c) C ×A×B. d) B ×B×B</a:t>
            </a:r>
          </a:p>
          <a:p>
            <a:r>
              <a:rPr lang="en-US" dirty="0" smtClean="0"/>
              <a:t>33. Find A2 if a) A={0,1,3}. </a:t>
            </a:r>
            <a:endParaRPr lang="en-US" dirty="0"/>
          </a:p>
          <a:p>
            <a:r>
              <a:rPr lang="en-US" dirty="0" smtClean="0"/>
              <a:t>44. Find the truth set of each of these predicates where the domain is the set of integers. a) P(x): x3 ≥ 1 b) Q(x): x2 = 2 c) R(x): x&lt;x2</a:t>
            </a:r>
          </a:p>
          <a:p>
            <a:r>
              <a:rPr lang="en-US" dirty="0" smtClean="0"/>
              <a:t>3. Let A ={1,2,3,4,5} and B ={0,3,6}. Find a) A∪B. b) A∩B. c) A−B. d) B −A.</a:t>
            </a:r>
          </a:p>
          <a:p>
            <a:r>
              <a:rPr lang="en-US" dirty="0" smtClean="0"/>
              <a:t>8. Find these values. a) ⌊1.1⌋ c) ⌊−0.1⌋ e) ⌈2.99⌉ g) ⌊1 2 +⌈1 2⌉⌋ 9. Find these values. a) ⌈3 4⌉ c) ⌈−3 4⌉ e) ⌈3⌉ g) ⌊1 2 +⌈3 2⌉⌋ b) ⌈1.1⌉ d) ⌈−0.1⌉ f) ⌈−2.99⌉ h) ⌈⌊1 2⌋+⌈1 2⌉+1 2⌉ b) ⌊7 8⌋ d) ⌊−7 8⌋ f) ⌊−1⌋ h) ⌊1 2 ·⌊5 2⌋⌋</a:t>
            </a:r>
          </a:p>
          <a:p>
            <a:r>
              <a:rPr lang="en-US" dirty="0" smtClean="0"/>
              <a:t>20. Give an example of a function from N to N that is a) one-to-one but not onto. b) onto but not one-to-one. c) </a:t>
            </a:r>
            <a:r>
              <a:rPr lang="en-US" dirty="0" err="1" smtClean="0"/>
              <a:t>bothontoandone</a:t>
            </a:r>
            <a:r>
              <a:rPr lang="en-US" dirty="0" smtClean="0"/>
              <a:t>-to-one(</a:t>
            </a:r>
            <a:r>
              <a:rPr lang="en-US" dirty="0" err="1" smtClean="0"/>
              <a:t>butdifferent</a:t>
            </a:r>
            <a:r>
              <a:rPr lang="en-US" dirty="0" smtClean="0"/>
              <a:t> from the </a:t>
            </a:r>
            <a:r>
              <a:rPr lang="en-US" dirty="0" err="1" smtClean="0"/>
              <a:t>iden</a:t>
            </a:r>
            <a:r>
              <a:rPr lang="en-US" dirty="0" smtClean="0"/>
              <a:t> </a:t>
            </a:r>
            <a:r>
              <a:rPr lang="en-US" dirty="0" err="1" smtClean="0"/>
              <a:t>tity</a:t>
            </a:r>
            <a:r>
              <a:rPr lang="en-US" dirty="0" smtClean="0"/>
              <a:t> function). d) neither one-to-one nor onto.</a:t>
            </a:r>
          </a:p>
          <a:p>
            <a:r>
              <a:rPr lang="en-US" dirty="0" smtClean="0"/>
              <a:t>9. Find the first five terms of the sequence defined by each of these recurrence relations and initial conditions. a) an = 6an−1, a0 = 2 b) an = a2 n−1, a1 = 2 c) an = an−1 +3an−2, a0 = 1, a1 = 2 d) an = nan−1 +n2an−2, a0 = 1, a1 = 1 e) an = an−1 +an−3, a0 = 1, a1 = 2,a2 = 0 10. Find the first six terms of the sequence defined by each of these recurrence relations and initial conditions. a) an =−2an−1, a0 =−1 b) an = an−1 −an−2, a0 = 2,a1 =−1 c) an = 3a2 n−1,a0 = 1 d) an = nan−1 +a2 n−2,a0 =−1,a1 = 0 e) an = an−1 −an−2 +an−3,a0 = 1,a1 = 1,a2 = 2</a:t>
            </a:r>
          </a:p>
          <a:p>
            <a:r>
              <a:rPr lang="en-US" dirty="0" smtClean="0"/>
              <a:t>25. </a:t>
            </a:r>
            <a:r>
              <a:rPr lang="en-US" dirty="0" err="1" smtClean="0"/>
              <a:t>Foreachoftheselistsofintegers,provideasimplefor</a:t>
            </a:r>
            <a:r>
              <a:rPr lang="en-US" dirty="0" smtClean="0"/>
              <a:t> </a:t>
            </a:r>
            <a:r>
              <a:rPr lang="en-US" dirty="0" err="1" smtClean="0"/>
              <a:t>mulaor</a:t>
            </a:r>
            <a:r>
              <a:rPr lang="en-US" dirty="0" smtClean="0"/>
              <a:t> rule </a:t>
            </a:r>
            <a:r>
              <a:rPr lang="en-US" dirty="0" err="1" smtClean="0"/>
              <a:t>thatgenerates</a:t>
            </a:r>
            <a:r>
              <a:rPr lang="en-US" dirty="0" smtClean="0"/>
              <a:t> the </a:t>
            </a:r>
            <a:r>
              <a:rPr lang="en-US" dirty="0" err="1" smtClean="0"/>
              <a:t>termsofaninteger</a:t>
            </a:r>
            <a:r>
              <a:rPr lang="en-US" dirty="0" smtClean="0"/>
              <a:t> se </a:t>
            </a:r>
            <a:r>
              <a:rPr lang="en-US" dirty="0" err="1" smtClean="0"/>
              <a:t>quencethatbeginswiththegivenlist.Assumingthatyour</a:t>
            </a:r>
            <a:r>
              <a:rPr lang="en-US" dirty="0" smtClean="0"/>
              <a:t> </a:t>
            </a:r>
            <a:r>
              <a:rPr lang="en-US" dirty="0" err="1" smtClean="0"/>
              <a:t>formulaorruleiscorrect,determinethenextthreeterms</a:t>
            </a:r>
            <a:r>
              <a:rPr lang="en-US" dirty="0" smtClean="0"/>
              <a:t> </a:t>
            </a:r>
            <a:r>
              <a:rPr lang="en-US" dirty="0" err="1" smtClean="0"/>
              <a:t>ofthesequence</a:t>
            </a:r>
            <a:r>
              <a:rPr lang="en-US" dirty="0" smtClean="0"/>
              <a:t>. a) 1,0,1,1,0,0,1,1,1,0,0,0,1,... b) 1,2,2,3,4,4,5,6,6,7,8,8,... c) 1,0,2,0,4,0,8,0,16,0,... d) 3,6,12,24,48,96,192,... e) 15,8,1,−6,−13,−20,−27,... f) 3,5,8,12,17,23,30,38,47,... g) 2,16,54,128,250,432,686,... h) 2,3,7,25,121,721,5041,40321,...</a:t>
            </a:r>
          </a:p>
          <a:p>
            <a:endParaRPr lang="en-US" dirty="0"/>
          </a:p>
        </p:txBody>
      </p:sp>
    </p:spTree>
    <p:extLst>
      <p:ext uri="{BB962C8B-B14F-4D97-AF65-F5344CB8AC3E}">
        <p14:creationId xmlns:p14="http://schemas.microsoft.com/office/powerpoint/2010/main" val="3913265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7266" y="-70881"/>
            <a:ext cx="6277232" cy="4308859"/>
          </a:xfrm>
          <a:prstGeom prst="rect">
            <a:avLst/>
          </a:prstGeom>
        </p:spPr>
      </p:pic>
      <p:pic>
        <p:nvPicPr>
          <p:cNvPr id="3" name="Picture 2"/>
          <p:cNvPicPr>
            <a:picLocks noChangeAspect="1"/>
          </p:cNvPicPr>
          <p:nvPr/>
        </p:nvPicPr>
        <p:blipFill>
          <a:blip r:embed="rId3"/>
          <a:stretch>
            <a:fillRect/>
          </a:stretch>
        </p:blipFill>
        <p:spPr>
          <a:xfrm>
            <a:off x="6783859" y="284206"/>
            <a:ext cx="5313406" cy="3740190"/>
          </a:xfrm>
          <a:prstGeom prst="rect">
            <a:avLst/>
          </a:prstGeom>
        </p:spPr>
      </p:pic>
    </p:spTree>
    <p:extLst>
      <p:ext uri="{BB962C8B-B14F-4D97-AF65-F5344CB8AC3E}">
        <p14:creationId xmlns:p14="http://schemas.microsoft.com/office/powerpoint/2010/main" val="1497906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2111</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Exercises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exercises</dc:title>
  <dc:creator>Anne christella Umurerwa</dc:creator>
  <cp:lastModifiedBy>Anne christella Umurerwa</cp:lastModifiedBy>
  <cp:revision>6</cp:revision>
  <dcterms:created xsi:type="dcterms:W3CDTF">2026-05-31T08:43:25Z</dcterms:created>
  <dcterms:modified xsi:type="dcterms:W3CDTF">2026-05-31T09:21:18Z</dcterms:modified>
</cp:coreProperties>
</file>