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70" d="100"/>
          <a:sy n="70" d="100"/>
        </p:scale>
        <p:origin x="660"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C7560D-6AFC-4A76-A92E-D2156AC3BA1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E96E7BD-9242-4750-A935-D6C5C44BBFF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FAD1BA9-BA71-4701-90DE-2C30D22D91F3}"/>
              </a:ext>
            </a:extLst>
          </p:cNvPr>
          <p:cNvSpPr>
            <a:spLocks noGrp="1"/>
          </p:cNvSpPr>
          <p:nvPr>
            <p:ph type="dt" sz="half" idx="10"/>
          </p:nvPr>
        </p:nvSpPr>
        <p:spPr/>
        <p:txBody>
          <a:bodyPr/>
          <a:lstStyle/>
          <a:p>
            <a:fld id="{7B3E2DBD-BA96-426D-9ED9-1A95FABC5D26}" type="datetimeFigureOut">
              <a:rPr lang="en-US" smtClean="0"/>
              <a:t>1/9/2025</a:t>
            </a:fld>
            <a:endParaRPr lang="en-US"/>
          </a:p>
        </p:txBody>
      </p:sp>
      <p:sp>
        <p:nvSpPr>
          <p:cNvPr id="5" name="Footer Placeholder 4">
            <a:extLst>
              <a:ext uri="{FF2B5EF4-FFF2-40B4-BE49-F238E27FC236}">
                <a16:creationId xmlns:a16="http://schemas.microsoft.com/office/drawing/2014/main" id="{32E7C499-5901-4DAF-A93F-0D683A68629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730BB1F-5126-4BCC-B58A-99928FC322F8}"/>
              </a:ext>
            </a:extLst>
          </p:cNvPr>
          <p:cNvSpPr>
            <a:spLocks noGrp="1"/>
          </p:cNvSpPr>
          <p:nvPr>
            <p:ph type="sldNum" sz="quarter" idx="12"/>
          </p:nvPr>
        </p:nvSpPr>
        <p:spPr/>
        <p:txBody>
          <a:bodyPr/>
          <a:lstStyle/>
          <a:p>
            <a:fld id="{113CA893-50AF-40EC-B3CE-CA7CCB4BDA2A}" type="slidenum">
              <a:rPr lang="en-US" smtClean="0"/>
              <a:t>‹#›</a:t>
            </a:fld>
            <a:endParaRPr lang="en-US"/>
          </a:p>
        </p:txBody>
      </p:sp>
    </p:spTree>
    <p:extLst>
      <p:ext uri="{BB962C8B-B14F-4D97-AF65-F5344CB8AC3E}">
        <p14:creationId xmlns:p14="http://schemas.microsoft.com/office/powerpoint/2010/main" val="911322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8C1936-DBDE-4920-B066-54F9439FB5F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9836A01-4F7E-4342-A9C5-6067DBE29D22}"/>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A31B466-17BE-4047-A93E-8C1C36CB42DF}"/>
              </a:ext>
            </a:extLst>
          </p:cNvPr>
          <p:cNvSpPr>
            <a:spLocks noGrp="1"/>
          </p:cNvSpPr>
          <p:nvPr>
            <p:ph type="dt" sz="half" idx="10"/>
          </p:nvPr>
        </p:nvSpPr>
        <p:spPr/>
        <p:txBody>
          <a:bodyPr/>
          <a:lstStyle/>
          <a:p>
            <a:fld id="{7B3E2DBD-BA96-426D-9ED9-1A95FABC5D26}" type="datetimeFigureOut">
              <a:rPr lang="en-US" smtClean="0"/>
              <a:t>1/9/2025</a:t>
            </a:fld>
            <a:endParaRPr lang="en-US"/>
          </a:p>
        </p:txBody>
      </p:sp>
      <p:sp>
        <p:nvSpPr>
          <p:cNvPr id="5" name="Footer Placeholder 4">
            <a:extLst>
              <a:ext uri="{FF2B5EF4-FFF2-40B4-BE49-F238E27FC236}">
                <a16:creationId xmlns:a16="http://schemas.microsoft.com/office/drawing/2014/main" id="{2421C623-921D-46D4-8208-3B40E4AD9B4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5C73582-B859-4B8D-A0EB-671C08BFBB87}"/>
              </a:ext>
            </a:extLst>
          </p:cNvPr>
          <p:cNvSpPr>
            <a:spLocks noGrp="1"/>
          </p:cNvSpPr>
          <p:nvPr>
            <p:ph type="sldNum" sz="quarter" idx="12"/>
          </p:nvPr>
        </p:nvSpPr>
        <p:spPr/>
        <p:txBody>
          <a:bodyPr/>
          <a:lstStyle/>
          <a:p>
            <a:fld id="{113CA893-50AF-40EC-B3CE-CA7CCB4BDA2A}" type="slidenum">
              <a:rPr lang="en-US" smtClean="0"/>
              <a:t>‹#›</a:t>
            </a:fld>
            <a:endParaRPr lang="en-US"/>
          </a:p>
        </p:txBody>
      </p:sp>
    </p:spTree>
    <p:extLst>
      <p:ext uri="{BB962C8B-B14F-4D97-AF65-F5344CB8AC3E}">
        <p14:creationId xmlns:p14="http://schemas.microsoft.com/office/powerpoint/2010/main" val="17336470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76408B-8AA9-4BE0-B77B-17605190020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8140369-F924-450F-9F09-28E3E84BD38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657FB969-2655-4F81-ABEF-E5A3039B23F7}"/>
              </a:ext>
            </a:extLst>
          </p:cNvPr>
          <p:cNvSpPr>
            <a:spLocks noGrp="1"/>
          </p:cNvSpPr>
          <p:nvPr>
            <p:ph type="dt" sz="half" idx="10"/>
          </p:nvPr>
        </p:nvSpPr>
        <p:spPr/>
        <p:txBody>
          <a:bodyPr/>
          <a:lstStyle/>
          <a:p>
            <a:fld id="{7B3E2DBD-BA96-426D-9ED9-1A95FABC5D26}" type="datetimeFigureOut">
              <a:rPr lang="en-US" smtClean="0"/>
              <a:t>1/9/2025</a:t>
            </a:fld>
            <a:endParaRPr lang="en-US"/>
          </a:p>
        </p:txBody>
      </p:sp>
      <p:sp>
        <p:nvSpPr>
          <p:cNvPr id="5" name="Footer Placeholder 4">
            <a:extLst>
              <a:ext uri="{FF2B5EF4-FFF2-40B4-BE49-F238E27FC236}">
                <a16:creationId xmlns:a16="http://schemas.microsoft.com/office/drawing/2014/main" id="{8C2BB954-D10E-47B7-9373-7990ABE3EE4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F2726B0-316A-49DE-BBE1-5E62E55FDD82}"/>
              </a:ext>
            </a:extLst>
          </p:cNvPr>
          <p:cNvSpPr>
            <a:spLocks noGrp="1"/>
          </p:cNvSpPr>
          <p:nvPr>
            <p:ph type="sldNum" sz="quarter" idx="12"/>
          </p:nvPr>
        </p:nvSpPr>
        <p:spPr/>
        <p:txBody>
          <a:bodyPr/>
          <a:lstStyle/>
          <a:p>
            <a:fld id="{113CA893-50AF-40EC-B3CE-CA7CCB4BDA2A}" type="slidenum">
              <a:rPr lang="en-US" smtClean="0"/>
              <a:t>‹#›</a:t>
            </a:fld>
            <a:endParaRPr lang="en-US"/>
          </a:p>
        </p:txBody>
      </p:sp>
    </p:spTree>
    <p:extLst>
      <p:ext uri="{BB962C8B-B14F-4D97-AF65-F5344CB8AC3E}">
        <p14:creationId xmlns:p14="http://schemas.microsoft.com/office/powerpoint/2010/main" val="1700427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C591F1-4394-4C45-9FD3-7C533B8D8B2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0AAD36C-A96E-46C4-82F0-D70744907878}"/>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47E3C32-BC1A-4F8C-A296-44E6D484FCA0}"/>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E3C8197-9CBF-4F7E-B365-21DE5E0880F9}"/>
              </a:ext>
            </a:extLst>
          </p:cNvPr>
          <p:cNvSpPr>
            <a:spLocks noGrp="1"/>
          </p:cNvSpPr>
          <p:nvPr>
            <p:ph type="dt" sz="half" idx="10"/>
          </p:nvPr>
        </p:nvSpPr>
        <p:spPr/>
        <p:txBody>
          <a:bodyPr/>
          <a:lstStyle/>
          <a:p>
            <a:fld id="{7B3E2DBD-BA96-426D-9ED9-1A95FABC5D26}" type="datetimeFigureOut">
              <a:rPr lang="en-US" smtClean="0"/>
              <a:t>1/9/2025</a:t>
            </a:fld>
            <a:endParaRPr lang="en-US"/>
          </a:p>
        </p:txBody>
      </p:sp>
      <p:sp>
        <p:nvSpPr>
          <p:cNvPr id="6" name="Footer Placeholder 5">
            <a:extLst>
              <a:ext uri="{FF2B5EF4-FFF2-40B4-BE49-F238E27FC236}">
                <a16:creationId xmlns:a16="http://schemas.microsoft.com/office/drawing/2014/main" id="{00A87434-4D74-4AA8-A1FC-8F636A56D07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9245B9E-6082-44A1-9C56-00898084B978}"/>
              </a:ext>
            </a:extLst>
          </p:cNvPr>
          <p:cNvSpPr>
            <a:spLocks noGrp="1"/>
          </p:cNvSpPr>
          <p:nvPr>
            <p:ph type="sldNum" sz="quarter" idx="12"/>
          </p:nvPr>
        </p:nvSpPr>
        <p:spPr/>
        <p:txBody>
          <a:bodyPr/>
          <a:lstStyle/>
          <a:p>
            <a:fld id="{113CA893-50AF-40EC-B3CE-CA7CCB4BDA2A}" type="slidenum">
              <a:rPr lang="en-US" smtClean="0"/>
              <a:t>‹#›</a:t>
            </a:fld>
            <a:endParaRPr lang="en-US"/>
          </a:p>
        </p:txBody>
      </p:sp>
    </p:spTree>
    <p:extLst>
      <p:ext uri="{BB962C8B-B14F-4D97-AF65-F5344CB8AC3E}">
        <p14:creationId xmlns:p14="http://schemas.microsoft.com/office/powerpoint/2010/main" val="31749769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19BFF6-8A66-45E2-883F-869C2E2F96D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4D1C2E6-18C8-42C3-BAF3-2A2ED17CB63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71F749BE-9764-48C6-92B9-C5F409846290}"/>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5A3D178-75C1-406B-98E5-F2F577FD3E2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5B2A64E0-4873-4FF3-BBE7-80988776C2AF}"/>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5E83EA4-F63E-4447-8477-5BE7F4A7B04B}"/>
              </a:ext>
            </a:extLst>
          </p:cNvPr>
          <p:cNvSpPr>
            <a:spLocks noGrp="1"/>
          </p:cNvSpPr>
          <p:nvPr>
            <p:ph type="dt" sz="half" idx="10"/>
          </p:nvPr>
        </p:nvSpPr>
        <p:spPr/>
        <p:txBody>
          <a:bodyPr/>
          <a:lstStyle/>
          <a:p>
            <a:fld id="{7B3E2DBD-BA96-426D-9ED9-1A95FABC5D26}" type="datetimeFigureOut">
              <a:rPr lang="en-US" smtClean="0"/>
              <a:t>1/9/2025</a:t>
            </a:fld>
            <a:endParaRPr lang="en-US"/>
          </a:p>
        </p:txBody>
      </p:sp>
      <p:sp>
        <p:nvSpPr>
          <p:cNvPr id="8" name="Footer Placeholder 7">
            <a:extLst>
              <a:ext uri="{FF2B5EF4-FFF2-40B4-BE49-F238E27FC236}">
                <a16:creationId xmlns:a16="http://schemas.microsoft.com/office/drawing/2014/main" id="{4F9A79D4-3514-4124-9959-7249D9E5C0A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599EE20-65EB-4471-AD57-9486D587FA8E}"/>
              </a:ext>
            </a:extLst>
          </p:cNvPr>
          <p:cNvSpPr>
            <a:spLocks noGrp="1"/>
          </p:cNvSpPr>
          <p:nvPr>
            <p:ph type="sldNum" sz="quarter" idx="12"/>
          </p:nvPr>
        </p:nvSpPr>
        <p:spPr/>
        <p:txBody>
          <a:bodyPr/>
          <a:lstStyle/>
          <a:p>
            <a:fld id="{113CA893-50AF-40EC-B3CE-CA7CCB4BDA2A}" type="slidenum">
              <a:rPr lang="en-US" smtClean="0"/>
              <a:t>‹#›</a:t>
            </a:fld>
            <a:endParaRPr lang="en-US"/>
          </a:p>
        </p:txBody>
      </p:sp>
    </p:spTree>
    <p:extLst>
      <p:ext uri="{BB962C8B-B14F-4D97-AF65-F5344CB8AC3E}">
        <p14:creationId xmlns:p14="http://schemas.microsoft.com/office/powerpoint/2010/main" val="8238122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F35C52-2F9E-4BA0-BF86-CD12258D58C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0F8BAB2-92E7-4994-A8F3-2C07F6171D28}"/>
              </a:ext>
            </a:extLst>
          </p:cNvPr>
          <p:cNvSpPr>
            <a:spLocks noGrp="1"/>
          </p:cNvSpPr>
          <p:nvPr>
            <p:ph type="dt" sz="half" idx="10"/>
          </p:nvPr>
        </p:nvSpPr>
        <p:spPr/>
        <p:txBody>
          <a:bodyPr/>
          <a:lstStyle/>
          <a:p>
            <a:fld id="{7B3E2DBD-BA96-426D-9ED9-1A95FABC5D26}" type="datetimeFigureOut">
              <a:rPr lang="en-US" smtClean="0"/>
              <a:t>1/9/2025</a:t>
            </a:fld>
            <a:endParaRPr lang="en-US"/>
          </a:p>
        </p:txBody>
      </p:sp>
      <p:sp>
        <p:nvSpPr>
          <p:cNvPr id="4" name="Footer Placeholder 3">
            <a:extLst>
              <a:ext uri="{FF2B5EF4-FFF2-40B4-BE49-F238E27FC236}">
                <a16:creationId xmlns:a16="http://schemas.microsoft.com/office/drawing/2014/main" id="{8C5699DC-3B1D-4F10-8C5E-DB31150FA89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8F34E3D-E314-42EA-B631-A55595135EF8}"/>
              </a:ext>
            </a:extLst>
          </p:cNvPr>
          <p:cNvSpPr>
            <a:spLocks noGrp="1"/>
          </p:cNvSpPr>
          <p:nvPr>
            <p:ph type="sldNum" sz="quarter" idx="12"/>
          </p:nvPr>
        </p:nvSpPr>
        <p:spPr/>
        <p:txBody>
          <a:bodyPr/>
          <a:lstStyle/>
          <a:p>
            <a:fld id="{113CA893-50AF-40EC-B3CE-CA7CCB4BDA2A}" type="slidenum">
              <a:rPr lang="en-US" smtClean="0"/>
              <a:t>‹#›</a:t>
            </a:fld>
            <a:endParaRPr lang="en-US"/>
          </a:p>
        </p:txBody>
      </p:sp>
    </p:spTree>
    <p:extLst>
      <p:ext uri="{BB962C8B-B14F-4D97-AF65-F5344CB8AC3E}">
        <p14:creationId xmlns:p14="http://schemas.microsoft.com/office/powerpoint/2010/main" val="12817937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F206B92-30F9-436E-867D-A6159D38F88A}"/>
              </a:ext>
            </a:extLst>
          </p:cNvPr>
          <p:cNvSpPr>
            <a:spLocks noGrp="1"/>
          </p:cNvSpPr>
          <p:nvPr>
            <p:ph type="dt" sz="half" idx="10"/>
          </p:nvPr>
        </p:nvSpPr>
        <p:spPr/>
        <p:txBody>
          <a:bodyPr/>
          <a:lstStyle/>
          <a:p>
            <a:fld id="{7B3E2DBD-BA96-426D-9ED9-1A95FABC5D26}" type="datetimeFigureOut">
              <a:rPr lang="en-US" smtClean="0"/>
              <a:t>1/9/2025</a:t>
            </a:fld>
            <a:endParaRPr lang="en-US"/>
          </a:p>
        </p:txBody>
      </p:sp>
      <p:sp>
        <p:nvSpPr>
          <p:cNvPr id="3" name="Footer Placeholder 2">
            <a:extLst>
              <a:ext uri="{FF2B5EF4-FFF2-40B4-BE49-F238E27FC236}">
                <a16:creationId xmlns:a16="http://schemas.microsoft.com/office/drawing/2014/main" id="{28ACE405-8A29-4050-AF36-19CB1ACE72D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C81063E-0B54-42C8-96A9-97DA796A36B6}"/>
              </a:ext>
            </a:extLst>
          </p:cNvPr>
          <p:cNvSpPr>
            <a:spLocks noGrp="1"/>
          </p:cNvSpPr>
          <p:nvPr>
            <p:ph type="sldNum" sz="quarter" idx="12"/>
          </p:nvPr>
        </p:nvSpPr>
        <p:spPr/>
        <p:txBody>
          <a:bodyPr/>
          <a:lstStyle/>
          <a:p>
            <a:fld id="{113CA893-50AF-40EC-B3CE-CA7CCB4BDA2A}" type="slidenum">
              <a:rPr lang="en-US" smtClean="0"/>
              <a:t>‹#›</a:t>
            </a:fld>
            <a:endParaRPr lang="en-US"/>
          </a:p>
        </p:txBody>
      </p:sp>
    </p:spTree>
    <p:extLst>
      <p:ext uri="{BB962C8B-B14F-4D97-AF65-F5344CB8AC3E}">
        <p14:creationId xmlns:p14="http://schemas.microsoft.com/office/powerpoint/2010/main" val="18364764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600B83-9200-4D57-BA46-B27D177E52C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36C2DF4-0FA2-47A7-B238-A411139A7FC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173D106-5535-4475-B208-736025F17E6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2C28F02E-731E-440A-9D60-2DD7E28CBC8D}"/>
              </a:ext>
            </a:extLst>
          </p:cNvPr>
          <p:cNvSpPr>
            <a:spLocks noGrp="1"/>
          </p:cNvSpPr>
          <p:nvPr>
            <p:ph type="dt" sz="half" idx="10"/>
          </p:nvPr>
        </p:nvSpPr>
        <p:spPr/>
        <p:txBody>
          <a:bodyPr/>
          <a:lstStyle/>
          <a:p>
            <a:fld id="{7B3E2DBD-BA96-426D-9ED9-1A95FABC5D26}" type="datetimeFigureOut">
              <a:rPr lang="en-US" smtClean="0"/>
              <a:t>1/9/2025</a:t>
            </a:fld>
            <a:endParaRPr lang="en-US"/>
          </a:p>
        </p:txBody>
      </p:sp>
      <p:sp>
        <p:nvSpPr>
          <p:cNvPr id="6" name="Footer Placeholder 5">
            <a:extLst>
              <a:ext uri="{FF2B5EF4-FFF2-40B4-BE49-F238E27FC236}">
                <a16:creationId xmlns:a16="http://schemas.microsoft.com/office/drawing/2014/main" id="{EB599A96-8001-48FF-8AF9-3FA823F1C7C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2E90D68-F26C-4413-B261-D29EEF5A1BB7}"/>
              </a:ext>
            </a:extLst>
          </p:cNvPr>
          <p:cNvSpPr>
            <a:spLocks noGrp="1"/>
          </p:cNvSpPr>
          <p:nvPr>
            <p:ph type="sldNum" sz="quarter" idx="12"/>
          </p:nvPr>
        </p:nvSpPr>
        <p:spPr/>
        <p:txBody>
          <a:bodyPr/>
          <a:lstStyle/>
          <a:p>
            <a:fld id="{113CA893-50AF-40EC-B3CE-CA7CCB4BDA2A}" type="slidenum">
              <a:rPr lang="en-US" smtClean="0"/>
              <a:t>‹#›</a:t>
            </a:fld>
            <a:endParaRPr lang="en-US"/>
          </a:p>
        </p:txBody>
      </p:sp>
    </p:spTree>
    <p:extLst>
      <p:ext uri="{BB962C8B-B14F-4D97-AF65-F5344CB8AC3E}">
        <p14:creationId xmlns:p14="http://schemas.microsoft.com/office/powerpoint/2010/main" val="5178095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DDD271-0701-4030-B842-DAA2F0EFE17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AA6AA1F-BAB1-4B0A-A1B0-B0C09B964F9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CCB1C16-36CE-4EFB-B880-032DE0E27D6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D7EE115B-0430-4019-A57A-A4D33519177C}"/>
              </a:ext>
            </a:extLst>
          </p:cNvPr>
          <p:cNvSpPr>
            <a:spLocks noGrp="1"/>
          </p:cNvSpPr>
          <p:nvPr>
            <p:ph type="dt" sz="half" idx="10"/>
          </p:nvPr>
        </p:nvSpPr>
        <p:spPr/>
        <p:txBody>
          <a:bodyPr/>
          <a:lstStyle/>
          <a:p>
            <a:fld id="{7B3E2DBD-BA96-426D-9ED9-1A95FABC5D26}" type="datetimeFigureOut">
              <a:rPr lang="en-US" smtClean="0"/>
              <a:t>1/9/2025</a:t>
            </a:fld>
            <a:endParaRPr lang="en-US"/>
          </a:p>
        </p:txBody>
      </p:sp>
      <p:sp>
        <p:nvSpPr>
          <p:cNvPr id="6" name="Footer Placeholder 5">
            <a:extLst>
              <a:ext uri="{FF2B5EF4-FFF2-40B4-BE49-F238E27FC236}">
                <a16:creationId xmlns:a16="http://schemas.microsoft.com/office/drawing/2014/main" id="{3A636A3F-92FF-4AB8-BAC5-0B63D2321FA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8937642-D755-4CBD-A591-0825CE640E17}"/>
              </a:ext>
            </a:extLst>
          </p:cNvPr>
          <p:cNvSpPr>
            <a:spLocks noGrp="1"/>
          </p:cNvSpPr>
          <p:nvPr>
            <p:ph type="sldNum" sz="quarter" idx="12"/>
          </p:nvPr>
        </p:nvSpPr>
        <p:spPr/>
        <p:txBody>
          <a:bodyPr/>
          <a:lstStyle/>
          <a:p>
            <a:fld id="{113CA893-50AF-40EC-B3CE-CA7CCB4BDA2A}" type="slidenum">
              <a:rPr lang="en-US" smtClean="0"/>
              <a:t>‹#›</a:t>
            </a:fld>
            <a:endParaRPr lang="en-US"/>
          </a:p>
        </p:txBody>
      </p:sp>
    </p:spTree>
    <p:extLst>
      <p:ext uri="{BB962C8B-B14F-4D97-AF65-F5344CB8AC3E}">
        <p14:creationId xmlns:p14="http://schemas.microsoft.com/office/powerpoint/2010/main" val="3750668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8FDE90-1386-491E-A5F5-04509AE8CD8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4A2F8B3-F73B-4A73-8FC1-8DBA0F5E850F}"/>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3781CCF-608B-4F93-BFCB-7110F9B8700A}"/>
              </a:ext>
            </a:extLst>
          </p:cNvPr>
          <p:cNvSpPr>
            <a:spLocks noGrp="1"/>
          </p:cNvSpPr>
          <p:nvPr>
            <p:ph type="dt" sz="half" idx="10"/>
          </p:nvPr>
        </p:nvSpPr>
        <p:spPr/>
        <p:txBody>
          <a:bodyPr/>
          <a:lstStyle/>
          <a:p>
            <a:fld id="{7B3E2DBD-BA96-426D-9ED9-1A95FABC5D26}" type="datetimeFigureOut">
              <a:rPr lang="en-US" smtClean="0"/>
              <a:t>1/9/2025</a:t>
            </a:fld>
            <a:endParaRPr lang="en-US"/>
          </a:p>
        </p:txBody>
      </p:sp>
      <p:sp>
        <p:nvSpPr>
          <p:cNvPr id="5" name="Footer Placeholder 4">
            <a:extLst>
              <a:ext uri="{FF2B5EF4-FFF2-40B4-BE49-F238E27FC236}">
                <a16:creationId xmlns:a16="http://schemas.microsoft.com/office/drawing/2014/main" id="{E0167BA0-FD31-4B41-84AC-F73A7DDF929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0894D3E-9D98-4ABC-9A22-9731B9415D9E}"/>
              </a:ext>
            </a:extLst>
          </p:cNvPr>
          <p:cNvSpPr>
            <a:spLocks noGrp="1"/>
          </p:cNvSpPr>
          <p:nvPr>
            <p:ph type="sldNum" sz="quarter" idx="12"/>
          </p:nvPr>
        </p:nvSpPr>
        <p:spPr/>
        <p:txBody>
          <a:bodyPr/>
          <a:lstStyle/>
          <a:p>
            <a:fld id="{113CA893-50AF-40EC-B3CE-CA7CCB4BDA2A}" type="slidenum">
              <a:rPr lang="en-US" smtClean="0"/>
              <a:t>‹#›</a:t>
            </a:fld>
            <a:endParaRPr lang="en-US"/>
          </a:p>
        </p:txBody>
      </p:sp>
    </p:spTree>
    <p:extLst>
      <p:ext uri="{BB962C8B-B14F-4D97-AF65-F5344CB8AC3E}">
        <p14:creationId xmlns:p14="http://schemas.microsoft.com/office/powerpoint/2010/main" val="38659229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802610E-7A43-4F41-996D-D91DBE7F45A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C94E7BB-A12B-470D-88C9-24FC68DCC8CB}"/>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EE6BFE0-5C1C-47D9-963D-F3682A57F785}"/>
              </a:ext>
            </a:extLst>
          </p:cNvPr>
          <p:cNvSpPr>
            <a:spLocks noGrp="1"/>
          </p:cNvSpPr>
          <p:nvPr>
            <p:ph type="dt" sz="half" idx="10"/>
          </p:nvPr>
        </p:nvSpPr>
        <p:spPr/>
        <p:txBody>
          <a:bodyPr/>
          <a:lstStyle/>
          <a:p>
            <a:fld id="{7B3E2DBD-BA96-426D-9ED9-1A95FABC5D26}" type="datetimeFigureOut">
              <a:rPr lang="en-US" smtClean="0"/>
              <a:t>1/9/2025</a:t>
            </a:fld>
            <a:endParaRPr lang="en-US"/>
          </a:p>
        </p:txBody>
      </p:sp>
      <p:sp>
        <p:nvSpPr>
          <p:cNvPr id="5" name="Footer Placeholder 4">
            <a:extLst>
              <a:ext uri="{FF2B5EF4-FFF2-40B4-BE49-F238E27FC236}">
                <a16:creationId xmlns:a16="http://schemas.microsoft.com/office/drawing/2014/main" id="{0B4CC286-17CF-4397-B249-0D6049344AC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D849AD7-1FF9-4BB6-AF1F-D747D3DA34EC}"/>
              </a:ext>
            </a:extLst>
          </p:cNvPr>
          <p:cNvSpPr>
            <a:spLocks noGrp="1"/>
          </p:cNvSpPr>
          <p:nvPr>
            <p:ph type="sldNum" sz="quarter" idx="12"/>
          </p:nvPr>
        </p:nvSpPr>
        <p:spPr/>
        <p:txBody>
          <a:bodyPr/>
          <a:lstStyle/>
          <a:p>
            <a:fld id="{113CA893-50AF-40EC-B3CE-CA7CCB4BDA2A}" type="slidenum">
              <a:rPr lang="en-US" smtClean="0"/>
              <a:t>‹#›</a:t>
            </a:fld>
            <a:endParaRPr lang="en-US"/>
          </a:p>
        </p:txBody>
      </p:sp>
    </p:spTree>
    <p:extLst>
      <p:ext uri="{BB962C8B-B14F-4D97-AF65-F5344CB8AC3E}">
        <p14:creationId xmlns:p14="http://schemas.microsoft.com/office/powerpoint/2010/main" val="4978996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257E3B5-2CDE-40E7-9AB9-51EE5F55015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91D0B15-ED01-4E25-BE7E-22AA8B478A3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1FA95FF-3446-4BE1-B52D-63BE6C28B3A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B3E2DBD-BA96-426D-9ED9-1A95FABC5D26}" type="datetimeFigureOut">
              <a:rPr lang="en-US" smtClean="0"/>
              <a:t>1/9/2025</a:t>
            </a:fld>
            <a:endParaRPr lang="en-US"/>
          </a:p>
        </p:txBody>
      </p:sp>
      <p:sp>
        <p:nvSpPr>
          <p:cNvPr id="5" name="Footer Placeholder 4">
            <a:extLst>
              <a:ext uri="{FF2B5EF4-FFF2-40B4-BE49-F238E27FC236}">
                <a16:creationId xmlns:a16="http://schemas.microsoft.com/office/drawing/2014/main" id="{424B1748-5175-445A-82A9-01A800F8987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BCFE6B65-8678-446E-8CF5-F30F3BB2FC3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13CA893-50AF-40EC-B3CE-CA7CCB4BDA2A}" type="slidenum">
              <a:rPr lang="en-US" smtClean="0"/>
              <a:t>‹#›</a:t>
            </a:fld>
            <a:endParaRPr lang="en-US"/>
          </a:p>
        </p:txBody>
      </p:sp>
    </p:spTree>
    <p:extLst>
      <p:ext uri="{BB962C8B-B14F-4D97-AF65-F5344CB8AC3E}">
        <p14:creationId xmlns:p14="http://schemas.microsoft.com/office/powerpoint/2010/main" val="335350187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4FA5AA-4280-4540-B6FB-BC6EA810B686}"/>
              </a:ext>
            </a:extLst>
          </p:cNvPr>
          <p:cNvSpPr>
            <a:spLocks noGrp="1"/>
          </p:cNvSpPr>
          <p:nvPr>
            <p:ph type="ctrTitle"/>
          </p:nvPr>
        </p:nvSpPr>
        <p:spPr/>
        <p:txBody>
          <a:bodyPr/>
          <a:lstStyle/>
          <a:p>
            <a:r>
              <a:rPr lang="en-US" dirty="0"/>
              <a:t>Templates</a:t>
            </a:r>
          </a:p>
        </p:txBody>
      </p:sp>
      <p:sp>
        <p:nvSpPr>
          <p:cNvPr id="3" name="Subtitle 2">
            <a:extLst>
              <a:ext uri="{FF2B5EF4-FFF2-40B4-BE49-F238E27FC236}">
                <a16:creationId xmlns:a16="http://schemas.microsoft.com/office/drawing/2014/main" id="{36D7BD7E-C73C-4B64-B94F-ED3BD2C3F9AF}"/>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2335457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A2D5C9-2120-4700-9C08-3AB733E2454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5D941CD2-DB2A-4A66-AF46-4B8F753AF71B}"/>
              </a:ext>
            </a:extLst>
          </p:cNvPr>
          <p:cNvSpPr>
            <a:spLocks noGrp="1"/>
          </p:cNvSpPr>
          <p:nvPr>
            <p:ph idx="1"/>
          </p:nvPr>
        </p:nvSpPr>
        <p:spPr/>
        <p:txBody>
          <a:bodyPr/>
          <a:lstStyle/>
          <a:p>
            <a:r>
              <a:rPr lang="en-US" dirty="0"/>
              <a:t>A C++ template is a powerful feature added to C++. It allows you to define the generic classes and generic functions and thus provides support for generic programming. Generic programming is a technique where generic types are used as parameters in algorithms so that they can work for a variety of data types.</a:t>
            </a:r>
          </a:p>
        </p:txBody>
      </p:sp>
    </p:spTree>
    <p:extLst>
      <p:ext uri="{BB962C8B-B14F-4D97-AF65-F5344CB8AC3E}">
        <p14:creationId xmlns:p14="http://schemas.microsoft.com/office/powerpoint/2010/main" val="25036699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4771DB-6EFA-4EE4-8C57-C01A7D0A8099}"/>
              </a:ext>
            </a:extLst>
          </p:cNvPr>
          <p:cNvSpPr>
            <a:spLocks noGrp="1"/>
          </p:cNvSpPr>
          <p:nvPr>
            <p:ph type="title"/>
          </p:nvPr>
        </p:nvSpPr>
        <p:spPr/>
        <p:txBody>
          <a:bodyPr/>
          <a:lstStyle/>
          <a:p>
            <a:r>
              <a:rPr lang="en-US" b="1" dirty="0"/>
              <a:t>Templates can be represented in two ways:</a:t>
            </a:r>
            <a:endParaRPr lang="en-US" dirty="0"/>
          </a:p>
        </p:txBody>
      </p:sp>
      <p:sp>
        <p:nvSpPr>
          <p:cNvPr id="3" name="Content Placeholder 2">
            <a:extLst>
              <a:ext uri="{FF2B5EF4-FFF2-40B4-BE49-F238E27FC236}">
                <a16:creationId xmlns:a16="http://schemas.microsoft.com/office/drawing/2014/main" id="{AF4BE144-5EB3-4CBE-A9A8-89987793AF34}"/>
              </a:ext>
            </a:extLst>
          </p:cNvPr>
          <p:cNvSpPr>
            <a:spLocks noGrp="1"/>
          </p:cNvSpPr>
          <p:nvPr>
            <p:ph idx="1"/>
          </p:nvPr>
        </p:nvSpPr>
        <p:spPr/>
        <p:txBody>
          <a:bodyPr/>
          <a:lstStyle/>
          <a:p>
            <a:r>
              <a:rPr lang="en-US" dirty="0"/>
              <a:t>Function templates</a:t>
            </a:r>
          </a:p>
          <a:p>
            <a:r>
              <a:rPr lang="en-US" dirty="0"/>
              <a:t>Class templates</a:t>
            </a:r>
          </a:p>
          <a:p>
            <a:endParaRPr lang="en-US" dirty="0"/>
          </a:p>
        </p:txBody>
      </p:sp>
      <p:pic>
        <p:nvPicPr>
          <p:cNvPr id="4" name="Picture 3">
            <a:extLst>
              <a:ext uri="{FF2B5EF4-FFF2-40B4-BE49-F238E27FC236}">
                <a16:creationId xmlns:a16="http://schemas.microsoft.com/office/drawing/2014/main" id="{663D1495-EC5E-44A5-9650-0186CDD2A3E0}"/>
              </a:ext>
            </a:extLst>
          </p:cNvPr>
          <p:cNvPicPr>
            <a:picLocks noChangeAspect="1"/>
          </p:cNvPicPr>
          <p:nvPr/>
        </p:nvPicPr>
        <p:blipFill>
          <a:blip r:embed="rId2"/>
          <a:stretch>
            <a:fillRect/>
          </a:stretch>
        </p:blipFill>
        <p:spPr>
          <a:xfrm>
            <a:off x="4466230" y="3561924"/>
            <a:ext cx="3505200" cy="2190750"/>
          </a:xfrm>
          <a:prstGeom prst="rect">
            <a:avLst/>
          </a:prstGeom>
        </p:spPr>
      </p:pic>
    </p:spTree>
    <p:extLst>
      <p:ext uri="{BB962C8B-B14F-4D97-AF65-F5344CB8AC3E}">
        <p14:creationId xmlns:p14="http://schemas.microsoft.com/office/powerpoint/2010/main" val="22513351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A259D2-BB7A-437B-A9C1-3C88278AAC9C}"/>
              </a:ext>
            </a:extLst>
          </p:cNvPr>
          <p:cNvSpPr>
            <a:spLocks noGrp="1"/>
          </p:cNvSpPr>
          <p:nvPr>
            <p:ph type="title"/>
          </p:nvPr>
        </p:nvSpPr>
        <p:spPr/>
        <p:txBody>
          <a:bodyPr/>
          <a:lstStyle/>
          <a:p>
            <a:r>
              <a:rPr lang="en-US" b="1" dirty="0"/>
              <a:t>Function Templates:</a:t>
            </a:r>
            <a:endParaRPr lang="en-US" dirty="0"/>
          </a:p>
        </p:txBody>
      </p:sp>
      <p:sp>
        <p:nvSpPr>
          <p:cNvPr id="3" name="Content Placeholder 2">
            <a:extLst>
              <a:ext uri="{FF2B5EF4-FFF2-40B4-BE49-F238E27FC236}">
                <a16:creationId xmlns:a16="http://schemas.microsoft.com/office/drawing/2014/main" id="{50C58654-E05F-4EB5-AF6C-5191A2E6C581}"/>
              </a:ext>
            </a:extLst>
          </p:cNvPr>
          <p:cNvSpPr>
            <a:spLocks noGrp="1"/>
          </p:cNvSpPr>
          <p:nvPr>
            <p:ph idx="1"/>
          </p:nvPr>
        </p:nvSpPr>
        <p:spPr/>
        <p:txBody>
          <a:bodyPr/>
          <a:lstStyle/>
          <a:p>
            <a:r>
              <a:rPr lang="en-US" dirty="0"/>
              <a:t>We can define a template for a function. For example, if we have an add() function, we can create versions of the add function for adding the int, float or double type values.</a:t>
            </a:r>
          </a:p>
        </p:txBody>
      </p:sp>
    </p:spTree>
    <p:extLst>
      <p:ext uri="{BB962C8B-B14F-4D97-AF65-F5344CB8AC3E}">
        <p14:creationId xmlns:p14="http://schemas.microsoft.com/office/powerpoint/2010/main" val="2859827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3338A2-93DD-4715-8EAB-54723B138372}"/>
              </a:ext>
            </a:extLst>
          </p:cNvPr>
          <p:cNvSpPr>
            <a:spLocks noGrp="1"/>
          </p:cNvSpPr>
          <p:nvPr>
            <p:ph type="title"/>
          </p:nvPr>
        </p:nvSpPr>
        <p:spPr/>
        <p:txBody>
          <a:bodyPr/>
          <a:lstStyle/>
          <a:p>
            <a:r>
              <a:rPr lang="en-US" b="1" dirty="0"/>
              <a:t>Class Template:</a:t>
            </a:r>
            <a:endParaRPr lang="en-US" dirty="0"/>
          </a:p>
        </p:txBody>
      </p:sp>
      <p:sp>
        <p:nvSpPr>
          <p:cNvPr id="3" name="Content Placeholder 2">
            <a:extLst>
              <a:ext uri="{FF2B5EF4-FFF2-40B4-BE49-F238E27FC236}">
                <a16:creationId xmlns:a16="http://schemas.microsoft.com/office/drawing/2014/main" id="{64BAFD72-49AE-49B0-AA28-253C89E400E6}"/>
              </a:ext>
            </a:extLst>
          </p:cNvPr>
          <p:cNvSpPr>
            <a:spLocks noGrp="1"/>
          </p:cNvSpPr>
          <p:nvPr>
            <p:ph idx="1"/>
          </p:nvPr>
        </p:nvSpPr>
        <p:spPr/>
        <p:txBody>
          <a:bodyPr/>
          <a:lstStyle/>
          <a:p>
            <a:r>
              <a:rPr lang="en-US" dirty="0"/>
              <a:t>We can define a template for a class. For example, a class template can be created for the array class that can accept the array of various types such as int array, float array or double array.</a:t>
            </a:r>
          </a:p>
        </p:txBody>
      </p:sp>
    </p:spTree>
    <p:extLst>
      <p:ext uri="{BB962C8B-B14F-4D97-AF65-F5344CB8AC3E}">
        <p14:creationId xmlns:p14="http://schemas.microsoft.com/office/powerpoint/2010/main" val="2593548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EFD13-DB38-493A-9762-C8EEFFD2137F}"/>
              </a:ext>
            </a:extLst>
          </p:cNvPr>
          <p:cNvSpPr>
            <a:spLocks noGrp="1"/>
          </p:cNvSpPr>
          <p:nvPr>
            <p:ph type="title"/>
          </p:nvPr>
        </p:nvSpPr>
        <p:spPr>
          <a:xfrm>
            <a:off x="838200" y="365125"/>
            <a:ext cx="10515600" cy="876821"/>
          </a:xfrm>
        </p:spPr>
        <p:txBody>
          <a:bodyPr/>
          <a:lstStyle/>
          <a:p>
            <a:r>
              <a:rPr lang="en-US" b="1" dirty="0"/>
              <a:t>Function Template</a:t>
            </a:r>
          </a:p>
        </p:txBody>
      </p:sp>
      <p:sp>
        <p:nvSpPr>
          <p:cNvPr id="3" name="Content Placeholder 2">
            <a:extLst>
              <a:ext uri="{FF2B5EF4-FFF2-40B4-BE49-F238E27FC236}">
                <a16:creationId xmlns:a16="http://schemas.microsoft.com/office/drawing/2014/main" id="{D81B044C-D62B-4D59-BF1A-E5484AA345C5}"/>
              </a:ext>
            </a:extLst>
          </p:cNvPr>
          <p:cNvSpPr>
            <a:spLocks noGrp="1"/>
          </p:cNvSpPr>
          <p:nvPr>
            <p:ph idx="1"/>
          </p:nvPr>
        </p:nvSpPr>
        <p:spPr>
          <a:xfrm>
            <a:off x="838200" y="1446662"/>
            <a:ext cx="10515600" cy="4667535"/>
          </a:xfrm>
        </p:spPr>
        <p:txBody>
          <a:bodyPr/>
          <a:lstStyle/>
          <a:p>
            <a:r>
              <a:rPr lang="en-US" dirty="0"/>
              <a:t>Generic functions use the concept of a function template. Generic functions define a set of operations that can be applied to the various types of data.</a:t>
            </a:r>
          </a:p>
          <a:p>
            <a:r>
              <a:rPr lang="en-US" dirty="0"/>
              <a:t>The type of the data that the function will operate on depends on the type of the data passed as a parameter.</a:t>
            </a:r>
          </a:p>
          <a:p>
            <a:r>
              <a:rPr lang="en-US" dirty="0"/>
              <a:t>For example, Quick sorting algorithm is implemented using a generic function, it can be implemented to an array of integers or array of floats.</a:t>
            </a:r>
          </a:p>
          <a:p>
            <a:r>
              <a:rPr lang="en-US" dirty="0"/>
              <a:t>A Generic function is created by using the keyword template. The template defines what function will do.</a:t>
            </a:r>
          </a:p>
          <a:p>
            <a:endParaRPr lang="en-US" dirty="0"/>
          </a:p>
        </p:txBody>
      </p:sp>
    </p:spTree>
    <p:extLst>
      <p:ext uri="{BB962C8B-B14F-4D97-AF65-F5344CB8AC3E}">
        <p14:creationId xmlns:p14="http://schemas.microsoft.com/office/powerpoint/2010/main" val="35253863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B8BF3B-4509-40C9-99B4-B85A64B4250E}"/>
              </a:ext>
            </a:extLst>
          </p:cNvPr>
          <p:cNvSpPr>
            <a:spLocks noGrp="1"/>
          </p:cNvSpPr>
          <p:nvPr>
            <p:ph type="title"/>
          </p:nvPr>
        </p:nvSpPr>
        <p:spPr/>
        <p:txBody>
          <a:bodyPr/>
          <a:lstStyle/>
          <a:p>
            <a:r>
              <a:rPr lang="en-US" b="1" dirty="0"/>
              <a:t>Syntax of Function Template</a:t>
            </a:r>
          </a:p>
        </p:txBody>
      </p:sp>
      <p:sp>
        <p:nvSpPr>
          <p:cNvPr id="3" name="Content Placeholder 2">
            <a:extLst>
              <a:ext uri="{FF2B5EF4-FFF2-40B4-BE49-F238E27FC236}">
                <a16:creationId xmlns:a16="http://schemas.microsoft.com/office/drawing/2014/main" id="{B49CF256-E14F-4855-A2FF-43BA40888CF7}"/>
              </a:ext>
            </a:extLst>
          </p:cNvPr>
          <p:cNvSpPr>
            <a:spLocks noGrp="1"/>
          </p:cNvSpPr>
          <p:nvPr>
            <p:ph idx="1"/>
          </p:nvPr>
        </p:nvSpPr>
        <p:spPr>
          <a:xfrm>
            <a:off x="838200" y="1690688"/>
            <a:ext cx="10515600" cy="4486275"/>
          </a:xfrm>
        </p:spPr>
        <p:txBody>
          <a:bodyPr/>
          <a:lstStyle/>
          <a:p>
            <a:pPr marL="0" indent="0">
              <a:buNone/>
            </a:pPr>
            <a:r>
              <a:rPr lang="en-US" b="1" dirty="0"/>
              <a:t>template</a:t>
            </a:r>
            <a:r>
              <a:rPr lang="en-US" dirty="0"/>
              <a:t> &lt; </a:t>
            </a:r>
            <a:r>
              <a:rPr lang="en-US" b="1" dirty="0"/>
              <a:t>class</a:t>
            </a:r>
            <a:r>
              <a:rPr lang="en-US" dirty="0"/>
              <a:t> </a:t>
            </a:r>
            <a:r>
              <a:rPr lang="en-US" dirty="0" err="1"/>
              <a:t>Ttype</a:t>
            </a:r>
            <a:r>
              <a:rPr lang="en-US" dirty="0"/>
              <a:t>&gt; </a:t>
            </a:r>
            <a:r>
              <a:rPr lang="en-US" dirty="0" err="1"/>
              <a:t>ret_type</a:t>
            </a:r>
            <a:r>
              <a:rPr lang="en-US" dirty="0"/>
              <a:t> </a:t>
            </a:r>
            <a:r>
              <a:rPr lang="en-US" dirty="0" err="1"/>
              <a:t>func_name</a:t>
            </a:r>
            <a:r>
              <a:rPr lang="en-US" dirty="0"/>
              <a:t>(</a:t>
            </a:r>
            <a:r>
              <a:rPr lang="en-US" dirty="0" err="1"/>
              <a:t>parameter_list</a:t>
            </a:r>
            <a:r>
              <a:rPr lang="en-US" dirty="0"/>
              <a:t>)  </a:t>
            </a:r>
          </a:p>
          <a:p>
            <a:pPr marL="0" indent="0">
              <a:buNone/>
            </a:pPr>
            <a:r>
              <a:rPr lang="en-US" dirty="0"/>
              <a:t>{  </a:t>
            </a:r>
          </a:p>
          <a:p>
            <a:pPr marL="0" indent="0">
              <a:buNone/>
            </a:pPr>
            <a:r>
              <a:rPr lang="en-US" dirty="0"/>
              <a:t>    // body of function.  </a:t>
            </a:r>
          </a:p>
          <a:p>
            <a:pPr marL="0" indent="0">
              <a:buNone/>
            </a:pPr>
            <a:r>
              <a:rPr lang="en-US" dirty="0"/>
              <a:t>}  </a:t>
            </a:r>
          </a:p>
          <a:p>
            <a:pPr marL="0" indent="0">
              <a:buNone/>
            </a:pPr>
            <a:r>
              <a:rPr lang="en-US" dirty="0"/>
              <a:t>Where </a:t>
            </a:r>
            <a:r>
              <a:rPr lang="en-US" b="1" dirty="0" err="1"/>
              <a:t>Ttype</a:t>
            </a:r>
            <a:r>
              <a:rPr lang="en-US" dirty="0"/>
              <a:t>: It is a placeholder name for a data type used by the function. It is used within the function definition. It is only a placeholder that the compiler will automatically replace this placeholder with the actual data type.</a:t>
            </a:r>
          </a:p>
        </p:txBody>
      </p:sp>
    </p:spTree>
    <p:extLst>
      <p:ext uri="{BB962C8B-B14F-4D97-AF65-F5344CB8AC3E}">
        <p14:creationId xmlns:p14="http://schemas.microsoft.com/office/powerpoint/2010/main" val="4492788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73B2EE-D5C5-4830-A612-2FC6745B704B}"/>
              </a:ext>
            </a:extLst>
          </p:cNvPr>
          <p:cNvSpPr>
            <a:spLocks noGrp="1"/>
          </p:cNvSpPr>
          <p:nvPr>
            <p:ph type="title"/>
          </p:nvPr>
        </p:nvSpPr>
        <p:spPr>
          <a:xfrm>
            <a:off x="341194" y="365125"/>
            <a:ext cx="11012606" cy="1325563"/>
          </a:xfrm>
        </p:spPr>
        <p:txBody>
          <a:bodyPr/>
          <a:lstStyle/>
          <a:p>
            <a:r>
              <a:rPr lang="en-US" b="1" dirty="0"/>
              <a:t>class: A class keyword is used to specify a generic type in a template declaration.</a:t>
            </a:r>
          </a:p>
        </p:txBody>
      </p:sp>
      <p:sp>
        <p:nvSpPr>
          <p:cNvPr id="3" name="Content Placeholder 2">
            <a:extLst>
              <a:ext uri="{FF2B5EF4-FFF2-40B4-BE49-F238E27FC236}">
                <a16:creationId xmlns:a16="http://schemas.microsoft.com/office/drawing/2014/main" id="{8384635A-2E83-4D41-95CD-F4E697DEB89B}"/>
              </a:ext>
            </a:extLst>
          </p:cNvPr>
          <p:cNvSpPr>
            <a:spLocks noGrp="1"/>
          </p:cNvSpPr>
          <p:nvPr>
            <p:ph idx="1"/>
          </p:nvPr>
        </p:nvSpPr>
        <p:spPr>
          <a:xfrm>
            <a:off x="474261" y="1753327"/>
            <a:ext cx="5439770" cy="3723885"/>
          </a:xfrm>
        </p:spPr>
        <p:txBody>
          <a:bodyPr>
            <a:normAutofit/>
          </a:bodyPr>
          <a:lstStyle/>
          <a:p>
            <a:pPr marL="0" indent="0">
              <a:buNone/>
            </a:pPr>
            <a:r>
              <a:rPr lang="en-US" sz="2400" dirty="0"/>
              <a:t> #include &lt;iostream&gt;  </a:t>
            </a:r>
          </a:p>
          <a:p>
            <a:pPr marL="0" indent="0">
              <a:buNone/>
            </a:pPr>
            <a:r>
              <a:rPr lang="en-US" sz="2400" b="1" dirty="0"/>
              <a:t>using</a:t>
            </a:r>
            <a:r>
              <a:rPr lang="en-US" sz="2400" dirty="0"/>
              <a:t> </a:t>
            </a:r>
            <a:r>
              <a:rPr lang="en-US" sz="2400" b="1" dirty="0"/>
              <a:t>namespace</a:t>
            </a:r>
            <a:r>
              <a:rPr lang="en-US" sz="2400" dirty="0"/>
              <a:t> std;  </a:t>
            </a:r>
          </a:p>
          <a:p>
            <a:pPr marL="0" indent="0">
              <a:buNone/>
            </a:pPr>
            <a:r>
              <a:rPr lang="en-US" sz="2400" b="1" dirty="0"/>
              <a:t>template</a:t>
            </a:r>
            <a:r>
              <a:rPr lang="en-US" sz="2400" dirty="0"/>
              <a:t>&lt;</a:t>
            </a:r>
            <a:r>
              <a:rPr lang="en-US" sz="2400" b="1" dirty="0"/>
              <a:t>class</a:t>
            </a:r>
            <a:r>
              <a:rPr lang="en-US" sz="2400" dirty="0"/>
              <a:t> T&gt; T add(T &amp;</a:t>
            </a:r>
            <a:r>
              <a:rPr lang="en-US" sz="2400" dirty="0" err="1"/>
              <a:t>a,T</a:t>
            </a:r>
            <a:r>
              <a:rPr lang="en-US" sz="2400" dirty="0"/>
              <a:t> &amp;b)  </a:t>
            </a:r>
          </a:p>
          <a:p>
            <a:pPr marL="0" indent="0">
              <a:buNone/>
            </a:pPr>
            <a:r>
              <a:rPr lang="en-US" sz="2400" dirty="0"/>
              <a:t>{  </a:t>
            </a:r>
          </a:p>
          <a:p>
            <a:pPr marL="0" indent="0">
              <a:buNone/>
            </a:pPr>
            <a:r>
              <a:rPr lang="en-US" sz="2400" dirty="0"/>
              <a:t>    T result = </a:t>
            </a:r>
            <a:r>
              <a:rPr lang="en-US" sz="2400" dirty="0" err="1"/>
              <a:t>a+b</a:t>
            </a:r>
            <a:r>
              <a:rPr lang="en-US" sz="2400" dirty="0"/>
              <a:t>;  </a:t>
            </a:r>
          </a:p>
          <a:p>
            <a:pPr marL="0" indent="0">
              <a:buNone/>
            </a:pPr>
            <a:r>
              <a:rPr lang="en-US" sz="2400" dirty="0"/>
              <a:t>    </a:t>
            </a:r>
            <a:r>
              <a:rPr lang="en-US" sz="2400" b="1" dirty="0"/>
              <a:t>return</a:t>
            </a:r>
            <a:r>
              <a:rPr lang="en-US" sz="2400" dirty="0"/>
              <a:t> result;  </a:t>
            </a:r>
          </a:p>
          <a:p>
            <a:pPr marL="0" indent="0">
              <a:buNone/>
            </a:pPr>
            <a:r>
              <a:rPr lang="en-US" sz="2400" dirty="0"/>
              <a:t>      </a:t>
            </a:r>
          </a:p>
          <a:p>
            <a:pPr marL="0" indent="0">
              <a:buNone/>
            </a:pPr>
            <a:r>
              <a:rPr lang="en-US" sz="2400" dirty="0"/>
              <a:t>}  </a:t>
            </a:r>
          </a:p>
          <a:p>
            <a:endParaRPr lang="en-US" dirty="0"/>
          </a:p>
        </p:txBody>
      </p:sp>
      <p:sp>
        <p:nvSpPr>
          <p:cNvPr id="4" name="Rectangle 3">
            <a:extLst>
              <a:ext uri="{FF2B5EF4-FFF2-40B4-BE49-F238E27FC236}">
                <a16:creationId xmlns:a16="http://schemas.microsoft.com/office/drawing/2014/main" id="{2142148E-00DC-465C-8E02-9F33389F4073}"/>
              </a:ext>
            </a:extLst>
          </p:cNvPr>
          <p:cNvSpPr/>
          <p:nvPr/>
        </p:nvSpPr>
        <p:spPr>
          <a:xfrm>
            <a:off x="6096000" y="1753327"/>
            <a:ext cx="5268036" cy="3477875"/>
          </a:xfrm>
          <a:prstGeom prst="rect">
            <a:avLst/>
          </a:prstGeom>
        </p:spPr>
        <p:txBody>
          <a:bodyPr wrap="square">
            <a:spAutoFit/>
          </a:bodyPr>
          <a:lstStyle/>
          <a:p>
            <a:r>
              <a:rPr lang="en-US" sz="2000" b="1" dirty="0"/>
              <a:t>int</a:t>
            </a:r>
            <a:r>
              <a:rPr lang="en-US" sz="2000" dirty="0"/>
              <a:t> main()  </a:t>
            </a:r>
          </a:p>
          <a:p>
            <a:r>
              <a:rPr lang="en-US" sz="2000" dirty="0"/>
              <a:t>{  </a:t>
            </a:r>
          </a:p>
          <a:p>
            <a:r>
              <a:rPr lang="en-US" sz="2000" dirty="0"/>
              <a:t>  </a:t>
            </a:r>
            <a:r>
              <a:rPr lang="en-US" sz="2000" b="1" dirty="0"/>
              <a:t>int</a:t>
            </a:r>
            <a:r>
              <a:rPr lang="en-US" sz="2000" dirty="0"/>
              <a:t> </a:t>
            </a:r>
            <a:r>
              <a:rPr lang="en-US" sz="2000" dirty="0" err="1"/>
              <a:t>i</a:t>
            </a:r>
            <a:r>
              <a:rPr lang="en-US" sz="2000" dirty="0"/>
              <a:t> =2;  </a:t>
            </a:r>
          </a:p>
          <a:p>
            <a:r>
              <a:rPr lang="en-US" sz="2000" dirty="0"/>
              <a:t>  </a:t>
            </a:r>
            <a:r>
              <a:rPr lang="en-US" sz="2000" b="1" dirty="0"/>
              <a:t>int</a:t>
            </a:r>
            <a:r>
              <a:rPr lang="en-US" sz="2000" dirty="0"/>
              <a:t> j =3;  </a:t>
            </a:r>
          </a:p>
          <a:p>
            <a:r>
              <a:rPr lang="en-US" sz="2000" dirty="0"/>
              <a:t>  </a:t>
            </a:r>
            <a:r>
              <a:rPr lang="en-US" sz="2000" b="1" dirty="0"/>
              <a:t>float</a:t>
            </a:r>
            <a:r>
              <a:rPr lang="en-US" sz="2000" dirty="0"/>
              <a:t> m = 2.3;  </a:t>
            </a:r>
          </a:p>
          <a:p>
            <a:r>
              <a:rPr lang="en-US" sz="2000" dirty="0"/>
              <a:t>  </a:t>
            </a:r>
            <a:r>
              <a:rPr lang="en-US" sz="2000" b="1" dirty="0"/>
              <a:t>float</a:t>
            </a:r>
            <a:r>
              <a:rPr lang="en-US" sz="2000" dirty="0"/>
              <a:t> n = 1.2;  </a:t>
            </a:r>
          </a:p>
          <a:p>
            <a:r>
              <a:rPr lang="en-US" sz="2000" dirty="0"/>
              <a:t>  </a:t>
            </a:r>
            <a:r>
              <a:rPr lang="en-US" sz="2000" dirty="0" err="1"/>
              <a:t>cout</a:t>
            </a:r>
            <a:r>
              <a:rPr lang="en-US" sz="2000" dirty="0"/>
              <a:t>&lt;&lt;"Addition of </a:t>
            </a:r>
            <a:r>
              <a:rPr lang="en-US" sz="2000" dirty="0" err="1"/>
              <a:t>i</a:t>
            </a:r>
            <a:r>
              <a:rPr lang="en-US" sz="2000" dirty="0"/>
              <a:t> and j is :"&lt;&lt;add(</a:t>
            </a:r>
            <a:r>
              <a:rPr lang="en-US" sz="2000" dirty="0" err="1"/>
              <a:t>i,j</a:t>
            </a:r>
            <a:r>
              <a:rPr lang="en-US" sz="2000" dirty="0"/>
              <a:t>);  </a:t>
            </a:r>
          </a:p>
          <a:p>
            <a:r>
              <a:rPr lang="en-US" sz="2000" dirty="0"/>
              <a:t>  </a:t>
            </a:r>
            <a:r>
              <a:rPr lang="en-US" sz="2000" dirty="0" err="1"/>
              <a:t>cout</a:t>
            </a:r>
            <a:r>
              <a:rPr lang="en-US" sz="2000" dirty="0"/>
              <a:t>&lt;&lt;'\n';  </a:t>
            </a:r>
          </a:p>
          <a:p>
            <a:r>
              <a:rPr lang="en-US" sz="2000" dirty="0"/>
              <a:t>  </a:t>
            </a:r>
            <a:r>
              <a:rPr lang="en-US" sz="2000" dirty="0" err="1"/>
              <a:t>cout</a:t>
            </a:r>
            <a:r>
              <a:rPr lang="en-US" sz="2000" dirty="0"/>
              <a:t>&lt;&lt;"Addition of m and n is :"&lt;&lt;add(</a:t>
            </a:r>
            <a:r>
              <a:rPr lang="en-US" sz="2000" dirty="0" err="1"/>
              <a:t>m,n</a:t>
            </a:r>
            <a:r>
              <a:rPr lang="en-US" sz="2000" dirty="0"/>
              <a:t>);  </a:t>
            </a:r>
          </a:p>
          <a:p>
            <a:r>
              <a:rPr lang="en-US" sz="2000" dirty="0"/>
              <a:t>  </a:t>
            </a:r>
            <a:r>
              <a:rPr lang="en-US" sz="2000" b="1" dirty="0"/>
              <a:t>return</a:t>
            </a:r>
            <a:r>
              <a:rPr lang="en-US" sz="2000" dirty="0"/>
              <a:t> 0;  </a:t>
            </a:r>
          </a:p>
          <a:p>
            <a:r>
              <a:rPr lang="en-US" sz="2000" dirty="0"/>
              <a:t>}  </a:t>
            </a:r>
          </a:p>
        </p:txBody>
      </p:sp>
      <p:sp>
        <p:nvSpPr>
          <p:cNvPr id="5" name="Rectangle 1">
            <a:extLst>
              <a:ext uri="{FF2B5EF4-FFF2-40B4-BE49-F238E27FC236}">
                <a16:creationId xmlns:a16="http://schemas.microsoft.com/office/drawing/2014/main" id="{233817C1-90CA-47F2-AAB2-81540542E635}"/>
              </a:ext>
            </a:extLst>
          </p:cNvPr>
          <p:cNvSpPr>
            <a:spLocks noChangeArrowheads="1"/>
          </p:cNvSpPr>
          <p:nvPr/>
        </p:nvSpPr>
        <p:spPr bwMode="auto">
          <a:xfrm>
            <a:off x="341194" y="5477212"/>
            <a:ext cx="5104263" cy="1015663"/>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rgbClr val="333333"/>
                </a:solidFill>
                <a:effectLst/>
                <a:latin typeface="inter-bold"/>
              </a:rPr>
              <a:t>Output:</a:t>
            </a:r>
            <a:endParaRPr kumimoji="0" lang="en-US" altLang="en-US" sz="2000" b="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535559"/>
                </a:solidFill>
                <a:effectLst/>
                <a:latin typeface="Arial Unicode MS"/>
              </a:rPr>
              <a:t>Addition of </a:t>
            </a:r>
            <a:r>
              <a:rPr kumimoji="0" lang="en-US" altLang="en-US" sz="2000" b="0" i="0" u="none" strike="noStrike" cap="none" normalizeH="0" baseline="0" dirty="0" err="1">
                <a:ln>
                  <a:noFill/>
                </a:ln>
                <a:solidFill>
                  <a:srgbClr val="535559"/>
                </a:solidFill>
                <a:effectLst/>
                <a:latin typeface="Arial Unicode MS"/>
              </a:rPr>
              <a:t>i</a:t>
            </a:r>
            <a:r>
              <a:rPr kumimoji="0" lang="en-US" altLang="en-US" sz="2000" b="0" i="0" u="none" strike="noStrike" cap="none" normalizeH="0" baseline="0" dirty="0">
                <a:ln>
                  <a:noFill/>
                </a:ln>
                <a:solidFill>
                  <a:srgbClr val="535559"/>
                </a:solidFill>
                <a:effectLst/>
                <a:latin typeface="Arial Unicode MS"/>
              </a:rPr>
              <a:t> and j is :5</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535559"/>
                </a:solidFill>
                <a:effectLst/>
                <a:latin typeface="Arial Unicode MS"/>
              </a:rPr>
              <a:t>Addition of m and n is :3.5</a:t>
            </a:r>
            <a:endParaRPr kumimoji="0" lang="en-US" altLang="en-US" sz="20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8889756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146281-7112-4242-823D-CF849709971D}"/>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4CA475E1-C2F0-4447-BDF0-5D64C0BE620F}"/>
              </a:ext>
            </a:extLst>
          </p:cNvPr>
          <p:cNvSpPr>
            <a:spLocks noGrp="1"/>
          </p:cNvSpPr>
          <p:nvPr>
            <p:ph idx="1"/>
          </p:nvPr>
        </p:nvSpPr>
        <p:spPr/>
        <p:txBody>
          <a:bodyPr/>
          <a:lstStyle/>
          <a:p>
            <a:r>
              <a:rPr lang="en-US" dirty="0"/>
              <a:t>In the above example, we create the function template which can perform the addition operation on any type either it can be integer, float or double.</a:t>
            </a:r>
          </a:p>
        </p:txBody>
      </p:sp>
    </p:spTree>
    <p:extLst>
      <p:ext uri="{BB962C8B-B14F-4D97-AF65-F5344CB8AC3E}">
        <p14:creationId xmlns:p14="http://schemas.microsoft.com/office/powerpoint/2010/main" val="42612064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FEC695-67FB-43C6-8060-8ACF7FC8AA34}"/>
              </a:ext>
            </a:extLst>
          </p:cNvPr>
          <p:cNvSpPr>
            <a:spLocks noGrp="1"/>
          </p:cNvSpPr>
          <p:nvPr>
            <p:ph type="title"/>
          </p:nvPr>
        </p:nvSpPr>
        <p:spPr>
          <a:xfrm>
            <a:off x="838200" y="365126"/>
            <a:ext cx="10515600" cy="631162"/>
          </a:xfrm>
        </p:spPr>
        <p:txBody>
          <a:bodyPr>
            <a:normAutofit fontScale="90000"/>
          </a:bodyPr>
          <a:lstStyle/>
          <a:p>
            <a:r>
              <a:rPr lang="en-US" b="1" dirty="0"/>
              <a:t>Function Templates with Multiple Parameters</a:t>
            </a:r>
          </a:p>
        </p:txBody>
      </p:sp>
      <p:sp>
        <p:nvSpPr>
          <p:cNvPr id="3" name="Content Placeholder 2">
            <a:extLst>
              <a:ext uri="{FF2B5EF4-FFF2-40B4-BE49-F238E27FC236}">
                <a16:creationId xmlns:a16="http://schemas.microsoft.com/office/drawing/2014/main" id="{2E3F290B-BC39-4CD3-8CA5-288BE871687A}"/>
              </a:ext>
            </a:extLst>
          </p:cNvPr>
          <p:cNvSpPr>
            <a:spLocks noGrp="1"/>
          </p:cNvSpPr>
          <p:nvPr>
            <p:ph idx="1"/>
          </p:nvPr>
        </p:nvSpPr>
        <p:spPr>
          <a:xfrm>
            <a:off x="838200" y="1105469"/>
            <a:ext cx="10515600" cy="5387406"/>
          </a:xfrm>
        </p:spPr>
        <p:txBody>
          <a:bodyPr>
            <a:normAutofit/>
          </a:bodyPr>
          <a:lstStyle/>
          <a:p>
            <a:pPr marL="0" indent="0">
              <a:buNone/>
            </a:pPr>
            <a:r>
              <a:rPr lang="en-US" dirty="0"/>
              <a:t>We can use more than one generic type in the template function by using the comma to separate the list.</a:t>
            </a:r>
          </a:p>
          <a:p>
            <a:pPr marL="0" indent="0">
              <a:buNone/>
            </a:pPr>
            <a:endParaRPr lang="en-US" dirty="0"/>
          </a:p>
          <a:p>
            <a:pPr marL="0" indent="0">
              <a:buNone/>
            </a:pPr>
            <a:r>
              <a:rPr lang="en-US" dirty="0"/>
              <a:t>Syntax</a:t>
            </a:r>
          </a:p>
          <a:p>
            <a:pPr marL="0" indent="0">
              <a:buNone/>
            </a:pPr>
            <a:r>
              <a:rPr lang="en-US" dirty="0"/>
              <a:t> </a:t>
            </a:r>
            <a:r>
              <a:rPr lang="en-US" b="1" dirty="0"/>
              <a:t>template</a:t>
            </a:r>
            <a:r>
              <a:rPr lang="en-US" dirty="0"/>
              <a:t>&lt;</a:t>
            </a:r>
            <a:r>
              <a:rPr lang="en-US" b="1" dirty="0"/>
              <a:t>class</a:t>
            </a:r>
            <a:r>
              <a:rPr lang="en-US" dirty="0"/>
              <a:t> T1, </a:t>
            </a:r>
            <a:r>
              <a:rPr lang="en-US" b="1" dirty="0"/>
              <a:t>class</a:t>
            </a:r>
            <a:r>
              <a:rPr lang="en-US" dirty="0"/>
              <a:t> T2,.....&gt;  </a:t>
            </a:r>
          </a:p>
          <a:p>
            <a:pPr marL="0" indent="0">
              <a:buNone/>
            </a:pPr>
            <a:r>
              <a:rPr lang="en-US" dirty="0" err="1"/>
              <a:t>return_type</a:t>
            </a:r>
            <a:r>
              <a:rPr lang="en-US" dirty="0"/>
              <a:t> </a:t>
            </a:r>
            <a:r>
              <a:rPr lang="en-US" dirty="0" err="1"/>
              <a:t>function_name</a:t>
            </a:r>
            <a:r>
              <a:rPr lang="en-US" dirty="0"/>
              <a:t> (arguments of type T1, T2....)  </a:t>
            </a:r>
          </a:p>
          <a:p>
            <a:pPr marL="0" indent="0">
              <a:buNone/>
            </a:pPr>
            <a:r>
              <a:rPr lang="en-US" dirty="0"/>
              <a:t>{  </a:t>
            </a:r>
          </a:p>
          <a:p>
            <a:pPr marL="0" indent="0">
              <a:buNone/>
            </a:pPr>
            <a:r>
              <a:rPr lang="en-US" dirty="0"/>
              <a:t>    // body of function.  </a:t>
            </a:r>
          </a:p>
          <a:p>
            <a:pPr marL="0" indent="0">
              <a:buNone/>
            </a:pPr>
            <a:r>
              <a:rPr lang="en-US" dirty="0"/>
              <a:t>}  </a:t>
            </a:r>
          </a:p>
          <a:p>
            <a:pPr marL="0" indent="0">
              <a:buNone/>
            </a:pPr>
            <a:r>
              <a:rPr lang="en-US" dirty="0"/>
              <a:t>In the above syntax, we have seen that the template function can accept any number of arguments of a different type.</a:t>
            </a:r>
          </a:p>
          <a:p>
            <a:pPr marL="0" indent="0">
              <a:buNone/>
            </a:pPr>
            <a:endParaRPr lang="en-US" dirty="0"/>
          </a:p>
          <a:p>
            <a:pPr marL="0" indent="0">
              <a:buNone/>
            </a:pPr>
            <a:endParaRPr lang="en-US" dirty="0"/>
          </a:p>
        </p:txBody>
      </p:sp>
    </p:spTree>
    <p:extLst>
      <p:ext uri="{BB962C8B-B14F-4D97-AF65-F5344CB8AC3E}">
        <p14:creationId xmlns:p14="http://schemas.microsoft.com/office/powerpoint/2010/main" val="7587402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851BE7-474E-4A89-A6F5-880C1DEA1674}"/>
              </a:ext>
            </a:extLst>
          </p:cNvPr>
          <p:cNvSpPr>
            <a:spLocks noGrp="1"/>
          </p:cNvSpPr>
          <p:nvPr>
            <p:ph type="title"/>
          </p:nvPr>
        </p:nvSpPr>
        <p:spPr>
          <a:xfrm>
            <a:off x="838200" y="83665"/>
            <a:ext cx="10515600" cy="562922"/>
          </a:xfrm>
        </p:spPr>
        <p:txBody>
          <a:bodyPr>
            <a:normAutofit fontScale="90000"/>
          </a:bodyPr>
          <a:lstStyle/>
          <a:p>
            <a:r>
              <a:rPr lang="en-US" b="1" dirty="0"/>
              <a:t>Let's see a simple example:</a:t>
            </a:r>
            <a:endParaRPr lang="en-US" dirty="0"/>
          </a:p>
        </p:txBody>
      </p:sp>
      <p:sp>
        <p:nvSpPr>
          <p:cNvPr id="3" name="Content Placeholder 2">
            <a:extLst>
              <a:ext uri="{FF2B5EF4-FFF2-40B4-BE49-F238E27FC236}">
                <a16:creationId xmlns:a16="http://schemas.microsoft.com/office/drawing/2014/main" id="{851A4B4B-80CD-4F2A-9650-6C09B5388A56}"/>
              </a:ext>
            </a:extLst>
          </p:cNvPr>
          <p:cNvSpPr>
            <a:spLocks noGrp="1"/>
          </p:cNvSpPr>
          <p:nvPr>
            <p:ph idx="1"/>
          </p:nvPr>
        </p:nvSpPr>
        <p:spPr>
          <a:xfrm>
            <a:off x="838200" y="646587"/>
            <a:ext cx="10515600" cy="5149327"/>
          </a:xfrm>
        </p:spPr>
        <p:txBody>
          <a:bodyPr>
            <a:normAutofit fontScale="77500" lnSpcReduction="20000"/>
          </a:bodyPr>
          <a:lstStyle/>
          <a:p>
            <a:pPr marL="0" indent="0">
              <a:buNone/>
            </a:pPr>
            <a:r>
              <a:rPr lang="en-US" dirty="0"/>
              <a:t>#include &lt;iostream&gt;  </a:t>
            </a:r>
          </a:p>
          <a:p>
            <a:pPr marL="0" indent="0">
              <a:buNone/>
            </a:pPr>
            <a:r>
              <a:rPr lang="en-US" b="1" dirty="0"/>
              <a:t>using</a:t>
            </a:r>
            <a:r>
              <a:rPr lang="en-US" dirty="0"/>
              <a:t> </a:t>
            </a:r>
            <a:r>
              <a:rPr lang="en-US" b="1" dirty="0"/>
              <a:t>namespace</a:t>
            </a:r>
            <a:r>
              <a:rPr lang="en-US" dirty="0"/>
              <a:t> std;  </a:t>
            </a:r>
          </a:p>
          <a:p>
            <a:pPr marL="0" indent="0">
              <a:buNone/>
            </a:pPr>
            <a:r>
              <a:rPr lang="en-US" b="1" dirty="0"/>
              <a:t>template</a:t>
            </a:r>
            <a:r>
              <a:rPr lang="en-US" dirty="0"/>
              <a:t>&lt;</a:t>
            </a:r>
            <a:r>
              <a:rPr lang="en-US" b="1" dirty="0"/>
              <a:t>class</a:t>
            </a:r>
            <a:r>
              <a:rPr lang="en-US" dirty="0"/>
              <a:t> </a:t>
            </a:r>
            <a:r>
              <a:rPr lang="en-US" dirty="0" err="1"/>
              <a:t>X,</a:t>
            </a:r>
            <a:r>
              <a:rPr lang="en-US" b="1" dirty="0" err="1"/>
              <a:t>class</a:t>
            </a:r>
            <a:r>
              <a:rPr lang="en-US" dirty="0"/>
              <a:t> Y&gt; </a:t>
            </a:r>
            <a:r>
              <a:rPr lang="en-US" b="1" dirty="0"/>
              <a:t>void</a:t>
            </a:r>
            <a:r>
              <a:rPr lang="en-US" dirty="0"/>
              <a:t> fun(X </a:t>
            </a:r>
            <a:r>
              <a:rPr lang="en-US" dirty="0" err="1"/>
              <a:t>a,Y</a:t>
            </a:r>
            <a:r>
              <a:rPr lang="en-US" dirty="0"/>
              <a:t> b)  </a:t>
            </a:r>
          </a:p>
          <a:p>
            <a:pPr marL="0" indent="0">
              <a:buNone/>
            </a:pPr>
            <a:r>
              <a:rPr lang="en-US" dirty="0"/>
              <a:t>{  </a:t>
            </a:r>
          </a:p>
          <a:p>
            <a:pPr marL="0" indent="0">
              <a:buNone/>
            </a:pPr>
            <a:r>
              <a:rPr lang="en-US" dirty="0"/>
              <a:t>    std::</a:t>
            </a:r>
            <a:r>
              <a:rPr lang="en-US" dirty="0" err="1"/>
              <a:t>cout</a:t>
            </a:r>
            <a:r>
              <a:rPr lang="en-US" dirty="0"/>
              <a:t> &lt;&lt; "Value of a is : " &lt;&lt;a&lt;&lt; std::</a:t>
            </a:r>
            <a:r>
              <a:rPr lang="en-US" dirty="0" err="1"/>
              <a:t>endl</a:t>
            </a:r>
            <a:r>
              <a:rPr lang="en-US" dirty="0"/>
              <a:t>;  </a:t>
            </a:r>
          </a:p>
          <a:p>
            <a:pPr marL="0" indent="0">
              <a:buNone/>
            </a:pPr>
            <a:r>
              <a:rPr lang="en-US" dirty="0"/>
              <a:t>    std::</a:t>
            </a:r>
            <a:r>
              <a:rPr lang="en-US" dirty="0" err="1"/>
              <a:t>cout</a:t>
            </a:r>
            <a:r>
              <a:rPr lang="en-US" dirty="0"/>
              <a:t> &lt;&lt; "Value of b is : " &lt;&lt;b&lt;&lt; std::</a:t>
            </a:r>
            <a:r>
              <a:rPr lang="en-US" dirty="0" err="1"/>
              <a:t>endl</a:t>
            </a:r>
            <a:r>
              <a:rPr lang="en-US" dirty="0"/>
              <a:t>;  </a:t>
            </a:r>
          </a:p>
          <a:p>
            <a:pPr marL="0" indent="0">
              <a:buNone/>
            </a:pPr>
            <a:r>
              <a:rPr lang="en-US" dirty="0"/>
              <a:t>}  </a:t>
            </a:r>
          </a:p>
          <a:p>
            <a:pPr marL="0" indent="0">
              <a:buNone/>
            </a:pPr>
            <a:r>
              <a:rPr lang="en-US" b="1" dirty="0"/>
              <a:t>int</a:t>
            </a:r>
            <a:r>
              <a:rPr lang="en-US" dirty="0"/>
              <a:t> main()  </a:t>
            </a:r>
          </a:p>
          <a:p>
            <a:pPr marL="0" indent="0">
              <a:buNone/>
            </a:pPr>
            <a:r>
              <a:rPr lang="en-US" dirty="0"/>
              <a:t>{  </a:t>
            </a:r>
          </a:p>
          <a:p>
            <a:pPr marL="0" indent="0">
              <a:buNone/>
            </a:pPr>
            <a:r>
              <a:rPr lang="en-US" dirty="0"/>
              <a:t>   fun(15,12.3);  </a:t>
            </a:r>
          </a:p>
          <a:p>
            <a:pPr marL="0" indent="0">
              <a:buNone/>
            </a:pPr>
            <a:r>
              <a:rPr lang="en-US" dirty="0"/>
              <a:t>   </a:t>
            </a:r>
            <a:r>
              <a:rPr lang="en-US" b="1" dirty="0"/>
              <a:t>return</a:t>
            </a:r>
            <a:r>
              <a:rPr lang="en-US" dirty="0"/>
              <a:t> 0;  </a:t>
            </a:r>
          </a:p>
          <a:p>
            <a:pPr marL="0" indent="0">
              <a:buNone/>
            </a:pPr>
            <a:r>
              <a:rPr lang="en-US" dirty="0"/>
              <a:t>}  </a:t>
            </a:r>
          </a:p>
          <a:p>
            <a:pPr marL="0" indent="0">
              <a:buNone/>
            </a:pPr>
            <a:r>
              <a:rPr lang="en-US" dirty="0"/>
              <a:t>In the above example, we use two generic types in the template function, i.e., X and Y.</a:t>
            </a:r>
          </a:p>
          <a:p>
            <a:endParaRPr lang="en-US" dirty="0"/>
          </a:p>
        </p:txBody>
      </p:sp>
      <p:sp>
        <p:nvSpPr>
          <p:cNvPr id="4" name="Rectangle 1">
            <a:extLst>
              <a:ext uri="{FF2B5EF4-FFF2-40B4-BE49-F238E27FC236}">
                <a16:creationId xmlns:a16="http://schemas.microsoft.com/office/drawing/2014/main" id="{A32F3AA4-6F41-4CF8-8163-3C68F8D0692A}"/>
              </a:ext>
            </a:extLst>
          </p:cNvPr>
          <p:cNvSpPr>
            <a:spLocks noChangeArrowheads="1"/>
          </p:cNvSpPr>
          <p:nvPr/>
        </p:nvSpPr>
        <p:spPr bwMode="auto">
          <a:xfrm>
            <a:off x="838200" y="5795914"/>
            <a:ext cx="2019870" cy="830997"/>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rgbClr val="333333"/>
                </a:solidFill>
                <a:effectLst/>
                <a:latin typeface="inter-bold"/>
              </a:rPr>
              <a:t>Output:</a:t>
            </a:r>
            <a:endParaRPr kumimoji="0" lang="en-US" altLang="en-US" sz="1600" b="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535559"/>
                </a:solidFill>
                <a:effectLst/>
                <a:latin typeface="Arial Unicode MS"/>
              </a:rPr>
              <a:t>Value of a is : 15 </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535559"/>
                </a:solidFill>
                <a:effectLst/>
                <a:latin typeface="Arial Unicode MS"/>
              </a:rPr>
              <a:t>Value of b is : 12.3</a:t>
            </a:r>
            <a:endParaRPr kumimoji="0" lang="en-US" altLang="en-US" sz="16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5812956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19536A-3585-40A3-B3F7-37B1F2CA7174}"/>
              </a:ext>
            </a:extLst>
          </p:cNvPr>
          <p:cNvSpPr>
            <a:spLocks noGrp="1"/>
          </p:cNvSpPr>
          <p:nvPr>
            <p:ph type="title"/>
          </p:nvPr>
        </p:nvSpPr>
        <p:spPr>
          <a:xfrm>
            <a:off x="619836" y="105818"/>
            <a:ext cx="11572164" cy="2419018"/>
          </a:xfrm>
        </p:spPr>
        <p:txBody>
          <a:bodyPr>
            <a:normAutofit/>
          </a:bodyPr>
          <a:lstStyle/>
          <a:p>
            <a:r>
              <a:rPr lang="en-US" b="1" dirty="0"/>
              <a:t>Overloading a Function Template</a:t>
            </a:r>
          </a:p>
        </p:txBody>
      </p:sp>
      <p:sp>
        <p:nvSpPr>
          <p:cNvPr id="3" name="Content Placeholder 2">
            <a:extLst>
              <a:ext uri="{FF2B5EF4-FFF2-40B4-BE49-F238E27FC236}">
                <a16:creationId xmlns:a16="http://schemas.microsoft.com/office/drawing/2014/main" id="{B3D385FF-D48C-4291-BF79-0DE4E9EB54E3}"/>
              </a:ext>
            </a:extLst>
          </p:cNvPr>
          <p:cNvSpPr>
            <a:spLocks noGrp="1"/>
          </p:cNvSpPr>
          <p:nvPr>
            <p:ph idx="1"/>
          </p:nvPr>
        </p:nvSpPr>
        <p:spPr>
          <a:xfrm>
            <a:off x="368490" y="2388358"/>
            <a:ext cx="11300346" cy="4363823"/>
          </a:xfrm>
        </p:spPr>
        <p:txBody>
          <a:bodyPr>
            <a:normAutofit/>
          </a:bodyPr>
          <a:lstStyle/>
          <a:p>
            <a:pPr marL="0" indent="0">
              <a:buNone/>
            </a:pPr>
            <a:r>
              <a:rPr lang="en-US" sz="4200" dirty="0"/>
              <a:t>We can overload the generic function means that the overloaded template functions can differ in the parameter list.</a:t>
            </a:r>
          </a:p>
          <a:p>
            <a:pPr marL="0" indent="0">
              <a:buNone/>
            </a:pPr>
            <a:endParaRPr lang="en-US" sz="4200" dirty="0"/>
          </a:p>
          <a:p>
            <a:r>
              <a:rPr lang="en-US" sz="4200" b="1" dirty="0"/>
              <a:t>Let’s understand this through a simple example:</a:t>
            </a:r>
          </a:p>
        </p:txBody>
      </p:sp>
    </p:spTree>
    <p:extLst>
      <p:ext uri="{BB962C8B-B14F-4D97-AF65-F5344CB8AC3E}">
        <p14:creationId xmlns:p14="http://schemas.microsoft.com/office/powerpoint/2010/main" val="35539696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9771D1B-47C0-46AC-BC07-480A89AC4CC7}"/>
              </a:ext>
            </a:extLst>
          </p:cNvPr>
          <p:cNvSpPr>
            <a:spLocks noGrp="1"/>
          </p:cNvSpPr>
          <p:nvPr>
            <p:ph idx="1"/>
          </p:nvPr>
        </p:nvSpPr>
        <p:spPr>
          <a:xfrm>
            <a:off x="838200" y="368490"/>
            <a:ext cx="10515600" cy="6318913"/>
          </a:xfrm>
        </p:spPr>
        <p:txBody>
          <a:bodyPr>
            <a:normAutofit fontScale="62500" lnSpcReduction="20000"/>
          </a:bodyPr>
          <a:lstStyle/>
          <a:p>
            <a:pPr marL="0" indent="0">
              <a:buNone/>
            </a:pPr>
            <a:r>
              <a:rPr lang="en-US" dirty="0"/>
              <a:t>#include &lt;iostream&gt;  </a:t>
            </a:r>
          </a:p>
          <a:p>
            <a:pPr marL="0" indent="0">
              <a:buNone/>
            </a:pPr>
            <a:r>
              <a:rPr lang="en-US" b="1" dirty="0"/>
              <a:t>using</a:t>
            </a:r>
            <a:r>
              <a:rPr lang="en-US" dirty="0"/>
              <a:t> </a:t>
            </a:r>
            <a:r>
              <a:rPr lang="en-US" b="1" dirty="0"/>
              <a:t>namespace</a:t>
            </a:r>
            <a:r>
              <a:rPr lang="en-US" dirty="0"/>
              <a:t> std;  </a:t>
            </a:r>
          </a:p>
          <a:p>
            <a:pPr marL="0" indent="0">
              <a:buNone/>
            </a:pPr>
            <a:r>
              <a:rPr lang="en-US" b="1" dirty="0"/>
              <a:t>template</a:t>
            </a:r>
            <a:r>
              <a:rPr lang="en-US" dirty="0"/>
              <a:t>&lt;</a:t>
            </a:r>
            <a:r>
              <a:rPr lang="en-US" b="1" dirty="0"/>
              <a:t>class</a:t>
            </a:r>
            <a:r>
              <a:rPr lang="en-US" dirty="0"/>
              <a:t> X&gt; </a:t>
            </a:r>
            <a:r>
              <a:rPr lang="en-US" b="1" dirty="0"/>
              <a:t>void</a:t>
            </a:r>
            <a:r>
              <a:rPr lang="en-US" dirty="0"/>
              <a:t> fun(X a)  </a:t>
            </a:r>
          </a:p>
          <a:p>
            <a:pPr marL="0" indent="0">
              <a:buNone/>
            </a:pPr>
            <a:r>
              <a:rPr lang="en-US" dirty="0"/>
              <a:t>{  </a:t>
            </a:r>
          </a:p>
          <a:p>
            <a:pPr marL="0" indent="0">
              <a:buNone/>
            </a:pPr>
            <a:r>
              <a:rPr lang="en-US" dirty="0"/>
              <a:t>    std::</a:t>
            </a:r>
            <a:r>
              <a:rPr lang="en-US" dirty="0" err="1"/>
              <a:t>cout</a:t>
            </a:r>
            <a:r>
              <a:rPr lang="en-US" dirty="0"/>
              <a:t> &lt;&lt; "Value of a is : " &lt;&lt;a&lt;&lt; std::</a:t>
            </a:r>
            <a:r>
              <a:rPr lang="en-US" dirty="0" err="1"/>
              <a:t>endl</a:t>
            </a:r>
            <a:r>
              <a:rPr lang="en-US" dirty="0"/>
              <a:t>;  </a:t>
            </a:r>
          </a:p>
          <a:p>
            <a:pPr marL="0" indent="0">
              <a:buNone/>
            </a:pPr>
            <a:r>
              <a:rPr lang="en-US" dirty="0"/>
              <a:t>}  </a:t>
            </a:r>
          </a:p>
          <a:p>
            <a:pPr marL="0" indent="0">
              <a:buNone/>
            </a:pPr>
            <a:r>
              <a:rPr lang="en-US" b="1" dirty="0"/>
              <a:t>template</a:t>
            </a:r>
            <a:r>
              <a:rPr lang="en-US" dirty="0"/>
              <a:t>&lt;</a:t>
            </a:r>
            <a:r>
              <a:rPr lang="en-US" b="1" dirty="0"/>
              <a:t>class</a:t>
            </a:r>
            <a:r>
              <a:rPr lang="en-US" dirty="0"/>
              <a:t> </a:t>
            </a:r>
            <a:r>
              <a:rPr lang="en-US" dirty="0" err="1"/>
              <a:t>X,</a:t>
            </a:r>
            <a:r>
              <a:rPr lang="en-US" b="1" dirty="0" err="1"/>
              <a:t>class</a:t>
            </a:r>
            <a:r>
              <a:rPr lang="en-US" dirty="0"/>
              <a:t> Y&gt; </a:t>
            </a:r>
            <a:r>
              <a:rPr lang="en-US" b="1" dirty="0"/>
              <a:t>void</a:t>
            </a:r>
            <a:r>
              <a:rPr lang="en-US" dirty="0"/>
              <a:t> fun(X b ,Y c)  </a:t>
            </a:r>
          </a:p>
          <a:p>
            <a:pPr marL="0" indent="0">
              <a:buNone/>
            </a:pPr>
            <a:r>
              <a:rPr lang="en-US" dirty="0"/>
              <a:t>{  </a:t>
            </a:r>
          </a:p>
          <a:p>
            <a:pPr marL="0" indent="0">
              <a:buNone/>
            </a:pPr>
            <a:r>
              <a:rPr lang="en-US" dirty="0"/>
              <a:t>    std::</a:t>
            </a:r>
            <a:r>
              <a:rPr lang="en-US" dirty="0" err="1"/>
              <a:t>cout</a:t>
            </a:r>
            <a:r>
              <a:rPr lang="en-US" dirty="0"/>
              <a:t> &lt;&lt; "Value of b is : " &lt;&lt;b&lt;&lt; std::</a:t>
            </a:r>
            <a:r>
              <a:rPr lang="en-US" dirty="0" err="1"/>
              <a:t>endl</a:t>
            </a:r>
            <a:r>
              <a:rPr lang="en-US" dirty="0"/>
              <a:t>;  </a:t>
            </a:r>
          </a:p>
          <a:p>
            <a:pPr marL="0" indent="0">
              <a:buNone/>
            </a:pPr>
            <a:r>
              <a:rPr lang="en-US" dirty="0"/>
              <a:t>    std::</a:t>
            </a:r>
            <a:r>
              <a:rPr lang="en-US" dirty="0" err="1"/>
              <a:t>cout</a:t>
            </a:r>
            <a:r>
              <a:rPr lang="en-US" dirty="0"/>
              <a:t> &lt;&lt; "Value of c is : " &lt;&lt;c&lt;&lt; std::</a:t>
            </a:r>
            <a:r>
              <a:rPr lang="en-US" dirty="0" err="1"/>
              <a:t>endl</a:t>
            </a:r>
            <a:r>
              <a:rPr lang="en-US" dirty="0"/>
              <a:t>;  </a:t>
            </a:r>
          </a:p>
          <a:p>
            <a:pPr marL="0" indent="0">
              <a:buNone/>
            </a:pPr>
            <a:r>
              <a:rPr lang="en-US" dirty="0"/>
              <a:t>}  </a:t>
            </a:r>
          </a:p>
          <a:p>
            <a:pPr marL="0" indent="0">
              <a:buNone/>
            </a:pPr>
            <a:r>
              <a:rPr lang="en-US" b="1" dirty="0"/>
              <a:t>int</a:t>
            </a:r>
            <a:r>
              <a:rPr lang="en-US" dirty="0"/>
              <a:t> main()  </a:t>
            </a:r>
          </a:p>
          <a:p>
            <a:pPr marL="0" indent="0">
              <a:buNone/>
            </a:pPr>
            <a:r>
              <a:rPr lang="en-US" dirty="0"/>
              <a:t>{  </a:t>
            </a:r>
          </a:p>
          <a:p>
            <a:pPr marL="0" indent="0">
              <a:buNone/>
            </a:pPr>
            <a:r>
              <a:rPr lang="en-US" dirty="0"/>
              <a:t>   fun(10);  </a:t>
            </a:r>
          </a:p>
          <a:p>
            <a:pPr marL="0" indent="0">
              <a:buNone/>
            </a:pPr>
            <a:r>
              <a:rPr lang="en-US" dirty="0"/>
              <a:t>   fun(20,30.5);  </a:t>
            </a:r>
          </a:p>
          <a:p>
            <a:pPr marL="0" indent="0">
              <a:buNone/>
            </a:pPr>
            <a:r>
              <a:rPr lang="en-US" dirty="0"/>
              <a:t>   </a:t>
            </a:r>
            <a:r>
              <a:rPr lang="en-US" b="1" dirty="0"/>
              <a:t>return</a:t>
            </a:r>
            <a:r>
              <a:rPr lang="en-US" dirty="0"/>
              <a:t> 0;  </a:t>
            </a:r>
          </a:p>
          <a:p>
            <a:pPr marL="0" indent="0">
              <a:buNone/>
            </a:pPr>
            <a:r>
              <a:rPr lang="en-US" dirty="0"/>
              <a:t>} </a:t>
            </a:r>
          </a:p>
          <a:p>
            <a:pPr marL="0" indent="0">
              <a:buNone/>
            </a:pPr>
            <a:endParaRPr lang="en-US" dirty="0"/>
          </a:p>
          <a:p>
            <a:r>
              <a:rPr lang="en-US" dirty="0"/>
              <a:t>In the above example, template of fun() function is overloaded.</a:t>
            </a:r>
          </a:p>
        </p:txBody>
      </p:sp>
      <p:sp>
        <p:nvSpPr>
          <p:cNvPr id="4" name="Rectangle 1">
            <a:extLst>
              <a:ext uri="{FF2B5EF4-FFF2-40B4-BE49-F238E27FC236}">
                <a16:creationId xmlns:a16="http://schemas.microsoft.com/office/drawing/2014/main" id="{F31A6E6C-4233-4785-906E-09564FBB4D47}"/>
              </a:ext>
            </a:extLst>
          </p:cNvPr>
          <p:cNvSpPr>
            <a:spLocks noChangeArrowheads="1"/>
          </p:cNvSpPr>
          <p:nvPr/>
        </p:nvSpPr>
        <p:spPr bwMode="auto">
          <a:xfrm>
            <a:off x="8871045" y="5042627"/>
            <a:ext cx="2482755"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535559"/>
                </a:solidFill>
                <a:effectLst/>
                <a:latin typeface="Arial Unicode MS"/>
              </a:rPr>
              <a:t>Value of a is : 10 Value of b is : 20 Value of c is : 30.5</a:t>
            </a:r>
            <a:r>
              <a:rPr kumimoji="0" lang="en-US" altLang="en-US" sz="2000" b="0" i="0" u="none" strike="noStrike" cap="none" normalizeH="0" baseline="0" dirty="0">
                <a:ln>
                  <a:noFill/>
                </a:ln>
                <a:solidFill>
                  <a:schemeClr val="tx1"/>
                </a:solidFill>
                <a:effectLst/>
              </a:rPr>
              <a:t> </a:t>
            </a:r>
            <a:endParaRPr kumimoji="0" lang="en-US" altLang="en-US" sz="20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25982517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A8977A-CB47-4E44-894F-46678A9389BA}"/>
              </a:ext>
            </a:extLst>
          </p:cNvPr>
          <p:cNvSpPr>
            <a:spLocks noGrp="1"/>
          </p:cNvSpPr>
          <p:nvPr>
            <p:ph type="title"/>
          </p:nvPr>
        </p:nvSpPr>
        <p:spPr>
          <a:xfrm>
            <a:off x="838200" y="365125"/>
            <a:ext cx="10515600" cy="767639"/>
          </a:xfrm>
        </p:spPr>
        <p:txBody>
          <a:bodyPr/>
          <a:lstStyle/>
          <a:p>
            <a:r>
              <a:rPr lang="en-US" b="1" dirty="0"/>
              <a:t>Restrictions of Generic Functions</a:t>
            </a:r>
          </a:p>
        </p:txBody>
      </p:sp>
      <p:sp>
        <p:nvSpPr>
          <p:cNvPr id="3" name="Content Placeholder 2">
            <a:extLst>
              <a:ext uri="{FF2B5EF4-FFF2-40B4-BE49-F238E27FC236}">
                <a16:creationId xmlns:a16="http://schemas.microsoft.com/office/drawing/2014/main" id="{5C1A3310-C6DD-47E7-BA86-8C3961269566}"/>
              </a:ext>
            </a:extLst>
          </p:cNvPr>
          <p:cNvSpPr>
            <a:spLocks noGrp="1"/>
          </p:cNvSpPr>
          <p:nvPr>
            <p:ph idx="1"/>
          </p:nvPr>
        </p:nvSpPr>
        <p:spPr/>
        <p:txBody>
          <a:bodyPr/>
          <a:lstStyle/>
          <a:p>
            <a:r>
              <a:rPr lang="en-US" dirty="0"/>
              <a:t>Generic functions perform the same operation for all the versions of a function except the data type differs. Let's see a simple example of an overloaded function which cannot be replaced by the generic function as both the functions have different functionalities.</a:t>
            </a:r>
          </a:p>
        </p:txBody>
      </p:sp>
    </p:spTree>
    <p:extLst>
      <p:ext uri="{BB962C8B-B14F-4D97-AF65-F5344CB8AC3E}">
        <p14:creationId xmlns:p14="http://schemas.microsoft.com/office/powerpoint/2010/main" val="32586976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199377-9FE3-41F5-8A44-F2A82873A6D1}"/>
              </a:ext>
            </a:extLst>
          </p:cNvPr>
          <p:cNvSpPr>
            <a:spLocks noGrp="1"/>
          </p:cNvSpPr>
          <p:nvPr>
            <p:ph type="title"/>
          </p:nvPr>
        </p:nvSpPr>
        <p:spPr/>
        <p:txBody>
          <a:bodyPr/>
          <a:lstStyle/>
          <a:p>
            <a:r>
              <a:rPr lang="en-US" b="1" dirty="0"/>
              <a:t>Let's understand this through a simple example:</a:t>
            </a:r>
            <a:endParaRPr lang="en-US" dirty="0"/>
          </a:p>
        </p:txBody>
      </p:sp>
      <p:sp>
        <p:nvSpPr>
          <p:cNvPr id="3" name="Content Placeholder 2">
            <a:extLst>
              <a:ext uri="{FF2B5EF4-FFF2-40B4-BE49-F238E27FC236}">
                <a16:creationId xmlns:a16="http://schemas.microsoft.com/office/drawing/2014/main" id="{44BCA5D3-75D9-4FDB-8B62-645AD749B1E4}"/>
              </a:ext>
            </a:extLst>
          </p:cNvPr>
          <p:cNvSpPr>
            <a:spLocks noGrp="1"/>
          </p:cNvSpPr>
          <p:nvPr>
            <p:ph idx="1"/>
          </p:nvPr>
        </p:nvSpPr>
        <p:spPr>
          <a:xfrm>
            <a:off x="838200" y="1825625"/>
            <a:ext cx="6231340" cy="4351338"/>
          </a:xfrm>
        </p:spPr>
        <p:txBody>
          <a:bodyPr>
            <a:normAutofit fontScale="77500" lnSpcReduction="20000"/>
          </a:bodyPr>
          <a:lstStyle/>
          <a:p>
            <a:pPr marL="0" indent="0">
              <a:buNone/>
            </a:pPr>
            <a:r>
              <a:rPr lang="en-US" dirty="0"/>
              <a:t>#include &lt;iostream&gt;  </a:t>
            </a:r>
          </a:p>
          <a:p>
            <a:pPr marL="0" indent="0">
              <a:buNone/>
            </a:pPr>
            <a:r>
              <a:rPr lang="en-US" b="1" dirty="0"/>
              <a:t>using</a:t>
            </a:r>
            <a:r>
              <a:rPr lang="en-US" dirty="0"/>
              <a:t> </a:t>
            </a:r>
            <a:r>
              <a:rPr lang="en-US" b="1" dirty="0"/>
              <a:t>namespace</a:t>
            </a:r>
            <a:r>
              <a:rPr lang="en-US" dirty="0"/>
              <a:t> std;  </a:t>
            </a:r>
          </a:p>
          <a:p>
            <a:pPr marL="0" indent="0">
              <a:buNone/>
            </a:pPr>
            <a:r>
              <a:rPr lang="en-US" b="1" dirty="0"/>
              <a:t>void</a:t>
            </a:r>
            <a:r>
              <a:rPr lang="en-US" dirty="0"/>
              <a:t> fun(</a:t>
            </a:r>
            <a:r>
              <a:rPr lang="en-US" b="1" dirty="0"/>
              <a:t>double</a:t>
            </a:r>
            <a:r>
              <a:rPr lang="en-US" dirty="0"/>
              <a:t> a)  </a:t>
            </a:r>
          </a:p>
          <a:p>
            <a:pPr marL="0" indent="0">
              <a:buNone/>
            </a:pPr>
            <a:r>
              <a:rPr lang="en-US" dirty="0"/>
              <a:t>{  </a:t>
            </a:r>
          </a:p>
          <a:p>
            <a:pPr marL="0" indent="0">
              <a:buNone/>
            </a:pPr>
            <a:r>
              <a:rPr lang="en-US" dirty="0"/>
              <a:t>    </a:t>
            </a:r>
            <a:r>
              <a:rPr lang="en-US" dirty="0" err="1"/>
              <a:t>cout</a:t>
            </a:r>
            <a:r>
              <a:rPr lang="en-US" dirty="0"/>
              <a:t>&lt;&lt;"value of a is : "&lt;&lt;a&lt;&lt;'\n';  </a:t>
            </a:r>
          </a:p>
          <a:p>
            <a:pPr marL="0" indent="0">
              <a:buNone/>
            </a:pPr>
            <a:r>
              <a:rPr lang="en-US" dirty="0"/>
              <a:t>}  </a:t>
            </a:r>
          </a:p>
          <a:p>
            <a:pPr marL="0" indent="0">
              <a:buNone/>
            </a:pPr>
            <a:r>
              <a:rPr lang="en-US" b="1" dirty="0"/>
              <a:t>void</a:t>
            </a:r>
            <a:r>
              <a:rPr lang="en-US" dirty="0"/>
              <a:t> fun(</a:t>
            </a:r>
            <a:r>
              <a:rPr lang="en-US" b="1" dirty="0"/>
              <a:t>int</a:t>
            </a:r>
            <a:r>
              <a:rPr lang="en-US" dirty="0"/>
              <a:t> b)  </a:t>
            </a:r>
          </a:p>
          <a:p>
            <a:pPr marL="0" indent="0">
              <a:buNone/>
            </a:pPr>
            <a:r>
              <a:rPr lang="en-US" dirty="0"/>
              <a:t>{  </a:t>
            </a:r>
          </a:p>
          <a:p>
            <a:pPr marL="0" indent="0">
              <a:buNone/>
            </a:pPr>
            <a:r>
              <a:rPr lang="en-US" dirty="0"/>
              <a:t>    </a:t>
            </a:r>
            <a:r>
              <a:rPr lang="en-US" b="1" dirty="0"/>
              <a:t>if</a:t>
            </a:r>
            <a:r>
              <a:rPr lang="en-US" dirty="0"/>
              <a:t>(b%2==0)  </a:t>
            </a:r>
          </a:p>
          <a:p>
            <a:pPr marL="0" indent="0">
              <a:buNone/>
            </a:pPr>
            <a:r>
              <a:rPr lang="en-US" dirty="0"/>
              <a:t>    {  </a:t>
            </a:r>
          </a:p>
          <a:p>
            <a:pPr marL="0" indent="0">
              <a:buNone/>
            </a:pPr>
            <a:r>
              <a:rPr lang="en-US" dirty="0"/>
              <a:t>        </a:t>
            </a:r>
            <a:r>
              <a:rPr lang="en-US" dirty="0" err="1"/>
              <a:t>cout</a:t>
            </a:r>
            <a:r>
              <a:rPr lang="en-US" dirty="0"/>
              <a:t>&lt;&lt;"Number is even";  </a:t>
            </a:r>
          </a:p>
          <a:p>
            <a:pPr marL="0" indent="0">
              <a:buNone/>
            </a:pPr>
            <a:r>
              <a:rPr lang="en-US" dirty="0"/>
              <a:t>    }  </a:t>
            </a:r>
          </a:p>
          <a:p>
            <a:endParaRPr lang="en-US" dirty="0"/>
          </a:p>
        </p:txBody>
      </p:sp>
      <p:sp>
        <p:nvSpPr>
          <p:cNvPr id="4" name="Rectangle 3">
            <a:extLst>
              <a:ext uri="{FF2B5EF4-FFF2-40B4-BE49-F238E27FC236}">
                <a16:creationId xmlns:a16="http://schemas.microsoft.com/office/drawing/2014/main" id="{D4920A24-071E-4AF9-8A5E-7C597C2D07C4}"/>
              </a:ext>
            </a:extLst>
          </p:cNvPr>
          <p:cNvSpPr/>
          <p:nvPr/>
        </p:nvSpPr>
        <p:spPr>
          <a:xfrm>
            <a:off x="7737143" y="1309891"/>
            <a:ext cx="3616657" cy="3139321"/>
          </a:xfrm>
          <a:prstGeom prst="rect">
            <a:avLst/>
          </a:prstGeom>
        </p:spPr>
        <p:txBody>
          <a:bodyPr wrap="square">
            <a:spAutoFit/>
          </a:bodyPr>
          <a:lstStyle/>
          <a:p>
            <a:r>
              <a:rPr lang="en-US" dirty="0"/>
              <a:t>    </a:t>
            </a:r>
            <a:r>
              <a:rPr lang="en-US" b="1" dirty="0"/>
              <a:t>else</a:t>
            </a:r>
            <a:r>
              <a:rPr lang="en-US" dirty="0"/>
              <a:t>  </a:t>
            </a:r>
          </a:p>
          <a:p>
            <a:r>
              <a:rPr lang="en-US" dirty="0"/>
              <a:t>    {  </a:t>
            </a:r>
          </a:p>
          <a:p>
            <a:r>
              <a:rPr lang="en-US" dirty="0"/>
              <a:t>        </a:t>
            </a:r>
            <a:r>
              <a:rPr lang="en-US" dirty="0" err="1"/>
              <a:t>cout</a:t>
            </a:r>
            <a:r>
              <a:rPr lang="en-US" dirty="0"/>
              <a:t>&lt;&lt;"Number is odd";  </a:t>
            </a:r>
          </a:p>
          <a:p>
            <a:r>
              <a:rPr lang="en-US" dirty="0"/>
              <a:t>    }  </a:t>
            </a:r>
          </a:p>
          <a:p>
            <a:r>
              <a:rPr lang="en-US" dirty="0"/>
              <a:t>}  </a:t>
            </a:r>
            <a:endParaRPr lang="en-US" b="1" i="0" dirty="0">
              <a:solidFill>
                <a:srgbClr val="2E8B57"/>
              </a:solidFill>
              <a:effectLst/>
              <a:latin typeface="inter-regular"/>
            </a:endParaRPr>
          </a:p>
          <a:p>
            <a:pPr algn="just"/>
            <a:r>
              <a:rPr lang="en-US" b="1" i="0" dirty="0">
                <a:solidFill>
                  <a:srgbClr val="2E8B57"/>
                </a:solidFill>
                <a:effectLst/>
                <a:latin typeface="inter-regular"/>
              </a:rPr>
              <a:t>int</a:t>
            </a:r>
            <a:r>
              <a:rPr lang="en-US" b="0" i="0" dirty="0">
                <a:solidFill>
                  <a:srgbClr val="000000"/>
                </a:solidFill>
                <a:effectLst/>
                <a:latin typeface="inter-regular"/>
              </a:rPr>
              <a:t> main()  </a:t>
            </a:r>
          </a:p>
          <a:p>
            <a:pPr algn="just"/>
            <a:r>
              <a:rPr lang="en-US" b="0" i="0" dirty="0">
                <a:solidFill>
                  <a:srgbClr val="000000"/>
                </a:solidFill>
                <a:effectLst/>
                <a:latin typeface="inter-regular"/>
              </a:rPr>
              <a:t>{  </a:t>
            </a:r>
          </a:p>
          <a:p>
            <a:pPr algn="just"/>
            <a:r>
              <a:rPr lang="en-US" b="0" i="0" dirty="0">
                <a:solidFill>
                  <a:srgbClr val="000000"/>
                </a:solidFill>
                <a:effectLst/>
                <a:latin typeface="inter-regular"/>
              </a:rPr>
              <a:t>   fun(4.6);  </a:t>
            </a:r>
          </a:p>
          <a:p>
            <a:pPr algn="just"/>
            <a:r>
              <a:rPr lang="en-US" b="0" i="0" dirty="0">
                <a:solidFill>
                  <a:srgbClr val="000000"/>
                </a:solidFill>
                <a:effectLst/>
                <a:latin typeface="inter-regular"/>
              </a:rPr>
              <a:t>   fun(6);  </a:t>
            </a:r>
          </a:p>
          <a:p>
            <a:pPr algn="just"/>
            <a:r>
              <a:rPr lang="en-US" b="0" i="0" dirty="0">
                <a:solidFill>
                  <a:srgbClr val="000000"/>
                </a:solidFill>
                <a:effectLst/>
                <a:latin typeface="inter-regular"/>
              </a:rPr>
              <a:t>   </a:t>
            </a:r>
            <a:r>
              <a:rPr lang="en-US" b="1" i="0" dirty="0">
                <a:solidFill>
                  <a:srgbClr val="006699"/>
                </a:solidFill>
                <a:effectLst/>
                <a:latin typeface="inter-regular"/>
              </a:rPr>
              <a:t>return</a:t>
            </a:r>
            <a:r>
              <a:rPr lang="en-US" b="0" i="0" dirty="0">
                <a:solidFill>
                  <a:srgbClr val="000000"/>
                </a:solidFill>
                <a:effectLst/>
                <a:latin typeface="inter-regular"/>
              </a:rPr>
              <a:t> 0;  </a:t>
            </a:r>
          </a:p>
          <a:p>
            <a:pPr algn="just"/>
            <a:r>
              <a:rPr lang="en-US" b="0" i="0" dirty="0">
                <a:solidFill>
                  <a:srgbClr val="000000"/>
                </a:solidFill>
                <a:effectLst/>
                <a:latin typeface="inter-regular"/>
              </a:rPr>
              <a:t>}  </a:t>
            </a:r>
          </a:p>
        </p:txBody>
      </p:sp>
      <p:sp>
        <p:nvSpPr>
          <p:cNvPr id="5" name="Rectangle 1">
            <a:extLst>
              <a:ext uri="{FF2B5EF4-FFF2-40B4-BE49-F238E27FC236}">
                <a16:creationId xmlns:a16="http://schemas.microsoft.com/office/drawing/2014/main" id="{1F7872D5-819B-412F-BBEC-4A45338CC386}"/>
              </a:ext>
            </a:extLst>
          </p:cNvPr>
          <p:cNvSpPr>
            <a:spLocks noChangeArrowheads="1"/>
          </p:cNvSpPr>
          <p:nvPr/>
        </p:nvSpPr>
        <p:spPr bwMode="auto">
          <a:xfrm>
            <a:off x="7600665" y="5101590"/>
            <a:ext cx="3889612" cy="584775"/>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dirty="0">
                <a:ln>
                  <a:noFill/>
                </a:ln>
                <a:solidFill>
                  <a:srgbClr val="333333"/>
                </a:solidFill>
                <a:effectLst/>
                <a:latin typeface="inter-bold"/>
              </a:rPr>
              <a:t>Output:</a:t>
            </a:r>
            <a:endParaRPr kumimoji="0" lang="en-US" altLang="en-US" sz="1100" b="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rgbClr val="535559"/>
                </a:solidFill>
                <a:effectLst/>
                <a:latin typeface="Arial Unicode MS"/>
              </a:rPr>
              <a:t>value of a is : 4.6 </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rgbClr val="535559"/>
                </a:solidFill>
                <a:effectLst/>
                <a:latin typeface="Arial Unicode MS"/>
              </a:rPr>
              <a:t>Number is even</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306990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6EACC6-BFBD-455A-9822-0E5B2B0139B6}"/>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F125069B-8FEB-4965-91BF-914F73BBD01A}"/>
              </a:ext>
            </a:extLst>
          </p:cNvPr>
          <p:cNvSpPr>
            <a:spLocks noGrp="1"/>
          </p:cNvSpPr>
          <p:nvPr>
            <p:ph idx="1"/>
          </p:nvPr>
        </p:nvSpPr>
        <p:spPr/>
        <p:txBody>
          <a:bodyPr/>
          <a:lstStyle/>
          <a:p>
            <a:r>
              <a:rPr lang="en-US" dirty="0"/>
              <a:t>In the above example, we overload the ordinary functions. We cannot overload the generic functions as both the functions have different functionalities. First one is displaying the value and the second one determines whether the number is even or not.</a:t>
            </a:r>
          </a:p>
        </p:txBody>
      </p:sp>
    </p:spTree>
    <p:extLst>
      <p:ext uri="{BB962C8B-B14F-4D97-AF65-F5344CB8AC3E}">
        <p14:creationId xmlns:p14="http://schemas.microsoft.com/office/powerpoint/2010/main" val="318082017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806CD9-AF74-4B1C-AA87-819BA33E4E85}"/>
              </a:ext>
            </a:extLst>
          </p:cNvPr>
          <p:cNvSpPr>
            <a:spLocks noGrp="1"/>
          </p:cNvSpPr>
          <p:nvPr>
            <p:ph type="title"/>
          </p:nvPr>
        </p:nvSpPr>
        <p:spPr/>
        <p:txBody>
          <a:bodyPr/>
          <a:lstStyle/>
          <a:p>
            <a:r>
              <a:rPr lang="en-US" b="1" dirty="0"/>
              <a:t>CLASS TEMPLATE</a:t>
            </a:r>
          </a:p>
        </p:txBody>
      </p:sp>
      <p:sp>
        <p:nvSpPr>
          <p:cNvPr id="3" name="Content Placeholder 2">
            <a:extLst>
              <a:ext uri="{FF2B5EF4-FFF2-40B4-BE49-F238E27FC236}">
                <a16:creationId xmlns:a16="http://schemas.microsoft.com/office/drawing/2014/main" id="{8AAC04DB-F923-4C58-8B04-CE33AD6CBB4B}"/>
              </a:ext>
            </a:extLst>
          </p:cNvPr>
          <p:cNvSpPr>
            <a:spLocks noGrp="1"/>
          </p:cNvSpPr>
          <p:nvPr>
            <p:ph idx="1"/>
          </p:nvPr>
        </p:nvSpPr>
        <p:spPr/>
        <p:txBody>
          <a:bodyPr>
            <a:normAutofit fontScale="92500" lnSpcReduction="20000"/>
          </a:bodyPr>
          <a:lstStyle/>
          <a:p>
            <a:r>
              <a:rPr lang="en-US" b="1" dirty="0"/>
              <a:t>Class Template</a:t>
            </a:r>
            <a:r>
              <a:rPr lang="en-US" dirty="0"/>
              <a:t> can also be defined similarly to the Function Template. When a class uses the concept of Template, then the class is known as generic class.</a:t>
            </a:r>
          </a:p>
          <a:p>
            <a:endParaRPr lang="en-US" dirty="0"/>
          </a:p>
          <a:p>
            <a:pPr marL="0" indent="0">
              <a:buNone/>
            </a:pPr>
            <a:r>
              <a:rPr lang="en-US" dirty="0"/>
              <a:t>Syntax</a:t>
            </a:r>
          </a:p>
          <a:p>
            <a:pPr marL="0" indent="0">
              <a:buNone/>
            </a:pPr>
            <a:r>
              <a:rPr lang="en-US" b="1" dirty="0"/>
              <a:t>template</a:t>
            </a:r>
            <a:r>
              <a:rPr lang="en-US" dirty="0"/>
              <a:t>&lt;</a:t>
            </a:r>
            <a:r>
              <a:rPr lang="en-US" b="1" dirty="0"/>
              <a:t>class</a:t>
            </a:r>
            <a:r>
              <a:rPr lang="en-US" dirty="0"/>
              <a:t> </a:t>
            </a:r>
            <a:r>
              <a:rPr lang="en-US" dirty="0" err="1"/>
              <a:t>Ttype</a:t>
            </a:r>
            <a:r>
              <a:rPr lang="en-US" dirty="0"/>
              <a:t>&gt;  </a:t>
            </a:r>
          </a:p>
          <a:p>
            <a:pPr marL="0" indent="0">
              <a:buNone/>
            </a:pPr>
            <a:r>
              <a:rPr lang="en-US" b="1" dirty="0"/>
              <a:t>class</a:t>
            </a:r>
            <a:r>
              <a:rPr lang="en-US" dirty="0"/>
              <a:t> </a:t>
            </a:r>
            <a:r>
              <a:rPr lang="en-US" dirty="0" err="1"/>
              <a:t>class_name</a:t>
            </a:r>
            <a:r>
              <a:rPr lang="en-US" dirty="0"/>
              <a:t>  </a:t>
            </a:r>
          </a:p>
          <a:p>
            <a:pPr marL="0" indent="0">
              <a:buNone/>
            </a:pPr>
            <a:r>
              <a:rPr lang="en-US" dirty="0"/>
              <a:t>{  </a:t>
            </a:r>
          </a:p>
          <a:p>
            <a:pPr marL="0" indent="0">
              <a:buNone/>
            </a:pPr>
            <a:r>
              <a:rPr lang="en-US" dirty="0"/>
              <a:t>  .  </a:t>
            </a:r>
          </a:p>
          <a:p>
            <a:pPr marL="0" indent="0">
              <a:buNone/>
            </a:pPr>
            <a:r>
              <a:rPr lang="en-US" dirty="0"/>
              <a:t>  .  </a:t>
            </a:r>
          </a:p>
          <a:p>
            <a:pPr marL="0" indent="0">
              <a:buNone/>
            </a:pPr>
            <a:r>
              <a:rPr lang="en-US" dirty="0"/>
              <a:t>}  </a:t>
            </a:r>
          </a:p>
          <a:p>
            <a:endParaRPr lang="en-US" dirty="0"/>
          </a:p>
        </p:txBody>
      </p:sp>
    </p:spTree>
    <p:extLst>
      <p:ext uri="{BB962C8B-B14F-4D97-AF65-F5344CB8AC3E}">
        <p14:creationId xmlns:p14="http://schemas.microsoft.com/office/powerpoint/2010/main" val="344989824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5D7154-8C36-4EE4-81A4-6B41EED8455D}"/>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6FA17B3F-BCCB-449D-BF97-483A5A312B9B}"/>
              </a:ext>
            </a:extLst>
          </p:cNvPr>
          <p:cNvSpPr>
            <a:spLocks noGrp="1"/>
          </p:cNvSpPr>
          <p:nvPr>
            <p:ph idx="1"/>
          </p:nvPr>
        </p:nvSpPr>
        <p:spPr/>
        <p:txBody>
          <a:bodyPr/>
          <a:lstStyle/>
          <a:p>
            <a:r>
              <a:rPr lang="en-US" b="1" dirty="0" err="1"/>
              <a:t>Ttype</a:t>
            </a:r>
            <a:r>
              <a:rPr lang="en-US" dirty="0"/>
              <a:t> is a placeholder name which will be determined when the class is instantiated. We can define more than one generic data type using a comma-separated list. The </a:t>
            </a:r>
            <a:r>
              <a:rPr lang="en-US" dirty="0" err="1"/>
              <a:t>Ttype</a:t>
            </a:r>
            <a:r>
              <a:rPr lang="en-US" dirty="0"/>
              <a:t> can be used inside the class body.</a:t>
            </a:r>
          </a:p>
          <a:p>
            <a:r>
              <a:rPr lang="en-US" dirty="0"/>
              <a:t>Now, we create an instance of a class</a:t>
            </a:r>
          </a:p>
          <a:p>
            <a:r>
              <a:rPr lang="en-US" dirty="0" err="1"/>
              <a:t>class_name</a:t>
            </a:r>
            <a:r>
              <a:rPr lang="en-US" dirty="0"/>
              <a:t>&lt;type&gt; </a:t>
            </a:r>
            <a:r>
              <a:rPr lang="en-US" dirty="0" err="1"/>
              <a:t>ob</a:t>
            </a:r>
            <a:r>
              <a:rPr lang="en-US" dirty="0"/>
              <a:t>;  </a:t>
            </a:r>
          </a:p>
          <a:p>
            <a:r>
              <a:rPr lang="en-US" b="1" dirty="0"/>
              <a:t>where </a:t>
            </a:r>
            <a:r>
              <a:rPr lang="en-US" b="1" dirty="0" err="1"/>
              <a:t>class_name</a:t>
            </a:r>
            <a:r>
              <a:rPr lang="en-US" dirty="0"/>
              <a:t>: It is the name of the class.</a:t>
            </a:r>
          </a:p>
          <a:p>
            <a:r>
              <a:rPr lang="en-US" b="1" dirty="0"/>
              <a:t>type</a:t>
            </a:r>
            <a:r>
              <a:rPr lang="en-US" dirty="0"/>
              <a:t>: It is the type of the data that the class is operating on.</a:t>
            </a:r>
          </a:p>
          <a:p>
            <a:r>
              <a:rPr lang="en-US" b="1" dirty="0" err="1"/>
              <a:t>ob</a:t>
            </a:r>
            <a:r>
              <a:rPr lang="en-US" dirty="0"/>
              <a:t>: It is the name of the object.</a:t>
            </a:r>
          </a:p>
          <a:p>
            <a:endParaRPr lang="en-US" dirty="0"/>
          </a:p>
        </p:txBody>
      </p:sp>
    </p:spTree>
    <p:extLst>
      <p:ext uri="{BB962C8B-B14F-4D97-AF65-F5344CB8AC3E}">
        <p14:creationId xmlns:p14="http://schemas.microsoft.com/office/powerpoint/2010/main" val="332580720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DB8674-8D06-4166-9502-24B0D118B845}"/>
              </a:ext>
            </a:extLst>
          </p:cNvPr>
          <p:cNvSpPr>
            <a:spLocks noGrp="1"/>
          </p:cNvSpPr>
          <p:nvPr>
            <p:ph type="title"/>
          </p:nvPr>
        </p:nvSpPr>
        <p:spPr>
          <a:xfrm>
            <a:off x="838200" y="365126"/>
            <a:ext cx="10515600" cy="590218"/>
          </a:xfrm>
        </p:spPr>
        <p:txBody>
          <a:bodyPr>
            <a:normAutofit fontScale="90000"/>
          </a:bodyPr>
          <a:lstStyle/>
          <a:p>
            <a:r>
              <a:rPr lang="en-US" dirty="0"/>
              <a:t>Example</a:t>
            </a:r>
          </a:p>
        </p:txBody>
      </p:sp>
      <p:sp>
        <p:nvSpPr>
          <p:cNvPr id="3" name="Content Placeholder 2">
            <a:extLst>
              <a:ext uri="{FF2B5EF4-FFF2-40B4-BE49-F238E27FC236}">
                <a16:creationId xmlns:a16="http://schemas.microsoft.com/office/drawing/2014/main" id="{F8F31A98-BF1E-4481-B4F4-7D1265B3E8E9}"/>
              </a:ext>
            </a:extLst>
          </p:cNvPr>
          <p:cNvSpPr>
            <a:spLocks noGrp="1"/>
          </p:cNvSpPr>
          <p:nvPr>
            <p:ph idx="1"/>
          </p:nvPr>
        </p:nvSpPr>
        <p:spPr>
          <a:xfrm>
            <a:off x="642582" y="1156885"/>
            <a:ext cx="6577083" cy="4351338"/>
          </a:xfrm>
        </p:spPr>
        <p:txBody>
          <a:bodyPr>
            <a:normAutofit fontScale="55000" lnSpcReduction="20000"/>
          </a:bodyPr>
          <a:lstStyle/>
          <a:p>
            <a:pPr marL="0" indent="0">
              <a:buNone/>
            </a:pPr>
            <a:r>
              <a:rPr lang="en-US" dirty="0"/>
              <a:t>#include &lt;iostream&gt;  </a:t>
            </a:r>
          </a:p>
          <a:p>
            <a:pPr marL="0" indent="0">
              <a:buNone/>
            </a:pPr>
            <a:r>
              <a:rPr lang="en-US" b="1" dirty="0"/>
              <a:t>using</a:t>
            </a:r>
            <a:r>
              <a:rPr lang="en-US" dirty="0"/>
              <a:t> </a:t>
            </a:r>
            <a:r>
              <a:rPr lang="en-US" b="1" dirty="0"/>
              <a:t>namespace</a:t>
            </a:r>
            <a:r>
              <a:rPr lang="en-US" dirty="0"/>
              <a:t> std;  </a:t>
            </a:r>
          </a:p>
          <a:p>
            <a:pPr marL="0" indent="0">
              <a:buNone/>
            </a:pPr>
            <a:r>
              <a:rPr lang="en-US" b="1" dirty="0"/>
              <a:t>template</a:t>
            </a:r>
            <a:r>
              <a:rPr lang="en-US" dirty="0"/>
              <a:t>&lt;</a:t>
            </a:r>
            <a:r>
              <a:rPr lang="en-US" b="1" dirty="0"/>
              <a:t>class</a:t>
            </a:r>
            <a:r>
              <a:rPr lang="en-US" dirty="0"/>
              <a:t> T&gt;  </a:t>
            </a:r>
          </a:p>
          <a:p>
            <a:pPr marL="0" indent="0">
              <a:buNone/>
            </a:pPr>
            <a:r>
              <a:rPr lang="en-US" b="1" dirty="0"/>
              <a:t>class</a:t>
            </a:r>
            <a:r>
              <a:rPr lang="en-US" dirty="0"/>
              <a:t> A   </a:t>
            </a:r>
          </a:p>
          <a:p>
            <a:pPr marL="0" indent="0">
              <a:buNone/>
            </a:pPr>
            <a:r>
              <a:rPr lang="en-US" dirty="0"/>
              <a:t>{  </a:t>
            </a:r>
          </a:p>
          <a:p>
            <a:pPr marL="0" indent="0">
              <a:buNone/>
            </a:pPr>
            <a:r>
              <a:rPr lang="en-US" dirty="0"/>
              <a:t>    </a:t>
            </a:r>
            <a:r>
              <a:rPr lang="en-US" b="1" dirty="0"/>
              <a:t>public</a:t>
            </a:r>
            <a:r>
              <a:rPr lang="en-US" dirty="0"/>
              <a:t>:  </a:t>
            </a:r>
          </a:p>
          <a:p>
            <a:pPr marL="0" indent="0">
              <a:buNone/>
            </a:pPr>
            <a:r>
              <a:rPr lang="en-US" dirty="0"/>
              <a:t>    T num1 = 5;  </a:t>
            </a:r>
          </a:p>
          <a:p>
            <a:pPr marL="0" indent="0">
              <a:buNone/>
            </a:pPr>
            <a:r>
              <a:rPr lang="en-US" dirty="0"/>
              <a:t>    T num2 = 6;  </a:t>
            </a:r>
          </a:p>
          <a:p>
            <a:pPr marL="0" indent="0">
              <a:buNone/>
            </a:pPr>
            <a:r>
              <a:rPr lang="en-US" dirty="0"/>
              <a:t>    </a:t>
            </a:r>
            <a:r>
              <a:rPr lang="en-US" b="1" dirty="0"/>
              <a:t>void</a:t>
            </a:r>
            <a:r>
              <a:rPr lang="en-US" dirty="0"/>
              <a:t> add()  </a:t>
            </a:r>
          </a:p>
          <a:p>
            <a:pPr marL="0" indent="0">
              <a:buNone/>
            </a:pPr>
            <a:r>
              <a:rPr lang="en-US" dirty="0"/>
              <a:t>    {  </a:t>
            </a:r>
          </a:p>
          <a:p>
            <a:pPr marL="0" indent="0">
              <a:buNone/>
            </a:pPr>
            <a:r>
              <a:rPr lang="en-US" dirty="0"/>
              <a:t>        std::</a:t>
            </a:r>
            <a:r>
              <a:rPr lang="en-US" dirty="0" err="1"/>
              <a:t>cout</a:t>
            </a:r>
            <a:r>
              <a:rPr lang="en-US" dirty="0"/>
              <a:t> &lt;&lt; "Addition of num1 and num2 : " &lt;&lt; num1+num2&lt;&lt;std::</a:t>
            </a:r>
            <a:r>
              <a:rPr lang="en-US" dirty="0" err="1"/>
              <a:t>endl</a:t>
            </a:r>
            <a:r>
              <a:rPr lang="en-US" dirty="0"/>
              <a:t>;  </a:t>
            </a:r>
          </a:p>
          <a:p>
            <a:pPr marL="0" indent="0">
              <a:buNone/>
            </a:pPr>
            <a:r>
              <a:rPr lang="en-US" dirty="0"/>
              <a:t>    }  </a:t>
            </a:r>
          </a:p>
          <a:p>
            <a:pPr marL="0" indent="0">
              <a:buNone/>
            </a:pPr>
            <a:r>
              <a:rPr lang="en-US" dirty="0"/>
              <a:t>      </a:t>
            </a:r>
          </a:p>
          <a:p>
            <a:pPr marL="0" indent="0">
              <a:buNone/>
            </a:pPr>
            <a:r>
              <a:rPr lang="en-US" dirty="0"/>
              <a:t>};  </a:t>
            </a:r>
          </a:p>
          <a:p>
            <a:endParaRPr lang="en-US" dirty="0"/>
          </a:p>
        </p:txBody>
      </p:sp>
      <p:sp>
        <p:nvSpPr>
          <p:cNvPr id="4" name="Rectangle 3">
            <a:extLst>
              <a:ext uri="{FF2B5EF4-FFF2-40B4-BE49-F238E27FC236}">
                <a16:creationId xmlns:a16="http://schemas.microsoft.com/office/drawing/2014/main" id="{3ADFD3E0-C8B6-4638-AC54-B7225A21C163}"/>
              </a:ext>
            </a:extLst>
          </p:cNvPr>
          <p:cNvSpPr/>
          <p:nvPr/>
        </p:nvSpPr>
        <p:spPr>
          <a:xfrm>
            <a:off x="7660944" y="2246968"/>
            <a:ext cx="3888473" cy="1754326"/>
          </a:xfrm>
          <a:prstGeom prst="rect">
            <a:avLst/>
          </a:prstGeom>
        </p:spPr>
        <p:txBody>
          <a:bodyPr wrap="square">
            <a:spAutoFit/>
          </a:bodyPr>
          <a:lstStyle/>
          <a:p>
            <a:r>
              <a:rPr lang="en-US" dirty="0"/>
              <a:t>int main()  </a:t>
            </a:r>
          </a:p>
          <a:p>
            <a:r>
              <a:rPr lang="en-US" dirty="0"/>
              <a:t>{  </a:t>
            </a:r>
          </a:p>
          <a:p>
            <a:r>
              <a:rPr lang="en-US" dirty="0"/>
              <a:t>    A&lt;int&gt; d;  </a:t>
            </a:r>
          </a:p>
          <a:p>
            <a:r>
              <a:rPr lang="en-US" dirty="0"/>
              <a:t>    </a:t>
            </a:r>
            <a:r>
              <a:rPr lang="en-US" dirty="0" err="1"/>
              <a:t>d.add</a:t>
            </a:r>
            <a:r>
              <a:rPr lang="en-US" dirty="0"/>
              <a:t>();  </a:t>
            </a:r>
          </a:p>
          <a:p>
            <a:r>
              <a:rPr lang="en-US" dirty="0"/>
              <a:t>    return 0;  </a:t>
            </a:r>
          </a:p>
          <a:p>
            <a:r>
              <a:rPr lang="en-US" dirty="0"/>
              <a:t>} </a:t>
            </a:r>
          </a:p>
        </p:txBody>
      </p:sp>
      <p:sp>
        <p:nvSpPr>
          <p:cNvPr id="5" name="Rectangle 1">
            <a:extLst>
              <a:ext uri="{FF2B5EF4-FFF2-40B4-BE49-F238E27FC236}">
                <a16:creationId xmlns:a16="http://schemas.microsoft.com/office/drawing/2014/main" id="{FA76C3BE-7888-4366-8057-C932B1865922}"/>
              </a:ext>
            </a:extLst>
          </p:cNvPr>
          <p:cNvSpPr>
            <a:spLocks noChangeArrowheads="1"/>
          </p:cNvSpPr>
          <p:nvPr/>
        </p:nvSpPr>
        <p:spPr bwMode="auto">
          <a:xfrm>
            <a:off x="559559" y="6176963"/>
            <a:ext cx="12192000" cy="45720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a:ln>
                  <a:noFill/>
                </a:ln>
                <a:solidFill>
                  <a:srgbClr val="333333"/>
                </a:solidFill>
                <a:effectLst/>
                <a:latin typeface="inter-bold"/>
              </a:rPr>
              <a:t>Output:</a:t>
            </a:r>
            <a:endParaRPr kumimoji="0" lang="en-US" altLang="en-US" sz="1100" b="0" i="0" u="none" strike="noStrike" cap="none" normalizeH="0" baseline="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535559"/>
                </a:solidFill>
                <a:effectLst/>
                <a:latin typeface="Arial Unicode MS"/>
              </a:rPr>
              <a:t>Addition of num1 and num2 : 11</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66157548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89CFBA-487E-4E12-848E-64E7BC4227F5}"/>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E2AF19F6-F022-45D4-B01C-0C1CB295B136}"/>
              </a:ext>
            </a:extLst>
          </p:cNvPr>
          <p:cNvSpPr>
            <a:spLocks noGrp="1"/>
          </p:cNvSpPr>
          <p:nvPr>
            <p:ph idx="1"/>
          </p:nvPr>
        </p:nvSpPr>
        <p:spPr/>
        <p:txBody>
          <a:bodyPr/>
          <a:lstStyle/>
          <a:p>
            <a:r>
              <a:rPr lang="en-US" dirty="0"/>
              <a:t>In the above example, we create a template for class A. Inside the main() method, we create the instance of class A named as, 'd'.</a:t>
            </a:r>
          </a:p>
        </p:txBody>
      </p:sp>
    </p:spTree>
    <p:extLst>
      <p:ext uri="{BB962C8B-B14F-4D97-AF65-F5344CB8AC3E}">
        <p14:creationId xmlns:p14="http://schemas.microsoft.com/office/powerpoint/2010/main" val="205173690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9E0A30-D16E-4D91-B26E-334DC8FFE066}"/>
              </a:ext>
            </a:extLst>
          </p:cNvPr>
          <p:cNvSpPr>
            <a:spLocks noGrp="1"/>
          </p:cNvSpPr>
          <p:nvPr>
            <p:ph type="title"/>
          </p:nvPr>
        </p:nvSpPr>
        <p:spPr/>
        <p:txBody>
          <a:bodyPr>
            <a:normAutofit/>
          </a:bodyPr>
          <a:lstStyle/>
          <a:p>
            <a:r>
              <a:rPr lang="en-US" dirty="0"/>
              <a:t>CLASS TEMPLATE WITH MULTIPLE PARAMETERS</a:t>
            </a:r>
          </a:p>
        </p:txBody>
      </p:sp>
      <p:sp>
        <p:nvSpPr>
          <p:cNvPr id="3" name="Content Placeholder 2">
            <a:extLst>
              <a:ext uri="{FF2B5EF4-FFF2-40B4-BE49-F238E27FC236}">
                <a16:creationId xmlns:a16="http://schemas.microsoft.com/office/drawing/2014/main" id="{E3ACF006-01DF-49F4-8932-E0815A95C4C3}"/>
              </a:ext>
            </a:extLst>
          </p:cNvPr>
          <p:cNvSpPr>
            <a:spLocks noGrp="1"/>
          </p:cNvSpPr>
          <p:nvPr>
            <p:ph idx="1"/>
          </p:nvPr>
        </p:nvSpPr>
        <p:spPr/>
        <p:txBody>
          <a:bodyPr/>
          <a:lstStyle/>
          <a:p>
            <a:r>
              <a:rPr lang="en-US" dirty="0"/>
              <a:t>We can use more than one generic data type in a class template, and each generic data type is separated by the comma.</a:t>
            </a:r>
          </a:p>
          <a:p>
            <a:pPr marL="0" indent="0">
              <a:buNone/>
            </a:pPr>
            <a:r>
              <a:rPr lang="en-US" dirty="0"/>
              <a:t>Syntax</a:t>
            </a:r>
          </a:p>
          <a:p>
            <a:pPr marL="0" indent="0">
              <a:buNone/>
            </a:pPr>
            <a:r>
              <a:rPr lang="en-US" b="1" dirty="0"/>
              <a:t>template</a:t>
            </a:r>
            <a:r>
              <a:rPr lang="en-US" dirty="0"/>
              <a:t>&lt;</a:t>
            </a:r>
            <a:r>
              <a:rPr lang="en-US" b="1" dirty="0"/>
              <a:t>class</a:t>
            </a:r>
            <a:r>
              <a:rPr lang="en-US" dirty="0"/>
              <a:t> T1, </a:t>
            </a:r>
            <a:r>
              <a:rPr lang="en-US" b="1" dirty="0"/>
              <a:t>class</a:t>
            </a:r>
            <a:r>
              <a:rPr lang="en-US" dirty="0"/>
              <a:t> T2, ......&gt;   </a:t>
            </a:r>
          </a:p>
          <a:p>
            <a:pPr marL="0" indent="0">
              <a:buNone/>
            </a:pPr>
            <a:r>
              <a:rPr lang="en-US" b="1" dirty="0"/>
              <a:t>class</a:t>
            </a:r>
            <a:r>
              <a:rPr lang="en-US" dirty="0"/>
              <a:t> </a:t>
            </a:r>
            <a:r>
              <a:rPr lang="en-US" dirty="0" err="1"/>
              <a:t>class_name</a:t>
            </a:r>
            <a:r>
              <a:rPr lang="en-US" dirty="0"/>
              <a:t>  </a:t>
            </a:r>
          </a:p>
          <a:p>
            <a:pPr marL="0" indent="0">
              <a:buNone/>
            </a:pPr>
            <a:r>
              <a:rPr lang="en-US" dirty="0"/>
              <a:t>{  </a:t>
            </a:r>
          </a:p>
          <a:p>
            <a:pPr marL="0" indent="0">
              <a:buNone/>
            </a:pPr>
            <a:r>
              <a:rPr lang="en-US" dirty="0"/>
              <a:t>   // Body of the class.  </a:t>
            </a:r>
          </a:p>
          <a:p>
            <a:pPr marL="0" indent="0">
              <a:buNone/>
            </a:pPr>
            <a:r>
              <a:rPr lang="en-US" dirty="0"/>
              <a:t>}  </a:t>
            </a:r>
          </a:p>
          <a:p>
            <a:endParaRPr lang="en-US" dirty="0"/>
          </a:p>
        </p:txBody>
      </p:sp>
    </p:spTree>
    <p:extLst>
      <p:ext uri="{BB962C8B-B14F-4D97-AF65-F5344CB8AC3E}">
        <p14:creationId xmlns:p14="http://schemas.microsoft.com/office/powerpoint/2010/main" val="418719730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C4FEA6-5284-4F60-85F0-A12D7361B38F}"/>
              </a:ext>
            </a:extLst>
          </p:cNvPr>
          <p:cNvSpPr>
            <a:spLocks noGrp="1"/>
          </p:cNvSpPr>
          <p:nvPr>
            <p:ph type="title"/>
          </p:nvPr>
        </p:nvSpPr>
        <p:spPr/>
        <p:txBody>
          <a:bodyPr/>
          <a:lstStyle/>
          <a:p>
            <a:r>
              <a:rPr lang="en-US" b="1" dirty="0"/>
              <a:t>Let's see a simple example when class template contains two generic data types.</a:t>
            </a:r>
            <a:endParaRPr lang="en-US" dirty="0"/>
          </a:p>
        </p:txBody>
      </p:sp>
      <p:sp>
        <p:nvSpPr>
          <p:cNvPr id="3" name="Content Placeholder 2">
            <a:extLst>
              <a:ext uri="{FF2B5EF4-FFF2-40B4-BE49-F238E27FC236}">
                <a16:creationId xmlns:a16="http://schemas.microsoft.com/office/drawing/2014/main" id="{DE9E4663-F3BC-43F4-A8F5-7A23608C5F27}"/>
              </a:ext>
            </a:extLst>
          </p:cNvPr>
          <p:cNvSpPr>
            <a:spLocks noGrp="1"/>
          </p:cNvSpPr>
          <p:nvPr>
            <p:ph idx="1"/>
          </p:nvPr>
        </p:nvSpPr>
        <p:spPr>
          <a:xfrm>
            <a:off x="838200" y="1825625"/>
            <a:ext cx="3979460" cy="4351338"/>
          </a:xfrm>
        </p:spPr>
        <p:txBody>
          <a:bodyPr>
            <a:normAutofit fontScale="62500" lnSpcReduction="20000"/>
          </a:bodyPr>
          <a:lstStyle/>
          <a:p>
            <a:pPr marL="0" indent="0">
              <a:buNone/>
            </a:pPr>
            <a:r>
              <a:rPr lang="en-US" dirty="0"/>
              <a:t>#include &lt;iostream&gt;  </a:t>
            </a:r>
          </a:p>
          <a:p>
            <a:pPr marL="0" indent="0">
              <a:buNone/>
            </a:pPr>
            <a:r>
              <a:rPr lang="en-US" dirty="0"/>
              <a:t>     </a:t>
            </a:r>
            <a:r>
              <a:rPr lang="en-US" b="1" dirty="0"/>
              <a:t>using</a:t>
            </a:r>
            <a:r>
              <a:rPr lang="en-US" dirty="0"/>
              <a:t> </a:t>
            </a:r>
            <a:r>
              <a:rPr lang="en-US" b="1" dirty="0"/>
              <a:t>namespace</a:t>
            </a:r>
            <a:r>
              <a:rPr lang="en-US" dirty="0"/>
              <a:t> std;  </a:t>
            </a:r>
          </a:p>
          <a:p>
            <a:pPr marL="0" indent="0">
              <a:buNone/>
            </a:pPr>
            <a:r>
              <a:rPr lang="en-US" dirty="0"/>
              <a:t>     </a:t>
            </a:r>
            <a:r>
              <a:rPr lang="en-US" b="1" dirty="0"/>
              <a:t>template</a:t>
            </a:r>
            <a:r>
              <a:rPr lang="en-US" dirty="0"/>
              <a:t>&lt;</a:t>
            </a:r>
            <a:r>
              <a:rPr lang="en-US" b="1" dirty="0"/>
              <a:t>class</a:t>
            </a:r>
            <a:r>
              <a:rPr lang="en-US" dirty="0"/>
              <a:t> T1, </a:t>
            </a:r>
            <a:r>
              <a:rPr lang="en-US" b="1" dirty="0"/>
              <a:t>class</a:t>
            </a:r>
            <a:r>
              <a:rPr lang="en-US" dirty="0"/>
              <a:t> T2&gt;  </a:t>
            </a:r>
          </a:p>
          <a:p>
            <a:pPr marL="0" indent="0">
              <a:buNone/>
            </a:pPr>
            <a:r>
              <a:rPr lang="en-US" dirty="0"/>
              <a:t>    </a:t>
            </a:r>
            <a:r>
              <a:rPr lang="en-US" b="1" dirty="0"/>
              <a:t>class</a:t>
            </a:r>
            <a:r>
              <a:rPr lang="en-US" dirty="0"/>
              <a:t> A   </a:t>
            </a:r>
          </a:p>
          <a:p>
            <a:pPr marL="0" indent="0">
              <a:buNone/>
            </a:pPr>
            <a:r>
              <a:rPr lang="en-US" dirty="0"/>
              <a:t>    {  </a:t>
            </a:r>
          </a:p>
          <a:p>
            <a:pPr marL="0" indent="0">
              <a:buNone/>
            </a:pPr>
            <a:r>
              <a:rPr lang="en-US" dirty="0"/>
              <a:t>         T1 a;  </a:t>
            </a:r>
          </a:p>
          <a:p>
            <a:pPr marL="0" indent="0">
              <a:buNone/>
            </a:pPr>
            <a:r>
              <a:rPr lang="en-US" dirty="0"/>
              <a:t>         T2 b;  </a:t>
            </a:r>
          </a:p>
          <a:p>
            <a:pPr marL="0" indent="0">
              <a:buNone/>
            </a:pPr>
            <a:r>
              <a:rPr lang="en-US" dirty="0"/>
              <a:t>         </a:t>
            </a:r>
            <a:r>
              <a:rPr lang="en-US" b="1" dirty="0"/>
              <a:t>public</a:t>
            </a:r>
            <a:r>
              <a:rPr lang="en-US" dirty="0"/>
              <a:t>:  </a:t>
            </a:r>
          </a:p>
          <a:p>
            <a:pPr marL="0" indent="0">
              <a:buNone/>
            </a:pPr>
            <a:r>
              <a:rPr lang="en-US" dirty="0"/>
              <a:t>        A(T1 x,T2 y)  </a:t>
            </a:r>
          </a:p>
          <a:p>
            <a:pPr marL="0" indent="0">
              <a:buNone/>
            </a:pPr>
            <a:r>
              <a:rPr lang="en-US" dirty="0"/>
              <a:t>       {  </a:t>
            </a:r>
          </a:p>
          <a:p>
            <a:pPr marL="0" indent="0">
              <a:buNone/>
            </a:pPr>
            <a:r>
              <a:rPr lang="en-US" dirty="0"/>
              <a:t>           a = x;  </a:t>
            </a:r>
          </a:p>
          <a:p>
            <a:pPr marL="0" indent="0">
              <a:buNone/>
            </a:pPr>
            <a:r>
              <a:rPr lang="en-US" dirty="0"/>
              <a:t>           b = y;  </a:t>
            </a:r>
          </a:p>
          <a:p>
            <a:pPr marL="0" indent="0">
              <a:buNone/>
            </a:pPr>
            <a:r>
              <a:rPr lang="en-US" dirty="0"/>
              <a:t>        }  </a:t>
            </a:r>
          </a:p>
          <a:p>
            <a:endParaRPr lang="en-US" dirty="0"/>
          </a:p>
        </p:txBody>
      </p:sp>
      <p:sp>
        <p:nvSpPr>
          <p:cNvPr id="4" name="Rectangle 3">
            <a:extLst>
              <a:ext uri="{FF2B5EF4-FFF2-40B4-BE49-F238E27FC236}">
                <a16:creationId xmlns:a16="http://schemas.microsoft.com/office/drawing/2014/main" id="{36404115-3529-4CA4-95DB-F307F185A852}"/>
              </a:ext>
            </a:extLst>
          </p:cNvPr>
          <p:cNvSpPr/>
          <p:nvPr/>
        </p:nvSpPr>
        <p:spPr>
          <a:xfrm>
            <a:off x="5377217" y="1825625"/>
            <a:ext cx="6428096" cy="3693319"/>
          </a:xfrm>
          <a:prstGeom prst="rect">
            <a:avLst/>
          </a:prstGeom>
        </p:spPr>
        <p:txBody>
          <a:bodyPr wrap="square">
            <a:spAutoFit/>
          </a:bodyPr>
          <a:lstStyle/>
          <a:p>
            <a:pPr algn="just"/>
            <a:r>
              <a:rPr lang="en-US" b="0" i="0" dirty="0">
                <a:solidFill>
                  <a:srgbClr val="000000"/>
                </a:solidFill>
                <a:effectLst/>
                <a:latin typeface="inter-regular"/>
              </a:rPr>
              <a:t> </a:t>
            </a:r>
            <a:r>
              <a:rPr lang="en-US" b="1" i="0" dirty="0">
                <a:solidFill>
                  <a:srgbClr val="006699"/>
                </a:solidFill>
                <a:effectLst/>
                <a:latin typeface="inter-regular"/>
              </a:rPr>
              <a:t>void</a:t>
            </a:r>
            <a:r>
              <a:rPr lang="en-US" b="0" i="0" dirty="0">
                <a:solidFill>
                  <a:srgbClr val="000000"/>
                </a:solidFill>
                <a:effectLst/>
                <a:latin typeface="inter-regular"/>
              </a:rPr>
              <a:t> display()  </a:t>
            </a:r>
          </a:p>
          <a:p>
            <a:pPr algn="just"/>
            <a:r>
              <a:rPr lang="en-US" b="0" i="0" dirty="0">
                <a:solidFill>
                  <a:srgbClr val="000000"/>
                </a:solidFill>
                <a:effectLst/>
                <a:latin typeface="inter-regular"/>
              </a:rPr>
              <a:t>          {  </a:t>
            </a:r>
          </a:p>
          <a:p>
            <a:pPr algn="just"/>
            <a:r>
              <a:rPr lang="en-US" b="0" i="0" dirty="0">
                <a:solidFill>
                  <a:srgbClr val="000000"/>
                </a:solidFill>
                <a:effectLst/>
                <a:latin typeface="inter-regular"/>
              </a:rPr>
              <a:t>                 std::</a:t>
            </a:r>
            <a:r>
              <a:rPr lang="en-US" b="0" i="0" dirty="0" err="1">
                <a:solidFill>
                  <a:srgbClr val="000000"/>
                </a:solidFill>
                <a:effectLst/>
                <a:latin typeface="inter-regular"/>
              </a:rPr>
              <a:t>cout</a:t>
            </a:r>
            <a:r>
              <a:rPr lang="en-US" b="0" i="0" dirty="0">
                <a:solidFill>
                  <a:srgbClr val="000000"/>
                </a:solidFill>
                <a:effectLst/>
                <a:latin typeface="inter-regular"/>
              </a:rPr>
              <a:t> &lt;&lt; </a:t>
            </a:r>
            <a:r>
              <a:rPr lang="en-US" b="0" i="0" dirty="0">
                <a:solidFill>
                  <a:srgbClr val="0000FF"/>
                </a:solidFill>
                <a:effectLst/>
                <a:latin typeface="inter-regular"/>
              </a:rPr>
              <a:t>"Values of a and b are : "</a:t>
            </a:r>
            <a:r>
              <a:rPr lang="en-US" b="0" i="0" dirty="0">
                <a:solidFill>
                  <a:srgbClr val="000000"/>
                </a:solidFill>
                <a:effectLst/>
                <a:latin typeface="inter-regular"/>
              </a:rPr>
              <a:t> &lt;&lt; a&lt;&lt;</a:t>
            </a:r>
            <a:r>
              <a:rPr lang="en-US" b="0" i="0" dirty="0">
                <a:solidFill>
                  <a:srgbClr val="0000FF"/>
                </a:solidFill>
                <a:effectLst/>
                <a:latin typeface="inter-regular"/>
              </a:rPr>
              <a:t>" ,"</a:t>
            </a:r>
            <a:r>
              <a:rPr lang="en-US" b="0" i="0" dirty="0">
                <a:solidFill>
                  <a:srgbClr val="000000"/>
                </a:solidFill>
                <a:effectLst/>
                <a:latin typeface="inter-regular"/>
              </a:rPr>
              <a:t>&lt;&lt;b&lt;&lt;std::</a:t>
            </a:r>
            <a:r>
              <a:rPr lang="en-US" b="0" i="0" dirty="0" err="1">
                <a:solidFill>
                  <a:srgbClr val="000000"/>
                </a:solidFill>
                <a:effectLst/>
                <a:latin typeface="inter-regular"/>
              </a:rPr>
              <a:t>endl</a:t>
            </a:r>
            <a:r>
              <a:rPr lang="en-US" b="0" i="0" dirty="0">
                <a:solidFill>
                  <a:srgbClr val="000000"/>
                </a:solidFill>
                <a:effectLst/>
                <a:latin typeface="inter-regular"/>
              </a:rPr>
              <a:t>;  </a:t>
            </a:r>
          </a:p>
          <a:p>
            <a:pPr algn="just"/>
            <a:r>
              <a:rPr lang="en-US" b="0" i="0" dirty="0">
                <a:solidFill>
                  <a:srgbClr val="000000"/>
                </a:solidFill>
                <a:effectLst/>
                <a:latin typeface="inter-regular"/>
              </a:rPr>
              <a:t>           }  </a:t>
            </a:r>
          </a:p>
          <a:p>
            <a:pPr algn="just"/>
            <a:r>
              <a:rPr lang="en-US" b="0" i="0" dirty="0">
                <a:solidFill>
                  <a:srgbClr val="000000"/>
                </a:solidFill>
                <a:effectLst/>
                <a:latin typeface="inter-regular"/>
              </a:rPr>
              <a:t>      };  </a:t>
            </a:r>
          </a:p>
          <a:p>
            <a:pPr algn="just"/>
            <a:r>
              <a:rPr lang="en-US" b="0" i="0" dirty="0">
                <a:solidFill>
                  <a:srgbClr val="000000"/>
                </a:solidFill>
                <a:effectLst/>
                <a:latin typeface="inter-regular"/>
              </a:rPr>
              <a:t>  </a:t>
            </a:r>
          </a:p>
          <a:p>
            <a:pPr algn="just"/>
            <a:r>
              <a:rPr lang="en-US" b="0" i="0" dirty="0">
                <a:solidFill>
                  <a:srgbClr val="000000"/>
                </a:solidFill>
                <a:effectLst/>
                <a:latin typeface="inter-regular"/>
              </a:rPr>
              <a:t>      </a:t>
            </a:r>
            <a:r>
              <a:rPr lang="en-US" b="1" i="0" dirty="0">
                <a:solidFill>
                  <a:srgbClr val="2E8B57"/>
                </a:solidFill>
                <a:effectLst/>
                <a:latin typeface="inter-regular"/>
              </a:rPr>
              <a:t>int</a:t>
            </a:r>
            <a:r>
              <a:rPr lang="en-US" b="0" i="0" dirty="0">
                <a:solidFill>
                  <a:srgbClr val="000000"/>
                </a:solidFill>
                <a:effectLst/>
                <a:latin typeface="inter-regular"/>
              </a:rPr>
              <a:t> main()  </a:t>
            </a:r>
          </a:p>
          <a:p>
            <a:pPr algn="just"/>
            <a:r>
              <a:rPr lang="en-US" b="0" i="0" dirty="0">
                <a:solidFill>
                  <a:srgbClr val="000000"/>
                </a:solidFill>
                <a:effectLst/>
                <a:latin typeface="inter-regular"/>
              </a:rPr>
              <a:t>     {  </a:t>
            </a:r>
          </a:p>
          <a:p>
            <a:pPr algn="just"/>
            <a:r>
              <a:rPr lang="en-US" b="0" i="0" dirty="0">
                <a:solidFill>
                  <a:srgbClr val="000000"/>
                </a:solidFill>
                <a:effectLst/>
                <a:latin typeface="inter-regular"/>
              </a:rPr>
              <a:t>           A&lt;</a:t>
            </a:r>
            <a:r>
              <a:rPr lang="en-US" b="1" i="0" dirty="0" err="1">
                <a:solidFill>
                  <a:srgbClr val="2E8B57"/>
                </a:solidFill>
                <a:effectLst/>
                <a:latin typeface="inter-regular"/>
              </a:rPr>
              <a:t>int</a:t>
            </a:r>
            <a:r>
              <a:rPr lang="en-US" b="0" i="0" dirty="0" err="1">
                <a:solidFill>
                  <a:srgbClr val="000000"/>
                </a:solidFill>
                <a:effectLst/>
                <a:latin typeface="inter-regular"/>
              </a:rPr>
              <a:t>,</a:t>
            </a:r>
            <a:r>
              <a:rPr lang="en-US" b="1" i="0" dirty="0" err="1">
                <a:solidFill>
                  <a:srgbClr val="2E8B57"/>
                </a:solidFill>
                <a:effectLst/>
                <a:latin typeface="inter-regular"/>
              </a:rPr>
              <a:t>float</a:t>
            </a:r>
            <a:r>
              <a:rPr lang="en-US" b="0" i="0" dirty="0">
                <a:solidFill>
                  <a:srgbClr val="000000"/>
                </a:solidFill>
                <a:effectLst/>
                <a:latin typeface="inter-regular"/>
              </a:rPr>
              <a:t>&gt; d(5,6.5);  </a:t>
            </a:r>
          </a:p>
          <a:p>
            <a:pPr algn="just"/>
            <a:r>
              <a:rPr lang="en-US" b="0" i="0" dirty="0">
                <a:solidFill>
                  <a:srgbClr val="000000"/>
                </a:solidFill>
                <a:effectLst/>
                <a:latin typeface="inter-regular"/>
              </a:rPr>
              <a:t>           </a:t>
            </a:r>
            <a:r>
              <a:rPr lang="en-US" b="0" i="0" dirty="0" err="1">
                <a:solidFill>
                  <a:srgbClr val="000000"/>
                </a:solidFill>
                <a:effectLst/>
                <a:latin typeface="inter-regular"/>
              </a:rPr>
              <a:t>d.display</a:t>
            </a:r>
            <a:r>
              <a:rPr lang="en-US" b="0" i="0" dirty="0">
                <a:solidFill>
                  <a:srgbClr val="000000"/>
                </a:solidFill>
                <a:effectLst/>
                <a:latin typeface="inter-regular"/>
              </a:rPr>
              <a:t>();  </a:t>
            </a:r>
          </a:p>
          <a:p>
            <a:pPr algn="just"/>
            <a:r>
              <a:rPr lang="en-US" b="0" i="0" dirty="0">
                <a:solidFill>
                  <a:srgbClr val="000000"/>
                </a:solidFill>
                <a:effectLst/>
                <a:latin typeface="inter-regular"/>
              </a:rPr>
              <a:t>           </a:t>
            </a:r>
            <a:r>
              <a:rPr lang="en-US" b="1" i="0" dirty="0">
                <a:solidFill>
                  <a:srgbClr val="006699"/>
                </a:solidFill>
                <a:effectLst/>
                <a:latin typeface="inter-regular"/>
              </a:rPr>
              <a:t>return</a:t>
            </a:r>
            <a:r>
              <a:rPr lang="en-US" b="0" i="0" dirty="0">
                <a:solidFill>
                  <a:srgbClr val="000000"/>
                </a:solidFill>
                <a:effectLst/>
                <a:latin typeface="inter-regular"/>
              </a:rPr>
              <a:t> 0;  </a:t>
            </a:r>
          </a:p>
          <a:p>
            <a:pPr algn="just"/>
            <a:r>
              <a:rPr lang="en-US" b="0" i="0" dirty="0">
                <a:solidFill>
                  <a:srgbClr val="000000"/>
                </a:solidFill>
                <a:effectLst/>
                <a:latin typeface="inter-regular"/>
              </a:rPr>
              <a:t>     }  </a:t>
            </a:r>
          </a:p>
        </p:txBody>
      </p:sp>
      <p:sp>
        <p:nvSpPr>
          <p:cNvPr id="5" name="Rectangle 1">
            <a:extLst>
              <a:ext uri="{FF2B5EF4-FFF2-40B4-BE49-F238E27FC236}">
                <a16:creationId xmlns:a16="http://schemas.microsoft.com/office/drawing/2014/main" id="{907B61FD-E626-4F54-A5ED-20A3FCB51E1E}"/>
              </a:ext>
            </a:extLst>
          </p:cNvPr>
          <p:cNvSpPr>
            <a:spLocks noChangeArrowheads="1"/>
          </p:cNvSpPr>
          <p:nvPr/>
        </p:nvSpPr>
        <p:spPr bwMode="auto">
          <a:xfrm>
            <a:off x="838200" y="6190119"/>
            <a:ext cx="11117239" cy="430887"/>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a:ln>
                  <a:noFill/>
                </a:ln>
                <a:solidFill>
                  <a:srgbClr val="333333"/>
                </a:solidFill>
                <a:effectLst/>
                <a:latin typeface="inter-bold"/>
              </a:rPr>
              <a:t>Output:</a:t>
            </a:r>
            <a:endParaRPr kumimoji="0" lang="en-US" altLang="en-US" sz="1100" b="0" i="0" u="none" strike="noStrike" cap="none" normalizeH="0" baseline="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535559"/>
                </a:solidFill>
                <a:effectLst/>
                <a:latin typeface="Arial Unicode MS"/>
              </a:rPr>
              <a:t>Values of a and b are : 5,6.5</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898588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CD2C84-91DF-475A-88D0-C16B25E775EB}"/>
              </a:ext>
            </a:extLst>
          </p:cNvPr>
          <p:cNvSpPr>
            <a:spLocks noGrp="1"/>
          </p:cNvSpPr>
          <p:nvPr>
            <p:ph type="title"/>
          </p:nvPr>
        </p:nvSpPr>
        <p:spPr/>
        <p:txBody>
          <a:bodyPr/>
          <a:lstStyle/>
          <a:p>
            <a:r>
              <a:rPr lang="en-US" b="1" dirty="0" err="1"/>
              <a:t>Nontype</a:t>
            </a:r>
            <a:r>
              <a:rPr lang="en-US" b="1" dirty="0"/>
              <a:t> Template Arguments</a:t>
            </a:r>
          </a:p>
        </p:txBody>
      </p:sp>
      <p:sp>
        <p:nvSpPr>
          <p:cNvPr id="3" name="Content Placeholder 2">
            <a:extLst>
              <a:ext uri="{FF2B5EF4-FFF2-40B4-BE49-F238E27FC236}">
                <a16:creationId xmlns:a16="http://schemas.microsoft.com/office/drawing/2014/main" id="{EACC7FD8-3019-4EA4-96FC-A35735EE0208}"/>
              </a:ext>
            </a:extLst>
          </p:cNvPr>
          <p:cNvSpPr>
            <a:spLocks noGrp="1"/>
          </p:cNvSpPr>
          <p:nvPr>
            <p:ph idx="1"/>
          </p:nvPr>
        </p:nvSpPr>
        <p:spPr/>
        <p:txBody>
          <a:bodyPr/>
          <a:lstStyle/>
          <a:p>
            <a:r>
              <a:rPr lang="en-US" dirty="0"/>
              <a:t>The template can contain multiple arguments, and we can also use the non-type arguments In addition to the type T argument, we can also use other types of arguments such as strings, function names, constant expression and built-in types.</a:t>
            </a:r>
          </a:p>
          <a:p>
            <a:pPr marL="0" indent="0">
              <a:buNone/>
            </a:pPr>
            <a:r>
              <a:rPr lang="en-US" dirty="0"/>
              <a:t> </a:t>
            </a:r>
            <a:r>
              <a:rPr lang="en-US" b="1" dirty="0"/>
              <a:t>Let' s see the following example:</a:t>
            </a:r>
            <a:endParaRPr lang="en-US" dirty="0"/>
          </a:p>
        </p:txBody>
      </p:sp>
    </p:spTree>
    <p:extLst>
      <p:ext uri="{BB962C8B-B14F-4D97-AF65-F5344CB8AC3E}">
        <p14:creationId xmlns:p14="http://schemas.microsoft.com/office/powerpoint/2010/main" val="261617891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4F2C1EC-573D-492C-BFF7-670316A9AE60}"/>
              </a:ext>
            </a:extLst>
          </p:cNvPr>
          <p:cNvSpPr>
            <a:spLocks noGrp="1"/>
          </p:cNvSpPr>
          <p:nvPr>
            <p:ph idx="1"/>
          </p:nvPr>
        </p:nvSpPr>
        <p:spPr>
          <a:xfrm>
            <a:off x="838200" y="450376"/>
            <a:ext cx="10515600" cy="5726587"/>
          </a:xfrm>
        </p:spPr>
        <p:txBody>
          <a:bodyPr/>
          <a:lstStyle/>
          <a:p>
            <a:pPr marL="0" indent="0">
              <a:buNone/>
            </a:pPr>
            <a:r>
              <a:rPr lang="en-US" b="1" dirty="0"/>
              <a:t>template</a:t>
            </a:r>
            <a:r>
              <a:rPr lang="en-US" dirty="0"/>
              <a:t>&lt;</a:t>
            </a:r>
            <a:r>
              <a:rPr lang="en-US" b="1" dirty="0"/>
              <a:t>class</a:t>
            </a:r>
            <a:r>
              <a:rPr lang="en-US" dirty="0"/>
              <a:t> T, </a:t>
            </a:r>
            <a:r>
              <a:rPr lang="en-US" b="1" dirty="0"/>
              <a:t>int</a:t>
            </a:r>
            <a:r>
              <a:rPr lang="en-US" dirty="0"/>
              <a:t> size&gt;  </a:t>
            </a:r>
          </a:p>
          <a:p>
            <a:pPr marL="0" indent="0">
              <a:buNone/>
            </a:pPr>
            <a:r>
              <a:rPr lang="en-US" b="1" dirty="0"/>
              <a:t>class</a:t>
            </a:r>
            <a:r>
              <a:rPr lang="en-US" dirty="0"/>
              <a:t> array  </a:t>
            </a:r>
          </a:p>
          <a:p>
            <a:pPr marL="0" indent="0">
              <a:buNone/>
            </a:pPr>
            <a:r>
              <a:rPr lang="en-US" dirty="0"/>
              <a:t>{  </a:t>
            </a:r>
          </a:p>
          <a:p>
            <a:pPr marL="0" indent="0">
              <a:buNone/>
            </a:pPr>
            <a:r>
              <a:rPr lang="en-US" dirty="0"/>
              <a:t>        T </a:t>
            </a:r>
            <a:r>
              <a:rPr lang="en-US" dirty="0" err="1"/>
              <a:t>arr</a:t>
            </a:r>
            <a:r>
              <a:rPr lang="en-US" dirty="0"/>
              <a:t>[size];           // automatic array initialization.  </a:t>
            </a:r>
          </a:p>
          <a:p>
            <a:pPr marL="0" indent="0">
              <a:buNone/>
            </a:pPr>
            <a:r>
              <a:rPr lang="en-US" dirty="0"/>
              <a:t>};  </a:t>
            </a:r>
          </a:p>
          <a:p>
            <a:pPr marL="0" indent="0">
              <a:buNone/>
            </a:pPr>
            <a:r>
              <a:rPr lang="en-US" dirty="0"/>
              <a:t>In the above case, the </a:t>
            </a:r>
            <a:r>
              <a:rPr lang="en-US" dirty="0" err="1"/>
              <a:t>nontype</a:t>
            </a:r>
            <a:r>
              <a:rPr lang="en-US" dirty="0"/>
              <a:t> template argument is size and therefore, template supplies the size of the array as an argument.</a:t>
            </a:r>
          </a:p>
          <a:p>
            <a:pPr marL="0" indent="0">
              <a:buNone/>
            </a:pPr>
            <a:r>
              <a:rPr lang="en-US" dirty="0"/>
              <a:t>Arguments are specified when the objects of a class are created:</a:t>
            </a:r>
          </a:p>
          <a:p>
            <a:pPr marL="0" indent="0">
              <a:buNone/>
            </a:pPr>
            <a:endParaRPr lang="en-US" dirty="0"/>
          </a:p>
        </p:txBody>
      </p:sp>
    </p:spTree>
    <p:extLst>
      <p:ext uri="{BB962C8B-B14F-4D97-AF65-F5344CB8AC3E}">
        <p14:creationId xmlns:p14="http://schemas.microsoft.com/office/powerpoint/2010/main" val="310768691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0C06F7D-1117-4E7D-BFEC-38E660284EF4}"/>
              </a:ext>
            </a:extLst>
          </p:cNvPr>
          <p:cNvSpPr>
            <a:spLocks noGrp="1"/>
          </p:cNvSpPr>
          <p:nvPr>
            <p:ph idx="1"/>
          </p:nvPr>
        </p:nvSpPr>
        <p:spPr>
          <a:xfrm>
            <a:off x="838200" y="436728"/>
            <a:ext cx="10515600" cy="5740235"/>
          </a:xfrm>
        </p:spPr>
        <p:txBody>
          <a:bodyPr/>
          <a:lstStyle/>
          <a:p>
            <a:pPr marL="0" indent="0">
              <a:buNone/>
            </a:pPr>
            <a:r>
              <a:rPr lang="en-US" dirty="0"/>
              <a:t>array&lt;</a:t>
            </a:r>
            <a:r>
              <a:rPr lang="en-US" b="1" dirty="0"/>
              <a:t>int</a:t>
            </a:r>
            <a:r>
              <a:rPr lang="en-US" dirty="0"/>
              <a:t>, 15&gt; t1;                        // array of 15 integers.  </a:t>
            </a:r>
          </a:p>
          <a:p>
            <a:pPr marL="0" indent="0">
              <a:buNone/>
            </a:pPr>
            <a:r>
              <a:rPr lang="en-US" dirty="0"/>
              <a:t>array&lt;</a:t>
            </a:r>
            <a:r>
              <a:rPr lang="en-US" b="1" dirty="0"/>
              <a:t>float</a:t>
            </a:r>
            <a:r>
              <a:rPr lang="en-US" dirty="0"/>
              <a:t>, 10&gt; t2;                    // array of 10 floats.   </a:t>
            </a:r>
          </a:p>
          <a:p>
            <a:pPr marL="0" indent="0">
              <a:buNone/>
            </a:pPr>
            <a:r>
              <a:rPr lang="en-US" dirty="0"/>
              <a:t>array&lt;</a:t>
            </a:r>
            <a:r>
              <a:rPr lang="en-US" b="1" dirty="0"/>
              <a:t>char</a:t>
            </a:r>
            <a:r>
              <a:rPr lang="en-US" dirty="0"/>
              <a:t>, 4&gt; t3;                      // array of 4 chars.     </a:t>
            </a:r>
          </a:p>
          <a:p>
            <a:endParaRPr lang="en-US" dirty="0"/>
          </a:p>
          <a:p>
            <a:r>
              <a:rPr lang="en-US" dirty="0"/>
              <a:t>Let's see a simple example of </a:t>
            </a:r>
            <a:r>
              <a:rPr lang="en-US" dirty="0" err="1"/>
              <a:t>nontype</a:t>
            </a:r>
            <a:r>
              <a:rPr lang="en-US" dirty="0"/>
              <a:t> template arguments.</a:t>
            </a:r>
          </a:p>
        </p:txBody>
      </p:sp>
    </p:spTree>
    <p:extLst>
      <p:ext uri="{BB962C8B-B14F-4D97-AF65-F5344CB8AC3E}">
        <p14:creationId xmlns:p14="http://schemas.microsoft.com/office/powerpoint/2010/main" val="310354570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78B8758-BC4F-4B66-9F0A-54F1A99621B4}"/>
              </a:ext>
            </a:extLst>
          </p:cNvPr>
          <p:cNvSpPr>
            <a:spLocks noGrp="1"/>
          </p:cNvSpPr>
          <p:nvPr>
            <p:ph idx="1"/>
          </p:nvPr>
        </p:nvSpPr>
        <p:spPr>
          <a:xfrm>
            <a:off x="1165748" y="309478"/>
            <a:ext cx="4115937" cy="5384967"/>
          </a:xfrm>
        </p:spPr>
        <p:txBody>
          <a:bodyPr>
            <a:normAutofit fontScale="62500" lnSpcReduction="20000"/>
          </a:bodyPr>
          <a:lstStyle/>
          <a:p>
            <a:pPr marL="0" indent="0">
              <a:buNone/>
            </a:pPr>
            <a:r>
              <a:rPr lang="en-US" dirty="0"/>
              <a:t>#include &lt;iostream&gt;  </a:t>
            </a:r>
          </a:p>
          <a:p>
            <a:pPr marL="0" indent="0">
              <a:buNone/>
            </a:pPr>
            <a:r>
              <a:rPr lang="en-US" b="1" dirty="0"/>
              <a:t>using</a:t>
            </a:r>
            <a:r>
              <a:rPr lang="en-US" dirty="0"/>
              <a:t> </a:t>
            </a:r>
            <a:r>
              <a:rPr lang="en-US" b="1" dirty="0"/>
              <a:t>namespace</a:t>
            </a:r>
            <a:r>
              <a:rPr lang="en-US" dirty="0"/>
              <a:t> std;  </a:t>
            </a:r>
          </a:p>
          <a:p>
            <a:pPr marL="0" indent="0">
              <a:buNone/>
            </a:pPr>
            <a:r>
              <a:rPr lang="en-US" b="1" dirty="0"/>
              <a:t>template</a:t>
            </a:r>
            <a:r>
              <a:rPr lang="en-US" dirty="0"/>
              <a:t>&lt;</a:t>
            </a:r>
            <a:r>
              <a:rPr lang="en-US" b="1" dirty="0"/>
              <a:t>class</a:t>
            </a:r>
            <a:r>
              <a:rPr lang="en-US" dirty="0"/>
              <a:t> T, </a:t>
            </a:r>
            <a:r>
              <a:rPr lang="en-US" b="1" dirty="0"/>
              <a:t>int</a:t>
            </a:r>
            <a:r>
              <a:rPr lang="en-US" dirty="0"/>
              <a:t> size&gt;  </a:t>
            </a:r>
          </a:p>
          <a:p>
            <a:pPr marL="0" indent="0">
              <a:buNone/>
            </a:pPr>
            <a:r>
              <a:rPr lang="en-US" b="1" dirty="0"/>
              <a:t>class</a:t>
            </a:r>
            <a:r>
              <a:rPr lang="en-US" dirty="0"/>
              <a:t> A   </a:t>
            </a:r>
          </a:p>
          <a:p>
            <a:pPr marL="0" indent="0">
              <a:buNone/>
            </a:pPr>
            <a:r>
              <a:rPr lang="en-US" dirty="0"/>
              <a:t>{  </a:t>
            </a:r>
          </a:p>
          <a:p>
            <a:pPr marL="0" indent="0">
              <a:buNone/>
            </a:pPr>
            <a:r>
              <a:rPr lang="en-US" dirty="0"/>
              <a:t>    </a:t>
            </a:r>
            <a:r>
              <a:rPr lang="en-US" b="1" dirty="0"/>
              <a:t>public</a:t>
            </a:r>
            <a:r>
              <a:rPr lang="en-US" dirty="0"/>
              <a:t>:  </a:t>
            </a:r>
          </a:p>
          <a:p>
            <a:pPr marL="0" indent="0">
              <a:buNone/>
            </a:pPr>
            <a:r>
              <a:rPr lang="en-US" dirty="0"/>
              <a:t>    T </a:t>
            </a:r>
            <a:r>
              <a:rPr lang="en-US" dirty="0" err="1"/>
              <a:t>arr</a:t>
            </a:r>
            <a:r>
              <a:rPr lang="en-US" dirty="0"/>
              <a:t>[size];  </a:t>
            </a:r>
          </a:p>
          <a:p>
            <a:pPr marL="0" indent="0">
              <a:buNone/>
            </a:pPr>
            <a:r>
              <a:rPr lang="en-US" dirty="0"/>
              <a:t>    </a:t>
            </a:r>
            <a:r>
              <a:rPr lang="en-US" b="1" dirty="0"/>
              <a:t>void</a:t>
            </a:r>
            <a:r>
              <a:rPr lang="en-US" dirty="0"/>
              <a:t> insert()  </a:t>
            </a:r>
          </a:p>
          <a:p>
            <a:pPr marL="0" indent="0">
              <a:buNone/>
            </a:pPr>
            <a:r>
              <a:rPr lang="en-US" dirty="0"/>
              <a:t>    {  </a:t>
            </a:r>
          </a:p>
          <a:p>
            <a:pPr marL="0" indent="0">
              <a:buNone/>
            </a:pPr>
            <a:r>
              <a:rPr lang="en-US" dirty="0"/>
              <a:t>        </a:t>
            </a:r>
            <a:r>
              <a:rPr lang="en-US" b="1" dirty="0"/>
              <a:t>int</a:t>
            </a:r>
            <a:r>
              <a:rPr lang="en-US" dirty="0"/>
              <a:t> </a:t>
            </a:r>
            <a:r>
              <a:rPr lang="en-US" dirty="0" err="1"/>
              <a:t>i</a:t>
            </a:r>
            <a:r>
              <a:rPr lang="en-US" dirty="0"/>
              <a:t> =1;  </a:t>
            </a:r>
          </a:p>
          <a:p>
            <a:pPr marL="0" indent="0">
              <a:buNone/>
            </a:pPr>
            <a:r>
              <a:rPr lang="en-US" dirty="0"/>
              <a:t>        </a:t>
            </a:r>
            <a:r>
              <a:rPr lang="en-US" b="1" dirty="0"/>
              <a:t>for</a:t>
            </a:r>
            <a:r>
              <a:rPr lang="en-US" dirty="0"/>
              <a:t> (</a:t>
            </a:r>
            <a:r>
              <a:rPr lang="en-US" b="1" dirty="0"/>
              <a:t>int</a:t>
            </a:r>
            <a:r>
              <a:rPr lang="en-US" dirty="0"/>
              <a:t> j=0;j&lt;</a:t>
            </a:r>
            <a:r>
              <a:rPr lang="en-US" dirty="0" err="1"/>
              <a:t>size;j</a:t>
            </a:r>
            <a:r>
              <a:rPr lang="en-US" dirty="0"/>
              <a:t>++)  </a:t>
            </a:r>
          </a:p>
          <a:p>
            <a:pPr marL="0" indent="0">
              <a:buNone/>
            </a:pPr>
            <a:r>
              <a:rPr lang="en-US" dirty="0"/>
              <a:t>        {  </a:t>
            </a:r>
          </a:p>
          <a:p>
            <a:pPr marL="0" indent="0">
              <a:buNone/>
            </a:pPr>
            <a:r>
              <a:rPr lang="en-US" dirty="0"/>
              <a:t>            </a:t>
            </a:r>
            <a:r>
              <a:rPr lang="en-US" dirty="0" err="1"/>
              <a:t>arr</a:t>
            </a:r>
            <a:r>
              <a:rPr lang="en-US" dirty="0"/>
              <a:t>[j] = </a:t>
            </a:r>
            <a:r>
              <a:rPr lang="en-US" dirty="0" err="1"/>
              <a:t>i</a:t>
            </a:r>
            <a:r>
              <a:rPr lang="en-US" dirty="0"/>
              <a:t>;  </a:t>
            </a:r>
          </a:p>
          <a:p>
            <a:pPr marL="0" indent="0">
              <a:buNone/>
            </a:pPr>
            <a:r>
              <a:rPr lang="en-US" dirty="0"/>
              <a:t>            </a:t>
            </a:r>
            <a:r>
              <a:rPr lang="en-US" dirty="0" err="1"/>
              <a:t>i</a:t>
            </a:r>
            <a:r>
              <a:rPr lang="en-US" dirty="0"/>
              <a:t>++;  </a:t>
            </a:r>
          </a:p>
          <a:p>
            <a:pPr marL="0" indent="0">
              <a:buNone/>
            </a:pPr>
            <a:r>
              <a:rPr lang="en-US" dirty="0"/>
              <a:t>        }  </a:t>
            </a:r>
          </a:p>
          <a:p>
            <a:pPr marL="0" indent="0">
              <a:buNone/>
            </a:pPr>
            <a:r>
              <a:rPr lang="en-US" dirty="0"/>
              <a:t>    }  </a:t>
            </a:r>
          </a:p>
        </p:txBody>
      </p:sp>
      <p:sp>
        <p:nvSpPr>
          <p:cNvPr id="4" name="Rectangle 3">
            <a:extLst>
              <a:ext uri="{FF2B5EF4-FFF2-40B4-BE49-F238E27FC236}">
                <a16:creationId xmlns:a16="http://schemas.microsoft.com/office/drawing/2014/main" id="{DA3029AA-2988-47F4-8625-E5F3511A0567}"/>
              </a:ext>
            </a:extLst>
          </p:cNvPr>
          <p:cNvSpPr/>
          <p:nvPr/>
        </p:nvSpPr>
        <p:spPr>
          <a:xfrm>
            <a:off x="6268872" y="232012"/>
            <a:ext cx="5277134" cy="4247317"/>
          </a:xfrm>
          <a:prstGeom prst="rect">
            <a:avLst/>
          </a:prstGeom>
        </p:spPr>
        <p:txBody>
          <a:bodyPr wrap="square">
            <a:spAutoFit/>
          </a:bodyPr>
          <a:lstStyle/>
          <a:p>
            <a:r>
              <a:rPr lang="en-US" dirty="0"/>
              <a:t>  </a:t>
            </a:r>
            <a:r>
              <a:rPr lang="en-US" b="1" dirty="0"/>
              <a:t>void</a:t>
            </a:r>
            <a:r>
              <a:rPr lang="en-US" dirty="0"/>
              <a:t> display()  </a:t>
            </a:r>
          </a:p>
          <a:p>
            <a:r>
              <a:rPr lang="en-US" dirty="0"/>
              <a:t>    {  </a:t>
            </a:r>
          </a:p>
          <a:p>
            <a:r>
              <a:rPr lang="en-US" dirty="0"/>
              <a:t>        </a:t>
            </a:r>
            <a:r>
              <a:rPr lang="en-US" b="1" dirty="0"/>
              <a:t>for</a:t>
            </a:r>
            <a:r>
              <a:rPr lang="en-US" dirty="0"/>
              <a:t>(</a:t>
            </a:r>
            <a:r>
              <a:rPr lang="en-US" b="1" dirty="0"/>
              <a:t>int</a:t>
            </a:r>
            <a:r>
              <a:rPr lang="en-US" dirty="0"/>
              <a:t> </a:t>
            </a:r>
            <a:r>
              <a:rPr lang="en-US" dirty="0" err="1"/>
              <a:t>i</a:t>
            </a:r>
            <a:r>
              <a:rPr lang="en-US" dirty="0"/>
              <a:t>=0;i&lt;</a:t>
            </a:r>
            <a:r>
              <a:rPr lang="en-US" dirty="0" err="1"/>
              <a:t>size;i</a:t>
            </a:r>
            <a:r>
              <a:rPr lang="en-US" dirty="0"/>
              <a:t>++)  </a:t>
            </a:r>
          </a:p>
          <a:p>
            <a:r>
              <a:rPr lang="en-US" dirty="0"/>
              <a:t>        {  </a:t>
            </a:r>
          </a:p>
          <a:p>
            <a:r>
              <a:rPr lang="en-US" dirty="0"/>
              <a:t>            std::</a:t>
            </a:r>
            <a:r>
              <a:rPr lang="en-US" dirty="0" err="1"/>
              <a:t>cout</a:t>
            </a:r>
            <a:r>
              <a:rPr lang="en-US" dirty="0"/>
              <a:t> &lt;&lt; </a:t>
            </a:r>
            <a:r>
              <a:rPr lang="en-US" dirty="0" err="1"/>
              <a:t>arr</a:t>
            </a:r>
            <a:r>
              <a:rPr lang="en-US" dirty="0"/>
              <a:t>[</a:t>
            </a:r>
            <a:r>
              <a:rPr lang="en-US" dirty="0" err="1"/>
              <a:t>i</a:t>
            </a:r>
            <a:r>
              <a:rPr lang="en-US" dirty="0"/>
              <a:t>] &lt;&lt; " ";  </a:t>
            </a:r>
          </a:p>
          <a:p>
            <a:r>
              <a:rPr lang="en-US" dirty="0"/>
              <a:t>        }  </a:t>
            </a:r>
          </a:p>
          <a:p>
            <a:r>
              <a:rPr lang="en-US" dirty="0"/>
              <a:t>    }  </a:t>
            </a:r>
          </a:p>
          <a:p>
            <a:r>
              <a:rPr lang="en-US" dirty="0"/>
              <a:t>};  </a:t>
            </a:r>
          </a:p>
          <a:p>
            <a:r>
              <a:rPr lang="en-US" b="1" dirty="0"/>
              <a:t>int</a:t>
            </a:r>
            <a:r>
              <a:rPr lang="en-US" dirty="0"/>
              <a:t> main()  </a:t>
            </a:r>
          </a:p>
          <a:p>
            <a:r>
              <a:rPr lang="en-US" dirty="0"/>
              <a:t>{  </a:t>
            </a:r>
          </a:p>
          <a:p>
            <a:r>
              <a:rPr lang="en-US" dirty="0"/>
              <a:t>    A&lt;</a:t>
            </a:r>
            <a:r>
              <a:rPr lang="en-US" b="1" dirty="0"/>
              <a:t>int</a:t>
            </a:r>
            <a:r>
              <a:rPr lang="en-US" dirty="0"/>
              <a:t>,10&gt; t1;  </a:t>
            </a:r>
          </a:p>
          <a:p>
            <a:r>
              <a:rPr lang="en-US" dirty="0"/>
              <a:t>    t1.insert();  </a:t>
            </a:r>
          </a:p>
          <a:p>
            <a:r>
              <a:rPr lang="en-US" dirty="0"/>
              <a:t>    t1.display();  </a:t>
            </a:r>
          </a:p>
          <a:p>
            <a:r>
              <a:rPr lang="en-US" dirty="0"/>
              <a:t>    </a:t>
            </a:r>
            <a:r>
              <a:rPr lang="en-US" b="1" dirty="0"/>
              <a:t>return</a:t>
            </a:r>
            <a:r>
              <a:rPr lang="en-US" dirty="0"/>
              <a:t> 0;  </a:t>
            </a:r>
          </a:p>
          <a:p>
            <a:r>
              <a:rPr lang="en-US" dirty="0"/>
              <a:t>}  </a:t>
            </a:r>
          </a:p>
        </p:txBody>
      </p:sp>
      <p:sp>
        <p:nvSpPr>
          <p:cNvPr id="6" name="Rectangle 5">
            <a:extLst>
              <a:ext uri="{FF2B5EF4-FFF2-40B4-BE49-F238E27FC236}">
                <a16:creationId xmlns:a16="http://schemas.microsoft.com/office/drawing/2014/main" id="{7CBDCA03-F8DF-4DD1-908C-91BEFF3A9FF4}"/>
              </a:ext>
            </a:extLst>
          </p:cNvPr>
          <p:cNvSpPr/>
          <p:nvPr/>
        </p:nvSpPr>
        <p:spPr>
          <a:xfrm>
            <a:off x="6364406" y="4970648"/>
            <a:ext cx="5399964" cy="646331"/>
          </a:xfrm>
          <a:prstGeom prst="rect">
            <a:avLst/>
          </a:prstGeom>
        </p:spPr>
        <p:txBody>
          <a:bodyPr wrap="square">
            <a:spAutoFit/>
          </a:bodyPr>
          <a:lstStyle/>
          <a:p>
            <a:r>
              <a:rPr lang="en-US" dirty="0"/>
              <a:t>Output:</a:t>
            </a:r>
          </a:p>
          <a:p>
            <a:r>
              <a:rPr lang="en-US" dirty="0"/>
              <a:t>1 2 3 4 5 6 7 8 9 10</a:t>
            </a:r>
          </a:p>
        </p:txBody>
      </p:sp>
      <p:sp>
        <p:nvSpPr>
          <p:cNvPr id="7" name="Rectangle 6">
            <a:extLst>
              <a:ext uri="{FF2B5EF4-FFF2-40B4-BE49-F238E27FC236}">
                <a16:creationId xmlns:a16="http://schemas.microsoft.com/office/drawing/2014/main" id="{6152C167-41AB-48F8-8B56-AC8C7B389547}"/>
              </a:ext>
            </a:extLst>
          </p:cNvPr>
          <p:cNvSpPr/>
          <p:nvPr/>
        </p:nvSpPr>
        <p:spPr>
          <a:xfrm>
            <a:off x="655093" y="5771911"/>
            <a:ext cx="10495128" cy="646331"/>
          </a:xfrm>
          <a:prstGeom prst="rect">
            <a:avLst/>
          </a:prstGeom>
        </p:spPr>
        <p:txBody>
          <a:bodyPr wrap="square">
            <a:spAutoFit/>
          </a:bodyPr>
          <a:lstStyle/>
          <a:p>
            <a:r>
              <a:rPr lang="en-US" b="0" i="0" dirty="0">
                <a:solidFill>
                  <a:srgbClr val="333333"/>
                </a:solidFill>
                <a:effectLst/>
                <a:latin typeface="inter-regular"/>
              </a:rPr>
              <a:t>In the above example, the class template is created which contains the </a:t>
            </a:r>
            <a:r>
              <a:rPr lang="en-US" b="0" i="0" dirty="0" err="1">
                <a:solidFill>
                  <a:srgbClr val="333333"/>
                </a:solidFill>
                <a:effectLst/>
                <a:latin typeface="inter-regular"/>
              </a:rPr>
              <a:t>nontype</a:t>
            </a:r>
            <a:r>
              <a:rPr lang="en-US" b="0" i="0" dirty="0">
                <a:solidFill>
                  <a:srgbClr val="333333"/>
                </a:solidFill>
                <a:effectLst/>
                <a:latin typeface="inter-regular"/>
              </a:rPr>
              <a:t> template argument, i.e., size. It is specified when the object of class 'A' is created.</a:t>
            </a:r>
            <a:endParaRPr lang="en-US" dirty="0"/>
          </a:p>
        </p:txBody>
      </p:sp>
    </p:spTree>
    <p:extLst>
      <p:ext uri="{BB962C8B-B14F-4D97-AF65-F5344CB8AC3E}">
        <p14:creationId xmlns:p14="http://schemas.microsoft.com/office/powerpoint/2010/main" val="268852754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7E9575-514D-459B-93EF-AC27203ED8D1}"/>
              </a:ext>
            </a:extLst>
          </p:cNvPr>
          <p:cNvSpPr>
            <a:spLocks noGrp="1"/>
          </p:cNvSpPr>
          <p:nvPr>
            <p:ph type="title"/>
          </p:nvPr>
        </p:nvSpPr>
        <p:spPr/>
        <p:txBody>
          <a:bodyPr/>
          <a:lstStyle/>
          <a:p>
            <a:r>
              <a:rPr lang="en-US" dirty="0"/>
              <a:t>Points to remember</a:t>
            </a:r>
          </a:p>
        </p:txBody>
      </p:sp>
      <p:sp>
        <p:nvSpPr>
          <p:cNvPr id="3" name="Content Placeholder 2">
            <a:extLst>
              <a:ext uri="{FF2B5EF4-FFF2-40B4-BE49-F238E27FC236}">
                <a16:creationId xmlns:a16="http://schemas.microsoft.com/office/drawing/2014/main" id="{6DE6AAE4-EB31-4484-A9BD-77276CA45E42}"/>
              </a:ext>
            </a:extLst>
          </p:cNvPr>
          <p:cNvSpPr>
            <a:spLocks noGrp="1"/>
          </p:cNvSpPr>
          <p:nvPr>
            <p:ph idx="1"/>
          </p:nvPr>
        </p:nvSpPr>
        <p:spPr>
          <a:xfrm>
            <a:off x="838200" y="1542197"/>
            <a:ext cx="10515600" cy="4950678"/>
          </a:xfrm>
        </p:spPr>
        <p:txBody>
          <a:bodyPr>
            <a:normAutofit lnSpcReduction="10000"/>
          </a:bodyPr>
          <a:lstStyle/>
          <a:p>
            <a:r>
              <a:rPr lang="en-US" dirty="0"/>
              <a:t>C++ supports a powerful feature known as a template to implement the concept of generic programming.</a:t>
            </a:r>
          </a:p>
          <a:p>
            <a:r>
              <a:rPr lang="en-US" dirty="0"/>
              <a:t>A template allows us to create a family of classes or family of functions to handle different data types.</a:t>
            </a:r>
          </a:p>
          <a:p>
            <a:r>
              <a:rPr lang="en-US" dirty="0"/>
              <a:t>Template classes and functions eliminate the code duplication of different data types and thus makes the development easier and faster.</a:t>
            </a:r>
          </a:p>
          <a:p>
            <a:r>
              <a:rPr lang="en-US" dirty="0"/>
              <a:t>Multiple parameters can be used in both class and function template.</a:t>
            </a:r>
          </a:p>
          <a:p>
            <a:r>
              <a:rPr lang="en-US" dirty="0"/>
              <a:t>Template functions can also be overloaded.</a:t>
            </a:r>
          </a:p>
          <a:p>
            <a:r>
              <a:rPr lang="en-US" dirty="0"/>
              <a:t>We can also use </a:t>
            </a:r>
            <a:r>
              <a:rPr lang="en-US" dirty="0" err="1"/>
              <a:t>nontype</a:t>
            </a:r>
            <a:r>
              <a:rPr lang="en-US" dirty="0"/>
              <a:t> arguments such as built-in or derived data types as template arguments.</a:t>
            </a:r>
          </a:p>
          <a:p>
            <a:endParaRPr lang="en-US" dirty="0"/>
          </a:p>
        </p:txBody>
      </p:sp>
    </p:spTree>
    <p:extLst>
      <p:ext uri="{BB962C8B-B14F-4D97-AF65-F5344CB8AC3E}">
        <p14:creationId xmlns:p14="http://schemas.microsoft.com/office/powerpoint/2010/main" val="139686507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3148</TotalTime>
  <Words>3099</Words>
  <Application>Microsoft Office PowerPoint</Application>
  <PresentationFormat>Widescreen</PresentationFormat>
  <Paragraphs>257</Paragraphs>
  <Slides>27</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27</vt:i4>
      </vt:variant>
    </vt:vector>
  </HeadingPairs>
  <TitlesOfParts>
    <vt:vector size="34" baseType="lpstr">
      <vt:lpstr>Arial</vt:lpstr>
      <vt:lpstr>Arial Unicode MS</vt:lpstr>
      <vt:lpstr>Calibri</vt:lpstr>
      <vt:lpstr>Calibri Light</vt:lpstr>
      <vt:lpstr>inter-bold</vt:lpstr>
      <vt:lpstr>inter-regular</vt:lpstr>
      <vt:lpstr>Office Theme</vt:lpstr>
      <vt:lpstr>Templates</vt:lpstr>
      <vt:lpstr>PowerPoint Presentation</vt:lpstr>
      <vt:lpstr>Templates can be represented in two ways:</vt:lpstr>
      <vt:lpstr>Function Templates:</vt:lpstr>
      <vt:lpstr>Class Template:</vt:lpstr>
      <vt:lpstr>Function Template</vt:lpstr>
      <vt:lpstr>Syntax of Function Template</vt:lpstr>
      <vt:lpstr>class: A class keyword is used to specify a generic type in a template declaration.</vt:lpstr>
      <vt:lpstr>PowerPoint Presentation</vt:lpstr>
      <vt:lpstr>Function Templates with Multiple Parameters</vt:lpstr>
      <vt:lpstr>Let's see a simple example:</vt:lpstr>
      <vt:lpstr>Overloading a Function Template</vt:lpstr>
      <vt:lpstr>PowerPoint Presentation</vt:lpstr>
      <vt:lpstr>Restrictions of Generic Functions</vt:lpstr>
      <vt:lpstr>Let's understand this through a simple example:</vt:lpstr>
      <vt:lpstr>PowerPoint Presentation</vt:lpstr>
      <vt:lpstr>CLASS TEMPLATE</vt:lpstr>
      <vt:lpstr>PowerPoint Presentation</vt:lpstr>
      <vt:lpstr>Example</vt:lpstr>
      <vt:lpstr>PowerPoint Presentation</vt:lpstr>
      <vt:lpstr>CLASS TEMPLATE WITH MULTIPLE PARAMETERS</vt:lpstr>
      <vt:lpstr>Let's see a simple example when class template contains two generic data types.</vt:lpstr>
      <vt:lpstr>Nontype Template Arguments</vt:lpstr>
      <vt:lpstr>PowerPoint Presentation</vt:lpstr>
      <vt:lpstr>PowerPoint Presentation</vt:lpstr>
      <vt:lpstr>PowerPoint Presentation</vt:lpstr>
      <vt:lpstr>Points to remember</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Templates</dc:title>
  <dc:creator>Dieudonne</dc:creator>
  <cp:lastModifiedBy>Dieudonne</cp:lastModifiedBy>
  <cp:revision>14</cp:revision>
  <dcterms:created xsi:type="dcterms:W3CDTF">2023-08-10T08:00:15Z</dcterms:created>
  <dcterms:modified xsi:type="dcterms:W3CDTF">2025-01-09T13:53:59Z</dcterms:modified>
</cp:coreProperties>
</file>