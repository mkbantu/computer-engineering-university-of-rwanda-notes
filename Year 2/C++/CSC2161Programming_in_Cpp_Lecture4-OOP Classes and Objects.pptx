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4"/>
  </p:sldMasterIdLst>
  <p:notesMasterIdLst>
    <p:notesMasterId r:id="rId130"/>
  </p:notesMasterIdLst>
  <p:sldIdLst>
    <p:sldId id="306" r:id="rId5"/>
    <p:sldId id="308" r:id="rId6"/>
    <p:sldId id="325" r:id="rId7"/>
    <p:sldId id="324" r:id="rId8"/>
    <p:sldId id="326" r:id="rId9"/>
    <p:sldId id="327" r:id="rId10"/>
    <p:sldId id="330" r:id="rId11"/>
    <p:sldId id="328" r:id="rId12"/>
    <p:sldId id="353" r:id="rId13"/>
    <p:sldId id="331" r:id="rId14"/>
    <p:sldId id="332" r:id="rId15"/>
    <p:sldId id="329" r:id="rId16"/>
    <p:sldId id="333" r:id="rId17"/>
    <p:sldId id="334" r:id="rId18"/>
    <p:sldId id="335" r:id="rId19"/>
    <p:sldId id="336" r:id="rId20"/>
    <p:sldId id="337" r:id="rId21"/>
    <p:sldId id="338" r:id="rId22"/>
    <p:sldId id="339" r:id="rId23"/>
    <p:sldId id="340" r:id="rId24"/>
    <p:sldId id="341" r:id="rId25"/>
    <p:sldId id="342" r:id="rId26"/>
    <p:sldId id="343" r:id="rId27"/>
    <p:sldId id="344" r:id="rId28"/>
    <p:sldId id="345" r:id="rId29"/>
    <p:sldId id="346" r:id="rId30"/>
    <p:sldId id="347" r:id="rId31"/>
    <p:sldId id="348" r:id="rId32"/>
    <p:sldId id="349" r:id="rId33"/>
    <p:sldId id="352" r:id="rId34"/>
    <p:sldId id="354" r:id="rId35"/>
    <p:sldId id="355" r:id="rId36"/>
    <p:sldId id="356" r:id="rId37"/>
    <p:sldId id="384" r:id="rId38"/>
    <p:sldId id="385" r:id="rId39"/>
    <p:sldId id="386" r:id="rId40"/>
    <p:sldId id="357" r:id="rId41"/>
    <p:sldId id="358" r:id="rId42"/>
    <p:sldId id="359" r:id="rId43"/>
    <p:sldId id="360" r:id="rId44"/>
    <p:sldId id="361" r:id="rId45"/>
    <p:sldId id="362" r:id="rId46"/>
    <p:sldId id="363" r:id="rId47"/>
    <p:sldId id="364" r:id="rId48"/>
    <p:sldId id="365" r:id="rId49"/>
    <p:sldId id="366" r:id="rId50"/>
    <p:sldId id="367" r:id="rId51"/>
    <p:sldId id="368" r:id="rId52"/>
    <p:sldId id="369" r:id="rId53"/>
    <p:sldId id="370" r:id="rId54"/>
    <p:sldId id="371" r:id="rId55"/>
    <p:sldId id="372" r:id="rId56"/>
    <p:sldId id="373" r:id="rId57"/>
    <p:sldId id="374" r:id="rId58"/>
    <p:sldId id="375" r:id="rId59"/>
    <p:sldId id="376" r:id="rId60"/>
    <p:sldId id="377" r:id="rId61"/>
    <p:sldId id="378" r:id="rId62"/>
    <p:sldId id="380" r:id="rId63"/>
    <p:sldId id="381" r:id="rId64"/>
    <p:sldId id="382" r:id="rId65"/>
    <p:sldId id="387" r:id="rId66"/>
    <p:sldId id="388" r:id="rId67"/>
    <p:sldId id="389" r:id="rId68"/>
    <p:sldId id="390" r:id="rId69"/>
    <p:sldId id="391" r:id="rId70"/>
    <p:sldId id="392" r:id="rId71"/>
    <p:sldId id="393" r:id="rId72"/>
    <p:sldId id="394" r:id="rId73"/>
    <p:sldId id="395" r:id="rId74"/>
    <p:sldId id="396" r:id="rId75"/>
    <p:sldId id="397" r:id="rId76"/>
    <p:sldId id="398" r:id="rId77"/>
    <p:sldId id="399" r:id="rId78"/>
    <p:sldId id="400" r:id="rId79"/>
    <p:sldId id="401" r:id="rId80"/>
    <p:sldId id="402" r:id="rId81"/>
    <p:sldId id="403" r:id="rId82"/>
    <p:sldId id="404" r:id="rId83"/>
    <p:sldId id="405" r:id="rId84"/>
    <p:sldId id="406" r:id="rId85"/>
    <p:sldId id="407" r:id="rId86"/>
    <p:sldId id="408" r:id="rId87"/>
    <p:sldId id="409" r:id="rId88"/>
    <p:sldId id="410" r:id="rId89"/>
    <p:sldId id="411" r:id="rId90"/>
    <p:sldId id="412" r:id="rId91"/>
    <p:sldId id="413" r:id="rId92"/>
    <p:sldId id="415" r:id="rId93"/>
    <p:sldId id="416" r:id="rId94"/>
    <p:sldId id="417" r:id="rId95"/>
    <p:sldId id="418" r:id="rId96"/>
    <p:sldId id="419" r:id="rId97"/>
    <p:sldId id="420" r:id="rId98"/>
    <p:sldId id="421" r:id="rId99"/>
    <p:sldId id="422" r:id="rId100"/>
    <p:sldId id="449" r:id="rId101"/>
    <p:sldId id="423" r:id="rId102"/>
    <p:sldId id="424" r:id="rId103"/>
    <p:sldId id="450" r:id="rId104"/>
    <p:sldId id="426" r:id="rId105"/>
    <p:sldId id="427" r:id="rId106"/>
    <p:sldId id="428" r:id="rId107"/>
    <p:sldId id="429" r:id="rId108"/>
    <p:sldId id="430" r:id="rId109"/>
    <p:sldId id="431" r:id="rId110"/>
    <p:sldId id="432" r:id="rId111"/>
    <p:sldId id="433" r:id="rId112"/>
    <p:sldId id="434" r:id="rId113"/>
    <p:sldId id="435" r:id="rId114"/>
    <p:sldId id="436" r:id="rId115"/>
    <p:sldId id="437" r:id="rId116"/>
    <p:sldId id="438" r:id="rId117"/>
    <p:sldId id="439" r:id="rId118"/>
    <p:sldId id="441" r:id="rId119"/>
    <p:sldId id="443" r:id="rId120"/>
    <p:sldId id="444" r:id="rId121"/>
    <p:sldId id="445" r:id="rId122"/>
    <p:sldId id="446" r:id="rId123"/>
    <p:sldId id="447" r:id="rId124"/>
    <p:sldId id="451" r:id="rId125"/>
    <p:sldId id="452" r:id="rId126"/>
    <p:sldId id="453" r:id="rId127"/>
    <p:sldId id="454" r:id="rId128"/>
    <p:sldId id="448"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D435D6-6169-48F7-9C8E-5ACEED7DE14B}" v="30" dt="2023-06-19T06:48:56.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45" autoAdjust="0"/>
    <p:restoredTop sz="84967" autoAdjust="0"/>
  </p:normalViewPr>
  <p:slideViewPr>
    <p:cSldViewPr snapToGrid="0">
      <p:cViewPr varScale="1">
        <p:scale>
          <a:sx n="70" d="100"/>
          <a:sy n="70" d="100"/>
        </p:scale>
        <p:origin x="456" y="72"/>
      </p:cViewPr>
      <p:guideLst>
        <p:guide orient="horz" pos="1392"/>
        <p:guide pos="7056"/>
        <p:guide orient="horz"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ableStyles" Target="tableStyles.xml"/><Relationship Id="rId139" Type="http://schemas.microsoft.com/office/2018/10/relationships/authors" Target="author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notesMaster" Target="notesMasters/notesMaster1.xml"/><Relationship Id="rId135" Type="http://schemas.microsoft.com/office/2016/11/relationships/changesInfo" Target="changesInfos/changesInfo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presProps" Target="presProps.xml"/><Relationship Id="rId136"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oneste Murangira" userId="1020c2ec896d7adc" providerId="LiveId" clId="{A0D435D6-6169-48F7-9C8E-5ACEED7DE14B}"/>
    <pc:docChg chg="undo custSel addSld delSld modSld sldOrd modMainMaster">
      <pc:chgData name="Theoneste Murangira" userId="1020c2ec896d7adc" providerId="LiveId" clId="{A0D435D6-6169-48F7-9C8E-5ACEED7DE14B}" dt="2023-06-19T06:56:30.129" v="1859" actId="3680"/>
      <pc:docMkLst>
        <pc:docMk/>
      </pc:docMkLst>
      <pc:sldChg chg="del">
        <pc:chgData name="Theoneste Murangira" userId="1020c2ec896d7adc" providerId="LiveId" clId="{A0D435D6-6169-48F7-9C8E-5ACEED7DE14B}" dt="2023-06-19T06:39:01.382" v="1685" actId="2696"/>
        <pc:sldMkLst>
          <pc:docMk/>
          <pc:sldMk cId="783914445" sldId="294"/>
        </pc:sldMkLst>
      </pc:sldChg>
      <pc:sldChg chg="modSp mod">
        <pc:chgData name="Theoneste Murangira" userId="1020c2ec896d7adc" providerId="LiveId" clId="{A0D435D6-6169-48F7-9C8E-5ACEED7DE14B}" dt="2023-06-18T06:20:03.275" v="166" actId="14100"/>
        <pc:sldMkLst>
          <pc:docMk/>
          <pc:sldMk cId="365334912" sldId="308"/>
        </pc:sldMkLst>
        <pc:spChg chg="mod">
          <ac:chgData name="Theoneste Murangira" userId="1020c2ec896d7adc" providerId="LiveId" clId="{A0D435D6-6169-48F7-9C8E-5ACEED7DE14B}" dt="2023-06-18T06:20:03.275" v="166" actId="14100"/>
          <ac:spMkLst>
            <pc:docMk/>
            <pc:sldMk cId="365334912" sldId="308"/>
            <ac:spMk id="4" creationId="{B0881FA9-F3B0-4912-B0E1-352094195C30}"/>
          </ac:spMkLst>
        </pc:spChg>
      </pc:sldChg>
      <pc:sldChg chg="addSp delSp modSp mod">
        <pc:chgData name="Theoneste Murangira" userId="1020c2ec896d7adc" providerId="LiveId" clId="{A0D435D6-6169-48F7-9C8E-5ACEED7DE14B}" dt="2023-06-18T07:24:59.365" v="171" actId="478"/>
        <pc:sldMkLst>
          <pc:docMk/>
          <pc:sldMk cId="2227882511" sldId="309"/>
        </pc:sldMkLst>
        <pc:spChg chg="del mod">
          <ac:chgData name="Theoneste Murangira" userId="1020c2ec896d7adc" providerId="LiveId" clId="{A0D435D6-6169-48F7-9C8E-5ACEED7DE14B}" dt="2023-06-18T07:24:59.365" v="171" actId="478"/>
          <ac:spMkLst>
            <pc:docMk/>
            <pc:sldMk cId="2227882511" sldId="309"/>
            <ac:spMk id="3" creationId="{05408798-0DB3-46BF-880E-7BB904D700F6}"/>
          </ac:spMkLst>
        </pc:spChg>
        <pc:spChg chg="add mod">
          <ac:chgData name="Theoneste Murangira" userId="1020c2ec896d7adc" providerId="LiveId" clId="{A0D435D6-6169-48F7-9C8E-5ACEED7DE14B}" dt="2023-06-18T07:24:59.365" v="171" actId="478"/>
          <ac:spMkLst>
            <pc:docMk/>
            <pc:sldMk cId="2227882511" sldId="309"/>
            <ac:spMk id="5" creationId="{8BDC1873-6CAA-CFEC-89A5-E1A75867984B}"/>
          </ac:spMkLst>
        </pc:spChg>
      </pc:sldChg>
      <pc:sldChg chg="addSp delSp modSp new mod ord setBg">
        <pc:chgData name="Theoneste Murangira" userId="1020c2ec896d7adc" providerId="LiveId" clId="{A0D435D6-6169-48F7-9C8E-5ACEED7DE14B}" dt="2023-06-18T06:20:35.789" v="167" actId="1076"/>
        <pc:sldMkLst>
          <pc:docMk/>
          <pc:sldMk cId="159634069" sldId="314"/>
        </pc:sldMkLst>
        <pc:spChg chg="del">
          <ac:chgData name="Theoneste Murangira" userId="1020c2ec896d7adc" providerId="LiveId" clId="{A0D435D6-6169-48F7-9C8E-5ACEED7DE14B}" dt="2023-06-18T06:12:31.854" v="152" actId="931"/>
          <ac:spMkLst>
            <pc:docMk/>
            <pc:sldMk cId="159634069" sldId="314"/>
            <ac:spMk id="2" creationId="{5DA9EFD1-65C1-3F74-0691-F173B63E4AF5}"/>
          </ac:spMkLst>
        </pc:spChg>
        <pc:spChg chg="mod">
          <ac:chgData name="Theoneste Murangira" userId="1020c2ec896d7adc" providerId="LiveId" clId="{A0D435D6-6169-48F7-9C8E-5ACEED7DE14B}" dt="2023-06-18T06:12:43.848" v="155" actId="26606"/>
          <ac:spMkLst>
            <pc:docMk/>
            <pc:sldMk cId="159634069" sldId="314"/>
            <ac:spMk id="3" creationId="{634B2AFD-3BB9-66C4-1669-BF73D7BABB9D}"/>
          </ac:spMkLst>
        </pc:spChg>
        <pc:spChg chg="add del mod">
          <ac:chgData name="Theoneste Murangira" userId="1020c2ec896d7adc" providerId="LiveId" clId="{A0D435D6-6169-48F7-9C8E-5ACEED7DE14B}" dt="2023-06-18T06:14:02.129" v="161" actId="14100"/>
          <ac:spMkLst>
            <pc:docMk/>
            <pc:sldMk cId="159634069" sldId="314"/>
            <ac:spMk id="4" creationId="{7B0A72EF-CEC9-D02C-E169-A91B1E7B2125}"/>
          </ac:spMkLst>
        </pc:spChg>
        <pc:spChg chg="mod">
          <ac:chgData name="Theoneste Murangira" userId="1020c2ec896d7adc" providerId="LiveId" clId="{A0D435D6-6169-48F7-9C8E-5ACEED7DE14B}" dt="2023-06-18T06:12:43.848" v="155" actId="26606"/>
          <ac:spMkLst>
            <pc:docMk/>
            <pc:sldMk cId="159634069" sldId="314"/>
            <ac:spMk id="5" creationId="{A47034FD-E44F-2545-1591-DF767F656383}"/>
          </ac:spMkLst>
        </pc:spChg>
        <pc:spChg chg="mod ord">
          <ac:chgData name="Theoneste Murangira" userId="1020c2ec896d7adc" providerId="LiveId" clId="{A0D435D6-6169-48F7-9C8E-5ACEED7DE14B}" dt="2023-06-18T06:12:43.848" v="155" actId="26606"/>
          <ac:spMkLst>
            <pc:docMk/>
            <pc:sldMk cId="159634069" sldId="314"/>
            <ac:spMk id="6" creationId="{36D4FE21-236B-8708-93E5-FB3D1E807281}"/>
          </ac:spMkLst>
        </pc:spChg>
        <pc:spChg chg="mod">
          <ac:chgData name="Theoneste Murangira" userId="1020c2ec896d7adc" providerId="LiveId" clId="{A0D435D6-6169-48F7-9C8E-5ACEED7DE14B}" dt="2023-06-18T06:12:43.848" v="155" actId="26606"/>
          <ac:spMkLst>
            <pc:docMk/>
            <pc:sldMk cId="159634069" sldId="314"/>
            <ac:spMk id="7" creationId="{B29D3532-32C7-2D28-AA1A-70D6D914BCD6}"/>
          </ac:spMkLst>
        </pc:spChg>
        <pc:spChg chg="add del mod">
          <ac:chgData name="Theoneste Murangira" userId="1020c2ec896d7adc" providerId="LiveId" clId="{A0D435D6-6169-48F7-9C8E-5ACEED7DE14B}" dt="2023-06-18T06:13:14.304" v="157" actId="478"/>
          <ac:spMkLst>
            <pc:docMk/>
            <pc:sldMk cId="159634069" sldId="314"/>
            <ac:spMk id="11" creationId="{BFF6992D-FC97-76D0-1D89-60D3FCBCB104}"/>
          </ac:spMkLst>
        </pc:spChg>
        <pc:spChg chg="add">
          <ac:chgData name="Theoneste Murangira" userId="1020c2ec896d7adc" providerId="LiveId" clId="{A0D435D6-6169-48F7-9C8E-5ACEED7DE14B}" dt="2023-06-18T06:12:43.848" v="155" actId="26606"/>
          <ac:spMkLst>
            <pc:docMk/>
            <pc:sldMk cId="159634069" sldId="314"/>
            <ac:spMk id="18" creationId="{45CF0CC2-658D-4A87-9D2E-154B0ABE1BA0}"/>
          </ac:spMkLst>
        </pc:spChg>
        <pc:spChg chg="add">
          <ac:chgData name="Theoneste Murangira" userId="1020c2ec896d7adc" providerId="LiveId" clId="{A0D435D6-6169-48F7-9C8E-5ACEED7DE14B}" dt="2023-06-18T06:12:43.848" v="155" actId="26606"/>
          <ac:spMkLst>
            <pc:docMk/>
            <pc:sldMk cId="159634069" sldId="314"/>
            <ac:spMk id="20" creationId="{796C2CE2-29C3-4EBD-A8BB-82C6CC06950D}"/>
          </ac:spMkLst>
        </pc:spChg>
        <pc:spChg chg="add">
          <ac:chgData name="Theoneste Murangira" userId="1020c2ec896d7adc" providerId="LiveId" clId="{A0D435D6-6169-48F7-9C8E-5ACEED7DE14B}" dt="2023-06-18T06:12:43.848" v="155" actId="26606"/>
          <ac:spMkLst>
            <pc:docMk/>
            <pc:sldMk cId="159634069" sldId="314"/>
            <ac:spMk id="22" creationId="{6CB927A4-E432-4310-9CD5-E89FF5063179}"/>
          </ac:spMkLst>
        </pc:spChg>
        <pc:spChg chg="add">
          <ac:chgData name="Theoneste Murangira" userId="1020c2ec896d7adc" providerId="LiveId" clId="{A0D435D6-6169-48F7-9C8E-5ACEED7DE14B}" dt="2023-06-18T06:12:43.848" v="155" actId="26606"/>
          <ac:spMkLst>
            <pc:docMk/>
            <pc:sldMk cId="159634069" sldId="314"/>
            <ac:spMk id="24" creationId="{E3020543-B24B-4EC4-8FFC-8DD88EEA91A8}"/>
          </ac:spMkLst>
        </pc:spChg>
        <pc:spChg chg="add">
          <ac:chgData name="Theoneste Murangira" userId="1020c2ec896d7adc" providerId="LiveId" clId="{A0D435D6-6169-48F7-9C8E-5ACEED7DE14B}" dt="2023-06-18T06:12:43.848" v="155" actId="26606"/>
          <ac:spMkLst>
            <pc:docMk/>
            <pc:sldMk cId="159634069" sldId="314"/>
            <ac:spMk id="26" creationId="{1453BF6C-B012-48B7-B4E8-6D7AC7C27D02}"/>
          </ac:spMkLst>
        </pc:spChg>
        <pc:graphicFrameChg chg="add del mod">
          <ac:chgData name="Theoneste Murangira" userId="1020c2ec896d7adc" providerId="LiveId" clId="{A0D435D6-6169-48F7-9C8E-5ACEED7DE14B}" dt="2023-06-18T06:10:26.298" v="150" actId="12084"/>
          <ac:graphicFrameMkLst>
            <pc:docMk/>
            <pc:sldMk cId="159634069" sldId="314"/>
            <ac:graphicFrameMk id="8" creationId="{537B35FB-D658-905B-0AB5-7278DB470453}"/>
          </ac:graphicFrameMkLst>
        </pc:graphicFrameChg>
        <pc:picChg chg="add mod">
          <ac:chgData name="Theoneste Murangira" userId="1020c2ec896d7adc" providerId="LiveId" clId="{A0D435D6-6169-48F7-9C8E-5ACEED7DE14B}" dt="2023-06-18T06:20:35.789" v="167" actId="1076"/>
          <ac:picMkLst>
            <pc:docMk/>
            <pc:sldMk cId="159634069" sldId="314"/>
            <ac:picMk id="10" creationId="{EF5E7659-A2B0-BB5D-318B-CF51334E2F91}"/>
          </ac:picMkLst>
        </pc:picChg>
        <pc:cxnChg chg="add">
          <ac:chgData name="Theoneste Murangira" userId="1020c2ec896d7adc" providerId="LiveId" clId="{A0D435D6-6169-48F7-9C8E-5ACEED7DE14B}" dt="2023-06-18T06:12:43.848" v="155" actId="26606"/>
          <ac:cxnSpMkLst>
            <pc:docMk/>
            <pc:sldMk cId="159634069" sldId="314"/>
            <ac:cxnSpMk id="16" creationId="{5C05CAAB-DBA2-4548-AD5F-01BB97FBB207}"/>
          </ac:cxnSpMkLst>
        </pc:cxnChg>
        <pc:cxnChg chg="add">
          <ac:chgData name="Theoneste Murangira" userId="1020c2ec896d7adc" providerId="LiveId" clId="{A0D435D6-6169-48F7-9C8E-5ACEED7DE14B}" dt="2023-06-18T06:12:43.848" v="155" actId="26606"/>
          <ac:cxnSpMkLst>
            <pc:docMk/>
            <pc:sldMk cId="159634069" sldId="314"/>
            <ac:cxnSpMk id="28" creationId="{BF76EB78-6E9D-49A9-ADC5-7BCCD6F1FD48}"/>
          </ac:cxnSpMkLst>
        </pc:cxnChg>
      </pc:sldChg>
      <pc:sldChg chg="addSp delSp modSp new mod">
        <pc:chgData name="Theoneste Murangira" userId="1020c2ec896d7adc" providerId="LiveId" clId="{A0D435D6-6169-48F7-9C8E-5ACEED7DE14B}" dt="2023-06-18T07:53:48.818" v="446" actId="207"/>
        <pc:sldMkLst>
          <pc:docMk/>
          <pc:sldMk cId="739199532" sldId="315"/>
        </pc:sldMkLst>
        <pc:spChg chg="del">
          <ac:chgData name="Theoneste Murangira" userId="1020c2ec896d7adc" providerId="LiveId" clId="{A0D435D6-6169-48F7-9C8E-5ACEED7DE14B}" dt="2023-06-18T07:25:22.842" v="173" actId="478"/>
          <ac:spMkLst>
            <pc:docMk/>
            <pc:sldMk cId="739199532" sldId="315"/>
            <ac:spMk id="3" creationId="{73E9400B-9A7C-5E6D-4363-3C5FE7DCA88A}"/>
          </ac:spMkLst>
        </pc:spChg>
        <pc:spChg chg="add mod">
          <ac:chgData name="Theoneste Murangira" userId="1020c2ec896d7adc" providerId="LiveId" clId="{A0D435D6-6169-48F7-9C8E-5ACEED7DE14B}" dt="2023-06-18T07:53:48.818" v="446" actId="207"/>
          <ac:spMkLst>
            <pc:docMk/>
            <pc:sldMk cId="739199532" sldId="315"/>
            <ac:spMk id="5" creationId="{2D5FF495-146F-F29A-CC5F-1A5B640E2989}"/>
          </ac:spMkLst>
        </pc:spChg>
        <pc:spChg chg="add mod">
          <ac:chgData name="Theoneste Murangira" userId="1020c2ec896d7adc" providerId="LiveId" clId="{A0D435D6-6169-48F7-9C8E-5ACEED7DE14B}" dt="2023-06-18T07:48:23.014" v="390" actId="207"/>
          <ac:spMkLst>
            <pc:docMk/>
            <pc:sldMk cId="739199532" sldId="315"/>
            <ac:spMk id="6" creationId="{2E599FEF-7C4D-9895-43AD-5E37FFBA569D}"/>
          </ac:spMkLst>
        </pc:spChg>
        <pc:spChg chg="add del mod">
          <ac:chgData name="Theoneste Murangira" userId="1020c2ec896d7adc" providerId="LiveId" clId="{A0D435D6-6169-48F7-9C8E-5ACEED7DE14B}" dt="2023-06-18T07:44:01.062" v="337"/>
          <ac:spMkLst>
            <pc:docMk/>
            <pc:sldMk cId="739199532" sldId="315"/>
            <ac:spMk id="7" creationId="{1E0E5223-C0C4-678A-2309-7F4E35A5222B}"/>
          </ac:spMkLst>
        </pc:spChg>
        <pc:spChg chg="add mod">
          <ac:chgData name="Theoneste Murangira" userId="1020c2ec896d7adc" providerId="LiveId" clId="{A0D435D6-6169-48F7-9C8E-5ACEED7DE14B}" dt="2023-06-18T07:48:49.078" v="394" actId="207"/>
          <ac:spMkLst>
            <pc:docMk/>
            <pc:sldMk cId="739199532" sldId="315"/>
            <ac:spMk id="8" creationId="{761A2F8C-530F-1AC8-6303-4FA91EC230B2}"/>
          </ac:spMkLst>
        </pc:spChg>
        <pc:spChg chg="add mod">
          <ac:chgData name="Theoneste Murangira" userId="1020c2ec896d7adc" providerId="LiveId" clId="{A0D435D6-6169-48F7-9C8E-5ACEED7DE14B}" dt="2023-06-18T07:50:42.729" v="415" actId="20577"/>
          <ac:spMkLst>
            <pc:docMk/>
            <pc:sldMk cId="739199532" sldId="315"/>
            <ac:spMk id="9" creationId="{A7A961B1-10D1-B0B0-5AC8-4C4AD09CBB72}"/>
          </ac:spMkLst>
        </pc:spChg>
        <pc:spChg chg="add mod">
          <ac:chgData name="Theoneste Murangira" userId="1020c2ec896d7adc" providerId="LiveId" clId="{A0D435D6-6169-48F7-9C8E-5ACEED7DE14B}" dt="2023-06-18T07:51:55.646" v="444" actId="1076"/>
          <ac:spMkLst>
            <pc:docMk/>
            <pc:sldMk cId="739199532" sldId="315"/>
            <ac:spMk id="10" creationId="{63C97F69-567D-873C-5C51-652CA803A234}"/>
          </ac:spMkLst>
        </pc:spChg>
        <pc:spChg chg="add mod">
          <ac:chgData name="Theoneste Murangira" userId="1020c2ec896d7adc" providerId="LiveId" clId="{A0D435D6-6169-48F7-9C8E-5ACEED7DE14B}" dt="2023-06-18T07:51:39.790" v="442" actId="14100"/>
          <ac:spMkLst>
            <pc:docMk/>
            <pc:sldMk cId="739199532" sldId="315"/>
            <ac:spMk id="11" creationId="{F07E94F8-66FE-326E-ADC1-832254ECE000}"/>
          </ac:spMkLst>
        </pc:spChg>
        <pc:spChg chg="add">
          <ac:chgData name="Theoneste Murangira" userId="1020c2ec896d7adc" providerId="LiveId" clId="{A0D435D6-6169-48F7-9C8E-5ACEED7DE14B}" dt="2023-06-18T07:52:34.638" v="445" actId="11529"/>
          <ac:spMkLst>
            <pc:docMk/>
            <pc:sldMk cId="739199532" sldId="315"/>
            <ac:spMk id="12" creationId="{81A76797-6781-4504-3DB9-25C3294C50F3}"/>
          </ac:spMkLst>
        </pc:spChg>
      </pc:sldChg>
      <pc:sldChg chg="new del">
        <pc:chgData name="Theoneste Murangira" userId="1020c2ec896d7adc" providerId="LiveId" clId="{A0D435D6-6169-48F7-9C8E-5ACEED7DE14B}" dt="2023-06-18T07:24:31.724" v="169" actId="680"/>
        <pc:sldMkLst>
          <pc:docMk/>
          <pc:sldMk cId="1252794569" sldId="315"/>
        </pc:sldMkLst>
      </pc:sldChg>
      <pc:sldChg chg="delSp modSp add mod ord">
        <pc:chgData name="Theoneste Murangira" userId="1020c2ec896d7adc" providerId="LiveId" clId="{A0D435D6-6169-48F7-9C8E-5ACEED7DE14B}" dt="2023-06-18T07:54:51.232" v="454" actId="478"/>
        <pc:sldMkLst>
          <pc:docMk/>
          <pc:sldMk cId="3395920393" sldId="316"/>
        </pc:sldMkLst>
        <pc:spChg chg="del">
          <ac:chgData name="Theoneste Murangira" userId="1020c2ec896d7adc" providerId="LiveId" clId="{A0D435D6-6169-48F7-9C8E-5ACEED7DE14B}" dt="2023-06-18T07:54:48.111" v="453" actId="478"/>
          <ac:spMkLst>
            <pc:docMk/>
            <pc:sldMk cId="3395920393" sldId="316"/>
            <ac:spMk id="9" creationId="{A7A961B1-10D1-B0B0-5AC8-4C4AD09CBB72}"/>
          </ac:spMkLst>
        </pc:spChg>
        <pc:spChg chg="del">
          <ac:chgData name="Theoneste Murangira" userId="1020c2ec896d7adc" providerId="LiveId" clId="{A0D435D6-6169-48F7-9C8E-5ACEED7DE14B}" dt="2023-06-18T07:54:44.803" v="452" actId="478"/>
          <ac:spMkLst>
            <pc:docMk/>
            <pc:sldMk cId="3395920393" sldId="316"/>
            <ac:spMk id="10" creationId="{63C97F69-567D-873C-5C51-652CA803A234}"/>
          </ac:spMkLst>
        </pc:spChg>
        <pc:spChg chg="del mod">
          <ac:chgData name="Theoneste Murangira" userId="1020c2ec896d7adc" providerId="LiveId" clId="{A0D435D6-6169-48F7-9C8E-5ACEED7DE14B}" dt="2023-06-18T07:54:40.190" v="451" actId="478"/>
          <ac:spMkLst>
            <pc:docMk/>
            <pc:sldMk cId="3395920393" sldId="316"/>
            <ac:spMk id="11" creationId="{F07E94F8-66FE-326E-ADC1-832254ECE000}"/>
          </ac:spMkLst>
        </pc:spChg>
        <pc:spChg chg="del">
          <ac:chgData name="Theoneste Murangira" userId="1020c2ec896d7adc" providerId="LiveId" clId="{A0D435D6-6169-48F7-9C8E-5ACEED7DE14B}" dt="2023-06-18T07:54:51.232" v="454" actId="478"/>
          <ac:spMkLst>
            <pc:docMk/>
            <pc:sldMk cId="3395920393" sldId="316"/>
            <ac:spMk id="12" creationId="{81A76797-6781-4504-3DB9-25C3294C50F3}"/>
          </ac:spMkLst>
        </pc:spChg>
      </pc:sldChg>
      <pc:sldChg chg="addSp delSp modSp new mod">
        <pc:chgData name="Theoneste Murangira" userId="1020c2ec896d7adc" providerId="LiveId" clId="{A0D435D6-6169-48F7-9C8E-5ACEED7DE14B}" dt="2023-06-18T08:08:22.656" v="693" actId="14100"/>
        <pc:sldMkLst>
          <pc:docMk/>
          <pc:sldMk cId="3589136932" sldId="317"/>
        </pc:sldMkLst>
        <pc:spChg chg="del">
          <ac:chgData name="Theoneste Murangira" userId="1020c2ec896d7adc" providerId="LiveId" clId="{A0D435D6-6169-48F7-9C8E-5ACEED7DE14B}" dt="2023-06-18T07:56:20.063" v="456" actId="478"/>
          <ac:spMkLst>
            <pc:docMk/>
            <pc:sldMk cId="3589136932" sldId="317"/>
            <ac:spMk id="3" creationId="{838380FC-CBEB-8D7A-59D7-A56CCE94B8C5}"/>
          </ac:spMkLst>
        </pc:spChg>
        <pc:spChg chg="add mod">
          <ac:chgData name="Theoneste Murangira" userId="1020c2ec896d7adc" providerId="LiveId" clId="{A0D435D6-6169-48F7-9C8E-5ACEED7DE14B}" dt="2023-06-18T08:02:40.501" v="579" actId="207"/>
          <ac:spMkLst>
            <pc:docMk/>
            <pc:sldMk cId="3589136932" sldId="317"/>
            <ac:spMk id="5" creationId="{C889DF15-3A6D-FD0E-FE5F-A7076AD46937}"/>
          </ac:spMkLst>
        </pc:spChg>
        <pc:spChg chg="add mod">
          <ac:chgData name="Theoneste Murangira" userId="1020c2ec896d7adc" providerId="LiveId" clId="{A0D435D6-6169-48F7-9C8E-5ACEED7DE14B}" dt="2023-06-18T07:58:29.005" v="483" actId="255"/>
          <ac:spMkLst>
            <pc:docMk/>
            <pc:sldMk cId="3589136932" sldId="317"/>
            <ac:spMk id="6" creationId="{39316FAE-2764-B637-C618-71F7D94B87B9}"/>
          </ac:spMkLst>
        </pc:spChg>
        <pc:spChg chg="add mod">
          <ac:chgData name="Theoneste Murangira" userId="1020c2ec896d7adc" providerId="LiveId" clId="{A0D435D6-6169-48F7-9C8E-5ACEED7DE14B}" dt="2023-06-18T07:59:08.786" v="496" actId="14100"/>
          <ac:spMkLst>
            <pc:docMk/>
            <pc:sldMk cId="3589136932" sldId="317"/>
            <ac:spMk id="7" creationId="{C9D4736E-59B5-11ED-585B-8CE917F985D5}"/>
          </ac:spMkLst>
        </pc:spChg>
        <pc:spChg chg="add mod">
          <ac:chgData name="Theoneste Murangira" userId="1020c2ec896d7adc" providerId="LiveId" clId="{A0D435D6-6169-48F7-9C8E-5ACEED7DE14B}" dt="2023-06-18T07:59:41.149" v="513" actId="14100"/>
          <ac:spMkLst>
            <pc:docMk/>
            <pc:sldMk cId="3589136932" sldId="317"/>
            <ac:spMk id="8" creationId="{65CFF74D-1565-EE9A-2830-2CD03B3AF105}"/>
          </ac:spMkLst>
        </pc:spChg>
        <pc:spChg chg="add mod">
          <ac:chgData name="Theoneste Murangira" userId="1020c2ec896d7adc" providerId="LiveId" clId="{A0D435D6-6169-48F7-9C8E-5ACEED7DE14B}" dt="2023-06-18T08:00:20.683" v="536" actId="14100"/>
          <ac:spMkLst>
            <pc:docMk/>
            <pc:sldMk cId="3589136932" sldId="317"/>
            <ac:spMk id="9" creationId="{C99A9976-A868-E1D3-66FB-38A09C1ECA96}"/>
          </ac:spMkLst>
        </pc:spChg>
        <pc:spChg chg="add">
          <ac:chgData name="Theoneste Murangira" userId="1020c2ec896d7adc" providerId="LiveId" clId="{A0D435D6-6169-48F7-9C8E-5ACEED7DE14B}" dt="2023-06-18T08:00:37.976" v="537" actId="11529"/>
          <ac:spMkLst>
            <pc:docMk/>
            <pc:sldMk cId="3589136932" sldId="317"/>
            <ac:spMk id="10" creationId="{D0D88FAA-E264-E64C-B93F-D9EF3A1B4562}"/>
          </ac:spMkLst>
        </pc:spChg>
        <pc:spChg chg="add mod">
          <ac:chgData name="Theoneste Murangira" userId="1020c2ec896d7adc" providerId="LiveId" clId="{A0D435D6-6169-48F7-9C8E-5ACEED7DE14B}" dt="2023-06-18T08:01:06.264" v="539" actId="14100"/>
          <ac:spMkLst>
            <pc:docMk/>
            <pc:sldMk cId="3589136932" sldId="317"/>
            <ac:spMk id="11" creationId="{D8A78A52-F9B3-8F9B-C399-DB201F115CE3}"/>
          </ac:spMkLst>
        </pc:spChg>
        <pc:spChg chg="add mod">
          <ac:chgData name="Theoneste Murangira" userId="1020c2ec896d7adc" providerId="LiveId" clId="{A0D435D6-6169-48F7-9C8E-5ACEED7DE14B}" dt="2023-06-18T08:01:27.714" v="548" actId="14100"/>
          <ac:spMkLst>
            <pc:docMk/>
            <pc:sldMk cId="3589136932" sldId="317"/>
            <ac:spMk id="12" creationId="{4A468E4E-76C0-C763-73FB-C2DB4F5BA0A2}"/>
          </ac:spMkLst>
        </pc:spChg>
        <pc:spChg chg="add mod">
          <ac:chgData name="Theoneste Murangira" userId="1020c2ec896d7adc" providerId="LiveId" clId="{A0D435D6-6169-48F7-9C8E-5ACEED7DE14B}" dt="2023-06-18T08:08:22.656" v="693" actId="14100"/>
          <ac:spMkLst>
            <pc:docMk/>
            <pc:sldMk cId="3589136932" sldId="317"/>
            <ac:spMk id="13" creationId="{D18A1546-CC20-FCAC-B28A-B81940D7895C}"/>
          </ac:spMkLst>
        </pc:spChg>
      </pc:sldChg>
      <pc:sldChg chg="addSp delSp modSp new mod">
        <pc:chgData name="Theoneste Murangira" userId="1020c2ec896d7adc" providerId="LiveId" clId="{A0D435D6-6169-48F7-9C8E-5ACEED7DE14B}" dt="2023-06-18T08:31:08.919" v="813" actId="20577"/>
        <pc:sldMkLst>
          <pc:docMk/>
          <pc:sldMk cId="2579903666" sldId="318"/>
        </pc:sldMkLst>
        <pc:spChg chg="del">
          <ac:chgData name="Theoneste Murangira" userId="1020c2ec896d7adc" providerId="LiveId" clId="{A0D435D6-6169-48F7-9C8E-5ACEED7DE14B}" dt="2023-06-18T08:26:33.345" v="720" actId="478"/>
          <ac:spMkLst>
            <pc:docMk/>
            <pc:sldMk cId="2579903666" sldId="318"/>
            <ac:spMk id="3" creationId="{16CD619C-B18B-82AF-607A-A55B99A2352C}"/>
          </ac:spMkLst>
        </pc:spChg>
        <pc:spChg chg="add mod">
          <ac:chgData name="Theoneste Murangira" userId="1020c2ec896d7adc" providerId="LiveId" clId="{A0D435D6-6169-48F7-9C8E-5ACEED7DE14B}" dt="2023-06-18T08:26:09.616" v="718" actId="207"/>
          <ac:spMkLst>
            <pc:docMk/>
            <pc:sldMk cId="2579903666" sldId="318"/>
            <ac:spMk id="5" creationId="{DAAB8658-803A-0AB7-A69F-E8536D3D19C0}"/>
          </ac:spMkLst>
        </pc:spChg>
        <pc:spChg chg="add del mod">
          <ac:chgData name="Theoneste Murangira" userId="1020c2ec896d7adc" providerId="LiveId" clId="{A0D435D6-6169-48F7-9C8E-5ACEED7DE14B}" dt="2023-06-18T08:26:33.351" v="722"/>
          <ac:spMkLst>
            <pc:docMk/>
            <pc:sldMk cId="2579903666" sldId="318"/>
            <ac:spMk id="6" creationId="{CF320C75-7B2C-BFAC-9777-9B850F2CFE63}"/>
          </ac:spMkLst>
        </pc:spChg>
        <pc:spChg chg="add mod">
          <ac:chgData name="Theoneste Murangira" userId="1020c2ec896d7adc" providerId="LiveId" clId="{A0D435D6-6169-48F7-9C8E-5ACEED7DE14B}" dt="2023-06-18T08:28:34.137" v="779" actId="255"/>
          <ac:spMkLst>
            <pc:docMk/>
            <pc:sldMk cId="2579903666" sldId="318"/>
            <ac:spMk id="7" creationId="{6DD06E0C-0BF1-F7A2-346F-3E9157A1C600}"/>
          </ac:spMkLst>
        </pc:spChg>
        <pc:spChg chg="add mod">
          <ac:chgData name="Theoneste Murangira" userId="1020c2ec896d7adc" providerId="LiveId" clId="{A0D435D6-6169-48F7-9C8E-5ACEED7DE14B}" dt="2023-06-18T08:31:08.919" v="813" actId="20577"/>
          <ac:spMkLst>
            <pc:docMk/>
            <pc:sldMk cId="2579903666" sldId="318"/>
            <ac:spMk id="8" creationId="{1A175918-1634-D8E2-0FC7-2CC0CC8461FD}"/>
          </ac:spMkLst>
        </pc:spChg>
        <pc:spChg chg="add">
          <ac:chgData name="Theoneste Murangira" userId="1020c2ec896d7adc" providerId="LiveId" clId="{A0D435D6-6169-48F7-9C8E-5ACEED7DE14B}" dt="2023-06-18T08:29:56.012" v="788" actId="11529"/>
          <ac:spMkLst>
            <pc:docMk/>
            <pc:sldMk cId="2579903666" sldId="318"/>
            <ac:spMk id="9" creationId="{42367A4B-CFE0-C372-BC6B-487A84CD9802}"/>
          </ac:spMkLst>
        </pc:spChg>
        <pc:spChg chg="add mod">
          <ac:chgData name="Theoneste Murangira" userId="1020c2ec896d7adc" providerId="LiveId" clId="{A0D435D6-6169-48F7-9C8E-5ACEED7DE14B}" dt="2023-06-18T08:30:28.654" v="803" actId="1076"/>
          <ac:spMkLst>
            <pc:docMk/>
            <pc:sldMk cId="2579903666" sldId="318"/>
            <ac:spMk id="10" creationId="{3D43570F-F6F1-B470-69B1-8A08D51AC23C}"/>
          </ac:spMkLst>
        </pc:spChg>
      </pc:sldChg>
      <pc:sldChg chg="addSp delSp modSp new mod">
        <pc:chgData name="Theoneste Murangira" userId="1020c2ec896d7adc" providerId="LiveId" clId="{A0D435D6-6169-48F7-9C8E-5ACEED7DE14B}" dt="2023-06-18T08:42:59.827" v="884" actId="478"/>
        <pc:sldMkLst>
          <pc:docMk/>
          <pc:sldMk cId="354830660" sldId="319"/>
        </pc:sldMkLst>
        <pc:spChg chg="del">
          <ac:chgData name="Theoneste Murangira" userId="1020c2ec896d7adc" providerId="LiveId" clId="{A0D435D6-6169-48F7-9C8E-5ACEED7DE14B}" dt="2023-06-18T08:42:59.827" v="884" actId="478"/>
          <ac:spMkLst>
            <pc:docMk/>
            <pc:sldMk cId="354830660" sldId="319"/>
            <ac:spMk id="3" creationId="{589E9E0D-BC96-FF68-FE83-0406C6130775}"/>
          </ac:spMkLst>
        </pc:spChg>
        <pc:spChg chg="add mod">
          <ac:chgData name="Theoneste Murangira" userId="1020c2ec896d7adc" providerId="LiveId" clId="{A0D435D6-6169-48F7-9C8E-5ACEED7DE14B}" dt="2023-06-18T08:35:34.852" v="831" actId="207"/>
          <ac:spMkLst>
            <pc:docMk/>
            <pc:sldMk cId="354830660" sldId="319"/>
            <ac:spMk id="5" creationId="{6072D94B-1D13-BADD-F26B-7801A70AFA8F}"/>
          </ac:spMkLst>
        </pc:spChg>
        <pc:spChg chg="add mod">
          <ac:chgData name="Theoneste Murangira" userId="1020c2ec896d7adc" providerId="LiveId" clId="{A0D435D6-6169-48F7-9C8E-5ACEED7DE14B}" dt="2023-06-18T08:36:38.216" v="834" actId="255"/>
          <ac:spMkLst>
            <pc:docMk/>
            <pc:sldMk cId="354830660" sldId="319"/>
            <ac:spMk id="6" creationId="{04636177-87F9-8CCE-6AAF-56A04677B185}"/>
          </ac:spMkLst>
        </pc:spChg>
        <pc:spChg chg="add mod">
          <ac:chgData name="Theoneste Murangira" userId="1020c2ec896d7adc" providerId="LiveId" clId="{A0D435D6-6169-48F7-9C8E-5ACEED7DE14B}" dt="2023-06-18T08:42:12.495" v="883" actId="255"/>
          <ac:spMkLst>
            <pc:docMk/>
            <pc:sldMk cId="354830660" sldId="319"/>
            <ac:spMk id="7" creationId="{5F6D2517-CD05-1095-E8B4-1C5278C62C0F}"/>
          </ac:spMkLst>
        </pc:spChg>
        <pc:spChg chg="add mod">
          <ac:chgData name="Theoneste Murangira" userId="1020c2ec896d7adc" providerId="LiveId" clId="{A0D435D6-6169-48F7-9C8E-5ACEED7DE14B}" dt="2023-06-18T08:41:48.166" v="881" actId="255"/>
          <ac:spMkLst>
            <pc:docMk/>
            <pc:sldMk cId="354830660" sldId="319"/>
            <ac:spMk id="8" creationId="{73F64434-FC7F-C8CA-ED7F-FAACBD1F2F2B}"/>
          </ac:spMkLst>
        </pc:spChg>
        <pc:spChg chg="add mod">
          <ac:chgData name="Theoneste Murangira" userId="1020c2ec896d7adc" providerId="LiveId" clId="{A0D435D6-6169-48F7-9C8E-5ACEED7DE14B}" dt="2023-06-18T08:38:25.855" v="869" actId="14100"/>
          <ac:spMkLst>
            <pc:docMk/>
            <pc:sldMk cId="354830660" sldId="319"/>
            <ac:spMk id="9" creationId="{B11BD711-368A-1956-5FD4-41582F2AE3D4}"/>
          </ac:spMkLst>
        </pc:spChg>
        <pc:spChg chg="add del mod">
          <ac:chgData name="Theoneste Murangira" userId="1020c2ec896d7adc" providerId="LiveId" clId="{A0D435D6-6169-48F7-9C8E-5ACEED7DE14B}" dt="2023-06-18T08:39:57.191" v="875" actId="478"/>
          <ac:spMkLst>
            <pc:docMk/>
            <pc:sldMk cId="354830660" sldId="319"/>
            <ac:spMk id="10" creationId="{477F616A-60C4-2E0B-3BE8-13F2CD723988}"/>
          </ac:spMkLst>
        </pc:spChg>
        <pc:spChg chg="add mod">
          <ac:chgData name="Theoneste Murangira" userId="1020c2ec896d7adc" providerId="LiveId" clId="{A0D435D6-6169-48F7-9C8E-5ACEED7DE14B}" dt="2023-06-18T08:41:21.363" v="879" actId="1076"/>
          <ac:spMkLst>
            <pc:docMk/>
            <pc:sldMk cId="354830660" sldId="319"/>
            <ac:spMk id="11" creationId="{5E517C84-128B-241D-B824-1C5917EFE037}"/>
          </ac:spMkLst>
        </pc:spChg>
      </pc:sldChg>
      <pc:sldChg chg="addSp delSp modSp new mod">
        <pc:chgData name="Theoneste Murangira" userId="1020c2ec896d7adc" providerId="LiveId" clId="{A0D435D6-6169-48F7-9C8E-5ACEED7DE14B}" dt="2023-06-19T05:51:32.334" v="1536" actId="20577"/>
        <pc:sldMkLst>
          <pc:docMk/>
          <pc:sldMk cId="1456653458" sldId="320"/>
        </pc:sldMkLst>
        <pc:spChg chg="del">
          <ac:chgData name="Theoneste Murangira" userId="1020c2ec896d7adc" providerId="LiveId" clId="{A0D435D6-6169-48F7-9C8E-5ACEED7DE14B}" dt="2023-06-18T08:51:38.862" v="886" actId="931"/>
          <ac:spMkLst>
            <pc:docMk/>
            <pc:sldMk cId="1456653458" sldId="320"/>
            <ac:spMk id="2" creationId="{E1FB5277-D344-B3B4-23BC-9E70101E7666}"/>
          </ac:spMkLst>
        </pc:spChg>
        <pc:spChg chg="mod">
          <ac:chgData name="Theoneste Murangira" userId="1020c2ec896d7adc" providerId="LiveId" clId="{A0D435D6-6169-48F7-9C8E-5ACEED7DE14B}" dt="2023-06-18T18:51:51.275" v="1227" actId="1076"/>
          <ac:spMkLst>
            <pc:docMk/>
            <pc:sldMk cId="1456653458" sldId="320"/>
            <ac:spMk id="3" creationId="{DE1EFDF8-BA50-FF9A-3D09-9D5951C981DD}"/>
          </ac:spMkLst>
        </pc:spChg>
        <pc:spChg chg="mod">
          <ac:chgData name="Theoneste Murangira" userId="1020c2ec896d7adc" providerId="LiveId" clId="{A0D435D6-6169-48F7-9C8E-5ACEED7DE14B}" dt="2023-06-18T18:52:07.205" v="1228" actId="1076"/>
          <ac:spMkLst>
            <pc:docMk/>
            <pc:sldMk cId="1456653458" sldId="320"/>
            <ac:spMk id="4" creationId="{33E540B5-69C8-A4ED-0A24-D8D577BA84E2}"/>
          </ac:spMkLst>
        </pc:spChg>
        <pc:spChg chg="del">
          <ac:chgData name="Theoneste Murangira" userId="1020c2ec896d7adc" providerId="LiveId" clId="{A0D435D6-6169-48F7-9C8E-5ACEED7DE14B}" dt="2023-06-18T18:44:49.835" v="932" actId="478"/>
          <ac:spMkLst>
            <pc:docMk/>
            <pc:sldMk cId="1456653458" sldId="320"/>
            <ac:spMk id="6" creationId="{EBEA94A9-7EBC-93B8-AB6E-B1FA3DEFA7D5}"/>
          </ac:spMkLst>
        </pc:spChg>
        <pc:spChg chg="mod">
          <ac:chgData name="Theoneste Murangira" userId="1020c2ec896d7adc" providerId="LiveId" clId="{A0D435D6-6169-48F7-9C8E-5ACEED7DE14B}" dt="2023-06-18T08:51:42.580" v="888" actId="962"/>
          <ac:spMkLst>
            <pc:docMk/>
            <pc:sldMk cId="1456653458" sldId="320"/>
            <ac:spMk id="7" creationId="{FEF0F9C8-A425-CCAA-92A6-7B4D36257080}"/>
          </ac:spMkLst>
        </pc:spChg>
        <pc:spChg chg="add del mod">
          <ac:chgData name="Theoneste Murangira" userId="1020c2ec896d7adc" providerId="LiveId" clId="{A0D435D6-6169-48F7-9C8E-5ACEED7DE14B}" dt="2023-06-18T08:52:19.175" v="891" actId="478"/>
          <ac:spMkLst>
            <pc:docMk/>
            <pc:sldMk cId="1456653458" sldId="320"/>
            <ac:spMk id="10" creationId="{F5FA4D56-97E5-3604-3FAC-A2CF1E12210B}"/>
          </ac:spMkLst>
        </pc:spChg>
        <pc:spChg chg="add del mod">
          <ac:chgData name="Theoneste Murangira" userId="1020c2ec896d7adc" providerId="LiveId" clId="{A0D435D6-6169-48F7-9C8E-5ACEED7DE14B}" dt="2023-06-18T18:47:24.047" v="933" actId="931"/>
          <ac:spMkLst>
            <pc:docMk/>
            <pc:sldMk cId="1456653458" sldId="320"/>
            <ac:spMk id="12" creationId="{6549672E-5B3F-4BF0-0DE8-BC73D5D9457D}"/>
          </ac:spMkLst>
        </pc:spChg>
        <pc:spChg chg="add mod">
          <ac:chgData name="Theoneste Murangira" userId="1020c2ec896d7adc" providerId="LiveId" clId="{A0D435D6-6169-48F7-9C8E-5ACEED7DE14B}" dt="2023-06-18T18:55:37.019" v="1258" actId="207"/>
          <ac:spMkLst>
            <pc:docMk/>
            <pc:sldMk cId="1456653458" sldId="320"/>
            <ac:spMk id="15" creationId="{ECD03C3D-F59B-E5F7-08C2-AD5287820B90}"/>
          </ac:spMkLst>
        </pc:spChg>
        <pc:spChg chg="add mod">
          <ac:chgData name="Theoneste Murangira" userId="1020c2ec896d7adc" providerId="LiveId" clId="{A0D435D6-6169-48F7-9C8E-5ACEED7DE14B}" dt="2023-06-18T19:01:29.494" v="1533" actId="14100"/>
          <ac:spMkLst>
            <pc:docMk/>
            <pc:sldMk cId="1456653458" sldId="320"/>
            <ac:spMk id="16" creationId="{A391F255-6FB9-30C5-A127-FA15861CFBC5}"/>
          </ac:spMkLst>
        </pc:spChg>
        <pc:spChg chg="add mod">
          <ac:chgData name="Theoneste Murangira" userId="1020c2ec896d7adc" providerId="LiveId" clId="{A0D435D6-6169-48F7-9C8E-5ACEED7DE14B}" dt="2023-06-19T05:51:32.334" v="1536" actId="20577"/>
          <ac:spMkLst>
            <pc:docMk/>
            <pc:sldMk cId="1456653458" sldId="320"/>
            <ac:spMk id="17" creationId="{FF845AEE-0977-0811-8C98-63613CACEA3B}"/>
          </ac:spMkLst>
        </pc:spChg>
        <pc:picChg chg="add del mod">
          <ac:chgData name="Theoneste Murangira" userId="1020c2ec896d7adc" providerId="LiveId" clId="{A0D435D6-6169-48F7-9C8E-5ACEED7DE14B}" dt="2023-06-18T08:52:19.175" v="891" actId="478"/>
          <ac:picMkLst>
            <pc:docMk/>
            <pc:sldMk cId="1456653458" sldId="320"/>
            <ac:picMk id="9" creationId="{6D05FBD4-5A7F-1ABF-F744-6F07628E3002}"/>
          </ac:picMkLst>
        </pc:picChg>
        <pc:picChg chg="add mod">
          <ac:chgData name="Theoneste Murangira" userId="1020c2ec896d7adc" providerId="LiveId" clId="{A0D435D6-6169-48F7-9C8E-5ACEED7DE14B}" dt="2023-06-19T05:51:07.141" v="1535" actId="1076"/>
          <ac:picMkLst>
            <pc:docMk/>
            <pc:sldMk cId="1456653458" sldId="320"/>
            <ac:picMk id="14" creationId="{7679E19C-DB6B-E450-BDD7-E98F2A03C980}"/>
          </ac:picMkLst>
        </pc:picChg>
      </pc:sldChg>
      <pc:sldChg chg="addSp delSp modSp add mod ord">
        <pc:chgData name="Theoneste Murangira" userId="1020c2ec896d7adc" providerId="LiveId" clId="{A0D435D6-6169-48F7-9C8E-5ACEED7DE14B}" dt="2023-06-19T06:05:02.026" v="1684" actId="20577"/>
        <pc:sldMkLst>
          <pc:docMk/>
          <pc:sldMk cId="3891393923" sldId="321"/>
        </pc:sldMkLst>
        <pc:spChg chg="add del mod">
          <ac:chgData name="Theoneste Murangira" userId="1020c2ec896d7adc" providerId="LiveId" clId="{A0D435D6-6169-48F7-9C8E-5ACEED7DE14B}" dt="2023-06-19T06:04:18.240" v="1667" actId="478"/>
          <ac:spMkLst>
            <pc:docMk/>
            <pc:sldMk cId="3891393923" sldId="321"/>
            <ac:spMk id="3" creationId="{588F4A6A-DC70-1BCB-900B-B7D516E144E1}"/>
          </ac:spMkLst>
        </pc:spChg>
        <pc:spChg chg="mod">
          <ac:chgData name="Theoneste Murangira" userId="1020c2ec896d7adc" providerId="LiveId" clId="{A0D435D6-6169-48F7-9C8E-5ACEED7DE14B}" dt="2023-06-19T06:01:46.760" v="1618" actId="1076"/>
          <ac:spMkLst>
            <pc:docMk/>
            <pc:sldMk cId="3891393923" sldId="321"/>
            <ac:spMk id="6" creationId="{2E599FEF-7C4D-9895-43AD-5E37FFBA569D}"/>
          </ac:spMkLst>
        </pc:spChg>
        <pc:spChg chg="add mod">
          <ac:chgData name="Theoneste Murangira" userId="1020c2ec896d7adc" providerId="LiveId" clId="{A0D435D6-6169-48F7-9C8E-5ACEED7DE14B}" dt="2023-06-19T06:03:52.172" v="1664" actId="20577"/>
          <ac:spMkLst>
            <pc:docMk/>
            <pc:sldMk cId="3891393923" sldId="321"/>
            <ac:spMk id="7" creationId="{8280D6C6-CBBD-2936-444C-4E21B774925D}"/>
          </ac:spMkLst>
        </pc:spChg>
        <pc:spChg chg="add mod">
          <ac:chgData name="Theoneste Murangira" userId="1020c2ec896d7adc" providerId="LiveId" clId="{A0D435D6-6169-48F7-9C8E-5ACEED7DE14B}" dt="2023-06-19T06:05:02.026" v="1684" actId="20577"/>
          <ac:spMkLst>
            <pc:docMk/>
            <pc:sldMk cId="3891393923" sldId="321"/>
            <ac:spMk id="9" creationId="{A0885732-059A-5324-511D-66C472F42816}"/>
          </ac:spMkLst>
        </pc:spChg>
      </pc:sldChg>
      <pc:sldChg chg="addSp delSp modSp new mod">
        <pc:chgData name="Theoneste Murangira" userId="1020c2ec896d7adc" providerId="LiveId" clId="{A0D435D6-6169-48F7-9C8E-5ACEED7DE14B}" dt="2023-06-19T06:50:40.983" v="1796" actId="14100"/>
        <pc:sldMkLst>
          <pc:docMk/>
          <pc:sldMk cId="1388695923" sldId="322"/>
        </pc:sldMkLst>
        <pc:spChg chg="del">
          <ac:chgData name="Theoneste Murangira" userId="1020c2ec896d7adc" providerId="LiveId" clId="{A0D435D6-6169-48F7-9C8E-5ACEED7DE14B}" dt="2023-06-19T05:58:53.072" v="1554" actId="478"/>
          <ac:spMkLst>
            <pc:docMk/>
            <pc:sldMk cId="1388695923" sldId="322"/>
            <ac:spMk id="3" creationId="{82FBFB2C-5CB2-ED7F-6A18-892711250ABD}"/>
          </ac:spMkLst>
        </pc:spChg>
        <pc:spChg chg="add del mod">
          <ac:chgData name="Theoneste Murangira" userId="1020c2ec896d7adc" providerId="LiveId" clId="{A0D435D6-6169-48F7-9C8E-5ACEED7DE14B}" dt="2023-06-19T05:58:32.383" v="1546" actId="767"/>
          <ac:spMkLst>
            <pc:docMk/>
            <pc:sldMk cId="1388695923" sldId="322"/>
            <ac:spMk id="7" creationId="{300FDB87-4458-C3F8-A0BF-7CBDFBBA0695}"/>
          </ac:spMkLst>
        </pc:spChg>
        <pc:spChg chg="add mod">
          <ac:chgData name="Theoneste Murangira" userId="1020c2ec896d7adc" providerId="LiveId" clId="{A0D435D6-6169-48F7-9C8E-5ACEED7DE14B}" dt="2023-06-19T06:41:28.466" v="1756" actId="207"/>
          <ac:spMkLst>
            <pc:docMk/>
            <pc:sldMk cId="1388695923" sldId="322"/>
            <ac:spMk id="8" creationId="{546A00E8-6B75-1406-5B79-607C75B4D4EB}"/>
          </ac:spMkLst>
        </pc:spChg>
        <pc:spChg chg="add mod">
          <ac:chgData name="Theoneste Murangira" userId="1020c2ec896d7adc" providerId="LiveId" clId="{A0D435D6-6169-48F7-9C8E-5ACEED7DE14B}" dt="2023-06-19T06:49:28.680" v="1788" actId="207"/>
          <ac:spMkLst>
            <pc:docMk/>
            <pc:sldMk cId="1388695923" sldId="322"/>
            <ac:spMk id="9" creationId="{6EBD4ABD-580F-728A-562D-D893AF35C6D9}"/>
          </ac:spMkLst>
        </pc:spChg>
        <pc:spChg chg="add mod">
          <ac:chgData name="Theoneste Murangira" userId="1020c2ec896d7adc" providerId="LiveId" clId="{A0D435D6-6169-48F7-9C8E-5ACEED7DE14B}" dt="2023-06-19T06:49:47.715" v="1790" actId="207"/>
          <ac:spMkLst>
            <pc:docMk/>
            <pc:sldMk cId="1388695923" sldId="322"/>
            <ac:spMk id="10" creationId="{C7695C68-CFE2-8D7C-72EB-305E98EF1EA8}"/>
          </ac:spMkLst>
        </pc:spChg>
        <pc:spChg chg="add mod">
          <ac:chgData name="Theoneste Murangira" userId="1020c2ec896d7adc" providerId="LiveId" clId="{A0D435D6-6169-48F7-9C8E-5ACEED7DE14B}" dt="2023-06-19T06:50:40.983" v="1796" actId="14100"/>
          <ac:spMkLst>
            <pc:docMk/>
            <pc:sldMk cId="1388695923" sldId="322"/>
            <ac:spMk id="11" creationId="{0BF6DA4A-F34F-0187-EEB2-44311F0B7157}"/>
          </ac:spMkLst>
        </pc:spChg>
        <pc:picChg chg="add del mod ord">
          <ac:chgData name="Theoneste Murangira" userId="1020c2ec896d7adc" providerId="LiveId" clId="{A0D435D6-6169-48F7-9C8E-5ACEED7DE14B}" dt="2023-06-19T05:58:43.114" v="1553" actId="931"/>
          <ac:picMkLst>
            <pc:docMk/>
            <pc:sldMk cId="1388695923" sldId="322"/>
            <ac:picMk id="6" creationId="{37EC0EE3-DA6C-E7FA-29DD-297D80920D5D}"/>
          </ac:picMkLst>
        </pc:picChg>
      </pc:sldChg>
      <pc:sldChg chg="addSp delSp modSp add mod">
        <pc:chgData name="Theoneste Murangira" userId="1020c2ec896d7adc" providerId="LiveId" clId="{A0D435D6-6169-48F7-9C8E-5ACEED7DE14B}" dt="2023-06-19T06:56:30.129" v="1859" actId="3680"/>
        <pc:sldMkLst>
          <pc:docMk/>
          <pc:sldMk cId="4114330814" sldId="323"/>
        </pc:sldMkLst>
        <pc:spChg chg="add mod">
          <ac:chgData name="Theoneste Murangira" userId="1020c2ec896d7adc" providerId="LiveId" clId="{A0D435D6-6169-48F7-9C8E-5ACEED7DE14B}" dt="2023-06-19T06:53:02.103" v="1823" actId="1076"/>
          <ac:spMkLst>
            <pc:docMk/>
            <pc:sldMk cId="4114330814" sldId="323"/>
            <ac:spMk id="3" creationId="{56B924EE-8EB8-BC29-E640-EE0608191666}"/>
          </ac:spMkLst>
        </pc:spChg>
        <pc:spChg chg="add mod">
          <ac:chgData name="Theoneste Murangira" userId="1020c2ec896d7adc" providerId="LiveId" clId="{A0D435D6-6169-48F7-9C8E-5ACEED7DE14B}" dt="2023-06-19T06:53:55.563" v="1851" actId="14100"/>
          <ac:spMkLst>
            <pc:docMk/>
            <pc:sldMk cId="4114330814" sldId="323"/>
            <ac:spMk id="5" creationId="{C1DB176E-B441-60C6-5CD2-C86B048BCB95}"/>
          </ac:spMkLst>
        </pc:spChg>
        <pc:graphicFrameChg chg="add del mod modGraphic">
          <ac:chgData name="Theoneste Murangira" userId="1020c2ec896d7adc" providerId="LiveId" clId="{A0D435D6-6169-48F7-9C8E-5ACEED7DE14B}" dt="2023-06-19T06:56:30.129" v="1859" actId="3680"/>
          <ac:graphicFrameMkLst>
            <pc:docMk/>
            <pc:sldMk cId="4114330814" sldId="323"/>
            <ac:graphicFrameMk id="6" creationId="{6245E265-7DEF-6F49-2BC6-89D3DF6494C0}"/>
          </ac:graphicFrameMkLst>
        </pc:graphicFrameChg>
      </pc:sldChg>
      <pc:sldMasterChg chg="addSp delSp modSp mod modSldLayout">
        <pc:chgData name="Theoneste Murangira" userId="1020c2ec896d7adc" providerId="LiveId" clId="{A0D435D6-6169-48F7-9C8E-5ACEED7DE14B}" dt="2023-06-18T06:05:31.067" v="13" actId="478"/>
        <pc:sldMasterMkLst>
          <pc:docMk/>
          <pc:sldMasterMk cId="1999713800" sldId="2147483696"/>
        </pc:sldMasterMkLst>
        <pc:spChg chg="del">
          <ac:chgData name="Theoneste Murangira" userId="1020c2ec896d7adc" providerId="LiveId" clId="{A0D435D6-6169-48F7-9C8E-5ACEED7DE14B}" dt="2023-06-18T06:02:44.358" v="12" actId="478"/>
          <ac:spMkLst>
            <pc:docMk/>
            <pc:sldMasterMk cId="1999713800" sldId="2147483696"/>
            <ac:spMk id="5" creationId="{609AC0B6-4CC4-4E41-8A4D-F62E17F28576}"/>
          </ac:spMkLst>
        </pc:spChg>
        <pc:picChg chg="add mod">
          <ac:chgData name="Theoneste Murangira" userId="1020c2ec896d7adc" providerId="LiveId" clId="{A0D435D6-6169-48F7-9C8E-5ACEED7DE14B}" dt="2023-06-18T06:01:57.207" v="11" actId="1076"/>
          <ac:picMkLst>
            <pc:docMk/>
            <pc:sldMasterMk cId="1999713800" sldId="2147483696"/>
            <ac:picMk id="8" creationId="{D9E456D1-5A66-2857-2746-BC38531F8335}"/>
          </ac:picMkLst>
        </pc:picChg>
        <pc:sldLayoutChg chg="addSp delSp modSp mod">
          <pc:chgData name="Theoneste Murangira" userId="1020c2ec896d7adc" providerId="LiveId" clId="{A0D435D6-6169-48F7-9C8E-5ACEED7DE14B}" dt="2023-06-18T06:01:10.156" v="4" actId="478"/>
          <pc:sldLayoutMkLst>
            <pc:docMk/>
            <pc:sldMasterMk cId="1999713800" sldId="2147483696"/>
            <pc:sldLayoutMk cId="2137906023" sldId="2147483708"/>
          </pc:sldLayoutMkLst>
          <pc:picChg chg="add del mod">
            <ac:chgData name="Theoneste Murangira" userId="1020c2ec896d7adc" providerId="LiveId" clId="{A0D435D6-6169-48F7-9C8E-5ACEED7DE14B}" dt="2023-06-18T06:01:10.156" v="4" actId="478"/>
            <ac:picMkLst>
              <pc:docMk/>
              <pc:sldMasterMk cId="1999713800" sldId="2147483696"/>
              <pc:sldLayoutMk cId="2137906023" sldId="2147483708"/>
              <ac:picMk id="5" creationId="{586E71AE-8CD1-CAFA-AC2E-13E4BD248EC0}"/>
            </ac:picMkLst>
          </pc:picChg>
        </pc:sldLayoutChg>
        <pc:sldLayoutChg chg="delSp mod">
          <pc:chgData name="Theoneste Murangira" userId="1020c2ec896d7adc" providerId="LiveId" clId="{A0D435D6-6169-48F7-9C8E-5ACEED7DE14B}" dt="2023-06-18T06:05:31.067" v="13" actId="478"/>
          <pc:sldLayoutMkLst>
            <pc:docMk/>
            <pc:sldMasterMk cId="1999713800" sldId="2147483696"/>
            <pc:sldLayoutMk cId="122263523" sldId="2147483712"/>
          </pc:sldLayoutMkLst>
          <pc:spChg chg="del">
            <ac:chgData name="Theoneste Murangira" userId="1020c2ec896d7adc" providerId="LiveId" clId="{A0D435D6-6169-48F7-9C8E-5ACEED7DE14B}" dt="2023-06-18T06:05:31.067" v="13" actId="478"/>
            <ac:spMkLst>
              <pc:docMk/>
              <pc:sldMasterMk cId="1999713800" sldId="2147483696"/>
              <pc:sldLayoutMk cId="122263523" sldId="2147483712"/>
              <ac:spMk id="5" creationId="{6140F15D-DD72-46D5-BF0F-F5064710700E}"/>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9/25/2026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62449-E821-49F7-9153-F73D7B7FB2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0FA4C4-168F-446E-9F3A-FA1B20B84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DD1B0F-8B39-4A69-83B0-A9095BB9F137}"/>
              </a:ext>
            </a:extLst>
          </p:cNvPr>
          <p:cNvSpPr>
            <a:spLocks noGrp="1"/>
          </p:cNvSpPr>
          <p:nvPr>
            <p:ph type="dt" sz="half" idx="10"/>
          </p:nvPr>
        </p:nvSpPr>
        <p:spPr/>
        <p:txBody>
          <a:bodyPr/>
          <a:lstStyle/>
          <a:p>
            <a:fld id="{4BDF68E2-58F2-4D09-BE8B-E3BD06533059}" type="datetimeFigureOut">
              <a:rPr lang="en-US" smtClean="0"/>
              <a:t>9/25/2026</a:t>
            </a:fld>
            <a:endParaRPr lang="en-US" dirty="0"/>
          </a:p>
        </p:txBody>
      </p:sp>
      <p:sp>
        <p:nvSpPr>
          <p:cNvPr id="5" name="Footer Placeholder 4">
            <a:extLst>
              <a:ext uri="{FF2B5EF4-FFF2-40B4-BE49-F238E27FC236}">
                <a16:creationId xmlns:a16="http://schemas.microsoft.com/office/drawing/2014/main" id="{1766B836-611D-448A-BC7F-C3B6157DC8D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E769217-5A4E-4E1F-A386-DCB005BCF78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33348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9E01-66DA-4F7B-A981-3A10D5168F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7D0B38-66C6-4240-BB1A-3A0B573326A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839C74-87A6-4310-82BA-B8FC2330C2A9}"/>
              </a:ext>
            </a:extLst>
          </p:cNvPr>
          <p:cNvSpPr>
            <a:spLocks noGrp="1"/>
          </p:cNvSpPr>
          <p:nvPr>
            <p:ph type="dt" sz="half" idx="10"/>
          </p:nvPr>
        </p:nvSpPr>
        <p:spPr/>
        <p:txBody>
          <a:bodyPr/>
          <a:lstStyle/>
          <a:p>
            <a:fld id="{528FC5F6-F338-4AE4-BB23-26385BCFC423}" type="datetimeFigureOut">
              <a:rPr lang="en-US" smtClean="0"/>
              <a:t>9/25/2026</a:t>
            </a:fld>
            <a:endParaRPr lang="en-US" dirty="0"/>
          </a:p>
        </p:txBody>
      </p:sp>
      <p:sp>
        <p:nvSpPr>
          <p:cNvPr id="5" name="Footer Placeholder 4">
            <a:extLst>
              <a:ext uri="{FF2B5EF4-FFF2-40B4-BE49-F238E27FC236}">
                <a16:creationId xmlns:a16="http://schemas.microsoft.com/office/drawing/2014/main" id="{F2B3B292-9A32-4CED-B0F4-D61303A996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CB66930-6143-423F-A405-46F934A79A8D}"/>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3828414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E9D17-32DF-4EFF-965F-D5E49E46B9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5981D5-EC5D-42FB-B583-083CDA7A2C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6590BB4-AEAA-4390-949C-BFBD404A9841}"/>
              </a:ext>
            </a:extLst>
          </p:cNvPr>
          <p:cNvSpPr>
            <a:spLocks noGrp="1"/>
          </p:cNvSpPr>
          <p:nvPr>
            <p:ph type="dt" sz="half" idx="10"/>
          </p:nvPr>
        </p:nvSpPr>
        <p:spPr/>
        <p:txBody>
          <a:bodyPr/>
          <a:lstStyle/>
          <a:p>
            <a:fld id="{20EBB0C4-6273-4C6E-B9BD-2EDC30F1CD52}" type="datetimeFigureOut">
              <a:rPr lang="en-US" smtClean="0"/>
              <a:t>9/25/2026</a:t>
            </a:fld>
            <a:endParaRPr lang="en-US" dirty="0"/>
          </a:p>
        </p:txBody>
      </p:sp>
      <p:sp>
        <p:nvSpPr>
          <p:cNvPr id="5" name="Footer Placeholder 4">
            <a:extLst>
              <a:ext uri="{FF2B5EF4-FFF2-40B4-BE49-F238E27FC236}">
                <a16:creationId xmlns:a16="http://schemas.microsoft.com/office/drawing/2014/main" id="{33F52AD6-61AB-4973-BEFD-D6056D1FF74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CEA11D6-2270-4515-BE37-3EE72FC92EE5}"/>
              </a:ext>
            </a:extLst>
          </p:cNvPr>
          <p:cNvSpPr>
            <a:spLocks noGrp="1"/>
          </p:cNvSpPr>
          <p:nvPr>
            <p:ph type="sldNum" sz="quarter" idx="12"/>
          </p:nvPr>
        </p:nvSpPr>
        <p:spPr/>
        <p:txBody>
          <a:bodyPr/>
          <a:lstStyle/>
          <a:p>
            <a:fld id="{4FAB73BC-B049-4115-A692-8D63A059BFB8}" type="slidenum">
              <a:rPr lang="en-US" smtClean="0"/>
              <a:t>‹#›</a:t>
            </a:fld>
            <a:endParaRPr lang="en-US" dirty="0"/>
          </a:p>
        </p:txBody>
      </p:sp>
      <p:sp>
        <p:nvSpPr>
          <p:cNvPr id="7" name="Graphic 12">
            <a:extLst>
              <a:ext uri="{FF2B5EF4-FFF2-40B4-BE49-F238E27FC236}">
                <a16:creationId xmlns:a16="http://schemas.microsoft.com/office/drawing/2014/main" id="{B2887E7E-7CCC-472D-9CED-A4B699899B63}"/>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8" name="Graphic 13">
            <a:extLst>
              <a:ext uri="{FF2B5EF4-FFF2-40B4-BE49-F238E27FC236}">
                <a16:creationId xmlns:a16="http://schemas.microsoft.com/office/drawing/2014/main" id="{BC4A1F0F-F582-4B6C-8D38-04838D31A0EE}"/>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9" name="Graphic 15">
            <a:extLst>
              <a:ext uri="{FF2B5EF4-FFF2-40B4-BE49-F238E27FC236}">
                <a16:creationId xmlns:a16="http://schemas.microsoft.com/office/drawing/2014/main" id="{8F9EA465-475B-4266-A55C-679D172AA0CD}"/>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10" name="Graphic 22">
            <a:extLst>
              <a:ext uri="{FF2B5EF4-FFF2-40B4-BE49-F238E27FC236}">
                <a16:creationId xmlns:a16="http://schemas.microsoft.com/office/drawing/2014/main" id="{4DCFCEA8-0E02-49F8-8CD7-3FE98537E0A8}"/>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dirty="0"/>
          </a:p>
        </p:txBody>
      </p:sp>
      <p:sp>
        <p:nvSpPr>
          <p:cNvPr id="11" name="Graphic 21">
            <a:extLst>
              <a:ext uri="{FF2B5EF4-FFF2-40B4-BE49-F238E27FC236}">
                <a16:creationId xmlns:a16="http://schemas.microsoft.com/office/drawing/2014/main" id="{FA479398-EBED-475A-9A6B-2DFD1DFE80B1}"/>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dirty="0"/>
          </a:p>
        </p:txBody>
      </p:sp>
      <p:sp>
        <p:nvSpPr>
          <p:cNvPr id="12" name="Graphic 23">
            <a:extLst>
              <a:ext uri="{FF2B5EF4-FFF2-40B4-BE49-F238E27FC236}">
                <a16:creationId xmlns:a16="http://schemas.microsoft.com/office/drawing/2014/main" id="{CB4F2A58-D5B2-44ED-B8A1-F2BAEEC8B9EB}"/>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dirty="0"/>
          </a:p>
        </p:txBody>
      </p:sp>
    </p:spTree>
    <p:extLst>
      <p:ext uri="{BB962C8B-B14F-4D97-AF65-F5344CB8AC3E}">
        <p14:creationId xmlns:p14="http://schemas.microsoft.com/office/powerpoint/2010/main" val="1011770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547B-F4EF-4B7B-8C41-E20574C8AF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BD6D59-8A59-42B7-8979-56611F8D33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8D67E8-0B33-4F06-8105-B60A62D8B6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D1C03C-06C7-466D-8E43-D6232D5DEAD8}"/>
              </a:ext>
            </a:extLst>
          </p:cNvPr>
          <p:cNvSpPr>
            <a:spLocks noGrp="1"/>
          </p:cNvSpPr>
          <p:nvPr>
            <p:ph type="dt" sz="half" idx="10"/>
          </p:nvPr>
        </p:nvSpPr>
        <p:spPr/>
        <p:txBody>
          <a:bodyPr/>
          <a:lstStyle/>
          <a:p>
            <a:fld id="{19AB4D41-86C1-4908-B66A-0B50CEB3BF29}" type="datetimeFigureOut">
              <a:rPr lang="en-US" smtClean="0"/>
              <a:t>9/25/2026</a:t>
            </a:fld>
            <a:endParaRPr lang="en-US" dirty="0"/>
          </a:p>
        </p:txBody>
      </p:sp>
      <p:sp>
        <p:nvSpPr>
          <p:cNvPr id="6" name="Footer Placeholder 5">
            <a:extLst>
              <a:ext uri="{FF2B5EF4-FFF2-40B4-BE49-F238E27FC236}">
                <a16:creationId xmlns:a16="http://schemas.microsoft.com/office/drawing/2014/main" id="{FB2C21E7-E7A3-4085-AAE5-6386F58DE86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55587C-5D7B-4EE1-B26D-331EADC50F95}"/>
              </a:ext>
            </a:extLst>
          </p:cNvPr>
          <p:cNvSpPr>
            <a:spLocks noGrp="1"/>
          </p:cNvSpPr>
          <p:nvPr>
            <p:ph type="sldNum" sz="quarter" idx="12"/>
          </p:nvPr>
        </p:nvSpPr>
        <p:spPr/>
        <p:txBody>
          <a:bodyPr/>
          <a:lstStyle/>
          <a:p>
            <a:fld id="{4FAB73BC-B049-4115-A692-8D63A059BFB8}" type="slidenum">
              <a:rPr lang="en-US" smtClean="0"/>
              <a:t>‹#›</a:t>
            </a:fld>
            <a:endParaRPr lang="en-US" dirty="0"/>
          </a:p>
        </p:txBody>
      </p:sp>
      <p:sp>
        <p:nvSpPr>
          <p:cNvPr id="8" name="Graphic 15">
            <a:extLst>
              <a:ext uri="{FF2B5EF4-FFF2-40B4-BE49-F238E27FC236}">
                <a16:creationId xmlns:a16="http://schemas.microsoft.com/office/drawing/2014/main" id="{C4CDD296-F367-4B42-B912-594903588AF6}"/>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9" name="Graphic 16">
            <a:extLst>
              <a:ext uri="{FF2B5EF4-FFF2-40B4-BE49-F238E27FC236}">
                <a16:creationId xmlns:a16="http://schemas.microsoft.com/office/drawing/2014/main" id="{99976847-B0F3-4681-8E6C-05CB39D3D1AA}"/>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0" name="Graphic 14">
            <a:extLst>
              <a:ext uri="{FF2B5EF4-FFF2-40B4-BE49-F238E27FC236}">
                <a16:creationId xmlns:a16="http://schemas.microsoft.com/office/drawing/2014/main" id="{4F87D912-0F8F-4888-8D2D-B5DC527E7BCA}"/>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328342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E7884-0544-4AD8-9F55-F397A34753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26D3C8-1EC3-40C4-826C-08697BDDB1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CDC260C-6CE6-491A-947D-5C7EF4FB807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CE94F6-9F08-4E09-B527-DAEA97F765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33142A-6F7B-4671-B731-F2324E2000C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F2080A-53D1-41E2-B367-78B7A31DD8AB}"/>
              </a:ext>
            </a:extLst>
          </p:cNvPr>
          <p:cNvSpPr>
            <a:spLocks noGrp="1"/>
          </p:cNvSpPr>
          <p:nvPr>
            <p:ph type="dt" sz="half" idx="10"/>
          </p:nvPr>
        </p:nvSpPr>
        <p:spPr/>
        <p:txBody>
          <a:bodyPr/>
          <a:lstStyle/>
          <a:p>
            <a:fld id="{E6426E2C-56C1-4E0D-A793-0088A7FDD37E}" type="datetimeFigureOut">
              <a:rPr lang="en-US" smtClean="0"/>
              <a:t>9/25/2026</a:t>
            </a:fld>
            <a:endParaRPr lang="en-US" dirty="0"/>
          </a:p>
        </p:txBody>
      </p:sp>
      <p:sp>
        <p:nvSpPr>
          <p:cNvPr id="8" name="Footer Placeholder 7">
            <a:extLst>
              <a:ext uri="{FF2B5EF4-FFF2-40B4-BE49-F238E27FC236}">
                <a16:creationId xmlns:a16="http://schemas.microsoft.com/office/drawing/2014/main" id="{961940FE-3A05-4BEF-8748-3197E5F19B1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504B031-2356-44DE-B1EC-4C6A69EC9B12}"/>
              </a:ext>
            </a:extLst>
          </p:cNvPr>
          <p:cNvSpPr>
            <a:spLocks noGrp="1"/>
          </p:cNvSpPr>
          <p:nvPr>
            <p:ph type="sldNum" sz="quarter" idx="12"/>
          </p:nvPr>
        </p:nvSpPr>
        <p:spPr/>
        <p:txBody>
          <a:bodyPr/>
          <a:lstStyle/>
          <a:p>
            <a:fld id="{4FAB73BC-B049-4115-A692-8D63A059BFB8}" type="slidenum">
              <a:rPr lang="en-US" smtClean="0"/>
              <a:t>‹#›</a:t>
            </a:fld>
            <a:endParaRPr lang="en-US" dirty="0"/>
          </a:p>
        </p:txBody>
      </p:sp>
      <p:sp>
        <p:nvSpPr>
          <p:cNvPr id="10" name="Graphic 15">
            <a:extLst>
              <a:ext uri="{FF2B5EF4-FFF2-40B4-BE49-F238E27FC236}">
                <a16:creationId xmlns:a16="http://schemas.microsoft.com/office/drawing/2014/main" id="{5C8C9FFB-B6B0-4983-97D8-2C85E6187594}"/>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1" name="Graphic 16">
            <a:extLst>
              <a:ext uri="{FF2B5EF4-FFF2-40B4-BE49-F238E27FC236}">
                <a16:creationId xmlns:a16="http://schemas.microsoft.com/office/drawing/2014/main" id="{AB114148-59E0-43F4-BC6C-BBB3435A769E}"/>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2" name="Graphic 14">
            <a:extLst>
              <a:ext uri="{FF2B5EF4-FFF2-40B4-BE49-F238E27FC236}">
                <a16:creationId xmlns:a16="http://schemas.microsoft.com/office/drawing/2014/main" id="{755BB5CF-410B-426E-9751-CC7BBE7257F8}"/>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Tree>
    <p:extLst>
      <p:ext uri="{BB962C8B-B14F-4D97-AF65-F5344CB8AC3E}">
        <p14:creationId xmlns:p14="http://schemas.microsoft.com/office/powerpoint/2010/main" val="852424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87F93-E372-46CD-AED4-1DF4513018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16F4B-952C-4E92-9BD4-8022B8734C2B}"/>
              </a:ext>
            </a:extLst>
          </p:cNvPr>
          <p:cNvSpPr>
            <a:spLocks noGrp="1"/>
          </p:cNvSpPr>
          <p:nvPr>
            <p:ph type="dt" sz="half" idx="10"/>
          </p:nvPr>
        </p:nvSpPr>
        <p:spPr/>
        <p:txBody>
          <a:bodyPr/>
          <a:lstStyle/>
          <a:p>
            <a:fld id="{54381CB8-1FF5-4C8E-8504-0187E58AAEF5}" type="datetime1">
              <a:rPr lang="LID4096" smtClean="0"/>
              <a:t>09/25/2026</a:t>
            </a:fld>
            <a:endParaRPr lang="en-US" dirty="0"/>
          </a:p>
        </p:txBody>
      </p:sp>
      <p:sp>
        <p:nvSpPr>
          <p:cNvPr id="4" name="Footer Placeholder 3">
            <a:extLst>
              <a:ext uri="{FF2B5EF4-FFF2-40B4-BE49-F238E27FC236}">
                <a16:creationId xmlns:a16="http://schemas.microsoft.com/office/drawing/2014/main" id="{EA7A65BE-2A2A-4B24-9BBB-0DF7000158A8}"/>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62CCC24-4792-4FDB-B703-B98C7A2F93A9}"/>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4259236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735D72-C1BC-42A1-8A12-211016260690}"/>
              </a:ext>
            </a:extLst>
          </p:cNvPr>
          <p:cNvSpPr>
            <a:spLocks noGrp="1"/>
          </p:cNvSpPr>
          <p:nvPr>
            <p:ph type="dt" sz="half" idx="10"/>
          </p:nvPr>
        </p:nvSpPr>
        <p:spPr/>
        <p:txBody>
          <a:bodyPr/>
          <a:lstStyle/>
          <a:p>
            <a:fld id="{1AD7848D-A380-4A1A-A444-04DAD848E703}" type="datetime1">
              <a:rPr lang="LID4096" smtClean="0"/>
              <a:t>09/25/2026</a:t>
            </a:fld>
            <a:endParaRPr lang="en-US" dirty="0"/>
          </a:p>
        </p:txBody>
      </p:sp>
      <p:sp>
        <p:nvSpPr>
          <p:cNvPr id="3" name="Footer Placeholder 2">
            <a:extLst>
              <a:ext uri="{FF2B5EF4-FFF2-40B4-BE49-F238E27FC236}">
                <a16:creationId xmlns:a16="http://schemas.microsoft.com/office/drawing/2014/main" id="{B1C2B542-9837-4BB5-868F-8C7131E31684}"/>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D0D08F46-C7C5-4A9E-AA99-BAA9947A0C2A}"/>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188530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AF536-5627-4B71-9E05-380A168482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282BB1-83B8-46E8-BF4C-63038F10EB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A93E66-3A05-4556-8DED-9930470E3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ABFFCA-4811-484B-82CF-ADD9559ABE45}"/>
              </a:ext>
            </a:extLst>
          </p:cNvPr>
          <p:cNvSpPr>
            <a:spLocks noGrp="1"/>
          </p:cNvSpPr>
          <p:nvPr>
            <p:ph type="dt" sz="half" idx="10"/>
          </p:nvPr>
        </p:nvSpPr>
        <p:spPr/>
        <p:txBody>
          <a:bodyPr/>
          <a:lstStyle/>
          <a:p>
            <a:fld id="{69559565-FECB-4058-B8EB-84FF4149B3D6}" type="datetime1">
              <a:rPr lang="LID4096" smtClean="0"/>
              <a:t>09/25/2026</a:t>
            </a:fld>
            <a:endParaRPr lang="en-US" dirty="0"/>
          </a:p>
        </p:txBody>
      </p:sp>
      <p:sp>
        <p:nvSpPr>
          <p:cNvPr id="6" name="Footer Placeholder 5">
            <a:extLst>
              <a:ext uri="{FF2B5EF4-FFF2-40B4-BE49-F238E27FC236}">
                <a16:creationId xmlns:a16="http://schemas.microsoft.com/office/drawing/2014/main" id="{F8F28923-9B2A-4A4E-826C-4EF5A7F7256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331E70C-ABC7-4D51-86A0-C91D7C6CB504}"/>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4030379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6F9D-E7E4-46AE-A3E8-989C91579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A6466A-DBD3-40E3-982B-6D1AD978F8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A6D566-FE0F-45B6-9EDB-9342EF3835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325B652-7819-4023-A077-584DF4AA102F}"/>
              </a:ext>
            </a:extLst>
          </p:cNvPr>
          <p:cNvSpPr>
            <a:spLocks noGrp="1"/>
          </p:cNvSpPr>
          <p:nvPr>
            <p:ph type="dt" sz="half" idx="10"/>
          </p:nvPr>
        </p:nvSpPr>
        <p:spPr/>
        <p:txBody>
          <a:bodyPr/>
          <a:lstStyle/>
          <a:p>
            <a:fld id="{874D5D74-20D9-452C-B952-7C568AAC0214}" type="datetime1">
              <a:rPr lang="LID4096" smtClean="0"/>
              <a:t>09/25/2026</a:t>
            </a:fld>
            <a:endParaRPr lang="en-US" dirty="0"/>
          </a:p>
        </p:txBody>
      </p:sp>
      <p:sp>
        <p:nvSpPr>
          <p:cNvPr id="6" name="Footer Placeholder 5">
            <a:extLst>
              <a:ext uri="{FF2B5EF4-FFF2-40B4-BE49-F238E27FC236}">
                <a16:creationId xmlns:a16="http://schemas.microsoft.com/office/drawing/2014/main" id="{2131B3A7-CA1E-43F6-9161-9B1F360355AE}"/>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248EB8BF-036D-4FA4-A904-40CEE798CA13}"/>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246626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ADB4-2F89-4BA0-963B-802968AE45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4528FE-2EDA-4887-89CD-BC3ED7CCE23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DF5C0-AF1D-444D-A087-1C1B41EF65B5}"/>
              </a:ext>
            </a:extLst>
          </p:cNvPr>
          <p:cNvSpPr>
            <a:spLocks noGrp="1"/>
          </p:cNvSpPr>
          <p:nvPr>
            <p:ph type="dt" sz="half" idx="10"/>
          </p:nvPr>
        </p:nvSpPr>
        <p:spPr/>
        <p:txBody>
          <a:bodyPr/>
          <a:lstStyle/>
          <a:p>
            <a:fld id="{4CB77588-B6BA-4417-BC22-E241C7B5E56F}" type="datetime1">
              <a:rPr lang="LID4096" smtClean="0"/>
              <a:t>09/25/2026</a:t>
            </a:fld>
            <a:endParaRPr lang="en-US" dirty="0"/>
          </a:p>
        </p:txBody>
      </p:sp>
      <p:sp>
        <p:nvSpPr>
          <p:cNvPr id="5" name="Footer Placeholder 4">
            <a:extLst>
              <a:ext uri="{FF2B5EF4-FFF2-40B4-BE49-F238E27FC236}">
                <a16:creationId xmlns:a16="http://schemas.microsoft.com/office/drawing/2014/main" id="{59F2E3F0-5CC4-433C-ACD9-2D70709A400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42F7255-7913-4BF2-BF62-A3A0D92A82D9}"/>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263770724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7A7A49-9C0B-4CA8-BCA4-D8739F1EED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8C76E4-B4FA-4CD1-8AE3-51FF45E63DA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462E0D-D51D-4A85-9F3B-03D5A8DE7E98}"/>
              </a:ext>
            </a:extLst>
          </p:cNvPr>
          <p:cNvSpPr>
            <a:spLocks noGrp="1"/>
          </p:cNvSpPr>
          <p:nvPr>
            <p:ph type="dt" sz="half" idx="10"/>
          </p:nvPr>
        </p:nvSpPr>
        <p:spPr/>
        <p:txBody>
          <a:bodyPr/>
          <a:lstStyle/>
          <a:p>
            <a:fld id="{4CB77588-B6BA-4417-BC22-E241C7B5E56F}" type="datetime1">
              <a:rPr lang="LID4096" smtClean="0"/>
              <a:t>09/25/2026</a:t>
            </a:fld>
            <a:endParaRPr lang="en-US" dirty="0"/>
          </a:p>
        </p:txBody>
      </p:sp>
      <p:sp>
        <p:nvSpPr>
          <p:cNvPr id="5" name="Footer Placeholder 4">
            <a:extLst>
              <a:ext uri="{FF2B5EF4-FFF2-40B4-BE49-F238E27FC236}">
                <a16:creationId xmlns:a16="http://schemas.microsoft.com/office/drawing/2014/main" id="{5751F7EE-4A3B-4CEF-A9F1-22A08B7D4D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A4CB0F-BCE1-4642-BC70-10AFFDCACB31}"/>
              </a:ext>
            </a:extLst>
          </p:cNvPr>
          <p:cNvSpPr>
            <a:spLocks noGrp="1"/>
          </p:cNvSpPr>
          <p:nvPr>
            <p:ph type="sldNum" sz="quarter" idx="12"/>
          </p:nvPr>
        </p:nvSpPr>
        <p:spPr/>
        <p:txBody>
          <a:bodyPr/>
          <a:lstStyle/>
          <a:p>
            <a:fld id="{D8DA9DAA-006C-4F4B-980E-E3DF019B24E2}" type="slidenum">
              <a:rPr lang="en-US" smtClean="0"/>
              <a:t>‹#›</a:t>
            </a:fld>
            <a:endParaRPr lang="en-US" dirty="0"/>
          </a:p>
        </p:txBody>
      </p:sp>
    </p:spTree>
    <p:extLst>
      <p:ext uri="{BB962C8B-B14F-4D97-AF65-F5344CB8AC3E}">
        <p14:creationId xmlns:p14="http://schemas.microsoft.com/office/powerpoint/2010/main" val="3588047484"/>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a:xfrm>
            <a:off x="804672" y="1335024"/>
            <a:ext cx="6190488" cy="1179576"/>
          </a:xfrm>
        </p:spPr>
        <p:txBody>
          <a:bodyPr lIns="91440" tIns="45720" rIns="91440" bIns="45720" anchor="b"/>
          <a:lstStyle>
            <a:lvl1pPr>
              <a:defRPr sz="5400"/>
            </a:lvl1pPr>
          </a:lstStyle>
          <a:p>
            <a:r>
              <a:rPr lang="en-US" dirty="0"/>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850392" y="2825496"/>
            <a:ext cx="6190488" cy="3346704"/>
          </a:xfrm>
        </p:spPr>
        <p:txBody>
          <a:bodyPr/>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solidFill>
                  <a:schemeClr val="accent2"/>
                </a:solidFill>
              </a:defRPr>
            </a:lvl1pPr>
          </a:lstStyle>
          <a:p>
            <a:fld id="{4D15D22D-5EF0-4907-B3D9-62E94BC904F5}" type="datetime1">
              <a:rPr lang="LID4096" smtClean="0"/>
              <a:t>09/25/2026</a:t>
            </a:fld>
            <a:endParaRPr lang="en-US" dirty="0"/>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441590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6391656" y="841248"/>
            <a:ext cx="4434840" cy="3236976"/>
          </a:xfrm>
        </p:spPr>
        <p:txBody>
          <a:bodyPr anchor="b"/>
          <a:lstStyle>
            <a:lvl1pPr algn="l">
              <a:lnSpc>
                <a:spcPct val="110000"/>
              </a:lnSpc>
              <a:spcBef>
                <a:spcPts val="1000"/>
              </a:spcBef>
              <a:defRPr sz="3600" b="0" i="0" cap="none"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5" y="4498848"/>
            <a:ext cx="4434835" cy="510474"/>
          </a:xfrm>
        </p:spPr>
        <p:txBody>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a:prstGeom prst="rect">
            <a:avLst/>
          </a:prstGeo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01752"/>
            <a:ext cx="5221224" cy="6263640"/>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299048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04672"/>
            <a:ext cx="4434840" cy="886968"/>
          </a:xfrm>
        </p:spPr>
        <p:txBody>
          <a:bodyPr anchor="b"/>
          <a:lstStyle>
            <a:lvl1pPr algn="l">
              <a:defRPr sz="5400" b="0" i="0" cap="none" baseline="0"/>
            </a:lvl1pPr>
          </a:lstStyle>
          <a:p>
            <a:r>
              <a:rPr lang="en-US" dirty="0"/>
              <a:t>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4" y="1801368"/>
            <a:ext cx="4434840" cy="4754880"/>
          </a:xfrm>
        </p:spPr>
        <p:txBody>
          <a:bodyPr>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a:prstGeom prst="rect">
            <a:avLst/>
          </a:prstGeom>
        </p:spPr>
        <p:txBody>
          <a:bodyPr/>
          <a:lstStyle>
            <a:lvl1pPr>
              <a:defRPr>
                <a:solidFill>
                  <a:schemeClr val="accent2"/>
                </a:solidFill>
              </a:defRPr>
            </a:lvl1pPr>
          </a:lstStyle>
          <a:p>
            <a:r>
              <a:rPr lang="en-US" dirty="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lvl1pPr>
              <a:defRPr>
                <a:solidFill>
                  <a:schemeClr val="accent2"/>
                </a:solidFill>
              </a:defRPr>
            </a:lvl1pPr>
          </a:lstStyle>
          <a:p>
            <a:fld id="{D8DA9DAA-006C-4F4B-980E-E3DF019B24E2}" type="slidenum">
              <a:rPr lang="en-US" smtClean="0"/>
              <a:pPr/>
              <a:t>‹#›</a:t>
            </a:fld>
            <a:endParaRPr lang="en-US" dirty="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108960"/>
            <a:ext cx="5221224" cy="3447288"/>
          </a:xfrm>
        </p:spPr>
        <p:txBody>
          <a:bodyPr anchor="ctr"/>
          <a:lstStyle>
            <a:lvl1pPr algn="ctr">
              <a:buNone/>
              <a:defRPr>
                <a:solidFill>
                  <a:schemeClr val="bg1"/>
                </a:solidFill>
              </a:defRPr>
            </a:lvl1pPr>
          </a:lstStyle>
          <a:p>
            <a:r>
              <a:rPr lang="en-US"/>
              <a:t>Click icon to add picture</a:t>
            </a:r>
            <a:endParaRPr lang="en-US" dirty="0"/>
          </a:p>
        </p:txBody>
      </p:sp>
      <p:sp>
        <p:nvSpPr>
          <p:cNvPr id="10" name="Picture Placeholder 12">
            <a:extLst>
              <a:ext uri="{FF2B5EF4-FFF2-40B4-BE49-F238E27FC236}">
                <a16:creationId xmlns:a16="http://schemas.microsoft.com/office/drawing/2014/main" id="{F146D6C1-343E-4F97-A565-55BBB15F4C77}"/>
              </a:ext>
            </a:extLst>
          </p:cNvPr>
          <p:cNvSpPr>
            <a:spLocks noGrp="1"/>
          </p:cNvSpPr>
          <p:nvPr>
            <p:ph type="pic" sz="quarter" idx="14"/>
          </p:nvPr>
        </p:nvSpPr>
        <p:spPr>
          <a:xfrm>
            <a:off x="283464"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
        <p:nvSpPr>
          <p:cNvPr id="11" name="Picture Placeholder 12">
            <a:extLst>
              <a:ext uri="{FF2B5EF4-FFF2-40B4-BE49-F238E27FC236}">
                <a16:creationId xmlns:a16="http://schemas.microsoft.com/office/drawing/2014/main" id="{BA123E2D-4554-47D5-B0EC-0C47EDB41626}"/>
              </a:ext>
            </a:extLst>
          </p:cNvPr>
          <p:cNvSpPr>
            <a:spLocks noGrp="1"/>
          </p:cNvSpPr>
          <p:nvPr>
            <p:ph type="pic" sz="quarter" idx="15"/>
          </p:nvPr>
        </p:nvSpPr>
        <p:spPr>
          <a:xfrm>
            <a:off x="3044952" y="301752"/>
            <a:ext cx="2459736" cy="2505456"/>
          </a:xfrm>
        </p:spPr>
        <p:txBody>
          <a:bodyPr anchor="ctr"/>
          <a:lstStyle>
            <a:lvl1pPr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257891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3186EA6A-5CD5-4DF7-9C8A-EDFAF28A80D9}"/>
              </a:ext>
            </a:extLst>
          </p:cNvPr>
          <p:cNvSpPr>
            <a:spLocks noGrp="1"/>
          </p:cNvSpPr>
          <p:nvPr>
            <p:ph type="pic" sz="quarter" idx="14"/>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83D5117F-F235-498D-99A5-9DE2D665576C}"/>
              </a:ext>
            </a:extLst>
          </p:cNvPr>
          <p:cNvSpPr>
            <a:spLocks noGrp="1"/>
          </p:cNvSpPr>
          <p:nvPr>
            <p:ph type="pic" sz="quarter" idx="15"/>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1" name="Picture Placeholder 30">
            <a:extLst>
              <a:ext uri="{FF2B5EF4-FFF2-40B4-BE49-F238E27FC236}">
                <a16:creationId xmlns:a16="http://schemas.microsoft.com/office/drawing/2014/main" id="{E1E0A794-F1D3-4628-B5B1-9D48AB34C3D4}"/>
              </a:ext>
            </a:extLst>
          </p:cNvPr>
          <p:cNvSpPr>
            <a:spLocks noGrp="1"/>
          </p:cNvSpPr>
          <p:nvPr>
            <p:ph type="pic" sz="quarter" idx="16"/>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B8D3F45B-B631-47D3-A33C-71CEC2B3602C}"/>
              </a:ext>
            </a:extLst>
          </p:cNvPr>
          <p:cNvSpPr>
            <a:spLocks noGrp="1"/>
          </p:cNvSpPr>
          <p:nvPr>
            <p:ph type="pic" sz="quarter" idx="17"/>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anchor="ctr">
            <a:noAutofit/>
          </a:bodyPr>
          <a:lstStyle>
            <a:lvl1pPr algn="ctr">
              <a:buNone/>
              <a:defRPr sz="18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5760720" y="585216"/>
            <a:ext cx="5276088" cy="2276856"/>
          </a:xfrm>
        </p:spPr>
        <p:txBody>
          <a:bodyPr anchor="b"/>
          <a:lstStyle>
            <a:lvl1pPr algn="r">
              <a:defRPr sz="4800" b="1" cap="all" spc="400" baseline="0">
                <a:solidFill>
                  <a:schemeClr val="bg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a:lstStyle>
            <a:lvl1pPr>
              <a:defRPr>
                <a:solidFill>
                  <a:schemeClr val="bg1"/>
                </a:solidFill>
              </a:defRPr>
            </a:lvl1pPr>
          </a:lstStyle>
          <a:p>
            <a:fld id="{770BFB85-5BAA-4B16-8522-B168A17E85BC}" type="datetime1">
              <a:rPr lang="LID4096" smtClean="0"/>
              <a:t>09/25/2026</a:t>
            </a:fld>
            <a:endParaRPr lang="en-US" dirty="0"/>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a:prstGeom prst="rect">
            <a:avLst/>
          </a:prstGeom>
        </p:spPr>
        <p:txBody>
          <a:bodyPr/>
          <a:lstStyle>
            <a:lvl1pPr>
              <a:defRPr>
                <a:solidFill>
                  <a:schemeClr val="bg1"/>
                </a:solidFill>
              </a:defRPr>
            </a:lvl1pPr>
          </a:lstStyle>
          <a:p>
            <a:r>
              <a:rPr lang="en-US" dirty="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a:lstStyle>
            <a:lvl1pPr>
              <a:defRPr>
                <a:solidFill>
                  <a:schemeClr val="bg1"/>
                </a:solidFill>
              </a:defRPr>
            </a:lvl1pPr>
          </a:lstStyle>
          <a:p>
            <a:fld id="{D8DA9DAA-006C-4F4B-980E-E3DF019B24E2}" type="slidenum">
              <a:rPr lang="en-US" smtClean="0"/>
              <a:pPr/>
              <a:t>‹#›</a:t>
            </a:fld>
            <a:endParaRPr lang="en-US" dirty="0"/>
          </a:p>
        </p:txBody>
      </p:sp>
      <p:sp>
        <p:nvSpPr>
          <p:cNvPr id="8" name="Graphic 32">
            <a:extLst>
              <a:ext uri="{FF2B5EF4-FFF2-40B4-BE49-F238E27FC236}">
                <a16:creationId xmlns:a16="http://schemas.microsoft.com/office/drawing/2014/main" id="{846CD0EA-B0AA-4845-81A5-4ADD7C58B12F}"/>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0" name="Graphic 33">
            <a:extLst>
              <a:ext uri="{FF2B5EF4-FFF2-40B4-BE49-F238E27FC236}">
                <a16:creationId xmlns:a16="http://schemas.microsoft.com/office/drawing/2014/main" id="{0E97A0CB-7CB1-47F0-BD48-EEECBAC39CD2}"/>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12" name="Graphic 31">
            <a:extLst>
              <a:ext uri="{FF2B5EF4-FFF2-40B4-BE49-F238E27FC236}">
                <a16:creationId xmlns:a16="http://schemas.microsoft.com/office/drawing/2014/main" id="{477816C9-06CB-4BC5-B26B-6A2877BD941A}"/>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760720" y="3127248"/>
            <a:ext cx="5276088" cy="1124712"/>
          </a:xfrm>
        </p:spPr>
        <p:txBody>
          <a:bodyPr/>
          <a:lstStyle>
            <a:lvl1pPr marL="0" indent="0" algn="r">
              <a:buNone/>
              <a:defRPr sz="18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0104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080AC5-3C59-4DA5-87B6-CEEA970C25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E37E35-4EC2-45E2-9238-84B444DE5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AB34F4-063A-4640-9B96-CB2DF0356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B77588-B6BA-4417-BC22-E241C7B5E56F}" type="datetime1">
              <a:rPr lang="LID4096" smtClean="0"/>
              <a:t>09/25/2026</a:t>
            </a:fld>
            <a:endParaRPr lang="en-US" dirty="0"/>
          </a:p>
        </p:txBody>
      </p:sp>
      <p:sp>
        <p:nvSpPr>
          <p:cNvPr id="5" name="Footer Placeholder 4">
            <a:extLst>
              <a:ext uri="{FF2B5EF4-FFF2-40B4-BE49-F238E27FC236}">
                <a16:creationId xmlns:a16="http://schemas.microsoft.com/office/drawing/2014/main" id="{7AAD37B6-BC66-4B86-83CE-B50950B987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9C4DEF0E-DEE7-49CC-B891-67DF160FD4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DA9DAA-006C-4F4B-980E-E3DF019B24E2}" type="slidenum">
              <a:rPr lang="en-US" smtClean="0"/>
              <a:t>‹#›</a:t>
            </a:fld>
            <a:endParaRPr lang="en-US" dirty="0"/>
          </a:p>
        </p:txBody>
      </p:sp>
    </p:spTree>
    <p:extLst>
      <p:ext uri="{BB962C8B-B14F-4D97-AF65-F5344CB8AC3E}">
        <p14:creationId xmlns:p14="http://schemas.microsoft.com/office/powerpoint/2010/main" val="386665917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5" r:id="rId12"/>
    <p:sldLayoutId id="2147483713" r:id="rId13"/>
    <p:sldLayoutId id="2147483714" r:id="rId14"/>
    <p:sldLayoutId id="2147483715"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hack.info/lenguaje-c-introduccion/" TargetMode="External"/><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98448" y="594360"/>
            <a:ext cx="9941052" cy="2843784"/>
          </a:xfrm>
        </p:spPr>
        <p:txBody>
          <a:bodyPr>
            <a:normAutofit/>
          </a:bodyPr>
          <a:lstStyle/>
          <a:p>
            <a:r>
              <a:rPr lang="en-US" spc="400" dirty="0"/>
              <a:t>CSC2161</a:t>
            </a:r>
            <a:br>
              <a:rPr lang="en-US" spc="400" dirty="0"/>
            </a:br>
            <a:r>
              <a:rPr lang="en-US" spc="400" dirty="0"/>
              <a:t>C++ OOP</a:t>
            </a:r>
            <a:endParaRPr lang="en-US" dirty="0"/>
          </a:p>
        </p:txBody>
      </p:sp>
      <p:sp>
        <p:nvSpPr>
          <p:cNvPr id="3" name="Subtitle 2">
            <a:extLst>
              <a:ext uri="{FF2B5EF4-FFF2-40B4-BE49-F238E27FC236}">
                <a16:creationId xmlns:a16="http://schemas.microsoft.com/office/drawing/2014/main" id="{A5F14073-9F68-4B7E-A576-26899D58C7A9}"/>
              </a:ext>
            </a:extLst>
          </p:cNvPr>
          <p:cNvSpPr>
            <a:spLocks noGrp="1"/>
          </p:cNvSpPr>
          <p:nvPr>
            <p:ph type="subTitle" idx="1"/>
          </p:nvPr>
        </p:nvSpPr>
        <p:spPr>
          <a:xfrm>
            <a:off x="9258300" y="4700016"/>
            <a:ext cx="1638300" cy="418084"/>
          </a:xfrm>
        </p:spPr>
        <p:txBody>
          <a:bodyPr>
            <a:normAutofit lnSpcReduction="10000"/>
          </a:bodyPr>
          <a:lstStyle/>
          <a:p>
            <a:r>
              <a:rPr lang="en-US" dirty="0"/>
              <a:t>Dieudonne</a:t>
            </a:r>
            <a:endParaRPr lang="en-US" sz="2000" dirty="0">
              <a:solidFill>
                <a:schemeClr val="bg1"/>
              </a:solidFill>
            </a:endParaRPr>
          </a:p>
          <a:p>
            <a:endParaRPr lang="en-US" dirty="0"/>
          </a:p>
        </p:txBody>
      </p:sp>
    </p:spTree>
    <p:extLst>
      <p:ext uri="{BB962C8B-B14F-4D97-AF65-F5344CB8AC3E}">
        <p14:creationId xmlns:p14="http://schemas.microsoft.com/office/powerpoint/2010/main" val="1147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15FF41-AFA4-4D25-AB42-AB034F4B4FEC}"/>
              </a:ext>
            </a:extLst>
          </p:cNvPr>
          <p:cNvSpPr>
            <a:spLocks noGrp="1"/>
          </p:cNvSpPr>
          <p:nvPr>
            <p:ph type="title"/>
          </p:nvPr>
        </p:nvSpPr>
        <p:spPr/>
        <p:txBody>
          <a:bodyPr>
            <a:normAutofit fontScale="90000"/>
          </a:bodyPr>
          <a:lstStyle/>
          <a:p>
            <a:r>
              <a:rPr lang="en-US" b="0" i="0" dirty="0">
                <a:solidFill>
                  <a:srgbClr val="202124"/>
                </a:solidFill>
                <a:effectLst/>
                <a:latin typeface="Google Sans"/>
              </a:rPr>
              <a:t>What are functions of C++?</a:t>
            </a:r>
            <a:endParaRPr lang="en-US" dirty="0"/>
          </a:p>
        </p:txBody>
      </p:sp>
      <p:sp>
        <p:nvSpPr>
          <p:cNvPr id="4" name="Content Placeholder 3">
            <a:extLst>
              <a:ext uri="{FF2B5EF4-FFF2-40B4-BE49-F238E27FC236}">
                <a16:creationId xmlns:a16="http://schemas.microsoft.com/office/drawing/2014/main" id="{B0881FA9-F3B0-4912-B0E1-352094195C30}"/>
              </a:ext>
            </a:extLst>
          </p:cNvPr>
          <p:cNvSpPr>
            <a:spLocks noGrp="1"/>
          </p:cNvSpPr>
          <p:nvPr>
            <p:ph idx="1"/>
          </p:nvPr>
        </p:nvSpPr>
        <p:spPr>
          <a:xfrm>
            <a:off x="230038" y="2875472"/>
            <a:ext cx="7062158" cy="3255034"/>
          </a:xfrm>
        </p:spPr>
        <p:txBody>
          <a:bodyPr>
            <a:normAutofit/>
          </a:bodyPr>
          <a:lstStyle/>
          <a:p>
            <a:r>
              <a:rPr lang="en-US" dirty="0"/>
              <a:t>The major purpose of C++ programming is to introduce the concept of object orientation to the C programming language.</a:t>
            </a:r>
          </a:p>
          <a:p>
            <a:r>
              <a:rPr lang="en-US" dirty="0"/>
              <a:t>Object Oriented Programming is a paradigm that provides many concepts such as </a:t>
            </a:r>
            <a:r>
              <a:rPr lang="en-US" b="1" dirty="0"/>
              <a:t>inheritance, data binding, polymorphism etc.</a:t>
            </a:r>
            <a:endParaRPr lang="en-US" dirty="0"/>
          </a:p>
          <a:p>
            <a:r>
              <a:rPr lang="en-US" dirty="0"/>
              <a:t>The programming paradigm where everything is represented as an object is known as truly object-oriented programming language.</a:t>
            </a:r>
          </a:p>
          <a:p>
            <a:r>
              <a:rPr lang="en-US" sz="2800" b="0" i="0" dirty="0">
                <a:solidFill>
                  <a:srgbClr val="4D5156"/>
                </a:solidFill>
                <a:effectLst/>
                <a:latin typeface="Gill Sans MT" panose="020B0502020104020203" pitchFamily="34" charset="0"/>
              </a:rPr>
              <a:t>.</a:t>
            </a:r>
            <a:endParaRPr lang="en-US" sz="2800" dirty="0">
              <a:latin typeface="Gill Sans MT" panose="020B0502020104020203" pitchFamily="34" charset="0"/>
            </a:endParaRPr>
          </a:p>
        </p:txBody>
      </p:sp>
      <p:sp>
        <p:nvSpPr>
          <p:cNvPr id="9" name="Date Placeholder 8">
            <a:extLst>
              <a:ext uri="{FF2B5EF4-FFF2-40B4-BE49-F238E27FC236}">
                <a16:creationId xmlns:a16="http://schemas.microsoft.com/office/drawing/2014/main" id="{D45C472E-4078-40A0-83A2-652E8356EDCB}"/>
              </a:ext>
            </a:extLst>
          </p:cNvPr>
          <p:cNvSpPr>
            <a:spLocks noGrp="1"/>
          </p:cNvSpPr>
          <p:nvPr>
            <p:ph type="dt" sz="half" idx="10"/>
          </p:nvPr>
        </p:nvSpPr>
        <p:spPr/>
        <p:txBody>
          <a:bodyPr/>
          <a:lstStyle/>
          <a:p>
            <a:fld id="{88987268-E07F-4CC5-A48E-44AC4F4AAD74}" type="datetime1">
              <a:rPr lang="LID4096" smtClean="0"/>
              <a:t>09/25/2026</a:t>
            </a:fld>
            <a:endParaRPr lang="en-US" dirty="0"/>
          </a:p>
        </p:txBody>
      </p:sp>
      <p:sp>
        <p:nvSpPr>
          <p:cNvPr id="11" name="Slide Number Placeholder 10">
            <a:extLst>
              <a:ext uri="{FF2B5EF4-FFF2-40B4-BE49-F238E27FC236}">
                <a16:creationId xmlns:a16="http://schemas.microsoft.com/office/drawing/2014/main" id="{56AE2454-CE9A-4A6B-AB5A-349E0D967654}"/>
              </a:ext>
            </a:extLst>
          </p:cNvPr>
          <p:cNvSpPr>
            <a:spLocks noGrp="1"/>
          </p:cNvSpPr>
          <p:nvPr>
            <p:ph type="sldNum" sz="quarter" idx="12"/>
          </p:nvPr>
        </p:nvSpPr>
        <p:spPr/>
        <p:txBody>
          <a:bodyPr/>
          <a:lstStyle/>
          <a:p>
            <a:fld id="{D8DA9DAA-006C-4F4B-980E-E3DF019B24E2}" type="slidenum">
              <a:rPr lang="en-US" smtClean="0"/>
              <a:pPr/>
              <a:t>2</a:t>
            </a:fld>
            <a:endParaRPr lang="en-US" dirty="0"/>
          </a:p>
        </p:txBody>
      </p:sp>
      <p:pic>
        <p:nvPicPr>
          <p:cNvPr id="8" name="Picture Placeholder 7">
            <a:extLst>
              <a:ext uri="{FF2B5EF4-FFF2-40B4-BE49-F238E27FC236}">
                <a16:creationId xmlns:a16="http://schemas.microsoft.com/office/drawing/2014/main" id="{B53D1AAB-32B2-4F04-828F-AB1C758AF004}"/>
              </a:ext>
            </a:extLst>
          </p:cNvPr>
          <p:cNvPicPr>
            <a:picLocks noGrp="1" noChangeAspect="1"/>
          </p:cNvPicPr>
          <p:nvPr>
            <p:ph type="pic" sz="quarter" idx="4294967295"/>
          </p:nvPr>
        </p:nvPicPr>
        <p:blipFill>
          <a:blip r:embed="rId2">
            <a:extLst>
              <a:ext uri="{837473B0-CC2E-450A-ABE3-18F120FF3D39}">
                <a1611:picAttrSrcUrl xmlns:a1611="http://schemas.microsoft.com/office/drawing/2016/11/main" r:id="rId3"/>
              </a:ext>
            </a:extLst>
          </a:blip>
          <a:srcRect l="13500" r="13500"/>
          <a:stretch/>
        </p:blipFill>
        <p:spPr>
          <a:xfrm>
            <a:off x="7823200" y="1846263"/>
            <a:ext cx="4368800" cy="4022725"/>
          </a:xfrm>
        </p:spPr>
      </p:pic>
    </p:spTree>
    <p:extLst>
      <p:ext uri="{BB962C8B-B14F-4D97-AF65-F5344CB8AC3E}">
        <p14:creationId xmlns:p14="http://schemas.microsoft.com/office/powerpoint/2010/main" val="365334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17A9C5-009B-4626-87E0-20FE67A990C9}"/>
              </a:ext>
            </a:extLst>
          </p:cNvPr>
          <p:cNvSpPr>
            <a:spLocks noGrp="1"/>
          </p:cNvSpPr>
          <p:nvPr>
            <p:ph type="title"/>
          </p:nvPr>
        </p:nvSpPr>
        <p:spPr>
          <a:xfrm>
            <a:off x="171867" y="239942"/>
            <a:ext cx="6190488" cy="609686"/>
          </a:xfrm>
        </p:spPr>
        <p:txBody>
          <a:bodyPr>
            <a:normAutofit fontScale="90000"/>
          </a:bodyPr>
          <a:lstStyle/>
          <a:p>
            <a:r>
              <a:rPr lang="en-US" dirty="0"/>
              <a:t>Class</a:t>
            </a:r>
          </a:p>
        </p:txBody>
      </p:sp>
      <p:sp>
        <p:nvSpPr>
          <p:cNvPr id="4" name="Content Placeholder 3">
            <a:extLst>
              <a:ext uri="{FF2B5EF4-FFF2-40B4-BE49-F238E27FC236}">
                <a16:creationId xmlns:a16="http://schemas.microsoft.com/office/drawing/2014/main" id="{6B47AB2A-2495-4522-A9AF-8BE3150897A7}"/>
              </a:ext>
            </a:extLst>
          </p:cNvPr>
          <p:cNvSpPr>
            <a:spLocks noGrp="1"/>
          </p:cNvSpPr>
          <p:nvPr>
            <p:ph idx="1"/>
          </p:nvPr>
        </p:nvSpPr>
        <p:spPr>
          <a:xfrm>
            <a:off x="171867" y="849627"/>
            <a:ext cx="11702453" cy="5654203"/>
          </a:xfrm>
        </p:spPr>
        <p:txBody>
          <a:bodyPr>
            <a:normAutofit/>
          </a:bodyPr>
          <a:lstStyle/>
          <a:p>
            <a:r>
              <a:rPr lang="en-US" sz="2800" dirty="0"/>
              <a:t>Collection of objects is called class. It is a logical entity.</a:t>
            </a:r>
          </a:p>
          <a:p>
            <a:r>
              <a:rPr lang="en-US" sz="2800" dirty="0"/>
              <a:t>A Class in C++ is the foundational element that leads to Object-Oriented programming. A class instance must be created in order to access and use the user-defined data type's data members and member functions. An object's class acts as its blueprint. Take the class of cars as an example. Even if different names and brands may be used for different cars, all of them will have some characteristics in common, such as four wheels, a speed limit, a range of miles, etc. In this case, the class of car is represented by the wheels, the speed limitations, and the mileage.</a:t>
            </a:r>
          </a:p>
        </p:txBody>
      </p:sp>
      <p:sp>
        <p:nvSpPr>
          <p:cNvPr id="5" name="Date Placeholder 4">
            <a:extLst>
              <a:ext uri="{FF2B5EF4-FFF2-40B4-BE49-F238E27FC236}">
                <a16:creationId xmlns:a16="http://schemas.microsoft.com/office/drawing/2014/main" id="{BF540FAE-3384-443B-BA61-7371A9AC93C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949E5F33-B9F6-41B3-995C-74813556408F}"/>
              </a:ext>
            </a:extLst>
          </p:cNvPr>
          <p:cNvSpPr>
            <a:spLocks noGrp="1"/>
          </p:cNvSpPr>
          <p:nvPr>
            <p:ph type="sldNum" sz="quarter" idx="12"/>
          </p:nvPr>
        </p:nvSpPr>
        <p:spPr/>
        <p:txBody>
          <a:bodyPr/>
          <a:lstStyle/>
          <a:p>
            <a:fld id="{D8DA9DAA-006C-4F4B-980E-E3DF019B24E2}" type="slidenum">
              <a:rPr lang="en-US" smtClean="0"/>
              <a:pPr/>
              <a:t>3</a:t>
            </a:fld>
            <a:endParaRPr lang="en-US" dirty="0"/>
          </a:p>
        </p:txBody>
      </p:sp>
    </p:spTree>
    <p:extLst>
      <p:ext uri="{BB962C8B-B14F-4D97-AF65-F5344CB8AC3E}">
        <p14:creationId xmlns:p14="http://schemas.microsoft.com/office/powerpoint/2010/main" val="2846645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0D9CB8-F2F2-409B-A9D4-F94DB9B35425}"/>
              </a:ext>
            </a:extLst>
          </p:cNvPr>
          <p:cNvSpPr>
            <a:spLocks noGrp="1"/>
          </p:cNvSpPr>
          <p:nvPr>
            <p:ph type="title"/>
          </p:nvPr>
        </p:nvSpPr>
        <p:spPr>
          <a:xfrm>
            <a:off x="606123" y="355199"/>
            <a:ext cx="10747677" cy="661201"/>
          </a:xfrm>
        </p:spPr>
        <p:txBody>
          <a:bodyPr>
            <a:normAutofit fontScale="90000"/>
          </a:bodyPr>
          <a:lstStyle/>
          <a:p>
            <a:r>
              <a:rPr lang="en-US" dirty="0"/>
              <a:t>Object</a:t>
            </a:r>
          </a:p>
        </p:txBody>
      </p:sp>
      <p:sp>
        <p:nvSpPr>
          <p:cNvPr id="4" name="Content Placeholder 3">
            <a:extLst>
              <a:ext uri="{FF2B5EF4-FFF2-40B4-BE49-F238E27FC236}">
                <a16:creationId xmlns:a16="http://schemas.microsoft.com/office/drawing/2014/main" id="{208AF6B8-2557-4F82-9F46-385DF9FE164E}"/>
              </a:ext>
            </a:extLst>
          </p:cNvPr>
          <p:cNvSpPr>
            <a:spLocks noGrp="1"/>
          </p:cNvSpPr>
          <p:nvPr>
            <p:ph idx="1"/>
          </p:nvPr>
        </p:nvSpPr>
        <p:spPr>
          <a:xfrm>
            <a:off x="667748" y="1125484"/>
            <a:ext cx="10856504" cy="4888949"/>
          </a:xfrm>
        </p:spPr>
        <p:txBody>
          <a:bodyPr/>
          <a:lstStyle/>
          <a:p>
            <a:r>
              <a:rPr lang="en-US" dirty="0"/>
              <a:t>Any entity that has state and behavior is known as an object. For example: chair, pen, table, keyboard, bike etc. It can be physical and logical.</a:t>
            </a:r>
          </a:p>
        </p:txBody>
      </p:sp>
      <p:sp>
        <p:nvSpPr>
          <p:cNvPr id="5" name="Date Placeholder 4">
            <a:extLst>
              <a:ext uri="{FF2B5EF4-FFF2-40B4-BE49-F238E27FC236}">
                <a16:creationId xmlns:a16="http://schemas.microsoft.com/office/drawing/2014/main" id="{99CBFB02-5DB6-4D13-98B9-D942E8FE4CA6}"/>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BE2840E7-EF01-4D0C-AF48-94CE463DA89F}"/>
              </a:ext>
            </a:extLst>
          </p:cNvPr>
          <p:cNvSpPr>
            <a:spLocks noGrp="1"/>
          </p:cNvSpPr>
          <p:nvPr>
            <p:ph type="sldNum" sz="quarter" idx="12"/>
          </p:nvPr>
        </p:nvSpPr>
        <p:spPr/>
        <p:txBody>
          <a:bodyPr/>
          <a:lstStyle/>
          <a:p>
            <a:fld id="{D8DA9DAA-006C-4F4B-980E-E3DF019B24E2}" type="slidenum">
              <a:rPr lang="en-US" smtClean="0"/>
              <a:pPr/>
              <a:t>4</a:t>
            </a:fld>
            <a:endParaRPr lang="en-US" dirty="0"/>
          </a:p>
        </p:txBody>
      </p:sp>
    </p:spTree>
    <p:extLst>
      <p:ext uri="{BB962C8B-B14F-4D97-AF65-F5344CB8AC3E}">
        <p14:creationId xmlns:p14="http://schemas.microsoft.com/office/powerpoint/2010/main" val="3013560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F0C31B-6004-4178-A221-143E261DD9AF}"/>
              </a:ext>
            </a:extLst>
          </p:cNvPr>
          <p:cNvSpPr>
            <a:spLocks noGrp="1"/>
          </p:cNvSpPr>
          <p:nvPr>
            <p:ph type="title"/>
          </p:nvPr>
        </p:nvSpPr>
        <p:spPr>
          <a:xfrm>
            <a:off x="347730" y="136525"/>
            <a:ext cx="6190488" cy="643943"/>
          </a:xfrm>
        </p:spPr>
        <p:txBody>
          <a:bodyPr>
            <a:normAutofit fontScale="90000"/>
          </a:bodyPr>
          <a:lstStyle/>
          <a:p>
            <a:r>
              <a:rPr lang="en-US" dirty="0"/>
              <a:t>Inheritance</a:t>
            </a:r>
          </a:p>
        </p:txBody>
      </p:sp>
      <p:sp>
        <p:nvSpPr>
          <p:cNvPr id="4" name="Content Placeholder 3">
            <a:extLst>
              <a:ext uri="{FF2B5EF4-FFF2-40B4-BE49-F238E27FC236}">
                <a16:creationId xmlns:a16="http://schemas.microsoft.com/office/drawing/2014/main" id="{467972BF-CDD3-4BB1-9A52-53DB43CCB59E}"/>
              </a:ext>
            </a:extLst>
          </p:cNvPr>
          <p:cNvSpPr>
            <a:spLocks noGrp="1"/>
          </p:cNvSpPr>
          <p:nvPr>
            <p:ph idx="1"/>
          </p:nvPr>
        </p:nvSpPr>
        <p:spPr>
          <a:xfrm>
            <a:off x="515155" y="1007771"/>
            <a:ext cx="11470783" cy="5148330"/>
          </a:xfrm>
        </p:spPr>
        <p:txBody>
          <a:bodyPr>
            <a:noAutofit/>
          </a:bodyPr>
          <a:lstStyle/>
          <a:p>
            <a:r>
              <a:rPr lang="en-US" sz="2400" dirty="0"/>
              <a:t>When one object acquires all the properties and </a:t>
            </a:r>
            <a:r>
              <a:rPr lang="en-US" sz="2400" dirty="0" err="1"/>
              <a:t>behaviours</a:t>
            </a:r>
            <a:r>
              <a:rPr lang="en-US" sz="2400" dirty="0"/>
              <a:t> of parent object i.e. known as inheritance. It provides code reusability. It is used to achieve runtime polymorphism.</a:t>
            </a:r>
          </a:p>
          <a:p>
            <a:r>
              <a:rPr lang="en-US" sz="2400" dirty="0"/>
              <a:t>Sub class - Subclass or Derived Class refers to a class that receives properties from another class.</a:t>
            </a:r>
          </a:p>
          <a:p>
            <a:r>
              <a:rPr lang="en-US" sz="2400" dirty="0"/>
              <a:t>Super class - The term "Base Class" or "Super Class" refers to the class from which a subclass inherits its properties.</a:t>
            </a:r>
          </a:p>
          <a:p>
            <a:r>
              <a:rPr lang="en-US" sz="2400" dirty="0"/>
              <a:t>Reusability - As a result, when we wish to create a new class, but an existing class already contains some of the code we need, we can generate our new class from the old class thanks to inheritance. This allows us to utilize the fields and methods of the pre-existing class.</a:t>
            </a:r>
          </a:p>
        </p:txBody>
      </p:sp>
      <p:sp>
        <p:nvSpPr>
          <p:cNvPr id="5" name="Date Placeholder 4">
            <a:extLst>
              <a:ext uri="{FF2B5EF4-FFF2-40B4-BE49-F238E27FC236}">
                <a16:creationId xmlns:a16="http://schemas.microsoft.com/office/drawing/2014/main" id="{A63264BE-DC1E-40C5-8F2E-81E52EDB694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7A122ABB-E934-420C-8364-2DC6CF612D68}"/>
              </a:ext>
            </a:extLst>
          </p:cNvPr>
          <p:cNvSpPr>
            <a:spLocks noGrp="1"/>
          </p:cNvSpPr>
          <p:nvPr>
            <p:ph type="sldNum" sz="quarter" idx="12"/>
          </p:nvPr>
        </p:nvSpPr>
        <p:spPr/>
        <p:txBody>
          <a:bodyPr/>
          <a:lstStyle/>
          <a:p>
            <a:fld id="{D8DA9DAA-006C-4F4B-980E-E3DF019B24E2}" type="slidenum">
              <a:rPr lang="en-US" smtClean="0"/>
              <a:pPr/>
              <a:t>5</a:t>
            </a:fld>
            <a:endParaRPr lang="en-US" dirty="0"/>
          </a:p>
        </p:txBody>
      </p:sp>
    </p:spTree>
    <p:extLst>
      <p:ext uri="{BB962C8B-B14F-4D97-AF65-F5344CB8AC3E}">
        <p14:creationId xmlns:p14="http://schemas.microsoft.com/office/powerpoint/2010/main" val="1825370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7A6AD2-605D-4BB6-AF34-F87E140CF840}"/>
              </a:ext>
            </a:extLst>
          </p:cNvPr>
          <p:cNvSpPr>
            <a:spLocks noGrp="1"/>
          </p:cNvSpPr>
          <p:nvPr>
            <p:ph type="title"/>
          </p:nvPr>
        </p:nvSpPr>
        <p:spPr>
          <a:xfrm>
            <a:off x="486156" y="290805"/>
            <a:ext cx="6190488" cy="789990"/>
          </a:xfrm>
        </p:spPr>
        <p:txBody>
          <a:bodyPr>
            <a:normAutofit fontScale="90000"/>
          </a:bodyPr>
          <a:lstStyle/>
          <a:p>
            <a:r>
              <a:rPr lang="en-US" dirty="0"/>
              <a:t>Polymorphism</a:t>
            </a:r>
          </a:p>
        </p:txBody>
      </p:sp>
      <p:sp>
        <p:nvSpPr>
          <p:cNvPr id="4" name="Content Placeholder 3">
            <a:extLst>
              <a:ext uri="{FF2B5EF4-FFF2-40B4-BE49-F238E27FC236}">
                <a16:creationId xmlns:a16="http://schemas.microsoft.com/office/drawing/2014/main" id="{9B47D566-3645-4847-AF78-47BDD64312DA}"/>
              </a:ext>
            </a:extLst>
          </p:cNvPr>
          <p:cNvSpPr>
            <a:spLocks noGrp="1"/>
          </p:cNvSpPr>
          <p:nvPr>
            <p:ph idx="1"/>
          </p:nvPr>
        </p:nvSpPr>
        <p:spPr>
          <a:xfrm>
            <a:off x="486157" y="1080795"/>
            <a:ext cx="11413922" cy="5091405"/>
          </a:xfrm>
        </p:spPr>
        <p:txBody>
          <a:bodyPr>
            <a:normAutofit/>
          </a:bodyPr>
          <a:lstStyle/>
          <a:p>
            <a:r>
              <a:rPr lang="en-US" sz="2800" dirty="0"/>
              <a:t>When one task is performed by different ways i.e. known as polymorphism. For example: to convince the customer differently, to draw something e.g. shape or rectangle etc.</a:t>
            </a:r>
          </a:p>
          <a:p>
            <a:endParaRPr lang="en-US" sz="2800" dirty="0"/>
          </a:p>
          <a:p>
            <a:r>
              <a:rPr lang="en-US" sz="2800" dirty="0"/>
              <a:t>Different situations may cause an operation to behave differently. The type of data utilized in the operation determines the behavior.</a:t>
            </a:r>
          </a:p>
        </p:txBody>
      </p:sp>
      <p:sp>
        <p:nvSpPr>
          <p:cNvPr id="5" name="Date Placeholder 4">
            <a:extLst>
              <a:ext uri="{FF2B5EF4-FFF2-40B4-BE49-F238E27FC236}">
                <a16:creationId xmlns:a16="http://schemas.microsoft.com/office/drawing/2014/main" id="{EF7A7381-5790-48F6-95FA-6A7750C0C18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30E1562B-74CB-4071-B289-919773748BCE}"/>
              </a:ext>
            </a:extLst>
          </p:cNvPr>
          <p:cNvSpPr>
            <a:spLocks noGrp="1"/>
          </p:cNvSpPr>
          <p:nvPr>
            <p:ph type="sldNum" sz="quarter" idx="12"/>
          </p:nvPr>
        </p:nvSpPr>
        <p:spPr/>
        <p:txBody>
          <a:bodyPr/>
          <a:lstStyle/>
          <a:p>
            <a:fld id="{D8DA9DAA-006C-4F4B-980E-E3DF019B24E2}" type="slidenum">
              <a:rPr lang="en-US" smtClean="0"/>
              <a:pPr/>
              <a:t>6</a:t>
            </a:fld>
            <a:endParaRPr lang="en-US" dirty="0"/>
          </a:p>
        </p:txBody>
      </p:sp>
    </p:spTree>
    <p:extLst>
      <p:ext uri="{BB962C8B-B14F-4D97-AF65-F5344CB8AC3E}">
        <p14:creationId xmlns:p14="http://schemas.microsoft.com/office/powerpoint/2010/main" val="1775345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1A0966-8612-46E2-A95E-29C6D565F31C}"/>
              </a:ext>
            </a:extLst>
          </p:cNvPr>
          <p:cNvSpPr>
            <a:spLocks noGrp="1"/>
          </p:cNvSpPr>
          <p:nvPr>
            <p:ph type="title"/>
          </p:nvPr>
        </p:nvSpPr>
        <p:spPr>
          <a:xfrm>
            <a:off x="125655" y="212437"/>
            <a:ext cx="6190488" cy="815748"/>
          </a:xfrm>
        </p:spPr>
        <p:txBody>
          <a:bodyPr>
            <a:normAutofit fontScale="90000"/>
          </a:bodyPr>
          <a:lstStyle/>
          <a:p>
            <a:r>
              <a:rPr lang="en-US" dirty="0"/>
              <a:t>Abstraction</a:t>
            </a:r>
          </a:p>
        </p:txBody>
      </p:sp>
      <p:sp>
        <p:nvSpPr>
          <p:cNvPr id="4" name="Content Placeholder 3">
            <a:extLst>
              <a:ext uri="{FF2B5EF4-FFF2-40B4-BE49-F238E27FC236}">
                <a16:creationId xmlns:a16="http://schemas.microsoft.com/office/drawing/2014/main" id="{5CBF59FE-EFF7-4805-8FD2-9CADB85903D1}"/>
              </a:ext>
            </a:extLst>
          </p:cNvPr>
          <p:cNvSpPr>
            <a:spLocks noGrp="1"/>
          </p:cNvSpPr>
          <p:nvPr>
            <p:ph idx="1"/>
          </p:nvPr>
        </p:nvSpPr>
        <p:spPr>
          <a:xfrm>
            <a:off x="231819" y="1171977"/>
            <a:ext cx="11121981" cy="5000223"/>
          </a:xfrm>
        </p:spPr>
        <p:txBody>
          <a:bodyPr>
            <a:normAutofit/>
          </a:bodyPr>
          <a:lstStyle/>
          <a:p>
            <a:r>
              <a:rPr lang="en-US" sz="2400" dirty="0"/>
              <a:t>Hiding internal details and showing functionality is known as abstraction. Data abstraction is the process of exposing to the outside world only the information that is absolutely necessary while concealing implementation or background </a:t>
            </a:r>
            <a:r>
              <a:rPr lang="en-US" sz="2400" dirty="0" err="1"/>
              <a:t>information.For</a:t>
            </a:r>
            <a:r>
              <a:rPr lang="en-US" sz="2400" dirty="0"/>
              <a:t> example: phone call, we don't know the internal processing.</a:t>
            </a:r>
          </a:p>
          <a:p>
            <a:endParaRPr lang="en-US" sz="2400" dirty="0"/>
          </a:p>
          <a:p>
            <a:r>
              <a:rPr lang="en-US" sz="2400" dirty="0"/>
              <a:t>In C++, we use abstract class and interface to achieve abstraction.</a:t>
            </a:r>
          </a:p>
        </p:txBody>
      </p:sp>
      <p:sp>
        <p:nvSpPr>
          <p:cNvPr id="5" name="Date Placeholder 4">
            <a:extLst>
              <a:ext uri="{FF2B5EF4-FFF2-40B4-BE49-F238E27FC236}">
                <a16:creationId xmlns:a16="http://schemas.microsoft.com/office/drawing/2014/main" id="{434B1A9D-0988-49FE-A8A2-535D414BDE04}"/>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5DEA9531-563B-4B5E-980C-1CCA29C24522}"/>
              </a:ext>
            </a:extLst>
          </p:cNvPr>
          <p:cNvSpPr>
            <a:spLocks noGrp="1"/>
          </p:cNvSpPr>
          <p:nvPr>
            <p:ph type="sldNum" sz="quarter" idx="12"/>
          </p:nvPr>
        </p:nvSpPr>
        <p:spPr/>
        <p:txBody>
          <a:bodyPr/>
          <a:lstStyle/>
          <a:p>
            <a:fld id="{D8DA9DAA-006C-4F4B-980E-E3DF019B24E2}" type="slidenum">
              <a:rPr lang="en-US" smtClean="0"/>
              <a:pPr/>
              <a:t>7</a:t>
            </a:fld>
            <a:endParaRPr lang="en-US" dirty="0"/>
          </a:p>
        </p:txBody>
      </p:sp>
    </p:spTree>
    <p:extLst>
      <p:ext uri="{BB962C8B-B14F-4D97-AF65-F5344CB8AC3E}">
        <p14:creationId xmlns:p14="http://schemas.microsoft.com/office/powerpoint/2010/main" val="3690163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66FE7-1F07-45F1-8A32-6BC0107CB1A0}"/>
              </a:ext>
            </a:extLst>
          </p:cNvPr>
          <p:cNvSpPr>
            <a:spLocks noGrp="1"/>
          </p:cNvSpPr>
          <p:nvPr>
            <p:ph type="title"/>
          </p:nvPr>
        </p:nvSpPr>
        <p:spPr>
          <a:xfrm>
            <a:off x="151305" y="280637"/>
            <a:ext cx="6190488" cy="905900"/>
          </a:xfrm>
        </p:spPr>
        <p:txBody>
          <a:bodyPr>
            <a:normAutofit/>
          </a:bodyPr>
          <a:lstStyle/>
          <a:p>
            <a:r>
              <a:rPr lang="en-US" dirty="0"/>
              <a:t>Encapsulation</a:t>
            </a:r>
          </a:p>
        </p:txBody>
      </p:sp>
      <p:sp>
        <p:nvSpPr>
          <p:cNvPr id="4" name="Content Placeholder 3">
            <a:extLst>
              <a:ext uri="{FF2B5EF4-FFF2-40B4-BE49-F238E27FC236}">
                <a16:creationId xmlns:a16="http://schemas.microsoft.com/office/drawing/2014/main" id="{321699AE-AF54-4926-929D-6ED8C1C099EE}"/>
              </a:ext>
            </a:extLst>
          </p:cNvPr>
          <p:cNvSpPr>
            <a:spLocks noGrp="1"/>
          </p:cNvSpPr>
          <p:nvPr>
            <p:ph idx="1"/>
          </p:nvPr>
        </p:nvSpPr>
        <p:spPr>
          <a:xfrm>
            <a:off x="386365" y="1918952"/>
            <a:ext cx="11475077" cy="4316748"/>
          </a:xfrm>
        </p:spPr>
        <p:txBody>
          <a:bodyPr>
            <a:normAutofit/>
          </a:bodyPr>
          <a:lstStyle/>
          <a:p>
            <a:r>
              <a:rPr lang="en-US" dirty="0"/>
              <a:t>Binding (or wrapping) code and data together into a single unit is known as encapsulation. For example: capsule, it is wrapped with different medicines.</a:t>
            </a:r>
          </a:p>
          <a:p>
            <a:r>
              <a:rPr lang="en-US" dirty="0"/>
              <a:t>Encapsulation is typically understood as the grouping of related pieces of information and data into a single entity. Encapsulation is the process of tying together data and the functions that work with it in object-oriented programming. Take a look at a practical illustration of encapsulation: at a company, there are various divisions, including the sales division, the finance division, and the accounts division. All financial transactions are handled by the finance sector, which also maintains records of all financial data. In a similar vein, the sales section is in charge of all tasks relating to sales and maintains a record of each sale. </a:t>
            </a:r>
          </a:p>
        </p:txBody>
      </p:sp>
      <p:sp>
        <p:nvSpPr>
          <p:cNvPr id="5" name="Date Placeholder 4">
            <a:extLst>
              <a:ext uri="{FF2B5EF4-FFF2-40B4-BE49-F238E27FC236}">
                <a16:creationId xmlns:a16="http://schemas.microsoft.com/office/drawing/2014/main" id="{2D405EC0-9F94-468C-884C-C704C95866F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B0E7287E-34DA-4615-BF5E-BBCC3D73F2CB}"/>
              </a:ext>
            </a:extLst>
          </p:cNvPr>
          <p:cNvSpPr>
            <a:spLocks noGrp="1"/>
          </p:cNvSpPr>
          <p:nvPr>
            <p:ph type="sldNum" sz="quarter" idx="12"/>
          </p:nvPr>
        </p:nvSpPr>
        <p:spPr/>
        <p:txBody>
          <a:bodyPr/>
          <a:lstStyle/>
          <a:p>
            <a:fld id="{D8DA9DAA-006C-4F4B-980E-E3DF019B24E2}" type="slidenum">
              <a:rPr lang="en-US" smtClean="0"/>
              <a:pPr/>
              <a:t>8</a:t>
            </a:fld>
            <a:endParaRPr lang="en-US" dirty="0"/>
          </a:p>
        </p:txBody>
      </p:sp>
      <p:sp>
        <p:nvSpPr>
          <p:cNvPr id="6" name="Footer Placeholder 5">
            <a:extLst>
              <a:ext uri="{FF2B5EF4-FFF2-40B4-BE49-F238E27FC236}">
                <a16:creationId xmlns:a16="http://schemas.microsoft.com/office/drawing/2014/main" id="{9F19F6B2-27CC-4AF8-86D3-5110E5A63574}"/>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4029823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C4686D2-23CB-49E9-950C-B27B40492DB0}"/>
              </a:ext>
            </a:extLst>
          </p:cNvPr>
          <p:cNvSpPr>
            <a:spLocks noGrp="1"/>
          </p:cNvSpPr>
          <p:nvPr>
            <p:ph idx="1"/>
          </p:nvPr>
        </p:nvSpPr>
        <p:spPr>
          <a:xfrm>
            <a:off x="850392" y="2034862"/>
            <a:ext cx="10212560" cy="4137338"/>
          </a:xfrm>
        </p:spPr>
        <p:txBody>
          <a:bodyPr>
            <a:normAutofit/>
          </a:bodyPr>
          <a:lstStyle/>
          <a:p>
            <a:r>
              <a:rPr lang="en-US" sz="2800" dirty="0"/>
              <a:t>Now, a scenario could occur when, for some reason, a financial official requires all the information on sales for a specific month. Under the umbrella term "sales section," all of the employees who can influence the sales section's data are grouped together. Data abstraction or concealing is another side effect of encapsulation. In the same way that encapsulation hides the data. In the aforementioned example,  any other area cannot access any of the data from any of the sections, such as sales, finance, or accounts.</a:t>
            </a:r>
          </a:p>
        </p:txBody>
      </p:sp>
      <p:sp>
        <p:nvSpPr>
          <p:cNvPr id="5" name="Date Placeholder 4">
            <a:extLst>
              <a:ext uri="{FF2B5EF4-FFF2-40B4-BE49-F238E27FC236}">
                <a16:creationId xmlns:a16="http://schemas.microsoft.com/office/drawing/2014/main" id="{240712B1-32F5-4380-A07D-D2BA45A195D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6" name="Slide Number Placeholder 5">
            <a:extLst>
              <a:ext uri="{FF2B5EF4-FFF2-40B4-BE49-F238E27FC236}">
                <a16:creationId xmlns:a16="http://schemas.microsoft.com/office/drawing/2014/main" id="{3E131969-FB40-437D-96C1-23062BF764AD}"/>
              </a:ext>
            </a:extLst>
          </p:cNvPr>
          <p:cNvSpPr>
            <a:spLocks noGrp="1"/>
          </p:cNvSpPr>
          <p:nvPr>
            <p:ph type="sldNum" sz="quarter" idx="12"/>
          </p:nvPr>
        </p:nvSpPr>
        <p:spPr/>
        <p:txBody>
          <a:bodyPr/>
          <a:lstStyle/>
          <a:p>
            <a:fld id="{D8DA9DAA-006C-4F4B-980E-E3DF019B24E2}" type="slidenum">
              <a:rPr lang="en-US" smtClean="0"/>
              <a:pPr/>
              <a:t>9</a:t>
            </a:fld>
            <a:endParaRPr lang="en-US" dirty="0"/>
          </a:p>
        </p:txBody>
      </p:sp>
    </p:spTree>
    <p:extLst>
      <p:ext uri="{BB962C8B-B14F-4D97-AF65-F5344CB8AC3E}">
        <p14:creationId xmlns:p14="http://schemas.microsoft.com/office/powerpoint/2010/main" val="1346852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36238-401C-4B83-8B0A-812B772A6AEF}"/>
              </a:ext>
            </a:extLst>
          </p:cNvPr>
          <p:cNvSpPr>
            <a:spLocks noGrp="1"/>
          </p:cNvSpPr>
          <p:nvPr>
            <p:ph type="title"/>
          </p:nvPr>
        </p:nvSpPr>
        <p:spPr>
          <a:xfrm>
            <a:off x="169401" y="218079"/>
            <a:ext cx="11511737" cy="769346"/>
          </a:xfrm>
        </p:spPr>
        <p:txBody>
          <a:bodyPr>
            <a:normAutofit/>
          </a:bodyPr>
          <a:lstStyle/>
          <a:p>
            <a:r>
              <a:rPr lang="en-US" sz="3100" b="1" dirty="0"/>
              <a:t>Advantages of OOPs over Procedure-oriented programming language</a:t>
            </a:r>
            <a:endParaRPr lang="en-US" b="1" dirty="0"/>
          </a:p>
        </p:txBody>
      </p:sp>
      <p:sp>
        <p:nvSpPr>
          <p:cNvPr id="4" name="Content Placeholder 3">
            <a:extLst>
              <a:ext uri="{FF2B5EF4-FFF2-40B4-BE49-F238E27FC236}">
                <a16:creationId xmlns:a16="http://schemas.microsoft.com/office/drawing/2014/main" id="{C4B7F580-53FA-4D6D-9CE0-2BD9775574D7}"/>
              </a:ext>
            </a:extLst>
          </p:cNvPr>
          <p:cNvSpPr>
            <a:spLocks noGrp="1"/>
          </p:cNvSpPr>
          <p:nvPr>
            <p:ph idx="1"/>
          </p:nvPr>
        </p:nvSpPr>
        <p:spPr>
          <a:xfrm>
            <a:off x="315274" y="1931831"/>
            <a:ext cx="11365864" cy="4240369"/>
          </a:xfrm>
        </p:spPr>
        <p:txBody>
          <a:bodyPr>
            <a:normAutofit/>
          </a:bodyPr>
          <a:lstStyle/>
          <a:p>
            <a:r>
              <a:rPr lang="en-US" sz="2400" dirty="0"/>
              <a:t>OOPs makes development and maintenance easier where as in Procedure-oriented programming language it is not easy to manage if code grows as project size grows.</a:t>
            </a:r>
          </a:p>
          <a:p>
            <a:r>
              <a:rPr lang="en-US" sz="2400" dirty="0"/>
              <a:t>OOPs provide data hiding whereas in Procedure-oriented programming language a global data can be accessed from anywhere.</a:t>
            </a:r>
          </a:p>
          <a:p>
            <a:r>
              <a:rPr lang="en-US" sz="2400" dirty="0"/>
              <a:t>OOPs provide ability to simulate real-world event much more effectively. We can provide the solution of real word problem if we are using the Object-Oriented Programming language.</a:t>
            </a:r>
          </a:p>
        </p:txBody>
      </p:sp>
      <p:sp>
        <p:nvSpPr>
          <p:cNvPr id="5" name="Date Placeholder 4">
            <a:extLst>
              <a:ext uri="{FF2B5EF4-FFF2-40B4-BE49-F238E27FC236}">
                <a16:creationId xmlns:a16="http://schemas.microsoft.com/office/drawing/2014/main" id="{BF53EC14-9CC8-45F8-810A-9FEAECF28EA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C445295E-6CA9-4F59-A666-62F335582AC5}"/>
              </a:ext>
            </a:extLst>
          </p:cNvPr>
          <p:cNvSpPr>
            <a:spLocks noGrp="1"/>
          </p:cNvSpPr>
          <p:nvPr>
            <p:ph type="sldNum" sz="quarter" idx="12"/>
          </p:nvPr>
        </p:nvSpPr>
        <p:spPr/>
        <p:txBody>
          <a:bodyPr/>
          <a:lstStyle/>
          <a:p>
            <a:fld id="{D8DA9DAA-006C-4F4B-980E-E3DF019B24E2}" type="slidenum">
              <a:rPr lang="en-US" smtClean="0"/>
              <a:pPr/>
              <a:t>10</a:t>
            </a:fld>
            <a:endParaRPr lang="en-US" dirty="0"/>
          </a:p>
        </p:txBody>
      </p:sp>
      <p:sp>
        <p:nvSpPr>
          <p:cNvPr id="6" name="Footer Placeholder 5">
            <a:extLst>
              <a:ext uri="{FF2B5EF4-FFF2-40B4-BE49-F238E27FC236}">
                <a16:creationId xmlns:a16="http://schemas.microsoft.com/office/drawing/2014/main" id="{1FECF634-E948-4445-9AB4-CBAB406ED0BE}"/>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963799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38DD22-C201-4F1D-ACE9-D890C4D395DB}"/>
              </a:ext>
            </a:extLst>
          </p:cNvPr>
          <p:cNvSpPr>
            <a:spLocks noGrp="1"/>
          </p:cNvSpPr>
          <p:nvPr>
            <p:ph type="title"/>
          </p:nvPr>
        </p:nvSpPr>
        <p:spPr>
          <a:xfrm>
            <a:off x="598610" y="685800"/>
            <a:ext cx="6190488" cy="893021"/>
          </a:xfrm>
        </p:spPr>
        <p:txBody>
          <a:bodyPr>
            <a:normAutofit/>
          </a:bodyPr>
          <a:lstStyle/>
          <a:p>
            <a:r>
              <a:rPr lang="en-US" dirty="0"/>
              <a:t>Overloading</a:t>
            </a:r>
          </a:p>
        </p:txBody>
      </p:sp>
      <p:sp>
        <p:nvSpPr>
          <p:cNvPr id="4" name="Content Placeholder 3">
            <a:extLst>
              <a:ext uri="{FF2B5EF4-FFF2-40B4-BE49-F238E27FC236}">
                <a16:creationId xmlns:a16="http://schemas.microsoft.com/office/drawing/2014/main" id="{726A85AA-CBC9-4A14-830E-BC2E89DDDE34}"/>
              </a:ext>
            </a:extLst>
          </p:cNvPr>
          <p:cNvSpPr>
            <a:spLocks noGrp="1"/>
          </p:cNvSpPr>
          <p:nvPr>
            <p:ph idx="1"/>
          </p:nvPr>
        </p:nvSpPr>
        <p:spPr>
          <a:xfrm>
            <a:off x="850392" y="2073499"/>
            <a:ext cx="11126960" cy="4098701"/>
          </a:xfrm>
        </p:spPr>
        <p:txBody>
          <a:bodyPr>
            <a:normAutofit/>
          </a:bodyPr>
          <a:lstStyle/>
          <a:p>
            <a:r>
              <a:rPr lang="en-US" sz="2400" dirty="0"/>
              <a:t>Polymorphism also has a subset known as overloading.</a:t>
            </a:r>
          </a:p>
          <a:p>
            <a:r>
              <a:rPr lang="en-US" sz="2400" dirty="0"/>
              <a:t> An existing operator or function is said to be overloaded when it is forced to operate on a new data type.</a:t>
            </a:r>
          </a:p>
        </p:txBody>
      </p:sp>
      <p:sp>
        <p:nvSpPr>
          <p:cNvPr id="5" name="Date Placeholder 4">
            <a:extLst>
              <a:ext uri="{FF2B5EF4-FFF2-40B4-BE49-F238E27FC236}">
                <a16:creationId xmlns:a16="http://schemas.microsoft.com/office/drawing/2014/main" id="{C7A3194D-B965-4D1C-B99F-C7E1C4889EB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6C6A642D-4D0F-41F2-851B-BA295084023A}"/>
              </a:ext>
            </a:extLst>
          </p:cNvPr>
          <p:cNvSpPr>
            <a:spLocks noGrp="1"/>
          </p:cNvSpPr>
          <p:nvPr>
            <p:ph type="sldNum" sz="quarter" idx="12"/>
          </p:nvPr>
        </p:nvSpPr>
        <p:spPr/>
        <p:txBody>
          <a:bodyPr/>
          <a:lstStyle/>
          <a:p>
            <a:fld id="{D8DA9DAA-006C-4F4B-980E-E3DF019B24E2}" type="slidenum">
              <a:rPr lang="en-US" smtClean="0"/>
              <a:pPr/>
              <a:t>11</a:t>
            </a:fld>
            <a:endParaRPr lang="en-US" dirty="0"/>
          </a:p>
        </p:txBody>
      </p:sp>
      <p:sp>
        <p:nvSpPr>
          <p:cNvPr id="6" name="Footer Placeholder 5">
            <a:extLst>
              <a:ext uri="{FF2B5EF4-FFF2-40B4-BE49-F238E27FC236}">
                <a16:creationId xmlns:a16="http://schemas.microsoft.com/office/drawing/2014/main" id="{5EC5DD92-3938-49DE-8EE3-53193B7D782E}"/>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288317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8F53D2-51FA-45E4-AEEE-513684EC6D08}"/>
              </a:ext>
            </a:extLst>
          </p:cNvPr>
          <p:cNvSpPr>
            <a:spLocks noGrp="1"/>
          </p:cNvSpPr>
          <p:nvPr>
            <p:ph type="title"/>
          </p:nvPr>
        </p:nvSpPr>
        <p:spPr>
          <a:xfrm>
            <a:off x="469820" y="364791"/>
            <a:ext cx="9768883" cy="880142"/>
          </a:xfrm>
        </p:spPr>
        <p:txBody>
          <a:bodyPr>
            <a:normAutofit/>
          </a:bodyPr>
          <a:lstStyle/>
          <a:p>
            <a:r>
              <a:rPr lang="en-US" dirty="0"/>
              <a:t>C++ Object and Class</a:t>
            </a:r>
          </a:p>
        </p:txBody>
      </p:sp>
      <p:sp>
        <p:nvSpPr>
          <p:cNvPr id="4" name="Content Placeholder 3">
            <a:extLst>
              <a:ext uri="{FF2B5EF4-FFF2-40B4-BE49-F238E27FC236}">
                <a16:creationId xmlns:a16="http://schemas.microsoft.com/office/drawing/2014/main" id="{1EF9533A-31A2-4429-B484-64FF43465148}"/>
              </a:ext>
            </a:extLst>
          </p:cNvPr>
          <p:cNvSpPr>
            <a:spLocks noGrp="1"/>
          </p:cNvSpPr>
          <p:nvPr>
            <p:ph idx="1"/>
          </p:nvPr>
        </p:nvSpPr>
        <p:spPr>
          <a:xfrm>
            <a:off x="474307" y="1975490"/>
            <a:ext cx="6190488" cy="3346704"/>
          </a:xfrm>
        </p:spPr>
        <p:txBody>
          <a:bodyPr/>
          <a:lstStyle/>
          <a:p>
            <a:r>
              <a:rPr lang="en-US" dirty="0"/>
              <a:t>Since C++ is an object-oriented language, program is designed using objects and classes in C++.</a:t>
            </a:r>
          </a:p>
        </p:txBody>
      </p:sp>
      <p:sp>
        <p:nvSpPr>
          <p:cNvPr id="5" name="Date Placeholder 4">
            <a:extLst>
              <a:ext uri="{FF2B5EF4-FFF2-40B4-BE49-F238E27FC236}">
                <a16:creationId xmlns:a16="http://schemas.microsoft.com/office/drawing/2014/main" id="{BA473A52-7088-4731-B5A4-582B543616C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5D5F72AD-EF54-4179-8188-D42749FB6DC1}"/>
              </a:ext>
            </a:extLst>
          </p:cNvPr>
          <p:cNvSpPr>
            <a:spLocks noGrp="1"/>
          </p:cNvSpPr>
          <p:nvPr>
            <p:ph type="sldNum" sz="quarter" idx="12"/>
          </p:nvPr>
        </p:nvSpPr>
        <p:spPr/>
        <p:txBody>
          <a:bodyPr/>
          <a:lstStyle/>
          <a:p>
            <a:fld id="{D8DA9DAA-006C-4F4B-980E-E3DF019B24E2}" type="slidenum">
              <a:rPr lang="en-US" smtClean="0"/>
              <a:pPr/>
              <a:t>12</a:t>
            </a:fld>
            <a:endParaRPr lang="en-US" dirty="0"/>
          </a:p>
        </p:txBody>
      </p:sp>
      <p:sp>
        <p:nvSpPr>
          <p:cNvPr id="6" name="Footer Placeholder 5">
            <a:extLst>
              <a:ext uri="{FF2B5EF4-FFF2-40B4-BE49-F238E27FC236}">
                <a16:creationId xmlns:a16="http://schemas.microsoft.com/office/drawing/2014/main" id="{612BCEA1-0343-4F49-AAE0-E07B3D7DE29C}"/>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530328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3DBAE3-E4C3-4159-B8FC-B1F0E9654DF1}"/>
              </a:ext>
            </a:extLst>
          </p:cNvPr>
          <p:cNvSpPr>
            <a:spLocks noGrp="1"/>
          </p:cNvSpPr>
          <p:nvPr>
            <p:ph type="title"/>
          </p:nvPr>
        </p:nvSpPr>
        <p:spPr>
          <a:xfrm>
            <a:off x="322359" y="310123"/>
            <a:ext cx="11241024" cy="751353"/>
          </a:xfrm>
        </p:spPr>
        <p:txBody>
          <a:bodyPr>
            <a:normAutofit fontScale="90000"/>
          </a:bodyPr>
          <a:lstStyle/>
          <a:p>
            <a:r>
              <a:rPr lang="en-US" u="sng" dirty="0"/>
              <a:t>Creating C++ Classes and Objects</a:t>
            </a:r>
          </a:p>
        </p:txBody>
      </p:sp>
      <p:sp>
        <p:nvSpPr>
          <p:cNvPr id="4" name="Content Placeholder 3">
            <a:extLst>
              <a:ext uri="{FF2B5EF4-FFF2-40B4-BE49-F238E27FC236}">
                <a16:creationId xmlns:a16="http://schemas.microsoft.com/office/drawing/2014/main" id="{2A283F4A-4EF5-47D1-9D3F-A727F0563769}"/>
              </a:ext>
            </a:extLst>
          </p:cNvPr>
          <p:cNvSpPr>
            <a:spLocks noGrp="1"/>
          </p:cNvSpPr>
          <p:nvPr>
            <p:ph idx="1"/>
          </p:nvPr>
        </p:nvSpPr>
        <p:spPr>
          <a:xfrm>
            <a:off x="322359" y="1738270"/>
            <a:ext cx="5773641" cy="4433930"/>
          </a:xfrm>
        </p:spPr>
        <p:txBody>
          <a:bodyPr>
            <a:normAutofit fontScale="92500" lnSpcReduction="10000"/>
          </a:bodyPr>
          <a:lstStyle/>
          <a:p>
            <a:r>
              <a:rPr lang="en-US" dirty="0"/>
              <a:t>In C++, class is a group of similar objects. It is a template from which objects are created. It can have fields, methods, constructors etc.</a:t>
            </a:r>
          </a:p>
          <a:p>
            <a:r>
              <a:rPr lang="en-US" dirty="0"/>
              <a:t>Let's see an example of C++ class that has three fields only.</a:t>
            </a:r>
          </a:p>
          <a:p>
            <a:r>
              <a:rPr lang="en-US" b="1" dirty="0"/>
              <a:t>class</a:t>
            </a:r>
            <a:r>
              <a:rPr lang="en-US" dirty="0"/>
              <a:t> Student    </a:t>
            </a:r>
          </a:p>
          <a:p>
            <a:r>
              <a:rPr lang="en-US" dirty="0"/>
              <a:t> {    </a:t>
            </a:r>
          </a:p>
          <a:p>
            <a:r>
              <a:rPr lang="en-US" dirty="0"/>
              <a:t>     </a:t>
            </a:r>
            <a:r>
              <a:rPr lang="en-US" b="1" dirty="0"/>
              <a:t>public</a:t>
            </a:r>
            <a:r>
              <a:rPr lang="en-US" dirty="0"/>
              <a:t>:  </a:t>
            </a:r>
          </a:p>
          <a:p>
            <a:r>
              <a:rPr lang="en-US" dirty="0"/>
              <a:t>     </a:t>
            </a:r>
            <a:r>
              <a:rPr lang="en-US" b="1" dirty="0"/>
              <a:t>int</a:t>
            </a:r>
            <a:r>
              <a:rPr lang="en-US" dirty="0"/>
              <a:t> id;  //field or data member          </a:t>
            </a:r>
          </a:p>
          <a:p>
            <a:r>
              <a:rPr lang="en-US" dirty="0"/>
              <a:t>     String name;//field or data member    </a:t>
            </a:r>
          </a:p>
          <a:p>
            <a:r>
              <a:rPr lang="en-US" dirty="0"/>
              <a:t> }    </a:t>
            </a:r>
          </a:p>
          <a:p>
            <a:endParaRPr lang="en-US" dirty="0"/>
          </a:p>
        </p:txBody>
      </p:sp>
      <p:sp>
        <p:nvSpPr>
          <p:cNvPr id="5" name="Date Placeholder 4">
            <a:extLst>
              <a:ext uri="{FF2B5EF4-FFF2-40B4-BE49-F238E27FC236}">
                <a16:creationId xmlns:a16="http://schemas.microsoft.com/office/drawing/2014/main" id="{2D426D6D-E8DB-4DA7-B8ED-7375BE4AF6E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5E8EFE68-6367-4CD1-85A3-31DB4893CB29}"/>
              </a:ext>
            </a:extLst>
          </p:cNvPr>
          <p:cNvSpPr>
            <a:spLocks noGrp="1"/>
          </p:cNvSpPr>
          <p:nvPr>
            <p:ph type="sldNum" sz="quarter" idx="12"/>
          </p:nvPr>
        </p:nvSpPr>
        <p:spPr/>
        <p:txBody>
          <a:bodyPr/>
          <a:lstStyle/>
          <a:p>
            <a:fld id="{D8DA9DAA-006C-4F4B-980E-E3DF019B24E2}" type="slidenum">
              <a:rPr lang="en-US" smtClean="0"/>
              <a:pPr/>
              <a:t>13</a:t>
            </a:fld>
            <a:endParaRPr lang="en-US" dirty="0"/>
          </a:p>
        </p:txBody>
      </p:sp>
      <p:sp>
        <p:nvSpPr>
          <p:cNvPr id="8" name="Content Placeholder 3">
            <a:extLst>
              <a:ext uri="{FF2B5EF4-FFF2-40B4-BE49-F238E27FC236}">
                <a16:creationId xmlns:a16="http://schemas.microsoft.com/office/drawing/2014/main" id="{24D8314F-02F1-4AB4-8CC6-53259DE384A4}"/>
              </a:ext>
            </a:extLst>
          </p:cNvPr>
          <p:cNvSpPr txBox="1">
            <a:spLocks/>
          </p:cNvSpPr>
          <p:nvPr/>
        </p:nvSpPr>
        <p:spPr>
          <a:xfrm>
            <a:off x="6303264" y="1906072"/>
            <a:ext cx="5416511" cy="4951928"/>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#include &lt;iostream&gt;  </a:t>
            </a:r>
          </a:p>
          <a:p>
            <a:r>
              <a:rPr lang="en-US" b="1" dirty="0"/>
              <a:t>using</a:t>
            </a:r>
            <a:r>
              <a:rPr lang="en-US" dirty="0"/>
              <a:t> </a:t>
            </a:r>
            <a:r>
              <a:rPr lang="en-US" b="1" dirty="0"/>
              <a:t>namespace</a:t>
            </a:r>
            <a:r>
              <a:rPr lang="en-US" dirty="0"/>
              <a:t> std;  </a:t>
            </a:r>
          </a:p>
          <a:p>
            <a:r>
              <a:rPr lang="en-US" b="1" dirty="0"/>
              <a:t>class</a:t>
            </a:r>
            <a:r>
              <a:rPr lang="en-US" dirty="0"/>
              <a:t> Student {  </a:t>
            </a:r>
          </a:p>
          <a:p>
            <a:r>
              <a:rPr lang="en-US" dirty="0"/>
              <a:t>   </a:t>
            </a:r>
            <a:r>
              <a:rPr lang="en-US" b="1" dirty="0"/>
              <a:t>public</a:t>
            </a:r>
            <a:r>
              <a:rPr lang="en-US" dirty="0"/>
              <a:t>:  </a:t>
            </a:r>
          </a:p>
          <a:p>
            <a:r>
              <a:rPr lang="en-US" dirty="0"/>
              <a:t>      </a:t>
            </a:r>
            <a:r>
              <a:rPr lang="en-US" b="1" dirty="0"/>
              <a:t>int</a:t>
            </a:r>
            <a:r>
              <a:rPr lang="en-US" dirty="0"/>
              <a:t> id;//data member (also instance variable)      </a:t>
            </a:r>
          </a:p>
          <a:p>
            <a:r>
              <a:rPr lang="en-US" dirty="0"/>
              <a:t>      string name;//data member(also instance variable)      </a:t>
            </a:r>
          </a:p>
          <a:p>
            <a:r>
              <a:rPr lang="en-US" dirty="0"/>
              <a:t>};  </a:t>
            </a:r>
          </a:p>
          <a:p>
            <a:r>
              <a:rPr lang="en-US" b="1" dirty="0"/>
              <a:t>int</a:t>
            </a:r>
            <a:r>
              <a:rPr lang="en-US" dirty="0"/>
              <a:t> main() {  </a:t>
            </a:r>
          </a:p>
          <a:p>
            <a:r>
              <a:rPr lang="en-US" dirty="0"/>
              <a:t>   </a:t>
            </a:r>
            <a:r>
              <a:rPr lang="en-US" b="1" dirty="0"/>
              <a:t> Student s1; //creating an object of Student   </a:t>
            </a:r>
          </a:p>
          <a:p>
            <a:r>
              <a:rPr lang="en-US" dirty="0"/>
              <a:t>    s1.id = 201;    </a:t>
            </a:r>
          </a:p>
          <a:p>
            <a:r>
              <a:rPr lang="en-US" dirty="0"/>
              <a:t>    s1.name = "</a:t>
            </a:r>
            <a:r>
              <a:rPr lang="en-US" dirty="0" err="1"/>
              <a:t>Sonoo</a:t>
            </a:r>
            <a:r>
              <a:rPr lang="en-US" dirty="0"/>
              <a:t> Jaiswal";   </a:t>
            </a:r>
          </a:p>
          <a:p>
            <a:r>
              <a:rPr lang="en-US" dirty="0"/>
              <a:t>    </a:t>
            </a:r>
            <a:r>
              <a:rPr lang="en-US" dirty="0" err="1"/>
              <a:t>cout</a:t>
            </a:r>
            <a:r>
              <a:rPr lang="en-US" dirty="0"/>
              <a:t>&lt;&lt;s1.id&lt;&lt;</a:t>
            </a:r>
            <a:r>
              <a:rPr lang="en-US" dirty="0" err="1"/>
              <a:t>endl</a:t>
            </a:r>
            <a:r>
              <a:rPr lang="en-US" dirty="0"/>
              <a:t>;  </a:t>
            </a:r>
          </a:p>
          <a:p>
            <a:r>
              <a:rPr lang="en-US" dirty="0"/>
              <a:t>    </a:t>
            </a:r>
            <a:r>
              <a:rPr lang="en-US" dirty="0" err="1"/>
              <a:t>cout</a:t>
            </a:r>
            <a:r>
              <a:rPr lang="en-US" dirty="0"/>
              <a:t>&lt;&lt;s1.name&lt;&lt;</a:t>
            </a:r>
            <a:r>
              <a:rPr lang="en-US" dirty="0" err="1"/>
              <a:t>endl</a:t>
            </a:r>
            <a:r>
              <a:rPr lang="en-US" dirty="0"/>
              <a:t>;  </a:t>
            </a:r>
          </a:p>
          <a:p>
            <a:r>
              <a:rPr lang="en-US" dirty="0"/>
              <a:t>    </a:t>
            </a:r>
            <a:r>
              <a:rPr lang="en-US" b="1" dirty="0"/>
              <a:t>return</a:t>
            </a:r>
            <a:r>
              <a:rPr lang="en-US" dirty="0"/>
              <a:t> 0;  </a:t>
            </a:r>
          </a:p>
          <a:p>
            <a:r>
              <a:rPr lang="en-US" dirty="0"/>
              <a:t>}  </a:t>
            </a:r>
          </a:p>
        </p:txBody>
      </p:sp>
    </p:spTree>
    <p:extLst>
      <p:ext uri="{BB962C8B-B14F-4D97-AF65-F5344CB8AC3E}">
        <p14:creationId xmlns:p14="http://schemas.microsoft.com/office/powerpoint/2010/main" val="322359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75BFD-23EE-4317-B0CC-68C17874D597}"/>
              </a:ext>
            </a:extLst>
          </p:cNvPr>
          <p:cNvSpPr>
            <a:spLocks noGrp="1"/>
          </p:cNvSpPr>
          <p:nvPr>
            <p:ph type="title"/>
          </p:nvPr>
        </p:nvSpPr>
        <p:spPr>
          <a:xfrm>
            <a:off x="257577" y="136525"/>
            <a:ext cx="10812072" cy="549275"/>
          </a:xfrm>
        </p:spPr>
        <p:txBody>
          <a:bodyPr>
            <a:normAutofit/>
          </a:bodyPr>
          <a:lstStyle/>
          <a:p>
            <a:r>
              <a:rPr lang="en-US" sz="3100" b="1" dirty="0"/>
              <a:t>Initialize and Display data through method</a:t>
            </a:r>
            <a:endParaRPr lang="en-US" b="1" dirty="0"/>
          </a:p>
        </p:txBody>
      </p:sp>
      <p:sp>
        <p:nvSpPr>
          <p:cNvPr id="4" name="Content Placeholder 3">
            <a:extLst>
              <a:ext uri="{FF2B5EF4-FFF2-40B4-BE49-F238E27FC236}">
                <a16:creationId xmlns:a16="http://schemas.microsoft.com/office/drawing/2014/main" id="{97A47F6C-52E9-4418-AFB8-6766E9ED5EAE}"/>
              </a:ext>
            </a:extLst>
          </p:cNvPr>
          <p:cNvSpPr>
            <a:spLocks noGrp="1"/>
          </p:cNvSpPr>
          <p:nvPr>
            <p:ph idx="1"/>
          </p:nvPr>
        </p:nvSpPr>
        <p:spPr>
          <a:xfrm>
            <a:off x="257576" y="875763"/>
            <a:ext cx="5709635" cy="5296437"/>
          </a:xfrm>
        </p:spPr>
        <p:txBody>
          <a:bodyPr>
            <a:normAutofit fontScale="700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b="1" dirty="0"/>
              <a:t>class</a:t>
            </a:r>
            <a:r>
              <a:rPr lang="en-US" dirty="0"/>
              <a:t> Student {  </a:t>
            </a:r>
          </a:p>
          <a:p>
            <a:r>
              <a:rPr lang="en-US" dirty="0"/>
              <a:t>   </a:t>
            </a:r>
            <a:r>
              <a:rPr lang="en-US" b="1" dirty="0"/>
              <a:t>public</a:t>
            </a:r>
            <a:r>
              <a:rPr lang="en-US" dirty="0"/>
              <a:t>:  </a:t>
            </a:r>
          </a:p>
          <a:p>
            <a:r>
              <a:rPr lang="en-US" dirty="0"/>
              <a:t>       </a:t>
            </a:r>
            <a:r>
              <a:rPr lang="en-US" b="1" dirty="0"/>
              <a:t>int</a:t>
            </a:r>
            <a:r>
              <a:rPr lang="en-US" dirty="0"/>
              <a:t> id;//data member (also instance variable)      </a:t>
            </a:r>
          </a:p>
          <a:p>
            <a:r>
              <a:rPr lang="en-US" dirty="0"/>
              <a:t>       string name;//data member(also instance variable)      </a:t>
            </a:r>
          </a:p>
          <a:p>
            <a:r>
              <a:rPr lang="en-US" dirty="0"/>
              <a:t>       </a:t>
            </a:r>
            <a:r>
              <a:rPr lang="en-US" b="1" dirty="0"/>
              <a:t>void</a:t>
            </a:r>
            <a:r>
              <a:rPr lang="en-US" dirty="0"/>
              <a:t> insert(</a:t>
            </a:r>
            <a:r>
              <a:rPr lang="en-US" b="1" dirty="0"/>
              <a:t>int</a:t>
            </a:r>
            <a:r>
              <a:rPr lang="en-US" dirty="0"/>
              <a:t> </a:t>
            </a:r>
            <a:r>
              <a:rPr lang="en-US" dirty="0" err="1"/>
              <a:t>i</a:t>
            </a:r>
            <a:r>
              <a:rPr lang="en-US" dirty="0"/>
              <a:t>, string n)    </a:t>
            </a:r>
          </a:p>
          <a:p>
            <a:r>
              <a:rPr lang="en-US" dirty="0"/>
              <a:t>        {    </a:t>
            </a:r>
          </a:p>
          <a:p>
            <a:r>
              <a:rPr lang="en-US" dirty="0"/>
              <a:t>            id = </a:t>
            </a:r>
            <a:r>
              <a:rPr lang="en-US" dirty="0" err="1"/>
              <a:t>i</a:t>
            </a:r>
            <a:r>
              <a:rPr lang="en-US" dirty="0"/>
              <a:t>;    </a:t>
            </a:r>
          </a:p>
          <a:p>
            <a:r>
              <a:rPr lang="en-US" dirty="0"/>
              <a:t>            name = n;    </a:t>
            </a:r>
          </a:p>
          <a:p>
            <a:r>
              <a:rPr lang="en-US" dirty="0"/>
              <a:t>        }    </a:t>
            </a:r>
          </a:p>
          <a:p>
            <a:r>
              <a:rPr lang="en-US" dirty="0"/>
              <a:t>       </a:t>
            </a:r>
            <a:r>
              <a:rPr lang="en-US" b="1" dirty="0"/>
              <a:t>void</a:t>
            </a:r>
            <a:r>
              <a:rPr lang="en-US" dirty="0"/>
              <a:t> display()    </a:t>
            </a:r>
          </a:p>
          <a:p>
            <a:r>
              <a:rPr lang="en-US" dirty="0"/>
              <a:t>        {    </a:t>
            </a:r>
          </a:p>
          <a:p>
            <a:r>
              <a:rPr lang="en-US" dirty="0"/>
              <a:t>            </a:t>
            </a:r>
            <a:r>
              <a:rPr lang="en-US" dirty="0" err="1"/>
              <a:t>cout</a:t>
            </a:r>
            <a:r>
              <a:rPr lang="en-US" dirty="0"/>
              <a:t>&lt;&lt;id&lt;&lt;"  "&lt;&lt;name&lt;&lt;</a:t>
            </a:r>
            <a:r>
              <a:rPr lang="en-US" dirty="0" err="1"/>
              <a:t>endl</a:t>
            </a:r>
            <a:r>
              <a:rPr lang="en-US" dirty="0"/>
              <a:t>;    </a:t>
            </a:r>
          </a:p>
          <a:p>
            <a:r>
              <a:rPr lang="en-US" dirty="0"/>
              <a:t>        }    </a:t>
            </a:r>
          </a:p>
          <a:p>
            <a:r>
              <a:rPr lang="en-US" dirty="0"/>
              <a:t>};  </a:t>
            </a:r>
          </a:p>
          <a:p>
            <a:endParaRPr lang="en-US" dirty="0"/>
          </a:p>
        </p:txBody>
      </p:sp>
      <p:sp>
        <p:nvSpPr>
          <p:cNvPr id="5" name="Date Placeholder 4">
            <a:extLst>
              <a:ext uri="{FF2B5EF4-FFF2-40B4-BE49-F238E27FC236}">
                <a16:creationId xmlns:a16="http://schemas.microsoft.com/office/drawing/2014/main" id="{3D996EB1-87B5-43FA-836B-7EBB70966FD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02A8353C-6720-4C41-8E63-9BBF480AF6CB}"/>
              </a:ext>
            </a:extLst>
          </p:cNvPr>
          <p:cNvSpPr>
            <a:spLocks noGrp="1"/>
          </p:cNvSpPr>
          <p:nvPr>
            <p:ph type="sldNum" sz="quarter" idx="12"/>
          </p:nvPr>
        </p:nvSpPr>
        <p:spPr/>
        <p:txBody>
          <a:bodyPr/>
          <a:lstStyle/>
          <a:p>
            <a:fld id="{D8DA9DAA-006C-4F4B-980E-E3DF019B24E2}" type="slidenum">
              <a:rPr lang="en-US" smtClean="0"/>
              <a:pPr/>
              <a:t>14</a:t>
            </a:fld>
            <a:endParaRPr lang="en-US" dirty="0"/>
          </a:p>
        </p:txBody>
      </p:sp>
      <p:sp>
        <p:nvSpPr>
          <p:cNvPr id="9" name="Content Placeholder 3">
            <a:extLst>
              <a:ext uri="{FF2B5EF4-FFF2-40B4-BE49-F238E27FC236}">
                <a16:creationId xmlns:a16="http://schemas.microsoft.com/office/drawing/2014/main" id="{52C5FEA3-7D74-4AAC-A639-CEA6005B8632}"/>
              </a:ext>
            </a:extLst>
          </p:cNvPr>
          <p:cNvSpPr txBox="1">
            <a:spLocks/>
          </p:cNvSpPr>
          <p:nvPr/>
        </p:nvSpPr>
        <p:spPr>
          <a:xfrm>
            <a:off x="5967211" y="875763"/>
            <a:ext cx="5688168" cy="4812320"/>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int</a:t>
            </a:r>
            <a:r>
              <a:rPr lang="en-US" dirty="0"/>
              <a:t> main(</a:t>
            </a:r>
            <a:r>
              <a:rPr lang="en-US" b="1" dirty="0"/>
              <a:t>void</a:t>
            </a:r>
            <a:r>
              <a:rPr lang="en-US" dirty="0"/>
              <a:t>) {  </a:t>
            </a:r>
          </a:p>
          <a:p>
            <a:r>
              <a:rPr lang="en-US" dirty="0"/>
              <a:t>    Student s1; //creating an object of Student   </a:t>
            </a:r>
          </a:p>
          <a:p>
            <a:r>
              <a:rPr lang="en-US" dirty="0"/>
              <a:t>    Student s2; //creating an object of Student  </a:t>
            </a:r>
          </a:p>
          <a:p>
            <a:r>
              <a:rPr lang="en-US" dirty="0"/>
              <a:t>    s1.insert(201, "</a:t>
            </a:r>
            <a:r>
              <a:rPr lang="en-US" dirty="0" err="1"/>
              <a:t>Sonoo</a:t>
            </a:r>
            <a:r>
              <a:rPr lang="en-US" dirty="0"/>
              <a:t>");    </a:t>
            </a:r>
          </a:p>
          <a:p>
            <a:r>
              <a:rPr lang="en-US" dirty="0"/>
              <a:t>    s2.insert(202, "Nakul");    </a:t>
            </a:r>
          </a:p>
          <a:p>
            <a:r>
              <a:rPr lang="en-US" dirty="0"/>
              <a:t>    s1.display();    </a:t>
            </a:r>
          </a:p>
          <a:p>
            <a:r>
              <a:rPr lang="en-US" dirty="0"/>
              <a:t>    s2.display();  </a:t>
            </a:r>
          </a:p>
          <a:p>
            <a:r>
              <a:rPr lang="en-US" dirty="0"/>
              <a:t>    </a:t>
            </a:r>
            <a:r>
              <a:rPr lang="en-US" b="1" dirty="0"/>
              <a:t>return</a:t>
            </a:r>
            <a:r>
              <a:rPr lang="en-US" dirty="0"/>
              <a:t> 0;  </a:t>
            </a:r>
          </a:p>
          <a:p>
            <a:r>
              <a:rPr lang="en-US" dirty="0"/>
              <a:t>}  </a:t>
            </a:r>
          </a:p>
          <a:p>
            <a:endParaRPr lang="en-US" dirty="0"/>
          </a:p>
        </p:txBody>
      </p:sp>
    </p:spTree>
    <p:extLst>
      <p:ext uri="{BB962C8B-B14F-4D97-AF65-F5344CB8AC3E}">
        <p14:creationId xmlns:p14="http://schemas.microsoft.com/office/powerpoint/2010/main" val="3671025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C753FA-9565-45AD-8EE4-A30AB6628199}"/>
              </a:ext>
            </a:extLst>
          </p:cNvPr>
          <p:cNvSpPr>
            <a:spLocks noGrp="1"/>
          </p:cNvSpPr>
          <p:nvPr>
            <p:ph type="title"/>
          </p:nvPr>
        </p:nvSpPr>
        <p:spPr>
          <a:xfrm>
            <a:off x="591011" y="180308"/>
            <a:ext cx="7321897" cy="815748"/>
          </a:xfrm>
        </p:spPr>
        <p:txBody>
          <a:bodyPr>
            <a:normAutofit fontScale="90000"/>
          </a:bodyPr>
          <a:lstStyle/>
          <a:p>
            <a:r>
              <a:rPr lang="en-US" b="1" dirty="0"/>
              <a:t>C++ Constructor</a:t>
            </a:r>
          </a:p>
        </p:txBody>
      </p:sp>
      <p:sp>
        <p:nvSpPr>
          <p:cNvPr id="4" name="Content Placeholder 3">
            <a:extLst>
              <a:ext uri="{FF2B5EF4-FFF2-40B4-BE49-F238E27FC236}">
                <a16:creationId xmlns:a16="http://schemas.microsoft.com/office/drawing/2014/main" id="{A8BC6A12-4A25-4FC5-8253-7C10A913D3EA}"/>
              </a:ext>
            </a:extLst>
          </p:cNvPr>
          <p:cNvSpPr>
            <a:spLocks noGrp="1"/>
          </p:cNvSpPr>
          <p:nvPr>
            <p:ph idx="1"/>
          </p:nvPr>
        </p:nvSpPr>
        <p:spPr>
          <a:xfrm>
            <a:off x="591011" y="996056"/>
            <a:ext cx="11141643" cy="5176145"/>
          </a:xfrm>
        </p:spPr>
        <p:txBody>
          <a:bodyPr>
            <a:normAutofit/>
          </a:bodyPr>
          <a:lstStyle/>
          <a:p>
            <a:r>
              <a:rPr lang="en-US" sz="2400" dirty="0"/>
              <a:t>In C++, constructor is a special method which is invoked automatically at the time of object creation. It is used to initialize the data members of new object generally. The constructor in C++ has the same name as class or structure.</a:t>
            </a:r>
          </a:p>
          <a:p>
            <a:r>
              <a:rPr lang="en-US" sz="2400" dirty="0"/>
              <a:t>In brief, A particular procedure called a constructor is called automatically when an object is created in C++. In general, it is employed to create the data members of new things. In C++, the class or structure name also serves as the constructor name. When an object is completed, the constructor is called. Because it creates the values or gives data for the thing, it is known as a constructor.</a:t>
            </a:r>
          </a:p>
          <a:p>
            <a:r>
              <a:rPr lang="en-US" sz="2400" dirty="0"/>
              <a:t>The Constructors prototype looks like this:</a:t>
            </a:r>
          </a:p>
          <a:p>
            <a:r>
              <a:rPr lang="en-US" sz="2400" dirty="0"/>
              <a:t>&lt;</a:t>
            </a:r>
            <a:r>
              <a:rPr lang="en-US" sz="2400" b="1" dirty="0"/>
              <a:t>class</a:t>
            </a:r>
            <a:r>
              <a:rPr lang="en-US" sz="2400" dirty="0"/>
              <a:t>-name&gt; (list-of-parameters);  </a:t>
            </a:r>
          </a:p>
          <a:p>
            <a:endParaRPr lang="en-US" dirty="0"/>
          </a:p>
        </p:txBody>
      </p:sp>
      <p:sp>
        <p:nvSpPr>
          <p:cNvPr id="5" name="Date Placeholder 4">
            <a:extLst>
              <a:ext uri="{FF2B5EF4-FFF2-40B4-BE49-F238E27FC236}">
                <a16:creationId xmlns:a16="http://schemas.microsoft.com/office/drawing/2014/main" id="{6C04657A-03C2-497C-93F4-50F1F02D50FF}"/>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CB90AB4F-B0B5-4948-B7F8-197CF719BBDE}"/>
              </a:ext>
            </a:extLst>
          </p:cNvPr>
          <p:cNvSpPr>
            <a:spLocks noGrp="1"/>
          </p:cNvSpPr>
          <p:nvPr>
            <p:ph type="sldNum" sz="quarter" idx="12"/>
          </p:nvPr>
        </p:nvSpPr>
        <p:spPr/>
        <p:txBody>
          <a:bodyPr/>
          <a:lstStyle/>
          <a:p>
            <a:fld id="{D8DA9DAA-006C-4F4B-980E-E3DF019B24E2}" type="slidenum">
              <a:rPr lang="en-US" smtClean="0"/>
              <a:pPr/>
              <a:t>15</a:t>
            </a:fld>
            <a:endParaRPr lang="en-US" dirty="0"/>
          </a:p>
        </p:txBody>
      </p:sp>
    </p:spTree>
    <p:extLst>
      <p:ext uri="{BB962C8B-B14F-4D97-AF65-F5344CB8AC3E}">
        <p14:creationId xmlns:p14="http://schemas.microsoft.com/office/powerpoint/2010/main" val="2300536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5353027-6791-4B8B-A55B-543F9EE00D85}"/>
              </a:ext>
            </a:extLst>
          </p:cNvPr>
          <p:cNvSpPr>
            <a:spLocks noGrp="1"/>
          </p:cNvSpPr>
          <p:nvPr>
            <p:ph idx="1"/>
          </p:nvPr>
        </p:nvSpPr>
        <p:spPr>
          <a:xfrm>
            <a:off x="850391" y="373488"/>
            <a:ext cx="10817867" cy="5798712"/>
          </a:xfrm>
        </p:spPr>
        <p:txBody>
          <a:bodyPr>
            <a:normAutofit/>
          </a:bodyPr>
          <a:lstStyle/>
          <a:p>
            <a:r>
              <a:rPr lang="en-US" sz="2400" dirty="0"/>
              <a:t>The following syntax is used to define the class's constructor:</a:t>
            </a:r>
          </a:p>
          <a:p>
            <a:r>
              <a:rPr lang="en-US" sz="2400" dirty="0"/>
              <a:t>&lt;</a:t>
            </a:r>
            <a:r>
              <a:rPr lang="en-US" sz="2400" b="1" dirty="0"/>
              <a:t>class</a:t>
            </a:r>
            <a:r>
              <a:rPr lang="en-US" sz="2400" dirty="0"/>
              <a:t>-name&gt; (list-of-parameters) { // constructor definition }  </a:t>
            </a:r>
          </a:p>
          <a:p>
            <a:endParaRPr lang="en-US" sz="2400" dirty="0"/>
          </a:p>
          <a:p>
            <a:r>
              <a:rPr lang="en-US" sz="2400" dirty="0"/>
              <a:t>The following syntax is used to define a constructor outside of a class:</a:t>
            </a:r>
          </a:p>
          <a:p>
            <a:r>
              <a:rPr lang="en-US" sz="2400" dirty="0"/>
              <a:t>&lt;</a:t>
            </a:r>
            <a:r>
              <a:rPr lang="en-US" sz="2400" b="1" dirty="0"/>
              <a:t>class</a:t>
            </a:r>
            <a:r>
              <a:rPr lang="en-US" sz="2400" dirty="0"/>
              <a:t>-name&gt;: :&lt;</a:t>
            </a:r>
            <a:r>
              <a:rPr lang="en-US" sz="2400" b="1" dirty="0"/>
              <a:t>class</a:t>
            </a:r>
            <a:r>
              <a:rPr lang="en-US" sz="2400" dirty="0"/>
              <a:t>-name&gt; (list-of-parameters){ // constructor definition}  </a:t>
            </a:r>
          </a:p>
          <a:p>
            <a:endParaRPr lang="en-US" sz="2400" dirty="0"/>
          </a:p>
          <a:p>
            <a:r>
              <a:rPr lang="en-US" sz="2400" dirty="0"/>
              <a:t>Constructors lack a return type since they don't have a return value.</a:t>
            </a:r>
          </a:p>
          <a:p>
            <a:r>
              <a:rPr lang="en-US" sz="2400" dirty="0"/>
              <a:t>There can be two types of constructors in C++.</a:t>
            </a:r>
          </a:p>
          <a:p>
            <a:r>
              <a:rPr lang="en-US" sz="2400" dirty="0"/>
              <a:t>Default constructor</a:t>
            </a:r>
          </a:p>
          <a:p>
            <a:r>
              <a:rPr lang="en-US" sz="2400" dirty="0"/>
              <a:t>Parameterized constructor</a:t>
            </a:r>
          </a:p>
          <a:p>
            <a:endParaRPr lang="en-US" dirty="0"/>
          </a:p>
        </p:txBody>
      </p:sp>
      <p:sp>
        <p:nvSpPr>
          <p:cNvPr id="5" name="Date Placeholder 4">
            <a:extLst>
              <a:ext uri="{FF2B5EF4-FFF2-40B4-BE49-F238E27FC236}">
                <a16:creationId xmlns:a16="http://schemas.microsoft.com/office/drawing/2014/main" id="{38DC1B32-457C-46D4-9BF9-ACFACD4626C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56FE0DB1-E589-4531-B7B8-3CC37928C627}"/>
              </a:ext>
            </a:extLst>
          </p:cNvPr>
          <p:cNvSpPr>
            <a:spLocks noGrp="1"/>
          </p:cNvSpPr>
          <p:nvPr>
            <p:ph type="sldNum" sz="quarter" idx="12"/>
          </p:nvPr>
        </p:nvSpPr>
        <p:spPr/>
        <p:txBody>
          <a:bodyPr/>
          <a:lstStyle/>
          <a:p>
            <a:fld id="{D8DA9DAA-006C-4F4B-980E-E3DF019B24E2}" type="slidenum">
              <a:rPr lang="en-US" smtClean="0"/>
              <a:pPr/>
              <a:t>16</a:t>
            </a:fld>
            <a:endParaRPr lang="en-US" dirty="0"/>
          </a:p>
        </p:txBody>
      </p:sp>
    </p:spTree>
    <p:extLst>
      <p:ext uri="{BB962C8B-B14F-4D97-AF65-F5344CB8AC3E}">
        <p14:creationId xmlns:p14="http://schemas.microsoft.com/office/powerpoint/2010/main" val="507081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D5D6FA-CD26-4703-B7E1-140D6C9F61E7}"/>
              </a:ext>
            </a:extLst>
          </p:cNvPr>
          <p:cNvSpPr>
            <a:spLocks noGrp="1"/>
          </p:cNvSpPr>
          <p:nvPr>
            <p:ph type="title"/>
          </p:nvPr>
        </p:nvSpPr>
        <p:spPr>
          <a:xfrm>
            <a:off x="215807" y="136525"/>
            <a:ext cx="10657525" cy="751353"/>
          </a:xfrm>
        </p:spPr>
        <p:txBody>
          <a:bodyPr>
            <a:normAutofit fontScale="90000"/>
          </a:bodyPr>
          <a:lstStyle/>
          <a:p>
            <a:r>
              <a:rPr lang="en-US" b="1" dirty="0"/>
              <a:t>C++ Default Constructor</a:t>
            </a:r>
          </a:p>
        </p:txBody>
      </p:sp>
      <p:sp>
        <p:nvSpPr>
          <p:cNvPr id="4" name="Content Placeholder 3">
            <a:extLst>
              <a:ext uri="{FF2B5EF4-FFF2-40B4-BE49-F238E27FC236}">
                <a16:creationId xmlns:a16="http://schemas.microsoft.com/office/drawing/2014/main" id="{031927EF-9DCA-4A12-AD9F-B6F765CA3C79}"/>
              </a:ext>
            </a:extLst>
          </p:cNvPr>
          <p:cNvSpPr>
            <a:spLocks noGrp="1"/>
          </p:cNvSpPr>
          <p:nvPr>
            <p:ph idx="1"/>
          </p:nvPr>
        </p:nvSpPr>
        <p:spPr>
          <a:xfrm>
            <a:off x="334851" y="1043189"/>
            <a:ext cx="11578107" cy="751353"/>
          </a:xfrm>
        </p:spPr>
        <p:txBody>
          <a:bodyPr>
            <a:normAutofit fontScale="92500" lnSpcReduction="20000"/>
          </a:bodyPr>
          <a:lstStyle/>
          <a:p>
            <a:r>
              <a:rPr lang="en-US" sz="2400" dirty="0"/>
              <a:t>A constructor which has no argument is known as default constructor. It is invoked at the time of creating object. Let's see the simple example of C++ default Constructor.</a:t>
            </a:r>
          </a:p>
          <a:p>
            <a:endParaRPr lang="en-US" dirty="0"/>
          </a:p>
        </p:txBody>
      </p:sp>
      <p:sp>
        <p:nvSpPr>
          <p:cNvPr id="5" name="Date Placeholder 4">
            <a:extLst>
              <a:ext uri="{FF2B5EF4-FFF2-40B4-BE49-F238E27FC236}">
                <a16:creationId xmlns:a16="http://schemas.microsoft.com/office/drawing/2014/main" id="{9843DBDE-8297-4489-8158-6D7659ACBF7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E4CFF909-3A96-4BA1-8CF7-3CCD67193874}"/>
              </a:ext>
            </a:extLst>
          </p:cNvPr>
          <p:cNvSpPr>
            <a:spLocks noGrp="1"/>
          </p:cNvSpPr>
          <p:nvPr>
            <p:ph type="sldNum" sz="quarter" idx="12"/>
          </p:nvPr>
        </p:nvSpPr>
        <p:spPr/>
        <p:txBody>
          <a:bodyPr/>
          <a:lstStyle/>
          <a:p>
            <a:fld id="{D8DA9DAA-006C-4F4B-980E-E3DF019B24E2}" type="slidenum">
              <a:rPr lang="en-US" smtClean="0"/>
              <a:pPr/>
              <a:t>17</a:t>
            </a:fld>
            <a:endParaRPr lang="en-US" dirty="0"/>
          </a:p>
        </p:txBody>
      </p:sp>
      <p:sp>
        <p:nvSpPr>
          <p:cNvPr id="8" name="Rectangle 7">
            <a:extLst>
              <a:ext uri="{FF2B5EF4-FFF2-40B4-BE49-F238E27FC236}">
                <a16:creationId xmlns:a16="http://schemas.microsoft.com/office/drawing/2014/main" id="{6B97810A-F782-493F-AFD3-4996670038B2}"/>
              </a:ext>
            </a:extLst>
          </p:cNvPr>
          <p:cNvSpPr/>
          <p:nvPr/>
        </p:nvSpPr>
        <p:spPr>
          <a:xfrm>
            <a:off x="489397" y="1794543"/>
            <a:ext cx="11103738" cy="4524315"/>
          </a:xfrm>
          <a:prstGeom prst="rect">
            <a:avLst/>
          </a:prstGeom>
        </p:spPr>
        <p:txBody>
          <a:bodyPr wrap="square">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Employee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Employee()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"Default Constructor Invoked"</a:t>
            </a:r>
            <a:r>
              <a:rPr lang="en-US" dirty="0">
                <a:solidFill>
                  <a:srgbClr val="000000"/>
                </a:solidFill>
                <a:latin typeface="inter-regular"/>
              </a:rPr>
              <a:t>&lt;&lt;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Employee e1; </a:t>
            </a:r>
            <a:r>
              <a:rPr lang="en-US" dirty="0">
                <a:solidFill>
                  <a:srgbClr val="008200"/>
                </a:solidFill>
                <a:latin typeface="inter-regular"/>
              </a:rPr>
              <a:t>//creating an object of Employee </a:t>
            </a:r>
            <a:r>
              <a:rPr lang="en-US" dirty="0">
                <a:solidFill>
                  <a:srgbClr val="000000"/>
                </a:solidFill>
                <a:latin typeface="inter-regular"/>
              </a:rPr>
              <a:t>  </a:t>
            </a:r>
          </a:p>
          <a:p>
            <a:pPr algn="just"/>
            <a:r>
              <a:rPr lang="en-US" dirty="0">
                <a:solidFill>
                  <a:srgbClr val="000000"/>
                </a:solidFill>
                <a:latin typeface="inter-regular"/>
              </a:rPr>
              <a:t>    Employee e2;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3688521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3FEBE4-9BFA-4813-AD72-86B3EA897535}"/>
              </a:ext>
            </a:extLst>
          </p:cNvPr>
          <p:cNvSpPr>
            <a:spLocks noGrp="1"/>
          </p:cNvSpPr>
          <p:nvPr>
            <p:ph type="title"/>
          </p:nvPr>
        </p:nvSpPr>
        <p:spPr>
          <a:xfrm>
            <a:off x="559974" y="310123"/>
            <a:ext cx="10026460" cy="751353"/>
          </a:xfrm>
        </p:spPr>
        <p:txBody>
          <a:bodyPr>
            <a:normAutofit fontScale="90000"/>
          </a:bodyPr>
          <a:lstStyle/>
          <a:p>
            <a:r>
              <a:rPr lang="en-US" b="1" dirty="0"/>
              <a:t>C++ Parameterized Constructor</a:t>
            </a:r>
          </a:p>
        </p:txBody>
      </p:sp>
      <p:sp>
        <p:nvSpPr>
          <p:cNvPr id="4" name="Content Placeholder 3">
            <a:extLst>
              <a:ext uri="{FF2B5EF4-FFF2-40B4-BE49-F238E27FC236}">
                <a16:creationId xmlns:a16="http://schemas.microsoft.com/office/drawing/2014/main" id="{001C5480-5611-434D-9720-1B97D317ACAC}"/>
              </a:ext>
            </a:extLst>
          </p:cNvPr>
          <p:cNvSpPr>
            <a:spLocks noGrp="1"/>
          </p:cNvSpPr>
          <p:nvPr>
            <p:ph idx="1"/>
          </p:nvPr>
        </p:nvSpPr>
        <p:spPr>
          <a:xfrm>
            <a:off x="682580" y="2412999"/>
            <a:ext cx="10882648" cy="3759201"/>
          </a:xfrm>
        </p:spPr>
        <p:txBody>
          <a:bodyPr/>
          <a:lstStyle/>
          <a:p>
            <a:r>
              <a:rPr lang="en-US" sz="2800" dirty="0"/>
              <a:t> Constructor which has parameters is called parameterized constructor. It is used to provide different values to distinct </a:t>
            </a:r>
            <a:r>
              <a:rPr lang="en-US" sz="2800"/>
              <a:t>objects. </a:t>
            </a:r>
            <a:r>
              <a:rPr lang="en-US" sz="2800" dirty="0"/>
              <a:t>Let's see the simple example of C++ Parameterized Constructor.</a:t>
            </a:r>
          </a:p>
          <a:p>
            <a:endParaRPr lang="en-US" dirty="0"/>
          </a:p>
        </p:txBody>
      </p:sp>
      <p:sp>
        <p:nvSpPr>
          <p:cNvPr id="5" name="Date Placeholder 4">
            <a:extLst>
              <a:ext uri="{FF2B5EF4-FFF2-40B4-BE49-F238E27FC236}">
                <a16:creationId xmlns:a16="http://schemas.microsoft.com/office/drawing/2014/main" id="{B5CBE20E-9FC3-4668-B492-5C9DBB3EC27F}"/>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7BA7BDCD-387A-48FD-8984-055B4D5F3306}"/>
              </a:ext>
            </a:extLst>
          </p:cNvPr>
          <p:cNvSpPr>
            <a:spLocks noGrp="1"/>
          </p:cNvSpPr>
          <p:nvPr>
            <p:ph type="sldNum" sz="quarter" idx="12"/>
          </p:nvPr>
        </p:nvSpPr>
        <p:spPr/>
        <p:txBody>
          <a:bodyPr/>
          <a:lstStyle/>
          <a:p>
            <a:fld id="{D8DA9DAA-006C-4F4B-980E-E3DF019B24E2}" type="slidenum">
              <a:rPr lang="en-US" smtClean="0"/>
              <a:pPr/>
              <a:t>18</a:t>
            </a:fld>
            <a:endParaRPr lang="en-US" dirty="0"/>
          </a:p>
        </p:txBody>
      </p:sp>
    </p:spTree>
    <p:extLst>
      <p:ext uri="{BB962C8B-B14F-4D97-AF65-F5344CB8AC3E}">
        <p14:creationId xmlns:p14="http://schemas.microsoft.com/office/powerpoint/2010/main" val="1231975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AD22A917-3E99-4DAD-8F69-53E6407CD862}"/>
              </a:ext>
            </a:extLst>
          </p:cNvPr>
          <p:cNvSpPr>
            <a:spLocks noGrp="1"/>
          </p:cNvSpPr>
          <p:nvPr>
            <p:ph idx="1"/>
          </p:nvPr>
        </p:nvSpPr>
        <p:spPr>
          <a:xfrm>
            <a:off x="138175" y="149226"/>
            <a:ext cx="5815305" cy="6102350"/>
          </a:xfrm>
        </p:spPr>
        <p:txBody>
          <a:bodyPr>
            <a:noAutofit/>
          </a:bodyPr>
          <a:lstStyle/>
          <a:p>
            <a:r>
              <a:rPr lang="en-US" sz="1800" dirty="0"/>
              <a:t>// part 1 of 2</a:t>
            </a:r>
          </a:p>
          <a:p>
            <a:r>
              <a:rPr lang="en-US" sz="1800" dirty="0"/>
              <a:t>#include &lt;iostream&gt;  </a:t>
            </a:r>
          </a:p>
          <a:p>
            <a:r>
              <a:rPr lang="en-US" sz="1800" b="1" dirty="0"/>
              <a:t>using</a:t>
            </a:r>
            <a:r>
              <a:rPr lang="en-US" sz="1800" dirty="0"/>
              <a:t> </a:t>
            </a:r>
            <a:r>
              <a:rPr lang="en-US" sz="1800" b="1" dirty="0"/>
              <a:t>namespace</a:t>
            </a:r>
            <a:r>
              <a:rPr lang="en-US" sz="1800" dirty="0"/>
              <a:t> std;  </a:t>
            </a:r>
          </a:p>
          <a:p>
            <a:r>
              <a:rPr lang="en-US" sz="1800" b="1" dirty="0"/>
              <a:t>class</a:t>
            </a:r>
            <a:r>
              <a:rPr lang="en-US" sz="1800" dirty="0"/>
              <a:t> Employee {  </a:t>
            </a:r>
          </a:p>
          <a:p>
            <a:r>
              <a:rPr lang="en-US" sz="1800" dirty="0"/>
              <a:t>   </a:t>
            </a:r>
            <a:r>
              <a:rPr lang="en-US" sz="1800" b="1" dirty="0"/>
              <a:t>public</a:t>
            </a:r>
            <a:r>
              <a:rPr lang="en-US" sz="1800" dirty="0"/>
              <a:t>:  </a:t>
            </a:r>
          </a:p>
          <a:p>
            <a:r>
              <a:rPr lang="en-US" sz="1800" dirty="0"/>
              <a:t>       </a:t>
            </a:r>
            <a:r>
              <a:rPr lang="en-US" sz="1800" b="1" dirty="0"/>
              <a:t>int</a:t>
            </a:r>
            <a:r>
              <a:rPr lang="en-US" sz="1800" dirty="0"/>
              <a:t> id;//data member (also instance variable)      </a:t>
            </a:r>
          </a:p>
          <a:p>
            <a:r>
              <a:rPr lang="en-US" sz="1800" dirty="0"/>
              <a:t>       string name;//data member(also instance variable)  </a:t>
            </a:r>
          </a:p>
          <a:p>
            <a:r>
              <a:rPr lang="en-US" sz="1800" dirty="0"/>
              <a:t>       </a:t>
            </a:r>
            <a:r>
              <a:rPr lang="en-US" sz="1800" b="1" dirty="0"/>
              <a:t>float</a:t>
            </a:r>
            <a:r>
              <a:rPr lang="en-US" sz="1800" dirty="0"/>
              <a:t> salary;  </a:t>
            </a:r>
          </a:p>
          <a:p>
            <a:r>
              <a:rPr lang="en-US" sz="1800" dirty="0"/>
              <a:t>       Employee(</a:t>
            </a:r>
            <a:r>
              <a:rPr lang="en-US" sz="1800" b="1" dirty="0"/>
              <a:t>int</a:t>
            </a:r>
            <a:r>
              <a:rPr lang="en-US" sz="1800" dirty="0"/>
              <a:t> </a:t>
            </a:r>
            <a:r>
              <a:rPr lang="en-US" sz="1800" dirty="0" err="1"/>
              <a:t>i</a:t>
            </a:r>
            <a:r>
              <a:rPr lang="en-US" sz="1800" dirty="0"/>
              <a:t>, string n, </a:t>
            </a:r>
            <a:r>
              <a:rPr lang="en-US" sz="1800" b="1" dirty="0"/>
              <a:t>float</a:t>
            </a:r>
            <a:r>
              <a:rPr lang="en-US" sz="1800" dirty="0"/>
              <a:t> s)    </a:t>
            </a:r>
          </a:p>
          <a:p>
            <a:r>
              <a:rPr lang="en-US" sz="1800" dirty="0"/>
              <a:t>        {    </a:t>
            </a:r>
          </a:p>
          <a:p>
            <a:r>
              <a:rPr lang="en-US" sz="1800" dirty="0"/>
              <a:t>            id = </a:t>
            </a:r>
            <a:r>
              <a:rPr lang="en-US" sz="1800" dirty="0" err="1"/>
              <a:t>i</a:t>
            </a:r>
            <a:r>
              <a:rPr lang="en-US" sz="1800" dirty="0"/>
              <a:t>;    </a:t>
            </a:r>
          </a:p>
          <a:p>
            <a:r>
              <a:rPr lang="en-US" sz="1800" dirty="0"/>
              <a:t>            name = n;    </a:t>
            </a:r>
          </a:p>
          <a:p>
            <a:r>
              <a:rPr lang="en-US" sz="1800" dirty="0"/>
              <a:t>            salary = s;  </a:t>
            </a:r>
          </a:p>
          <a:p>
            <a:r>
              <a:rPr lang="en-US" sz="1800" dirty="0"/>
              <a:t>        }    </a:t>
            </a:r>
          </a:p>
          <a:p>
            <a:r>
              <a:rPr lang="en-US" sz="1400" dirty="0"/>
              <a:t>      </a:t>
            </a:r>
          </a:p>
        </p:txBody>
      </p:sp>
      <p:sp>
        <p:nvSpPr>
          <p:cNvPr id="5" name="Date Placeholder 4">
            <a:extLst>
              <a:ext uri="{FF2B5EF4-FFF2-40B4-BE49-F238E27FC236}">
                <a16:creationId xmlns:a16="http://schemas.microsoft.com/office/drawing/2014/main" id="{E872C30B-B4D6-4384-8B06-B69EFD049B0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003CA887-CA19-4C0E-A2E4-B785AD1AC642}"/>
              </a:ext>
            </a:extLst>
          </p:cNvPr>
          <p:cNvSpPr>
            <a:spLocks noGrp="1"/>
          </p:cNvSpPr>
          <p:nvPr>
            <p:ph type="sldNum" sz="quarter" idx="12"/>
          </p:nvPr>
        </p:nvSpPr>
        <p:spPr/>
        <p:txBody>
          <a:bodyPr/>
          <a:lstStyle/>
          <a:p>
            <a:fld id="{D8DA9DAA-006C-4F4B-980E-E3DF019B24E2}" type="slidenum">
              <a:rPr lang="en-US" smtClean="0"/>
              <a:pPr/>
              <a:t>19</a:t>
            </a:fld>
            <a:endParaRPr lang="en-US" dirty="0"/>
          </a:p>
        </p:txBody>
      </p:sp>
      <p:sp>
        <p:nvSpPr>
          <p:cNvPr id="10" name="Rectangle 9">
            <a:extLst>
              <a:ext uri="{FF2B5EF4-FFF2-40B4-BE49-F238E27FC236}">
                <a16:creationId xmlns:a16="http://schemas.microsoft.com/office/drawing/2014/main" id="{CD769D74-467A-46C0-83F1-9ECAE6FFA099}"/>
              </a:ext>
            </a:extLst>
          </p:cNvPr>
          <p:cNvSpPr/>
          <p:nvPr/>
        </p:nvSpPr>
        <p:spPr>
          <a:xfrm>
            <a:off x="6096000" y="254001"/>
            <a:ext cx="5815305" cy="4524315"/>
          </a:xfrm>
          <a:prstGeom prst="rect">
            <a:avLst/>
          </a:prstGeom>
        </p:spPr>
        <p:txBody>
          <a:bodyPr wrap="square">
            <a:spAutoFit/>
          </a:bodyPr>
          <a:lstStyle/>
          <a:p>
            <a:r>
              <a:rPr lang="en-US" dirty="0"/>
              <a:t>//Part 2 of 2 </a:t>
            </a:r>
          </a:p>
          <a:p>
            <a:endParaRPr lang="en-US" dirty="0"/>
          </a:p>
          <a:p>
            <a:r>
              <a:rPr lang="en-US" b="1" dirty="0"/>
              <a:t>void</a:t>
            </a:r>
            <a:r>
              <a:rPr lang="en-US" dirty="0"/>
              <a:t> display()    </a:t>
            </a:r>
          </a:p>
          <a:p>
            <a:r>
              <a:rPr lang="en-US" dirty="0"/>
              <a:t>        {    </a:t>
            </a:r>
          </a:p>
          <a:p>
            <a:r>
              <a:rPr lang="en-US" dirty="0"/>
              <a:t>            </a:t>
            </a:r>
            <a:r>
              <a:rPr lang="en-US" dirty="0" err="1"/>
              <a:t>cout</a:t>
            </a:r>
            <a:r>
              <a:rPr lang="en-US" dirty="0"/>
              <a:t>&lt;&lt;id&lt;&lt;"  "&lt;&lt;name&lt;&lt;"  "&lt;&lt;salary&lt;&lt;</a:t>
            </a:r>
            <a:r>
              <a:rPr lang="en-US" dirty="0" err="1"/>
              <a:t>endl</a:t>
            </a:r>
            <a:r>
              <a:rPr lang="en-US" dirty="0"/>
              <a:t>;    </a:t>
            </a:r>
          </a:p>
          <a:p>
            <a:r>
              <a:rPr lang="en-US" dirty="0"/>
              <a:t>        }    </a:t>
            </a:r>
          </a:p>
          <a:p>
            <a:r>
              <a:rPr lang="en-US" dirty="0"/>
              <a:t>};  </a:t>
            </a:r>
          </a:p>
          <a:p>
            <a:pPr algn="just"/>
            <a:endParaRPr lang="en-US" b="1" dirty="0">
              <a:solidFill>
                <a:srgbClr val="2E8B57"/>
              </a:solidFill>
              <a:latin typeface="inter-regular"/>
            </a:endParaRPr>
          </a:p>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Employee e1 =Employee(101, </a:t>
            </a:r>
            <a:r>
              <a:rPr lang="en-US" dirty="0">
                <a:solidFill>
                  <a:srgbClr val="0000FF"/>
                </a:solidFill>
                <a:latin typeface="inter-regular"/>
              </a:rPr>
              <a:t>"</a:t>
            </a:r>
            <a:r>
              <a:rPr lang="en-US" dirty="0" err="1">
                <a:solidFill>
                  <a:srgbClr val="0000FF"/>
                </a:solidFill>
                <a:latin typeface="inter-regular"/>
              </a:rPr>
              <a:t>Sonoo</a:t>
            </a:r>
            <a:r>
              <a:rPr lang="en-US" dirty="0">
                <a:solidFill>
                  <a:srgbClr val="0000FF"/>
                </a:solidFill>
                <a:latin typeface="inter-regular"/>
              </a:rPr>
              <a:t>"</a:t>
            </a:r>
            <a:r>
              <a:rPr lang="en-US" dirty="0">
                <a:solidFill>
                  <a:srgbClr val="000000"/>
                </a:solidFill>
                <a:latin typeface="inter-regular"/>
              </a:rPr>
              <a:t>, 890000); </a:t>
            </a:r>
            <a:r>
              <a:rPr lang="en-US" dirty="0">
                <a:solidFill>
                  <a:srgbClr val="008200"/>
                </a:solidFill>
                <a:latin typeface="inter-regular"/>
              </a:rPr>
              <a:t>//creating an object of Employee </a:t>
            </a:r>
            <a:r>
              <a:rPr lang="en-US" dirty="0">
                <a:solidFill>
                  <a:srgbClr val="000000"/>
                </a:solidFill>
                <a:latin typeface="inter-regular"/>
              </a:rPr>
              <a:t>  </a:t>
            </a:r>
          </a:p>
          <a:p>
            <a:pPr algn="just"/>
            <a:r>
              <a:rPr lang="en-US" dirty="0">
                <a:solidFill>
                  <a:srgbClr val="000000"/>
                </a:solidFill>
                <a:latin typeface="inter-regular"/>
              </a:rPr>
              <a:t>    Employee e2=Employee(102, </a:t>
            </a:r>
            <a:r>
              <a:rPr lang="en-US" dirty="0">
                <a:solidFill>
                  <a:srgbClr val="0000FF"/>
                </a:solidFill>
                <a:latin typeface="inter-regular"/>
              </a:rPr>
              <a:t>"Nakul"</a:t>
            </a:r>
            <a:r>
              <a:rPr lang="en-US" dirty="0">
                <a:solidFill>
                  <a:srgbClr val="000000"/>
                </a:solidFill>
                <a:latin typeface="inter-regular"/>
              </a:rPr>
              <a:t>, 59000);   </a:t>
            </a:r>
          </a:p>
          <a:p>
            <a:pPr algn="just"/>
            <a:r>
              <a:rPr lang="en-US" dirty="0">
                <a:solidFill>
                  <a:srgbClr val="000000"/>
                </a:solidFill>
                <a:latin typeface="inter-regular"/>
              </a:rPr>
              <a:t>    e1.display();    </a:t>
            </a:r>
          </a:p>
          <a:p>
            <a:pPr algn="just"/>
            <a:r>
              <a:rPr lang="en-US" dirty="0">
                <a:solidFill>
                  <a:srgbClr val="000000"/>
                </a:solidFill>
                <a:latin typeface="inter-regular"/>
              </a:rPr>
              <a:t>    e2.display();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3951447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4AEDB3-77A0-465E-AF58-6BE660D81A10}"/>
              </a:ext>
            </a:extLst>
          </p:cNvPr>
          <p:cNvSpPr>
            <a:spLocks noGrp="1"/>
          </p:cNvSpPr>
          <p:nvPr>
            <p:ph type="title"/>
          </p:nvPr>
        </p:nvSpPr>
        <p:spPr>
          <a:xfrm>
            <a:off x="347472" y="136525"/>
            <a:ext cx="9395396" cy="744918"/>
          </a:xfrm>
        </p:spPr>
        <p:txBody>
          <a:bodyPr>
            <a:normAutofit fontScale="90000"/>
          </a:bodyPr>
          <a:lstStyle/>
          <a:p>
            <a:r>
              <a:rPr lang="en-US" b="1" dirty="0"/>
              <a:t>What is a destructor in C++?</a:t>
            </a:r>
          </a:p>
        </p:txBody>
      </p:sp>
      <p:sp>
        <p:nvSpPr>
          <p:cNvPr id="4" name="Content Placeholder 3">
            <a:extLst>
              <a:ext uri="{FF2B5EF4-FFF2-40B4-BE49-F238E27FC236}">
                <a16:creationId xmlns:a16="http://schemas.microsoft.com/office/drawing/2014/main" id="{BF251332-CC8A-4A40-ADAD-AAF2160B119F}"/>
              </a:ext>
            </a:extLst>
          </p:cNvPr>
          <p:cNvSpPr>
            <a:spLocks noGrp="1"/>
          </p:cNvSpPr>
          <p:nvPr>
            <p:ph idx="1"/>
          </p:nvPr>
        </p:nvSpPr>
        <p:spPr>
          <a:xfrm>
            <a:off x="558291" y="1094168"/>
            <a:ext cx="10367107" cy="4201732"/>
          </a:xfrm>
        </p:spPr>
        <p:txBody>
          <a:bodyPr/>
          <a:lstStyle/>
          <a:p>
            <a:r>
              <a:rPr lang="en-US" sz="2400" dirty="0"/>
              <a:t>A destructor works opposite to constructor; it destructs the objects of classes. It can be defined only once in a class. Like constructors, it is invoked automatically.</a:t>
            </a:r>
          </a:p>
          <a:p>
            <a:r>
              <a:rPr lang="en-US" sz="2400" dirty="0"/>
              <a:t>A destructor is defined like constructor. It must have same name as class. But it is prefixed with a tilde sign (~).</a:t>
            </a:r>
          </a:p>
          <a:p>
            <a:endParaRPr lang="en-US" dirty="0"/>
          </a:p>
        </p:txBody>
      </p:sp>
      <p:sp>
        <p:nvSpPr>
          <p:cNvPr id="5" name="Date Placeholder 4">
            <a:extLst>
              <a:ext uri="{FF2B5EF4-FFF2-40B4-BE49-F238E27FC236}">
                <a16:creationId xmlns:a16="http://schemas.microsoft.com/office/drawing/2014/main" id="{8C84A9B2-2068-4E6B-A354-A84A2013DA7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FC59EE66-EF43-40E0-83CC-2ECA83C3C732}"/>
              </a:ext>
            </a:extLst>
          </p:cNvPr>
          <p:cNvSpPr>
            <a:spLocks noGrp="1"/>
          </p:cNvSpPr>
          <p:nvPr>
            <p:ph type="sldNum" sz="quarter" idx="12"/>
          </p:nvPr>
        </p:nvSpPr>
        <p:spPr/>
        <p:txBody>
          <a:bodyPr/>
          <a:lstStyle/>
          <a:p>
            <a:fld id="{D8DA9DAA-006C-4F4B-980E-E3DF019B24E2}" type="slidenum">
              <a:rPr lang="en-US" smtClean="0"/>
              <a:pPr/>
              <a:t>20</a:t>
            </a:fld>
            <a:endParaRPr lang="en-US" dirty="0"/>
          </a:p>
        </p:txBody>
      </p:sp>
    </p:spTree>
    <p:extLst>
      <p:ext uri="{BB962C8B-B14F-4D97-AF65-F5344CB8AC3E}">
        <p14:creationId xmlns:p14="http://schemas.microsoft.com/office/powerpoint/2010/main" val="658478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CB85EA-34B0-4509-8F23-4698B59DDB4D}"/>
              </a:ext>
            </a:extLst>
          </p:cNvPr>
          <p:cNvSpPr>
            <a:spLocks noGrp="1"/>
          </p:cNvSpPr>
          <p:nvPr>
            <p:ph type="title"/>
          </p:nvPr>
        </p:nvSpPr>
        <p:spPr>
          <a:xfrm>
            <a:off x="393855" y="329954"/>
            <a:ext cx="10773220" cy="558208"/>
          </a:xfrm>
        </p:spPr>
        <p:txBody>
          <a:bodyPr>
            <a:normAutofit/>
          </a:bodyPr>
          <a:lstStyle/>
          <a:p>
            <a:r>
              <a:rPr lang="en-US" sz="3200" b="1" dirty="0"/>
              <a:t>C++ Constructor and Destructor Example</a:t>
            </a:r>
          </a:p>
        </p:txBody>
      </p:sp>
      <p:sp>
        <p:nvSpPr>
          <p:cNvPr id="4" name="Content Placeholder 3">
            <a:extLst>
              <a:ext uri="{FF2B5EF4-FFF2-40B4-BE49-F238E27FC236}">
                <a16:creationId xmlns:a16="http://schemas.microsoft.com/office/drawing/2014/main" id="{E7000975-BABD-4C14-BCE4-947598B5796E}"/>
              </a:ext>
            </a:extLst>
          </p:cNvPr>
          <p:cNvSpPr>
            <a:spLocks noGrp="1"/>
          </p:cNvSpPr>
          <p:nvPr>
            <p:ph idx="1"/>
          </p:nvPr>
        </p:nvSpPr>
        <p:spPr>
          <a:xfrm>
            <a:off x="614109" y="1020416"/>
            <a:ext cx="4713265" cy="5221357"/>
          </a:xfrm>
        </p:spPr>
        <p:txBody>
          <a:bodyPr>
            <a:normAutofit fontScale="850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b="1" dirty="0"/>
              <a:t>class</a:t>
            </a:r>
            <a:r>
              <a:rPr lang="en-US" dirty="0"/>
              <a:t> Employee  </a:t>
            </a:r>
          </a:p>
          <a:p>
            <a:r>
              <a:rPr lang="en-US" dirty="0"/>
              <a:t> {  </a:t>
            </a:r>
          </a:p>
          <a:p>
            <a:r>
              <a:rPr lang="en-US" dirty="0"/>
              <a:t>   </a:t>
            </a:r>
            <a:r>
              <a:rPr lang="en-US" b="1" dirty="0"/>
              <a:t>public</a:t>
            </a:r>
            <a:r>
              <a:rPr lang="en-US" dirty="0"/>
              <a:t>:  </a:t>
            </a:r>
          </a:p>
          <a:p>
            <a:r>
              <a:rPr lang="en-US" dirty="0"/>
              <a:t>        Employee()    </a:t>
            </a:r>
          </a:p>
          <a:p>
            <a:r>
              <a:rPr lang="en-US" dirty="0"/>
              <a:t>        {    </a:t>
            </a:r>
          </a:p>
          <a:p>
            <a:r>
              <a:rPr lang="en-US" dirty="0"/>
              <a:t>            </a:t>
            </a:r>
            <a:r>
              <a:rPr lang="en-US" dirty="0" err="1"/>
              <a:t>cout</a:t>
            </a:r>
            <a:r>
              <a:rPr lang="en-US" dirty="0"/>
              <a:t>&lt;&lt;"Constructor Invoked"&lt;&lt;</a:t>
            </a:r>
            <a:r>
              <a:rPr lang="en-US" dirty="0" err="1"/>
              <a:t>endl</a:t>
            </a:r>
            <a:r>
              <a:rPr lang="en-US" dirty="0"/>
              <a:t>;    </a:t>
            </a:r>
          </a:p>
          <a:p>
            <a:r>
              <a:rPr lang="en-US" dirty="0"/>
              <a:t>        }    </a:t>
            </a:r>
          </a:p>
          <a:p>
            <a:r>
              <a:rPr lang="en-US" dirty="0"/>
              <a:t>        ~Employee()    </a:t>
            </a:r>
          </a:p>
          <a:p>
            <a:r>
              <a:rPr lang="en-US" dirty="0"/>
              <a:t>        {    </a:t>
            </a:r>
          </a:p>
          <a:p>
            <a:r>
              <a:rPr lang="en-US" dirty="0"/>
              <a:t>            </a:t>
            </a:r>
            <a:r>
              <a:rPr lang="en-US" dirty="0" err="1"/>
              <a:t>cout</a:t>
            </a:r>
            <a:r>
              <a:rPr lang="en-US" dirty="0"/>
              <a:t>&lt;&lt;"Destructor Invoked"&lt;&lt;</a:t>
            </a:r>
            <a:r>
              <a:rPr lang="en-US" dirty="0" err="1"/>
              <a:t>endl</a:t>
            </a:r>
            <a:r>
              <a:rPr lang="en-US" dirty="0"/>
              <a:t>;    </a:t>
            </a:r>
          </a:p>
          <a:p>
            <a:r>
              <a:rPr lang="en-US" dirty="0"/>
              <a:t>        }  </a:t>
            </a:r>
          </a:p>
          <a:p>
            <a:r>
              <a:rPr lang="en-US" dirty="0"/>
              <a:t>};  </a:t>
            </a:r>
          </a:p>
          <a:p>
            <a:endParaRPr lang="en-US" dirty="0"/>
          </a:p>
        </p:txBody>
      </p:sp>
      <p:sp>
        <p:nvSpPr>
          <p:cNvPr id="5" name="Date Placeholder 4">
            <a:extLst>
              <a:ext uri="{FF2B5EF4-FFF2-40B4-BE49-F238E27FC236}">
                <a16:creationId xmlns:a16="http://schemas.microsoft.com/office/drawing/2014/main" id="{7784A01E-3DDF-4AD4-AE56-2FD51B46F07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76CE8630-BF00-4645-8AAA-B42B3D293D8A}"/>
              </a:ext>
            </a:extLst>
          </p:cNvPr>
          <p:cNvSpPr>
            <a:spLocks noGrp="1"/>
          </p:cNvSpPr>
          <p:nvPr>
            <p:ph type="sldNum" sz="quarter" idx="12"/>
          </p:nvPr>
        </p:nvSpPr>
        <p:spPr/>
        <p:txBody>
          <a:bodyPr/>
          <a:lstStyle/>
          <a:p>
            <a:fld id="{D8DA9DAA-006C-4F4B-980E-E3DF019B24E2}" type="slidenum">
              <a:rPr lang="en-US" smtClean="0"/>
              <a:pPr/>
              <a:t>21</a:t>
            </a:fld>
            <a:endParaRPr lang="en-US" dirty="0"/>
          </a:p>
        </p:txBody>
      </p:sp>
      <p:sp>
        <p:nvSpPr>
          <p:cNvPr id="8" name="Rectangle 7">
            <a:extLst>
              <a:ext uri="{FF2B5EF4-FFF2-40B4-BE49-F238E27FC236}">
                <a16:creationId xmlns:a16="http://schemas.microsoft.com/office/drawing/2014/main" id="{2D3DB6F5-DBDB-4DE9-BC0F-E121AD943CA7}"/>
              </a:ext>
            </a:extLst>
          </p:cNvPr>
          <p:cNvSpPr/>
          <p:nvPr/>
        </p:nvSpPr>
        <p:spPr>
          <a:xfrm>
            <a:off x="5481891" y="1020416"/>
            <a:ext cx="6555346" cy="1754326"/>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Employee e1; </a:t>
            </a:r>
            <a:r>
              <a:rPr lang="en-US" dirty="0">
                <a:solidFill>
                  <a:srgbClr val="008200"/>
                </a:solidFill>
                <a:latin typeface="inter-regular"/>
              </a:rPr>
              <a:t>//creating an object of Employee </a:t>
            </a:r>
            <a:r>
              <a:rPr lang="en-US" dirty="0">
                <a:solidFill>
                  <a:srgbClr val="000000"/>
                </a:solidFill>
                <a:latin typeface="inter-regular"/>
              </a:rPr>
              <a:t>  </a:t>
            </a:r>
          </a:p>
          <a:p>
            <a:pPr algn="just"/>
            <a:r>
              <a:rPr lang="en-US" dirty="0">
                <a:solidFill>
                  <a:srgbClr val="000000"/>
                </a:solidFill>
                <a:latin typeface="inter-regular"/>
              </a:rPr>
              <a:t>    Employee e2; </a:t>
            </a:r>
            <a:r>
              <a:rPr lang="en-US" dirty="0">
                <a:solidFill>
                  <a:srgbClr val="008200"/>
                </a:solidFill>
                <a:latin typeface="inter-regular"/>
              </a:rPr>
              <a:t>//creating an object of Employee</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11" name="Rectangle 10">
            <a:extLst>
              <a:ext uri="{FF2B5EF4-FFF2-40B4-BE49-F238E27FC236}">
                <a16:creationId xmlns:a16="http://schemas.microsoft.com/office/drawing/2014/main" id="{280EDEC5-B6EB-49F6-AF57-12442C0F2C87}"/>
              </a:ext>
            </a:extLst>
          </p:cNvPr>
          <p:cNvSpPr/>
          <p:nvPr/>
        </p:nvSpPr>
        <p:spPr>
          <a:xfrm>
            <a:off x="5780465" y="4018588"/>
            <a:ext cx="6096000" cy="1754326"/>
          </a:xfrm>
          <a:prstGeom prst="rect">
            <a:avLst/>
          </a:prstGeom>
        </p:spPr>
        <p:txBody>
          <a:bodyPr>
            <a:spAutoFit/>
          </a:bodyPr>
          <a:lstStyle/>
          <a:p>
            <a:r>
              <a:rPr lang="en-US" dirty="0"/>
              <a:t>Output</a:t>
            </a:r>
          </a:p>
          <a:p>
            <a:endParaRPr lang="en-US" dirty="0"/>
          </a:p>
          <a:p>
            <a:r>
              <a:rPr lang="en-US" dirty="0"/>
              <a:t>Constructor Invoked</a:t>
            </a:r>
          </a:p>
          <a:p>
            <a:r>
              <a:rPr lang="en-US" dirty="0"/>
              <a:t>Constructor Invoked</a:t>
            </a:r>
          </a:p>
          <a:p>
            <a:r>
              <a:rPr lang="en-US" dirty="0"/>
              <a:t>Destructor Invoked</a:t>
            </a:r>
          </a:p>
          <a:p>
            <a:r>
              <a:rPr lang="en-US" dirty="0"/>
              <a:t>Destructor Invoked</a:t>
            </a:r>
          </a:p>
        </p:txBody>
      </p:sp>
    </p:spTree>
    <p:extLst>
      <p:ext uri="{BB962C8B-B14F-4D97-AF65-F5344CB8AC3E}">
        <p14:creationId xmlns:p14="http://schemas.microsoft.com/office/powerpoint/2010/main" val="3578537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875BDA-D5CD-48E7-8D20-338E96ADD981}"/>
              </a:ext>
            </a:extLst>
          </p:cNvPr>
          <p:cNvSpPr>
            <a:spLocks noGrp="1"/>
          </p:cNvSpPr>
          <p:nvPr>
            <p:ph type="title"/>
          </p:nvPr>
        </p:nvSpPr>
        <p:spPr>
          <a:xfrm>
            <a:off x="601472" y="310123"/>
            <a:ext cx="6236208" cy="751353"/>
          </a:xfrm>
        </p:spPr>
        <p:txBody>
          <a:bodyPr>
            <a:normAutofit fontScale="90000"/>
          </a:bodyPr>
          <a:lstStyle/>
          <a:p>
            <a:r>
              <a:rPr lang="en-US" b="1" dirty="0"/>
              <a:t>C++ this Pointer</a:t>
            </a:r>
          </a:p>
        </p:txBody>
      </p:sp>
      <p:sp>
        <p:nvSpPr>
          <p:cNvPr id="4" name="Content Placeholder 3">
            <a:extLst>
              <a:ext uri="{FF2B5EF4-FFF2-40B4-BE49-F238E27FC236}">
                <a16:creationId xmlns:a16="http://schemas.microsoft.com/office/drawing/2014/main" id="{3FB275E4-705C-471A-BCCE-0C806C02680A}"/>
              </a:ext>
            </a:extLst>
          </p:cNvPr>
          <p:cNvSpPr>
            <a:spLocks noGrp="1"/>
          </p:cNvSpPr>
          <p:nvPr>
            <p:ph idx="1"/>
          </p:nvPr>
        </p:nvSpPr>
        <p:spPr>
          <a:xfrm>
            <a:off x="601472" y="1061477"/>
            <a:ext cx="10899362" cy="5110724"/>
          </a:xfrm>
        </p:spPr>
        <p:txBody>
          <a:bodyPr/>
          <a:lstStyle/>
          <a:p>
            <a:r>
              <a:rPr lang="en-US" dirty="0"/>
              <a:t>In C++ programming, </a:t>
            </a:r>
            <a:r>
              <a:rPr lang="en-US" b="1" dirty="0"/>
              <a:t>this</a:t>
            </a:r>
            <a:r>
              <a:rPr lang="en-US" dirty="0"/>
              <a:t> is a keyword that refers to the current instance of the class. There can be 3 main usage of this keyword in C++.</a:t>
            </a:r>
          </a:p>
          <a:p>
            <a:r>
              <a:rPr lang="en-US" dirty="0"/>
              <a:t>It can be used </a:t>
            </a:r>
            <a:r>
              <a:rPr lang="en-US" b="1" dirty="0"/>
              <a:t>to pass current object as a parameter to another method.</a:t>
            </a:r>
            <a:endParaRPr lang="en-US" dirty="0"/>
          </a:p>
          <a:p>
            <a:r>
              <a:rPr lang="en-US" dirty="0"/>
              <a:t>It can be used </a:t>
            </a:r>
            <a:r>
              <a:rPr lang="en-US" b="1" dirty="0"/>
              <a:t>to refer current class instance variable.</a:t>
            </a:r>
            <a:endParaRPr lang="en-US" dirty="0"/>
          </a:p>
          <a:p>
            <a:r>
              <a:rPr lang="en-US" dirty="0"/>
              <a:t>It can be used </a:t>
            </a:r>
            <a:r>
              <a:rPr lang="en-US" b="1" dirty="0"/>
              <a:t>to declare indexers.</a:t>
            </a:r>
            <a:endParaRPr lang="en-US" dirty="0"/>
          </a:p>
          <a:p>
            <a:endParaRPr lang="en-US" dirty="0"/>
          </a:p>
        </p:txBody>
      </p:sp>
      <p:sp>
        <p:nvSpPr>
          <p:cNvPr id="5" name="Date Placeholder 4">
            <a:extLst>
              <a:ext uri="{FF2B5EF4-FFF2-40B4-BE49-F238E27FC236}">
                <a16:creationId xmlns:a16="http://schemas.microsoft.com/office/drawing/2014/main" id="{566A450D-CE6B-48FB-9CA1-C923E43E7EDD}"/>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684D8C85-8F0B-431D-8842-0AEC817A9FD8}"/>
              </a:ext>
            </a:extLst>
          </p:cNvPr>
          <p:cNvSpPr>
            <a:spLocks noGrp="1"/>
          </p:cNvSpPr>
          <p:nvPr>
            <p:ph type="sldNum" sz="quarter" idx="12"/>
          </p:nvPr>
        </p:nvSpPr>
        <p:spPr/>
        <p:txBody>
          <a:bodyPr/>
          <a:lstStyle/>
          <a:p>
            <a:fld id="{D8DA9DAA-006C-4F4B-980E-E3DF019B24E2}" type="slidenum">
              <a:rPr lang="en-US" smtClean="0"/>
              <a:pPr/>
              <a:t>22</a:t>
            </a:fld>
            <a:endParaRPr lang="en-US" dirty="0"/>
          </a:p>
        </p:txBody>
      </p:sp>
    </p:spTree>
    <p:extLst>
      <p:ext uri="{BB962C8B-B14F-4D97-AF65-F5344CB8AC3E}">
        <p14:creationId xmlns:p14="http://schemas.microsoft.com/office/powerpoint/2010/main" val="1664702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7713CDB-2E59-4511-AEFD-8B1EB4A9D4CD}"/>
              </a:ext>
            </a:extLst>
          </p:cNvPr>
          <p:cNvSpPr>
            <a:spLocks noGrp="1"/>
          </p:cNvSpPr>
          <p:nvPr>
            <p:ph idx="1"/>
          </p:nvPr>
        </p:nvSpPr>
        <p:spPr>
          <a:xfrm>
            <a:off x="850392" y="875763"/>
            <a:ext cx="6190488" cy="5705341"/>
          </a:xfrm>
        </p:spPr>
        <p:txBody>
          <a:bodyPr>
            <a:normAutofit fontScale="625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b="1" dirty="0"/>
              <a:t>class</a:t>
            </a:r>
            <a:r>
              <a:rPr lang="en-US" dirty="0"/>
              <a:t> Employee {  </a:t>
            </a:r>
          </a:p>
          <a:p>
            <a:r>
              <a:rPr lang="en-US" dirty="0"/>
              <a:t>   </a:t>
            </a:r>
            <a:r>
              <a:rPr lang="en-US" b="1" dirty="0"/>
              <a:t>public</a:t>
            </a:r>
            <a:r>
              <a:rPr lang="en-US" dirty="0"/>
              <a:t>:  </a:t>
            </a:r>
          </a:p>
          <a:p>
            <a:r>
              <a:rPr lang="en-US" dirty="0"/>
              <a:t>       </a:t>
            </a:r>
            <a:r>
              <a:rPr lang="en-US" b="1" dirty="0"/>
              <a:t>int</a:t>
            </a:r>
            <a:r>
              <a:rPr lang="en-US" dirty="0"/>
              <a:t> id; //data member (also instance variable)      </a:t>
            </a:r>
          </a:p>
          <a:p>
            <a:r>
              <a:rPr lang="en-US" dirty="0"/>
              <a:t>       string name; //data member(also instance variable)  </a:t>
            </a:r>
          </a:p>
          <a:p>
            <a:r>
              <a:rPr lang="en-US" dirty="0"/>
              <a:t>       </a:t>
            </a:r>
            <a:r>
              <a:rPr lang="en-US" b="1" dirty="0"/>
              <a:t>float</a:t>
            </a:r>
            <a:r>
              <a:rPr lang="en-US" dirty="0"/>
              <a:t> salary;  </a:t>
            </a:r>
          </a:p>
          <a:p>
            <a:r>
              <a:rPr lang="en-US" dirty="0"/>
              <a:t>       Employee(</a:t>
            </a:r>
            <a:r>
              <a:rPr lang="en-US" b="1" dirty="0"/>
              <a:t>int</a:t>
            </a:r>
            <a:r>
              <a:rPr lang="en-US" dirty="0"/>
              <a:t> id, string name, </a:t>
            </a:r>
            <a:r>
              <a:rPr lang="en-US" b="1" dirty="0"/>
              <a:t>float</a:t>
            </a:r>
            <a:r>
              <a:rPr lang="en-US" dirty="0"/>
              <a:t> salary)    </a:t>
            </a:r>
          </a:p>
          <a:p>
            <a:r>
              <a:rPr lang="en-US" dirty="0"/>
              <a:t>        {    </a:t>
            </a:r>
          </a:p>
          <a:p>
            <a:r>
              <a:rPr lang="en-US" dirty="0"/>
              <a:t>             </a:t>
            </a:r>
            <a:r>
              <a:rPr lang="en-US" b="1" dirty="0"/>
              <a:t>this</a:t>
            </a:r>
            <a:r>
              <a:rPr lang="en-US" dirty="0"/>
              <a:t>-&gt;id = id;    </a:t>
            </a:r>
          </a:p>
          <a:p>
            <a:r>
              <a:rPr lang="en-US" dirty="0"/>
              <a:t>            </a:t>
            </a:r>
            <a:r>
              <a:rPr lang="en-US" b="1" dirty="0"/>
              <a:t>this</a:t>
            </a:r>
            <a:r>
              <a:rPr lang="en-US" dirty="0"/>
              <a:t>-&gt;name = name;    </a:t>
            </a:r>
          </a:p>
          <a:p>
            <a:r>
              <a:rPr lang="en-US" dirty="0"/>
              <a:t>            </a:t>
            </a:r>
            <a:r>
              <a:rPr lang="en-US" b="1" dirty="0"/>
              <a:t>this</a:t>
            </a:r>
            <a:r>
              <a:rPr lang="en-US" dirty="0"/>
              <a:t>-&gt;salary = salary;   </a:t>
            </a:r>
          </a:p>
          <a:p>
            <a:r>
              <a:rPr lang="en-US" dirty="0"/>
              <a:t>        }    </a:t>
            </a:r>
          </a:p>
          <a:p>
            <a:r>
              <a:rPr lang="en-US" dirty="0"/>
              <a:t>       </a:t>
            </a:r>
            <a:r>
              <a:rPr lang="en-US" b="1" dirty="0"/>
              <a:t>void</a:t>
            </a:r>
            <a:r>
              <a:rPr lang="en-US" dirty="0"/>
              <a:t> display()    </a:t>
            </a:r>
          </a:p>
          <a:p>
            <a:r>
              <a:rPr lang="en-US" dirty="0"/>
              <a:t>        {    </a:t>
            </a:r>
          </a:p>
          <a:p>
            <a:r>
              <a:rPr lang="en-US" dirty="0"/>
              <a:t>            </a:t>
            </a:r>
            <a:r>
              <a:rPr lang="en-US" dirty="0" err="1"/>
              <a:t>cout</a:t>
            </a:r>
            <a:r>
              <a:rPr lang="en-US" dirty="0"/>
              <a:t>&lt;&lt;id&lt;&lt;"  "&lt;&lt;name&lt;&lt;"  "&lt;&lt;salary&lt;&lt;</a:t>
            </a:r>
            <a:r>
              <a:rPr lang="en-US" dirty="0" err="1"/>
              <a:t>endl</a:t>
            </a:r>
            <a:r>
              <a:rPr lang="en-US" dirty="0"/>
              <a:t>;    </a:t>
            </a:r>
          </a:p>
          <a:p>
            <a:r>
              <a:rPr lang="en-US" dirty="0"/>
              <a:t>        }    </a:t>
            </a:r>
          </a:p>
          <a:p>
            <a:r>
              <a:rPr lang="en-US" dirty="0"/>
              <a:t>};  </a:t>
            </a:r>
          </a:p>
        </p:txBody>
      </p:sp>
      <p:sp>
        <p:nvSpPr>
          <p:cNvPr id="5" name="Date Placeholder 4">
            <a:extLst>
              <a:ext uri="{FF2B5EF4-FFF2-40B4-BE49-F238E27FC236}">
                <a16:creationId xmlns:a16="http://schemas.microsoft.com/office/drawing/2014/main" id="{A46770E5-4C18-4046-87B3-E2707BBE797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A7987F39-FE95-48FE-B2B1-8485430C6054}"/>
              </a:ext>
            </a:extLst>
          </p:cNvPr>
          <p:cNvSpPr>
            <a:spLocks noGrp="1"/>
          </p:cNvSpPr>
          <p:nvPr>
            <p:ph type="sldNum" sz="quarter" idx="12"/>
          </p:nvPr>
        </p:nvSpPr>
        <p:spPr/>
        <p:txBody>
          <a:bodyPr/>
          <a:lstStyle/>
          <a:p>
            <a:fld id="{D8DA9DAA-006C-4F4B-980E-E3DF019B24E2}" type="slidenum">
              <a:rPr lang="en-US" smtClean="0"/>
              <a:pPr/>
              <a:t>23</a:t>
            </a:fld>
            <a:endParaRPr lang="en-US" dirty="0"/>
          </a:p>
        </p:txBody>
      </p:sp>
      <p:sp>
        <p:nvSpPr>
          <p:cNvPr id="8" name="Rectangle 7">
            <a:extLst>
              <a:ext uri="{FF2B5EF4-FFF2-40B4-BE49-F238E27FC236}">
                <a16:creationId xmlns:a16="http://schemas.microsoft.com/office/drawing/2014/main" id="{010251C7-6A2F-4B51-BD74-85826F339C60}"/>
              </a:ext>
            </a:extLst>
          </p:cNvPr>
          <p:cNvSpPr/>
          <p:nvPr/>
        </p:nvSpPr>
        <p:spPr>
          <a:xfrm>
            <a:off x="5654898" y="1273455"/>
            <a:ext cx="5911403" cy="2585323"/>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Employee e1 =Employee(101, </a:t>
            </a:r>
            <a:r>
              <a:rPr lang="en-US" dirty="0">
                <a:solidFill>
                  <a:srgbClr val="0000FF"/>
                </a:solidFill>
                <a:latin typeface="inter-regular"/>
              </a:rPr>
              <a:t>"</a:t>
            </a:r>
            <a:r>
              <a:rPr lang="en-US" dirty="0" err="1">
                <a:solidFill>
                  <a:srgbClr val="0000FF"/>
                </a:solidFill>
                <a:latin typeface="inter-regular"/>
              </a:rPr>
              <a:t>Sonoo</a:t>
            </a:r>
            <a:r>
              <a:rPr lang="en-US" dirty="0">
                <a:solidFill>
                  <a:srgbClr val="0000FF"/>
                </a:solidFill>
                <a:latin typeface="inter-regular"/>
              </a:rPr>
              <a:t>"</a:t>
            </a:r>
            <a:r>
              <a:rPr lang="en-US" dirty="0">
                <a:solidFill>
                  <a:srgbClr val="000000"/>
                </a:solidFill>
                <a:latin typeface="inter-regular"/>
              </a:rPr>
              <a:t>, 890000); </a:t>
            </a:r>
            <a:r>
              <a:rPr lang="en-US" dirty="0">
                <a:solidFill>
                  <a:srgbClr val="008200"/>
                </a:solidFill>
                <a:latin typeface="inter-regular"/>
              </a:rPr>
              <a:t>//creating an object of Employee </a:t>
            </a:r>
            <a:r>
              <a:rPr lang="en-US" dirty="0">
                <a:solidFill>
                  <a:srgbClr val="000000"/>
                </a:solidFill>
                <a:latin typeface="inter-regular"/>
              </a:rPr>
              <a:t>  </a:t>
            </a:r>
          </a:p>
          <a:p>
            <a:pPr algn="just"/>
            <a:r>
              <a:rPr lang="en-US" dirty="0">
                <a:solidFill>
                  <a:srgbClr val="000000"/>
                </a:solidFill>
                <a:latin typeface="inter-regular"/>
              </a:rPr>
              <a:t>    Employee e2=Employee(102, </a:t>
            </a:r>
            <a:r>
              <a:rPr lang="en-US" dirty="0">
                <a:solidFill>
                  <a:srgbClr val="0000FF"/>
                </a:solidFill>
                <a:latin typeface="inter-regular"/>
              </a:rPr>
              <a:t>"Nakul"</a:t>
            </a:r>
            <a:r>
              <a:rPr lang="en-US" dirty="0">
                <a:solidFill>
                  <a:srgbClr val="000000"/>
                </a:solidFill>
                <a:latin typeface="inter-regular"/>
              </a:rPr>
              <a:t>, 59000); </a:t>
            </a:r>
            <a:r>
              <a:rPr lang="en-US" dirty="0">
                <a:solidFill>
                  <a:srgbClr val="008200"/>
                </a:solidFill>
                <a:latin typeface="inter-regular"/>
              </a:rPr>
              <a:t>//creating an object of Employee</a:t>
            </a:r>
            <a:r>
              <a:rPr lang="en-US" dirty="0">
                <a:solidFill>
                  <a:srgbClr val="000000"/>
                </a:solidFill>
                <a:latin typeface="inter-regular"/>
              </a:rPr>
              <a:t>  </a:t>
            </a:r>
          </a:p>
          <a:p>
            <a:pPr algn="just"/>
            <a:r>
              <a:rPr lang="en-US" dirty="0">
                <a:solidFill>
                  <a:srgbClr val="000000"/>
                </a:solidFill>
                <a:latin typeface="inter-regular"/>
              </a:rPr>
              <a:t>    e1.display();    </a:t>
            </a:r>
          </a:p>
          <a:p>
            <a:pPr algn="just"/>
            <a:r>
              <a:rPr lang="en-US" dirty="0">
                <a:solidFill>
                  <a:srgbClr val="000000"/>
                </a:solidFill>
                <a:latin typeface="inter-regular"/>
              </a:rPr>
              <a:t>    e2.display();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9" name="Rectangle 8">
            <a:extLst>
              <a:ext uri="{FF2B5EF4-FFF2-40B4-BE49-F238E27FC236}">
                <a16:creationId xmlns:a16="http://schemas.microsoft.com/office/drawing/2014/main" id="{160095E1-F802-4E85-88DD-EBC21C2D0F8A}"/>
              </a:ext>
            </a:extLst>
          </p:cNvPr>
          <p:cNvSpPr/>
          <p:nvPr/>
        </p:nvSpPr>
        <p:spPr>
          <a:xfrm>
            <a:off x="5654898" y="4896775"/>
            <a:ext cx="6096000" cy="1200329"/>
          </a:xfrm>
          <a:prstGeom prst="rect">
            <a:avLst/>
          </a:prstGeom>
        </p:spPr>
        <p:txBody>
          <a:bodyPr>
            <a:spAutoFit/>
          </a:bodyPr>
          <a:lstStyle/>
          <a:p>
            <a:r>
              <a:rPr lang="en-US" dirty="0"/>
              <a:t>Output:</a:t>
            </a:r>
          </a:p>
          <a:p>
            <a:endParaRPr lang="en-US" dirty="0"/>
          </a:p>
          <a:p>
            <a:r>
              <a:rPr lang="en-US" dirty="0"/>
              <a:t>101  </a:t>
            </a:r>
            <a:r>
              <a:rPr lang="en-US" dirty="0" err="1"/>
              <a:t>Sonoo</a:t>
            </a:r>
            <a:r>
              <a:rPr lang="en-US" dirty="0"/>
              <a:t>  890000</a:t>
            </a:r>
          </a:p>
          <a:p>
            <a:r>
              <a:rPr lang="en-US" dirty="0"/>
              <a:t>102  Nakul  59000</a:t>
            </a:r>
          </a:p>
        </p:txBody>
      </p:sp>
    </p:spTree>
    <p:extLst>
      <p:ext uri="{BB962C8B-B14F-4D97-AF65-F5344CB8AC3E}">
        <p14:creationId xmlns:p14="http://schemas.microsoft.com/office/powerpoint/2010/main" val="2393325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D2F355C-2B45-42F5-A653-B9F5B8423F93}"/>
              </a:ext>
            </a:extLst>
          </p:cNvPr>
          <p:cNvSpPr>
            <a:spLocks noGrp="1"/>
          </p:cNvSpPr>
          <p:nvPr>
            <p:ph type="title"/>
          </p:nvPr>
        </p:nvSpPr>
        <p:spPr>
          <a:xfrm>
            <a:off x="614172" y="315151"/>
            <a:ext cx="6190488" cy="861949"/>
          </a:xfrm>
        </p:spPr>
        <p:txBody>
          <a:bodyPr>
            <a:normAutofit/>
          </a:bodyPr>
          <a:lstStyle/>
          <a:p>
            <a:r>
              <a:rPr lang="en-US" dirty="0"/>
              <a:t>Static</a:t>
            </a:r>
          </a:p>
        </p:txBody>
      </p:sp>
      <p:sp>
        <p:nvSpPr>
          <p:cNvPr id="4" name="Content Placeholder 3">
            <a:extLst>
              <a:ext uri="{FF2B5EF4-FFF2-40B4-BE49-F238E27FC236}">
                <a16:creationId xmlns:a16="http://schemas.microsoft.com/office/drawing/2014/main" id="{2AEF8A8A-50C9-462F-80A8-13F5F5ED1DE2}"/>
              </a:ext>
            </a:extLst>
          </p:cNvPr>
          <p:cNvSpPr>
            <a:spLocks noGrp="1"/>
          </p:cNvSpPr>
          <p:nvPr>
            <p:ph idx="1"/>
          </p:nvPr>
        </p:nvSpPr>
        <p:spPr>
          <a:xfrm>
            <a:off x="850391" y="1371601"/>
            <a:ext cx="10869383" cy="4800600"/>
          </a:xfrm>
        </p:spPr>
        <p:txBody>
          <a:bodyPr>
            <a:normAutofit/>
          </a:bodyPr>
          <a:lstStyle/>
          <a:p>
            <a:r>
              <a:rPr lang="en-US" dirty="0"/>
              <a:t>In C++, static is a keyword or modifier that belongs to the type not instance. So instance is not required to access the static members. In C++, static can be field, method, constructor, class, properties, operator and event.</a:t>
            </a:r>
          </a:p>
          <a:p>
            <a:endParaRPr lang="en-US" dirty="0"/>
          </a:p>
          <a:p>
            <a:r>
              <a:rPr lang="en-US" b="1" dirty="0"/>
              <a:t>Advantage of C++ static keyword</a:t>
            </a:r>
          </a:p>
          <a:p>
            <a:r>
              <a:rPr lang="en-US" b="1" dirty="0"/>
              <a:t>Memory efficient:</a:t>
            </a:r>
            <a:r>
              <a:rPr lang="en-US" dirty="0"/>
              <a:t> Now we don't need to create instance for accessing the static members, so it saves memory. Moreover, it belongs to the type, so it will not get memory each time when instance is created.</a:t>
            </a:r>
          </a:p>
          <a:p>
            <a:endParaRPr lang="en-US" dirty="0"/>
          </a:p>
        </p:txBody>
      </p:sp>
      <p:sp>
        <p:nvSpPr>
          <p:cNvPr id="5" name="Date Placeholder 4">
            <a:extLst>
              <a:ext uri="{FF2B5EF4-FFF2-40B4-BE49-F238E27FC236}">
                <a16:creationId xmlns:a16="http://schemas.microsoft.com/office/drawing/2014/main" id="{B2415A75-3C6A-4E30-BD77-077ABB6BC84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FE392DFF-6ACF-4261-B3DD-61EC84C7AE54}"/>
              </a:ext>
            </a:extLst>
          </p:cNvPr>
          <p:cNvSpPr>
            <a:spLocks noGrp="1"/>
          </p:cNvSpPr>
          <p:nvPr>
            <p:ph type="sldNum" sz="quarter" idx="12"/>
          </p:nvPr>
        </p:nvSpPr>
        <p:spPr/>
        <p:txBody>
          <a:bodyPr/>
          <a:lstStyle/>
          <a:p>
            <a:fld id="{D8DA9DAA-006C-4F4B-980E-E3DF019B24E2}" type="slidenum">
              <a:rPr lang="en-US" smtClean="0"/>
              <a:pPr/>
              <a:t>24</a:t>
            </a:fld>
            <a:endParaRPr lang="en-US" dirty="0"/>
          </a:p>
        </p:txBody>
      </p:sp>
    </p:spTree>
    <p:extLst>
      <p:ext uri="{BB962C8B-B14F-4D97-AF65-F5344CB8AC3E}">
        <p14:creationId xmlns:p14="http://schemas.microsoft.com/office/powerpoint/2010/main" val="1836893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4B9DF0-A56B-484E-A973-977428767218}"/>
              </a:ext>
            </a:extLst>
          </p:cNvPr>
          <p:cNvSpPr>
            <a:spLocks noGrp="1"/>
          </p:cNvSpPr>
          <p:nvPr>
            <p:ph type="title"/>
          </p:nvPr>
        </p:nvSpPr>
        <p:spPr>
          <a:xfrm>
            <a:off x="360171" y="437324"/>
            <a:ext cx="9240849" cy="735076"/>
          </a:xfrm>
        </p:spPr>
        <p:txBody>
          <a:bodyPr>
            <a:normAutofit fontScale="90000"/>
          </a:bodyPr>
          <a:lstStyle/>
          <a:p>
            <a:r>
              <a:rPr lang="en-US" b="1" dirty="0"/>
              <a:t>Static Field</a:t>
            </a:r>
          </a:p>
        </p:txBody>
      </p:sp>
      <p:sp>
        <p:nvSpPr>
          <p:cNvPr id="4" name="Content Placeholder 3">
            <a:extLst>
              <a:ext uri="{FF2B5EF4-FFF2-40B4-BE49-F238E27FC236}">
                <a16:creationId xmlns:a16="http://schemas.microsoft.com/office/drawing/2014/main" id="{9C0FDB70-6B96-4B15-95E0-C46846FC5F33}"/>
              </a:ext>
            </a:extLst>
          </p:cNvPr>
          <p:cNvSpPr>
            <a:spLocks noGrp="1"/>
          </p:cNvSpPr>
          <p:nvPr>
            <p:ph idx="1"/>
          </p:nvPr>
        </p:nvSpPr>
        <p:spPr>
          <a:xfrm>
            <a:off x="551838" y="1172400"/>
            <a:ext cx="11088323" cy="4999800"/>
          </a:xfrm>
        </p:spPr>
        <p:txBody>
          <a:bodyPr/>
          <a:lstStyle/>
          <a:p>
            <a:r>
              <a:rPr lang="en-US" sz="2800" dirty="0"/>
              <a:t>A field which is declared as static is called static field. Unlike instance field which gets memory each time whenever you create object, there is only one copy of static field created in the memory. It is shared to all the objects.</a:t>
            </a:r>
          </a:p>
          <a:p>
            <a:endParaRPr lang="en-US" sz="2800" dirty="0"/>
          </a:p>
          <a:p>
            <a:r>
              <a:rPr lang="en-US" sz="2800" dirty="0"/>
              <a:t>It is used to refer the common property of all objects such as </a:t>
            </a:r>
            <a:r>
              <a:rPr lang="en-US" sz="2800" dirty="0" err="1"/>
              <a:t>rateOfInterest</a:t>
            </a:r>
            <a:r>
              <a:rPr lang="en-US" sz="2800" dirty="0"/>
              <a:t> in case of Account, </a:t>
            </a:r>
            <a:r>
              <a:rPr lang="en-US" sz="2800" dirty="0" err="1"/>
              <a:t>companyName</a:t>
            </a:r>
            <a:r>
              <a:rPr lang="en-US" sz="2800" dirty="0"/>
              <a:t> in case of Employee etc.</a:t>
            </a:r>
          </a:p>
          <a:p>
            <a:endParaRPr lang="en-US" dirty="0"/>
          </a:p>
        </p:txBody>
      </p:sp>
      <p:sp>
        <p:nvSpPr>
          <p:cNvPr id="5" name="Date Placeholder 4">
            <a:extLst>
              <a:ext uri="{FF2B5EF4-FFF2-40B4-BE49-F238E27FC236}">
                <a16:creationId xmlns:a16="http://schemas.microsoft.com/office/drawing/2014/main" id="{B2A41667-DFC7-4930-93D4-CF93A83208D6}"/>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733087BA-88C2-4A69-821C-5CA6FDBF84A8}"/>
              </a:ext>
            </a:extLst>
          </p:cNvPr>
          <p:cNvSpPr>
            <a:spLocks noGrp="1"/>
          </p:cNvSpPr>
          <p:nvPr>
            <p:ph type="sldNum" sz="quarter" idx="12"/>
          </p:nvPr>
        </p:nvSpPr>
        <p:spPr/>
        <p:txBody>
          <a:bodyPr/>
          <a:lstStyle/>
          <a:p>
            <a:fld id="{D8DA9DAA-006C-4F4B-980E-E3DF019B24E2}" type="slidenum">
              <a:rPr lang="en-US" smtClean="0"/>
              <a:pPr/>
              <a:t>25</a:t>
            </a:fld>
            <a:endParaRPr lang="en-US" dirty="0"/>
          </a:p>
        </p:txBody>
      </p:sp>
    </p:spTree>
    <p:extLst>
      <p:ext uri="{BB962C8B-B14F-4D97-AF65-F5344CB8AC3E}">
        <p14:creationId xmlns:p14="http://schemas.microsoft.com/office/powerpoint/2010/main" val="2790152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AB6215A-B32F-468D-93A4-29D3EC521FDD}"/>
              </a:ext>
            </a:extLst>
          </p:cNvPr>
          <p:cNvSpPr>
            <a:spLocks noGrp="1"/>
          </p:cNvSpPr>
          <p:nvPr>
            <p:ph idx="1"/>
          </p:nvPr>
        </p:nvSpPr>
        <p:spPr>
          <a:xfrm>
            <a:off x="221946" y="798490"/>
            <a:ext cx="5029200" cy="5557860"/>
          </a:xfrm>
        </p:spPr>
        <p:txBody>
          <a:bodyPr>
            <a:normAutofit fontScale="700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b="1" dirty="0"/>
              <a:t>class</a:t>
            </a:r>
            <a:r>
              <a:rPr lang="en-US" dirty="0"/>
              <a:t> Account {  </a:t>
            </a:r>
          </a:p>
          <a:p>
            <a:r>
              <a:rPr lang="en-US" dirty="0"/>
              <a:t>   </a:t>
            </a:r>
            <a:r>
              <a:rPr lang="en-US" b="1" dirty="0"/>
              <a:t>public</a:t>
            </a:r>
            <a:r>
              <a:rPr lang="en-US" dirty="0"/>
              <a:t>:  </a:t>
            </a:r>
          </a:p>
          <a:p>
            <a:r>
              <a:rPr lang="en-US" dirty="0"/>
              <a:t>       </a:t>
            </a:r>
            <a:r>
              <a:rPr lang="en-US" b="1" dirty="0"/>
              <a:t>int</a:t>
            </a:r>
            <a:r>
              <a:rPr lang="en-US" dirty="0"/>
              <a:t> </a:t>
            </a:r>
            <a:r>
              <a:rPr lang="en-US" dirty="0" err="1"/>
              <a:t>accno</a:t>
            </a:r>
            <a:r>
              <a:rPr lang="en-US" dirty="0"/>
              <a:t>; //data member (also instance variable)      </a:t>
            </a:r>
          </a:p>
          <a:p>
            <a:r>
              <a:rPr lang="en-US" dirty="0"/>
              <a:t>       string name; //data member(also instance variable)  </a:t>
            </a:r>
          </a:p>
          <a:p>
            <a:r>
              <a:rPr lang="en-US" dirty="0"/>
              <a:t>       </a:t>
            </a:r>
            <a:r>
              <a:rPr lang="en-US" b="1" dirty="0"/>
              <a:t>static</a:t>
            </a:r>
            <a:r>
              <a:rPr lang="en-US" dirty="0"/>
              <a:t> </a:t>
            </a:r>
            <a:r>
              <a:rPr lang="en-US" b="1" dirty="0"/>
              <a:t>float</a:t>
            </a:r>
            <a:r>
              <a:rPr lang="en-US" dirty="0"/>
              <a:t> </a:t>
            </a:r>
            <a:r>
              <a:rPr lang="en-US" dirty="0" err="1"/>
              <a:t>rateOfInterest</a:t>
            </a:r>
            <a:r>
              <a:rPr lang="en-US" dirty="0"/>
              <a:t>;   </a:t>
            </a:r>
          </a:p>
          <a:p>
            <a:r>
              <a:rPr lang="en-US" dirty="0"/>
              <a:t>       Account(</a:t>
            </a:r>
            <a:r>
              <a:rPr lang="en-US" b="1" dirty="0"/>
              <a:t>int</a:t>
            </a:r>
            <a:r>
              <a:rPr lang="en-US" dirty="0"/>
              <a:t> </a:t>
            </a:r>
            <a:r>
              <a:rPr lang="en-US" dirty="0" err="1"/>
              <a:t>accno</a:t>
            </a:r>
            <a:r>
              <a:rPr lang="en-US" dirty="0"/>
              <a:t>, string name)   </a:t>
            </a:r>
          </a:p>
          <a:p>
            <a:r>
              <a:rPr lang="en-US" dirty="0"/>
              <a:t>        {    </a:t>
            </a:r>
          </a:p>
          <a:p>
            <a:r>
              <a:rPr lang="en-US" dirty="0"/>
              <a:t>             </a:t>
            </a:r>
            <a:r>
              <a:rPr lang="en-US" b="1" dirty="0"/>
              <a:t>this</a:t>
            </a:r>
            <a:r>
              <a:rPr lang="en-US" dirty="0"/>
              <a:t>-&gt;</a:t>
            </a:r>
            <a:r>
              <a:rPr lang="en-US" dirty="0" err="1"/>
              <a:t>accno</a:t>
            </a:r>
            <a:r>
              <a:rPr lang="en-US" dirty="0"/>
              <a:t> = </a:t>
            </a:r>
            <a:r>
              <a:rPr lang="en-US" dirty="0" err="1"/>
              <a:t>accno</a:t>
            </a:r>
            <a:r>
              <a:rPr lang="en-US" dirty="0"/>
              <a:t>;    </a:t>
            </a:r>
          </a:p>
          <a:p>
            <a:r>
              <a:rPr lang="en-US" dirty="0"/>
              <a:t>            </a:t>
            </a:r>
            <a:r>
              <a:rPr lang="en-US" b="1" dirty="0"/>
              <a:t>this</a:t>
            </a:r>
            <a:r>
              <a:rPr lang="en-US" dirty="0"/>
              <a:t>-&gt;name = name;    </a:t>
            </a:r>
          </a:p>
          <a:p>
            <a:r>
              <a:rPr lang="en-US" dirty="0"/>
              <a:t>        }    </a:t>
            </a:r>
          </a:p>
          <a:p>
            <a:r>
              <a:rPr lang="en-US" dirty="0"/>
              <a:t>       </a:t>
            </a:r>
            <a:r>
              <a:rPr lang="en-US" b="1" dirty="0"/>
              <a:t>void</a:t>
            </a:r>
            <a:r>
              <a:rPr lang="en-US" dirty="0"/>
              <a:t> display()    </a:t>
            </a:r>
          </a:p>
          <a:p>
            <a:r>
              <a:rPr lang="en-US" dirty="0"/>
              <a:t>        {    </a:t>
            </a:r>
          </a:p>
          <a:p>
            <a:r>
              <a:rPr lang="en-US" dirty="0"/>
              <a:t>            </a:t>
            </a:r>
            <a:r>
              <a:rPr lang="en-US" dirty="0" err="1"/>
              <a:t>cout</a:t>
            </a:r>
            <a:r>
              <a:rPr lang="en-US" dirty="0"/>
              <a:t>&lt;&lt;</a:t>
            </a:r>
            <a:r>
              <a:rPr lang="en-US" dirty="0" err="1"/>
              <a:t>accno</a:t>
            </a:r>
            <a:r>
              <a:rPr lang="en-US" dirty="0"/>
              <a:t>&lt;&lt; "&lt;&lt;name&lt;&lt; " "&lt;&lt;</a:t>
            </a:r>
            <a:r>
              <a:rPr lang="en-US" dirty="0" err="1"/>
              <a:t>rateOfInterest</a:t>
            </a:r>
            <a:r>
              <a:rPr lang="en-US" dirty="0"/>
              <a:t>&lt;&lt;</a:t>
            </a:r>
            <a:r>
              <a:rPr lang="en-US" dirty="0" err="1"/>
              <a:t>endl</a:t>
            </a:r>
            <a:r>
              <a:rPr lang="en-US" dirty="0"/>
              <a:t>;   </a:t>
            </a:r>
          </a:p>
          <a:p>
            <a:r>
              <a:rPr lang="en-US" dirty="0"/>
              <a:t>        }    </a:t>
            </a:r>
          </a:p>
          <a:p>
            <a:r>
              <a:rPr lang="en-US" dirty="0"/>
              <a:t>};  </a:t>
            </a:r>
          </a:p>
          <a:p>
            <a:endParaRPr lang="en-US" dirty="0"/>
          </a:p>
        </p:txBody>
      </p:sp>
      <p:sp>
        <p:nvSpPr>
          <p:cNvPr id="5" name="Date Placeholder 4">
            <a:extLst>
              <a:ext uri="{FF2B5EF4-FFF2-40B4-BE49-F238E27FC236}">
                <a16:creationId xmlns:a16="http://schemas.microsoft.com/office/drawing/2014/main" id="{1236DBAA-C0DC-4237-B96E-B366570BA11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87E1DECB-67CA-4B28-9E0E-3E6C34FB981C}"/>
              </a:ext>
            </a:extLst>
          </p:cNvPr>
          <p:cNvSpPr>
            <a:spLocks noGrp="1"/>
          </p:cNvSpPr>
          <p:nvPr>
            <p:ph type="sldNum" sz="quarter" idx="12"/>
          </p:nvPr>
        </p:nvSpPr>
        <p:spPr/>
        <p:txBody>
          <a:bodyPr/>
          <a:lstStyle/>
          <a:p>
            <a:fld id="{D8DA9DAA-006C-4F4B-980E-E3DF019B24E2}" type="slidenum">
              <a:rPr lang="en-US" smtClean="0"/>
              <a:pPr/>
              <a:t>26</a:t>
            </a:fld>
            <a:endParaRPr lang="en-US" dirty="0"/>
          </a:p>
        </p:txBody>
      </p:sp>
      <p:sp>
        <p:nvSpPr>
          <p:cNvPr id="10" name="Rectangle 9">
            <a:extLst>
              <a:ext uri="{FF2B5EF4-FFF2-40B4-BE49-F238E27FC236}">
                <a16:creationId xmlns:a16="http://schemas.microsoft.com/office/drawing/2014/main" id="{9033E5D4-2592-40AE-A69C-5A05B5956F28}"/>
              </a:ext>
            </a:extLst>
          </p:cNvPr>
          <p:cNvSpPr/>
          <p:nvPr/>
        </p:nvSpPr>
        <p:spPr>
          <a:xfrm>
            <a:off x="5705341" y="798490"/>
            <a:ext cx="6264713" cy="2862322"/>
          </a:xfrm>
          <a:prstGeom prst="rect">
            <a:avLst/>
          </a:prstGeom>
        </p:spPr>
        <p:txBody>
          <a:bodyPr wrap="square">
            <a:spAutoFit/>
          </a:bodyPr>
          <a:lstStyle/>
          <a:p>
            <a:pPr algn="just"/>
            <a:r>
              <a:rPr lang="en-US" b="1" dirty="0">
                <a:solidFill>
                  <a:srgbClr val="2E8B57"/>
                </a:solidFill>
                <a:latin typeface="inter-regular"/>
              </a:rPr>
              <a:t>float</a:t>
            </a:r>
            <a:r>
              <a:rPr lang="en-US" dirty="0">
                <a:solidFill>
                  <a:srgbClr val="000000"/>
                </a:solidFill>
                <a:latin typeface="inter-regular"/>
              </a:rPr>
              <a:t> Account::</a:t>
            </a:r>
            <a:r>
              <a:rPr lang="en-US" dirty="0" err="1">
                <a:solidFill>
                  <a:srgbClr val="000000"/>
                </a:solidFill>
                <a:latin typeface="inter-regular"/>
              </a:rPr>
              <a:t>rateOfInterest</a:t>
            </a:r>
            <a:r>
              <a:rPr lang="en-US" dirty="0">
                <a:solidFill>
                  <a:srgbClr val="000000"/>
                </a:solidFill>
                <a:latin typeface="inter-regular"/>
              </a:rPr>
              <a:t>=6.5;  </a:t>
            </a:r>
          </a:p>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Account a1 =Account(201, </a:t>
            </a:r>
            <a:r>
              <a:rPr lang="en-US" dirty="0">
                <a:solidFill>
                  <a:srgbClr val="0000FF"/>
                </a:solidFill>
                <a:latin typeface="inter-regular"/>
              </a:rPr>
              <a:t>"Sanjay"</a:t>
            </a:r>
            <a:r>
              <a:rPr lang="en-US" dirty="0">
                <a:solidFill>
                  <a:srgbClr val="000000"/>
                </a:solidFill>
                <a:latin typeface="inter-regular"/>
              </a:rPr>
              <a:t>); </a:t>
            </a:r>
            <a:r>
              <a:rPr lang="en-US" dirty="0">
                <a:solidFill>
                  <a:srgbClr val="008200"/>
                </a:solidFill>
                <a:latin typeface="inter-regular"/>
              </a:rPr>
              <a:t>//creating an object of Employee </a:t>
            </a:r>
            <a:r>
              <a:rPr lang="en-US" dirty="0">
                <a:solidFill>
                  <a:srgbClr val="000000"/>
                </a:solidFill>
                <a:latin typeface="inter-regular"/>
              </a:rPr>
              <a:t>  </a:t>
            </a:r>
          </a:p>
          <a:p>
            <a:pPr algn="just"/>
            <a:r>
              <a:rPr lang="en-US" dirty="0">
                <a:solidFill>
                  <a:srgbClr val="000000"/>
                </a:solidFill>
                <a:latin typeface="inter-regular"/>
              </a:rPr>
              <a:t>    Account a2=Account(202, </a:t>
            </a:r>
            <a:r>
              <a:rPr lang="en-US" dirty="0">
                <a:solidFill>
                  <a:srgbClr val="0000FF"/>
                </a:solidFill>
                <a:latin typeface="inter-regular"/>
              </a:rPr>
              <a:t>"Nakul"</a:t>
            </a:r>
            <a:r>
              <a:rPr lang="en-US" dirty="0">
                <a:solidFill>
                  <a:srgbClr val="000000"/>
                </a:solidFill>
                <a:latin typeface="inter-regular"/>
              </a:rPr>
              <a:t>); </a:t>
            </a:r>
            <a:r>
              <a:rPr lang="en-US" dirty="0">
                <a:solidFill>
                  <a:srgbClr val="008200"/>
                </a:solidFill>
                <a:latin typeface="inter-regular"/>
              </a:rPr>
              <a:t>//creating an object of Employee</a:t>
            </a:r>
            <a:r>
              <a:rPr lang="en-US" dirty="0">
                <a:solidFill>
                  <a:srgbClr val="000000"/>
                </a:solidFill>
                <a:latin typeface="inter-regular"/>
              </a:rPr>
              <a:t>  </a:t>
            </a:r>
          </a:p>
          <a:p>
            <a:pPr algn="just"/>
            <a:r>
              <a:rPr lang="en-US" dirty="0">
                <a:solidFill>
                  <a:srgbClr val="000000"/>
                </a:solidFill>
                <a:latin typeface="inter-regular"/>
              </a:rPr>
              <a:t>    a1.display();    </a:t>
            </a:r>
          </a:p>
          <a:p>
            <a:pPr algn="just"/>
            <a:r>
              <a:rPr lang="en-US" dirty="0">
                <a:solidFill>
                  <a:srgbClr val="000000"/>
                </a:solidFill>
                <a:latin typeface="inter-regular"/>
              </a:rPr>
              <a:t>    a2.display();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11" name="Rectangle 1">
            <a:extLst>
              <a:ext uri="{FF2B5EF4-FFF2-40B4-BE49-F238E27FC236}">
                <a16:creationId xmlns:a16="http://schemas.microsoft.com/office/drawing/2014/main" id="{88976A13-021C-4E10-A5CD-2EA5D71AEA64}"/>
              </a:ext>
            </a:extLst>
          </p:cNvPr>
          <p:cNvSpPr>
            <a:spLocks noChangeArrowheads="1"/>
          </p:cNvSpPr>
          <p:nvPr/>
        </p:nvSpPr>
        <p:spPr bwMode="auto">
          <a:xfrm>
            <a:off x="6240787" y="4846657"/>
            <a:ext cx="542900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inter-regular"/>
              </a:rPr>
              <a:t>Output:</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Arial Unicode MS"/>
              </a:rPr>
              <a:t>201 Sanjay 6.5 202 Nakul 6.5</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3279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9C9B2F-4B3A-453B-92CA-D24B2F1DC96C}"/>
              </a:ext>
            </a:extLst>
          </p:cNvPr>
          <p:cNvSpPr>
            <a:spLocks noGrp="1"/>
          </p:cNvSpPr>
          <p:nvPr>
            <p:ph type="title"/>
          </p:nvPr>
        </p:nvSpPr>
        <p:spPr>
          <a:xfrm>
            <a:off x="139264" y="622300"/>
            <a:ext cx="5956736" cy="725973"/>
          </a:xfrm>
        </p:spPr>
        <p:txBody>
          <a:bodyPr>
            <a:normAutofit fontScale="90000"/>
          </a:bodyPr>
          <a:lstStyle/>
          <a:p>
            <a:r>
              <a:rPr lang="en-US" b="1" dirty="0"/>
              <a:t>Access Specifiers</a:t>
            </a:r>
          </a:p>
        </p:txBody>
      </p:sp>
      <p:sp>
        <p:nvSpPr>
          <p:cNvPr id="4" name="Content Placeholder 3">
            <a:extLst>
              <a:ext uri="{FF2B5EF4-FFF2-40B4-BE49-F238E27FC236}">
                <a16:creationId xmlns:a16="http://schemas.microsoft.com/office/drawing/2014/main" id="{ECBD5D93-1EBF-4EBD-9885-E13962B68DCF}"/>
              </a:ext>
            </a:extLst>
          </p:cNvPr>
          <p:cNvSpPr>
            <a:spLocks noGrp="1"/>
          </p:cNvSpPr>
          <p:nvPr>
            <p:ph idx="1"/>
          </p:nvPr>
        </p:nvSpPr>
        <p:spPr>
          <a:xfrm>
            <a:off x="245084" y="1712890"/>
            <a:ext cx="11774638" cy="4643460"/>
          </a:xfrm>
        </p:spPr>
        <p:txBody>
          <a:bodyPr/>
          <a:lstStyle/>
          <a:p>
            <a:r>
              <a:rPr lang="en-US" sz="2400" dirty="0"/>
              <a:t>By now, you are quite familiar with the public keyword that appears in all of our class examples:</a:t>
            </a:r>
          </a:p>
          <a:p>
            <a:r>
              <a:rPr lang="en-US" sz="2400" dirty="0"/>
              <a:t>class </a:t>
            </a:r>
            <a:r>
              <a:rPr lang="en-US" sz="2400" dirty="0" err="1"/>
              <a:t>MyClass</a:t>
            </a:r>
            <a:r>
              <a:rPr lang="en-US" sz="2400" dirty="0"/>
              <a:t> {  // The class</a:t>
            </a:r>
            <a:br>
              <a:rPr lang="en-US" sz="2400" dirty="0"/>
            </a:br>
            <a:r>
              <a:rPr lang="en-US" sz="2400" dirty="0"/>
              <a:t>  </a:t>
            </a:r>
            <a:r>
              <a:rPr lang="en-US" sz="2400" b="1" dirty="0"/>
              <a:t>public:</a:t>
            </a:r>
            <a:r>
              <a:rPr lang="en-US" sz="2400" dirty="0"/>
              <a:t>        // Access specifier</a:t>
            </a:r>
            <a:br>
              <a:rPr lang="en-US" sz="2400" dirty="0"/>
            </a:br>
            <a:r>
              <a:rPr lang="en-US" sz="2400" dirty="0"/>
              <a:t>    // class members goes here</a:t>
            </a:r>
            <a:br>
              <a:rPr lang="en-US" sz="2400" dirty="0"/>
            </a:br>
            <a:r>
              <a:rPr lang="en-US" sz="2400" dirty="0"/>
              <a:t>};</a:t>
            </a:r>
          </a:p>
          <a:p>
            <a:endParaRPr lang="en-US" dirty="0"/>
          </a:p>
        </p:txBody>
      </p:sp>
      <p:sp>
        <p:nvSpPr>
          <p:cNvPr id="5" name="Date Placeholder 4">
            <a:extLst>
              <a:ext uri="{FF2B5EF4-FFF2-40B4-BE49-F238E27FC236}">
                <a16:creationId xmlns:a16="http://schemas.microsoft.com/office/drawing/2014/main" id="{1EDD3102-FF22-494B-AF54-620E0C64B35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BBC8E0F2-7CDA-421A-930A-84C9701B01F7}"/>
              </a:ext>
            </a:extLst>
          </p:cNvPr>
          <p:cNvSpPr>
            <a:spLocks noGrp="1"/>
          </p:cNvSpPr>
          <p:nvPr>
            <p:ph type="sldNum" sz="quarter" idx="12"/>
          </p:nvPr>
        </p:nvSpPr>
        <p:spPr/>
        <p:txBody>
          <a:bodyPr/>
          <a:lstStyle/>
          <a:p>
            <a:fld id="{D8DA9DAA-006C-4F4B-980E-E3DF019B24E2}" type="slidenum">
              <a:rPr lang="en-US" smtClean="0"/>
              <a:pPr/>
              <a:t>27</a:t>
            </a:fld>
            <a:endParaRPr lang="en-US" dirty="0"/>
          </a:p>
        </p:txBody>
      </p:sp>
      <p:sp>
        <p:nvSpPr>
          <p:cNvPr id="6" name="Footer Placeholder 5">
            <a:extLst>
              <a:ext uri="{FF2B5EF4-FFF2-40B4-BE49-F238E27FC236}">
                <a16:creationId xmlns:a16="http://schemas.microsoft.com/office/drawing/2014/main" id="{258FD754-C744-4D71-B443-543F90988A09}"/>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2507921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E13EDFF-D6E1-4D47-8D03-E5628804633F}"/>
              </a:ext>
            </a:extLst>
          </p:cNvPr>
          <p:cNvSpPr>
            <a:spLocks noGrp="1"/>
          </p:cNvSpPr>
          <p:nvPr>
            <p:ph idx="1"/>
          </p:nvPr>
        </p:nvSpPr>
        <p:spPr>
          <a:xfrm>
            <a:off x="347731" y="331304"/>
            <a:ext cx="11256134" cy="5840896"/>
          </a:xfrm>
        </p:spPr>
        <p:txBody>
          <a:bodyPr>
            <a:normAutofit/>
          </a:bodyPr>
          <a:lstStyle/>
          <a:p>
            <a:r>
              <a:rPr lang="en-US" sz="2400" dirty="0"/>
              <a:t>The public keyword is an access specifier. Access specifiers define how the members (attributes and methods) of a class can be accessed. In the example above, the members are public - which means that they can be accessed and modified from outside the code.</a:t>
            </a:r>
          </a:p>
          <a:p>
            <a:r>
              <a:rPr lang="en-US" sz="2400" dirty="0"/>
              <a:t>However, what if we want members to be private and hidden from the outside world?</a:t>
            </a:r>
          </a:p>
          <a:p>
            <a:r>
              <a:rPr lang="en-US" sz="2400" dirty="0"/>
              <a:t>In C++, there are three access specifiers:</a:t>
            </a:r>
          </a:p>
          <a:p>
            <a:r>
              <a:rPr lang="en-US" sz="2400" dirty="0"/>
              <a:t>public - members are accessible from outside the class</a:t>
            </a:r>
          </a:p>
          <a:p>
            <a:r>
              <a:rPr lang="en-US" sz="2400" dirty="0"/>
              <a:t>private - members cannot be accessed (or viewed) from outside the class</a:t>
            </a:r>
          </a:p>
          <a:p>
            <a:r>
              <a:rPr lang="en-US" sz="2400" dirty="0"/>
              <a:t>protected - members cannot be accessed from outside the class, however, they can be accessed in inherited classes. You will learn more about Inheritance later.</a:t>
            </a:r>
          </a:p>
        </p:txBody>
      </p:sp>
      <p:sp>
        <p:nvSpPr>
          <p:cNvPr id="5" name="Date Placeholder 4">
            <a:extLst>
              <a:ext uri="{FF2B5EF4-FFF2-40B4-BE49-F238E27FC236}">
                <a16:creationId xmlns:a16="http://schemas.microsoft.com/office/drawing/2014/main" id="{F39D9E8C-2729-41ED-A88D-51348E798A6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CC8072EC-726A-4C2B-B113-ECED1A2549EC}"/>
              </a:ext>
            </a:extLst>
          </p:cNvPr>
          <p:cNvSpPr>
            <a:spLocks noGrp="1"/>
          </p:cNvSpPr>
          <p:nvPr>
            <p:ph type="sldNum" sz="quarter" idx="12"/>
          </p:nvPr>
        </p:nvSpPr>
        <p:spPr/>
        <p:txBody>
          <a:bodyPr/>
          <a:lstStyle/>
          <a:p>
            <a:fld id="{D8DA9DAA-006C-4F4B-980E-E3DF019B24E2}" type="slidenum">
              <a:rPr lang="en-US" smtClean="0"/>
              <a:pPr/>
              <a:t>28</a:t>
            </a:fld>
            <a:endParaRPr lang="en-US" dirty="0"/>
          </a:p>
        </p:txBody>
      </p:sp>
    </p:spTree>
    <p:extLst>
      <p:ext uri="{BB962C8B-B14F-4D97-AF65-F5344CB8AC3E}">
        <p14:creationId xmlns:p14="http://schemas.microsoft.com/office/powerpoint/2010/main" val="3886572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71324701-1ED7-40D0-BAF3-77E41F018FFA}"/>
              </a:ext>
            </a:extLst>
          </p:cNvPr>
          <p:cNvSpPr>
            <a:spLocks noGrp="1" noChangeArrowheads="1"/>
          </p:cNvSpPr>
          <p:nvPr>
            <p:ph type="title"/>
          </p:nvPr>
        </p:nvSpPr>
        <p:spPr bwMode="auto">
          <a:xfrm>
            <a:off x="112776" y="978918"/>
            <a:ext cx="1018100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Verdana" panose="020B0604030504040204" pitchFamily="34" charset="0"/>
              </a:rPr>
              <a:t>In the following example, we demonstrate the differences between </a:t>
            </a:r>
            <a:r>
              <a:rPr kumimoji="0" lang="en-US" altLang="en-US" sz="2800" b="0" i="0" u="none" strike="noStrike" cap="none" normalizeH="0" baseline="0" dirty="0">
                <a:ln>
                  <a:noFill/>
                </a:ln>
                <a:solidFill>
                  <a:srgbClr val="DC143C"/>
                </a:solidFill>
                <a:effectLst/>
                <a:latin typeface="Consolas" panose="020B0609020204030204" pitchFamily="49" charset="0"/>
              </a:rPr>
              <a:t>public</a:t>
            </a:r>
            <a:r>
              <a:rPr kumimoji="0" lang="en-US" altLang="en-US" sz="2800" b="0" i="0" u="none" strike="noStrike" cap="none" normalizeH="0" baseline="0" dirty="0">
                <a:ln>
                  <a:noFill/>
                </a:ln>
                <a:solidFill>
                  <a:srgbClr val="000000"/>
                </a:solidFill>
                <a:effectLst/>
                <a:latin typeface="Verdana" panose="020B0604030504040204" pitchFamily="34" charset="0"/>
              </a:rPr>
              <a:t> and </a:t>
            </a:r>
            <a:r>
              <a:rPr kumimoji="0" lang="en-US" altLang="en-US" sz="2800" b="0" i="0" u="none" strike="noStrike" cap="none" normalizeH="0" baseline="0" dirty="0">
                <a:ln>
                  <a:noFill/>
                </a:ln>
                <a:solidFill>
                  <a:srgbClr val="DC143C"/>
                </a:solidFill>
                <a:effectLst/>
                <a:latin typeface="Consolas" panose="020B0609020204030204" pitchFamily="49" charset="0"/>
              </a:rPr>
              <a:t>private</a:t>
            </a:r>
            <a:r>
              <a:rPr kumimoji="0" lang="en-US" altLang="en-US" sz="2800" b="0" i="0" u="none" strike="noStrike" cap="none" normalizeH="0" baseline="0" dirty="0">
                <a:ln>
                  <a:noFill/>
                </a:ln>
                <a:solidFill>
                  <a:srgbClr val="000000"/>
                </a:solidFill>
                <a:effectLst/>
                <a:latin typeface="Verdana" panose="020B0604030504040204" pitchFamily="34" charset="0"/>
              </a:rPr>
              <a:t> members:</a:t>
            </a:r>
            <a:r>
              <a:rPr kumimoji="0" lang="en-US" altLang="en-US" sz="28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4" name="Content Placeholder 3">
            <a:extLst>
              <a:ext uri="{FF2B5EF4-FFF2-40B4-BE49-F238E27FC236}">
                <a16:creationId xmlns:a16="http://schemas.microsoft.com/office/drawing/2014/main" id="{BCD74886-BCF2-4F80-A76A-88880A099AEC}"/>
              </a:ext>
            </a:extLst>
          </p:cNvPr>
          <p:cNvSpPr>
            <a:spLocks noGrp="1"/>
          </p:cNvSpPr>
          <p:nvPr>
            <p:ph idx="1"/>
          </p:nvPr>
        </p:nvSpPr>
        <p:spPr>
          <a:xfrm>
            <a:off x="6377299" y="2063538"/>
            <a:ext cx="4466602" cy="3346704"/>
          </a:xfrm>
        </p:spPr>
        <p:txBody>
          <a:bodyPr>
            <a:normAutofit/>
          </a:bodyPr>
          <a:lstStyle/>
          <a:p>
            <a:r>
              <a:rPr lang="en-US" dirty="0"/>
              <a:t>If you try to access a private member, an error occurs:</a:t>
            </a:r>
          </a:p>
          <a:p>
            <a:endParaRPr lang="en-US" dirty="0"/>
          </a:p>
          <a:p>
            <a:r>
              <a:rPr lang="en-US" dirty="0"/>
              <a:t>error: y is private</a:t>
            </a:r>
          </a:p>
        </p:txBody>
      </p:sp>
      <p:sp>
        <p:nvSpPr>
          <p:cNvPr id="5" name="Date Placeholder 4">
            <a:extLst>
              <a:ext uri="{FF2B5EF4-FFF2-40B4-BE49-F238E27FC236}">
                <a16:creationId xmlns:a16="http://schemas.microsoft.com/office/drawing/2014/main" id="{95BF28B5-E3AB-4974-BE50-3D4A77CBEC2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260CA21F-4771-4221-AD5B-E3A34CB88B56}"/>
              </a:ext>
            </a:extLst>
          </p:cNvPr>
          <p:cNvSpPr>
            <a:spLocks noGrp="1"/>
          </p:cNvSpPr>
          <p:nvPr>
            <p:ph type="sldNum" sz="quarter" idx="12"/>
          </p:nvPr>
        </p:nvSpPr>
        <p:spPr/>
        <p:txBody>
          <a:bodyPr/>
          <a:lstStyle/>
          <a:p>
            <a:fld id="{D8DA9DAA-006C-4F4B-980E-E3DF019B24E2}" type="slidenum">
              <a:rPr lang="en-US" smtClean="0"/>
              <a:pPr/>
              <a:t>29</a:t>
            </a:fld>
            <a:endParaRPr lang="en-US" dirty="0"/>
          </a:p>
        </p:txBody>
      </p:sp>
      <p:sp>
        <p:nvSpPr>
          <p:cNvPr id="6" name="Footer Placeholder 5">
            <a:extLst>
              <a:ext uri="{FF2B5EF4-FFF2-40B4-BE49-F238E27FC236}">
                <a16:creationId xmlns:a16="http://schemas.microsoft.com/office/drawing/2014/main" id="{A85F8453-FD2E-4CA0-B465-3BB3389D7792}"/>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
        <p:nvSpPr>
          <p:cNvPr id="10" name="Rectangle 9">
            <a:extLst>
              <a:ext uri="{FF2B5EF4-FFF2-40B4-BE49-F238E27FC236}">
                <a16:creationId xmlns:a16="http://schemas.microsoft.com/office/drawing/2014/main" id="{C1217DEB-E550-423E-8A27-0A8F762D3964}"/>
              </a:ext>
            </a:extLst>
          </p:cNvPr>
          <p:cNvSpPr/>
          <p:nvPr/>
        </p:nvSpPr>
        <p:spPr>
          <a:xfrm>
            <a:off x="231859" y="2046727"/>
            <a:ext cx="6096000" cy="3693319"/>
          </a:xfrm>
          <a:prstGeom prst="rect">
            <a:avLst/>
          </a:prstGeom>
        </p:spPr>
        <p:txBody>
          <a:bodyPr>
            <a:spAutoFit/>
          </a:bodyPr>
          <a:lstStyle/>
          <a:p>
            <a:r>
              <a:rPr lang="en-US" dirty="0">
                <a:solidFill>
                  <a:srgbClr val="0000CD"/>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MyClass</a:t>
            </a:r>
            <a:r>
              <a:rPr lang="en-US" dirty="0">
                <a:solidFill>
                  <a:srgbClr val="000000"/>
                </a:solidFill>
                <a:latin typeface="Consolas" panose="020B0609020204030204" pitchFamily="49" charset="0"/>
              </a:rPr>
              <a:t> {</a:t>
            </a:r>
            <a:br>
              <a:rPr lang="en-US" dirty="0"/>
            </a:br>
            <a:r>
              <a:rPr lang="en-US" dirty="0">
                <a:solidFill>
                  <a:srgbClr val="000000"/>
                </a:solidFill>
                <a:latin typeface="Consolas" panose="020B0609020204030204" pitchFamily="49" charset="0"/>
              </a:rPr>
              <a:t>  </a:t>
            </a:r>
            <a:r>
              <a:rPr lang="en-US" b="1" dirty="0">
                <a:solidFill>
                  <a:srgbClr val="0000CD"/>
                </a:solidFill>
                <a:latin typeface="Consolas" panose="020B0609020204030204" pitchFamily="49" charset="0"/>
              </a:rPr>
              <a:t>public</a:t>
            </a:r>
            <a:r>
              <a:rPr lang="en-US" b="1" dirty="0">
                <a:solidFill>
                  <a:srgbClr val="0000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Public access specifier</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int</a:t>
            </a:r>
            <a:r>
              <a:rPr lang="en-US" dirty="0">
                <a:solidFill>
                  <a:srgbClr val="000000"/>
                </a:solidFill>
                <a:latin typeface="Consolas" panose="020B0609020204030204" pitchFamily="49" charset="0"/>
              </a:rPr>
              <a:t> x;   </a:t>
            </a:r>
            <a:r>
              <a:rPr lang="en-US" dirty="0">
                <a:solidFill>
                  <a:srgbClr val="008000"/>
                </a:solidFill>
                <a:latin typeface="Consolas" panose="020B0609020204030204" pitchFamily="49" charset="0"/>
              </a:rPr>
              <a:t>// Public attribute</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 </a:t>
            </a:r>
            <a:r>
              <a:rPr lang="en-US" b="1" dirty="0">
                <a:solidFill>
                  <a:srgbClr val="0000CD"/>
                </a:solidFill>
                <a:latin typeface="Consolas" panose="020B0609020204030204" pitchFamily="49" charset="0"/>
              </a:rPr>
              <a:t>private</a:t>
            </a:r>
            <a:r>
              <a:rPr lang="en-US" b="1" dirty="0">
                <a:solidFill>
                  <a:srgbClr val="00000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Private access specifier</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int</a:t>
            </a:r>
            <a:r>
              <a:rPr lang="en-US" dirty="0">
                <a:solidFill>
                  <a:srgbClr val="000000"/>
                </a:solidFill>
                <a:latin typeface="Consolas" panose="020B0609020204030204" pitchFamily="49" charset="0"/>
              </a:rPr>
              <a:t> y;   </a:t>
            </a:r>
            <a:r>
              <a:rPr lang="en-US" dirty="0">
                <a:solidFill>
                  <a:srgbClr val="008000"/>
                </a:solidFill>
                <a:latin typeface="Consolas" panose="020B0609020204030204" pitchFamily="49" charset="0"/>
              </a:rPr>
              <a:t>// Private attribute</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a:t>
            </a:r>
            <a:br>
              <a:rPr lang="en-US" dirty="0"/>
            </a:br>
            <a:br>
              <a:rPr lang="en-US" dirty="0"/>
            </a:br>
            <a:r>
              <a:rPr lang="en-US" dirty="0">
                <a:solidFill>
                  <a:srgbClr val="0000CD"/>
                </a:solidFill>
                <a:latin typeface="Consolas" panose="020B0609020204030204" pitchFamily="49" charset="0"/>
              </a:rPr>
              <a:t>int</a:t>
            </a:r>
            <a:r>
              <a:rPr lang="en-US" dirty="0">
                <a:solidFill>
                  <a:srgbClr val="000000"/>
                </a:solidFill>
                <a:latin typeface="Consolas" panose="020B0609020204030204" pitchFamily="49" charset="0"/>
              </a:rPr>
              <a:t> main() {</a:t>
            </a:r>
            <a:br>
              <a:rPr lang="en-US" dirty="0"/>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MyClass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myObj</a:t>
            </a:r>
            <a:r>
              <a:rPr lang="en-US" dirty="0">
                <a:solidFill>
                  <a:srgbClr val="000000"/>
                </a:solidFill>
                <a:latin typeface="Consolas" panose="020B0609020204030204" pitchFamily="49" charset="0"/>
              </a:rPr>
              <a:t>;</a:t>
            </a:r>
            <a:br>
              <a:rPr lang="en-US" dirty="0"/>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myObj.x</a:t>
            </a:r>
            <a:r>
              <a:rPr lang="en-US"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25</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Allowed (public)</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myObj.y</a:t>
            </a:r>
            <a:r>
              <a:rPr lang="en-US"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50</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Not allowed (private)</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CD"/>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a:t>
            </a:r>
            <a:br>
              <a:rPr lang="en-US" dirty="0"/>
            </a:br>
            <a:r>
              <a:rPr lang="en-US"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2039418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3BBA6BF-5BEA-4EE4-B25E-4EE4B0B42F3A}"/>
              </a:ext>
            </a:extLst>
          </p:cNvPr>
          <p:cNvSpPr>
            <a:spLocks noGrp="1"/>
          </p:cNvSpPr>
          <p:nvPr>
            <p:ph idx="1"/>
          </p:nvPr>
        </p:nvSpPr>
        <p:spPr>
          <a:xfrm>
            <a:off x="309479" y="777922"/>
            <a:ext cx="10405744" cy="5078170"/>
          </a:xfrm>
        </p:spPr>
        <p:txBody>
          <a:bodyPr>
            <a:noAutofit/>
          </a:bodyPr>
          <a:lstStyle/>
          <a:p>
            <a:r>
              <a:rPr lang="en-US" sz="3200" dirty="0"/>
              <a:t>Note: By default, all members of a class are private if you don't specify an access specifier:</a:t>
            </a:r>
          </a:p>
          <a:p>
            <a:endParaRPr lang="en-US" sz="3200" dirty="0"/>
          </a:p>
          <a:p>
            <a:r>
              <a:rPr lang="en-US" sz="3200" dirty="0"/>
              <a:t>Example</a:t>
            </a:r>
          </a:p>
          <a:p>
            <a:r>
              <a:rPr lang="en-US" sz="3200" dirty="0"/>
              <a:t>class </a:t>
            </a:r>
            <a:r>
              <a:rPr lang="en-US" sz="3200" dirty="0" err="1"/>
              <a:t>MyClass</a:t>
            </a:r>
            <a:r>
              <a:rPr lang="en-US" sz="3200" dirty="0"/>
              <a:t> {</a:t>
            </a:r>
          </a:p>
          <a:p>
            <a:r>
              <a:rPr lang="en-US" sz="3200" dirty="0"/>
              <a:t>  int x;   // Private attribute</a:t>
            </a:r>
          </a:p>
          <a:p>
            <a:r>
              <a:rPr lang="en-US" sz="3200" dirty="0"/>
              <a:t>  int y;   // Private attribute</a:t>
            </a:r>
          </a:p>
          <a:p>
            <a:r>
              <a:rPr lang="en-US" sz="3200" dirty="0"/>
              <a:t>};</a:t>
            </a:r>
          </a:p>
        </p:txBody>
      </p:sp>
      <p:sp>
        <p:nvSpPr>
          <p:cNvPr id="5" name="Date Placeholder 4">
            <a:extLst>
              <a:ext uri="{FF2B5EF4-FFF2-40B4-BE49-F238E27FC236}">
                <a16:creationId xmlns:a16="http://schemas.microsoft.com/office/drawing/2014/main" id="{E3FBAC64-A442-46D2-91AC-0B74BC532553}"/>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7" name="Slide Number Placeholder 6">
            <a:extLst>
              <a:ext uri="{FF2B5EF4-FFF2-40B4-BE49-F238E27FC236}">
                <a16:creationId xmlns:a16="http://schemas.microsoft.com/office/drawing/2014/main" id="{C4790CBA-C81D-4F45-B025-F787FFBCE37E}"/>
              </a:ext>
            </a:extLst>
          </p:cNvPr>
          <p:cNvSpPr>
            <a:spLocks noGrp="1"/>
          </p:cNvSpPr>
          <p:nvPr>
            <p:ph type="sldNum" sz="quarter" idx="12"/>
          </p:nvPr>
        </p:nvSpPr>
        <p:spPr/>
        <p:txBody>
          <a:bodyPr/>
          <a:lstStyle/>
          <a:p>
            <a:fld id="{D8DA9DAA-006C-4F4B-980E-E3DF019B24E2}" type="slidenum">
              <a:rPr lang="en-US" smtClean="0"/>
              <a:pPr/>
              <a:t>30</a:t>
            </a:fld>
            <a:endParaRPr lang="en-US" dirty="0"/>
          </a:p>
        </p:txBody>
      </p:sp>
      <p:sp>
        <p:nvSpPr>
          <p:cNvPr id="6" name="Footer Placeholder 5">
            <a:extLst>
              <a:ext uri="{FF2B5EF4-FFF2-40B4-BE49-F238E27FC236}">
                <a16:creationId xmlns:a16="http://schemas.microsoft.com/office/drawing/2014/main" id="{B74DC1B5-24DB-419D-8567-202EA4CFD73C}"/>
              </a:ext>
            </a:extLst>
          </p:cNvPr>
          <p:cNvSpPr>
            <a:spLocks noGrp="1"/>
          </p:cNvSpPr>
          <p:nvPr>
            <p:ph type="ftr" sz="quarter" idx="4294967295"/>
          </p:nvPr>
        </p:nvSpPr>
        <p:spPr>
          <a:xfrm>
            <a:off x="8077200" y="622300"/>
            <a:ext cx="4114800" cy="365125"/>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21741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E831-BB6F-4129-9028-52D2805A65BC}"/>
              </a:ext>
            </a:extLst>
          </p:cNvPr>
          <p:cNvSpPr>
            <a:spLocks noGrp="1"/>
          </p:cNvSpPr>
          <p:nvPr>
            <p:ph type="title"/>
          </p:nvPr>
        </p:nvSpPr>
        <p:spPr>
          <a:xfrm>
            <a:off x="850391" y="295133"/>
            <a:ext cx="6190488" cy="781334"/>
          </a:xfrm>
        </p:spPr>
        <p:txBody>
          <a:bodyPr>
            <a:normAutofit fontScale="90000"/>
          </a:bodyPr>
          <a:lstStyle/>
          <a:p>
            <a:r>
              <a:rPr lang="en-US" b="1" dirty="0"/>
              <a:t>Struct</a:t>
            </a:r>
          </a:p>
        </p:txBody>
      </p:sp>
      <p:sp>
        <p:nvSpPr>
          <p:cNvPr id="3" name="Content Placeholder 2">
            <a:extLst>
              <a:ext uri="{FF2B5EF4-FFF2-40B4-BE49-F238E27FC236}">
                <a16:creationId xmlns:a16="http://schemas.microsoft.com/office/drawing/2014/main" id="{167A9754-F88D-47CB-932C-E45723B693CA}"/>
              </a:ext>
            </a:extLst>
          </p:cNvPr>
          <p:cNvSpPr>
            <a:spLocks noGrp="1"/>
          </p:cNvSpPr>
          <p:nvPr>
            <p:ph idx="1"/>
          </p:nvPr>
        </p:nvSpPr>
        <p:spPr>
          <a:xfrm>
            <a:off x="850391" y="1076467"/>
            <a:ext cx="10845739" cy="5095733"/>
          </a:xfrm>
        </p:spPr>
        <p:txBody>
          <a:bodyPr>
            <a:noAutofit/>
          </a:bodyPr>
          <a:lstStyle/>
          <a:p>
            <a:r>
              <a:rPr lang="en-US" sz="2800" dirty="0"/>
              <a:t>In C++, classes and structs are blueprints that are used to create the instance of a class. Structs are used for lightweight objects such as Rectangle, color, Point, etc.</a:t>
            </a:r>
          </a:p>
          <a:p>
            <a:endParaRPr lang="en-US" sz="2800" dirty="0"/>
          </a:p>
          <a:p>
            <a:r>
              <a:rPr lang="en-US" sz="2800" dirty="0"/>
              <a:t>Unlike class, structs in C++ are value type than reference type. It is useful if you have data that is not intended to be modified after creation of struct.</a:t>
            </a:r>
          </a:p>
          <a:p>
            <a:endParaRPr lang="en-US" sz="2800" dirty="0"/>
          </a:p>
          <a:p>
            <a:r>
              <a:rPr lang="en-US" sz="2800" dirty="0"/>
              <a:t>C++ Structure is a collection of different data types. It is similar to the class that holds different types of data.</a:t>
            </a:r>
          </a:p>
        </p:txBody>
      </p:sp>
      <p:sp>
        <p:nvSpPr>
          <p:cNvPr id="4" name="Date Placeholder 3">
            <a:extLst>
              <a:ext uri="{FF2B5EF4-FFF2-40B4-BE49-F238E27FC236}">
                <a16:creationId xmlns:a16="http://schemas.microsoft.com/office/drawing/2014/main" id="{1A096774-202B-48DA-B39C-C34A08CFEAA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9D792132-D0E7-484D-B89C-87B906664AEB}"/>
              </a:ext>
            </a:extLst>
          </p:cNvPr>
          <p:cNvSpPr>
            <a:spLocks noGrp="1"/>
          </p:cNvSpPr>
          <p:nvPr>
            <p:ph type="sldNum" sz="quarter" idx="12"/>
          </p:nvPr>
        </p:nvSpPr>
        <p:spPr/>
        <p:txBody>
          <a:bodyPr/>
          <a:lstStyle/>
          <a:p>
            <a:fld id="{D8DA9DAA-006C-4F4B-980E-E3DF019B24E2}" type="slidenum">
              <a:rPr lang="en-US" smtClean="0"/>
              <a:pPr/>
              <a:t>31</a:t>
            </a:fld>
            <a:endParaRPr lang="en-US" dirty="0"/>
          </a:p>
        </p:txBody>
      </p:sp>
    </p:spTree>
    <p:extLst>
      <p:ext uri="{BB962C8B-B14F-4D97-AF65-F5344CB8AC3E}">
        <p14:creationId xmlns:p14="http://schemas.microsoft.com/office/powerpoint/2010/main" val="670932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A83793-E438-4741-ACFA-0CE00EA36089}"/>
              </a:ext>
            </a:extLst>
          </p:cNvPr>
          <p:cNvSpPr>
            <a:spLocks noGrp="1"/>
          </p:cNvSpPr>
          <p:nvPr>
            <p:ph idx="1"/>
          </p:nvPr>
        </p:nvSpPr>
        <p:spPr>
          <a:xfrm>
            <a:off x="713915" y="368490"/>
            <a:ext cx="6190488" cy="2142698"/>
          </a:xfrm>
        </p:spPr>
        <p:txBody>
          <a:bodyPr>
            <a:normAutofit fontScale="92500" lnSpcReduction="20000"/>
          </a:bodyPr>
          <a:lstStyle/>
          <a:p>
            <a:r>
              <a:rPr lang="en-US" sz="2400" dirty="0"/>
              <a:t>The Syntax Of Structure</a:t>
            </a:r>
          </a:p>
          <a:p>
            <a:r>
              <a:rPr lang="en-US" sz="2400" b="1" dirty="0"/>
              <a:t>struct</a:t>
            </a:r>
            <a:r>
              <a:rPr lang="en-US" sz="2400" dirty="0"/>
              <a:t> </a:t>
            </a:r>
            <a:r>
              <a:rPr lang="en-US" sz="2400" dirty="0" err="1"/>
              <a:t>structure_name</a:t>
            </a:r>
            <a:r>
              <a:rPr lang="en-US" sz="2400" dirty="0"/>
              <a:t>  </a:t>
            </a:r>
          </a:p>
          <a:p>
            <a:r>
              <a:rPr lang="en-US" sz="2400" dirty="0"/>
              <a:t>{  </a:t>
            </a:r>
          </a:p>
          <a:p>
            <a:r>
              <a:rPr lang="en-US" sz="2400" dirty="0"/>
              <a:t>     // member declarations.  </a:t>
            </a:r>
          </a:p>
          <a:p>
            <a:r>
              <a:rPr lang="en-US" sz="2400" dirty="0"/>
              <a:t>}   </a:t>
            </a:r>
          </a:p>
          <a:p>
            <a:endParaRPr lang="en-US" dirty="0"/>
          </a:p>
        </p:txBody>
      </p:sp>
      <p:sp>
        <p:nvSpPr>
          <p:cNvPr id="4" name="Date Placeholder 3">
            <a:extLst>
              <a:ext uri="{FF2B5EF4-FFF2-40B4-BE49-F238E27FC236}">
                <a16:creationId xmlns:a16="http://schemas.microsoft.com/office/drawing/2014/main" id="{5CECBDCD-7A6D-4694-99FB-7DEC4B377D1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FB7DAE2A-DDCA-40DB-BBB4-1929694E7DBA}"/>
              </a:ext>
            </a:extLst>
          </p:cNvPr>
          <p:cNvSpPr>
            <a:spLocks noGrp="1"/>
          </p:cNvSpPr>
          <p:nvPr>
            <p:ph type="sldNum" sz="quarter" idx="12"/>
          </p:nvPr>
        </p:nvSpPr>
        <p:spPr/>
        <p:txBody>
          <a:bodyPr/>
          <a:lstStyle/>
          <a:p>
            <a:fld id="{D8DA9DAA-006C-4F4B-980E-E3DF019B24E2}" type="slidenum">
              <a:rPr lang="en-US" smtClean="0"/>
              <a:pPr/>
              <a:t>32</a:t>
            </a:fld>
            <a:endParaRPr lang="en-US" dirty="0"/>
          </a:p>
        </p:txBody>
      </p:sp>
      <p:sp>
        <p:nvSpPr>
          <p:cNvPr id="6" name="Rectangle 5">
            <a:extLst>
              <a:ext uri="{FF2B5EF4-FFF2-40B4-BE49-F238E27FC236}">
                <a16:creationId xmlns:a16="http://schemas.microsoft.com/office/drawing/2014/main" id="{B44B72B9-3F11-4382-825E-F2BA833B42E0}"/>
              </a:ext>
            </a:extLst>
          </p:cNvPr>
          <p:cNvSpPr/>
          <p:nvPr/>
        </p:nvSpPr>
        <p:spPr>
          <a:xfrm>
            <a:off x="518615" y="2511188"/>
            <a:ext cx="8625385" cy="4431983"/>
          </a:xfrm>
          <a:prstGeom prst="rect">
            <a:avLst/>
          </a:prstGeom>
        </p:spPr>
        <p:txBody>
          <a:bodyPr wrap="square">
            <a:spAutoFit/>
          </a:bodyPr>
          <a:lstStyle/>
          <a:p>
            <a:r>
              <a:rPr lang="en-US" sz="2400" dirty="0">
                <a:solidFill>
                  <a:srgbClr val="333333"/>
                </a:solidFill>
                <a:latin typeface="inter-regular"/>
              </a:rPr>
              <a:t>In the above declaration, a structure is declared by preceding the </a:t>
            </a:r>
            <a:r>
              <a:rPr lang="en-US" sz="2400" b="1" dirty="0">
                <a:solidFill>
                  <a:srgbClr val="333333"/>
                </a:solidFill>
                <a:latin typeface="inter-bold"/>
              </a:rPr>
              <a:t>struct keyword</a:t>
            </a:r>
            <a:r>
              <a:rPr lang="en-US" sz="2400" dirty="0">
                <a:solidFill>
                  <a:srgbClr val="333333"/>
                </a:solidFill>
                <a:latin typeface="inter-regular"/>
              </a:rPr>
              <a:t> followed by the identifier(structure name). Inside the curly braces, we can declare the member variables of different types. </a:t>
            </a:r>
            <a:r>
              <a:rPr lang="en-US" sz="2400" b="1" dirty="0">
                <a:solidFill>
                  <a:srgbClr val="333333"/>
                </a:solidFill>
                <a:latin typeface="inter-bold"/>
              </a:rPr>
              <a:t>Consider the following situation:</a:t>
            </a:r>
          </a:p>
          <a:p>
            <a:endParaRPr lang="en-US" sz="2400" b="1" dirty="0">
              <a:solidFill>
                <a:srgbClr val="333333"/>
              </a:solidFill>
              <a:latin typeface="inter-bold"/>
            </a:endParaRPr>
          </a:p>
          <a:p>
            <a:r>
              <a:rPr lang="en-US" sz="2400" b="1" dirty="0"/>
              <a:t>struct</a:t>
            </a:r>
            <a:r>
              <a:rPr lang="en-US" sz="2400" dirty="0"/>
              <a:t> Student  </a:t>
            </a:r>
          </a:p>
          <a:p>
            <a:r>
              <a:rPr lang="en-US" sz="2400" dirty="0"/>
              <a:t>{  </a:t>
            </a:r>
          </a:p>
          <a:p>
            <a:r>
              <a:rPr lang="en-US" sz="2400" dirty="0"/>
              <a:t>    </a:t>
            </a:r>
            <a:r>
              <a:rPr lang="en-US" sz="2400" b="1" dirty="0"/>
              <a:t>char</a:t>
            </a:r>
            <a:r>
              <a:rPr lang="en-US" sz="2400" dirty="0"/>
              <a:t> name[20];  </a:t>
            </a:r>
          </a:p>
          <a:p>
            <a:r>
              <a:rPr lang="en-US" sz="2400" dirty="0"/>
              <a:t>     </a:t>
            </a:r>
            <a:r>
              <a:rPr lang="en-US" sz="2400" b="1" dirty="0"/>
              <a:t>int</a:t>
            </a:r>
            <a:r>
              <a:rPr lang="en-US" sz="2400" dirty="0"/>
              <a:t> id;  </a:t>
            </a:r>
          </a:p>
          <a:p>
            <a:r>
              <a:rPr lang="en-US" sz="2400" dirty="0"/>
              <a:t>     </a:t>
            </a:r>
            <a:r>
              <a:rPr lang="en-US" sz="2400" b="1" dirty="0"/>
              <a:t>int</a:t>
            </a:r>
            <a:r>
              <a:rPr lang="en-US" sz="2400" dirty="0"/>
              <a:t> age;  </a:t>
            </a:r>
          </a:p>
          <a:p>
            <a:r>
              <a:rPr lang="en-US" sz="2400" dirty="0"/>
              <a:t>}  </a:t>
            </a:r>
          </a:p>
          <a:p>
            <a:endParaRPr lang="en-US" dirty="0"/>
          </a:p>
        </p:txBody>
      </p:sp>
    </p:spTree>
    <p:extLst>
      <p:ext uri="{BB962C8B-B14F-4D97-AF65-F5344CB8AC3E}">
        <p14:creationId xmlns:p14="http://schemas.microsoft.com/office/powerpoint/2010/main" val="453443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F8F4B-F374-4679-9789-E271109B0E68}"/>
              </a:ext>
            </a:extLst>
          </p:cNvPr>
          <p:cNvSpPr>
            <a:spLocks noGrp="1"/>
          </p:cNvSpPr>
          <p:nvPr>
            <p:ph idx="1"/>
          </p:nvPr>
        </p:nvSpPr>
        <p:spPr>
          <a:xfrm>
            <a:off x="850392" y="300251"/>
            <a:ext cx="10927626" cy="5871949"/>
          </a:xfrm>
        </p:spPr>
        <p:txBody>
          <a:bodyPr/>
          <a:lstStyle/>
          <a:p>
            <a:r>
              <a:rPr lang="en-US" sz="2800" dirty="0"/>
              <a:t>In the above case, Student is a structure contains three variables name, id, and age. When the structure is declared, no memory is allocated. When the variable of a structure is created, then the memory is allocated. Let's understand this scenario.</a:t>
            </a:r>
          </a:p>
          <a:p>
            <a:endParaRPr lang="en-US" sz="2800" dirty="0"/>
          </a:p>
          <a:p>
            <a:r>
              <a:rPr lang="en-US" sz="2800" dirty="0"/>
              <a:t>How to create the instance of Structure?</a:t>
            </a:r>
          </a:p>
          <a:p>
            <a:r>
              <a:rPr lang="en-US" sz="2800" dirty="0"/>
              <a:t>Structure variable can be defined as:</a:t>
            </a:r>
          </a:p>
          <a:p>
            <a:r>
              <a:rPr lang="en-US" sz="2800" b="1" dirty="0"/>
              <a:t>Student s;</a:t>
            </a:r>
            <a:endParaRPr lang="en-US" sz="2800" dirty="0"/>
          </a:p>
          <a:p>
            <a:endParaRPr lang="en-US" dirty="0"/>
          </a:p>
        </p:txBody>
      </p:sp>
      <p:sp>
        <p:nvSpPr>
          <p:cNvPr id="4" name="Date Placeholder 3">
            <a:extLst>
              <a:ext uri="{FF2B5EF4-FFF2-40B4-BE49-F238E27FC236}">
                <a16:creationId xmlns:a16="http://schemas.microsoft.com/office/drawing/2014/main" id="{9344ED6B-2D72-4E70-BB9C-1DD9D345CB5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19A1479-948E-4177-9867-444228CA2FF0}"/>
              </a:ext>
            </a:extLst>
          </p:cNvPr>
          <p:cNvSpPr>
            <a:spLocks noGrp="1"/>
          </p:cNvSpPr>
          <p:nvPr>
            <p:ph type="sldNum" sz="quarter" idx="12"/>
          </p:nvPr>
        </p:nvSpPr>
        <p:spPr/>
        <p:txBody>
          <a:bodyPr/>
          <a:lstStyle/>
          <a:p>
            <a:fld id="{D8DA9DAA-006C-4F4B-980E-E3DF019B24E2}" type="slidenum">
              <a:rPr lang="en-US" smtClean="0"/>
              <a:pPr/>
              <a:t>33</a:t>
            </a:fld>
            <a:endParaRPr lang="en-US" dirty="0"/>
          </a:p>
        </p:txBody>
      </p:sp>
    </p:spTree>
    <p:extLst>
      <p:ext uri="{BB962C8B-B14F-4D97-AF65-F5344CB8AC3E}">
        <p14:creationId xmlns:p14="http://schemas.microsoft.com/office/powerpoint/2010/main" val="825207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F3EF3-18F3-4968-94E6-0DB1A69B3753}"/>
              </a:ext>
            </a:extLst>
          </p:cNvPr>
          <p:cNvSpPr>
            <a:spLocks noGrp="1"/>
          </p:cNvSpPr>
          <p:nvPr>
            <p:ph type="title"/>
          </p:nvPr>
        </p:nvSpPr>
        <p:spPr>
          <a:xfrm>
            <a:off x="650270" y="464022"/>
            <a:ext cx="10891459" cy="767687"/>
          </a:xfrm>
        </p:spPr>
        <p:txBody>
          <a:bodyPr>
            <a:normAutofit fontScale="90000"/>
          </a:bodyPr>
          <a:lstStyle/>
          <a:p>
            <a:r>
              <a:rPr lang="en-US" b="1" dirty="0"/>
              <a:t>How to access the variable of Structure:</a:t>
            </a:r>
          </a:p>
        </p:txBody>
      </p:sp>
      <p:sp>
        <p:nvSpPr>
          <p:cNvPr id="3" name="Content Placeholder 2">
            <a:extLst>
              <a:ext uri="{FF2B5EF4-FFF2-40B4-BE49-F238E27FC236}">
                <a16:creationId xmlns:a16="http://schemas.microsoft.com/office/drawing/2014/main" id="{22152972-488A-4ACE-999C-F4DC70CC2A2F}"/>
              </a:ext>
            </a:extLst>
          </p:cNvPr>
          <p:cNvSpPr>
            <a:spLocks noGrp="1"/>
          </p:cNvSpPr>
          <p:nvPr>
            <p:ph idx="1"/>
          </p:nvPr>
        </p:nvSpPr>
        <p:spPr>
          <a:xfrm>
            <a:off x="850391" y="1392072"/>
            <a:ext cx="10163351" cy="4780128"/>
          </a:xfrm>
        </p:spPr>
        <p:txBody>
          <a:bodyPr>
            <a:normAutofit/>
          </a:bodyPr>
          <a:lstStyle/>
          <a:p>
            <a:r>
              <a:rPr lang="en-US" sz="2800" dirty="0"/>
              <a:t>The variable of the structure can be accessed by simply using the instance of the structure followed by the dot (.) operator and then the field of the structure.</a:t>
            </a:r>
          </a:p>
          <a:p>
            <a:r>
              <a:rPr lang="en-US" sz="2800" b="1" dirty="0"/>
              <a:t>For example:</a:t>
            </a:r>
            <a:endParaRPr lang="en-US" sz="2800" dirty="0"/>
          </a:p>
          <a:p>
            <a:r>
              <a:rPr lang="en-US" sz="2800" dirty="0"/>
              <a:t>s.id = 4;  </a:t>
            </a:r>
          </a:p>
          <a:p>
            <a:r>
              <a:rPr lang="en-US" sz="2800" dirty="0"/>
              <a:t>In the above statement, we are accessing the id field of the structure Student by using the </a:t>
            </a:r>
            <a:r>
              <a:rPr lang="en-US" sz="2800" b="1" dirty="0"/>
              <a:t>dot(.)</a:t>
            </a:r>
            <a:r>
              <a:rPr lang="en-US" sz="2800" dirty="0"/>
              <a:t> operator and assigns the value 4 to the id field.</a:t>
            </a:r>
          </a:p>
          <a:p>
            <a:endParaRPr lang="en-US" dirty="0"/>
          </a:p>
        </p:txBody>
      </p:sp>
      <p:sp>
        <p:nvSpPr>
          <p:cNvPr id="4" name="Date Placeholder 3">
            <a:extLst>
              <a:ext uri="{FF2B5EF4-FFF2-40B4-BE49-F238E27FC236}">
                <a16:creationId xmlns:a16="http://schemas.microsoft.com/office/drawing/2014/main" id="{CFFEE158-713A-44E0-BCC7-1AB977F3696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9F59F894-DABE-4C89-B84E-FF12A2E90FC9}"/>
              </a:ext>
            </a:extLst>
          </p:cNvPr>
          <p:cNvSpPr>
            <a:spLocks noGrp="1"/>
          </p:cNvSpPr>
          <p:nvPr>
            <p:ph type="sldNum" sz="quarter" idx="12"/>
          </p:nvPr>
        </p:nvSpPr>
        <p:spPr/>
        <p:txBody>
          <a:bodyPr/>
          <a:lstStyle/>
          <a:p>
            <a:fld id="{D8DA9DAA-006C-4F4B-980E-E3DF019B24E2}" type="slidenum">
              <a:rPr lang="en-US" smtClean="0"/>
              <a:pPr/>
              <a:t>34</a:t>
            </a:fld>
            <a:endParaRPr lang="en-US" dirty="0"/>
          </a:p>
        </p:txBody>
      </p:sp>
    </p:spTree>
    <p:extLst>
      <p:ext uri="{BB962C8B-B14F-4D97-AF65-F5344CB8AC3E}">
        <p14:creationId xmlns:p14="http://schemas.microsoft.com/office/powerpoint/2010/main" val="3330239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D39B06-1681-475D-B5A8-2E06AD770A54}"/>
              </a:ext>
            </a:extLst>
          </p:cNvPr>
          <p:cNvSpPr>
            <a:spLocks noGrp="1"/>
          </p:cNvSpPr>
          <p:nvPr>
            <p:ph idx="1"/>
          </p:nvPr>
        </p:nvSpPr>
        <p:spPr>
          <a:xfrm>
            <a:off x="286603" y="382136"/>
            <a:ext cx="11395881" cy="5790063"/>
          </a:xfrm>
        </p:spPr>
        <p:txBody>
          <a:bodyPr>
            <a:normAutofit fontScale="85000" lnSpcReduction="20000"/>
          </a:bodyPr>
          <a:lstStyle/>
          <a:p>
            <a:r>
              <a:rPr lang="en-US" b="1" dirty="0"/>
              <a:t>C++ Struct Example</a:t>
            </a:r>
          </a:p>
          <a:p>
            <a:r>
              <a:rPr lang="en-US" dirty="0"/>
              <a:t>Let's see a simple example of struct Rectangle which has two data members width and height.</a:t>
            </a:r>
          </a:p>
          <a:p>
            <a:r>
              <a:rPr lang="en-US" dirty="0"/>
              <a:t>#include &lt;iostream&gt;    </a:t>
            </a:r>
          </a:p>
          <a:p>
            <a:r>
              <a:rPr lang="en-US" b="1" dirty="0"/>
              <a:t>using</a:t>
            </a:r>
            <a:r>
              <a:rPr lang="en-US" dirty="0"/>
              <a:t> </a:t>
            </a:r>
            <a:r>
              <a:rPr lang="en-US" b="1" dirty="0"/>
              <a:t>namespace</a:t>
            </a:r>
            <a:r>
              <a:rPr lang="en-US" dirty="0"/>
              <a:t> std;    </a:t>
            </a:r>
          </a:p>
          <a:p>
            <a:r>
              <a:rPr lang="en-US" dirty="0"/>
              <a:t> </a:t>
            </a:r>
            <a:r>
              <a:rPr lang="en-US" b="1" dirty="0"/>
              <a:t>struct</a:t>
            </a:r>
            <a:r>
              <a:rPr lang="en-US" dirty="0"/>
              <a:t> Rectangle      </a:t>
            </a:r>
          </a:p>
          <a:p>
            <a:r>
              <a:rPr lang="en-US" dirty="0"/>
              <a:t>{      </a:t>
            </a:r>
          </a:p>
          <a:p>
            <a:r>
              <a:rPr lang="en-US" dirty="0"/>
              <a:t>   </a:t>
            </a:r>
            <a:r>
              <a:rPr lang="en-US" b="1" dirty="0"/>
              <a:t>int</a:t>
            </a:r>
            <a:r>
              <a:rPr lang="en-US" dirty="0"/>
              <a:t> width, height;      </a:t>
            </a:r>
          </a:p>
          <a:p>
            <a:r>
              <a:rPr lang="en-US" dirty="0"/>
              <a:t>      </a:t>
            </a:r>
          </a:p>
          <a:p>
            <a:r>
              <a:rPr lang="en-US" dirty="0"/>
              <a:t> };      </a:t>
            </a:r>
          </a:p>
          <a:p>
            <a:r>
              <a:rPr lang="en-US" b="1" dirty="0"/>
              <a:t>int</a:t>
            </a:r>
            <a:r>
              <a:rPr lang="en-US" dirty="0"/>
              <a:t> main(</a:t>
            </a:r>
            <a:r>
              <a:rPr lang="en-US" b="1" dirty="0"/>
              <a:t>void</a:t>
            </a:r>
            <a:r>
              <a:rPr lang="en-US" dirty="0"/>
              <a:t>) {    </a:t>
            </a:r>
          </a:p>
          <a:p>
            <a:r>
              <a:rPr lang="en-US" dirty="0"/>
              <a:t>    </a:t>
            </a:r>
            <a:r>
              <a:rPr lang="en-US" b="1" dirty="0"/>
              <a:t>struct</a:t>
            </a:r>
            <a:r>
              <a:rPr lang="en-US" dirty="0"/>
              <a:t> Rectangle rec;    </a:t>
            </a:r>
          </a:p>
          <a:p>
            <a:r>
              <a:rPr lang="en-US" dirty="0"/>
              <a:t>    </a:t>
            </a:r>
            <a:r>
              <a:rPr lang="en-US" dirty="0" err="1"/>
              <a:t>rec.width</a:t>
            </a:r>
            <a:r>
              <a:rPr lang="en-US" dirty="0"/>
              <a:t>=8;    </a:t>
            </a:r>
          </a:p>
          <a:p>
            <a:r>
              <a:rPr lang="en-US" dirty="0"/>
              <a:t>    </a:t>
            </a:r>
            <a:r>
              <a:rPr lang="en-US" dirty="0" err="1"/>
              <a:t>rec.height</a:t>
            </a:r>
            <a:r>
              <a:rPr lang="en-US" dirty="0"/>
              <a:t>=5;    </a:t>
            </a:r>
          </a:p>
          <a:p>
            <a:r>
              <a:rPr lang="en-US" dirty="0"/>
              <a:t>   </a:t>
            </a:r>
            <a:r>
              <a:rPr lang="en-US" dirty="0" err="1"/>
              <a:t>cout</a:t>
            </a:r>
            <a:r>
              <a:rPr lang="en-US" dirty="0"/>
              <a:t>&lt;&lt;"Area of Rectangle is: "&lt;&lt;(</a:t>
            </a:r>
            <a:r>
              <a:rPr lang="en-US" dirty="0" err="1"/>
              <a:t>rec.width</a:t>
            </a:r>
            <a:r>
              <a:rPr lang="en-US" dirty="0"/>
              <a:t> * </a:t>
            </a:r>
            <a:r>
              <a:rPr lang="en-US" dirty="0" err="1"/>
              <a:t>rec.height</a:t>
            </a:r>
            <a:r>
              <a:rPr lang="en-US" dirty="0"/>
              <a:t>)&lt;&lt;</a:t>
            </a:r>
            <a:r>
              <a:rPr lang="en-US" dirty="0" err="1"/>
              <a:t>endl</a:t>
            </a:r>
            <a:r>
              <a:rPr lang="en-US" dirty="0"/>
              <a:t>;    </a:t>
            </a:r>
          </a:p>
          <a:p>
            <a:r>
              <a:rPr lang="en-US" dirty="0"/>
              <a:t> </a:t>
            </a:r>
            <a:r>
              <a:rPr lang="en-US" b="1" dirty="0"/>
              <a:t>return</a:t>
            </a:r>
            <a:r>
              <a:rPr lang="en-US" dirty="0"/>
              <a:t> 0;    </a:t>
            </a:r>
          </a:p>
          <a:p>
            <a:r>
              <a:rPr lang="en-US" dirty="0"/>
              <a:t>}    </a:t>
            </a:r>
          </a:p>
          <a:p>
            <a:endParaRPr lang="en-US" dirty="0"/>
          </a:p>
        </p:txBody>
      </p:sp>
      <p:sp>
        <p:nvSpPr>
          <p:cNvPr id="4" name="Date Placeholder 3">
            <a:extLst>
              <a:ext uri="{FF2B5EF4-FFF2-40B4-BE49-F238E27FC236}">
                <a16:creationId xmlns:a16="http://schemas.microsoft.com/office/drawing/2014/main" id="{AAA8F21F-F647-4958-8DAA-711E2B3F551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35A2F5DE-E2CA-428D-B72D-4623DC11902E}"/>
              </a:ext>
            </a:extLst>
          </p:cNvPr>
          <p:cNvSpPr>
            <a:spLocks noGrp="1"/>
          </p:cNvSpPr>
          <p:nvPr>
            <p:ph type="sldNum" sz="quarter" idx="12"/>
          </p:nvPr>
        </p:nvSpPr>
        <p:spPr/>
        <p:txBody>
          <a:bodyPr/>
          <a:lstStyle/>
          <a:p>
            <a:fld id="{D8DA9DAA-006C-4F4B-980E-E3DF019B24E2}" type="slidenum">
              <a:rPr lang="en-US" smtClean="0"/>
              <a:pPr/>
              <a:t>35</a:t>
            </a:fld>
            <a:endParaRPr lang="en-US" dirty="0"/>
          </a:p>
        </p:txBody>
      </p:sp>
    </p:spTree>
    <p:extLst>
      <p:ext uri="{BB962C8B-B14F-4D97-AF65-F5344CB8AC3E}">
        <p14:creationId xmlns:p14="http://schemas.microsoft.com/office/powerpoint/2010/main" val="2087420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981C25-6325-4B32-A1CE-FC34BFB2604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CC80AF92-8FDA-4086-9269-9FCF30F3B3D3}"/>
              </a:ext>
            </a:extLst>
          </p:cNvPr>
          <p:cNvSpPr>
            <a:spLocks noGrp="1"/>
          </p:cNvSpPr>
          <p:nvPr>
            <p:ph type="sldNum" sz="quarter" idx="12"/>
          </p:nvPr>
        </p:nvSpPr>
        <p:spPr/>
        <p:txBody>
          <a:bodyPr/>
          <a:lstStyle/>
          <a:p>
            <a:fld id="{D8DA9DAA-006C-4F4B-980E-E3DF019B24E2}" type="slidenum">
              <a:rPr lang="en-US" smtClean="0"/>
              <a:pPr/>
              <a:t>36</a:t>
            </a:fld>
            <a:endParaRPr lang="en-US" dirty="0"/>
          </a:p>
        </p:txBody>
      </p:sp>
      <p:graphicFrame>
        <p:nvGraphicFramePr>
          <p:cNvPr id="6" name="Table 5">
            <a:extLst>
              <a:ext uri="{FF2B5EF4-FFF2-40B4-BE49-F238E27FC236}">
                <a16:creationId xmlns:a16="http://schemas.microsoft.com/office/drawing/2014/main" id="{C1B30998-1037-4D2E-A6A1-4F05B434EC04}"/>
              </a:ext>
            </a:extLst>
          </p:cNvPr>
          <p:cNvGraphicFramePr>
            <a:graphicFrameLocks noGrp="1"/>
          </p:cNvGraphicFramePr>
          <p:nvPr>
            <p:extLst>
              <p:ext uri="{D42A27DB-BD31-4B8C-83A1-F6EECF244321}">
                <p14:modId xmlns:p14="http://schemas.microsoft.com/office/powerpoint/2010/main" val="888022317"/>
              </p:ext>
            </p:extLst>
          </p:nvPr>
        </p:nvGraphicFramePr>
        <p:xfrm>
          <a:off x="511126" y="1107843"/>
          <a:ext cx="11169748" cy="4702114"/>
        </p:xfrm>
        <a:graphic>
          <a:graphicData uri="http://schemas.openxmlformats.org/drawingml/2006/table">
            <a:tbl>
              <a:tblPr/>
              <a:tblGrid>
                <a:gridCol w="5584874">
                  <a:extLst>
                    <a:ext uri="{9D8B030D-6E8A-4147-A177-3AD203B41FA5}">
                      <a16:colId xmlns:a16="http://schemas.microsoft.com/office/drawing/2014/main" val="4068118390"/>
                    </a:ext>
                  </a:extLst>
                </a:gridCol>
                <a:gridCol w="5584874">
                  <a:extLst>
                    <a:ext uri="{9D8B030D-6E8A-4147-A177-3AD203B41FA5}">
                      <a16:colId xmlns:a16="http://schemas.microsoft.com/office/drawing/2014/main" val="968298319"/>
                    </a:ext>
                  </a:extLst>
                </a:gridCol>
              </a:tblGrid>
              <a:tr h="638559">
                <a:tc>
                  <a:txBody>
                    <a:bodyPr/>
                    <a:lstStyle/>
                    <a:p>
                      <a:pPr algn="l" fontAlgn="t"/>
                      <a:r>
                        <a:rPr lang="en-US" dirty="0">
                          <a:solidFill>
                            <a:srgbClr val="000000"/>
                          </a:solidFill>
                          <a:effectLst/>
                          <a:latin typeface="times new roman" panose="02020603050405020304" pitchFamily="18" charset="0"/>
                        </a:rPr>
                        <a:t>Structure</a:t>
                      </a:r>
                    </a:p>
                  </a:txBody>
                  <a:tcPr marL="114300" marR="114300" marT="114300" marB="114300">
                    <a:lnL w="9525" cap="flat" cmpd="sng" algn="ctr">
                      <a:solidFill>
                        <a:srgbClr val="50E8C9"/>
                      </a:solidFill>
                      <a:prstDash val="solid"/>
                      <a:round/>
                      <a:headEnd type="none" w="med" len="med"/>
                      <a:tailEnd type="none" w="med" len="med"/>
                    </a:lnL>
                    <a:lnR w="9525" cap="flat" cmpd="sng" algn="ctr">
                      <a:solidFill>
                        <a:srgbClr val="50E8C9"/>
                      </a:solidFill>
                      <a:prstDash val="solid"/>
                      <a:round/>
                      <a:headEnd type="none" w="med" len="med"/>
                      <a:tailEnd type="none" w="med" len="med"/>
                    </a:lnR>
                    <a:lnT w="9525" cap="flat" cmpd="sng" algn="ctr">
                      <a:solidFill>
                        <a:srgbClr val="50E8C9"/>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rgbClr val="000000"/>
                          </a:solidFill>
                          <a:effectLst/>
                          <a:latin typeface="times new roman" panose="02020603050405020304" pitchFamily="18" charset="0"/>
                        </a:rPr>
                        <a:t>Class</a:t>
                      </a:r>
                    </a:p>
                  </a:txBody>
                  <a:tcPr marL="114300" marR="114300" marT="114300" marB="114300">
                    <a:lnL w="9525" cap="flat" cmpd="sng" algn="ctr">
                      <a:solidFill>
                        <a:srgbClr val="50E8C9"/>
                      </a:solidFill>
                      <a:prstDash val="solid"/>
                      <a:round/>
                      <a:headEnd type="none" w="med" len="med"/>
                      <a:tailEnd type="none" w="med" len="med"/>
                    </a:lnL>
                    <a:lnR w="9525" cap="flat" cmpd="sng" algn="ctr">
                      <a:solidFill>
                        <a:srgbClr val="50E8C9"/>
                      </a:solidFill>
                      <a:prstDash val="solid"/>
                      <a:round/>
                      <a:headEnd type="none" w="med" len="med"/>
                      <a:tailEnd type="none" w="med" len="med"/>
                    </a:lnR>
                    <a:lnT w="9525" cap="flat" cmpd="sng" algn="ctr">
                      <a:solidFill>
                        <a:srgbClr val="50E8C9"/>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668666079"/>
                  </a:ext>
                </a:extLst>
              </a:tr>
              <a:tr h="890112">
                <a:tc>
                  <a:txBody>
                    <a:bodyPr/>
                    <a:lstStyle/>
                    <a:p>
                      <a:pPr algn="just" fontAlgn="t"/>
                      <a:r>
                        <a:rPr lang="en-US" dirty="0">
                          <a:solidFill>
                            <a:srgbClr val="333333"/>
                          </a:solidFill>
                          <a:effectLst/>
                          <a:latin typeface="inter-regular"/>
                        </a:rPr>
                        <a:t>If access specifier is not declared explicitly, then by default access specifier will be public.</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rgbClr val="333333"/>
                          </a:solidFill>
                          <a:effectLst/>
                          <a:latin typeface="inter-regular"/>
                        </a:rPr>
                        <a:t>If access specifier is not declared explicitly, then by default access specifier will be private.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06926732"/>
                  </a:ext>
                </a:extLst>
              </a:tr>
              <a:tr h="2283331">
                <a:tc>
                  <a:txBody>
                    <a:bodyPr/>
                    <a:lstStyle/>
                    <a:p>
                      <a:pPr algn="l" fontAlgn="t"/>
                      <a:r>
                        <a:rPr lang="en-US" dirty="0">
                          <a:solidFill>
                            <a:srgbClr val="333333"/>
                          </a:solidFill>
                          <a:effectLst/>
                          <a:latin typeface="inter-regular"/>
                        </a:rPr>
                        <a:t>Syntax of Structure:</a:t>
                      </a:r>
                      <a:br>
                        <a:rPr lang="en-US" dirty="0">
                          <a:solidFill>
                            <a:srgbClr val="333333"/>
                          </a:solidFill>
                          <a:effectLst/>
                          <a:latin typeface="inter-regular"/>
                        </a:rPr>
                      </a:br>
                      <a:br>
                        <a:rPr lang="en-US" dirty="0">
                          <a:solidFill>
                            <a:srgbClr val="333333"/>
                          </a:solidFill>
                          <a:effectLst/>
                          <a:latin typeface="inter-regular"/>
                        </a:rPr>
                      </a:br>
                      <a:r>
                        <a:rPr lang="en-US" dirty="0">
                          <a:solidFill>
                            <a:srgbClr val="333333"/>
                          </a:solidFill>
                          <a:effectLst/>
                          <a:latin typeface="inter-regular"/>
                        </a:rPr>
                        <a:t>struct </a:t>
                      </a:r>
                      <a:r>
                        <a:rPr lang="en-US" dirty="0" err="1">
                          <a:solidFill>
                            <a:srgbClr val="333333"/>
                          </a:solidFill>
                          <a:effectLst/>
                          <a:latin typeface="inter-regular"/>
                        </a:rPr>
                        <a:t>structure_name</a:t>
                      </a:r>
                      <a:br>
                        <a:rPr lang="en-US" dirty="0">
                          <a:solidFill>
                            <a:srgbClr val="333333"/>
                          </a:solidFill>
                          <a:effectLst/>
                          <a:latin typeface="inter-regular"/>
                        </a:rPr>
                      </a:br>
                      <a:r>
                        <a:rPr lang="en-US" dirty="0">
                          <a:solidFill>
                            <a:srgbClr val="333333"/>
                          </a:solidFill>
                          <a:effectLst/>
                          <a:latin typeface="inter-regular"/>
                        </a:rPr>
                        <a:t>{</a:t>
                      </a:r>
                      <a:br>
                        <a:rPr lang="en-US" dirty="0">
                          <a:solidFill>
                            <a:srgbClr val="333333"/>
                          </a:solidFill>
                          <a:effectLst/>
                          <a:latin typeface="inter-regular"/>
                        </a:rPr>
                      </a:br>
                      <a:r>
                        <a:rPr lang="en-US" dirty="0">
                          <a:solidFill>
                            <a:srgbClr val="333333"/>
                          </a:solidFill>
                          <a:effectLst/>
                          <a:latin typeface="inter-regular"/>
                        </a:rPr>
                        <a:t>// body of the structure.</a:t>
                      </a:r>
                      <a:br>
                        <a:rPr lang="en-US" dirty="0">
                          <a:solidFill>
                            <a:srgbClr val="333333"/>
                          </a:solidFill>
                          <a:effectLst/>
                          <a:latin typeface="inter-regular"/>
                        </a:rPr>
                      </a:br>
                      <a:r>
                        <a:rPr lang="en-US"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l" fontAlgn="t"/>
                      <a:r>
                        <a:rPr lang="en-US" dirty="0">
                          <a:solidFill>
                            <a:srgbClr val="333333"/>
                          </a:solidFill>
                          <a:effectLst/>
                          <a:latin typeface="inter-regular"/>
                        </a:rPr>
                        <a:t>Syntax of Class:</a:t>
                      </a:r>
                      <a:br>
                        <a:rPr lang="en-US" dirty="0">
                          <a:solidFill>
                            <a:srgbClr val="333333"/>
                          </a:solidFill>
                          <a:effectLst/>
                          <a:latin typeface="inter-regular"/>
                        </a:rPr>
                      </a:br>
                      <a:br>
                        <a:rPr lang="en-US" dirty="0">
                          <a:solidFill>
                            <a:srgbClr val="333333"/>
                          </a:solidFill>
                          <a:effectLst/>
                          <a:latin typeface="inter-regular"/>
                        </a:rPr>
                      </a:br>
                      <a:r>
                        <a:rPr lang="en-US" dirty="0">
                          <a:solidFill>
                            <a:srgbClr val="333333"/>
                          </a:solidFill>
                          <a:effectLst/>
                          <a:latin typeface="inter-regular"/>
                        </a:rPr>
                        <a:t>class </a:t>
                      </a:r>
                      <a:r>
                        <a:rPr lang="en-US" dirty="0" err="1">
                          <a:solidFill>
                            <a:srgbClr val="333333"/>
                          </a:solidFill>
                          <a:effectLst/>
                          <a:latin typeface="inter-regular"/>
                        </a:rPr>
                        <a:t>class_name</a:t>
                      </a:r>
                      <a:br>
                        <a:rPr lang="en-US" dirty="0">
                          <a:solidFill>
                            <a:srgbClr val="333333"/>
                          </a:solidFill>
                          <a:effectLst/>
                          <a:latin typeface="inter-regular"/>
                        </a:rPr>
                      </a:br>
                      <a:r>
                        <a:rPr lang="en-US" dirty="0">
                          <a:solidFill>
                            <a:srgbClr val="333333"/>
                          </a:solidFill>
                          <a:effectLst/>
                          <a:latin typeface="inter-regular"/>
                        </a:rPr>
                        <a:t>{</a:t>
                      </a:r>
                      <a:br>
                        <a:rPr lang="en-US" dirty="0">
                          <a:solidFill>
                            <a:srgbClr val="333333"/>
                          </a:solidFill>
                          <a:effectLst/>
                          <a:latin typeface="inter-regular"/>
                        </a:rPr>
                      </a:br>
                      <a:r>
                        <a:rPr lang="en-US" dirty="0">
                          <a:solidFill>
                            <a:srgbClr val="333333"/>
                          </a:solidFill>
                          <a:effectLst/>
                          <a:latin typeface="inter-regular"/>
                        </a:rPr>
                        <a:t>// body of the class.</a:t>
                      </a:r>
                      <a:br>
                        <a:rPr lang="en-US" dirty="0">
                          <a:solidFill>
                            <a:srgbClr val="333333"/>
                          </a:solidFill>
                          <a:effectLst/>
                          <a:latin typeface="inter-regular"/>
                        </a:rPr>
                      </a:br>
                      <a:r>
                        <a:rPr lang="en-US"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51404777"/>
                  </a:ext>
                </a:extLst>
              </a:tr>
              <a:tr h="890112">
                <a:tc>
                  <a:txBody>
                    <a:bodyPr/>
                    <a:lstStyle/>
                    <a:p>
                      <a:pPr algn="just" fontAlgn="t"/>
                      <a:r>
                        <a:rPr lang="en-US">
                          <a:solidFill>
                            <a:srgbClr val="333333"/>
                          </a:solidFill>
                          <a:effectLst/>
                          <a:latin typeface="inter-regular"/>
                        </a:rPr>
                        <a:t>The instance of the structure is known as "Structure variable".</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rgbClr val="333333"/>
                          </a:solidFill>
                          <a:effectLst/>
                          <a:latin typeface="inter-regular"/>
                        </a:rPr>
                        <a:t>The instance of the class is known as "Object of the class".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29244819"/>
                  </a:ext>
                </a:extLst>
              </a:tr>
            </a:tbl>
          </a:graphicData>
        </a:graphic>
      </p:graphicFrame>
      <p:sp>
        <p:nvSpPr>
          <p:cNvPr id="7" name="Rectangle 1">
            <a:extLst>
              <a:ext uri="{FF2B5EF4-FFF2-40B4-BE49-F238E27FC236}">
                <a16:creationId xmlns:a16="http://schemas.microsoft.com/office/drawing/2014/main" id="{2E768C86-B7F2-4A79-80D5-E22FF52A1AD0}"/>
              </a:ext>
            </a:extLst>
          </p:cNvPr>
          <p:cNvSpPr>
            <a:spLocks noChangeArrowheads="1"/>
          </p:cNvSpPr>
          <p:nvPr/>
        </p:nvSpPr>
        <p:spPr bwMode="auto">
          <a:xfrm>
            <a:off x="511126" y="207507"/>
            <a:ext cx="9246392"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333333"/>
                </a:solidFill>
                <a:effectLst/>
                <a:latin typeface="inter-bold"/>
              </a:rPr>
              <a:t>Structure v/s Class</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5465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52C78-0FC2-45BD-B890-0F47551ADEFF}"/>
              </a:ext>
            </a:extLst>
          </p:cNvPr>
          <p:cNvSpPr>
            <a:spLocks noGrp="1"/>
          </p:cNvSpPr>
          <p:nvPr>
            <p:ph type="title"/>
          </p:nvPr>
        </p:nvSpPr>
        <p:spPr>
          <a:xfrm>
            <a:off x="395238" y="352385"/>
            <a:ext cx="11614791" cy="780379"/>
          </a:xfrm>
        </p:spPr>
        <p:txBody>
          <a:bodyPr>
            <a:normAutofit fontScale="90000"/>
          </a:bodyPr>
          <a:lstStyle/>
          <a:p>
            <a:r>
              <a:rPr lang="en-US" b="1" dirty="0" err="1"/>
              <a:t>Inheritence</a:t>
            </a:r>
            <a:endParaRPr lang="en-US" b="1" dirty="0"/>
          </a:p>
        </p:txBody>
      </p:sp>
      <p:sp>
        <p:nvSpPr>
          <p:cNvPr id="3" name="Content Placeholder 2">
            <a:extLst>
              <a:ext uri="{FF2B5EF4-FFF2-40B4-BE49-F238E27FC236}">
                <a16:creationId xmlns:a16="http://schemas.microsoft.com/office/drawing/2014/main" id="{96F7C8BF-C3D5-49C0-8BF3-45E3E49AAFBD}"/>
              </a:ext>
            </a:extLst>
          </p:cNvPr>
          <p:cNvSpPr>
            <a:spLocks noGrp="1"/>
          </p:cNvSpPr>
          <p:nvPr>
            <p:ph idx="1"/>
          </p:nvPr>
        </p:nvSpPr>
        <p:spPr>
          <a:xfrm>
            <a:off x="586855" y="1282890"/>
            <a:ext cx="11423174" cy="4889310"/>
          </a:xfrm>
        </p:spPr>
        <p:txBody>
          <a:bodyPr>
            <a:normAutofit/>
          </a:bodyPr>
          <a:lstStyle/>
          <a:p>
            <a:r>
              <a:rPr lang="en-US" sz="2800" dirty="0"/>
              <a:t>In C++, inheritance is a process in which one object acquires all the properties and behaviors of its parent object automatically. In such way, you can reuse, extend or modify the attributes and behaviors which are defined in other class.</a:t>
            </a:r>
          </a:p>
          <a:p>
            <a:endParaRPr lang="en-US" sz="2800" dirty="0"/>
          </a:p>
          <a:p>
            <a:r>
              <a:rPr lang="en-US" sz="2800" dirty="0"/>
              <a:t>In C++, the class which inherits the members of another class is called derived class and the class whose members are inherited is called base class. The derived class is the specialized class for the base class.</a:t>
            </a:r>
          </a:p>
        </p:txBody>
      </p:sp>
      <p:sp>
        <p:nvSpPr>
          <p:cNvPr id="4" name="Date Placeholder 3">
            <a:extLst>
              <a:ext uri="{FF2B5EF4-FFF2-40B4-BE49-F238E27FC236}">
                <a16:creationId xmlns:a16="http://schemas.microsoft.com/office/drawing/2014/main" id="{7EAEA0DB-0B87-49E6-A1DF-6847BD7AA55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F0FB5FAA-3CCC-46AC-B218-C6AD7D8D483E}"/>
              </a:ext>
            </a:extLst>
          </p:cNvPr>
          <p:cNvSpPr>
            <a:spLocks noGrp="1"/>
          </p:cNvSpPr>
          <p:nvPr>
            <p:ph type="sldNum" sz="quarter" idx="12"/>
          </p:nvPr>
        </p:nvSpPr>
        <p:spPr/>
        <p:txBody>
          <a:bodyPr/>
          <a:lstStyle/>
          <a:p>
            <a:fld id="{D8DA9DAA-006C-4F4B-980E-E3DF019B24E2}" type="slidenum">
              <a:rPr lang="en-US" smtClean="0"/>
              <a:pPr/>
              <a:t>37</a:t>
            </a:fld>
            <a:endParaRPr lang="en-US" dirty="0"/>
          </a:p>
        </p:txBody>
      </p:sp>
    </p:spTree>
    <p:extLst>
      <p:ext uri="{BB962C8B-B14F-4D97-AF65-F5344CB8AC3E}">
        <p14:creationId xmlns:p14="http://schemas.microsoft.com/office/powerpoint/2010/main" val="3175810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3C5C-1339-41A8-A177-785BB352323F}"/>
              </a:ext>
            </a:extLst>
          </p:cNvPr>
          <p:cNvSpPr>
            <a:spLocks noGrp="1"/>
          </p:cNvSpPr>
          <p:nvPr>
            <p:ph type="title"/>
          </p:nvPr>
        </p:nvSpPr>
        <p:spPr>
          <a:xfrm>
            <a:off x="709137" y="316082"/>
            <a:ext cx="9908821" cy="739436"/>
          </a:xfrm>
        </p:spPr>
        <p:txBody>
          <a:bodyPr>
            <a:normAutofit fontScale="90000"/>
          </a:bodyPr>
          <a:lstStyle/>
          <a:p>
            <a:r>
              <a:rPr lang="en-US" b="1" dirty="0"/>
              <a:t>Advantage of C++ Inheritance</a:t>
            </a:r>
          </a:p>
        </p:txBody>
      </p:sp>
      <p:sp>
        <p:nvSpPr>
          <p:cNvPr id="3" name="Content Placeholder 2">
            <a:extLst>
              <a:ext uri="{FF2B5EF4-FFF2-40B4-BE49-F238E27FC236}">
                <a16:creationId xmlns:a16="http://schemas.microsoft.com/office/drawing/2014/main" id="{582FAD74-4469-494E-8710-7092A7318E3D}"/>
              </a:ext>
            </a:extLst>
          </p:cNvPr>
          <p:cNvSpPr>
            <a:spLocks noGrp="1"/>
          </p:cNvSpPr>
          <p:nvPr>
            <p:ph idx="1"/>
          </p:nvPr>
        </p:nvSpPr>
        <p:spPr>
          <a:xfrm>
            <a:off x="850392" y="1760560"/>
            <a:ext cx="11023160" cy="4411639"/>
          </a:xfrm>
        </p:spPr>
        <p:txBody>
          <a:bodyPr>
            <a:normAutofit/>
          </a:bodyPr>
          <a:lstStyle/>
          <a:p>
            <a:r>
              <a:rPr lang="en-US" sz="3200" dirty="0"/>
              <a:t>Code reusability: Now you can reuse the members of your parent class. So, there is no need to define the member again. So less code is required in the class.</a:t>
            </a:r>
          </a:p>
        </p:txBody>
      </p:sp>
      <p:sp>
        <p:nvSpPr>
          <p:cNvPr id="4" name="Date Placeholder 3">
            <a:extLst>
              <a:ext uri="{FF2B5EF4-FFF2-40B4-BE49-F238E27FC236}">
                <a16:creationId xmlns:a16="http://schemas.microsoft.com/office/drawing/2014/main" id="{CA9E9C51-2C21-4D23-9F59-72A47CF98DC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EFAF4216-6C5B-4F21-B961-B01327E0089D}"/>
              </a:ext>
            </a:extLst>
          </p:cNvPr>
          <p:cNvSpPr>
            <a:spLocks noGrp="1"/>
          </p:cNvSpPr>
          <p:nvPr>
            <p:ph type="sldNum" sz="quarter" idx="12"/>
          </p:nvPr>
        </p:nvSpPr>
        <p:spPr/>
        <p:txBody>
          <a:bodyPr/>
          <a:lstStyle/>
          <a:p>
            <a:fld id="{D8DA9DAA-006C-4F4B-980E-E3DF019B24E2}" type="slidenum">
              <a:rPr lang="en-US" smtClean="0"/>
              <a:pPr/>
              <a:t>38</a:t>
            </a:fld>
            <a:endParaRPr lang="en-US" dirty="0"/>
          </a:p>
        </p:txBody>
      </p:sp>
    </p:spTree>
    <p:extLst>
      <p:ext uri="{BB962C8B-B14F-4D97-AF65-F5344CB8AC3E}">
        <p14:creationId xmlns:p14="http://schemas.microsoft.com/office/powerpoint/2010/main" val="22317873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435D-23D0-4CC5-83E8-76382171173E}"/>
              </a:ext>
            </a:extLst>
          </p:cNvPr>
          <p:cNvSpPr>
            <a:spLocks noGrp="1"/>
          </p:cNvSpPr>
          <p:nvPr>
            <p:ph type="title"/>
          </p:nvPr>
        </p:nvSpPr>
        <p:spPr>
          <a:xfrm>
            <a:off x="627252" y="322906"/>
            <a:ext cx="10154480" cy="725788"/>
          </a:xfrm>
        </p:spPr>
        <p:txBody>
          <a:bodyPr>
            <a:normAutofit fontScale="90000"/>
          </a:bodyPr>
          <a:lstStyle/>
          <a:p>
            <a:r>
              <a:rPr lang="en-US" b="1" dirty="0"/>
              <a:t>Types Of Inheritance</a:t>
            </a:r>
          </a:p>
        </p:txBody>
      </p:sp>
      <p:sp>
        <p:nvSpPr>
          <p:cNvPr id="3" name="Content Placeholder 2">
            <a:extLst>
              <a:ext uri="{FF2B5EF4-FFF2-40B4-BE49-F238E27FC236}">
                <a16:creationId xmlns:a16="http://schemas.microsoft.com/office/drawing/2014/main" id="{DEAE6D8E-27B7-4609-B391-677DE718D3F7}"/>
              </a:ext>
            </a:extLst>
          </p:cNvPr>
          <p:cNvSpPr>
            <a:spLocks noGrp="1"/>
          </p:cNvSpPr>
          <p:nvPr>
            <p:ph idx="1"/>
          </p:nvPr>
        </p:nvSpPr>
        <p:spPr>
          <a:xfrm>
            <a:off x="838200" y="1466353"/>
            <a:ext cx="5617191" cy="4074638"/>
          </a:xfrm>
        </p:spPr>
        <p:txBody>
          <a:bodyPr/>
          <a:lstStyle/>
          <a:p>
            <a:r>
              <a:rPr lang="en-US" sz="2800" b="1" dirty="0"/>
              <a:t>C++ supports five types of inheritance:</a:t>
            </a:r>
          </a:p>
          <a:p>
            <a:r>
              <a:rPr lang="en-US" sz="2800" dirty="0"/>
              <a:t>Single inheritance</a:t>
            </a:r>
          </a:p>
          <a:p>
            <a:r>
              <a:rPr lang="en-US" sz="2800" dirty="0"/>
              <a:t>Multiple inheritance</a:t>
            </a:r>
          </a:p>
          <a:p>
            <a:r>
              <a:rPr lang="en-US" sz="2800" dirty="0"/>
              <a:t>Hierarchical inheritance</a:t>
            </a:r>
          </a:p>
          <a:p>
            <a:r>
              <a:rPr lang="en-US" sz="2800" dirty="0"/>
              <a:t>Multilevel inheritance</a:t>
            </a:r>
          </a:p>
          <a:p>
            <a:r>
              <a:rPr lang="en-US" sz="2800" dirty="0"/>
              <a:t>Hybrid inheritance</a:t>
            </a:r>
          </a:p>
          <a:p>
            <a:endParaRPr lang="en-US" dirty="0"/>
          </a:p>
        </p:txBody>
      </p:sp>
      <p:sp>
        <p:nvSpPr>
          <p:cNvPr id="4" name="Date Placeholder 3">
            <a:extLst>
              <a:ext uri="{FF2B5EF4-FFF2-40B4-BE49-F238E27FC236}">
                <a16:creationId xmlns:a16="http://schemas.microsoft.com/office/drawing/2014/main" id="{3453F1D1-3146-481E-9DAD-587B5A737D1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172BAB4A-CB49-4BC2-9834-8312BD5DF30B}"/>
              </a:ext>
            </a:extLst>
          </p:cNvPr>
          <p:cNvSpPr>
            <a:spLocks noGrp="1"/>
          </p:cNvSpPr>
          <p:nvPr>
            <p:ph type="sldNum" sz="quarter" idx="12"/>
          </p:nvPr>
        </p:nvSpPr>
        <p:spPr/>
        <p:txBody>
          <a:bodyPr/>
          <a:lstStyle/>
          <a:p>
            <a:fld id="{D8DA9DAA-006C-4F4B-980E-E3DF019B24E2}" type="slidenum">
              <a:rPr lang="en-US" smtClean="0"/>
              <a:pPr/>
              <a:t>39</a:t>
            </a:fld>
            <a:endParaRPr lang="en-US" dirty="0"/>
          </a:p>
        </p:txBody>
      </p:sp>
      <p:sp>
        <p:nvSpPr>
          <p:cNvPr id="6" name="AutoShape 2" descr="C++ Inheritance">
            <a:extLst>
              <a:ext uri="{FF2B5EF4-FFF2-40B4-BE49-F238E27FC236}">
                <a16:creationId xmlns:a16="http://schemas.microsoft.com/office/drawing/2014/main" id="{614D195B-68A1-43C5-8109-DC2FBB0D04D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DC06450-2E6B-40BF-97A2-5F5FDCDD9D7A}"/>
              </a:ext>
            </a:extLst>
          </p:cNvPr>
          <p:cNvPicPr>
            <a:picLocks noChangeAspect="1"/>
          </p:cNvPicPr>
          <p:nvPr/>
        </p:nvPicPr>
        <p:blipFill>
          <a:blip r:embed="rId2"/>
          <a:stretch>
            <a:fillRect/>
          </a:stretch>
        </p:blipFill>
        <p:spPr>
          <a:xfrm>
            <a:off x="6350616" y="1862137"/>
            <a:ext cx="5210175" cy="3133725"/>
          </a:xfrm>
          <a:prstGeom prst="rect">
            <a:avLst/>
          </a:prstGeom>
        </p:spPr>
      </p:pic>
    </p:spTree>
    <p:extLst>
      <p:ext uri="{BB962C8B-B14F-4D97-AF65-F5344CB8AC3E}">
        <p14:creationId xmlns:p14="http://schemas.microsoft.com/office/powerpoint/2010/main" val="3662954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739B8-5056-40FF-8BFD-A4CA9E797142}"/>
              </a:ext>
            </a:extLst>
          </p:cNvPr>
          <p:cNvSpPr>
            <a:spLocks noGrp="1"/>
          </p:cNvSpPr>
          <p:nvPr>
            <p:ph type="title"/>
          </p:nvPr>
        </p:nvSpPr>
        <p:spPr>
          <a:xfrm>
            <a:off x="804672" y="247843"/>
            <a:ext cx="6190488" cy="875913"/>
          </a:xfrm>
        </p:spPr>
        <p:txBody>
          <a:bodyPr/>
          <a:lstStyle/>
          <a:p>
            <a:r>
              <a:rPr lang="en-US" b="1" dirty="0"/>
              <a:t>Derived class</a:t>
            </a:r>
          </a:p>
        </p:txBody>
      </p:sp>
      <p:sp>
        <p:nvSpPr>
          <p:cNvPr id="3" name="Content Placeholder 2">
            <a:extLst>
              <a:ext uri="{FF2B5EF4-FFF2-40B4-BE49-F238E27FC236}">
                <a16:creationId xmlns:a16="http://schemas.microsoft.com/office/drawing/2014/main" id="{E36DDC43-9DE3-4541-9050-F9689B1A50B7}"/>
              </a:ext>
            </a:extLst>
          </p:cNvPr>
          <p:cNvSpPr>
            <a:spLocks noGrp="1"/>
          </p:cNvSpPr>
          <p:nvPr>
            <p:ph idx="1"/>
          </p:nvPr>
        </p:nvSpPr>
        <p:spPr>
          <a:xfrm>
            <a:off x="850392" y="1255594"/>
            <a:ext cx="10503408" cy="4916606"/>
          </a:xfrm>
        </p:spPr>
        <p:txBody>
          <a:bodyPr>
            <a:normAutofit/>
          </a:bodyPr>
          <a:lstStyle/>
          <a:p>
            <a:r>
              <a:rPr lang="en-US" sz="2800" dirty="0"/>
              <a:t>A Derived class is defined as the class derived from the base class.</a:t>
            </a:r>
          </a:p>
          <a:p>
            <a:r>
              <a:rPr lang="en-US" sz="2800" dirty="0"/>
              <a:t>The Syntax of Derived class:</a:t>
            </a:r>
          </a:p>
          <a:p>
            <a:r>
              <a:rPr lang="en-US" sz="2800" b="1" dirty="0"/>
              <a:t>class</a:t>
            </a:r>
            <a:r>
              <a:rPr lang="en-US" sz="2800" dirty="0"/>
              <a:t> </a:t>
            </a:r>
            <a:r>
              <a:rPr lang="en-US" sz="2800" dirty="0" err="1"/>
              <a:t>derived_class_name</a:t>
            </a:r>
            <a:r>
              <a:rPr lang="en-US" sz="2800" dirty="0"/>
              <a:t> :: visibility-mode </a:t>
            </a:r>
            <a:r>
              <a:rPr lang="en-US" sz="2800" dirty="0" err="1"/>
              <a:t>base_class_name</a:t>
            </a:r>
            <a:r>
              <a:rPr lang="en-US" sz="2800" dirty="0"/>
              <a:t>  </a:t>
            </a:r>
          </a:p>
          <a:p>
            <a:r>
              <a:rPr lang="en-US" sz="2800" dirty="0"/>
              <a:t>{  </a:t>
            </a:r>
          </a:p>
          <a:p>
            <a:r>
              <a:rPr lang="en-US" sz="2800" dirty="0"/>
              <a:t>    // body of the derived class.  </a:t>
            </a:r>
          </a:p>
          <a:p>
            <a:r>
              <a:rPr lang="en-US" sz="2800" dirty="0"/>
              <a:t>}  </a:t>
            </a:r>
          </a:p>
          <a:p>
            <a:endParaRPr lang="en-US" dirty="0"/>
          </a:p>
          <a:p>
            <a:endParaRPr lang="en-US" dirty="0"/>
          </a:p>
        </p:txBody>
      </p:sp>
      <p:sp>
        <p:nvSpPr>
          <p:cNvPr id="4" name="Date Placeholder 3">
            <a:extLst>
              <a:ext uri="{FF2B5EF4-FFF2-40B4-BE49-F238E27FC236}">
                <a16:creationId xmlns:a16="http://schemas.microsoft.com/office/drawing/2014/main" id="{9FCD7A72-7B4D-447D-8C38-CFD32C5BD1B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D6F00AC-A1BC-45AA-ADDA-A3111EF83460}"/>
              </a:ext>
            </a:extLst>
          </p:cNvPr>
          <p:cNvSpPr>
            <a:spLocks noGrp="1"/>
          </p:cNvSpPr>
          <p:nvPr>
            <p:ph type="sldNum" sz="quarter" idx="12"/>
          </p:nvPr>
        </p:nvSpPr>
        <p:spPr/>
        <p:txBody>
          <a:bodyPr/>
          <a:lstStyle/>
          <a:p>
            <a:fld id="{D8DA9DAA-006C-4F4B-980E-E3DF019B24E2}" type="slidenum">
              <a:rPr lang="en-US" smtClean="0"/>
              <a:pPr/>
              <a:t>40</a:t>
            </a:fld>
            <a:endParaRPr lang="en-US" dirty="0"/>
          </a:p>
        </p:txBody>
      </p:sp>
    </p:spTree>
    <p:extLst>
      <p:ext uri="{BB962C8B-B14F-4D97-AF65-F5344CB8AC3E}">
        <p14:creationId xmlns:p14="http://schemas.microsoft.com/office/powerpoint/2010/main" val="3411168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B90D60-EEBE-4728-A99D-EC2104956F0E}"/>
              </a:ext>
            </a:extLst>
          </p:cNvPr>
          <p:cNvSpPr>
            <a:spLocks noGrp="1"/>
          </p:cNvSpPr>
          <p:nvPr>
            <p:ph idx="1"/>
          </p:nvPr>
        </p:nvSpPr>
        <p:spPr>
          <a:xfrm>
            <a:off x="327547" y="136524"/>
            <a:ext cx="11864453" cy="6584951"/>
          </a:xfrm>
        </p:spPr>
        <p:txBody>
          <a:bodyPr>
            <a:normAutofit/>
          </a:bodyPr>
          <a:lstStyle/>
          <a:p>
            <a:r>
              <a:rPr lang="en-US" b="1" dirty="0"/>
              <a:t>Where,</a:t>
            </a:r>
            <a:endParaRPr lang="en-US" dirty="0"/>
          </a:p>
          <a:p>
            <a:r>
              <a:rPr lang="en-US" b="1" dirty="0" err="1"/>
              <a:t>derived_class_name</a:t>
            </a:r>
            <a:r>
              <a:rPr lang="en-US" b="1" dirty="0"/>
              <a:t>:</a:t>
            </a:r>
            <a:r>
              <a:rPr lang="en-US" dirty="0"/>
              <a:t> It is the name of the derived class.</a:t>
            </a:r>
          </a:p>
          <a:p>
            <a:r>
              <a:rPr lang="en-US" b="1" dirty="0"/>
              <a:t>visibility mode:</a:t>
            </a:r>
            <a:r>
              <a:rPr lang="en-US" dirty="0"/>
              <a:t> The visibility mode specifies whether the features of the base class are publicly inherited or privately inherited. It can be public or private.</a:t>
            </a:r>
          </a:p>
          <a:p>
            <a:r>
              <a:rPr lang="en-US" b="1" dirty="0" err="1"/>
              <a:t>base_class_name</a:t>
            </a:r>
            <a:r>
              <a:rPr lang="en-US" b="1" dirty="0"/>
              <a:t>:</a:t>
            </a:r>
            <a:r>
              <a:rPr lang="en-US" dirty="0"/>
              <a:t> It is the name of the base class.</a:t>
            </a:r>
          </a:p>
          <a:p>
            <a:r>
              <a:rPr lang="en-US" dirty="0"/>
              <a:t>When the base class is privately inherited by the derived class, public members of the base class becomes the private members of the derived class. Therefore, the public members of the base class are not accessible by the objects of the derived class only by the member functions of the derived class.</a:t>
            </a:r>
          </a:p>
          <a:p>
            <a:r>
              <a:rPr lang="en-US" dirty="0"/>
              <a:t>When the base class is publicly inherited by the derived class, public members of the base class also become the public members of the derived class. Therefore, the public members of the base class are accessible by the objects of the derived class as well as by the member functions of the base class.</a:t>
            </a:r>
          </a:p>
          <a:p>
            <a:r>
              <a:rPr lang="en-US" dirty="0"/>
              <a:t>Note:</a:t>
            </a:r>
          </a:p>
          <a:p>
            <a:r>
              <a:rPr lang="en-US" dirty="0"/>
              <a:t>In C++, the default mode of visibility is private.</a:t>
            </a:r>
          </a:p>
          <a:p>
            <a:r>
              <a:rPr lang="en-US" dirty="0"/>
              <a:t>The private members of the base class are never inherited.</a:t>
            </a:r>
          </a:p>
          <a:p>
            <a:endParaRPr lang="en-US" dirty="0"/>
          </a:p>
        </p:txBody>
      </p:sp>
      <p:sp>
        <p:nvSpPr>
          <p:cNvPr id="4" name="Date Placeholder 3">
            <a:extLst>
              <a:ext uri="{FF2B5EF4-FFF2-40B4-BE49-F238E27FC236}">
                <a16:creationId xmlns:a16="http://schemas.microsoft.com/office/drawing/2014/main" id="{97B3FF93-B81C-456F-9F7E-21B1BC5765A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F181024-BB5A-44CE-BE41-857EB6E96E37}"/>
              </a:ext>
            </a:extLst>
          </p:cNvPr>
          <p:cNvSpPr>
            <a:spLocks noGrp="1"/>
          </p:cNvSpPr>
          <p:nvPr>
            <p:ph type="sldNum" sz="quarter" idx="12"/>
          </p:nvPr>
        </p:nvSpPr>
        <p:spPr/>
        <p:txBody>
          <a:bodyPr/>
          <a:lstStyle/>
          <a:p>
            <a:fld id="{D8DA9DAA-006C-4F4B-980E-E3DF019B24E2}" type="slidenum">
              <a:rPr lang="en-US" smtClean="0"/>
              <a:pPr/>
              <a:t>41</a:t>
            </a:fld>
            <a:endParaRPr lang="en-US" dirty="0"/>
          </a:p>
        </p:txBody>
      </p:sp>
    </p:spTree>
    <p:extLst>
      <p:ext uri="{BB962C8B-B14F-4D97-AF65-F5344CB8AC3E}">
        <p14:creationId xmlns:p14="http://schemas.microsoft.com/office/powerpoint/2010/main" val="12174792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9E0D-4AAE-432C-8BBA-4B5296BD1010}"/>
              </a:ext>
            </a:extLst>
          </p:cNvPr>
          <p:cNvSpPr>
            <a:spLocks noGrp="1"/>
          </p:cNvSpPr>
          <p:nvPr>
            <p:ph type="title"/>
          </p:nvPr>
        </p:nvSpPr>
        <p:spPr>
          <a:xfrm>
            <a:off x="531716" y="136525"/>
            <a:ext cx="10549128" cy="1179576"/>
          </a:xfrm>
        </p:spPr>
        <p:txBody>
          <a:bodyPr>
            <a:normAutofit/>
          </a:bodyPr>
          <a:lstStyle/>
          <a:p>
            <a:r>
              <a:rPr lang="en-US" dirty="0"/>
              <a:t>C++ Single Inheritance</a:t>
            </a:r>
          </a:p>
        </p:txBody>
      </p:sp>
      <p:sp>
        <p:nvSpPr>
          <p:cNvPr id="3" name="Content Placeholder 2">
            <a:extLst>
              <a:ext uri="{FF2B5EF4-FFF2-40B4-BE49-F238E27FC236}">
                <a16:creationId xmlns:a16="http://schemas.microsoft.com/office/drawing/2014/main" id="{D3B04EB7-F15B-4ABB-AD4D-260956BEE9D5}"/>
              </a:ext>
            </a:extLst>
          </p:cNvPr>
          <p:cNvSpPr>
            <a:spLocks noGrp="1"/>
          </p:cNvSpPr>
          <p:nvPr>
            <p:ph idx="1"/>
          </p:nvPr>
        </p:nvSpPr>
        <p:spPr>
          <a:xfrm>
            <a:off x="850392" y="1316101"/>
            <a:ext cx="10503408" cy="4856099"/>
          </a:xfrm>
        </p:spPr>
        <p:txBody>
          <a:bodyPr/>
          <a:lstStyle/>
          <a:p>
            <a:r>
              <a:rPr lang="en-US" b="1" dirty="0"/>
              <a:t>Single inheritance</a:t>
            </a:r>
            <a:r>
              <a:rPr lang="en-US" dirty="0"/>
              <a:t> is defined as the inheritance in which a derived class is inherited from the only one base class. Where 'A' is the base class, and 'B' is the derived class.</a:t>
            </a:r>
          </a:p>
        </p:txBody>
      </p:sp>
      <p:sp>
        <p:nvSpPr>
          <p:cNvPr id="4" name="Date Placeholder 3">
            <a:extLst>
              <a:ext uri="{FF2B5EF4-FFF2-40B4-BE49-F238E27FC236}">
                <a16:creationId xmlns:a16="http://schemas.microsoft.com/office/drawing/2014/main" id="{E7F87CCF-5126-4ADF-B0D7-5C9ACCB0212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B09DA60-50D7-4CAE-82CF-2455F62477EB}"/>
              </a:ext>
            </a:extLst>
          </p:cNvPr>
          <p:cNvSpPr>
            <a:spLocks noGrp="1"/>
          </p:cNvSpPr>
          <p:nvPr>
            <p:ph type="sldNum" sz="quarter" idx="12"/>
          </p:nvPr>
        </p:nvSpPr>
        <p:spPr/>
        <p:txBody>
          <a:bodyPr/>
          <a:lstStyle/>
          <a:p>
            <a:fld id="{D8DA9DAA-006C-4F4B-980E-E3DF019B24E2}" type="slidenum">
              <a:rPr lang="en-US" smtClean="0"/>
              <a:pPr/>
              <a:t>42</a:t>
            </a:fld>
            <a:endParaRPr lang="en-US" dirty="0"/>
          </a:p>
        </p:txBody>
      </p:sp>
      <p:pic>
        <p:nvPicPr>
          <p:cNvPr id="6" name="Picture 5">
            <a:extLst>
              <a:ext uri="{FF2B5EF4-FFF2-40B4-BE49-F238E27FC236}">
                <a16:creationId xmlns:a16="http://schemas.microsoft.com/office/drawing/2014/main" id="{E04A0570-0B20-4A7F-84C1-BB29FD51F6C0}"/>
              </a:ext>
            </a:extLst>
          </p:cNvPr>
          <p:cNvPicPr>
            <a:picLocks noChangeAspect="1"/>
          </p:cNvPicPr>
          <p:nvPr/>
        </p:nvPicPr>
        <p:blipFill>
          <a:blip r:embed="rId2"/>
          <a:stretch>
            <a:fillRect/>
          </a:stretch>
        </p:blipFill>
        <p:spPr>
          <a:xfrm>
            <a:off x="3733800" y="2152436"/>
            <a:ext cx="1209675" cy="1952625"/>
          </a:xfrm>
          <a:prstGeom prst="rect">
            <a:avLst/>
          </a:prstGeom>
        </p:spPr>
      </p:pic>
    </p:spTree>
    <p:extLst>
      <p:ext uri="{BB962C8B-B14F-4D97-AF65-F5344CB8AC3E}">
        <p14:creationId xmlns:p14="http://schemas.microsoft.com/office/powerpoint/2010/main" val="1074026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D75F-41B3-4862-9BE3-3901D2C23D4B}"/>
              </a:ext>
            </a:extLst>
          </p:cNvPr>
          <p:cNvSpPr>
            <a:spLocks noGrp="1"/>
          </p:cNvSpPr>
          <p:nvPr>
            <p:ph type="title"/>
          </p:nvPr>
        </p:nvSpPr>
        <p:spPr>
          <a:xfrm>
            <a:off x="313899" y="504967"/>
            <a:ext cx="11382231" cy="1269241"/>
          </a:xfrm>
        </p:spPr>
        <p:txBody>
          <a:bodyPr>
            <a:normAutofit fontScale="90000"/>
          </a:bodyPr>
          <a:lstStyle/>
          <a:p>
            <a:r>
              <a:rPr lang="en-US" b="1" dirty="0"/>
              <a:t>C++ Single Level Inheritance Example: Inheriting Fields</a:t>
            </a:r>
          </a:p>
        </p:txBody>
      </p:sp>
      <p:sp>
        <p:nvSpPr>
          <p:cNvPr id="3" name="Content Placeholder 2">
            <a:extLst>
              <a:ext uri="{FF2B5EF4-FFF2-40B4-BE49-F238E27FC236}">
                <a16:creationId xmlns:a16="http://schemas.microsoft.com/office/drawing/2014/main" id="{DE922476-C4B8-4A9D-88E6-497AEE67BFFA}"/>
              </a:ext>
            </a:extLst>
          </p:cNvPr>
          <p:cNvSpPr>
            <a:spLocks noGrp="1"/>
          </p:cNvSpPr>
          <p:nvPr>
            <p:ph idx="1"/>
          </p:nvPr>
        </p:nvSpPr>
        <p:spPr>
          <a:xfrm>
            <a:off x="313899" y="2129461"/>
            <a:ext cx="11773787" cy="3346704"/>
          </a:xfrm>
        </p:spPr>
        <p:txBody>
          <a:bodyPr>
            <a:normAutofit/>
          </a:bodyPr>
          <a:lstStyle/>
          <a:p>
            <a:r>
              <a:rPr lang="en-US" sz="2800" dirty="0"/>
              <a:t>When one class inherits another class, it is known as single level inheritance. Let's see the example of single level inheritance which inherits the fields only.</a:t>
            </a:r>
          </a:p>
        </p:txBody>
      </p:sp>
      <p:sp>
        <p:nvSpPr>
          <p:cNvPr id="4" name="Date Placeholder 3">
            <a:extLst>
              <a:ext uri="{FF2B5EF4-FFF2-40B4-BE49-F238E27FC236}">
                <a16:creationId xmlns:a16="http://schemas.microsoft.com/office/drawing/2014/main" id="{7CE62121-E41F-4A27-B64D-56C2A1786B9D}"/>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17A8D27-68C6-4171-AC3A-1DC2027FF442}"/>
              </a:ext>
            </a:extLst>
          </p:cNvPr>
          <p:cNvSpPr>
            <a:spLocks noGrp="1"/>
          </p:cNvSpPr>
          <p:nvPr>
            <p:ph type="sldNum" sz="quarter" idx="12"/>
          </p:nvPr>
        </p:nvSpPr>
        <p:spPr/>
        <p:txBody>
          <a:bodyPr/>
          <a:lstStyle/>
          <a:p>
            <a:fld id="{D8DA9DAA-006C-4F4B-980E-E3DF019B24E2}" type="slidenum">
              <a:rPr lang="en-US" smtClean="0"/>
              <a:pPr/>
              <a:t>43</a:t>
            </a:fld>
            <a:endParaRPr lang="en-US" dirty="0"/>
          </a:p>
        </p:txBody>
      </p:sp>
    </p:spTree>
    <p:extLst>
      <p:ext uri="{BB962C8B-B14F-4D97-AF65-F5344CB8AC3E}">
        <p14:creationId xmlns:p14="http://schemas.microsoft.com/office/powerpoint/2010/main" val="552207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212B09-89FE-4D8A-B296-7140278F97AB}"/>
              </a:ext>
            </a:extLst>
          </p:cNvPr>
          <p:cNvSpPr>
            <a:spLocks noGrp="1"/>
          </p:cNvSpPr>
          <p:nvPr>
            <p:ph idx="1"/>
          </p:nvPr>
        </p:nvSpPr>
        <p:spPr>
          <a:xfrm>
            <a:off x="921854" y="313899"/>
            <a:ext cx="10431945" cy="5858301"/>
          </a:xfrm>
        </p:spPr>
        <p:txBody>
          <a:bodyPr>
            <a:normAutofit fontScale="850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dirty="0"/>
              <a:t> </a:t>
            </a:r>
            <a:r>
              <a:rPr lang="en-US" b="1" dirty="0"/>
              <a:t>class</a:t>
            </a:r>
            <a:r>
              <a:rPr lang="en-US" dirty="0"/>
              <a:t> Employee {  </a:t>
            </a:r>
          </a:p>
          <a:p>
            <a:r>
              <a:rPr lang="en-US" dirty="0"/>
              <a:t>   </a:t>
            </a:r>
            <a:r>
              <a:rPr lang="en-US" b="1" dirty="0"/>
              <a:t>public</a:t>
            </a:r>
            <a:r>
              <a:rPr lang="en-US" dirty="0"/>
              <a:t>:  </a:t>
            </a:r>
          </a:p>
          <a:p>
            <a:r>
              <a:rPr lang="en-US" dirty="0"/>
              <a:t>   </a:t>
            </a:r>
            <a:r>
              <a:rPr lang="en-US" b="1" dirty="0"/>
              <a:t>float</a:t>
            </a:r>
            <a:r>
              <a:rPr lang="en-US" dirty="0"/>
              <a:t> salary = 60000;   </a:t>
            </a:r>
          </a:p>
          <a:p>
            <a:r>
              <a:rPr lang="en-US" dirty="0"/>
              <a:t> };  </a:t>
            </a:r>
          </a:p>
          <a:p>
            <a:r>
              <a:rPr lang="en-US" dirty="0"/>
              <a:t>   </a:t>
            </a:r>
            <a:r>
              <a:rPr lang="en-US" b="1" dirty="0"/>
              <a:t>class</a:t>
            </a:r>
            <a:r>
              <a:rPr lang="en-US" dirty="0"/>
              <a:t> Programmer: </a:t>
            </a:r>
            <a:r>
              <a:rPr lang="en-US" b="1" dirty="0"/>
              <a:t>public</a:t>
            </a:r>
            <a:r>
              <a:rPr lang="en-US" dirty="0"/>
              <a:t>  Employee  {  </a:t>
            </a:r>
          </a:p>
          <a:p>
            <a:r>
              <a:rPr lang="en-US" dirty="0"/>
              <a:t>   </a:t>
            </a:r>
            <a:r>
              <a:rPr lang="en-US" b="1" dirty="0"/>
              <a:t>public</a:t>
            </a:r>
            <a:r>
              <a:rPr lang="en-US" dirty="0"/>
              <a:t>:  </a:t>
            </a:r>
          </a:p>
          <a:p>
            <a:r>
              <a:rPr lang="en-US" dirty="0"/>
              <a:t>   </a:t>
            </a:r>
            <a:r>
              <a:rPr lang="en-US" b="1" dirty="0"/>
              <a:t>float</a:t>
            </a:r>
            <a:r>
              <a:rPr lang="en-US" dirty="0"/>
              <a:t> bonus = 5000;    </a:t>
            </a:r>
          </a:p>
          <a:p>
            <a:r>
              <a:rPr lang="en-US" dirty="0"/>
              <a:t>   };       </a:t>
            </a:r>
          </a:p>
          <a:p>
            <a:r>
              <a:rPr lang="en-US" b="1" dirty="0"/>
              <a:t>int</a:t>
            </a:r>
            <a:r>
              <a:rPr lang="en-US" dirty="0"/>
              <a:t> main(</a:t>
            </a:r>
            <a:r>
              <a:rPr lang="en-US" b="1" dirty="0"/>
              <a:t>void</a:t>
            </a:r>
            <a:r>
              <a:rPr lang="en-US" dirty="0"/>
              <a:t>) {  </a:t>
            </a:r>
          </a:p>
          <a:p>
            <a:r>
              <a:rPr lang="en-US" dirty="0"/>
              <a:t>     Programmer p1;  </a:t>
            </a:r>
          </a:p>
          <a:p>
            <a:r>
              <a:rPr lang="en-US" dirty="0"/>
              <a:t>     </a:t>
            </a:r>
            <a:r>
              <a:rPr lang="en-US" dirty="0" err="1"/>
              <a:t>cout</a:t>
            </a:r>
            <a:r>
              <a:rPr lang="en-US" dirty="0"/>
              <a:t>&lt;&lt;"Salary: "&lt;&lt;p1.salary&lt;&lt;</a:t>
            </a:r>
            <a:r>
              <a:rPr lang="en-US" dirty="0" err="1"/>
              <a:t>endl</a:t>
            </a:r>
            <a:r>
              <a:rPr lang="en-US" dirty="0"/>
              <a:t>;    </a:t>
            </a:r>
          </a:p>
          <a:p>
            <a:r>
              <a:rPr lang="en-US" dirty="0"/>
              <a:t>     </a:t>
            </a:r>
            <a:r>
              <a:rPr lang="en-US" dirty="0" err="1"/>
              <a:t>cout</a:t>
            </a:r>
            <a:r>
              <a:rPr lang="en-US" dirty="0"/>
              <a:t>&lt;&lt;"Bonus: "&lt;&lt;p1.bonus&lt;&lt;</a:t>
            </a:r>
            <a:r>
              <a:rPr lang="en-US" dirty="0" err="1"/>
              <a:t>endl</a:t>
            </a:r>
            <a:r>
              <a:rPr lang="en-US" dirty="0"/>
              <a:t>;    </a:t>
            </a:r>
          </a:p>
          <a:p>
            <a:r>
              <a:rPr lang="en-US" dirty="0"/>
              <a:t>    </a:t>
            </a:r>
            <a:r>
              <a:rPr lang="en-US" b="1" dirty="0"/>
              <a:t>return</a:t>
            </a:r>
            <a:r>
              <a:rPr lang="en-US" dirty="0"/>
              <a:t> 0;  </a:t>
            </a:r>
          </a:p>
          <a:p>
            <a:r>
              <a:rPr lang="en-US" dirty="0"/>
              <a:t>}  </a:t>
            </a:r>
          </a:p>
          <a:p>
            <a:endParaRPr lang="en-US" dirty="0"/>
          </a:p>
        </p:txBody>
      </p:sp>
      <p:sp>
        <p:nvSpPr>
          <p:cNvPr id="4" name="Date Placeholder 3">
            <a:extLst>
              <a:ext uri="{FF2B5EF4-FFF2-40B4-BE49-F238E27FC236}">
                <a16:creationId xmlns:a16="http://schemas.microsoft.com/office/drawing/2014/main" id="{8E9F1928-B3B1-4E2A-BCB5-572D02BE6F9A}"/>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C3D0E24-5B33-4EBB-96CC-59EB8EDD0B43}"/>
              </a:ext>
            </a:extLst>
          </p:cNvPr>
          <p:cNvSpPr>
            <a:spLocks noGrp="1"/>
          </p:cNvSpPr>
          <p:nvPr>
            <p:ph type="sldNum" sz="quarter" idx="12"/>
          </p:nvPr>
        </p:nvSpPr>
        <p:spPr/>
        <p:txBody>
          <a:bodyPr/>
          <a:lstStyle/>
          <a:p>
            <a:fld id="{D8DA9DAA-006C-4F4B-980E-E3DF019B24E2}" type="slidenum">
              <a:rPr lang="en-US" smtClean="0"/>
              <a:pPr/>
              <a:t>44</a:t>
            </a:fld>
            <a:endParaRPr lang="en-US" dirty="0"/>
          </a:p>
        </p:txBody>
      </p:sp>
      <p:sp>
        <p:nvSpPr>
          <p:cNvPr id="6" name="Rectangle 1">
            <a:extLst>
              <a:ext uri="{FF2B5EF4-FFF2-40B4-BE49-F238E27FC236}">
                <a16:creationId xmlns:a16="http://schemas.microsoft.com/office/drawing/2014/main" id="{666EB343-AD44-4963-A885-3014F91685F1}"/>
              </a:ext>
            </a:extLst>
          </p:cNvPr>
          <p:cNvSpPr>
            <a:spLocks noChangeArrowheads="1"/>
          </p:cNvSpPr>
          <p:nvPr/>
        </p:nvSpPr>
        <p:spPr bwMode="auto">
          <a:xfrm>
            <a:off x="6974006" y="3873508"/>
            <a:ext cx="4055065"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333333"/>
                </a:solidFill>
                <a:effectLst/>
                <a:latin typeface="inter-regular"/>
              </a:rPr>
              <a:t>Output:</a:t>
            </a: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a:rPr>
              <a:t>Salary: 60000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535559"/>
                </a:solidFill>
                <a:effectLst/>
                <a:latin typeface="Arial Unicode MS"/>
              </a:rPr>
              <a:t>Bonus: 5000</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535559"/>
              </a:solidFill>
              <a:effectLst/>
              <a:latin typeface="Arial Unicode MS"/>
            </a:endParaRPr>
          </a:p>
          <a:p>
            <a:pPr lvl="0" algn="just"/>
            <a:r>
              <a:rPr lang="en-US" dirty="0"/>
              <a:t>In the above example, Employee is the </a:t>
            </a:r>
            <a:r>
              <a:rPr lang="en-US" b="1" dirty="0"/>
              <a:t>base</a:t>
            </a:r>
            <a:r>
              <a:rPr lang="en-US" dirty="0"/>
              <a:t> class and Programmer is the </a:t>
            </a:r>
            <a:r>
              <a:rPr lang="en-US" b="1" dirty="0"/>
              <a:t>derived</a:t>
            </a:r>
            <a:r>
              <a:rPr lang="en-US" dirty="0"/>
              <a:t> class.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55212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2E13-91CB-40AD-807E-22ABF6BB121B}"/>
              </a:ext>
            </a:extLst>
          </p:cNvPr>
          <p:cNvSpPr>
            <a:spLocks noGrp="1"/>
          </p:cNvSpPr>
          <p:nvPr>
            <p:ph type="title"/>
          </p:nvPr>
        </p:nvSpPr>
        <p:spPr>
          <a:xfrm>
            <a:off x="270099" y="136525"/>
            <a:ext cx="10730837" cy="1179576"/>
          </a:xfrm>
        </p:spPr>
        <p:txBody>
          <a:bodyPr>
            <a:normAutofit fontScale="90000"/>
          </a:bodyPr>
          <a:lstStyle/>
          <a:p>
            <a:r>
              <a:rPr lang="en-US" b="1" dirty="0"/>
              <a:t>C++ Single Level Inheritance Example: Inheriting Methods</a:t>
            </a:r>
          </a:p>
        </p:txBody>
      </p:sp>
      <p:sp>
        <p:nvSpPr>
          <p:cNvPr id="3" name="Content Placeholder 2">
            <a:extLst>
              <a:ext uri="{FF2B5EF4-FFF2-40B4-BE49-F238E27FC236}">
                <a16:creationId xmlns:a16="http://schemas.microsoft.com/office/drawing/2014/main" id="{F74EE8A0-7430-4207-8CB4-3E8D90158E8F}"/>
              </a:ext>
            </a:extLst>
          </p:cNvPr>
          <p:cNvSpPr>
            <a:spLocks noGrp="1"/>
          </p:cNvSpPr>
          <p:nvPr>
            <p:ph idx="1"/>
          </p:nvPr>
        </p:nvSpPr>
        <p:spPr>
          <a:xfrm>
            <a:off x="450166" y="1460311"/>
            <a:ext cx="3910819" cy="4711890"/>
          </a:xfrm>
        </p:spPr>
        <p:txBody>
          <a:bodyPr>
            <a:normAutofit/>
          </a:bodyPr>
          <a:lstStyle/>
          <a:p>
            <a:r>
              <a:rPr lang="en-US" dirty="0"/>
              <a:t>#include &lt;iostream&gt;  </a:t>
            </a:r>
          </a:p>
          <a:p>
            <a:r>
              <a:rPr lang="en-US" dirty="0"/>
              <a:t>using namespace std;  </a:t>
            </a:r>
          </a:p>
          <a:p>
            <a:r>
              <a:rPr lang="en-US" dirty="0"/>
              <a:t> class Animal {  </a:t>
            </a:r>
          </a:p>
          <a:p>
            <a:r>
              <a:rPr lang="en-US" dirty="0"/>
              <a:t>   public:  </a:t>
            </a:r>
          </a:p>
          <a:p>
            <a:r>
              <a:rPr lang="en-US" dirty="0"/>
              <a:t> void eat() {   </a:t>
            </a:r>
          </a:p>
          <a:p>
            <a:r>
              <a:rPr lang="en-US" dirty="0"/>
              <a:t>    </a:t>
            </a:r>
            <a:r>
              <a:rPr lang="en-US" dirty="0" err="1"/>
              <a:t>cout</a:t>
            </a:r>
            <a:r>
              <a:rPr lang="en-US" dirty="0"/>
              <a:t>&lt;&lt;"Eating..."&lt;&lt;</a:t>
            </a:r>
            <a:r>
              <a:rPr lang="en-US" dirty="0" err="1"/>
              <a:t>endl</a:t>
            </a:r>
            <a:r>
              <a:rPr lang="en-US" dirty="0"/>
              <a:t>;   </a:t>
            </a:r>
          </a:p>
          <a:p>
            <a:r>
              <a:rPr lang="en-US" dirty="0"/>
              <a:t> }    </a:t>
            </a:r>
          </a:p>
          <a:p>
            <a:r>
              <a:rPr lang="en-US" dirty="0"/>
              <a:t>   };  </a:t>
            </a:r>
          </a:p>
          <a:p>
            <a:endParaRPr lang="en-US" dirty="0"/>
          </a:p>
        </p:txBody>
      </p:sp>
      <p:sp>
        <p:nvSpPr>
          <p:cNvPr id="4" name="Date Placeholder 3">
            <a:extLst>
              <a:ext uri="{FF2B5EF4-FFF2-40B4-BE49-F238E27FC236}">
                <a16:creationId xmlns:a16="http://schemas.microsoft.com/office/drawing/2014/main" id="{68663A9A-0E63-49A5-B0A3-33CD3A6250A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54BE77E-AEC4-4763-95B7-B208E9981588}"/>
              </a:ext>
            </a:extLst>
          </p:cNvPr>
          <p:cNvSpPr>
            <a:spLocks noGrp="1"/>
          </p:cNvSpPr>
          <p:nvPr>
            <p:ph type="sldNum" sz="quarter" idx="12"/>
          </p:nvPr>
        </p:nvSpPr>
        <p:spPr/>
        <p:txBody>
          <a:bodyPr/>
          <a:lstStyle/>
          <a:p>
            <a:fld id="{D8DA9DAA-006C-4F4B-980E-E3DF019B24E2}" type="slidenum">
              <a:rPr lang="en-US" smtClean="0"/>
              <a:pPr/>
              <a:t>45</a:t>
            </a:fld>
            <a:endParaRPr lang="en-US" dirty="0"/>
          </a:p>
        </p:txBody>
      </p:sp>
      <p:sp>
        <p:nvSpPr>
          <p:cNvPr id="6" name="Rectangle 5">
            <a:extLst>
              <a:ext uri="{FF2B5EF4-FFF2-40B4-BE49-F238E27FC236}">
                <a16:creationId xmlns:a16="http://schemas.microsoft.com/office/drawing/2014/main" id="{3E0B2AC6-B31A-4155-B95E-5DF8F63FE58F}"/>
              </a:ext>
            </a:extLst>
          </p:cNvPr>
          <p:cNvSpPr/>
          <p:nvPr/>
        </p:nvSpPr>
        <p:spPr>
          <a:xfrm>
            <a:off x="5050302" y="1316101"/>
            <a:ext cx="5261317" cy="3693319"/>
          </a:xfrm>
          <a:prstGeom prst="rect">
            <a:avLst/>
          </a:prstGeom>
        </p:spPr>
        <p:txBody>
          <a:bodyPr wrap="square">
            <a:spAutoFit/>
          </a:bodyPr>
          <a:lstStyle/>
          <a:p>
            <a:r>
              <a:rPr lang="en-US" dirty="0"/>
              <a:t> class Dog: public Animal    </a:t>
            </a:r>
          </a:p>
          <a:p>
            <a:r>
              <a:rPr lang="en-US" dirty="0"/>
              <a:t>   {    </a:t>
            </a:r>
          </a:p>
          <a:p>
            <a:r>
              <a:rPr lang="en-US" dirty="0"/>
              <a:t>       public:  </a:t>
            </a:r>
          </a:p>
          <a:p>
            <a:r>
              <a:rPr lang="en-US" dirty="0"/>
              <a:t>     void bark(){  </a:t>
            </a:r>
          </a:p>
          <a:p>
            <a:r>
              <a:rPr lang="en-US" dirty="0"/>
              <a:t>    </a:t>
            </a:r>
            <a:r>
              <a:rPr lang="en-US" dirty="0" err="1"/>
              <a:t>cout</a:t>
            </a:r>
            <a:r>
              <a:rPr lang="en-US" dirty="0"/>
              <a:t>&lt;&lt;"Barking...";   </a:t>
            </a:r>
          </a:p>
          <a:p>
            <a:r>
              <a:rPr lang="en-US" dirty="0"/>
              <a:t>     }    </a:t>
            </a:r>
          </a:p>
          <a:p>
            <a:r>
              <a:rPr lang="en-US" dirty="0"/>
              <a:t>   };   </a:t>
            </a:r>
          </a:p>
          <a:p>
            <a:r>
              <a:rPr lang="en-US" dirty="0"/>
              <a:t>int main(void) {  </a:t>
            </a:r>
          </a:p>
          <a:p>
            <a:r>
              <a:rPr lang="en-US" dirty="0"/>
              <a:t>    Dog d1;  </a:t>
            </a:r>
          </a:p>
          <a:p>
            <a:r>
              <a:rPr lang="en-US" dirty="0"/>
              <a:t>    d1.eat();  </a:t>
            </a:r>
          </a:p>
          <a:p>
            <a:r>
              <a:rPr lang="en-US" dirty="0"/>
              <a:t>    d1.bark();  </a:t>
            </a:r>
          </a:p>
          <a:p>
            <a:r>
              <a:rPr lang="en-US" dirty="0"/>
              <a:t>    return 0;  </a:t>
            </a:r>
          </a:p>
          <a:p>
            <a:r>
              <a:rPr lang="en-US" dirty="0"/>
              <a:t>} </a:t>
            </a:r>
          </a:p>
        </p:txBody>
      </p:sp>
      <p:sp>
        <p:nvSpPr>
          <p:cNvPr id="7" name="Rectangle 1">
            <a:extLst>
              <a:ext uri="{FF2B5EF4-FFF2-40B4-BE49-F238E27FC236}">
                <a16:creationId xmlns:a16="http://schemas.microsoft.com/office/drawing/2014/main" id="{6A224756-ED09-4815-881C-25C7DE5E7DFB}"/>
              </a:ext>
            </a:extLst>
          </p:cNvPr>
          <p:cNvSpPr>
            <a:spLocks noChangeArrowheads="1"/>
          </p:cNvSpPr>
          <p:nvPr/>
        </p:nvSpPr>
        <p:spPr bwMode="auto">
          <a:xfrm>
            <a:off x="661182" y="5467441"/>
            <a:ext cx="1033975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Output:</a:t>
            </a:r>
            <a:endParaRPr kumimoji="0" lang="en-US" altLang="en-US" sz="11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535559"/>
                </a:solidFill>
                <a:effectLst/>
                <a:latin typeface="Arial Unicode MS"/>
              </a:rPr>
              <a:t>Eating... Barking...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4454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B323D-8337-4B1F-A716-3F2226E76563}"/>
              </a:ext>
            </a:extLst>
          </p:cNvPr>
          <p:cNvSpPr>
            <a:spLocks noGrp="1"/>
          </p:cNvSpPr>
          <p:nvPr>
            <p:ph type="title"/>
          </p:nvPr>
        </p:nvSpPr>
        <p:spPr>
          <a:xfrm>
            <a:off x="463477" y="270499"/>
            <a:ext cx="9908821" cy="1179576"/>
          </a:xfrm>
        </p:spPr>
        <p:txBody>
          <a:bodyPr>
            <a:normAutofit fontScale="90000"/>
          </a:bodyPr>
          <a:lstStyle/>
          <a:p>
            <a:r>
              <a:rPr lang="en-US" b="1" dirty="0"/>
              <a:t>How to make a Private Member Inheritable</a:t>
            </a:r>
          </a:p>
        </p:txBody>
      </p:sp>
      <p:sp>
        <p:nvSpPr>
          <p:cNvPr id="3" name="Content Placeholder 2">
            <a:extLst>
              <a:ext uri="{FF2B5EF4-FFF2-40B4-BE49-F238E27FC236}">
                <a16:creationId xmlns:a16="http://schemas.microsoft.com/office/drawing/2014/main" id="{62E28C22-A126-45F0-BF8B-54C87A318038}"/>
              </a:ext>
            </a:extLst>
          </p:cNvPr>
          <p:cNvSpPr>
            <a:spLocks noGrp="1"/>
          </p:cNvSpPr>
          <p:nvPr>
            <p:ph idx="1"/>
          </p:nvPr>
        </p:nvSpPr>
        <p:spPr>
          <a:xfrm>
            <a:off x="850392" y="1719618"/>
            <a:ext cx="11341608" cy="4452582"/>
          </a:xfrm>
        </p:spPr>
        <p:txBody>
          <a:bodyPr>
            <a:normAutofit/>
          </a:bodyPr>
          <a:lstStyle/>
          <a:p>
            <a:r>
              <a:rPr lang="en-US" sz="2800" dirty="0"/>
              <a:t>The private member is not inheritable. If we modify the visibility mode by making it public, but this takes away the advantage of data hiding.</a:t>
            </a:r>
          </a:p>
          <a:p>
            <a:r>
              <a:rPr lang="en-US" sz="2800" dirty="0"/>
              <a:t>C++ introduces a third visibility modifier, i.e., </a:t>
            </a:r>
            <a:r>
              <a:rPr lang="en-US" sz="2800" b="1" dirty="0"/>
              <a:t>protected</a:t>
            </a:r>
            <a:r>
              <a:rPr lang="en-US" sz="2800" dirty="0"/>
              <a:t>. The member which is declared as protected will be accessible to all the member functions within the class as well as the class immediately derived from it.</a:t>
            </a:r>
          </a:p>
          <a:p>
            <a:r>
              <a:rPr lang="en-US" sz="2800" b="1" dirty="0"/>
              <a:t>Visibility modes can be classified into three categories:</a:t>
            </a:r>
            <a:endParaRPr lang="en-US" sz="2800" dirty="0"/>
          </a:p>
        </p:txBody>
      </p:sp>
      <p:sp>
        <p:nvSpPr>
          <p:cNvPr id="4" name="Date Placeholder 3">
            <a:extLst>
              <a:ext uri="{FF2B5EF4-FFF2-40B4-BE49-F238E27FC236}">
                <a16:creationId xmlns:a16="http://schemas.microsoft.com/office/drawing/2014/main" id="{99C4682B-11FC-481C-9D19-76F0BEF3994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A5BCA70-8328-4FF3-907D-679F3E4C5E84}"/>
              </a:ext>
            </a:extLst>
          </p:cNvPr>
          <p:cNvSpPr>
            <a:spLocks noGrp="1"/>
          </p:cNvSpPr>
          <p:nvPr>
            <p:ph type="sldNum" sz="quarter" idx="12"/>
          </p:nvPr>
        </p:nvSpPr>
        <p:spPr/>
        <p:txBody>
          <a:bodyPr/>
          <a:lstStyle/>
          <a:p>
            <a:fld id="{D8DA9DAA-006C-4F4B-980E-E3DF019B24E2}" type="slidenum">
              <a:rPr lang="en-US" smtClean="0"/>
              <a:pPr/>
              <a:t>46</a:t>
            </a:fld>
            <a:endParaRPr lang="en-US" dirty="0"/>
          </a:p>
        </p:txBody>
      </p:sp>
    </p:spTree>
    <p:extLst>
      <p:ext uri="{BB962C8B-B14F-4D97-AF65-F5344CB8AC3E}">
        <p14:creationId xmlns:p14="http://schemas.microsoft.com/office/powerpoint/2010/main" val="28516511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2B838C-B90F-4E37-83A2-F0938119278C}"/>
              </a:ext>
            </a:extLst>
          </p:cNvPr>
          <p:cNvSpPr>
            <a:spLocks noGrp="1"/>
          </p:cNvSpPr>
          <p:nvPr>
            <p:ph idx="1"/>
          </p:nvPr>
        </p:nvSpPr>
        <p:spPr>
          <a:xfrm>
            <a:off x="850392" y="0"/>
            <a:ext cx="11341608" cy="6172200"/>
          </a:xfrm>
        </p:spPr>
        <p:txBody>
          <a:bodyPr>
            <a:normAutofit lnSpcReduction="10000"/>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sz="2800" b="1" dirty="0"/>
              <a:t>Public</a:t>
            </a:r>
            <a:r>
              <a:rPr lang="en-US" sz="2800" dirty="0"/>
              <a:t>: When the member is declared as public, it is accessible to all the functions of the program.</a:t>
            </a:r>
          </a:p>
          <a:p>
            <a:r>
              <a:rPr lang="en-US" sz="2800" b="1" dirty="0"/>
              <a:t>Private</a:t>
            </a:r>
            <a:r>
              <a:rPr lang="en-US" sz="2800" dirty="0"/>
              <a:t>: When the member is declared as private, it is accessible within the class only.</a:t>
            </a:r>
          </a:p>
          <a:p>
            <a:r>
              <a:rPr lang="en-US" sz="2800" b="1" dirty="0"/>
              <a:t>Protected</a:t>
            </a:r>
            <a:r>
              <a:rPr lang="en-US" sz="2800" dirty="0"/>
              <a:t>: When the member is declared as protected, it is accessible within its own class as well as the class immediately derived from it.</a:t>
            </a:r>
          </a:p>
          <a:p>
            <a:endParaRPr lang="en-US" dirty="0"/>
          </a:p>
        </p:txBody>
      </p:sp>
      <p:sp>
        <p:nvSpPr>
          <p:cNvPr id="4" name="Date Placeholder 3">
            <a:extLst>
              <a:ext uri="{FF2B5EF4-FFF2-40B4-BE49-F238E27FC236}">
                <a16:creationId xmlns:a16="http://schemas.microsoft.com/office/drawing/2014/main" id="{36B8E427-8EEC-4D94-A9BB-3E005424432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308F68D-DE02-4695-92B4-D8DF048F3EA5}"/>
              </a:ext>
            </a:extLst>
          </p:cNvPr>
          <p:cNvSpPr>
            <a:spLocks noGrp="1"/>
          </p:cNvSpPr>
          <p:nvPr>
            <p:ph type="sldNum" sz="quarter" idx="12"/>
          </p:nvPr>
        </p:nvSpPr>
        <p:spPr/>
        <p:txBody>
          <a:bodyPr/>
          <a:lstStyle/>
          <a:p>
            <a:fld id="{D8DA9DAA-006C-4F4B-980E-E3DF019B24E2}" type="slidenum">
              <a:rPr lang="en-US" smtClean="0"/>
              <a:pPr/>
              <a:t>47</a:t>
            </a:fld>
            <a:endParaRPr lang="en-US" dirty="0"/>
          </a:p>
        </p:txBody>
      </p:sp>
      <p:pic>
        <p:nvPicPr>
          <p:cNvPr id="7" name="Picture 6">
            <a:extLst>
              <a:ext uri="{FF2B5EF4-FFF2-40B4-BE49-F238E27FC236}">
                <a16:creationId xmlns:a16="http://schemas.microsoft.com/office/drawing/2014/main" id="{E7D79EB3-70F9-4DAD-BD82-C64F0411D443}"/>
              </a:ext>
            </a:extLst>
          </p:cNvPr>
          <p:cNvPicPr>
            <a:picLocks noChangeAspect="1"/>
          </p:cNvPicPr>
          <p:nvPr/>
        </p:nvPicPr>
        <p:blipFill>
          <a:blip r:embed="rId2"/>
          <a:stretch>
            <a:fillRect/>
          </a:stretch>
        </p:blipFill>
        <p:spPr>
          <a:xfrm>
            <a:off x="3678213" y="998775"/>
            <a:ext cx="3171825" cy="1666875"/>
          </a:xfrm>
          <a:prstGeom prst="rect">
            <a:avLst/>
          </a:prstGeom>
        </p:spPr>
      </p:pic>
    </p:spTree>
    <p:extLst>
      <p:ext uri="{BB962C8B-B14F-4D97-AF65-F5344CB8AC3E}">
        <p14:creationId xmlns:p14="http://schemas.microsoft.com/office/powerpoint/2010/main" val="1768446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2D48-A725-4563-A5CD-4110FB8A685D}"/>
              </a:ext>
            </a:extLst>
          </p:cNvPr>
          <p:cNvSpPr>
            <a:spLocks noGrp="1"/>
          </p:cNvSpPr>
          <p:nvPr>
            <p:ph type="title"/>
          </p:nvPr>
        </p:nvSpPr>
        <p:spPr>
          <a:xfrm>
            <a:off x="722786" y="136525"/>
            <a:ext cx="10413788" cy="1179576"/>
          </a:xfrm>
        </p:spPr>
        <p:txBody>
          <a:bodyPr>
            <a:normAutofit/>
          </a:bodyPr>
          <a:lstStyle/>
          <a:p>
            <a:r>
              <a:rPr lang="en-US" b="1" dirty="0"/>
              <a:t>C++ Multilevel Inheritance</a:t>
            </a:r>
          </a:p>
        </p:txBody>
      </p:sp>
      <p:sp>
        <p:nvSpPr>
          <p:cNvPr id="3" name="Content Placeholder 2">
            <a:extLst>
              <a:ext uri="{FF2B5EF4-FFF2-40B4-BE49-F238E27FC236}">
                <a16:creationId xmlns:a16="http://schemas.microsoft.com/office/drawing/2014/main" id="{1B38CD49-C46D-4915-AB5A-721C69EAF3A6}"/>
              </a:ext>
            </a:extLst>
          </p:cNvPr>
          <p:cNvSpPr>
            <a:spLocks noGrp="1"/>
          </p:cNvSpPr>
          <p:nvPr>
            <p:ph idx="1"/>
          </p:nvPr>
        </p:nvSpPr>
        <p:spPr>
          <a:xfrm>
            <a:off x="850392" y="1316101"/>
            <a:ext cx="11036808" cy="4856099"/>
          </a:xfrm>
        </p:spPr>
        <p:txBody>
          <a:bodyPr/>
          <a:lstStyle/>
          <a:p>
            <a:r>
              <a:rPr lang="en-US" sz="2800" b="1" dirty="0"/>
              <a:t>Multilevel inheritance</a:t>
            </a:r>
            <a:r>
              <a:rPr lang="en-US" sz="2800" dirty="0"/>
              <a:t> is a process of deriving a class from another derived class.</a:t>
            </a:r>
          </a:p>
          <a:p>
            <a:endParaRPr lang="en-US" dirty="0"/>
          </a:p>
        </p:txBody>
      </p:sp>
      <p:sp>
        <p:nvSpPr>
          <p:cNvPr id="4" name="Date Placeholder 3">
            <a:extLst>
              <a:ext uri="{FF2B5EF4-FFF2-40B4-BE49-F238E27FC236}">
                <a16:creationId xmlns:a16="http://schemas.microsoft.com/office/drawing/2014/main" id="{5A224BA2-99FD-4E5F-BE67-505097C5C1C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DF17D97-A51B-49A0-BB35-D2C96BADAE68}"/>
              </a:ext>
            </a:extLst>
          </p:cNvPr>
          <p:cNvSpPr>
            <a:spLocks noGrp="1"/>
          </p:cNvSpPr>
          <p:nvPr>
            <p:ph type="sldNum" sz="quarter" idx="12"/>
          </p:nvPr>
        </p:nvSpPr>
        <p:spPr/>
        <p:txBody>
          <a:bodyPr/>
          <a:lstStyle/>
          <a:p>
            <a:fld id="{D8DA9DAA-006C-4F4B-980E-E3DF019B24E2}" type="slidenum">
              <a:rPr lang="en-US" smtClean="0"/>
              <a:pPr/>
              <a:t>48</a:t>
            </a:fld>
            <a:endParaRPr lang="en-US" dirty="0"/>
          </a:p>
        </p:txBody>
      </p:sp>
      <p:pic>
        <p:nvPicPr>
          <p:cNvPr id="6" name="Picture 5">
            <a:extLst>
              <a:ext uri="{FF2B5EF4-FFF2-40B4-BE49-F238E27FC236}">
                <a16:creationId xmlns:a16="http://schemas.microsoft.com/office/drawing/2014/main" id="{7C1A95F6-CC5D-46AD-9056-9ECC6F5A1510}"/>
              </a:ext>
            </a:extLst>
          </p:cNvPr>
          <p:cNvPicPr>
            <a:picLocks noChangeAspect="1"/>
          </p:cNvPicPr>
          <p:nvPr/>
        </p:nvPicPr>
        <p:blipFill>
          <a:blip r:embed="rId2"/>
          <a:stretch>
            <a:fillRect/>
          </a:stretch>
        </p:blipFill>
        <p:spPr>
          <a:xfrm>
            <a:off x="5695950" y="1905000"/>
            <a:ext cx="800100" cy="3048000"/>
          </a:xfrm>
          <a:prstGeom prst="rect">
            <a:avLst/>
          </a:prstGeom>
        </p:spPr>
      </p:pic>
    </p:spTree>
    <p:extLst>
      <p:ext uri="{BB962C8B-B14F-4D97-AF65-F5344CB8AC3E}">
        <p14:creationId xmlns:p14="http://schemas.microsoft.com/office/powerpoint/2010/main" val="2174764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6CEBA-A459-428A-B24A-12BF14D90143}"/>
              </a:ext>
            </a:extLst>
          </p:cNvPr>
          <p:cNvSpPr>
            <a:spLocks noGrp="1"/>
          </p:cNvSpPr>
          <p:nvPr>
            <p:ph type="title"/>
          </p:nvPr>
        </p:nvSpPr>
        <p:spPr>
          <a:xfrm>
            <a:off x="838200" y="302434"/>
            <a:ext cx="9362910" cy="766731"/>
          </a:xfrm>
        </p:spPr>
        <p:txBody>
          <a:bodyPr>
            <a:normAutofit fontScale="90000"/>
          </a:bodyPr>
          <a:lstStyle/>
          <a:p>
            <a:r>
              <a:rPr lang="en-US" b="1" dirty="0"/>
              <a:t>C++ Multi Level Inheritance Example</a:t>
            </a:r>
          </a:p>
        </p:txBody>
      </p:sp>
      <p:sp>
        <p:nvSpPr>
          <p:cNvPr id="3" name="Content Placeholder 2">
            <a:extLst>
              <a:ext uri="{FF2B5EF4-FFF2-40B4-BE49-F238E27FC236}">
                <a16:creationId xmlns:a16="http://schemas.microsoft.com/office/drawing/2014/main" id="{AD68EDED-872E-4E0D-AEDD-405CCDFB55A1}"/>
              </a:ext>
            </a:extLst>
          </p:cNvPr>
          <p:cNvSpPr>
            <a:spLocks noGrp="1"/>
          </p:cNvSpPr>
          <p:nvPr>
            <p:ph idx="1"/>
          </p:nvPr>
        </p:nvSpPr>
        <p:spPr>
          <a:xfrm>
            <a:off x="850392" y="1214651"/>
            <a:ext cx="10503408" cy="4957549"/>
          </a:xfrm>
        </p:spPr>
        <p:txBody>
          <a:bodyPr/>
          <a:lstStyle/>
          <a:p>
            <a:r>
              <a:rPr lang="en-US" sz="2800" dirty="0"/>
              <a:t>When one class inherits another class which is further inherited by another class, it is known as multi level inheritance in C++. Inheritance is transitive so the last derived class acquires all the members of all its base classes.</a:t>
            </a:r>
          </a:p>
          <a:p>
            <a:r>
              <a:rPr lang="en-US" sz="2800" dirty="0"/>
              <a:t>Let's see the example of multi level inheritance in C++.</a:t>
            </a:r>
          </a:p>
          <a:p>
            <a:endParaRPr lang="en-US" dirty="0"/>
          </a:p>
        </p:txBody>
      </p:sp>
      <p:sp>
        <p:nvSpPr>
          <p:cNvPr id="4" name="Date Placeholder 3">
            <a:extLst>
              <a:ext uri="{FF2B5EF4-FFF2-40B4-BE49-F238E27FC236}">
                <a16:creationId xmlns:a16="http://schemas.microsoft.com/office/drawing/2014/main" id="{A7A786C0-0F1A-4936-B233-91358BDE5ABA}"/>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B1C6759-7A31-4128-9B09-F8B65B3CB212}"/>
              </a:ext>
            </a:extLst>
          </p:cNvPr>
          <p:cNvSpPr>
            <a:spLocks noGrp="1"/>
          </p:cNvSpPr>
          <p:nvPr>
            <p:ph type="sldNum" sz="quarter" idx="12"/>
          </p:nvPr>
        </p:nvSpPr>
        <p:spPr/>
        <p:txBody>
          <a:bodyPr/>
          <a:lstStyle/>
          <a:p>
            <a:fld id="{D8DA9DAA-006C-4F4B-980E-E3DF019B24E2}" type="slidenum">
              <a:rPr lang="en-US" smtClean="0"/>
              <a:pPr/>
              <a:t>49</a:t>
            </a:fld>
            <a:endParaRPr lang="en-US" dirty="0"/>
          </a:p>
        </p:txBody>
      </p:sp>
    </p:spTree>
    <p:extLst>
      <p:ext uri="{BB962C8B-B14F-4D97-AF65-F5344CB8AC3E}">
        <p14:creationId xmlns:p14="http://schemas.microsoft.com/office/powerpoint/2010/main" val="29600842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B311A0-A127-4814-AEA8-4D8CD74F3308}"/>
              </a:ext>
            </a:extLst>
          </p:cNvPr>
          <p:cNvSpPr>
            <a:spLocks noGrp="1"/>
          </p:cNvSpPr>
          <p:nvPr>
            <p:ph idx="1"/>
          </p:nvPr>
        </p:nvSpPr>
        <p:spPr>
          <a:xfrm>
            <a:off x="850393" y="436728"/>
            <a:ext cx="3009650" cy="4445854"/>
          </a:xfrm>
        </p:spPr>
        <p:txBody>
          <a:bodyPr>
            <a:normAutofit/>
          </a:bodyPr>
          <a:lstStyle/>
          <a:p>
            <a:r>
              <a:rPr lang="en-US" dirty="0"/>
              <a:t>#include &lt;iostream&gt;  </a:t>
            </a:r>
          </a:p>
          <a:p>
            <a:r>
              <a:rPr lang="en-US" b="1" dirty="0"/>
              <a:t>using</a:t>
            </a:r>
            <a:r>
              <a:rPr lang="en-US" dirty="0"/>
              <a:t> </a:t>
            </a:r>
            <a:r>
              <a:rPr lang="en-US" b="1" dirty="0"/>
              <a:t>namespace</a:t>
            </a:r>
            <a:r>
              <a:rPr lang="en-US" dirty="0"/>
              <a:t> std;  </a:t>
            </a:r>
          </a:p>
          <a:p>
            <a:r>
              <a:rPr lang="en-US" dirty="0"/>
              <a:t> </a:t>
            </a:r>
            <a:r>
              <a:rPr lang="en-US" b="1" dirty="0"/>
              <a:t>class</a:t>
            </a:r>
            <a:r>
              <a:rPr lang="en-US" dirty="0"/>
              <a:t> Animal {  </a:t>
            </a:r>
          </a:p>
          <a:p>
            <a:r>
              <a:rPr lang="en-US" dirty="0"/>
              <a:t>   </a:t>
            </a:r>
            <a:r>
              <a:rPr lang="en-US" b="1" dirty="0"/>
              <a:t>public</a:t>
            </a:r>
            <a:r>
              <a:rPr lang="en-US" dirty="0"/>
              <a:t>:  </a:t>
            </a:r>
          </a:p>
          <a:p>
            <a:r>
              <a:rPr lang="en-US" dirty="0"/>
              <a:t> </a:t>
            </a:r>
            <a:r>
              <a:rPr lang="en-US" b="1" dirty="0"/>
              <a:t>void</a:t>
            </a:r>
            <a:r>
              <a:rPr lang="en-US" dirty="0"/>
              <a:t> eat() {   </a:t>
            </a:r>
          </a:p>
          <a:p>
            <a:r>
              <a:rPr lang="en-US" dirty="0"/>
              <a:t>    </a:t>
            </a:r>
            <a:r>
              <a:rPr lang="en-US" dirty="0" err="1"/>
              <a:t>cout</a:t>
            </a:r>
            <a:r>
              <a:rPr lang="en-US" dirty="0"/>
              <a:t>&lt;&lt;"Eating..."&lt;&lt;</a:t>
            </a:r>
            <a:r>
              <a:rPr lang="en-US" dirty="0" err="1"/>
              <a:t>endl</a:t>
            </a:r>
            <a:r>
              <a:rPr lang="en-US" dirty="0"/>
              <a:t>;   </a:t>
            </a:r>
          </a:p>
          <a:p>
            <a:r>
              <a:rPr lang="en-US" dirty="0"/>
              <a:t> }    </a:t>
            </a:r>
          </a:p>
          <a:p>
            <a:r>
              <a:rPr lang="en-US" dirty="0"/>
              <a:t>   };  </a:t>
            </a:r>
          </a:p>
          <a:p>
            <a:endParaRPr lang="en-US" dirty="0"/>
          </a:p>
        </p:txBody>
      </p:sp>
      <p:sp>
        <p:nvSpPr>
          <p:cNvPr id="4" name="Date Placeholder 3">
            <a:extLst>
              <a:ext uri="{FF2B5EF4-FFF2-40B4-BE49-F238E27FC236}">
                <a16:creationId xmlns:a16="http://schemas.microsoft.com/office/drawing/2014/main" id="{361E30C2-3408-4EEF-97DF-C3A25619695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7E197025-9312-4DD0-8351-57AF95F33516}"/>
              </a:ext>
            </a:extLst>
          </p:cNvPr>
          <p:cNvSpPr>
            <a:spLocks noGrp="1"/>
          </p:cNvSpPr>
          <p:nvPr>
            <p:ph type="sldNum" sz="quarter" idx="12"/>
          </p:nvPr>
        </p:nvSpPr>
        <p:spPr/>
        <p:txBody>
          <a:bodyPr/>
          <a:lstStyle/>
          <a:p>
            <a:fld id="{D8DA9DAA-006C-4F4B-980E-E3DF019B24E2}" type="slidenum">
              <a:rPr lang="en-US" smtClean="0"/>
              <a:pPr/>
              <a:t>50</a:t>
            </a:fld>
            <a:endParaRPr lang="en-US" dirty="0"/>
          </a:p>
        </p:txBody>
      </p:sp>
      <p:sp>
        <p:nvSpPr>
          <p:cNvPr id="6" name="Rectangle 5">
            <a:extLst>
              <a:ext uri="{FF2B5EF4-FFF2-40B4-BE49-F238E27FC236}">
                <a16:creationId xmlns:a16="http://schemas.microsoft.com/office/drawing/2014/main" id="{00B459CD-7B72-4F44-BE9B-D82A6E875EBD}"/>
              </a:ext>
            </a:extLst>
          </p:cNvPr>
          <p:cNvSpPr/>
          <p:nvPr/>
        </p:nvSpPr>
        <p:spPr>
          <a:xfrm>
            <a:off x="3860042" y="436728"/>
            <a:ext cx="3236794" cy="2031325"/>
          </a:xfrm>
          <a:prstGeom prst="rect">
            <a:avLst/>
          </a:prstGeom>
        </p:spPr>
        <p:txBody>
          <a:bodyPr wrap="square">
            <a:spAutoFit/>
          </a:bodyPr>
          <a:lstStyle/>
          <a:p>
            <a:pPr algn="just"/>
            <a:r>
              <a:rPr lang="en-US" dirty="0">
                <a:solidFill>
                  <a:srgbClr val="000000"/>
                </a:solidFill>
                <a:latin typeface="inter-regular"/>
              </a:rPr>
              <a:t> </a:t>
            </a:r>
            <a:r>
              <a:rPr lang="en-US" b="1" dirty="0">
                <a:solidFill>
                  <a:srgbClr val="006699"/>
                </a:solidFill>
                <a:latin typeface="inter-regular"/>
              </a:rPr>
              <a:t>class</a:t>
            </a:r>
            <a:r>
              <a:rPr lang="en-US" dirty="0">
                <a:solidFill>
                  <a:srgbClr val="000000"/>
                </a:solidFill>
                <a:latin typeface="inter-regular"/>
              </a:rPr>
              <a:t> Dog: </a:t>
            </a:r>
            <a:r>
              <a:rPr lang="en-US" b="1" dirty="0">
                <a:solidFill>
                  <a:srgbClr val="006699"/>
                </a:solidFill>
                <a:latin typeface="inter-regular"/>
              </a:rPr>
              <a:t>public</a:t>
            </a:r>
            <a:r>
              <a:rPr lang="en-US" dirty="0">
                <a:solidFill>
                  <a:srgbClr val="000000"/>
                </a:solidFill>
                <a:latin typeface="inter-regular"/>
              </a:rPr>
              <a:t> Animal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bark(){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"Barking..."</a:t>
            </a:r>
            <a:r>
              <a:rPr lang="en-US" dirty="0">
                <a:solidFill>
                  <a:srgbClr val="000000"/>
                </a:solidFill>
                <a:latin typeface="inter-regular"/>
              </a:rPr>
              <a:t>&lt;&lt;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A9F66415-9091-4000-A51D-13E0162EED7F}"/>
              </a:ext>
            </a:extLst>
          </p:cNvPr>
          <p:cNvSpPr/>
          <p:nvPr/>
        </p:nvSpPr>
        <p:spPr>
          <a:xfrm>
            <a:off x="7724632" y="436728"/>
            <a:ext cx="4467367" cy="3970318"/>
          </a:xfrm>
          <a:prstGeom prst="rect">
            <a:avLst/>
          </a:prstGeom>
        </p:spPr>
        <p:txBody>
          <a:bodyPr wrap="square">
            <a:spAutoFit/>
          </a:bodyPr>
          <a:lstStyle/>
          <a:p>
            <a:pPr algn="just"/>
            <a:r>
              <a:rPr lang="en-US" dirty="0">
                <a:solidFill>
                  <a:srgbClr val="000000"/>
                </a:solidFill>
                <a:latin typeface="inter-regular"/>
              </a:rPr>
              <a:t> </a:t>
            </a:r>
            <a:r>
              <a:rPr lang="en-US" b="1" dirty="0">
                <a:solidFill>
                  <a:srgbClr val="006699"/>
                </a:solidFill>
                <a:latin typeface="inter-regular"/>
              </a:rPr>
              <a:t>class</a:t>
            </a:r>
            <a:r>
              <a:rPr lang="en-US" dirty="0">
                <a:solidFill>
                  <a:srgbClr val="000000"/>
                </a:solidFill>
                <a:latin typeface="inter-regular"/>
              </a:rPr>
              <a:t> </a:t>
            </a:r>
            <a:r>
              <a:rPr lang="en-US" dirty="0" err="1">
                <a:solidFill>
                  <a:srgbClr val="000000"/>
                </a:solidFill>
                <a:latin typeface="inter-regular"/>
              </a:rPr>
              <a:t>BabyDog</a:t>
            </a:r>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Dog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weep()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"Weeping..."</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   </a:t>
            </a:r>
          </a:p>
          <a:p>
            <a:pPr algn="just"/>
            <a:r>
              <a:rPr lang="en-US" b="1" dirty="0">
                <a:solidFill>
                  <a:srgbClr val="2E8B57"/>
                </a:solidFill>
                <a:latin typeface="inter-regular"/>
              </a:rPr>
              <a:t> 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BabyDog</a:t>
            </a:r>
            <a:r>
              <a:rPr lang="en-US" dirty="0">
                <a:solidFill>
                  <a:srgbClr val="000000"/>
                </a:solidFill>
                <a:latin typeface="inter-regular"/>
              </a:rPr>
              <a:t> d1;  </a:t>
            </a:r>
          </a:p>
          <a:p>
            <a:pPr algn="just"/>
            <a:r>
              <a:rPr lang="en-US" dirty="0">
                <a:solidFill>
                  <a:srgbClr val="000000"/>
                </a:solidFill>
                <a:latin typeface="inter-regular"/>
              </a:rPr>
              <a:t>    d1.eat();  </a:t>
            </a:r>
          </a:p>
          <a:p>
            <a:pPr algn="just"/>
            <a:r>
              <a:rPr lang="en-US" dirty="0">
                <a:solidFill>
                  <a:srgbClr val="000000"/>
                </a:solidFill>
                <a:latin typeface="inter-regular"/>
              </a:rPr>
              <a:t>    d1.bark();  </a:t>
            </a:r>
          </a:p>
          <a:p>
            <a:pPr algn="just"/>
            <a:r>
              <a:rPr lang="en-US" dirty="0">
                <a:solidFill>
                  <a:srgbClr val="000000"/>
                </a:solidFill>
                <a:latin typeface="inter-regular"/>
              </a:rPr>
              <a:t>     d1.weep();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1">
            <a:extLst>
              <a:ext uri="{FF2B5EF4-FFF2-40B4-BE49-F238E27FC236}">
                <a16:creationId xmlns:a16="http://schemas.microsoft.com/office/drawing/2014/main" id="{F8FEE440-8CDE-4E93-B295-3588A2A69348}"/>
              </a:ext>
            </a:extLst>
          </p:cNvPr>
          <p:cNvSpPr>
            <a:spLocks noChangeArrowheads="1"/>
          </p:cNvSpPr>
          <p:nvPr/>
        </p:nvSpPr>
        <p:spPr bwMode="auto">
          <a:xfrm>
            <a:off x="968991" y="5250134"/>
            <a:ext cx="999016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inter-regular"/>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Eating...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Barking...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Weeping...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23459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128-351A-4CE7-82E7-4905E449B35E}"/>
              </a:ext>
            </a:extLst>
          </p:cNvPr>
          <p:cNvSpPr>
            <a:spLocks noGrp="1"/>
          </p:cNvSpPr>
          <p:nvPr>
            <p:ph type="title"/>
          </p:nvPr>
        </p:nvSpPr>
        <p:spPr>
          <a:xfrm>
            <a:off x="616150" y="377497"/>
            <a:ext cx="10959699" cy="616606"/>
          </a:xfrm>
        </p:spPr>
        <p:txBody>
          <a:bodyPr>
            <a:normAutofit fontScale="90000"/>
          </a:bodyPr>
          <a:lstStyle/>
          <a:p>
            <a:r>
              <a:rPr lang="en-US" b="1" dirty="0"/>
              <a:t>C++ Multiple Inheritance</a:t>
            </a:r>
          </a:p>
        </p:txBody>
      </p:sp>
      <p:sp>
        <p:nvSpPr>
          <p:cNvPr id="3" name="Content Placeholder 2">
            <a:extLst>
              <a:ext uri="{FF2B5EF4-FFF2-40B4-BE49-F238E27FC236}">
                <a16:creationId xmlns:a16="http://schemas.microsoft.com/office/drawing/2014/main" id="{37422192-32E1-4F9F-80EC-814D1502D086}"/>
              </a:ext>
            </a:extLst>
          </p:cNvPr>
          <p:cNvSpPr>
            <a:spLocks noGrp="1"/>
          </p:cNvSpPr>
          <p:nvPr>
            <p:ph idx="1"/>
          </p:nvPr>
        </p:nvSpPr>
        <p:spPr>
          <a:xfrm>
            <a:off x="850391" y="1364776"/>
            <a:ext cx="11186933" cy="4807424"/>
          </a:xfrm>
        </p:spPr>
        <p:txBody>
          <a:bodyPr>
            <a:normAutofit/>
          </a:bodyPr>
          <a:lstStyle/>
          <a:p>
            <a:r>
              <a:rPr lang="en-US" sz="2800" b="1" dirty="0"/>
              <a:t>Multiple inheritance</a:t>
            </a:r>
            <a:r>
              <a:rPr lang="en-US" sz="2800" dirty="0"/>
              <a:t> is the process of deriving a new class that inherits the attributes from two or more classes.</a:t>
            </a:r>
          </a:p>
        </p:txBody>
      </p:sp>
      <p:sp>
        <p:nvSpPr>
          <p:cNvPr id="4" name="Date Placeholder 3">
            <a:extLst>
              <a:ext uri="{FF2B5EF4-FFF2-40B4-BE49-F238E27FC236}">
                <a16:creationId xmlns:a16="http://schemas.microsoft.com/office/drawing/2014/main" id="{FB5D1E05-5BCC-400E-A8C7-2F8379E1A9A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6980A2E-D993-4F80-A629-B867C3A6221E}"/>
              </a:ext>
            </a:extLst>
          </p:cNvPr>
          <p:cNvSpPr>
            <a:spLocks noGrp="1"/>
          </p:cNvSpPr>
          <p:nvPr>
            <p:ph type="sldNum" sz="quarter" idx="12"/>
          </p:nvPr>
        </p:nvSpPr>
        <p:spPr/>
        <p:txBody>
          <a:bodyPr/>
          <a:lstStyle/>
          <a:p>
            <a:fld id="{D8DA9DAA-006C-4F4B-980E-E3DF019B24E2}" type="slidenum">
              <a:rPr lang="en-US" smtClean="0"/>
              <a:pPr/>
              <a:t>51</a:t>
            </a:fld>
            <a:endParaRPr lang="en-US" dirty="0"/>
          </a:p>
        </p:txBody>
      </p:sp>
      <p:pic>
        <p:nvPicPr>
          <p:cNvPr id="6" name="Picture 5">
            <a:extLst>
              <a:ext uri="{FF2B5EF4-FFF2-40B4-BE49-F238E27FC236}">
                <a16:creationId xmlns:a16="http://schemas.microsoft.com/office/drawing/2014/main" id="{EFD87CB3-DD1D-4875-836D-5AB70F44D109}"/>
              </a:ext>
            </a:extLst>
          </p:cNvPr>
          <p:cNvPicPr>
            <a:picLocks noChangeAspect="1"/>
          </p:cNvPicPr>
          <p:nvPr/>
        </p:nvPicPr>
        <p:blipFill>
          <a:blip r:embed="rId2"/>
          <a:stretch>
            <a:fillRect/>
          </a:stretch>
        </p:blipFill>
        <p:spPr>
          <a:xfrm>
            <a:off x="1162903" y="3036220"/>
            <a:ext cx="3124200" cy="1724025"/>
          </a:xfrm>
          <a:prstGeom prst="rect">
            <a:avLst/>
          </a:prstGeom>
        </p:spPr>
      </p:pic>
      <p:sp>
        <p:nvSpPr>
          <p:cNvPr id="7" name="Rectangle 6">
            <a:extLst>
              <a:ext uri="{FF2B5EF4-FFF2-40B4-BE49-F238E27FC236}">
                <a16:creationId xmlns:a16="http://schemas.microsoft.com/office/drawing/2014/main" id="{3907F8C6-861B-4A2E-80A0-94FED6658CE3}"/>
              </a:ext>
            </a:extLst>
          </p:cNvPr>
          <p:cNvSpPr/>
          <p:nvPr/>
        </p:nvSpPr>
        <p:spPr>
          <a:xfrm>
            <a:off x="5308249" y="2798063"/>
            <a:ext cx="5965778" cy="1754326"/>
          </a:xfrm>
          <a:prstGeom prst="rect">
            <a:avLst/>
          </a:prstGeom>
        </p:spPr>
        <p:txBody>
          <a:bodyPr wrap="square">
            <a:spAutoFit/>
          </a:bodyPr>
          <a:lstStyle/>
          <a:p>
            <a:pPr algn="just"/>
            <a:r>
              <a:rPr lang="en-US" b="1" dirty="0">
                <a:solidFill>
                  <a:srgbClr val="333333"/>
                </a:solidFill>
                <a:latin typeface="inter-bold"/>
              </a:rPr>
              <a:t>Syntax of the Derived class:</a:t>
            </a:r>
          </a:p>
          <a:p>
            <a:pPr algn="just"/>
            <a:endParaRPr lang="en-US" dirty="0">
              <a:solidFill>
                <a:srgbClr val="333333"/>
              </a:solidFill>
              <a:latin typeface="inter-regular"/>
            </a:endParaRPr>
          </a:p>
          <a:p>
            <a:pPr algn="just"/>
            <a:r>
              <a:rPr lang="en-US" b="1" dirty="0">
                <a:solidFill>
                  <a:srgbClr val="006699"/>
                </a:solidFill>
                <a:latin typeface="inter-regular"/>
              </a:rPr>
              <a:t>class</a:t>
            </a:r>
            <a:r>
              <a:rPr lang="en-US" dirty="0">
                <a:solidFill>
                  <a:srgbClr val="000000"/>
                </a:solidFill>
                <a:latin typeface="inter-regular"/>
              </a:rPr>
              <a:t> D : visibility B-1, visibility B-2, ?  </a:t>
            </a:r>
          </a:p>
          <a:p>
            <a:pPr algn="just"/>
            <a:r>
              <a:rPr lang="en-US" dirty="0">
                <a:solidFill>
                  <a:srgbClr val="000000"/>
                </a:solidFill>
                <a:latin typeface="inter-regular"/>
              </a:rPr>
              <a:t>{  </a:t>
            </a:r>
          </a:p>
          <a:p>
            <a:pPr algn="just"/>
            <a:r>
              <a:rPr lang="en-US" dirty="0">
                <a:solidFill>
                  <a:srgbClr val="000000"/>
                </a:solidFill>
                <a:latin typeface="inter-regular"/>
              </a:rPr>
              <a:t>    </a:t>
            </a:r>
            <a:r>
              <a:rPr lang="en-US" dirty="0">
                <a:solidFill>
                  <a:srgbClr val="008200"/>
                </a:solidFill>
                <a:latin typeface="inter-regular"/>
              </a:rPr>
              <a:t>// Body of the class;</a:t>
            </a:r>
            <a:r>
              <a:rPr lang="en-US" dirty="0">
                <a:solidFill>
                  <a:srgbClr val="000000"/>
                </a:solidFill>
                <a:latin typeface="inter-regular"/>
              </a:rPr>
              <a:t>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4874301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595E527-9627-4899-968A-15C3A169796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0B8FAE03-64B0-4D68-8B74-317315C9BF2C}"/>
              </a:ext>
            </a:extLst>
          </p:cNvPr>
          <p:cNvSpPr>
            <a:spLocks noGrp="1"/>
          </p:cNvSpPr>
          <p:nvPr>
            <p:ph type="sldNum" sz="quarter" idx="12"/>
          </p:nvPr>
        </p:nvSpPr>
        <p:spPr/>
        <p:txBody>
          <a:bodyPr/>
          <a:lstStyle/>
          <a:p>
            <a:fld id="{D8DA9DAA-006C-4F4B-980E-E3DF019B24E2}" type="slidenum">
              <a:rPr lang="en-US" smtClean="0"/>
              <a:pPr/>
              <a:t>52</a:t>
            </a:fld>
            <a:endParaRPr lang="en-US" dirty="0"/>
          </a:p>
        </p:txBody>
      </p:sp>
      <p:sp>
        <p:nvSpPr>
          <p:cNvPr id="7" name="Rectangle 6">
            <a:extLst>
              <a:ext uri="{FF2B5EF4-FFF2-40B4-BE49-F238E27FC236}">
                <a16:creationId xmlns:a16="http://schemas.microsoft.com/office/drawing/2014/main" id="{FD3631B6-E9F8-4BAB-8713-D8789F2DEE8D}"/>
              </a:ext>
            </a:extLst>
          </p:cNvPr>
          <p:cNvSpPr/>
          <p:nvPr/>
        </p:nvSpPr>
        <p:spPr>
          <a:xfrm>
            <a:off x="168323" y="301473"/>
            <a:ext cx="6096000" cy="3416320"/>
          </a:xfrm>
          <a:prstGeom prst="rect">
            <a:avLst/>
          </a:prstGeom>
        </p:spPr>
        <p:txBody>
          <a:bodyPr>
            <a:spAutoFit/>
          </a:bodyPr>
          <a:lstStyle/>
          <a:p>
            <a:r>
              <a:rPr lang="en-US" dirty="0"/>
              <a:t>#include &lt;iostream&gt;  </a:t>
            </a:r>
          </a:p>
          <a:p>
            <a:r>
              <a:rPr lang="en-US" dirty="0"/>
              <a:t>using namespace std;  </a:t>
            </a:r>
          </a:p>
          <a:p>
            <a:r>
              <a:rPr lang="en-US" dirty="0"/>
              <a:t>class A  </a:t>
            </a:r>
          </a:p>
          <a:p>
            <a:r>
              <a:rPr lang="en-US" dirty="0"/>
              <a:t>{  </a:t>
            </a:r>
          </a:p>
          <a:p>
            <a:r>
              <a:rPr lang="en-US" dirty="0"/>
              <a:t>    protected:  </a:t>
            </a:r>
          </a:p>
          <a:p>
            <a:r>
              <a:rPr lang="en-US" dirty="0"/>
              <a:t>     int a;  </a:t>
            </a:r>
          </a:p>
          <a:p>
            <a:r>
              <a:rPr lang="en-US" dirty="0"/>
              <a:t>    public:  </a:t>
            </a:r>
          </a:p>
          <a:p>
            <a:r>
              <a:rPr lang="en-US" dirty="0"/>
              <a:t>    void </a:t>
            </a:r>
            <a:r>
              <a:rPr lang="en-US" dirty="0" err="1"/>
              <a:t>get_a</a:t>
            </a:r>
            <a:r>
              <a:rPr lang="en-US" dirty="0"/>
              <a:t>(int n)  </a:t>
            </a:r>
          </a:p>
          <a:p>
            <a:r>
              <a:rPr lang="en-US" dirty="0"/>
              <a:t>    {  </a:t>
            </a:r>
          </a:p>
          <a:p>
            <a:r>
              <a:rPr lang="en-US" dirty="0"/>
              <a:t>        a = n;  </a:t>
            </a:r>
          </a:p>
          <a:p>
            <a:r>
              <a:rPr lang="en-US" dirty="0"/>
              <a:t>    }  </a:t>
            </a:r>
          </a:p>
          <a:p>
            <a:r>
              <a:rPr lang="en-US" dirty="0"/>
              <a:t>}; </a:t>
            </a:r>
          </a:p>
        </p:txBody>
      </p:sp>
      <p:sp>
        <p:nvSpPr>
          <p:cNvPr id="8" name="Rectangle 7">
            <a:extLst>
              <a:ext uri="{FF2B5EF4-FFF2-40B4-BE49-F238E27FC236}">
                <a16:creationId xmlns:a16="http://schemas.microsoft.com/office/drawing/2014/main" id="{A1451EBA-7B6E-4B41-BEA4-7AB80038CA3D}"/>
              </a:ext>
            </a:extLst>
          </p:cNvPr>
          <p:cNvSpPr/>
          <p:nvPr/>
        </p:nvSpPr>
        <p:spPr>
          <a:xfrm>
            <a:off x="2925170" y="332181"/>
            <a:ext cx="2738651" cy="2862322"/>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B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protected</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b;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a:t>
            </a:r>
            <a:r>
              <a:rPr lang="en-US" dirty="0" err="1">
                <a:solidFill>
                  <a:srgbClr val="000000"/>
                </a:solidFill>
                <a:latin typeface="inter-regular"/>
              </a:rPr>
              <a:t>get_b</a:t>
            </a:r>
            <a:r>
              <a:rPr lang="en-US" dirty="0">
                <a:solidFill>
                  <a:srgbClr val="000000"/>
                </a:solidFill>
                <a:latin typeface="inter-regular"/>
              </a:rPr>
              <a:t>(</a:t>
            </a:r>
            <a:r>
              <a:rPr lang="en-US" b="1" dirty="0">
                <a:solidFill>
                  <a:srgbClr val="2E8B57"/>
                </a:solidFill>
                <a:latin typeface="inter-regular"/>
              </a:rPr>
              <a:t>int</a:t>
            </a:r>
            <a:r>
              <a:rPr lang="en-US" dirty="0">
                <a:solidFill>
                  <a:srgbClr val="000000"/>
                </a:solidFill>
                <a:latin typeface="inter-regular"/>
              </a:rPr>
              <a:t> n)  </a:t>
            </a:r>
          </a:p>
          <a:p>
            <a:pPr algn="just"/>
            <a:r>
              <a:rPr lang="en-US" dirty="0">
                <a:solidFill>
                  <a:srgbClr val="000000"/>
                </a:solidFill>
                <a:latin typeface="inter-regular"/>
              </a:rPr>
              <a:t>    {  </a:t>
            </a:r>
          </a:p>
          <a:p>
            <a:pPr algn="just"/>
            <a:r>
              <a:rPr lang="en-US" dirty="0">
                <a:solidFill>
                  <a:srgbClr val="000000"/>
                </a:solidFill>
                <a:latin typeface="inter-regular"/>
              </a:rPr>
              <a:t>        b = n;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9" name="Rectangle 8">
            <a:extLst>
              <a:ext uri="{FF2B5EF4-FFF2-40B4-BE49-F238E27FC236}">
                <a16:creationId xmlns:a16="http://schemas.microsoft.com/office/drawing/2014/main" id="{E0063EEC-9DBA-4935-823D-95563F6A61E5}"/>
              </a:ext>
            </a:extLst>
          </p:cNvPr>
          <p:cNvSpPr/>
          <p:nvPr/>
        </p:nvSpPr>
        <p:spPr>
          <a:xfrm>
            <a:off x="5450005" y="337447"/>
            <a:ext cx="6741995" cy="2862322"/>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C : </a:t>
            </a:r>
            <a:r>
              <a:rPr lang="en-US" b="1" dirty="0">
                <a:solidFill>
                  <a:srgbClr val="006699"/>
                </a:solidFill>
                <a:latin typeface="inter-regular"/>
              </a:rPr>
              <a:t>public</a:t>
            </a:r>
            <a:r>
              <a:rPr lang="en-US" dirty="0">
                <a:solidFill>
                  <a:srgbClr val="000000"/>
                </a:solidFill>
                <a:latin typeface="inter-regular"/>
              </a:rPr>
              <a:t> </a:t>
            </a:r>
            <a:r>
              <a:rPr lang="en-US" dirty="0" err="1">
                <a:solidFill>
                  <a:srgbClr val="000000"/>
                </a:solidFill>
                <a:latin typeface="inter-regular"/>
              </a:rPr>
              <a:t>A,</a:t>
            </a:r>
            <a:r>
              <a:rPr lang="en-US" b="1" dirty="0" err="1">
                <a:solidFill>
                  <a:srgbClr val="006699"/>
                </a:solidFill>
                <a:latin typeface="inter-regular"/>
              </a:rPr>
              <a:t>public</a:t>
            </a:r>
            <a:r>
              <a:rPr lang="en-US" dirty="0">
                <a:solidFill>
                  <a:srgbClr val="000000"/>
                </a:solidFill>
                <a:latin typeface="inter-regular"/>
              </a:rPr>
              <a:t> B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"The value of a is : "</a:t>
            </a:r>
            <a:r>
              <a:rPr lang="en-US" dirty="0">
                <a:solidFill>
                  <a:srgbClr val="000000"/>
                </a:solidFill>
                <a:latin typeface="inter-regular"/>
              </a:rPr>
              <a:t> &lt;&lt;a&lt;&lt;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"The value of b is : "</a:t>
            </a:r>
            <a:r>
              <a:rPr lang="en-US" dirty="0">
                <a:solidFill>
                  <a:srgbClr val="000000"/>
                </a:solidFill>
                <a:latin typeface="inter-regular"/>
              </a:rPr>
              <a:t> &lt;&lt;b&lt;&lt;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"Addition of a and b is : "</a:t>
            </a:r>
            <a:r>
              <a:rPr lang="en-US" dirty="0">
                <a:solidFill>
                  <a:srgbClr val="000000"/>
                </a:solidFill>
                <a:latin typeface="inter-regular"/>
              </a:rPr>
              <a:t>&lt;&lt;</a:t>
            </a:r>
            <a:r>
              <a:rPr lang="en-US" dirty="0" err="1">
                <a:solidFill>
                  <a:srgbClr val="000000"/>
                </a:solidFill>
                <a:latin typeface="inter-regular"/>
              </a:rPr>
              <a:t>a+b</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10" name="Rectangle 9">
            <a:extLst>
              <a:ext uri="{FF2B5EF4-FFF2-40B4-BE49-F238E27FC236}">
                <a16:creationId xmlns:a16="http://schemas.microsoft.com/office/drawing/2014/main" id="{1293BA8A-15C6-4054-8049-C909A87F40FB}"/>
              </a:ext>
            </a:extLst>
          </p:cNvPr>
          <p:cNvSpPr/>
          <p:nvPr/>
        </p:nvSpPr>
        <p:spPr>
          <a:xfrm>
            <a:off x="277505" y="3753767"/>
            <a:ext cx="6096000" cy="2585323"/>
          </a:xfrm>
          <a:prstGeom prst="rect">
            <a:avLst/>
          </a:prstGeom>
        </p:spPr>
        <p:txBody>
          <a:bodyPr>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C </a:t>
            </a:r>
            <a:r>
              <a:rPr lang="en-US" dirty="0" err="1">
                <a:solidFill>
                  <a:srgbClr val="000000"/>
                </a:solidFill>
                <a:latin typeface="inter-regular"/>
              </a:rPr>
              <a:t>c</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c.get_a</a:t>
            </a:r>
            <a:r>
              <a:rPr lang="en-US" dirty="0">
                <a:solidFill>
                  <a:srgbClr val="000000"/>
                </a:solidFill>
                <a:latin typeface="inter-regular"/>
              </a:rPr>
              <a:t>(10);  </a:t>
            </a:r>
          </a:p>
          <a:p>
            <a:pPr algn="just"/>
            <a:r>
              <a:rPr lang="en-US" dirty="0">
                <a:solidFill>
                  <a:srgbClr val="000000"/>
                </a:solidFill>
                <a:latin typeface="inter-regular"/>
              </a:rPr>
              <a:t>   </a:t>
            </a:r>
            <a:r>
              <a:rPr lang="en-US" dirty="0" err="1">
                <a:solidFill>
                  <a:srgbClr val="000000"/>
                </a:solidFill>
                <a:latin typeface="inter-regular"/>
              </a:rPr>
              <a:t>c.get_b</a:t>
            </a:r>
            <a:r>
              <a:rPr lang="en-US" dirty="0">
                <a:solidFill>
                  <a:srgbClr val="000000"/>
                </a:solidFill>
                <a:latin typeface="inter-regular"/>
              </a:rPr>
              <a:t>(20);  </a:t>
            </a:r>
          </a:p>
          <a:p>
            <a:pPr algn="just"/>
            <a:r>
              <a:rPr lang="en-US" dirty="0">
                <a:solidFill>
                  <a:srgbClr val="000000"/>
                </a:solidFill>
                <a:latin typeface="inter-regular"/>
              </a:rPr>
              <a:t>   </a:t>
            </a:r>
            <a:r>
              <a:rPr lang="en-US" dirty="0" err="1">
                <a:solidFill>
                  <a:srgbClr val="000000"/>
                </a:solidFill>
                <a:latin typeface="inter-regular"/>
              </a:rPr>
              <a:t>c.display</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buFont typeface="+mj-lt"/>
              <a:buAutoNum type="arabicPeriod"/>
            </a:pPr>
            <a:r>
              <a:rPr lang="en-US" dirty="0">
                <a:solidFill>
                  <a:srgbClr val="000000"/>
                </a:solidFill>
                <a:latin typeface="inter-regular"/>
              </a:rPr>
              <a:t>}  </a:t>
            </a:r>
            <a:endParaRPr lang="en-US" b="0" i="0" dirty="0">
              <a:solidFill>
                <a:srgbClr val="000000"/>
              </a:solidFill>
              <a:effectLst/>
              <a:latin typeface="inter-regular"/>
            </a:endParaRPr>
          </a:p>
        </p:txBody>
      </p:sp>
      <p:sp>
        <p:nvSpPr>
          <p:cNvPr id="11" name="Rectangle 1">
            <a:extLst>
              <a:ext uri="{FF2B5EF4-FFF2-40B4-BE49-F238E27FC236}">
                <a16:creationId xmlns:a16="http://schemas.microsoft.com/office/drawing/2014/main" id="{24CDB7C8-DEE4-4210-B136-F8701997F908}"/>
              </a:ext>
            </a:extLst>
          </p:cNvPr>
          <p:cNvSpPr>
            <a:spLocks noChangeArrowheads="1"/>
          </p:cNvSpPr>
          <p:nvPr/>
        </p:nvSpPr>
        <p:spPr bwMode="auto">
          <a:xfrm>
            <a:off x="3886200" y="4446264"/>
            <a:ext cx="7467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inter-regular"/>
              </a:rPr>
              <a:t>Output:</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535559"/>
                </a:solidFill>
                <a:effectLst/>
                <a:latin typeface="Arial Unicode MS"/>
              </a:rPr>
              <a:t>The value of a is : 10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535559"/>
                </a:solidFill>
                <a:effectLst/>
                <a:latin typeface="Arial Unicode MS"/>
              </a:rPr>
              <a:t>The value of b is : 20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535559"/>
                </a:solidFill>
                <a:effectLst/>
                <a:latin typeface="Arial Unicode MS"/>
              </a:rPr>
              <a:t>Addition of a and b is : 30</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33957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F7595-5D66-4B19-9C3B-58009470F117}"/>
              </a:ext>
            </a:extLst>
          </p:cNvPr>
          <p:cNvSpPr>
            <a:spLocks noGrp="1"/>
          </p:cNvSpPr>
          <p:nvPr>
            <p:ph type="title"/>
          </p:nvPr>
        </p:nvSpPr>
        <p:spPr>
          <a:xfrm>
            <a:off x="613603" y="420624"/>
            <a:ext cx="9731400" cy="930504"/>
          </a:xfrm>
        </p:spPr>
        <p:txBody>
          <a:bodyPr>
            <a:normAutofit fontScale="90000"/>
          </a:bodyPr>
          <a:lstStyle/>
          <a:p>
            <a:r>
              <a:rPr lang="en-US" b="1" dirty="0"/>
              <a:t>Ambiguity</a:t>
            </a:r>
            <a:r>
              <a:rPr lang="en-US" dirty="0"/>
              <a:t> </a:t>
            </a:r>
            <a:r>
              <a:rPr lang="en-US" b="1" dirty="0"/>
              <a:t>Resolution</a:t>
            </a:r>
            <a:r>
              <a:rPr lang="en-US" dirty="0"/>
              <a:t> </a:t>
            </a:r>
            <a:r>
              <a:rPr lang="en-US" b="1" dirty="0"/>
              <a:t>in</a:t>
            </a:r>
            <a:r>
              <a:rPr lang="en-US" dirty="0"/>
              <a:t> </a:t>
            </a:r>
            <a:r>
              <a:rPr lang="en-US" b="1" dirty="0"/>
              <a:t>Inheritance</a:t>
            </a:r>
          </a:p>
        </p:txBody>
      </p:sp>
      <p:sp>
        <p:nvSpPr>
          <p:cNvPr id="3" name="Content Placeholder 2">
            <a:extLst>
              <a:ext uri="{FF2B5EF4-FFF2-40B4-BE49-F238E27FC236}">
                <a16:creationId xmlns:a16="http://schemas.microsoft.com/office/drawing/2014/main" id="{FA14E8CD-16F3-46A3-BD2B-BBDA7C754A6E}"/>
              </a:ext>
            </a:extLst>
          </p:cNvPr>
          <p:cNvSpPr>
            <a:spLocks noGrp="1"/>
          </p:cNvSpPr>
          <p:nvPr>
            <p:ph idx="1"/>
          </p:nvPr>
        </p:nvSpPr>
        <p:spPr>
          <a:xfrm>
            <a:off x="613603" y="1474368"/>
            <a:ext cx="10503408" cy="3346704"/>
          </a:xfrm>
        </p:spPr>
        <p:txBody>
          <a:bodyPr>
            <a:normAutofit/>
          </a:bodyPr>
          <a:lstStyle/>
          <a:p>
            <a:r>
              <a:rPr lang="en-US" sz="2800" dirty="0"/>
              <a:t>Ambiguity can be occurred in using the multiple inheritance when a function with the same name occurs in more than one base class.</a:t>
            </a:r>
          </a:p>
          <a:p>
            <a:r>
              <a:rPr lang="en-US" sz="2800" dirty="0"/>
              <a:t>Let's understand this through an example:</a:t>
            </a:r>
          </a:p>
        </p:txBody>
      </p:sp>
      <p:sp>
        <p:nvSpPr>
          <p:cNvPr id="4" name="Date Placeholder 3">
            <a:extLst>
              <a:ext uri="{FF2B5EF4-FFF2-40B4-BE49-F238E27FC236}">
                <a16:creationId xmlns:a16="http://schemas.microsoft.com/office/drawing/2014/main" id="{968E3CFE-249E-4294-B225-F6F52ADF96DD}"/>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E3934D55-13D4-443B-8464-DF6CD962FFF0}"/>
              </a:ext>
            </a:extLst>
          </p:cNvPr>
          <p:cNvSpPr>
            <a:spLocks noGrp="1"/>
          </p:cNvSpPr>
          <p:nvPr>
            <p:ph type="sldNum" sz="quarter" idx="12"/>
          </p:nvPr>
        </p:nvSpPr>
        <p:spPr/>
        <p:txBody>
          <a:bodyPr/>
          <a:lstStyle/>
          <a:p>
            <a:fld id="{D8DA9DAA-006C-4F4B-980E-E3DF019B24E2}" type="slidenum">
              <a:rPr lang="en-US" smtClean="0"/>
              <a:pPr/>
              <a:t>53</a:t>
            </a:fld>
            <a:endParaRPr lang="en-US" dirty="0"/>
          </a:p>
        </p:txBody>
      </p:sp>
    </p:spTree>
    <p:extLst>
      <p:ext uri="{BB962C8B-B14F-4D97-AF65-F5344CB8AC3E}">
        <p14:creationId xmlns:p14="http://schemas.microsoft.com/office/powerpoint/2010/main" val="29415538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7D7D0D1-7361-4AB2-B148-3982B6AB85B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0572557-E352-4EE3-8C62-9DDD76161858}"/>
              </a:ext>
            </a:extLst>
          </p:cNvPr>
          <p:cNvSpPr>
            <a:spLocks noGrp="1"/>
          </p:cNvSpPr>
          <p:nvPr>
            <p:ph type="sldNum" sz="quarter" idx="12"/>
          </p:nvPr>
        </p:nvSpPr>
        <p:spPr/>
        <p:txBody>
          <a:bodyPr/>
          <a:lstStyle/>
          <a:p>
            <a:fld id="{D8DA9DAA-006C-4F4B-980E-E3DF019B24E2}" type="slidenum">
              <a:rPr lang="en-US" smtClean="0"/>
              <a:pPr/>
              <a:t>54</a:t>
            </a:fld>
            <a:endParaRPr lang="en-US" dirty="0"/>
          </a:p>
        </p:txBody>
      </p:sp>
      <p:sp>
        <p:nvSpPr>
          <p:cNvPr id="6" name="Rectangle 5">
            <a:extLst>
              <a:ext uri="{FF2B5EF4-FFF2-40B4-BE49-F238E27FC236}">
                <a16:creationId xmlns:a16="http://schemas.microsoft.com/office/drawing/2014/main" id="{9AAF93E1-642E-4BCB-914D-F60883F01DF4}"/>
              </a:ext>
            </a:extLst>
          </p:cNvPr>
          <p:cNvSpPr/>
          <p:nvPr/>
        </p:nvSpPr>
        <p:spPr>
          <a:xfrm>
            <a:off x="122830" y="833992"/>
            <a:ext cx="6096000" cy="2862322"/>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"Class A"</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0852DA1F-BEBD-4B2C-9063-1B0B608D1D36}"/>
              </a:ext>
            </a:extLst>
          </p:cNvPr>
          <p:cNvSpPr/>
          <p:nvPr/>
        </p:nvSpPr>
        <p:spPr>
          <a:xfrm>
            <a:off x="4194411" y="455642"/>
            <a:ext cx="4048837" cy="2308324"/>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B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"Class B"</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7">
            <a:extLst>
              <a:ext uri="{FF2B5EF4-FFF2-40B4-BE49-F238E27FC236}">
                <a16:creationId xmlns:a16="http://schemas.microsoft.com/office/drawing/2014/main" id="{6FDDFA06-5AD5-40C3-9AA4-24A62651D579}"/>
              </a:ext>
            </a:extLst>
          </p:cNvPr>
          <p:cNvSpPr/>
          <p:nvPr/>
        </p:nvSpPr>
        <p:spPr>
          <a:xfrm>
            <a:off x="8243248" y="455642"/>
            <a:ext cx="3343702" cy="3693319"/>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C : </a:t>
            </a:r>
            <a:r>
              <a:rPr lang="en-US" b="1" dirty="0">
                <a:solidFill>
                  <a:srgbClr val="006699"/>
                </a:solidFill>
                <a:latin typeface="inter-regular"/>
              </a:rPr>
              <a:t>public</a:t>
            </a:r>
            <a:r>
              <a:rPr lang="en-US" dirty="0">
                <a:solidFill>
                  <a:srgbClr val="000000"/>
                </a:solidFill>
                <a:latin typeface="inter-regular"/>
              </a:rPr>
              <a:t> A, </a:t>
            </a:r>
            <a:r>
              <a:rPr lang="en-US" b="1" dirty="0">
                <a:solidFill>
                  <a:srgbClr val="006699"/>
                </a:solidFill>
                <a:latin typeface="inter-regular"/>
              </a:rPr>
              <a:t>public</a:t>
            </a:r>
            <a:r>
              <a:rPr lang="en-US" dirty="0">
                <a:solidFill>
                  <a:srgbClr val="000000"/>
                </a:solidFill>
                <a:latin typeface="inter-regular"/>
              </a:rPr>
              <a:t> B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view()  </a:t>
            </a:r>
          </a:p>
          <a:p>
            <a:pPr algn="just"/>
            <a:r>
              <a:rPr lang="en-US" dirty="0">
                <a:solidFill>
                  <a:srgbClr val="000000"/>
                </a:solidFill>
                <a:latin typeface="inter-regular"/>
              </a:rPr>
              <a:t>    {  </a:t>
            </a:r>
          </a:p>
          <a:p>
            <a:pPr algn="just"/>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C </a:t>
            </a:r>
            <a:r>
              <a:rPr lang="en-US" dirty="0" err="1">
                <a:solidFill>
                  <a:srgbClr val="000000"/>
                </a:solidFill>
                <a:latin typeface="inter-regular"/>
              </a:rPr>
              <a:t>c</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c.display</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9" name="Rectangle 1">
            <a:extLst>
              <a:ext uri="{FF2B5EF4-FFF2-40B4-BE49-F238E27FC236}">
                <a16:creationId xmlns:a16="http://schemas.microsoft.com/office/drawing/2014/main" id="{D1C7F012-A9F3-45D6-A5ED-AD64F4DA37E0}"/>
              </a:ext>
            </a:extLst>
          </p:cNvPr>
          <p:cNvSpPr>
            <a:spLocks noChangeArrowheads="1"/>
          </p:cNvSpPr>
          <p:nvPr/>
        </p:nvSpPr>
        <p:spPr bwMode="auto">
          <a:xfrm>
            <a:off x="450376" y="5081309"/>
            <a:ext cx="1064525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inter-regular"/>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error: reference to 'display' is ambiguous display();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82732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EFC87-6795-4DC1-8684-52B488143530}"/>
              </a:ext>
            </a:extLst>
          </p:cNvPr>
          <p:cNvSpPr>
            <a:spLocks noGrp="1"/>
          </p:cNvSpPr>
          <p:nvPr>
            <p:ph type="title"/>
          </p:nvPr>
        </p:nvSpPr>
        <p:spPr>
          <a:xfrm>
            <a:off x="300250" y="136525"/>
            <a:ext cx="11591499" cy="1179576"/>
          </a:xfrm>
        </p:spPr>
        <p:txBody>
          <a:bodyPr>
            <a:noAutofit/>
          </a:bodyPr>
          <a:lstStyle/>
          <a:p>
            <a:r>
              <a:rPr lang="en-US" sz="2800" dirty="0"/>
              <a:t>The above issue can be resolved by using the class resolution operator with the function. In the above example, the derived class code can be rewritten as:</a:t>
            </a:r>
          </a:p>
        </p:txBody>
      </p:sp>
      <p:sp>
        <p:nvSpPr>
          <p:cNvPr id="3" name="Content Placeholder 2">
            <a:extLst>
              <a:ext uri="{FF2B5EF4-FFF2-40B4-BE49-F238E27FC236}">
                <a16:creationId xmlns:a16="http://schemas.microsoft.com/office/drawing/2014/main" id="{90693873-0D70-4A60-98D9-204D4B9897F1}"/>
              </a:ext>
            </a:extLst>
          </p:cNvPr>
          <p:cNvSpPr>
            <a:spLocks noGrp="1"/>
          </p:cNvSpPr>
          <p:nvPr>
            <p:ph idx="1"/>
          </p:nvPr>
        </p:nvSpPr>
        <p:spPr>
          <a:xfrm>
            <a:off x="491319" y="1719618"/>
            <a:ext cx="11013744" cy="4452582"/>
          </a:xfrm>
        </p:spPr>
        <p:txBody>
          <a:bodyPr>
            <a:normAutofit/>
          </a:bodyPr>
          <a:lstStyle/>
          <a:p>
            <a:r>
              <a:rPr lang="en-US" b="1" dirty="0"/>
              <a:t>class</a:t>
            </a:r>
            <a:r>
              <a:rPr lang="en-US" dirty="0"/>
              <a:t> C : </a:t>
            </a:r>
            <a:r>
              <a:rPr lang="en-US" b="1" dirty="0"/>
              <a:t>public</a:t>
            </a:r>
            <a:r>
              <a:rPr lang="en-US" dirty="0"/>
              <a:t> A, </a:t>
            </a:r>
            <a:r>
              <a:rPr lang="en-US" b="1" dirty="0"/>
              <a:t>public</a:t>
            </a:r>
            <a:r>
              <a:rPr lang="en-US" dirty="0"/>
              <a:t> B  </a:t>
            </a:r>
          </a:p>
          <a:p>
            <a:r>
              <a:rPr lang="en-US" dirty="0"/>
              <a:t>{  </a:t>
            </a:r>
          </a:p>
          <a:p>
            <a:r>
              <a:rPr lang="en-US" dirty="0"/>
              <a:t>    </a:t>
            </a:r>
            <a:r>
              <a:rPr lang="en-US" b="1" dirty="0"/>
              <a:t>void</a:t>
            </a:r>
            <a:r>
              <a:rPr lang="en-US" dirty="0"/>
              <a:t> view()  </a:t>
            </a:r>
          </a:p>
          <a:p>
            <a:r>
              <a:rPr lang="en-US" dirty="0"/>
              <a:t>    {  </a:t>
            </a:r>
          </a:p>
          <a:p>
            <a:r>
              <a:rPr lang="en-US" dirty="0"/>
              <a:t>        A :: display();         // Calling the display() function of class A.  </a:t>
            </a:r>
          </a:p>
          <a:p>
            <a:r>
              <a:rPr lang="en-US" dirty="0"/>
              <a:t>        B :: display();         // Calling the display() function of class B.  </a:t>
            </a:r>
          </a:p>
          <a:p>
            <a:r>
              <a:rPr lang="en-US" dirty="0"/>
              <a:t>  </a:t>
            </a:r>
          </a:p>
          <a:p>
            <a:r>
              <a:rPr lang="en-US" dirty="0"/>
              <a:t>    }  </a:t>
            </a:r>
          </a:p>
          <a:p>
            <a:r>
              <a:rPr lang="en-US" dirty="0"/>
              <a:t>};  </a:t>
            </a:r>
          </a:p>
          <a:p>
            <a:endParaRPr lang="en-US" dirty="0"/>
          </a:p>
        </p:txBody>
      </p:sp>
      <p:sp>
        <p:nvSpPr>
          <p:cNvPr id="4" name="Date Placeholder 3">
            <a:extLst>
              <a:ext uri="{FF2B5EF4-FFF2-40B4-BE49-F238E27FC236}">
                <a16:creationId xmlns:a16="http://schemas.microsoft.com/office/drawing/2014/main" id="{FF64BE87-8376-4503-923C-D61F3F14613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81F139A-ED09-4A9C-B7E3-F3CB988E0338}"/>
              </a:ext>
            </a:extLst>
          </p:cNvPr>
          <p:cNvSpPr>
            <a:spLocks noGrp="1"/>
          </p:cNvSpPr>
          <p:nvPr>
            <p:ph type="sldNum" sz="quarter" idx="12"/>
          </p:nvPr>
        </p:nvSpPr>
        <p:spPr/>
        <p:txBody>
          <a:bodyPr/>
          <a:lstStyle/>
          <a:p>
            <a:fld id="{D8DA9DAA-006C-4F4B-980E-E3DF019B24E2}" type="slidenum">
              <a:rPr lang="en-US" smtClean="0"/>
              <a:pPr/>
              <a:t>55</a:t>
            </a:fld>
            <a:endParaRPr lang="en-US" dirty="0"/>
          </a:p>
        </p:txBody>
      </p:sp>
    </p:spTree>
    <p:extLst>
      <p:ext uri="{BB962C8B-B14F-4D97-AF65-F5344CB8AC3E}">
        <p14:creationId xmlns:p14="http://schemas.microsoft.com/office/powerpoint/2010/main" val="26201159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4D4A2-A2D1-483A-BFFE-3449DCA10D7E}"/>
              </a:ext>
            </a:extLst>
          </p:cNvPr>
          <p:cNvSpPr>
            <a:spLocks noGrp="1"/>
          </p:cNvSpPr>
          <p:nvPr>
            <p:ph type="title"/>
          </p:nvPr>
        </p:nvSpPr>
        <p:spPr>
          <a:xfrm>
            <a:off x="572659" y="338738"/>
            <a:ext cx="9990707" cy="916857"/>
          </a:xfrm>
        </p:spPr>
        <p:txBody>
          <a:bodyPr>
            <a:normAutofit/>
          </a:bodyPr>
          <a:lstStyle/>
          <a:p>
            <a:r>
              <a:rPr lang="en-US" dirty="0"/>
              <a:t>C++ Hybrid </a:t>
            </a:r>
            <a:r>
              <a:rPr lang="en-US" dirty="0" err="1"/>
              <a:t>Inheritence</a:t>
            </a:r>
            <a:endParaRPr lang="en-US" dirty="0"/>
          </a:p>
        </p:txBody>
      </p:sp>
      <p:sp>
        <p:nvSpPr>
          <p:cNvPr id="3" name="Content Placeholder 2">
            <a:extLst>
              <a:ext uri="{FF2B5EF4-FFF2-40B4-BE49-F238E27FC236}">
                <a16:creationId xmlns:a16="http://schemas.microsoft.com/office/drawing/2014/main" id="{89DF7E8E-96EB-4DF8-8F7B-FA6B1595D88C}"/>
              </a:ext>
            </a:extLst>
          </p:cNvPr>
          <p:cNvSpPr>
            <a:spLocks noGrp="1"/>
          </p:cNvSpPr>
          <p:nvPr>
            <p:ph idx="1"/>
          </p:nvPr>
        </p:nvSpPr>
        <p:spPr>
          <a:xfrm>
            <a:off x="850391" y="1569493"/>
            <a:ext cx="10845739" cy="4602707"/>
          </a:xfrm>
        </p:spPr>
        <p:txBody>
          <a:bodyPr/>
          <a:lstStyle/>
          <a:p>
            <a:r>
              <a:rPr lang="en-US" dirty="0"/>
              <a:t>Hybrid inheritance is a combination of more than one type of inheritance.</a:t>
            </a:r>
          </a:p>
          <a:p>
            <a:endParaRPr lang="en-US" dirty="0"/>
          </a:p>
        </p:txBody>
      </p:sp>
      <p:sp>
        <p:nvSpPr>
          <p:cNvPr id="4" name="Date Placeholder 3">
            <a:extLst>
              <a:ext uri="{FF2B5EF4-FFF2-40B4-BE49-F238E27FC236}">
                <a16:creationId xmlns:a16="http://schemas.microsoft.com/office/drawing/2014/main" id="{FB2CBF66-8B61-4AA9-A216-24834A064F9D}"/>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DE1600B-CB91-4E1F-8FCA-90C412967F6E}"/>
              </a:ext>
            </a:extLst>
          </p:cNvPr>
          <p:cNvSpPr>
            <a:spLocks noGrp="1"/>
          </p:cNvSpPr>
          <p:nvPr>
            <p:ph type="sldNum" sz="quarter" idx="12"/>
          </p:nvPr>
        </p:nvSpPr>
        <p:spPr/>
        <p:txBody>
          <a:bodyPr/>
          <a:lstStyle/>
          <a:p>
            <a:fld id="{D8DA9DAA-006C-4F4B-980E-E3DF019B24E2}" type="slidenum">
              <a:rPr lang="en-US" smtClean="0"/>
              <a:pPr/>
              <a:t>56</a:t>
            </a:fld>
            <a:endParaRPr lang="en-US" dirty="0"/>
          </a:p>
        </p:txBody>
      </p:sp>
      <p:pic>
        <p:nvPicPr>
          <p:cNvPr id="6" name="Picture 5">
            <a:extLst>
              <a:ext uri="{FF2B5EF4-FFF2-40B4-BE49-F238E27FC236}">
                <a16:creationId xmlns:a16="http://schemas.microsoft.com/office/drawing/2014/main" id="{7CFDB694-BDF1-4003-9E3A-7DFE9D63099B}"/>
              </a:ext>
            </a:extLst>
          </p:cNvPr>
          <p:cNvPicPr>
            <a:picLocks noChangeAspect="1"/>
          </p:cNvPicPr>
          <p:nvPr/>
        </p:nvPicPr>
        <p:blipFill>
          <a:blip r:embed="rId2"/>
          <a:stretch>
            <a:fillRect/>
          </a:stretch>
        </p:blipFill>
        <p:spPr>
          <a:xfrm>
            <a:off x="4748212" y="1976437"/>
            <a:ext cx="2695575" cy="2905125"/>
          </a:xfrm>
          <a:prstGeom prst="rect">
            <a:avLst/>
          </a:prstGeom>
        </p:spPr>
      </p:pic>
    </p:spTree>
    <p:extLst>
      <p:ext uri="{BB962C8B-B14F-4D97-AF65-F5344CB8AC3E}">
        <p14:creationId xmlns:p14="http://schemas.microsoft.com/office/powerpoint/2010/main" val="22564456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121F8-8B73-4346-923C-7B03A06853D4}"/>
              </a:ext>
            </a:extLst>
          </p:cNvPr>
          <p:cNvSpPr>
            <a:spLocks noGrp="1"/>
          </p:cNvSpPr>
          <p:nvPr>
            <p:ph type="title"/>
          </p:nvPr>
        </p:nvSpPr>
        <p:spPr>
          <a:xfrm>
            <a:off x="804672" y="329730"/>
            <a:ext cx="6190488" cy="712140"/>
          </a:xfrm>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130D70EE-7C90-48F3-B24D-CB7982605C15}"/>
              </a:ext>
            </a:extLst>
          </p:cNvPr>
          <p:cNvSpPr>
            <a:spLocks noGrp="1"/>
          </p:cNvSpPr>
          <p:nvPr>
            <p:ph idx="1"/>
          </p:nvPr>
        </p:nvSpPr>
        <p:spPr>
          <a:xfrm>
            <a:off x="850392" y="1378424"/>
            <a:ext cx="4895316" cy="4793776"/>
          </a:xfrm>
        </p:spPr>
        <p:txBody>
          <a:bodyPr>
            <a:normAutofit fontScale="85000" lnSpcReduction="20000"/>
          </a:bodyPr>
          <a:lstStyle/>
          <a:p>
            <a:r>
              <a:rPr lang="en-US" dirty="0"/>
              <a:t>#include &lt;iostream&gt;  </a:t>
            </a:r>
          </a:p>
          <a:p>
            <a:r>
              <a:rPr lang="en-US" dirty="0"/>
              <a:t>using namespace std;  </a:t>
            </a:r>
          </a:p>
          <a:p>
            <a:r>
              <a:rPr lang="en-US" dirty="0"/>
              <a:t>class A  </a:t>
            </a:r>
          </a:p>
          <a:p>
            <a:r>
              <a:rPr lang="en-US" dirty="0"/>
              <a:t>{  </a:t>
            </a:r>
          </a:p>
          <a:p>
            <a:r>
              <a:rPr lang="en-US" dirty="0"/>
              <a:t>    protected:  </a:t>
            </a:r>
          </a:p>
          <a:p>
            <a:r>
              <a:rPr lang="en-US" dirty="0"/>
              <a:t>    int a;  </a:t>
            </a:r>
          </a:p>
          <a:p>
            <a:r>
              <a:rPr lang="en-US" dirty="0"/>
              <a:t>    public:  </a:t>
            </a:r>
          </a:p>
          <a:p>
            <a:r>
              <a:rPr lang="en-US" dirty="0"/>
              <a:t>    void </a:t>
            </a:r>
            <a:r>
              <a:rPr lang="en-US" dirty="0" err="1"/>
              <a:t>get_a</a:t>
            </a:r>
            <a:r>
              <a:rPr lang="en-US" dirty="0"/>
              <a:t>()  </a:t>
            </a:r>
          </a:p>
          <a:p>
            <a:r>
              <a:rPr lang="en-US" dirty="0"/>
              <a:t>    {  </a:t>
            </a:r>
          </a:p>
          <a:p>
            <a:r>
              <a:rPr lang="en-US" dirty="0"/>
              <a:t>       std::</a:t>
            </a:r>
            <a:r>
              <a:rPr lang="en-US" dirty="0" err="1"/>
              <a:t>cout</a:t>
            </a:r>
            <a:r>
              <a:rPr lang="en-US" dirty="0"/>
              <a:t> &lt;&lt; "Enter the value of 'a' : " &lt;&lt; std::</a:t>
            </a:r>
            <a:r>
              <a:rPr lang="en-US" dirty="0" err="1"/>
              <a:t>endl</a:t>
            </a:r>
            <a:r>
              <a:rPr lang="en-US" dirty="0"/>
              <a:t>;  </a:t>
            </a:r>
          </a:p>
          <a:p>
            <a:r>
              <a:rPr lang="en-US" dirty="0"/>
              <a:t>       </a:t>
            </a:r>
            <a:r>
              <a:rPr lang="en-US" dirty="0" err="1"/>
              <a:t>cin</a:t>
            </a:r>
            <a:r>
              <a:rPr lang="en-US" dirty="0"/>
              <a:t>&gt;&gt;a;  </a:t>
            </a:r>
          </a:p>
          <a:p>
            <a:r>
              <a:rPr lang="en-US" dirty="0"/>
              <a:t>    }  </a:t>
            </a:r>
          </a:p>
          <a:p>
            <a:r>
              <a:rPr lang="en-US" dirty="0"/>
              <a:t>}; </a:t>
            </a:r>
          </a:p>
        </p:txBody>
      </p:sp>
      <p:sp>
        <p:nvSpPr>
          <p:cNvPr id="4" name="Date Placeholder 3">
            <a:extLst>
              <a:ext uri="{FF2B5EF4-FFF2-40B4-BE49-F238E27FC236}">
                <a16:creationId xmlns:a16="http://schemas.microsoft.com/office/drawing/2014/main" id="{4D701310-79B5-4BEA-BB9E-22A2E2B927A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870C79A-7DD1-49EE-A291-75BDDEA36E12}"/>
              </a:ext>
            </a:extLst>
          </p:cNvPr>
          <p:cNvSpPr>
            <a:spLocks noGrp="1"/>
          </p:cNvSpPr>
          <p:nvPr>
            <p:ph type="sldNum" sz="quarter" idx="12"/>
          </p:nvPr>
        </p:nvSpPr>
        <p:spPr/>
        <p:txBody>
          <a:bodyPr/>
          <a:lstStyle/>
          <a:p>
            <a:fld id="{D8DA9DAA-006C-4F4B-980E-E3DF019B24E2}" type="slidenum">
              <a:rPr lang="en-US" smtClean="0"/>
              <a:pPr/>
              <a:t>57</a:t>
            </a:fld>
            <a:endParaRPr lang="en-US" dirty="0"/>
          </a:p>
        </p:txBody>
      </p:sp>
      <p:sp>
        <p:nvSpPr>
          <p:cNvPr id="6" name="Rectangle 5">
            <a:extLst>
              <a:ext uri="{FF2B5EF4-FFF2-40B4-BE49-F238E27FC236}">
                <a16:creationId xmlns:a16="http://schemas.microsoft.com/office/drawing/2014/main" id="{517E7DC4-DEAB-4DD9-8729-C6FECCCD89FE}"/>
              </a:ext>
            </a:extLst>
          </p:cNvPr>
          <p:cNvSpPr/>
          <p:nvPr/>
        </p:nvSpPr>
        <p:spPr>
          <a:xfrm>
            <a:off x="5950423" y="1378424"/>
            <a:ext cx="6005015" cy="3139321"/>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B : </a:t>
            </a:r>
            <a:r>
              <a:rPr lang="en-US" b="1" dirty="0">
                <a:solidFill>
                  <a:srgbClr val="006699"/>
                </a:solidFill>
                <a:latin typeface="inter-regular"/>
              </a:rPr>
              <a:t>public</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protected</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b;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a:t>
            </a:r>
            <a:r>
              <a:rPr lang="en-US" dirty="0" err="1">
                <a:solidFill>
                  <a:srgbClr val="000000"/>
                </a:solidFill>
                <a:latin typeface="inter-regular"/>
              </a:rPr>
              <a:t>get_b</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"Enter the value of 'b' : "</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cin</a:t>
            </a:r>
            <a:r>
              <a:rPr lang="en-US" dirty="0">
                <a:solidFill>
                  <a:srgbClr val="000000"/>
                </a:solidFill>
                <a:latin typeface="inter-regular"/>
              </a:rPr>
              <a:t>&gt;&gt;b;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39672701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1EFDA72-F360-4405-990C-B9B35E67FFA6}"/>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8EE5E0B-3AF3-4C82-913F-C0A8A2665344}"/>
              </a:ext>
            </a:extLst>
          </p:cNvPr>
          <p:cNvSpPr>
            <a:spLocks noGrp="1"/>
          </p:cNvSpPr>
          <p:nvPr>
            <p:ph type="sldNum" sz="quarter" idx="12"/>
          </p:nvPr>
        </p:nvSpPr>
        <p:spPr/>
        <p:txBody>
          <a:bodyPr/>
          <a:lstStyle/>
          <a:p>
            <a:fld id="{D8DA9DAA-006C-4F4B-980E-E3DF019B24E2}" type="slidenum">
              <a:rPr lang="en-US" smtClean="0"/>
              <a:pPr/>
              <a:t>58</a:t>
            </a:fld>
            <a:endParaRPr lang="en-US" dirty="0"/>
          </a:p>
        </p:txBody>
      </p:sp>
      <p:sp>
        <p:nvSpPr>
          <p:cNvPr id="6" name="Rectangle 5">
            <a:extLst>
              <a:ext uri="{FF2B5EF4-FFF2-40B4-BE49-F238E27FC236}">
                <a16:creationId xmlns:a16="http://schemas.microsoft.com/office/drawing/2014/main" id="{A0A813F9-C6A8-4D34-9C4C-4962F933E2DA}"/>
              </a:ext>
            </a:extLst>
          </p:cNvPr>
          <p:cNvSpPr/>
          <p:nvPr/>
        </p:nvSpPr>
        <p:spPr>
          <a:xfrm>
            <a:off x="263857" y="508212"/>
            <a:ext cx="5536442" cy="3139321"/>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C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protected</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c;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a:t>
            </a:r>
            <a:r>
              <a:rPr lang="en-US" dirty="0" err="1">
                <a:solidFill>
                  <a:srgbClr val="000000"/>
                </a:solidFill>
                <a:latin typeface="inter-regular"/>
              </a:rPr>
              <a:t>get_c</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"Enter the value of c is : "</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cin</a:t>
            </a:r>
            <a:r>
              <a:rPr lang="en-US" dirty="0">
                <a:solidFill>
                  <a:srgbClr val="000000"/>
                </a:solidFill>
                <a:latin typeface="inter-regular"/>
              </a:rPr>
              <a:t>&gt;&gt;c;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DA2DE79E-A2DC-4D5C-A433-713994CA81E4}"/>
              </a:ext>
            </a:extLst>
          </p:cNvPr>
          <p:cNvSpPr/>
          <p:nvPr/>
        </p:nvSpPr>
        <p:spPr>
          <a:xfrm>
            <a:off x="5800299" y="508212"/>
            <a:ext cx="6127843" cy="3970318"/>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D : </a:t>
            </a:r>
            <a:r>
              <a:rPr lang="en-US" b="1" dirty="0">
                <a:solidFill>
                  <a:srgbClr val="006699"/>
                </a:solidFill>
                <a:latin typeface="inter-regular"/>
              </a:rPr>
              <a:t>public</a:t>
            </a:r>
            <a:r>
              <a:rPr lang="en-US" dirty="0">
                <a:solidFill>
                  <a:srgbClr val="000000"/>
                </a:solidFill>
                <a:latin typeface="inter-regular"/>
              </a:rPr>
              <a:t> B, </a:t>
            </a:r>
            <a:r>
              <a:rPr lang="en-US" b="1" dirty="0">
                <a:solidFill>
                  <a:srgbClr val="006699"/>
                </a:solidFill>
                <a:latin typeface="inter-regular"/>
              </a:rPr>
              <a:t>public</a:t>
            </a:r>
            <a:r>
              <a:rPr lang="en-US" dirty="0">
                <a:solidFill>
                  <a:srgbClr val="000000"/>
                </a:solidFill>
                <a:latin typeface="inter-regular"/>
              </a:rPr>
              <a:t> C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protected</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d;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a:t>
            </a:r>
            <a:r>
              <a:rPr lang="en-US" dirty="0" err="1">
                <a:solidFill>
                  <a:srgbClr val="000000"/>
                </a:solidFill>
                <a:latin typeface="inter-regular"/>
              </a:rPr>
              <a:t>mul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get_a</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get_b</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get_c</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"Multiplication of </a:t>
            </a:r>
            <a:r>
              <a:rPr lang="en-US" dirty="0" err="1">
                <a:solidFill>
                  <a:srgbClr val="0000FF"/>
                </a:solidFill>
                <a:latin typeface="inter-regular"/>
              </a:rPr>
              <a:t>a,b,c</a:t>
            </a:r>
            <a:r>
              <a:rPr lang="en-US" dirty="0">
                <a:solidFill>
                  <a:srgbClr val="0000FF"/>
                </a:solidFill>
                <a:latin typeface="inter-regular"/>
              </a:rPr>
              <a:t> is : "</a:t>
            </a:r>
            <a:r>
              <a:rPr lang="en-US" dirty="0">
                <a:solidFill>
                  <a:srgbClr val="000000"/>
                </a:solidFill>
                <a:latin typeface="inter-regular"/>
              </a:rPr>
              <a:t> &lt;&lt;a*b*c&lt;&lt;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7">
            <a:extLst>
              <a:ext uri="{FF2B5EF4-FFF2-40B4-BE49-F238E27FC236}">
                <a16:creationId xmlns:a16="http://schemas.microsoft.com/office/drawing/2014/main" id="{48164B87-03F7-4B9E-9F70-036F4C73680C}"/>
              </a:ext>
            </a:extLst>
          </p:cNvPr>
          <p:cNvSpPr/>
          <p:nvPr/>
        </p:nvSpPr>
        <p:spPr>
          <a:xfrm>
            <a:off x="838200" y="4478530"/>
            <a:ext cx="6096000" cy="1754326"/>
          </a:xfrm>
          <a:prstGeom prst="rect">
            <a:avLst/>
          </a:prstGeom>
        </p:spPr>
        <p:txBody>
          <a:bodyPr>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D </a:t>
            </a:r>
            <a:r>
              <a:rPr lang="en-US" dirty="0" err="1">
                <a:solidFill>
                  <a:srgbClr val="000000"/>
                </a:solidFill>
                <a:latin typeface="inter-regular"/>
              </a:rPr>
              <a:t>d</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d.mul</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9" name="Rectangle 1">
            <a:extLst>
              <a:ext uri="{FF2B5EF4-FFF2-40B4-BE49-F238E27FC236}">
                <a16:creationId xmlns:a16="http://schemas.microsoft.com/office/drawing/2014/main" id="{1E255D37-52EE-450E-B374-817A2C5AC2BD}"/>
              </a:ext>
            </a:extLst>
          </p:cNvPr>
          <p:cNvSpPr>
            <a:spLocks noChangeArrowheads="1"/>
          </p:cNvSpPr>
          <p:nvPr/>
        </p:nvSpPr>
        <p:spPr bwMode="auto">
          <a:xfrm>
            <a:off x="4312692" y="5648273"/>
            <a:ext cx="76154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inter-regular"/>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Enter the value of 'a' : 10 Enter the value of 'b' : 20 Enter the value of c is : 30 Multiplication of </a:t>
            </a:r>
            <a:r>
              <a:rPr kumimoji="0" lang="en-US" altLang="en-US" sz="1000" b="0" i="0" u="none" strike="noStrike" cap="none" normalizeH="0" baseline="0" dirty="0" err="1">
                <a:ln>
                  <a:noFill/>
                </a:ln>
                <a:solidFill>
                  <a:srgbClr val="535559"/>
                </a:solidFill>
                <a:effectLst/>
                <a:latin typeface="Arial Unicode MS"/>
              </a:rPr>
              <a:t>a,b,c</a:t>
            </a:r>
            <a:r>
              <a:rPr kumimoji="0" lang="en-US" altLang="en-US" sz="1000" b="0" i="0" u="none" strike="noStrike" cap="none" normalizeH="0" baseline="0" dirty="0">
                <a:ln>
                  <a:noFill/>
                </a:ln>
                <a:solidFill>
                  <a:srgbClr val="535559"/>
                </a:solidFill>
                <a:effectLst/>
                <a:latin typeface="Arial Unicode MS"/>
              </a:rPr>
              <a:t> is : 6000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397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06649-41FC-4AF6-B489-543062293C0D}"/>
              </a:ext>
            </a:extLst>
          </p:cNvPr>
          <p:cNvSpPr>
            <a:spLocks noGrp="1"/>
          </p:cNvSpPr>
          <p:nvPr>
            <p:ph type="title"/>
          </p:nvPr>
        </p:nvSpPr>
        <p:spPr>
          <a:xfrm>
            <a:off x="668194" y="450375"/>
            <a:ext cx="9226432" cy="863221"/>
          </a:xfrm>
        </p:spPr>
        <p:txBody>
          <a:bodyPr>
            <a:normAutofit/>
          </a:bodyPr>
          <a:lstStyle/>
          <a:p>
            <a:r>
              <a:rPr lang="en-US" dirty="0"/>
              <a:t>C++ Hierarchical Inheritance</a:t>
            </a:r>
          </a:p>
        </p:txBody>
      </p:sp>
      <p:sp>
        <p:nvSpPr>
          <p:cNvPr id="3" name="Content Placeholder 2">
            <a:extLst>
              <a:ext uri="{FF2B5EF4-FFF2-40B4-BE49-F238E27FC236}">
                <a16:creationId xmlns:a16="http://schemas.microsoft.com/office/drawing/2014/main" id="{C0654812-73F7-4D2E-A117-BE14EE89FAF0}"/>
              </a:ext>
            </a:extLst>
          </p:cNvPr>
          <p:cNvSpPr>
            <a:spLocks noGrp="1"/>
          </p:cNvSpPr>
          <p:nvPr>
            <p:ph idx="1"/>
          </p:nvPr>
        </p:nvSpPr>
        <p:spPr>
          <a:xfrm>
            <a:off x="850392" y="1313596"/>
            <a:ext cx="10913978" cy="4858604"/>
          </a:xfrm>
        </p:spPr>
        <p:txBody>
          <a:bodyPr/>
          <a:lstStyle/>
          <a:p>
            <a:r>
              <a:rPr lang="en-US"/>
              <a:t>Hierarchical inheritance is defined as the process of deriving more than one class from a base class.</a:t>
            </a:r>
          </a:p>
          <a:p>
            <a:endParaRPr lang="en-US" dirty="0"/>
          </a:p>
        </p:txBody>
      </p:sp>
      <p:sp>
        <p:nvSpPr>
          <p:cNvPr id="4" name="Date Placeholder 3">
            <a:extLst>
              <a:ext uri="{FF2B5EF4-FFF2-40B4-BE49-F238E27FC236}">
                <a16:creationId xmlns:a16="http://schemas.microsoft.com/office/drawing/2014/main" id="{6C39464F-4D6D-438D-8904-D5F0CDF0A9C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17A9E1A5-11CB-44DE-9F2E-E8640282914C}"/>
              </a:ext>
            </a:extLst>
          </p:cNvPr>
          <p:cNvSpPr>
            <a:spLocks noGrp="1"/>
          </p:cNvSpPr>
          <p:nvPr>
            <p:ph type="sldNum" sz="quarter" idx="12"/>
          </p:nvPr>
        </p:nvSpPr>
        <p:spPr/>
        <p:txBody>
          <a:bodyPr/>
          <a:lstStyle/>
          <a:p>
            <a:fld id="{D8DA9DAA-006C-4F4B-980E-E3DF019B24E2}" type="slidenum">
              <a:rPr lang="en-US" smtClean="0"/>
              <a:pPr/>
              <a:t>59</a:t>
            </a:fld>
            <a:endParaRPr lang="en-US" dirty="0"/>
          </a:p>
        </p:txBody>
      </p:sp>
      <p:pic>
        <p:nvPicPr>
          <p:cNvPr id="6" name="Picture 5">
            <a:extLst>
              <a:ext uri="{FF2B5EF4-FFF2-40B4-BE49-F238E27FC236}">
                <a16:creationId xmlns:a16="http://schemas.microsoft.com/office/drawing/2014/main" id="{F94273C9-8A98-40F4-9403-2F4C986D0314}"/>
              </a:ext>
            </a:extLst>
          </p:cNvPr>
          <p:cNvPicPr>
            <a:picLocks noChangeAspect="1"/>
          </p:cNvPicPr>
          <p:nvPr/>
        </p:nvPicPr>
        <p:blipFill>
          <a:blip r:embed="rId2"/>
          <a:stretch>
            <a:fillRect/>
          </a:stretch>
        </p:blipFill>
        <p:spPr>
          <a:xfrm>
            <a:off x="1098218" y="2351466"/>
            <a:ext cx="2762250" cy="1800225"/>
          </a:xfrm>
          <a:prstGeom prst="rect">
            <a:avLst/>
          </a:prstGeom>
        </p:spPr>
      </p:pic>
      <p:sp>
        <p:nvSpPr>
          <p:cNvPr id="7" name="Rectangle 6">
            <a:extLst>
              <a:ext uri="{FF2B5EF4-FFF2-40B4-BE49-F238E27FC236}">
                <a16:creationId xmlns:a16="http://schemas.microsoft.com/office/drawing/2014/main" id="{90D04762-3B85-48E2-8D8A-9446DB766A08}"/>
              </a:ext>
            </a:extLst>
          </p:cNvPr>
          <p:cNvSpPr/>
          <p:nvPr/>
        </p:nvSpPr>
        <p:spPr>
          <a:xfrm>
            <a:off x="5861289" y="1920161"/>
            <a:ext cx="4940489" cy="4801314"/>
          </a:xfrm>
          <a:prstGeom prst="rect">
            <a:avLst/>
          </a:prstGeom>
        </p:spPr>
        <p:txBody>
          <a:bodyPr wrap="square">
            <a:spAutoFit/>
          </a:bodyPr>
          <a:lstStyle/>
          <a:p>
            <a:pPr algn="just"/>
            <a:r>
              <a:rPr lang="en-US" b="1" dirty="0">
                <a:solidFill>
                  <a:srgbClr val="333333"/>
                </a:solidFill>
                <a:latin typeface="inter-bold"/>
              </a:rPr>
              <a:t>Syntax of Hierarchical inheritance:</a:t>
            </a:r>
            <a:endParaRPr lang="en-US" dirty="0">
              <a:solidFill>
                <a:srgbClr val="333333"/>
              </a:solidFill>
              <a:latin typeface="inter-regular"/>
            </a:endParaRPr>
          </a:p>
          <a:p>
            <a:pPr algn="just"/>
            <a:r>
              <a:rPr lang="en-US" b="1" dirty="0">
                <a:solidFill>
                  <a:srgbClr val="006699"/>
                </a:solidFill>
                <a:latin typeface="inter-regular"/>
              </a:rPr>
              <a:t>class</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dirty="0">
                <a:solidFill>
                  <a:srgbClr val="008200"/>
                </a:solidFill>
                <a:latin typeface="inter-regular"/>
              </a:rPr>
              <a:t>// body of the class A.</a:t>
            </a:r>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B : </a:t>
            </a:r>
            <a:r>
              <a:rPr lang="en-US" b="1" dirty="0">
                <a:solidFill>
                  <a:srgbClr val="006699"/>
                </a:solidFill>
                <a:latin typeface="inter-regular"/>
              </a:rPr>
              <a:t>public</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dirty="0">
                <a:solidFill>
                  <a:srgbClr val="008200"/>
                </a:solidFill>
                <a:latin typeface="inter-regular"/>
              </a:rPr>
              <a:t>// body of class B.</a:t>
            </a:r>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C : </a:t>
            </a:r>
            <a:r>
              <a:rPr lang="en-US" b="1" dirty="0">
                <a:solidFill>
                  <a:srgbClr val="006699"/>
                </a:solidFill>
                <a:latin typeface="inter-regular"/>
              </a:rPr>
              <a:t>public</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dirty="0">
                <a:solidFill>
                  <a:srgbClr val="008200"/>
                </a:solidFill>
                <a:latin typeface="inter-regular"/>
              </a:rPr>
              <a:t>// body of class C.</a:t>
            </a:r>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D : </a:t>
            </a:r>
            <a:r>
              <a:rPr lang="en-US" b="1" dirty="0">
                <a:solidFill>
                  <a:srgbClr val="006699"/>
                </a:solidFill>
                <a:latin typeface="inter-regular"/>
              </a:rPr>
              <a:t>public</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dirty="0">
                <a:solidFill>
                  <a:srgbClr val="008200"/>
                </a:solidFill>
                <a:latin typeface="inter-regular"/>
              </a:rPr>
              <a:t>// body of class D.</a:t>
            </a:r>
            <a:r>
              <a:rPr lang="en-US" dirty="0">
                <a:solidFill>
                  <a:srgbClr val="000000"/>
                </a:solidFill>
                <a:latin typeface="inter-regular"/>
              </a:rPr>
              <a:t>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33435110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54A09F-E6CA-484A-8E65-311031164EB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8583758-9D54-4AA6-9E94-92A270526E52}"/>
              </a:ext>
            </a:extLst>
          </p:cNvPr>
          <p:cNvSpPr>
            <a:spLocks noGrp="1"/>
          </p:cNvSpPr>
          <p:nvPr>
            <p:ph type="sldNum" sz="quarter" idx="12"/>
          </p:nvPr>
        </p:nvSpPr>
        <p:spPr/>
        <p:txBody>
          <a:bodyPr/>
          <a:lstStyle/>
          <a:p>
            <a:fld id="{D8DA9DAA-006C-4F4B-980E-E3DF019B24E2}" type="slidenum">
              <a:rPr lang="en-US" smtClean="0"/>
              <a:pPr/>
              <a:t>60</a:t>
            </a:fld>
            <a:endParaRPr lang="en-US" dirty="0"/>
          </a:p>
        </p:txBody>
      </p:sp>
      <p:sp>
        <p:nvSpPr>
          <p:cNvPr id="6" name="Rectangle 5">
            <a:extLst>
              <a:ext uri="{FF2B5EF4-FFF2-40B4-BE49-F238E27FC236}">
                <a16:creationId xmlns:a16="http://schemas.microsoft.com/office/drawing/2014/main" id="{12375E63-5EF6-4501-89EC-ADD336311E1C}"/>
              </a:ext>
            </a:extLst>
          </p:cNvPr>
          <p:cNvSpPr/>
          <p:nvPr/>
        </p:nvSpPr>
        <p:spPr>
          <a:xfrm>
            <a:off x="263857" y="285803"/>
            <a:ext cx="6096000" cy="3693319"/>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Shape                 </a:t>
            </a:r>
            <a:r>
              <a:rPr lang="en-US" dirty="0">
                <a:solidFill>
                  <a:srgbClr val="008200"/>
                </a:solidFill>
                <a:latin typeface="inter-regular"/>
              </a:rPr>
              <a:t>// Declaration of base class.</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a;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b;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a:t>
            </a:r>
            <a:r>
              <a:rPr lang="en-US" dirty="0" err="1">
                <a:solidFill>
                  <a:srgbClr val="000000"/>
                </a:solidFill>
                <a:latin typeface="inter-regular"/>
              </a:rPr>
              <a:t>get_data</a:t>
            </a:r>
            <a:r>
              <a:rPr lang="en-US" dirty="0">
                <a:solidFill>
                  <a:srgbClr val="000000"/>
                </a:solidFill>
                <a:latin typeface="inter-regular"/>
              </a:rPr>
              <a:t>(</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n,</a:t>
            </a:r>
            <a:r>
              <a:rPr lang="en-US" b="1" dirty="0" err="1">
                <a:solidFill>
                  <a:srgbClr val="2E8B57"/>
                </a:solidFill>
                <a:latin typeface="inter-regular"/>
              </a:rPr>
              <a:t>int</a:t>
            </a:r>
            <a:r>
              <a:rPr lang="en-US" dirty="0">
                <a:solidFill>
                  <a:srgbClr val="000000"/>
                </a:solidFill>
                <a:latin typeface="inter-regular"/>
              </a:rPr>
              <a:t> m)  </a:t>
            </a:r>
          </a:p>
          <a:p>
            <a:pPr algn="just"/>
            <a:r>
              <a:rPr lang="en-US" dirty="0">
                <a:solidFill>
                  <a:srgbClr val="000000"/>
                </a:solidFill>
                <a:latin typeface="inter-regular"/>
              </a:rPr>
              <a:t>    {  </a:t>
            </a:r>
          </a:p>
          <a:p>
            <a:pPr algn="just"/>
            <a:r>
              <a:rPr lang="en-US" dirty="0">
                <a:solidFill>
                  <a:srgbClr val="000000"/>
                </a:solidFill>
                <a:latin typeface="inter-regular"/>
              </a:rPr>
              <a:t>        a= n;  </a:t>
            </a:r>
          </a:p>
          <a:p>
            <a:pPr algn="just"/>
            <a:r>
              <a:rPr lang="en-US" dirty="0">
                <a:solidFill>
                  <a:srgbClr val="000000"/>
                </a:solidFill>
                <a:latin typeface="inter-regular"/>
              </a:rPr>
              <a:t>        b = m;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4B1F75B7-9662-4D7A-B253-16BDC5F3519D}"/>
              </a:ext>
            </a:extLst>
          </p:cNvPr>
          <p:cNvSpPr/>
          <p:nvPr/>
        </p:nvSpPr>
        <p:spPr>
          <a:xfrm>
            <a:off x="263857" y="4032241"/>
            <a:ext cx="6096000" cy="2585323"/>
          </a:xfrm>
          <a:prstGeom prst="rect">
            <a:avLst/>
          </a:prstGeom>
        </p:spPr>
        <p:txBody>
          <a:bodyPr>
            <a:spAutoFit/>
          </a:bodyPr>
          <a:lstStyle/>
          <a:p>
            <a:pPr algn="just"/>
            <a:r>
              <a:rPr lang="en-US" b="1" dirty="0">
                <a:solidFill>
                  <a:srgbClr val="006699"/>
                </a:solidFill>
                <a:latin typeface="inter-regular"/>
              </a:rPr>
              <a:t>class</a:t>
            </a:r>
            <a:r>
              <a:rPr lang="en-US" dirty="0">
                <a:solidFill>
                  <a:srgbClr val="000000"/>
                </a:solidFill>
                <a:latin typeface="inter-regular"/>
              </a:rPr>
              <a:t> Rectangle : </a:t>
            </a:r>
            <a:r>
              <a:rPr lang="en-US" b="1" dirty="0">
                <a:solidFill>
                  <a:srgbClr val="006699"/>
                </a:solidFill>
                <a:latin typeface="inter-regular"/>
              </a:rPr>
              <a:t>public</a:t>
            </a:r>
            <a:r>
              <a:rPr lang="en-US" dirty="0">
                <a:solidFill>
                  <a:srgbClr val="000000"/>
                </a:solidFill>
                <a:latin typeface="inter-regular"/>
              </a:rPr>
              <a:t> Shape  </a:t>
            </a:r>
            <a:r>
              <a:rPr lang="en-US" dirty="0">
                <a:solidFill>
                  <a:srgbClr val="008200"/>
                </a:solidFill>
                <a:latin typeface="inter-regular"/>
              </a:rPr>
              <a:t>// inheriting Shape class</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rect_area</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result = a*b;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result;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7">
            <a:extLst>
              <a:ext uri="{FF2B5EF4-FFF2-40B4-BE49-F238E27FC236}">
                <a16:creationId xmlns:a16="http://schemas.microsoft.com/office/drawing/2014/main" id="{68BB698E-FD44-41CA-81DF-E01E829779B1}"/>
              </a:ext>
            </a:extLst>
          </p:cNvPr>
          <p:cNvSpPr/>
          <p:nvPr/>
        </p:nvSpPr>
        <p:spPr>
          <a:xfrm>
            <a:off x="6014114" y="285803"/>
            <a:ext cx="6096000" cy="2585323"/>
          </a:xfrm>
          <a:prstGeom prst="rect">
            <a:avLst/>
          </a:prstGeom>
        </p:spPr>
        <p:txBody>
          <a:bodyPr>
            <a:spAutoFit/>
          </a:bodyPr>
          <a:lstStyle/>
          <a:p>
            <a:pPr algn="just"/>
            <a:r>
              <a:rPr lang="en-US" b="1" dirty="0">
                <a:solidFill>
                  <a:srgbClr val="006699"/>
                </a:solidFill>
                <a:latin typeface="inter-regular"/>
              </a:rPr>
              <a:t>class</a:t>
            </a:r>
            <a:r>
              <a:rPr lang="en-US" dirty="0">
                <a:solidFill>
                  <a:srgbClr val="000000"/>
                </a:solidFill>
                <a:latin typeface="inter-regular"/>
              </a:rPr>
              <a:t> Triangle : </a:t>
            </a:r>
            <a:r>
              <a:rPr lang="en-US" b="1" dirty="0">
                <a:solidFill>
                  <a:srgbClr val="006699"/>
                </a:solidFill>
                <a:latin typeface="inter-regular"/>
              </a:rPr>
              <a:t>public</a:t>
            </a:r>
            <a:r>
              <a:rPr lang="en-US" dirty="0">
                <a:solidFill>
                  <a:srgbClr val="000000"/>
                </a:solidFill>
                <a:latin typeface="inter-regular"/>
              </a:rPr>
              <a:t> Shape    </a:t>
            </a:r>
            <a:r>
              <a:rPr lang="en-US" dirty="0">
                <a:solidFill>
                  <a:srgbClr val="008200"/>
                </a:solidFill>
                <a:latin typeface="inter-regular"/>
              </a:rPr>
              <a:t>// inheriting Shape class</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triangle_area</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2E8B57"/>
                </a:solidFill>
                <a:latin typeface="inter-regular"/>
              </a:rPr>
              <a:t>float</a:t>
            </a:r>
            <a:r>
              <a:rPr lang="en-US" dirty="0">
                <a:solidFill>
                  <a:srgbClr val="000000"/>
                </a:solidFill>
                <a:latin typeface="inter-regular"/>
              </a:rPr>
              <a:t> result = 0.5*a*b;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result;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18464600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6B55F5D-4047-42A7-93E6-80A18134779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01D4010-C07D-4FCC-8F4F-67CC4E94EB0C}"/>
              </a:ext>
            </a:extLst>
          </p:cNvPr>
          <p:cNvSpPr>
            <a:spLocks noGrp="1"/>
          </p:cNvSpPr>
          <p:nvPr>
            <p:ph type="sldNum" sz="quarter" idx="12"/>
          </p:nvPr>
        </p:nvSpPr>
        <p:spPr/>
        <p:txBody>
          <a:bodyPr/>
          <a:lstStyle/>
          <a:p>
            <a:fld id="{D8DA9DAA-006C-4F4B-980E-E3DF019B24E2}" type="slidenum">
              <a:rPr lang="en-US" smtClean="0"/>
              <a:pPr/>
              <a:t>61</a:t>
            </a:fld>
            <a:endParaRPr lang="en-US" dirty="0"/>
          </a:p>
        </p:txBody>
      </p:sp>
      <p:sp>
        <p:nvSpPr>
          <p:cNvPr id="6" name="Rectangle 5">
            <a:extLst>
              <a:ext uri="{FF2B5EF4-FFF2-40B4-BE49-F238E27FC236}">
                <a16:creationId xmlns:a16="http://schemas.microsoft.com/office/drawing/2014/main" id="{F0B82BBA-F91C-493A-A3BA-96893DDB5639}"/>
              </a:ext>
            </a:extLst>
          </p:cNvPr>
          <p:cNvSpPr/>
          <p:nvPr/>
        </p:nvSpPr>
        <p:spPr>
          <a:xfrm>
            <a:off x="518615" y="136525"/>
            <a:ext cx="11313994" cy="4801314"/>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Rectangle r;  </a:t>
            </a:r>
          </a:p>
          <a:p>
            <a:pPr algn="just"/>
            <a:r>
              <a:rPr lang="en-US" dirty="0">
                <a:solidFill>
                  <a:srgbClr val="000000"/>
                </a:solidFill>
                <a:latin typeface="inter-regular"/>
              </a:rPr>
              <a:t>    Triangle 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length,breadth,base,height</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"Enter the length and breadth of a rectangle: "</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cin</a:t>
            </a:r>
            <a:r>
              <a:rPr lang="en-US" dirty="0">
                <a:solidFill>
                  <a:srgbClr val="000000"/>
                </a:solidFill>
                <a:latin typeface="inter-regular"/>
              </a:rPr>
              <a:t>&gt;&gt;length&gt;&gt;breadth;  </a:t>
            </a:r>
          </a:p>
          <a:p>
            <a:pPr algn="just"/>
            <a:r>
              <a:rPr lang="en-US" dirty="0">
                <a:solidFill>
                  <a:srgbClr val="000000"/>
                </a:solidFill>
                <a:latin typeface="inter-regular"/>
              </a:rPr>
              <a:t>    </a:t>
            </a:r>
            <a:r>
              <a:rPr lang="en-US" dirty="0" err="1">
                <a:solidFill>
                  <a:srgbClr val="000000"/>
                </a:solidFill>
                <a:latin typeface="inter-regular"/>
              </a:rPr>
              <a:t>r.get_data</a:t>
            </a:r>
            <a:r>
              <a:rPr lang="en-US" dirty="0">
                <a:solidFill>
                  <a:srgbClr val="000000"/>
                </a:solidFill>
                <a:latin typeface="inter-regular"/>
              </a:rPr>
              <a:t>(</a:t>
            </a:r>
            <a:r>
              <a:rPr lang="en-US" dirty="0" err="1">
                <a:solidFill>
                  <a:srgbClr val="000000"/>
                </a:solidFill>
                <a:latin typeface="inter-regular"/>
              </a:rPr>
              <a:t>length,breadth</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m = </a:t>
            </a:r>
            <a:r>
              <a:rPr lang="en-US" dirty="0" err="1">
                <a:solidFill>
                  <a:srgbClr val="000000"/>
                </a:solidFill>
                <a:latin typeface="inter-regular"/>
              </a:rPr>
              <a:t>r.rect_area</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"Area of the rectangle is : "</a:t>
            </a:r>
            <a:r>
              <a:rPr lang="en-US" dirty="0">
                <a:solidFill>
                  <a:srgbClr val="000000"/>
                </a:solidFill>
                <a:latin typeface="inter-regular"/>
              </a:rPr>
              <a:t> &lt;&lt;m&lt;&lt;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"Enter the base and height of the triangle: "</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cin</a:t>
            </a:r>
            <a:r>
              <a:rPr lang="en-US" dirty="0">
                <a:solidFill>
                  <a:srgbClr val="000000"/>
                </a:solidFill>
                <a:latin typeface="inter-regular"/>
              </a:rPr>
              <a:t>&gt;&gt;base&gt;&gt;height;  </a:t>
            </a:r>
          </a:p>
          <a:p>
            <a:pPr algn="just"/>
            <a:r>
              <a:rPr lang="en-US" dirty="0">
                <a:solidFill>
                  <a:srgbClr val="000000"/>
                </a:solidFill>
                <a:latin typeface="inter-regular"/>
              </a:rPr>
              <a:t>    </a:t>
            </a:r>
            <a:r>
              <a:rPr lang="en-US" dirty="0" err="1">
                <a:solidFill>
                  <a:srgbClr val="000000"/>
                </a:solidFill>
                <a:latin typeface="inter-regular"/>
              </a:rPr>
              <a:t>t.get_data</a:t>
            </a:r>
            <a:r>
              <a:rPr lang="en-US" dirty="0">
                <a:solidFill>
                  <a:srgbClr val="000000"/>
                </a:solidFill>
                <a:latin typeface="inter-regular"/>
              </a:rPr>
              <a:t>(</a:t>
            </a:r>
            <a:r>
              <a:rPr lang="en-US" dirty="0" err="1">
                <a:solidFill>
                  <a:srgbClr val="000000"/>
                </a:solidFill>
                <a:latin typeface="inter-regular"/>
              </a:rPr>
              <a:t>base,height</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float</a:t>
            </a:r>
            <a:r>
              <a:rPr lang="en-US" dirty="0">
                <a:solidFill>
                  <a:srgbClr val="000000"/>
                </a:solidFill>
                <a:latin typeface="inter-regular"/>
              </a:rPr>
              <a:t> n = </a:t>
            </a:r>
            <a:r>
              <a:rPr lang="en-US" dirty="0" err="1">
                <a:solidFill>
                  <a:srgbClr val="000000"/>
                </a:solidFill>
                <a:latin typeface="inter-regular"/>
              </a:rPr>
              <a:t>t.triangle_area</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a:t>
            </a:r>
            <a:r>
              <a:rPr lang="en-US" dirty="0">
                <a:solidFill>
                  <a:srgbClr val="0000FF"/>
                </a:solidFill>
                <a:latin typeface="inter-regular"/>
              </a:rPr>
              <a:t>"Area of the triangle is : "</a:t>
            </a:r>
            <a:r>
              <a:rPr lang="en-US" dirty="0">
                <a:solidFill>
                  <a:srgbClr val="000000"/>
                </a:solidFill>
                <a:latin typeface="inter-regular"/>
              </a:rPr>
              <a:t>  &lt;&lt; n&lt;&lt;std::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10" name="Rectangle 1">
            <a:extLst>
              <a:ext uri="{FF2B5EF4-FFF2-40B4-BE49-F238E27FC236}">
                <a16:creationId xmlns:a16="http://schemas.microsoft.com/office/drawing/2014/main" id="{E3E44A12-BDA9-436B-9F24-FA5D9169F57F}"/>
              </a:ext>
            </a:extLst>
          </p:cNvPr>
          <p:cNvSpPr>
            <a:spLocks noChangeArrowheads="1"/>
          </p:cNvSpPr>
          <p:nvPr/>
        </p:nvSpPr>
        <p:spPr bwMode="auto">
          <a:xfrm>
            <a:off x="6632812" y="3537255"/>
            <a:ext cx="504057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33333"/>
                </a:solidFill>
                <a:effectLst/>
                <a:latin typeface="inter-regular"/>
              </a:rPr>
              <a:t>Output:</a:t>
            </a:r>
            <a:endParaRPr kumimoji="0" lang="en-US" altLang="en-US"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Enter the length and breadth of a rectangle: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23</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20</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 Area of the rectangle is : 460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Enter the base and height of the triangle: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2</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5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535559"/>
                </a:solidFill>
                <a:effectLst/>
                <a:latin typeface="Arial Unicode MS"/>
              </a:rPr>
              <a:t>Area of the triangle is : 5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45760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8F5A-C150-4274-9C17-C37595EB6AE4}"/>
              </a:ext>
            </a:extLst>
          </p:cNvPr>
          <p:cNvSpPr>
            <a:spLocks noGrp="1"/>
          </p:cNvSpPr>
          <p:nvPr>
            <p:ph type="title"/>
          </p:nvPr>
        </p:nvSpPr>
        <p:spPr>
          <a:xfrm>
            <a:off x="850391" y="256850"/>
            <a:ext cx="10722909" cy="780380"/>
          </a:xfrm>
        </p:spPr>
        <p:txBody>
          <a:bodyPr>
            <a:normAutofit fontScale="90000"/>
          </a:bodyPr>
          <a:lstStyle/>
          <a:p>
            <a:r>
              <a:rPr lang="en-US" b="1" dirty="0"/>
              <a:t>C++ Polymorphism</a:t>
            </a:r>
          </a:p>
        </p:txBody>
      </p:sp>
      <p:sp>
        <p:nvSpPr>
          <p:cNvPr id="3" name="Content Placeholder 2">
            <a:extLst>
              <a:ext uri="{FF2B5EF4-FFF2-40B4-BE49-F238E27FC236}">
                <a16:creationId xmlns:a16="http://schemas.microsoft.com/office/drawing/2014/main" id="{D08E2BE6-DCEE-4F54-81FB-83A1C57B4E16}"/>
              </a:ext>
            </a:extLst>
          </p:cNvPr>
          <p:cNvSpPr>
            <a:spLocks noGrp="1"/>
          </p:cNvSpPr>
          <p:nvPr>
            <p:ph idx="1"/>
          </p:nvPr>
        </p:nvSpPr>
        <p:spPr>
          <a:xfrm>
            <a:off x="850392" y="1228299"/>
            <a:ext cx="10722908" cy="4943901"/>
          </a:xfrm>
        </p:spPr>
        <p:txBody>
          <a:bodyPr>
            <a:normAutofit/>
          </a:bodyPr>
          <a:lstStyle/>
          <a:p>
            <a:r>
              <a:rPr lang="en-US" sz="2800" dirty="0"/>
              <a:t>The term "Polymorphism" is the combination of "poly" + "morphs" which means many forms. It is a </a:t>
            </a:r>
            <a:r>
              <a:rPr lang="en-US" sz="2800" dirty="0" err="1"/>
              <a:t>greek</a:t>
            </a:r>
            <a:r>
              <a:rPr lang="en-US" sz="2800" dirty="0"/>
              <a:t> word. In object-oriented programming, we use 3 main concepts: inheritance, encapsulation, and polymorphism.</a:t>
            </a:r>
          </a:p>
        </p:txBody>
      </p:sp>
      <p:sp>
        <p:nvSpPr>
          <p:cNvPr id="4" name="Date Placeholder 3">
            <a:extLst>
              <a:ext uri="{FF2B5EF4-FFF2-40B4-BE49-F238E27FC236}">
                <a16:creationId xmlns:a16="http://schemas.microsoft.com/office/drawing/2014/main" id="{656EF913-2047-4A8C-9013-21832ED0D8C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2E8F5B8-C057-440B-8C04-897204EE58BA}"/>
              </a:ext>
            </a:extLst>
          </p:cNvPr>
          <p:cNvSpPr>
            <a:spLocks noGrp="1"/>
          </p:cNvSpPr>
          <p:nvPr>
            <p:ph type="sldNum" sz="quarter" idx="12"/>
          </p:nvPr>
        </p:nvSpPr>
        <p:spPr/>
        <p:txBody>
          <a:bodyPr/>
          <a:lstStyle/>
          <a:p>
            <a:fld id="{D8DA9DAA-006C-4F4B-980E-E3DF019B24E2}" type="slidenum">
              <a:rPr lang="en-US" smtClean="0"/>
              <a:pPr/>
              <a:t>62</a:t>
            </a:fld>
            <a:endParaRPr lang="en-US" dirty="0"/>
          </a:p>
        </p:txBody>
      </p:sp>
      <p:sp>
        <p:nvSpPr>
          <p:cNvPr id="6" name="Title 1">
            <a:extLst>
              <a:ext uri="{FF2B5EF4-FFF2-40B4-BE49-F238E27FC236}">
                <a16:creationId xmlns:a16="http://schemas.microsoft.com/office/drawing/2014/main" id="{AD9566BA-65C9-4F30-95B7-D89D3CB2230C}"/>
              </a:ext>
            </a:extLst>
          </p:cNvPr>
          <p:cNvSpPr txBox="1">
            <a:spLocks/>
          </p:cNvSpPr>
          <p:nvPr/>
        </p:nvSpPr>
        <p:spPr>
          <a:xfrm>
            <a:off x="663101" y="3241775"/>
            <a:ext cx="10503408" cy="83492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kern="1200">
                <a:solidFill>
                  <a:schemeClr val="tx1"/>
                </a:solidFill>
                <a:latin typeface="+mj-lt"/>
                <a:ea typeface="+mj-ea"/>
                <a:cs typeface="+mj-cs"/>
              </a:defRPr>
            </a:lvl1pPr>
          </a:lstStyle>
          <a:p>
            <a:r>
              <a:rPr lang="en-US" b="1" dirty="0"/>
              <a:t>Real Life Example Of Polymorphism</a:t>
            </a:r>
          </a:p>
        </p:txBody>
      </p:sp>
      <p:sp>
        <p:nvSpPr>
          <p:cNvPr id="7" name="Rectangle 6">
            <a:extLst>
              <a:ext uri="{FF2B5EF4-FFF2-40B4-BE49-F238E27FC236}">
                <a16:creationId xmlns:a16="http://schemas.microsoft.com/office/drawing/2014/main" id="{78305931-7D96-4D89-B2B9-C2100A65E0F5}"/>
              </a:ext>
            </a:extLst>
          </p:cNvPr>
          <p:cNvSpPr/>
          <p:nvPr/>
        </p:nvSpPr>
        <p:spPr>
          <a:xfrm>
            <a:off x="750649" y="4072566"/>
            <a:ext cx="10922391" cy="2062103"/>
          </a:xfrm>
          <a:prstGeom prst="rect">
            <a:avLst/>
          </a:prstGeom>
        </p:spPr>
        <p:txBody>
          <a:bodyPr wrap="square">
            <a:spAutoFit/>
          </a:bodyPr>
          <a:lstStyle/>
          <a:p>
            <a:r>
              <a:rPr lang="en-US" sz="3200" dirty="0">
                <a:solidFill>
                  <a:srgbClr val="333333"/>
                </a:solidFill>
                <a:latin typeface="inter-regular"/>
              </a:rPr>
              <a:t>Let's consider a real-life example of polymorphism. A lady behaves like a teacher in a classroom, mother or daughter in a home and customer in a market. Here, a single person is behaving differently according to the situations.</a:t>
            </a:r>
            <a:endParaRPr lang="en-US" sz="3200" dirty="0"/>
          </a:p>
        </p:txBody>
      </p:sp>
    </p:spTree>
    <p:extLst>
      <p:ext uri="{BB962C8B-B14F-4D97-AF65-F5344CB8AC3E}">
        <p14:creationId xmlns:p14="http://schemas.microsoft.com/office/powerpoint/2010/main" val="42729193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90EFEAAA-5B2C-456A-8808-AFC5930DAAA2}"/>
              </a:ext>
            </a:extLst>
          </p:cNvPr>
          <p:cNvPicPr>
            <a:picLocks noGrp="1" noChangeAspect="1"/>
          </p:cNvPicPr>
          <p:nvPr>
            <p:ph idx="1"/>
          </p:nvPr>
        </p:nvPicPr>
        <p:blipFill>
          <a:blip r:embed="rId2"/>
          <a:stretch>
            <a:fillRect/>
          </a:stretch>
        </p:blipFill>
        <p:spPr>
          <a:xfrm>
            <a:off x="2392362" y="1659988"/>
            <a:ext cx="8961438" cy="4223287"/>
          </a:xfrm>
          <a:prstGeom prst="rect">
            <a:avLst/>
          </a:prstGeom>
        </p:spPr>
      </p:pic>
      <p:sp>
        <p:nvSpPr>
          <p:cNvPr id="4" name="Date Placeholder 3">
            <a:extLst>
              <a:ext uri="{FF2B5EF4-FFF2-40B4-BE49-F238E27FC236}">
                <a16:creationId xmlns:a16="http://schemas.microsoft.com/office/drawing/2014/main" id="{1D7D94C9-8BF5-4FB5-AD1C-CE692270C7B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E980872F-CAD9-451A-BB2E-2F2F9F5971D0}"/>
              </a:ext>
            </a:extLst>
          </p:cNvPr>
          <p:cNvSpPr>
            <a:spLocks noGrp="1"/>
          </p:cNvSpPr>
          <p:nvPr>
            <p:ph type="sldNum" sz="quarter" idx="12"/>
          </p:nvPr>
        </p:nvSpPr>
        <p:spPr/>
        <p:txBody>
          <a:bodyPr/>
          <a:lstStyle/>
          <a:p>
            <a:fld id="{D8DA9DAA-006C-4F4B-980E-E3DF019B24E2}" type="slidenum">
              <a:rPr lang="en-US" smtClean="0"/>
              <a:pPr/>
              <a:t>63</a:t>
            </a:fld>
            <a:endParaRPr lang="en-US" dirty="0"/>
          </a:p>
        </p:txBody>
      </p:sp>
      <p:sp>
        <p:nvSpPr>
          <p:cNvPr id="12" name="Title 11">
            <a:extLst>
              <a:ext uri="{FF2B5EF4-FFF2-40B4-BE49-F238E27FC236}">
                <a16:creationId xmlns:a16="http://schemas.microsoft.com/office/drawing/2014/main" id="{54928781-6CA5-46BB-BF83-F7901618F9D9}"/>
              </a:ext>
            </a:extLst>
          </p:cNvPr>
          <p:cNvSpPr>
            <a:spLocks noGrp="1"/>
          </p:cNvSpPr>
          <p:nvPr>
            <p:ph type="title"/>
          </p:nvPr>
        </p:nvSpPr>
        <p:spPr>
          <a:xfrm>
            <a:off x="0" y="136525"/>
            <a:ext cx="12013809" cy="1064887"/>
          </a:xfrm>
        </p:spPr>
        <p:txBody>
          <a:bodyPr>
            <a:normAutofit fontScale="90000"/>
          </a:bodyPr>
          <a:lstStyle/>
          <a:p>
            <a:r>
              <a:rPr lang="en-US" b="1" dirty="0"/>
              <a:t>There are two types of polymorphism in C++:</a:t>
            </a:r>
          </a:p>
        </p:txBody>
      </p:sp>
    </p:spTree>
    <p:extLst>
      <p:ext uri="{BB962C8B-B14F-4D97-AF65-F5344CB8AC3E}">
        <p14:creationId xmlns:p14="http://schemas.microsoft.com/office/powerpoint/2010/main" val="30044606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35796-283C-4B29-A8AA-2C5ADF80DFCD}"/>
              </a:ext>
            </a:extLst>
          </p:cNvPr>
          <p:cNvSpPr>
            <a:spLocks noGrp="1"/>
          </p:cNvSpPr>
          <p:nvPr>
            <p:ph type="title"/>
          </p:nvPr>
        </p:nvSpPr>
        <p:spPr>
          <a:xfrm>
            <a:off x="850391" y="256851"/>
            <a:ext cx="10859387" cy="794027"/>
          </a:xfrm>
        </p:spPr>
        <p:txBody>
          <a:bodyPr>
            <a:normAutofit fontScale="90000"/>
          </a:bodyPr>
          <a:lstStyle/>
          <a:p>
            <a:r>
              <a:rPr lang="en-US" b="1" dirty="0"/>
              <a:t>Compile time polymorphism</a:t>
            </a:r>
            <a:r>
              <a:rPr lang="en-US" dirty="0"/>
              <a:t>:</a:t>
            </a:r>
          </a:p>
        </p:txBody>
      </p:sp>
      <p:sp>
        <p:nvSpPr>
          <p:cNvPr id="3" name="Content Placeholder 2">
            <a:extLst>
              <a:ext uri="{FF2B5EF4-FFF2-40B4-BE49-F238E27FC236}">
                <a16:creationId xmlns:a16="http://schemas.microsoft.com/office/drawing/2014/main" id="{A3984956-F46E-4AB1-8265-1C3CF9A15994}"/>
              </a:ext>
            </a:extLst>
          </p:cNvPr>
          <p:cNvSpPr>
            <a:spLocks noGrp="1"/>
          </p:cNvSpPr>
          <p:nvPr>
            <p:ph idx="1"/>
          </p:nvPr>
        </p:nvSpPr>
        <p:spPr>
          <a:xfrm>
            <a:off x="850391" y="1436427"/>
            <a:ext cx="10982217" cy="4735773"/>
          </a:xfrm>
        </p:spPr>
        <p:txBody>
          <a:bodyPr>
            <a:noAutofit/>
          </a:bodyPr>
          <a:lstStyle/>
          <a:p>
            <a:r>
              <a:rPr lang="en-US" sz="3200" dirty="0"/>
              <a:t>The overloaded functions are invoked by matching the type and number of arguments. This information is available at the compile time and, therefore, compiler selects the appropriate function at the compile time. It is achieved by function overloading and operator overloading which is also known as static binding or early binding. Now, let's consider the case where function name and prototype is same.</a:t>
            </a:r>
          </a:p>
        </p:txBody>
      </p:sp>
      <p:sp>
        <p:nvSpPr>
          <p:cNvPr id="4" name="Date Placeholder 3">
            <a:extLst>
              <a:ext uri="{FF2B5EF4-FFF2-40B4-BE49-F238E27FC236}">
                <a16:creationId xmlns:a16="http://schemas.microsoft.com/office/drawing/2014/main" id="{7664A80B-CBD0-4DE7-B1F4-B3CDECEFA883}"/>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E26BC5DB-2341-4A1E-AAFD-72211DF14F31}"/>
              </a:ext>
            </a:extLst>
          </p:cNvPr>
          <p:cNvSpPr>
            <a:spLocks noGrp="1"/>
          </p:cNvSpPr>
          <p:nvPr>
            <p:ph type="sldNum" sz="quarter" idx="12"/>
          </p:nvPr>
        </p:nvSpPr>
        <p:spPr/>
        <p:txBody>
          <a:bodyPr/>
          <a:lstStyle/>
          <a:p>
            <a:fld id="{D8DA9DAA-006C-4F4B-980E-E3DF019B24E2}" type="slidenum">
              <a:rPr lang="en-US" smtClean="0"/>
              <a:pPr/>
              <a:t>64</a:t>
            </a:fld>
            <a:endParaRPr lang="en-US" dirty="0"/>
          </a:p>
        </p:txBody>
      </p:sp>
    </p:spTree>
    <p:extLst>
      <p:ext uri="{BB962C8B-B14F-4D97-AF65-F5344CB8AC3E}">
        <p14:creationId xmlns:p14="http://schemas.microsoft.com/office/powerpoint/2010/main" val="10407273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F149807-12B4-4F61-82BF-73BA064F069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2F7A600-66A4-4F9F-ABEA-1078EE11C3E2}"/>
              </a:ext>
            </a:extLst>
          </p:cNvPr>
          <p:cNvSpPr>
            <a:spLocks noGrp="1"/>
          </p:cNvSpPr>
          <p:nvPr>
            <p:ph type="sldNum" sz="quarter" idx="12"/>
          </p:nvPr>
        </p:nvSpPr>
        <p:spPr/>
        <p:txBody>
          <a:bodyPr/>
          <a:lstStyle/>
          <a:p>
            <a:fld id="{D8DA9DAA-006C-4F4B-980E-E3DF019B24E2}" type="slidenum">
              <a:rPr lang="en-US" smtClean="0"/>
              <a:pPr/>
              <a:t>65</a:t>
            </a:fld>
            <a:endParaRPr lang="en-US" dirty="0"/>
          </a:p>
        </p:txBody>
      </p:sp>
      <p:sp>
        <p:nvSpPr>
          <p:cNvPr id="7" name="Rectangle 6">
            <a:extLst>
              <a:ext uri="{FF2B5EF4-FFF2-40B4-BE49-F238E27FC236}">
                <a16:creationId xmlns:a16="http://schemas.microsoft.com/office/drawing/2014/main" id="{D59C026E-1AEC-4C15-9D39-FFCCBA1E33D9}"/>
              </a:ext>
            </a:extLst>
          </p:cNvPr>
          <p:cNvSpPr/>
          <p:nvPr/>
        </p:nvSpPr>
        <p:spPr>
          <a:xfrm>
            <a:off x="514065" y="136525"/>
            <a:ext cx="11163869" cy="6740307"/>
          </a:xfrm>
          <a:prstGeom prst="rect">
            <a:avLst/>
          </a:prstGeom>
        </p:spPr>
        <p:txBody>
          <a:bodyPr wrap="square">
            <a:spAutoFit/>
          </a:bodyPr>
          <a:lstStyle/>
          <a:p>
            <a:pPr algn="just"/>
            <a:r>
              <a:rPr lang="en-US" sz="2400" b="1" dirty="0">
                <a:solidFill>
                  <a:srgbClr val="006699"/>
                </a:solidFill>
                <a:latin typeface="inter-regular"/>
              </a:rPr>
              <a:t>class</a:t>
            </a:r>
            <a:r>
              <a:rPr lang="en-US" sz="2400" dirty="0">
                <a:solidFill>
                  <a:srgbClr val="000000"/>
                </a:solidFill>
                <a:latin typeface="inter-regular"/>
              </a:rPr>
              <a:t> A                                  </a:t>
            </a:r>
            <a:r>
              <a:rPr lang="en-US" sz="2400" dirty="0">
                <a:solidFill>
                  <a:srgbClr val="008200"/>
                </a:solidFill>
                <a:latin typeface="inter-regular"/>
              </a:rPr>
              <a:t>//  base class declaration.</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a:t>
            </a:r>
            <a:r>
              <a:rPr lang="en-US" sz="2400" b="1" dirty="0">
                <a:solidFill>
                  <a:srgbClr val="2E8B57"/>
                </a:solidFill>
                <a:latin typeface="inter-regular"/>
              </a:rPr>
              <a:t>int</a:t>
            </a:r>
            <a:r>
              <a:rPr lang="en-US" sz="2400" dirty="0">
                <a:solidFill>
                  <a:srgbClr val="000000"/>
                </a:solidFill>
                <a:latin typeface="inter-regular"/>
              </a:rPr>
              <a:t> a;  </a:t>
            </a:r>
          </a:p>
          <a:p>
            <a:pPr algn="just"/>
            <a:r>
              <a:rPr lang="en-US" sz="2400" dirty="0">
                <a:solidFill>
                  <a:srgbClr val="000000"/>
                </a:solidFill>
                <a:latin typeface="inter-regular"/>
              </a:rPr>
              <a:t>       </a:t>
            </a:r>
            <a:r>
              <a:rPr lang="en-US" sz="2400" b="1" dirty="0">
                <a:solidFill>
                  <a:srgbClr val="006699"/>
                </a:solidFill>
                <a:latin typeface="inter-regular"/>
              </a:rPr>
              <a:t>public</a:t>
            </a:r>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void</a:t>
            </a:r>
            <a:r>
              <a:rPr lang="en-US" sz="2400" dirty="0">
                <a:solidFill>
                  <a:srgbClr val="000000"/>
                </a:solidFill>
                <a:latin typeface="inter-regular"/>
              </a:rPr>
              <a:t> display()  </a:t>
            </a:r>
          </a:p>
          <a:p>
            <a:pPr algn="just"/>
            <a:r>
              <a:rPr lang="en-US" sz="2400" dirty="0">
                <a:solidFill>
                  <a:srgbClr val="000000"/>
                </a:solidFill>
                <a:latin typeface="inter-regular"/>
              </a:rPr>
              <a:t>       {   </a:t>
            </a:r>
          </a:p>
          <a:p>
            <a:pPr algn="just"/>
            <a:r>
              <a:rPr lang="en-US" sz="2400" dirty="0">
                <a:solidFill>
                  <a:srgbClr val="000000"/>
                </a:solidFill>
                <a:latin typeface="inter-regular"/>
              </a:rPr>
              <a:t>             </a:t>
            </a:r>
            <a:r>
              <a:rPr lang="en-US" sz="2400" dirty="0" err="1">
                <a:solidFill>
                  <a:srgbClr val="000000"/>
                </a:solidFill>
                <a:latin typeface="inter-regular"/>
              </a:rPr>
              <a:t>cout</a:t>
            </a:r>
            <a:r>
              <a:rPr lang="en-US" sz="2400" dirty="0">
                <a:solidFill>
                  <a:srgbClr val="000000"/>
                </a:solidFill>
                <a:latin typeface="inter-regular"/>
              </a:rPr>
              <a:t>&lt;&lt; </a:t>
            </a:r>
            <a:r>
              <a:rPr lang="en-US" sz="2400" dirty="0">
                <a:solidFill>
                  <a:srgbClr val="0000FF"/>
                </a:solidFill>
                <a:latin typeface="inter-regular"/>
              </a:rPr>
              <a:t>"Class A "</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  </a:t>
            </a:r>
          </a:p>
          <a:p>
            <a:pPr algn="just"/>
            <a:r>
              <a:rPr lang="en-US" sz="2400" b="1" dirty="0">
                <a:solidFill>
                  <a:srgbClr val="006699"/>
                </a:solidFill>
                <a:latin typeface="inter-regular"/>
              </a:rPr>
              <a:t>class</a:t>
            </a:r>
            <a:r>
              <a:rPr lang="en-US" sz="2400" dirty="0">
                <a:solidFill>
                  <a:srgbClr val="000000"/>
                </a:solidFill>
                <a:latin typeface="inter-regular"/>
              </a:rPr>
              <a:t> B : </a:t>
            </a:r>
            <a:r>
              <a:rPr lang="en-US" sz="2400" b="1" dirty="0">
                <a:solidFill>
                  <a:srgbClr val="006699"/>
                </a:solidFill>
                <a:latin typeface="inter-regular"/>
              </a:rPr>
              <a:t>public</a:t>
            </a:r>
            <a:r>
              <a:rPr lang="en-US" sz="2400" dirty="0">
                <a:solidFill>
                  <a:srgbClr val="000000"/>
                </a:solidFill>
                <a:latin typeface="inter-regular"/>
              </a:rPr>
              <a:t> A                       </a:t>
            </a:r>
            <a:r>
              <a:rPr lang="en-US" sz="2400" dirty="0">
                <a:solidFill>
                  <a:srgbClr val="008200"/>
                </a:solidFill>
                <a:latin typeface="inter-regular"/>
              </a:rPr>
              <a:t>//  derived class declaration.</a:t>
            </a:r>
            <a:r>
              <a:rPr lang="en-US" sz="2400" dirty="0">
                <a:solidFill>
                  <a:srgbClr val="000000"/>
                </a:solidFill>
                <a:latin typeface="inter-regular"/>
              </a:rPr>
              <a:t>  </a:t>
            </a:r>
          </a:p>
          <a:p>
            <a:pPr algn="just"/>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2E8B57"/>
                </a:solidFill>
                <a:latin typeface="inter-regular"/>
              </a:rPr>
              <a:t>int</a:t>
            </a:r>
            <a:r>
              <a:rPr lang="en-US" sz="2400" dirty="0">
                <a:solidFill>
                  <a:srgbClr val="000000"/>
                </a:solidFill>
                <a:latin typeface="inter-regular"/>
              </a:rPr>
              <a:t> b;  </a:t>
            </a:r>
          </a:p>
          <a:p>
            <a:pPr algn="just"/>
            <a:r>
              <a:rPr lang="en-US" sz="2400" dirty="0">
                <a:solidFill>
                  <a:srgbClr val="000000"/>
                </a:solidFill>
                <a:latin typeface="inter-regular"/>
              </a:rPr>
              <a:t>    </a:t>
            </a:r>
            <a:r>
              <a:rPr lang="en-US" sz="2400" b="1" dirty="0">
                <a:solidFill>
                  <a:srgbClr val="006699"/>
                </a:solidFill>
                <a:latin typeface="inter-regular"/>
              </a:rPr>
              <a:t>public</a:t>
            </a:r>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void</a:t>
            </a:r>
            <a:r>
              <a:rPr lang="en-US" sz="2400" dirty="0">
                <a:solidFill>
                  <a:srgbClr val="000000"/>
                </a:solidFill>
                <a:latin typeface="inter-regular"/>
              </a:rPr>
              <a:t> display()  </a:t>
            </a:r>
          </a:p>
          <a:p>
            <a:pPr algn="just"/>
            <a:r>
              <a:rPr lang="en-US" sz="2400" dirty="0">
                <a:solidFill>
                  <a:srgbClr val="000000"/>
                </a:solidFill>
                <a:latin typeface="inter-regular"/>
              </a:rPr>
              <a:t>  {  </a:t>
            </a:r>
          </a:p>
          <a:p>
            <a:pPr algn="just"/>
            <a:r>
              <a:rPr lang="en-US" sz="2400" dirty="0">
                <a:solidFill>
                  <a:srgbClr val="000000"/>
                </a:solidFill>
                <a:latin typeface="inter-regular"/>
              </a:rPr>
              <a:t>        </a:t>
            </a:r>
            <a:r>
              <a:rPr lang="en-US" sz="2400" dirty="0" err="1">
                <a:solidFill>
                  <a:srgbClr val="000000"/>
                </a:solidFill>
                <a:latin typeface="inter-regular"/>
              </a:rPr>
              <a:t>cout</a:t>
            </a:r>
            <a:r>
              <a:rPr lang="en-US" sz="2400" dirty="0">
                <a:solidFill>
                  <a:srgbClr val="000000"/>
                </a:solidFill>
                <a:latin typeface="inter-regular"/>
              </a:rPr>
              <a:t>&lt;&lt;</a:t>
            </a:r>
            <a:r>
              <a:rPr lang="en-US" sz="2400" dirty="0">
                <a:solidFill>
                  <a:srgbClr val="0000FF"/>
                </a:solidFill>
                <a:latin typeface="inter-regular"/>
              </a:rPr>
              <a:t>"Class B"</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a:t>
            </a:r>
            <a:endParaRPr lang="en-US" sz="2400" b="0" i="0" dirty="0">
              <a:solidFill>
                <a:srgbClr val="000000"/>
              </a:solidFill>
              <a:effectLst/>
              <a:latin typeface="inter-regular"/>
            </a:endParaRPr>
          </a:p>
        </p:txBody>
      </p:sp>
    </p:spTree>
    <p:extLst>
      <p:ext uri="{BB962C8B-B14F-4D97-AF65-F5344CB8AC3E}">
        <p14:creationId xmlns:p14="http://schemas.microsoft.com/office/powerpoint/2010/main" val="35708252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B918D3-4D7D-4DEE-86CC-BA4675C8E8A1}"/>
              </a:ext>
            </a:extLst>
          </p:cNvPr>
          <p:cNvSpPr>
            <a:spLocks noGrp="1"/>
          </p:cNvSpPr>
          <p:nvPr>
            <p:ph idx="1"/>
          </p:nvPr>
        </p:nvSpPr>
        <p:spPr>
          <a:xfrm>
            <a:off x="850392" y="300251"/>
            <a:ext cx="11145990" cy="5871949"/>
          </a:xfrm>
        </p:spPr>
        <p:txBody>
          <a:bodyPr>
            <a:normAutofit/>
          </a:bodyPr>
          <a:lstStyle/>
          <a:p>
            <a:r>
              <a:rPr lang="en-US" sz="3200" dirty="0"/>
              <a:t>In the above case, the prototype of display() function is the same in both the </a:t>
            </a:r>
            <a:r>
              <a:rPr lang="en-US" sz="3200" b="1" dirty="0"/>
              <a:t>base and derived class</a:t>
            </a:r>
            <a:r>
              <a:rPr lang="en-US" sz="3200" dirty="0"/>
              <a:t>. Therefore, the static binding cannot be applied. It would be great if the appropriate function is selected at the run time. This is known as </a:t>
            </a:r>
            <a:r>
              <a:rPr lang="en-US" sz="3200" b="1" dirty="0"/>
              <a:t>run time polymorphism</a:t>
            </a:r>
            <a:r>
              <a:rPr lang="en-US" sz="3200" dirty="0"/>
              <a:t>.</a:t>
            </a:r>
          </a:p>
        </p:txBody>
      </p:sp>
      <p:sp>
        <p:nvSpPr>
          <p:cNvPr id="4" name="Date Placeholder 3">
            <a:extLst>
              <a:ext uri="{FF2B5EF4-FFF2-40B4-BE49-F238E27FC236}">
                <a16:creationId xmlns:a16="http://schemas.microsoft.com/office/drawing/2014/main" id="{2AB7FC83-070F-4286-B27E-E0C896D9ABC4}"/>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412705B-3AD2-4101-B417-6670F1836031}"/>
              </a:ext>
            </a:extLst>
          </p:cNvPr>
          <p:cNvSpPr>
            <a:spLocks noGrp="1"/>
          </p:cNvSpPr>
          <p:nvPr>
            <p:ph type="sldNum" sz="quarter" idx="12"/>
          </p:nvPr>
        </p:nvSpPr>
        <p:spPr/>
        <p:txBody>
          <a:bodyPr/>
          <a:lstStyle/>
          <a:p>
            <a:fld id="{D8DA9DAA-006C-4F4B-980E-E3DF019B24E2}" type="slidenum">
              <a:rPr lang="en-US" smtClean="0"/>
              <a:pPr/>
              <a:t>66</a:t>
            </a:fld>
            <a:endParaRPr lang="en-US" dirty="0"/>
          </a:p>
        </p:txBody>
      </p:sp>
    </p:spTree>
    <p:extLst>
      <p:ext uri="{BB962C8B-B14F-4D97-AF65-F5344CB8AC3E}">
        <p14:creationId xmlns:p14="http://schemas.microsoft.com/office/powerpoint/2010/main" val="23212341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B996B-8C54-4A70-BB26-56347B2F39E6}"/>
              </a:ext>
            </a:extLst>
          </p:cNvPr>
          <p:cNvSpPr>
            <a:spLocks noGrp="1"/>
          </p:cNvSpPr>
          <p:nvPr>
            <p:ph type="title"/>
          </p:nvPr>
        </p:nvSpPr>
        <p:spPr>
          <a:xfrm>
            <a:off x="419100" y="302387"/>
            <a:ext cx="11353800" cy="794026"/>
          </a:xfrm>
        </p:spPr>
        <p:txBody>
          <a:bodyPr>
            <a:normAutofit fontScale="90000"/>
          </a:bodyPr>
          <a:lstStyle/>
          <a:p>
            <a:r>
              <a:rPr lang="en-US" b="1" dirty="0"/>
              <a:t>Run time polymorphism</a:t>
            </a:r>
            <a:endParaRPr lang="en-US" dirty="0"/>
          </a:p>
        </p:txBody>
      </p:sp>
      <p:sp>
        <p:nvSpPr>
          <p:cNvPr id="3" name="Content Placeholder 2">
            <a:extLst>
              <a:ext uri="{FF2B5EF4-FFF2-40B4-BE49-F238E27FC236}">
                <a16:creationId xmlns:a16="http://schemas.microsoft.com/office/drawing/2014/main" id="{6AEC9334-765A-43A7-B930-CB4BB3611308}"/>
              </a:ext>
            </a:extLst>
          </p:cNvPr>
          <p:cNvSpPr>
            <a:spLocks noGrp="1"/>
          </p:cNvSpPr>
          <p:nvPr>
            <p:ph idx="1"/>
          </p:nvPr>
        </p:nvSpPr>
        <p:spPr>
          <a:xfrm>
            <a:off x="634746" y="1419367"/>
            <a:ext cx="10922508" cy="4752833"/>
          </a:xfrm>
        </p:spPr>
        <p:txBody>
          <a:bodyPr>
            <a:normAutofit/>
          </a:bodyPr>
          <a:lstStyle/>
          <a:p>
            <a:r>
              <a:rPr lang="en-US" sz="3200" dirty="0"/>
              <a:t>Run time polymorphism is achieved when the object's method is invoked at the run time instead of compile time. It is achieved by method overriding which is also known as dynamic binding or late binding.</a:t>
            </a:r>
          </a:p>
        </p:txBody>
      </p:sp>
      <p:sp>
        <p:nvSpPr>
          <p:cNvPr id="4" name="Date Placeholder 3">
            <a:extLst>
              <a:ext uri="{FF2B5EF4-FFF2-40B4-BE49-F238E27FC236}">
                <a16:creationId xmlns:a16="http://schemas.microsoft.com/office/drawing/2014/main" id="{421F6955-DF77-44A8-8456-F10E0747D51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938A9B0-789E-4DFB-BF79-58AF4A7A350E}"/>
              </a:ext>
            </a:extLst>
          </p:cNvPr>
          <p:cNvSpPr>
            <a:spLocks noGrp="1"/>
          </p:cNvSpPr>
          <p:nvPr>
            <p:ph type="sldNum" sz="quarter" idx="12"/>
          </p:nvPr>
        </p:nvSpPr>
        <p:spPr/>
        <p:txBody>
          <a:bodyPr/>
          <a:lstStyle/>
          <a:p>
            <a:fld id="{D8DA9DAA-006C-4F4B-980E-E3DF019B24E2}" type="slidenum">
              <a:rPr lang="en-US" smtClean="0"/>
              <a:pPr/>
              <a:t>67</a:t>
            </a:fld>
            <a:endParaRPr lang="en-US" dirty="0"/>
          </a:p>
        </p:txBody>
      </p:sp>
    </p:spTree>
    <p:extLst>
      <p:ext uri="{BB962C8B-B14F-4D97-AF65-F5344CB8AC3E}">
        <p14:creationId xmlns:p14="http://schemas.microsoft.com/office/powerpoint/2010/main" val="7506829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ECF9A-D4BA-4BD8-94D8-290E070F5DBB}"/>
              </a:ext>
            </a:extLst>
          </p:cNvPr>
          <p:cNvSpPr>
            <a:spLocks noGrp="1"/>
          </p:cNvSpPr>
          <p:nvPr>
            <p:ph type="title"/>
          </p:nvPr>
        </p:nvSpPr>
        <p:spPr>
          <a:xfrm>
            <a:off x="654546" y="366033"/>
            <a:ext cx="11150767" cy="1179576"/>
          </a:xfrm>
        </p:spPr>
        <p:txBody>
          <a:bodyPr>
            <a:normAutofit fontScale="90000"/>
          </a:bodyPr>
          <a:lstStyle/>
          <a:p>
            <a:r>
              <a:rPr lang="en-US" b="1" dirty="0"/>
              <a:t>Differences b/w compile time and run time polymorphism.</a:t>
            </a:r>
          </a:p>
        </p:txBody>
      </p:sp>
      <p:graphicFrame>
        <p:nvGraphicFramePr>
          <p:cNvPr id="6" name="Content Placeholder 5">
            <a:extLst>
              <a:ext uri="{FF2B5EF4-FFF2-40B4-BE49-F238E27FC236}">
                <a16:creationId xmlns:a16="http://schemas.microsoft.com/office/drawing/2014/main" id="{D85AE90D-4943-40C4-88C8-5B27CCAFD77A}"/>
              </a:ext>
            </a:extLst>
          </p:cNvPr>
          <p:cNvGraphicFramePr>
            <a:graphicFrameLocks noGrp="1"/>
          </p:cNvGraphicFramePr>
          <p:nvPr>
            <p:ph idx="1"/>
            <p:extLst>
              <p:ext uri="{D42A27DB-BD31-4B8C-83A1-F6EECF244321}">
                <p14:modId xmlns:p14="http://schemas.microsoft.com/office/powerpoint/2010/main" val="1008801932"/>
              </p:ext>
            </p:extLst>
          </p:nvPr>
        </p:nvGraphicFramePr>
        <p:xfrm>
          <a:off x="838200" y="1705970"/>
          <a:ext cx="10844284" cy="4686025"/>
        </p:xfrm>
        <a:graphic>
          <a:graphicData uri="http://schemas.openxmlformats.org/drawingml/2006/table">
            <a:tbl>
              <a:tblPr/>
              <a:tblGrid>
                <a:gridCol w="5422142">
                  <a:extLst>
                    <a:ext uri="{9D8B030D-6E8A-4147-A177-3AD203B41FA5}">
                      <a16:colId xmlns:a16="http://schemas.microsoft.com/office/drawing/2014/main" val="365980852"/>
                    </a:ext>
                  </a:extLst>
                </a:gridCol>
                <a:gridCol w="5422142">
                  <a:extLst>
                    <a:ext uri="{9D8B030D-6E8A-4147-A177-3AD203B41FA5}">
                      <a16:colId xmlns:a16="http://schemas.microsoft.com/office/drawing/2014/main" val="3268555584"/>
                    </a:ext>
                  </a:extLst>
                </a:gridCol>
              </a:tblGrid>
              <a:tr h="386443">
                <a:tc>
                  <a:txBody>
                    <a:bodyPr/>
                    <a:lstStyle/>
                    <a:p>
                      <a:pPr algn="l" fontAlgn="t"/>
                      <a:r>
                        <a:rPr lang="en-US" sz="1600">
                          <a:solidFill>
                            <a:srgbClr val="000000"/>
                          </a:solidFill>
                          <a:effectLst/>
                          <a:latin typeface="times new roman" panose="02020603050405020304" pitchFamily="18" charset="0"/>
                        </a:rPr>
                        <a:t>Compile time polymorphism</a:t>
                      </a:r>
                    </a:p>
                  </a:txBody>
                  <a:tcPr marL="62903" marR="62903" marT="62903" marB="62903">
                    <a:lnL w="9525" cap="flat" cmpd="sng" algn="ctr">
                      <a:solidFill>
                        <a:srgbClr val="809250"/>
                      </a:solidFill>
                      <a:prstDash val="solid"/>
                      <a:round/>
                      <a:headEnd type="none" w="med" len="med"/>
                      <a:tailEnd type="none" w="med" len="med"/>
                    </a:lnL>
                    <a:lnR w="9525" cap="flat" cmpd="sng" algn="ctr">
                      <a:solidFill>
                        <a:srgbClr val="809250"/>
                      </a:solidFill>
                      <a:prstDash val="solid"/>
                      <a:round/>
                      <a:headEnd type="none" w="med" len="med"/>
                      <a:tailEnd type="none" w="med" len="med"/>
                    </a:lnR>
                    <a:lnT w="9525" cap="flat" cmpd="sng" algn="ctr">
                      <a:solidFill>
                        <a:srgbClr val="809250"/>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a:solidFill>
                            <a:srgbClr val="000000"/>
                          </a:solidFill>
                          <a:effectLst/>
                          <a:latin typeface="times new roman" panose="02020603050405020304" pitchFamily="18" charset="0"/>
                        </a:rPr>
                        <a:t>Run time polymorphism</a:t>
                      </a:r>
                    </a:p>
                  </a:txBody>
                  <a:tcPr marL="62903" marR="62903" marT="62903" marB="62903">
                    <a:lnL w="9525" cap="flat" cmpd="sng" algn="ctr">
                      <a:solidFill>
                        <a:srgbClr val="809250"/>
                      </a:solidFill>
                      <a:prstDash val="solid"/>
                      <a:round/>
                      <a:headEnd type="none" w="med" len="med"/>
                      <a:tailEnd type="none" w="med" len="med"/>
                    </a:lnL>
                    <a:lnR w="9525" cap="flat" cmpd="sng" algn="ctr">
                      <a:solidFill>
                        <a:srgbClr val="809250"/>
                      </a:solidFill>
                      <a:prstDash val="solid"/>
                      <a:round/>
                      <a:headEnd type="none" w="med" len="med"/>
                      <a:tailEnd type="none" w="med" len="med"/>
                    </a:lnR>
                    <a:lnT w="9525" cap="flat" cmpd="sng" algn="ctr">
                      <a:solidFill>
                        <a:srgbClr val="809250"/>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453154729"/>
                  </a:ext>
                </a:extLst>
              </a:tr>
              <a:tr h="535904">
                <a:tc>
                  <a:txBody>
                    <a:bodyPr/>
                    <a:lstStyle/>
                    <a:p>
                      <a:pPr algn="just" fontAlgn="t"/>
                      <a:r>
                        <a:rPr lang="en-US" sz="1600">
                          <a:solidFill>
                            <a:srgbClr val="333333"/>
                          </a:solidFill>
                          <a:effectLst/>
                          <a:latin typeface="inter-regular"/>
                        </a:rPr>
                        <a:t>The function to be invoked is known at the compile time.</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inter-regular"/>
                        </a:rPr>
                        <a:t>The function to be invoked is known at the run time.</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490962"/>
                  </a:ext>
                </a:extLst>
              </a:tr>
              <a:tr h="535904">
                <a:tc>
                  <a:txBody>
                    <a:bodyPr/>
                    <a:lstStyle/>
                    <a:p>
                      <a:pPr algn="just" fontAlgn="t"/>
                      <a:r>
                        <a:rPr lang="en-US" sz="1600">
                          <a:solidFill>
                            <a:srgbClr val="333333"/>
                          </a:solidFill>
                          <a:effectLst/>
                          <a:latin typeface="inter-regular"/>
                        </a:rPr>
                        <a:t>It is also known as overloading, early binding and static binding.</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It is also known as overriding, Dynamic binding and late binding.</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63323154"/>
                  </a:ext>
                </a:extLst>
              </a:tr>
              <a:tr h="1374713">
                <a:tc>
                  <a:txBody>
                    <a:bodyPr/>
                    <a:lstStyle/>
                    <a:p>
                      <a:pPr algn="just" fontAlgn="t"/>
                      <a:r>
                        <a:rPr lang="en-US" sz="1600">
                          <a:solidFill>
                            <a:srgbClr val="333333"/>
                          </a:solidFill>
                          <a:effectLst/>
                          <a:latin typeface="inter-regular"/>
                        </a:rPr>
                        <a:t>Overloading is a compile time polymorphism where more than one method is having the same name but with the different number of parameters or the type of the parameters.</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Overriding is a run time polymorphism where more than one method is having the same name, number of parameters and the type of the parameters.</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668592741"/>
                  </a:ext>
                </a:extLst>
              </a:tr>
              <a:tr h="745607">
                <a:tc>
                  <a:txBody>
                    <a:bodyPr/>
                    <a:lstStyle/>
                    <a:p>
                      <a:pPr algn="just" fontAlgn="t"/>
                      <a:r>
                        <a:rPr lang="en-US" sz="1600">
                          <a:solidFill>
                            <a:srgbClr val="333333"/>
                          </a:solidFill>
                          <a:effectLst/>
                          <a:latin typeface="inter-regular"/>
                        </a:rPr>
                        <a:t>It is achieved by function overloading and operator overloading.</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rgbClr val="333333"/>
                          </a:solidFill>
                          <a:effectLst/>
                          <a:latin typeface="inter-regular"/>
                        </a:rPr>
                        <a:t>It is achieved by virtual functions and pointers.</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571200177"/>
                  </a:ext>
                </a:extLst>
              </a:tr>
              <a:tr h="535904">
                <a:tc>
                  <a:txBody>
                    <a:bodyPr/>
                    <a:lstStyle/>
                    <a:p>
                      <a:pPr algn="just" fontAlgn="t"/>
                      <a:r>
                        <a:rPr lang="en-US" sz="1600">
                          <a:solidFill>
                            <a:srgbClr val="333333"/>
                          </a:solidFill>
                          <a:effectLst/>
                          <a:latin typeface="inter-regular"/>
                        </a:rPr>
                        <a:t>It provides fast execution as it is known at the compile time.</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rgbClr val="333333"/>
                          </a:solidFill>
                          <a:effectLst/>
                          <a:latin typeface="inter-regular"/>
                        </a:rPr>
                        <a:t>It provides slow execution as it is known at the run time.</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686034293"/>
                  </a:ext>
                </a:extLst>
              </a:tr>
              <a:tr h="535904">
                <a:tc>
                  <a:txBody>
                    <a:bodyPr/>
                    <a:lstStyle/>
                    <a:p>
                      <a:pPr algn="just" fontAlgn="t"/>
                      <a:r>
                        <a:rPr lang="en-US" sz="1600">
                          <a:solidFill>
                            <a:srgbClr val="333333"/>
                          </a:solidFill>
                          <a:effectLst/>
                          <a:latin typeface="inter-regular"/>
                        </a:rPr>
                        <a:t>It is less flexible as mainly all the things execute at the compile time.</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inter-regular"/>
                        </a:rPr>
                        <a:t>It is more flexible as all the things execute at the run time.</a:t>
                      </a:r>
                    </a:p>
                  </a:txBody>
                  <a:tcPr marL="41935" marR="41935" marT="41935" marB="4193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71413411"/>
                  </a:ext>
                </a:extLst>
              </a:tr>
            </a:tbl>
          </a:graphicData>
        </a:graphic>
      </p:graphicFrame>
      <p:sp>
        <p:nvSpPr>
          <p:cNvPr id="4" name="Date Placeholder 3">
            <a:extLst>
              <a:ext uri="{FF2B5EF4-FFF2-40B4-BE49-F238E27FC236}">
                <a16:creationId xmlns:a16="http://schemas.microsoft.com/office/drawing/2014/main" id="{E9159272-2CB5-4E72-B6D8-5B2D5CA03E4A}"/>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C553D57-F479-485D-A107-DE75168DBAF1}"/>
              </a:ext>
            </a:extLst>
          </p:cNvPr>
          <p:cNvSpPr>
            <a:spLocks noGrp="1"/>
          </p:cNvSpPr>
          <p:nvPr>
            <p:ph type="sldNum" sz="quarter" idx="12"/>
          </p:nvPr>
        </p:nvSpPr>
        <p:spPr/>
        <p:txBody>
          <a:bodyPr/>
          <a:lstStyle/>
          <a:p>
            <a:fld id="{D8DA9DAA-006C-4F4B-980E-E3DF019B24E2}" type="slidenum">
              <a:rPr lang="en-US" smtClean="0"/>
              <a:pPr/>
              <a:t>68</a:t>
            </a:fld>
            <a:endParaRPr lang="en-US" dirty="0"/>
          </a:p>
        </p:txBody>
      </p:sp>
    </p:spTree>
    <p:extLst>
      <p:ext uri="{BB962C8B-B14F-4D97-AF65-F5344CB8AC3E}">
        <p14:creationId xmlns:p14="http://schemas.microsoft.com/office/powerpoint/2010/main" val="30512144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FF413-14A7-41D3-B559-E7C82F7010D8}"/>
              </a:ext>
            </a:extLst>
          </p:cNvPr>
          <p:cNvSpPr>
            <a:spLocks noGrp="1"/>
          </p:cNvSpPr>
          <p:nvPr>
            <p:ph type="title"/>
          </p:nvPr>
        </p:nvSpPr>
        <p:spPr>
          <a:xfrm>
            <a:off x="208947" y="136525"/>
            <a:ext cx="11341608" cy="821323"/>
          </a:xfrm>
        </p:spPr>
        <p:txBody>
          <a:bodyPr>
            <a:normAutofit fontScale="90000"/>
          </a:bodyPr>
          <a:lstStyle/>
          <a:p>
            <a:r>
              <a:rPr lang="en-US" dirty="0"/>
              <a:t>C++ Runtime Polymorphism Example</a:t>
            </a:r>
          </a:p>
        </p:txBody>
      </p:sp>
      <p:sp>
        <p:nvSpPr>
          <p:cNvPr id="4" name="Date Placeholder 3">
            <a:extLst>
              <a:ext uri="{FF2B5EF4-FFF2-40B4-BE49-F238E27FC236}">
                <a16:creationId xmlns:a16="http://schemas.microsoft.com/office/drawing/2014/main" id="{674617F9-1589-429B-A2F3-FA5EC37B709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C9833230-5D58-4E0E-8D5B-8A03A1DA3B95}"/>
              </a:ext>
            </a:extLst>
          </p:cNvPr>
          <p:cNvSpPr>
            <a:spLocks noGrp="1"/>
          </p:cNvSpPr>
          <p:nvPr>
            <p:ph type="sldNum" sz="quarter" idx="12"/>
          </p:nvPr>
        </p:nvSpPr>
        <p:spPr/>
        <p:txBody>
          <a:bodyPr/>
          <a:lstStyle/>
          <a:p>
            <a:fld id="{D8DA9DAA-006C-4F4B-980E-E3DF019B24E2}" type="slidenum">
              <a:rPr lang="en-US" smtClean="0"/>
              <a:pPr/>
              <a:t>69</a:t>
            </a:fld>
            <a:endParaRPr lang="en-US" dirty="0"/>
          </a:p>
        </p:txBody>
      </p:sp>
      <p:sp>
        <p:nvSpPr>
          <p:cNvPr id="7" name="Rectangle 6">
            <a:extLst>
              <a:ext uri="{FF2B5EF4-FFF2-40B4-BE49-F238E27FC236}">
                <a16:creationId xmlns:a16="http://schemas.microsoft.com/office/drawing/2014/main" id="{3D674DA0-85F5-4B7A-97BA-E0103B06064C}"/>
              </a:ext>
            </a:extLst>
          </p:cNvPr>
          <p:cNvSpPr/>
          <p:nvPr/>
        </p:nvSpPr>
        <p:spPr>
          <a:xfrm>
            <a:off x="533400" y="1141998"/>
            <a:ext cx="11217322" cy="646331"/>
          </a:xfrm>
          <a:prstGeom prst="rect">
            <a:avLst/>
          </a:prstGeom>
        </p:spPr>
        <p:txBody>
          <a:bodyPr wrap="square">
            <a:spAutoFit/>
          </a:bodyPr>
          <a:lstStyle/>
          <a:p>
            <a:pPr algn="just"/>
            <a:r>
              <a:rPr lang="en-US" dirty="0">
                <a:solidFill>
                  <a:srgbClr val="333333"/>
                </a:solidFill>
                <a:latin typeface="inter-regular"/>
              </a:rPr>
              <a:t>Let's see a simple example of run time polymorphism in C++.</a:t>
            </a:r>
          </a:p>
          <a:p>
            <a:pPr algn="just"/>
            <a:r>
              <a:rPr lang="en-US" dirty="0">
                <a:solidFill>
                  <a:srgbClr val="333333"/>
                </a:solidFill>
                <a:latin typeface="inter-regular"/>
              </a:rPr>
              <a:t>// an example without the virtual keyword.</a:t>
            </a:r>
            <a:endParaRPr lang="en-US" b="0" i="0" dirty="0">
              <a:solidFill>
                <a:srgbClr val="333333"/>
              </a:solidFill>
              <a:effectLst/>
              <a:latin typeface="inter-regular"/>
            </a:endParaRPr>
          </a:p>
        </p:txBody>
      </p:sp>
      <p:sp>
        <p:nvSpPr>
          <p:cNvPr id="8" name="Rectangle 7">
            <a:extLst>
              <a:ext uri="{FF2B5EF4-FFF2-40B4-BE49-F238E27FC236}">
                <a16:creationId xmlns:a16="http://schemas.microsoft.com/office/drawing/2014/main" id="{7BE61A4C-5436-40B7-A14D-69D8831DD3DE}"/>
              </a:ext>
            </a:extLst>
          </p:cNvPr>
          <p:cNvSpPr/>
          <p:nvPr/>
        </p:nvSpPr>
        <p:spPr>
          <a:xfrm>
            <a:off x="810906" y="2068686"/>
            <a:ext cx="4552666" cy="3416320"/>
          </a:xfrm>
          <a:prstGeom prst="rect">
            <a:avLst/>
          </a:prstGeom>
        </p:spPr>
        <p:txBody>
          <a:bodyPr wrap="square">
            <a:spAutoFit/>
          </a:bodyPr>
          <a:lstStyle/>
          <a:p>
            <a:pPr algn="just"/>
            <a:r>
              <a:rPr lang="en-US" sz="2400" dirty="0">
                <a:solidFill>
                  <a:srgbClr val="0000FF"/>
                </a:solidFill>
                <a:latin typeface="inter-regular"/>
              </a:rPr>
              <a:t>#include &lt;iostream&gt;  </a:t>
            </a:r>
            <a:r>
              <a:rPr lang="en-US" sz="2400" dirty="0">
                <a:solidFill>
                  <a:srgbClr val="000000"/>
                </a:solidFill>
                <a:latin typeface="inter-regular"/>
              </a:rPr>
              <a:t>  </a:t>
            </a:r>
          </a:p>
          <a:p>
            <a:pPr algn="just"/>
            <a:r>
              <a:rPr lang="en-US" sz="2400" b="1" dirty="0">
                <a:solidFill>
                  <a:srgbClr val="006699"/>
                </a:solidFill>
                <a:latin typeface="inter-regular"/>
              </a:rPr>
              <a:t>using</a:t>
            </a:r>
            <a:r>
              <a:rPr lang="en-US" sz="2400" dirty="0">
                <a:solidFill>
                  <a:srgbClr val="000000"/>
                </a:solidFill>
                <a:latin typeface="inter-regular"/>
              </a:rPr>
              <a:t> </a:t>
            </a:r>
            <a:r>
              <a:rPr lang="en-US" sz="2400" b="1" dirty="0">
                <a:solidFill>
                  <a:srgbClr val="006699"/>
                </a:solidFill>
                <a:latin typeface="inter-regular"/>
              </a:rPr>
              <a:t>namespace</a:t>
            </a:r>
            <a:r>
              <a:rPr lang="en-US" sz="2400" dirty="0">
                <a:solidFill>
                  <a:srgbClr val="000000"/>
                </a:solidFill>
                <a:latin typeface="inter-regular"/>
              </a:rPr>
              <a:t> std;    </a:t>
            </a:r>
          </a:p>
          <a:p>
            <a:pPr algn="just"/>
            <a:r>
              <a:rPr lang="en-US" sz="2400" b="1" dirty="0">
                <a:solidFill>
                  <a:srgbClr val="006699"/>
                </a:solidFill>
                <a:latin typeface="inter-regular"/>
              </a:rPr>
              <a:t>class</a:t>
            </a:r>
            <a:r>
              <a:rPr lang="en-US" sz="2400" dirty="0">
                <a:solidFill>
                  <a:srgbClr val="000000"/>
                </a:solidFill>
                <a:latin typeface="inter-regular"/>
              </a:rPr>
              <a:t> Animal {    </a:t>
            </a:r>
          </a:p>
          <a:p>
            <a:pPr algn="just"/>
            <a:r>
              <a:rPr lang="en-US" sz="2400" dirty="0">
                <a:solidFill>
                  <a:srgbClr val="000000"/>
                </a:solidFill>
                <a:latin typeface="inter-regular"/>
              </a:rPr>
              <a:t>    </a:t>
            </a:r>
            <a:r>
              <a:rPr lang="en-US" sz="2400" b="1" dirty="0">
                <a:solidFill>
                  <a:srgbClr val="006699"/>
                </a:solidFill>
                <a:latin typeface="inter-regular"/>
              </a:rPr>
              <a:t>public</a:t>
            </a:r>
            <a:r>
              <a:rPr lang="en-US" sz="2400" dirty="0">
                <a:solidFill>
                  <a:srgbClr val="000000"/>
                </a:solidFill>
                <a:latin typeface="inter-regular"/>
              </a:rPr>
              <a:t>:    </a:t>
            </a:r>
          </a:p>
          <a:p>
            <a:pPr algn="just"/>
            <a:r>
              <a:rPr lang="en-US" sz="2400" b="1" dirty="0">
                <a:solidFill>
                  <a:srgbClr val="006699"/>
                </a:solidFill>
                <a:latin typeface="inter-regular"/>
              </a:rPr>
              <a:t>void</a:t>
            </a:r>
            <a:r>
              <a:rPr lang="en-US" sz="2400" dirty="0">
                <a:solidFill>
                  <a:srgbClr val="000000"/>
                </a:solidFill>
                <a:latin typeface="inter-regular"/>
              </a:rPr>
              <a:t> eat(){      </a:t>
            </a:r>
          </a:p>
          <a:p>
            <a:pPr algn="just"/>
            <a:r>
              <a:rPr lang="en-US" sz="2400" dirty="0" err="1">
                <a:solidFill>
                  <a:srgbClr val="000000"/>
                </a:solidFill>
                <a:latin typeface="inter-regular"/>
              </a:rPr>
              <a:t>cout</a:t>
            </a:r>
            <a:r>
              <a:rPr lang="en-US" sz="2400" dirty="0">
                <a:solidFill>
                  <a:srgbClr val="000000"/>
                </a:solidFill>
                <a:latin typeface="inter-regular"/>
              </a:rPr>
              <a:t>&lt;&lt;</a:t>
            </a:r>
            <a:r>
              <a:rPr lang="en-US" sz="2400" dirty="0">
                <a:solidFill>
                  <a:srgbClr val="0000FF"/>
                </a:solidFill>
                <a:latin typeface="inter-regular"/>
              </a:rPr>
              <a:t>"Eating..."</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a:t>
            </a:r>
          </a:p>
          <a:p>
            <a:pPr algn="just"/>
            <a:r>
              <a:rPr lang="en-US" sz="2400" dirty="0">
                <a:solidFill>
                  <a:srgbClr val="000000"/>
                </a:solidFill>
                <a:latin typeface="inter-regular"/>
              </a:rPr>
              <a:t> </a:t>
            </a:r>
            <a:endParaRPr lang="en-US" sz="2400" b="0" i="0" dirty="0">
              <a:solidFill>
                <a:srgbClr val="000000"/>
              </a:solidFill>
              <a:effectLst/>
              <a:latin typeface="inter-regular"/>
            </a:endParaRPr>
          </a:p>
        </p:txBody>
      </p:sp>
      <p:sp>
        <p:nvSpPr>
          <p:cNvPr id="9" name="Rectangle 8">
            <a:extLst>
              <a:ext uri="{FF2B5EF4-FFF2-40B4-BE49-F238E27FC236}">
                <a16:creationId xmlns:a16="http://schemas.microsoft.com/office/drawing/2014/main" id="{A3550E51-4B24-4DF0-96D7-9A6297A7CC23}"/>
              </a:ext>
            </a:extLst>
          </p:cNvPr>
          <p:cNvSpPr/>
          <p:nvPr/>
        </p:nvSpPr>
        <p:spPr>
          <a:xfrm>
            <a:off x="5622878" y="1708415"/>
            <a:ext cx="6127844" cy="4524315"/>
          </a:xfrm>
          <a:prstGeom prst="rect">
            <a:avLst/>
          </a:prstGeom>
        </p:spPr>
        <p:txBody>
          <a:bodyPr wrap="square">
            <a:spAutoFit/>
          </a:bodyPr>
          <a:lstStyle/>
          <a:p>
            <a:pPr algn="just"/>
            <a:r>
              <a:rPr lang="en-US" sz="2400" b="1" dirty="0">
                <a:solidFill>
                  <a:srgbClr val="006699"/>
                </a:solidFill>
                <a:latin typeface="inter-regular"/>
              </a:rPr>
              <a:t>class</a:t>
            </a:r>
            <a:r>
              <a:rPr lang="en-US" sz="2400" dirty="0">
                <a:solidFill>
                  <a:srgbClr val="000000"/>
                </a:solidFill>
                <a:latin typeface="inter-regular"/>
              </a:rPr>
              <a:t> Dog: </a:t>
            </a:r>
            <a:r>
              <a:rPr lang="en-US" sz="2400" b="1" dirty="0">
                <a:solidFill>
                  <a:srgbClr val="006699"/>
                </a:solidFill>
                <a:latin typeface="inter-regular"/>
              </a:rPr>
              <a:t>public</a:t>
            </a:r>
            <a:r>
              <a:rPr lang="en-US" sz="2400" dirty="0">
                <a:solidFill>
                  <a:srgbClr val="000000"/>
                </a:solidFill>
                <a:latin typeface="inter-regular"/>
              </a:rPr>
              <a:t> Animal      </a:t>
            </a:r>
          </a:p>
          <a:p>
            <a:pPr algn="just"/>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public</a:t>
            </a:r>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void</a:t>
            </a:r>
            <a:r>
              <a:rPr lang="en-US" sz="2400" dirty="0">
                <a:solidFill>
                  <a:srgbClr val="000000"/>
                </a:solidFill>
                <a:latin typeface="inter-regular"/>
              </a:rPr>
              <a:t> eat()  {</a:t>
            </a:r>
          </a:p>
          <a:p>
            <a:pPr algn="just"/>
            <a:r>
              <a:rPr lang="en-US" sz="2400" dirty="0">
                <a:solidFill>
                  <a:srgbClr val="000000"/>
                </a:solidFill>
                <a:latin typeface="inter-regular"/>
              </a:rPr>
              <a:t>           </a:t>
            </a:r>
            <a:r>
              <a:rPr lang="en-US" sz="2400" dirty="0" err="1">
                <a:solidFill>
                  <a:srgbClr val="000000"/>
                </a:solidFill>
                <a:latin typeface="inter-regular"/>
              </a:rPr>
              <a:t>cout</a:t>
            </a:r>
            <a:r>
              <a:rPr lang="en-US" sz="2400" dirty="0">
                <a:solidFill>
                  <a:srgbClr val="000000"/>
                </a:solidFill>
                <a:latin typeface="inter-regular"/>
              </a:rPr>
              <a:t>&lt;&lt;</a:t>
            </a:r>
            <a:r>
              <a:rPr lang="en-US" sz="2400" dirty="0">
                <a:solidFill>
                  <a:srgbClr val="0000FF"/>
                </a:solidFill>
                <a:latin typeface="inter-regular"/>
              </a:rPr>
              <a:t>"Eating bread..."</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a:t>
            </a:r>
          </a:p>
          <a:p>
            <a:pPr algn="just"/>
            <a:r>
              <a:rPr lang="en-US" sz="2400" b="1" dirty="0">
                <a:solidFill>
                  <a:srgbClr val="2E8B57"/>
                </a:solidFill>
                <a:latin typeface="inter-regular"/>
              </a:rPr>
              <a:t>int</a:t>
            </a:r>
            <a:r>
              <a:rPr lang="en-US" sz="2400" dirty="0">
                <a:solidFill>
                  <a:srgbClr val="000000"/>
                </a:solidFill>
                <a:latin typeface="inter-regular"/>
              </a:rPr>
              <a:t> main(</a:t>
            </a:r>
            <a:r>
              <a:rPr lang="en-US" sz="2400" b="1" dirty="0">
                <a:solidFill>
                  <a:srgbClr val="006699"/>
                </a:solidFill>
                <a:latin typeface="inter-regular"/>
              </a:rPr>
              <a:t>void</a:t>
            </a:r>
            <a:r>
              <a:rPr lang="en-US" sz="2400" dirty="0">
                <a:solidFill>
                  <a:srgbClr val="000000"/>
                </a:solidFill>
                <a:latin typeface="inter-regular"/>
              </a:rPr>
              <a:t>) {    </a:t>
            </a:r>
          </a:p>
          <a:p>
            <a:pPr algn="just"/>
            <a:r>
              <a:rPr lang="en-US" sz="2400" dirty="0">
                <a:solidFill>
                  <a:srgbClr val="000000"/>
                </a:solidFill>
                <a:latin typeface="inter-regular"/>
              </a:rPr>
              <a:t>   Dog d = Dog();      </a:t>
            </a:r>
          </a:p>
          <a:p>
            <a:pPr algn="just"/>
            <a:r>
              <a:rPr lang="en-US" sz="2400" dirty="0">
                <a:solidFill>
                  <a:srgbClr val="000000"/>
                </a:solidFill>
                <a:latin typeface="inter-regular"/>
              </a:rPr>
              <a:t>   </a:t>
            </a:r>
            <a:r>
              <a:rPr lang="en-US" sz="2400" dirty="0" err="1">
                <a:solidFill>
                  <a:srgbClr val="000000"/>
                </a:solidFill>
                <a:latin typeface="inter-regular"/>
              </a:rPr>
              <a:t>d.eat</a:t>
            </a:r>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return</a:t>
            </a:r>
            <a:r>
              <a:rPr lang="en-US" sz="2400" dirty="0">
                <a:solidFill>
                  <a:srgbClr val="000000"/>
                </a:solidFill>
                <a:latin typeface="inter-regular"/>
              </a:rPr>
              <a:t> 0;    </a:t>
            </a:r>
          </a:p>
          <a:p>
            <a:pPr algn="just"/>
            <a:r>
              <a:rPr lang="en-US" sz="2400" dirty="0">
                <a:solidFill>
                  <a:srgbClr val="000000"/>
                </a:solidFill>
                <a:latin typeface="inter-regular"/>
              </a:rPr>
              <a:t>}   </a:t>
            </a:r>
            <a:endParaRPr lang="en-US" sz="2400" dirty="0"/>
          </a:p>
        </p:txBody>
      </p:sp>
      <p:sp>
        <p:nvSpPr>
          <p:cNvPr id="10" name="Rectangle 1">
            <a:extLst>
              <a:ext uri="{FF2B5EF4-FFF2-40B4-BE49-F238E27FC236}">
                <a16:creationId xmlns:a16="http://schemas.microsoft.com/office/drawing/2014/main" id="{8C7EA6F7-0C7C-4382-9D72-4A6F2FAC72D4}"/>
              </a:ext>
            </a:extLst>
          </p:cNvPr>
          <p:cNvSpPr>
            <a:spLocks noChangeArrowheads="1"/>
          </p:cNvSpPr>
          <p:nvPr/>
        </p:nvSpPr>
        <p:spPr bwMode="auto">
          <a:xfrm>
            <a:off x="539087" y="5765364"/>
            <a:ext cx="10814713"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333333"/>
                </a:solidFill>
                <a:effectLst/>
                <a:latin typeface="inter-bold"/>
              </a:rPr>
              <a:t>Output:</a:t>
            </a:r>
            <a:endParaRPr kumimoji="0" lang="en-US" altLang="en-US" sz="11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535559"/>
                </a:solidFill>
                <a:effectLst/>
                <a:latin typeface="Arial Unicode MS"/>
              </a:rPr>
              <a:t>Eating bread...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70860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7284-A264-4E78-A082-E62CB7D8E547}"/>
              </a:ext>
            </a:extLst>
          </p:cNvPr>
          <p:cNvSpPr>
            <a:spLocks noGrp="1"/>
          </p:cNvSpPr>
          <p:nvPr>
            <p:ph type="title"/>
          </p:nvPr>
        </p:nvSpPr>
        <p:spPr>
          <a:xfrm>
            <a:off x="381592" y="270498"/>
            <a:ext cx="11205358" cy="1179576"/>
          </a:xfrm>
        </p:spPr>
        <p:txBody>
          <a:bodyPr>
            <a:normAutofit fontScale="90000"/>
          </a:bodyPr>
          <a:lstStyle/>
          <a:p>
            <a:r>
              <a:rPr lang="en-US" dirty="0"/>
              <a:t>C++ Run time Polymorphism Example: By using two derived class</a:t>
            </a:r>
          </a:p>
        </p:txBody>
      </p:sp>
      <p:sp>
        <p:nvSpPr>
          <p:cNvPr id="3" name="Content Placeholder 2">
            <a:extLst>
              <a:ext uri="{FF2B5EF4-FFF2-40B4-BE49-F238E27FC236}">
                <a16:creationId xmlns:a16="http://schemas.microsoft.com/office/drawing/2014/main" id="{2FA5F07F-19D4-414B-A4DA-8792793C1410}"/>
              </a:ext>
            </a:extLst>
          </p:cNvPr>
          <p:cNvSpPr>
            <a:spLocks noGrp="1"/>
          </p:cNvSpPr>
          <p:nvPr>
            <p:ph idx="1"/>
          </p:nvPr>
        </p:nvSpPr>
        <p:spPr>
          <a:xfrm>
            <a:off x="504263" y="1450074"/>
            <a:ext cx="10960016" cy="909405"/>
          </a:xfrm>
        </p:spPr>
        <p:txBody>
          <a:bodyPr/>
          <a:lstStyle/>
          <a:p>
            <a:r>
              <a:rPr lang="en-US" dirty="0"/>
              <a:t>Let's see another example of run time polymorphism in C++ where we are having two derived classes.</a:t>
            </a:r>
          </a:p>
          <a:p>
            <a:r>
              <a:rPr lang="en-US" dirty="0"/>
              <a:t>// an example with virtual keyword.</a:t>
            </a:r>
          </a:p>
          <a:p>
            <a:endParaRPr lang="en-US" dirty="0"/>
          </a:p>
        </p:txBody>
      </p:sp>
      <p:sp>
        <p:nvSpPr>
          <p:cNvPr id="4" name="Date Placeholder 3">
            <a:extLst>
              <a:ext uri="{FF2B5EF4-FFF2-40B4-BE49-F238E27FC236}">
                <a16:creationId xmlns:a16="http://schemas.microsoft.com/office/drawing/2014/main" id="{7F2560BC-476A-4FC5-A135-56C42F279D9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7B42596A-B6CD-42CC-B63D-5C04366467D3}"/>
              </a:ext>
            </a:extLst>
          </p:cNvPr>
          <p:cNvSpPr>
            <a:spLocks noGrp="1"/>
          </p:cNvSpPr>
          <p:nvPr>
            <p:ph type="sldNum" sz="quarter" idx="12"/>
          </p:nvPr>
        </p:nvSpPr>
        <p:spPr/>
        <p:txBody>
          <a:bodyPr/>
          <a:lstStyle/>
          <a:p>
            <a:fld id="{D8DA9DAA-006C-4F4B-980E-E3DF019B24E2}" type="slidenum">
              <a:rPr lang="en-US" smtClean="0"/>
              <a:pPr/>
              <a:t>70</a:t>
            </a:fld>
            <a:endParaRPr lang="en-US" dirty="0"/>
          </a:p>
        </p:txBody>
      </p:sp>
      <p:sp>
        <p:nvSpPr>
          <p:cNvPr id="6" name="Rectangle 5">
            <a:extLst>
              <a:ext uri="{FF2B5EF4-FFF2-40B4-BE49-F238E27FC236}">
                <a16:creationId xmlns:a16="http://schemas.microsoft.com/office/drawing/2014/main" id="{3BAEB08A-8D19-4C18-89EE-F2CB9FE84011}"/>
              </a:ext>
            </a:extLst>
          </p:cNvPr>
          <p:cNvSpPr/>
          <p:nvPr/>
        </p:nvSpPr>
        <p:spPr>
          <a:xfrm>
            <a:off x="425196" y="2892400"/>
            <a:ext cx="5402398" cy="2554545"/>
          </a:xfrm>
          <a:prstGeom prst="rect">
            <a:avLst/>
          </a:prstGeom>
        </p:spPr>
        <p:txBody>
          <a:bodyPr wrap="square">
            <a:spAutoFit/>
          </a:bodyPr>
          <a:lstStyle/>
          <a:p>
            <a:pPr algn="just"/>
            <a:r>
              <a:rPr lang="en-US" sz="2000" dirty="0">
                <a:solidFill>
                  <a:srgbClr val="0000FF"/>
                </a:solidFill>
                <a:latin typeface="inter-regular"/>
              </a:rPr>
              <a:t>#include &lt;iostream&gt;  </a:t>
            </a:r>
            <a:r>
              <a:rPr lang="en-US" sz="2000" dirty="0">
                <a:solidFill>
                  <a:srgbClr val="000000"/>
                </a:solidFill>
                <a:latin typeface="inter-regular"/>
              </a:rPr>
              <a:t>  </a:t>
            </a:r>
          </a:p>
          <a:p>
            <a:pPr algn="just"/>
            <a:r>
              <a:rPr lang="en-US" sz="2000" b="1" dirty="0">
                <a:solidFill>
                  <a:srgbClr val="006699"/>
                </a:solidFill>
                <a:latin typeface="inter-regular"/>
              </a:rPr>
              <a:t>using</a:t>
            </a:r>
            <a:r>
              <a:rPr lang="en-US" sz="2000" dirty="0">
                <a:solidFill>
                  <a:srgbClr val="000000"/>
                </a:solidFill>
                <a:latin typeface="inter-regular"/>
              </a:rPr>
              <a:t> </a:t>
            </a:r>
            <a:r>
              <a:rPr lang="en-US" sz="2000" b="1" dirty="0">
                <a:solidFill>
                  <a:srgbClr val="006699"/>
                </a:solidFill>
                <a:latin typeface="inter-regular"/>
              </a:rPr>
              <a:t>namespace</a:t>
            </a:r>
            <a:r>
              <a:rPr lang="en-US" sz="2000" dirty="0">
                <a:solidFill>
                  <a:srgbClr val="000000"/>
                </a:solidFill>
                <a:latin typeface="inter-regular"/>
              </a:rPr>
              <a:t> std;    </a:t>
            </a:r>
          </a:p>
          <a:p>
            <a:pPr algn="just"/>
            <a:r>
              <a:rPr lang="en-US" sz="2000" b="1" dirty="0">
                <a:solidFill>
                  <a:srgbClr val="006699"/>
                </a:solidFill>
                <a:latin typeface="inter-regular"/>
              </a:rPr>
              <a:t>class</a:t>
            </a:r>
            <a:r>
              <a:rPr lang="en-US" sz="2000" dirty="0">
                <a:solidFill>
                  <a:srgbClr val="000000"/>
                </a:solidFill>
                <a:latin typeface="inter-regular"/>
              </a:rPr>
              <a:t> Shape {                            </a:t>
            </a:r>
            <a:r>
              <a:rPr lang="en-US" sz="2000" dirty="0">
                <a:solidFill>
                  <a:srgbClr val="008200"/>
                </a:solidFill>
                <a:latin typeface="inter-regular"/>
              </a:rPr>
              <a:t>//  base class</a:t>
            </a:r>
            <a:r>
              <a:rPr lang="en-US" sz="2000" dirty="0">
                <a:solidFill>
                  <a:srgbClr val="000000"/>
                </a:solidFill>
                <a:latin typeface="inter-regular"/>
              </a:rPr>
              <a:t>  </a:t>
            </a:r>
          </a:p>
          <a:p>
            <a:pPr algn="just"/>
            <a:r>
              <a:rPr lang="en-US" sz="2000" dirty="0">
                <a:solidFill>
                  <a:srgbClr val="000000"/>
                </a:solidFill>
                <a:latin typeface="inter-regular"/>
              </a:rPr>
              <a:t>    </a:t>
            </a:r>
            <a:r>
              <a:rPr lang="en-US" sz="2000" b="1" dirty="0">
                <a:solidFill>
                  <a:srgbClr val="006699"/>
                </a:solidFill>
                <a:latin typeface="inter-regular"/>
              </a:rPr>
              <a:t>public</a:t>
            </a:r>
            <a:r>
              <a:rPr lang="en-US" sz="2000" dirty="0">
                <a:solidFill>
                  <a:srgbClr val="000000"/>
                </a:solidFill>
                <a:latin typeface="inter-regular"/>
              </a:rPr>
              <a:t>:    </a:t>
            </a:r>
          </a:p>
          <a:p>
            <a:pPr algn="just"/>
            <a:r>
              <a:rPr lang="en-US" sz="2000" b="1" dirty="0">
                <a:solidFill>
                  <a:srgbClr val="006699"/>
                </a:solidFill>
                <a:latin typeface="inter-regular"/>
              </a:rPr>
              <a:t>virtual</a:t>
            </a:r>
            <a:r>
              <a:rPr lang="en-US" sz="2000" dirty="0">
                <a:solidFill>
                  <a:srgbClr val="000000"/>
                </a:solidFill>
                <a:latin typeface="inter-regular"/>
              </a:rPr>
              <a:t> </a:t>
            </a:r>
            <a:r>
              <a:rPr lang="en-US" sz="2000" b="1" dirty="0">
                <a:solidFill>
                  <a:srgbClr val="006699"/>
                </a:solidFill>
                <a:latin typeface="inter-regular"/>
              </a:rPr>
              <a:t>void</a:t>
            </a:r>
            <a:r>
              <a:rPr lang="en-US" sz="2000" dirty="0">
                <a:solidFill>
                  <a:srgbClr val="000000"/>
                </a:solidFill>
                <a:latin typeface="inter-regular"/>
              </a:rPr>
              <a:t> draw(){               </a:t>
            </a:r>
            <a:r>
              <a:rPr lang="en-US" sz="2000" dirty="0">
                <a:solidFill>
                  <a:srgbClr val="008200"/>
                </a:solidFill>
                <a:latin typeface="inter-regular"/>
              </a:rPr>
              <a:t>// virtual function</a:t>
            </a:r>
            <a:r>
              <a:rPr lang="en-US" sz="2000" dirty="0">
                <a:solidFill>
                  <a:srgbClr val="000000"/>
                </a:solidFill>
                <a:latin typeface="inter-regular"/>
              </a:rPr>
              <a:t>  </a:t>
            </a:r>
          </a:p>
          <a:p>
            <a:pPr algn="just"/>
            <a:r>
              <a:rPr lang="en-US" sz="2000" dirty="0" err="1">
                <a:solidFill>
                  <a:srgbClr val="000000"/>
                </a:solidFill>
                <a:latin typeface="inter-regular"/>
              </a:rPr>
              <a:t>cout</a:t>
            </a:r>
            <a:r>
              <a:rPr lang="en-US" sz="2000" dirty="0">
                <a:solidFill>
                  <a:srgbClr val="000000"/>
                </a:solidFill>
                <a:latin typeface="inter-regular"/>
              </a:rPr>
              <a:t>&lt;&lt;</a:t>
            </a:r>
            <a:r>
              <a:rPr lang="en-US" sz="2000" dirty="0">
                <a:solidFill>
                  <a:srgbClr val="0000FF"/>
                </a:solidFill>
                <a:latin typeface="inter-regular"/>
              </a:rPr>
              <a:t>"drawing..."</a:t>
            </a:r>
            <a:r>
              <a:rPr lang="en-US" sz="2000" dirty="0">
                <a:solidFill>
                  <a:srgbClr val="000000"/>
                </a:solidFill>
                <a:latin typeface="inter-regular"/>
              </a:rPr>
              <a:t>&lt;&lt;</a:t>
            </a:r>
            <a:r>
              <a:rPr lang="en-US" sz="2000" dirty="0" err="1">
                <a:solidFill>
                  <a:srgbClr val="000000"/>
                </a:solidFill>
                <a:latin typeface="inter-regular"/>
              </a:rPr>
              <a:t>endl</a:t>
            </a:r>
            <a:r>
              <a:rPr lang="en-US" sz="2000" dirty="0">
                <a:solidFill>
                  <a:srgbClr val="000000"/>
                </a:solidFill>
                <a:latin typeface="inter-regular"/>
              </a:rPr>
              <a:t>;      </a:t>
            </a:r>
          </a:p>
          <a:p>
            <a:pPr algn="just"/>
            <a:r>
              <a:rPr lang="en-US" sz="2000" dirty="0">
                <a:solidFill>
                  <a:srgbClr val="000000"/>
                </a:solidFill>
                <a:latin typeface="inter-regular"/>
              </a:rPr>
              <a:t>    }        </a:t>
            </a:r>
          </a:p>
          <a:p>
            <a:pPr algn="just"/>
            <a:r>
              <a:rPr lang="en-US" sz="2000" dirty="0">
                <a:solidFill>
                  <a:srgbClr val="000000"/>
                </a:solidFill>
                <a:latin typeface="inter-regular"/>
              </a:rPr>
              <a:t>};   </a:t>
            </a:r>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BA5FADE9-A102-48DE-80AF-0F78AC729E14}"/>
              </a:ext>
            </a:extLst>
          </p:cNvPr>
          <p:cNvSpPr/>
          <p:nvPr/>
        </p:nvSpPr>
        <p:spPr>
          <a:xfrm>
            <a:off x="6052396" y="2819923"/>
            <a:ext cx="5714408" cy="3416320"/>
          </a:xfrm>
          <a:prstGeom prst="rect">
            <a:avLst/>
          </a:prstGeom>
        </p:spPr>
        <p:txBody>
          <a:bodyPr wrap="square">
            <a:spAutoFit/>
          </a:bodyPr>
          <a:lstStyle/>
          <a:p>
            <a:pPr algn="just"/>
            <a:r>
              <a:rPr lang="en-US" sz="2400" b="1" dirty="0">
                <a:solidFill>
                  <a:srgbClr val="006699"/>
                </a:solidFill>
                <a:latin typeface="inter-regular"/>
              </a:rPr>
              <a:t>class</a:t>
            </a:r>
            <a:r>
              <a:rPr lang="en-US" sz="2400" dirty="0">
                <a:solidFill>
                  <a:srgbClr val="000000"/>
                </a:solidFill>
                <a:latin typeface="inter-regular"/>
              </a:rPr>
              <a:t> Rectangle: </a:t>
            </a:r>
            <a:r>
              <a:rPr lang="en-US" sz="2400" b="1" dirty="0">
                <a:solidFill>
                  <a:srgbClr val="006699"/>
                </a:solidFill>
                <a:latin typeface="inter-regular"/>
              </a:rPr>
              <a:t>public</a:t>
            </a:r>
            <a:r>
              <a:rPr lang="en-US" sz="2400" dirty="0">
                <a:solidFill>
                  <a:srgbClr val="000000"/>
                </a:solidFill>
                <a:latin typeface="inter-regular"/>
              </a:rPr>
              <a:t> Shape </a:t>
            </a:r>
            <a:r>
              <a:rPr lang="en-US" sz="2400" dirty="0">
                <a:solidFill>
                  <a:srgbClr val="008200"/>
                </a:solidFill>
                <a:latin typeface="inter-regular"/>
              </a:rPr>
              <a:t>//  inheriting Shape class.</a:t>
            </a:r>
            <a:r>
              <a:rPr lang="en-US" sz="2400" dirty="0">
                <a:solidFill>
                  <a:srgbClr val="000000"/>
                </a:solidFill>
                <a:latin typeface="inter-regular"/>
              </a:rPr>
              <a:t>  </a:t>
            </a:r>
          </a:p>
          <a:p>
            <a:pPr algn="just"/>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public</a:t>
            </a:r>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void</a:t>
            </a:r>
            <a:r>
              <a:rPr lang="en-US" sz="2400" dirty="0">
                <a:solidFill>
                  <a:srgbClr val="000000"/>
                </a:solidFill>
                <a:latin typeface="inter-regular"/>
              </a:rPr>
              <a:t> draw()      </a:t>
            </a:r>
          </a:p>
          <a:p>
            <a:pPr algn="just"/>
            <a:r>
              <a:rPr lang="en-US" sz="2400" dirty="0">
                <a:solidFill>
                  <a:srgbClr val="000000"/>
                </a:solidFill>
                <a:latin typeface="inter-regular"/>
              </a:rPr>
              <a:t>   {      </a:t>
            </a:r>
          </a:p>
          <a:p>
            <a:pPr algn="just"/>
            <a:r>
              <a:rPr lang="en-US" sz="2400" dirty="0">
                <a:solidFill>
                  <a:srgbClr val="000000"/>
                </a:solidFill>
                <a:latin typeface="inter-regular"/>
              </a:rPr>
              <a:t>       </a:t>
            </a:r>
            <a:r>
              <a:rPr lang="en-US" sz="2400" dirty="0" err="1">
                <a:solidFill>
                  <a:srgbClr val="000000"/>
                </a:solidFill>
                <a:latin typeface="inter-regular"/>
              </a:rPr>
              <a:t>cout</a:t>
            </a:r>
            <a:r>
              <a:rPr lang="en-US" sz="2400" dirty="0">
                <a:solidFill>
                  <a:srgbClr val="000000"/>
                </a:solidFill>
                <a:latin typeface="inter-regular"/>
              </a:rPr>
              <a:t>&lt;&lt;</a:t>
            </a:r>
            <a:r>
              <a:rPr lang="en-US" sz="2400" dirty="0">
                <a:solidFill>
                  <a:srgbClr val="0000FF"/>
                </a:solidFill>
                <a:latin typeface="inter-regular"/>
              </a:rPr>
              <a:t>"drawing rectangle..."</a:t>
            </a:r>
            <a:r>
              <a:rPr lang="en-US" sz="2400" dirty="0">
                <a:solidFill>
                  <a:srgbClr val="000000"/>
                </a:solidFill>
                <a:latin typeface="inter-regular"/>
              </a:rPr>
              <a:t>&lt;&lt;</a:t>
            </a:r>
            <a:r>
              <a:rPr lang="en-US" sz="2400" dirty="0" err="1">
                <a:solidFill>
                  <a:srgbClr val="000000"/>
                </a:solidFill>
                <a:latin typeface="inter-regular"/>
              </a:rPr>
              <a:t>endl</a:t>
            </a:r>
            <a:r>
              <a:rPr lang="en-US" sz="2400" dirty="0">
                <a:solidFill>
                  <a:srgbClr val="000000"/>
                </a:solidFill>
                <a:latin typeface="inter-regular"/>
              </a:rPr>
              <a:t>;      </a:t>
            </a:r>
          </a:p>
          <a:p>
            <a:pPr algn="just"/>
            <a:r>
              <a:rPr lang="en-US" sz="2400" dirty="0">
                <a:solidFill>
                  <a:srgbClr val="000000"/>
                </a:solidFill>
                <a:latin typeface="inter-regular"/>
              </a:rPr>
              <a:t>    }      </a:t>
            </a:r>
          </a:p>
          <a:p>
            <a:pPr algn="just"/>
            <a:r>
              <a:rPr lang="en-US" sz="2400" dirty="0">
                <a:solidFill>
                  <a:srgbClr val="000000"/>
                </a:solidFill>
                <a:latin typeface="inter-regular"/>
              </a:rPr>
              <a:t>};    </a:t>
            </a:r>
            <a:endParaRPr lang="en-US" sz="2400" b="0" i="0" dirty="0">
              <a:solidFill>
                <a:srgbClr val="000000"/>
              </a:solidFill>
              <a:effectLst/>
              <a:latin typeface="inter-regular"/>
            </a:endParaRPr>
          </a:p>
        </p:txBody>
      </p:sp>
    </p:spTree>
    <p:extLst>
      <p:ext uri="{BB962C8B-B14F-4D97-AF65-F5344CB8AC3E}">
        <p14:creationId xmlns:p14="http://schemas.microsoft.com/office/powerpoint/2010/main" val="22190553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114DE11-264C-47F8-A566-8862A172331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E0DD9883-639C-4FD9-B5D3-62B6EF2CD2BE}"/>
              </a:ext>
            </a:extLst>
          </p:cNvPr>
          <p:cNvSpPr>
            <a:spLocks noGrp="1"/>
          </p:cNvSpPr>
          <p:nvPr>
            <p:ph type="sldNum" sz="quarter" idx="12"/>
          </p:nvPr>
        </p:nvSpPr>
        <p:spPr/>
        <p:txBody>
          <a:bodyPr/>
          <a:lstStyle/>
          <a:p>
            <a:fld id="{D8DA9DAA-006C-4F4B-980E-E3DF019B24E2}" type="slidenum">
              <a:rPr lang="en-US" smtClean="0"/>
              <a:pPr/>
              <a:t>71</a:t>
            </a:fld>
            <a:endParaRPr lang="en-US" dirty="0"/>
          </a:p>
        </p:txBody>
      </p:sp>
      <p:sp>
        <p:nvSpPr>
          <p:cNvPr id="6" name="Rectangle 5">
            <a:extLst>
              <a:ext uri="{FF2B5EF4-FFF2-40B4-BE49-F238E27FC236}">
                <a16:creationId xmlns:a16="http://schemas.microsoft.com/office/drawing/2014/main" id="{FCBBE44E-1876-4215-A949-8181619724C0}"/>
              </a:ext>
            </a:extLst>
          </p:cNvPr>
          <p:cNvSpPr/>
          <p:nvPr/>
        </p:nvSpPr>
        <p:spPr>
          <a:xfrm>
            <a:off x="141026" y="566678"/>
            <a:ext cx="8634673" cy="2862322"/>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Circle: </a:t>
            </a:r>
            <a:r>
              <a:rPr lang="en-US" b="1" dirty="0">
                <a:solidFill>
                  <a:srgbClr val="006699"/>
                </a:solidFill>
                <a:latin typeface="inter-regular"/>
              </a:rPr>
              <a:t>public</a:t>
            </a:r>
            <a:r>
              <a:rPr lang="en-US" dirty="0">
                <a:solidFill>
                  <a:srgbClr val="000000"/>
                </a:solidFill>
                <a:latin typeface="inter-regular"/>
              </a:rPr>
              <a:t> Shape                       </a:t>
            </a:r>
          </a:p>
          <a:p>
            <a:pPr algn="just"/>
            <a:r>
              <a:rPr lang="en-US" dirty="0">
                <a:solidFill>
                  <a:srgbClr val="000000"/>
                </a:solidFill>
                <a:latin typeface="inter-regular"/>
              </a:rPr>
              <a:t> </a:t>
            </a:r>
            <a:r>
              <a:rPr lang="en-US" dirty="0">
                <a:solidFill>
                  <a:srgbClr val="008200"/>
                </a:solidFill>
                <a:latin typeface="inter-regular"/>
              </a:rPr>
              <a:t>//  inheriting Shape class.</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draw()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"drawing circle..."</a:t>
            </a:r>
            <a:r>
              <a:rPr lang="en-US" dirty="0">
                <a:solidFill>
                  <a:srgbClr val="000000"/>
                </a:solidFill>
                <a:latin typeface="inter-regular"/>
              </a:rPr>
              <a:t>&lt;&lt;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A8FAC2D3-691D-4E3B-BFDD-A043C2781A63}"/>
              </a:ext>
            </a:extLst>
          </p:cNvPr>
          <p:cNvSpPr/>
          <p:nvPr/>
        </p:nvSpPr>
        <p:spPr>
          <a:xfrm>
            <a:off x="4981433" y="697258"/>
            <a:ext cx="6372367" cy="3416320"/>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Shape *s;                               </a:t>
            </a:r>
            <a:r>
              <a:rPr lang="en-US" dirty="0">
                <a:solidFill>
                  <a:srgbClr val="008200"/>
                </a:solidFill>
                <a:latin typeface="inter-regular"/>
              </a:rPr>
              <a:t>//  base class pointer.</a:t>
            </a:r>
            <a:r>
              <a:rPr lang="en-US" dirty="0">
                <a:solidFill>
                  <a:srgbClr val="000000"/>
                </a:solidFill>
                <a:latin typeface="inter-regular"/>
              </a:rPr>
              <a:t>  </a:t>
            </a:r>
          </a:p>
          <a:p>
            <a:pPr algn="just"/>
            <a:r>
              <a:rPr lang="en-US" dirty="0">
                <a:solidFill>
                  <a:srgbClr val="000000"/>
                </a:solidFill>
                <a:latin typeface="inter-regular"/>
              </a:rPr>
              <a:t>    Shape </a:t>
            </a:r>
            <a:r>
              <a:rPr lang="en-US" dirty="0" err="1">
                <a:solidFill>
                  <a:srgbClr val="000000"/>
                </a:solidFill>
                <a:latin typeface="inter-regular"/>
              </a:rPr>
              <a:t>sh</a:t>
            </a:r>
            <a:r>
              <a:rPr lang="en-US" dirty="0">
                <a:solidFill>
                  <a:srgbClr val="000000"/>
                </a:solidFill>
                <a:latin typeface="inter-regular"/>
              </a:rPr>
              <a:t>;                               </a:t>
            </a:r>
            <a:r>
              <a:rPr lang="en-US" dirty="0">
                <a:solidFill>
                  <a:srgbClr val="008200"/>
                </a:solidFill>
                <a:latin typeface="inter-regular"/>
              </a:rPr>
              <a:t>// base class object.</a:t>
            </a:r>
            <a:r>
              <a:rPr lang="en-US" dirty="0">
                <a:solidFill>
                  <a:srgbClr val="000000"/>
                </a:solidFill>
                <a:latin typeface="inter-regular"/>
              </a:rPr>
              <a:t>  </a:t>
            </a:r>
          </a:p>
          <a:p>
            <a:pPr algn="just"/>
            <a:r>
              <a:rPr lang="en-US" dirty="0">
                <a:solidFill>
                  <a:srgbClr val="000000"/>
                </a:solidFill>
                <a:latin typeface="inter-regular"/>
              </a:rPr>
              <a:t>    Rectangle rec;    </a:t>
            </a:r>
          </a:p>
          <a:p>
            <a:pPr algn="just"/>
            <a:r>
              <a:rPr lang="en-US" dirty="0">
                <a:solidFill>
                  <a:srgbClr val="000000"/>
                </a:solidFill>
                <a:latin typeface="inter-regular"/>
              </a:rPr>
              <a:t>    Circle </a:t>
            </a:r>
            <a:r>
              <a:rPr lang="en-US" dirty="0" err="1">
                <a:solidFill>
                  <a:srgbClr val="000000"/>
                </a:solidFill>
                <a:latin typeface="inter-regular"/>
              </a:rPr>
              <a:t>cir</a:t>
            </a:r>
            <a:r>
              <a:rPr lang="en-US" dirty="0">
                <a:solidFill>
                  <a:srgbClr val="000000"/>
                </a:solidFill>
                <a:latin typeface="inter-regular"/>
              </a:rPr>
              <a:t>;    </a:t>
            </a:r>
          </a:p>
          <a:p>
            <a:pPr algn="just"/>
            <a:r>
              <a:rPr lang="en-US" dirty="0">
                <a:solidFill>
                  <a:srgbClr val="000000"/>
                </a:solidFill>
                <a:latin typeface="inter-regular"/>
              </a:rPr>
              <a:t>      s=&amp;</a:t>
            </a:r>
            <a:r>
              <a:rPr lang="en-US" dirty="0" err="1">
                <a:solidFill>
                  <a:srgbClr val="000000"/>
                </a:solidFill>
                <a:latin typeface="inter-regular"/>
              </a:rPr>
              <a:t>sh</a:t>
            </a:r>
            <a:r>
              <a:rPr lang="en-US" dirty="0">
                <a:solidFill>
                  <a:srgbClr val="000000"/>
                </a:solidFill>
                <a:latin typeface="inter-regular"/>
              </a:rPr>
              <a:t>;    </a:t>
            </a:r>
          </a:p>
          <a:p>
            <a:pPr algn="just"/>
            <a:r>
              <a:rPr lang="en-US" dirty="0">
                <a:solidFill>
                  <a:srgbClr val="000000"/>
                </a:solidFill>
                <a:latin typeface="inter-regular"/>
              </a:rPr>
              <a:t>     s-&gt;draw();     </a:t>
            </a:r>
          </a:p>
          <a:p>
            <a:pPr algn="just"/>
            <a:r>
              <a:rPr lang="en-US" dirty="0">
                <a:solidFill>
                  <a:srgbClr val="000000"/>
                </a:solidFill>
                <a:latin typeface="inter-regular"/>
              </a:rPr>
              <a:t>        s=&amp;rec;    </a:t>
            </a:r>
          </a:p>
          <a:p>
            <a:pPr algn="just"/>
            <a:r>
              <a:rPr lang="en-US" dirty="0">
                <a:solidFill>
                  <a:srgbClr val="000000"/>
                </a:solidFill>
                <a:latin typeface="inter-regular"/>
              </a:rPr>
              <a:t>     s-&gt;draw();      </a:t>
            </a:r>
          </a:p>
          <a:p>
            <a:pPr algn="just"/>
            <a:r>
              <a:rPr lang="en-US" dirty="0">
                <a:solidFill>
                  <a:srgbClr val="000000"/>
                </a:solidFill>
                <a:latin typeface="inter-regular"/>
              </a:rPr>
              <a:t>    s=&amp;</a:t>
            </a:r>
            <a:r>
              <a:rPr lang="en-US" dirty="0" err="1">
                <a:solidFill>
                  <a:srgbClr val="000000"/>
                </a:solidFill>
                <a:latin typeface="inter-regular"/>
              </a:rPr>
              <a:t>cir</a:t>
            </a:r>
            <a:r>
              <a:rPr lang="en-US" dirty="0">
                <a:solidFill>
                  <a:srgbClr val="000000"/>
                </a:solidFill>
                <a:latin typeface="inter-regular"/>
              </a:rPr>
              <a:t>    </a:t>
            </a:r>
          </a:p>
          <a:p>
            <a:pPr algn="just"/>
            <a:r>
              <a:rPr lang="en-US" dirty="0">
                <a:solidFill>
                  <a:srgbClr val="000000"/>
                </a:solidFill>
                <a:latin typeface="inter-regular"/>
              </a:rPr>
              <a:t>    s-&gt;draw();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1">
            <a:extLst>
              <a:ext uri="{FF2B5EF4-FFF2-40B4-BE49-F238E27FC236}">
                <a16:creationId xmlns:a16="http://schemas.microsoft.com/office/drawing/2014/main" id="{473D116C-F806-4750-81F9-8C97EC12CB3F}"/>
              </a:ext>
            </a:extLst>
          </p:cNvPr>
          <p:cNvSpPr>
            <a:spLocks noChangeArrowheads="1"/>
          </p:cNvSpPr>
          <p:nvPr/>
        </p:nvSpPr>
        <p:spPr bwMode="auto">
          <a:xfrm>
            <a:off x="527714" y="4450134"/>
            <a:ext cx="10581564" cy="156966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inter-bold"/>
              </a:rPr>
              <a:t>Output:</a:t>
            </a: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535559"/>
                </a:solidFill>
                <a:effectLst/>
                <a:latin typeface="Arial Unicode MS"/>
              </a:rPr>
              <a:t>drawing...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535559"/>
                </a:solidFill>
                <a:effectLst/>
                <a:latin typeface="Arial Unicode MS"/>
              </a:rPr>
              <a:t>drawing rectangle...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535559"/>
                </a:solidFill>
                <a:effectLst/>
                <a:latin typeface="Arial Unicode MS"/>
              </a:rPr>
              <a:t>drawing circle...</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14020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A6A69-AB93-407D-AB3D-177F9720F2B6}"/>
              </a:ext>
            </a:extLst>
          </p:cNvPr>
          <p:cNvSpPr>
            <a:spLocks noGrp="1"/>
          </p:cNvSpPr>
          <p:nvPr>
            <p:ph type="title"/>
          </p:nvPr>
        </p:nvSpPr>
        <p:spPr>
          <a:xfrm>
            <a:off x="270954" y="136525"/>
            <a:ext cx="11650092" cy="826790"/>
          </a:xfrm>
        </p:spPr>
        <p:txBody>
          <a:bodyPr>
            <a:normAutofit fontScale="90000"/>
          </a:bodyPr>
          <a:lstStyle/>
          <a:p>
            <a:r>
              <a:rPr lang="en-US" b="1" dirty="0"/>
              <a:t>Runtime Polymorphism with Data Members</a:t>
            </a:r>
          </a:p>
        </p:txBody>
      </p:sp>
      <p:sp>
        <p:nvSpPr>
          <p:cNvPr id="4" name="Date Placeholder 3">
            <a:extLst>
              <a:ext uri="{FF2B5EF4-FFF2-40B4-BE49-F238E27FC236}">
                <a16:creationId xmlns:a16="http://schemas.microsoft.com/office/drawing/2014/main" id="{7C3034ED-0A83-4981-BFDB-CF7810864896}"/>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8EF0583-BA06-4278-B249-C8E2741FF913}"/>
              </a:ext>
            </a:extLst>
          </p:cNvPr>
          <p:cNvSpPr>
            <a:spLocks noGrp="1"/>
          </p:cNvSpPr>
          <p:nvPr>
            <p:ph type="sldNum" sz="quarter" idx="12"/>
          </p:nvPr>
        </p:nvSpPr>
        <p:spPr/>
        <p:txBody>
          <a:bodyPr/>
          <a:lstStyle/>
          <a:p>
            <a:fld id="{D8DA9DAA-006C-4F4B-980E-E3DF019B24E2}" type="slidenum">
              <a:rPr lang="en-US" smtClean="0"/>
              <a:pPr/>
              <a:t>72</a:t>
            </a:fld>
            <a:endParaRPr lang="en-US" dirty="0"/>
          </a:p>
        </p:txBody>
      </p:sp>
      <p:sp>
        <p:nvSpPr>
          <p:cNvPr id="6" name="Rectangle 5">
            <a:extLst>
              <a:ext uri="{FF2B5EF4-FFF2-40B4-BE49-F238E27FC236}">
                <a16:creationId xmlns:a16="http://schemas.microsoft.com/office/drawing/2014/main" id="{1DA0B04D-F83D-4BE0-8B66-AAA4FFD43BC9}"/>
              </a:ext>
            </a:extLst>
          </p:cNvPr>
          <p:cNvSpPr/>
          <p:nvPr/>
        </p:nvSpPr>
        <p:spPr>
          <a:xfrm>
            <a:off x="270954" y="1316101"/>
            <a:ext cx="11921046" cy="646331"/>
          </a:xfrm>
          <a:prstGeom prst="rect">
            <a:avLst/>
          </a:prstGeom>
        </p:spPr>
        <p:txBody>
          <a:bodyPr wrap="square">
            <a:spAutoFit/>
          </a:bodyPr>
          <a:lstStyle/>
          <a:p>
            <a:r>
              <a:rPr lang="en-US" dirty="0">
                <a:solidFill>
                  <a:srgbClr val="333333"/>
                </a:solidFill>
                <a:latin typeface="inter-regular"/>
              </a:rPr>
              <a:t>Runtime Polymorphism can be achieved by data members in C++. Let's see an example where we are accessing the field by reference variable which refers to the instance of derived class.</a:t>
            </a:r>
            <a:endParaRPr lang="en-US" dirty="0"/>
          </a:p>
        </p:txBody>
      </p:sp>
      <p:sp>
        <p:nvSpPr>
          <p:cNvPr id="8" name="Rectangle 7">
            <a:extLst>
              <a:ext uri="{FF2B5EF4-FFF2-40B4-BE49-F238E27FC236}">
                <a16:creationId xmlns:a16="http://schemas.microsoft.com/office/drawing/2014/main" id="{66C44F4C-2653-4F60-AB42-56E537B02846}"/>
              </a:ext>
            </a:extLst>
          </p:cNvPr>
          <p:cNvSpPr/>
          <p:nvPr/>
        </p:nvSpPr>
        <p:spPr>
          <a:xfrm>
            <a:off x="645993" y="2495677"/>
            <a:ext cx="5795750" cy="2308324"/>
          </a:xfrm>
          <a:prstGeom prst="rect">
            <a:avLst/>
          </a:prstGeom>
        </p:spPr>
        <p:txBody>
          <a:bodyPr wrap="square">
            <a:spAutoFit/>
          </a:bodyPr>
          <a:lstStyle/>
          <a:p>
            <a:pPr algn="just"/>
            <a:r>
              <a:rPr lang="en-US" sz="2400" dirty="0">
                <a:solidFill>
                  <a:srgbClr val="0000FF"/>
                </a:solidFill>
                <a:latin typeface="inter-regular"/>
              </a:rPr>
              <a:t>#include &lt;iostream&gt;  </a:t>
            </a:r>
            <a:r>
              <a:rPr lang="en-US" sz="2400" dirty="0">
                <a:solidFill>
                  <a:srgbClr val="000000"/>
                </a:solidFill>
                <a:latin typeface="inter-regular"/>
              </a:rPr>
              <a:t>  </a:t>
            </a:r>
          </a:p>
          <a:p>
            <a:pPr algn="just"/>
            <a:r>
              <a:rPr lang="en-US" sz="2400" b="1" dirty="0">
                <a:solidFill>
                  <a:srgbClr val="006699"/>
                </a:solidFill>
                <a:latin typeface="inter-regular"/>
              </a:rPr>
              <a:t>using</a:t>
            </a:r>
            <a:r>
              <a:rPr lang="en-US" sz="2400" dirty="0">
                <a:solidFill>
                  <a:srgbClr val="000000"/>
                </a:solidFill>
                <a:latin typeface="inter-regular"/>
              </a:rPr>
              <a:t> </a:t>
            </a:r>
            <a:r>
              <a:rPr lang="en-US" sz="2400" b="1" dirty="0">
                <a:solidFill>
                  <a:srgbClr val="006699"/>
                </a:solidFill>
                <a:latin typeface="inter-regular"/>
              </a:rPr>
              <a:t>namespace</a:t>
            </a:r>
            <a:r>
              <a:rPr lang="en-US" sz="2400" dirty="0">
                <a:solidFill>
                  <a:srgbClr val="000000"/>
                </a:solidFill>
                <a:latin typeface="inter-regular"/>
              </a:rPr>
              <a:t> std;    </a:t>
            </a:r>
          </a:p>
          <a:p>
            <a:pPr algn="just"/>
            <a:r>
              <a:rPr lang="en-US" sz="2400" b="1" dirty="0">
                <a:solidFill>
                  <a:srgbClr val="006699"/>
                </a:solidFill>
                <a:latin typeface="inter-regular"/>
              </a:rPr>
              <a:t>class</a:t>
            </a:r>
            <a:r>
              <a:rPr lang="en-US" sz="2400" dirty="0">
                <a:solidFill>
                  <a:srgbClr val="000000"/>
                </a:solidFill>
                <a:latin typeface="inter-regular"/>
              </a:rPr>
              <a:t> Animal {        </a:t>
            </a:r>
            <a:r>
              <a:rPr lang="en-US" sz="2400" dirty="0">
                <a:solidFill>
                  <a:srgbClr val="008200"/>
                </a:solidFill>
                <a:latin typeface="inter-regular"/>
              </a:rPr>
              <a:t>//  base class declaration.</a:t>
            </a:r>
            <a:r>
              <a:rPr lang="en-US" sz="2400" dirty="0">
                <a:solidFill>
                  <a:srgbClr val="000000"/>
                </a:solidFill>
                <a:latin typeface="inter-regular"/>
              </a:rPr>
              <a:t>  </a:t>
            </a:r>
          </a:p>
          <a:p>
            <a:pPr algn="just"/>
            <a:r>
              <a:rPr lang="en-US" sz="2400" dirty="0">
                <a:solidFill>
                  <a:srgbClr val="000000"/>
                </a:solidFill>
                <a:latin typeface="inter-regular"/>
              </a:rPr>
              <a:t>    </a:t>
            </a:r>
            <a:r>
              <a:rPr lang="en-US" sz="2400" b="1" dirty="0">
                <a:solidFill>
                  <a:srgbClr val="006699"/>
                </a:solidFill>
                <a:latin typeface="inter-regular"/>
              </a:rPr>
              <a:t>public</a:t>
            </a:r>
            <a:r>
              <a:rPr lang="en-US" sz="2400" dirty="0">
                <a:solidFill>
                  <a:srgbClr val="000000"/>
                </a:solidFill>
                <a:latin typeface="inter-regular"/>
              </a:rPr>
              <a:t>:    </a:t>
            </a:r>
          </a:p>
          <a:p>
            <a:pPr algn="just"/>
            <a:r>
              <a:rPr lang="en-US" sz="2400" dirty="0">
                <a:solidFill>
                  <a:srgbClr val="000000"/>
                </a:solidFill>
                <a:latin typeface="inter-regular"/>
              </a:rPr>
              <a:t>    string color = </a:t>
            </a:r>
            <a:r>
              <a:rPr lang="en-US" sz="2400" dirty="0">
                <a:solidFill>
                  <a:srgbClr val="0000FF"/>
                </a:solidFill>
                <a:latin typeface="inter-regular"/>
              </a:rPr>
              <a:t>"Black"</a:t>
            </a:r>
            <a:r>
              <a:rPr lang="en-US" sz="2400" dirty="0">
                <a:solidFill>
                  <a:srgbClr val="000000"/>
                </a:solidFill>
                <a:latin typeface="inter-regular"/>
              </a:rPr>
              <a:t>;      </a:t>
            </a:r>
          </a:p>
          <a:p>
            <a:pPr algn="just"/>
            <a:r>
              <a:rPr lang="en-US" sz="2400" dirty="0">
                <a:solidFill>
                  <a:srgbClr val="000000"/>
                </a:solidFill>
                <a:latin typeface="inter-regular"/>
              </a:rPr>
              <a:t>};     </a:t>
            </a:r>
            <a:endParaRPr lang="en-US" sz="2400" b="0" i="0" dirty="0">
              <a:solidFill>
                <a:srgbClr val="000000"/>
              </a:solidFill>
              <a:effectLst/>
              <a:latin typeface="inter-regular"/>
            </a:endParaRPr>
          </a:p>
        </p:txBody>
      </p:sp>
      <p:sp>
        <p:nvSpPr>
          <p:cNvPr id="9" name="Rectangle 8">
            <a:extLst>
              <a:ext uri="{FF2B5EF4-FFF2-40B4-BE49-F238E27FC236}">
                <a16:creationId xmlns:a16="http://schemas.microsoft.com/office/drawing/2014/main" id="{7180EAC6-DA3E-449B-8DF4-ED508A41E780}"/>
              </a:ext>
            </a:extLst>
          </p:cNvPr>
          <p:cNvSpPr/>
          <p:nvPr/>
        </p:nvSpPr>
        <p:spPr>
          <a:xfrm>
            <a:off x="6700778" y="2494911"/>
            <a:ext cx="5220268" cy="2862322"/>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Dog: </a:t>
            </a:r>
            <a:r>
              <a:rPr lang="en-US" b="1" dirty="0">
                <a:solidFill>
                  <a:srgbClr val="006699"/>
                </a:solidFill>
                <a:latin typeface="inter-regular"/>
              </a:rPr>
              <a:t>public</a:t>
            </a:r>
            <a:r>
              <a:rPr lang="en-US" dirty="0">
                <a:solidFill>
                  <a:srgbClr val="000000"/>
                </a:solidFill>
                <a:latin typeface="inter-regular"/>
              </a:rPr>
              <a:t> Animal       </a:t>
            </a:r>
            <a:r>
              <a:rPr lang="en-US" dirty="0">
                <a:solidFill>
                  <a:srgbClr val="008200"/>
                </a:solidFill>
                <a:latin typeface="inter-regular"/>
              </a:rPr>
              <a:t>// inheriting Animal class.</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string color = </a:t>
            </a:r>
            <a:r>
              <a:rPr lang="en-US" dirty="0">
                <a:solidFill>
                  <a:srgbClr val="0000FF"/>
                </a:solidFill>
                <a:latin typeface="inter-regular"/>
              </a:rPr>
              <a:t>"Grey"</a:t>
            </a:r>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Animal d= Dog();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err="1">
                <a:solidFill>
                  <a:srgbClr val="000000"/>
                </a:solidFill>
                <a:latin typeface="inter-regular"/>
              </a:rPr>
              <a:t>d.color</a:t>
            </a:r>
            <a:r>
              <a:rPr lang="en-US" dirty="0">
                <a:solidFill>
                  <a:srgbClr val="000000"/>
                </a:solidFill>
                <a:latin typeface="inter-regular"/>
              </a:rPr>
              <a:t>;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10" name="Rectangle 9">
            <a:extLst>
              <a:ext uri="{FF2B5EF4-FFF2-40B4-BE49-F238E27FC236}">
                <a16:creationId xmlns:a16="http://schemas.microsoft.com/office/drawing/2014/main" id="{C9ABE5A7-8353-422C-9F1A-1192A7E9817D}"/>
              </a:ext>
            </a:extLst>
          </p:cNvPr>
          <p:cNvSpPr/>
          <p:nvPr/>
        </p:nvSpPr>
        <p:spPr>
          <a:xfrm>
            <a:off x="751764" y="5357233"/>
            <a:ext cx="934871" cy="646331"/>
          </a:xfrm>
          <a:prstGeom prst="rect">
            <a:avLst/>
          </a:prstGeom>
        </p:spPr>
        <p:txBody>
          <a:bodyPr wrap="none">
            <a:spAutoFit/>
          </a:bodyPr>
          <a:lstStyle/>
          <a:p>
            <a:r>
              <a:rPr lang="en-US" b="1" dirty="0">
                <a:solidFill>
                  <a:srgbClr val="333333"/>
                </a:solidFill>
                <a:latin typeface="inter-bold"/>
              </a:rPr>
              <a:t>Output:</a:t>
            </a:r>
          </a:p>
          <a:p>
            <a:r>
              <a:rPr lang="en-US" dirty="0">
                <a:solidFill>
                  <a:srgbClr val="333333"/>
                </a:solidFill>
                <a:latin typeface="inter-bold"/>
              </a:rPr>
              <a:t>Black</a:t>
            </a:r>
            <a:endParaRPr lang="en-US" dirty="0"/>
          </a:p>
        </p:txBody>
      </p:sp>
    </p:spTree>
    <p:extLst>
      <p:ext uri="{BB962C8B-B14F-4D97-AF65-F5344CB8AC3E}">
        <p14:creationId xmlns:p14="http://schemas.microsoft.com/office/powerpoint/2010/main" val="10229167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0EA8E-7987-42BC-86D3-F4B230B8058A}"/>
              </a:ext>
            </a:extLst>
          </p:cNvPr>
          <p:cNvSpPr>
            <a:spLocks noGrp="1"/>
          </p:cNvSpPr>
          <p:nvPr>
            <p:ph type="title"/>
          </p:nvPr>
        </p:nvSpPr>
        <p:spPr>
          <a:xfrm>
            <a:off x="586308" y="136525"/>
            <a:ext cx="6190488" cy="807675"/>
          </a:xfrm>
        </p:spPr>
        <p:txBody>
          <a:bodyPr>
            <a:normAutofit fontScale="90000"/>
          </a:bodyPr>
          <a:lstStyle/>
          <a:p>
            <a:r>
              <a:rPr lang="en-US" dirty="0"/>
              <a:t>Overloading</a:t>
            </a:r>
          </a:p>
        </p:txBody>
      </p:sp>
      <p:sp>
        <p:nvSpPr>
          <p:cNvPr id="3" name="Content Placeholder 2">
            <a:extLst>
              <a:ext uri="{FF2B5EF4-FFF2-40B4-BE49-F238E27FC236}">
                <a16:creationId xmlns:a16="http://schemas.microsoft.com/office/drawing/2014/main" id="{8E7BC731-8050-4299-934D-06D3673B0CAF}"/>
              </a:ext>
            </a:extLst>
          </p:cNvPr>
          <p:cNvSpPr>
            <a:spLocks noGrp="1"/>
          </p:cNvSpPr>
          <p:nvPr>
            <p:ph idx="1"/>
          </p:nvPr>
        </p:nvSpPr>
        <p:spPr>
          <a:xfrm>
            <a:off x="850392" y="832513"/>
            <a:ext cx="11145990" cy="5339687"/>
          </a:xfrm>
        </p:spPr>
        <p:txBody>
          <a:bodyPr/>
          <a:lstStyle/>
          <a:p>
            <a:r>
              <a:rPr lang="en-US" dirty="0"/>
              <a:t>If we create two or more members having the same name but different in number or type of parameter, it is known as C++ overloading. In C++, we can overload:</a:t>
            </a:r>
          </a:p>
          <a:p>
            <a:endParaRPr lang="en-US" dirty="0"/>
          </a:p>
          <a:p>
            <a:r>
              <a:rPr lang="en-US" dirty="0"/>
              <a:t>methods,</a:t>
            </a:r>
          </a:p>
          <a:p>
            <a:r>
              <a:rPr lang="en-US" dirty="0"/>
              <a:t>constructors, and</a:t>
            </a:r>
          </a:p>
          <a:p>
            <a:r>
              <a:rPr lang="en-US" dirty="0"/>
              <a:t>indexed properties</a:t>
            </a:r>
          </a:p>
          <a:p>
            <a:r>
              <a:rPr lang="en-US" dirty="0"/>
              <a:t>It is because these members have parameters only.</a:t>
            </a:r>
          </a:p>
        </p:txBody>
      </p:sp>
      <p:sp>
        <p:nvSpPr>
          <p:cNvPr id="4" name="Date Placeholder 3">
            <a:extLst>
              <a:ext uri="{FF2B5EF4-FFF2-40B4-BE49-F238E27FC236}">
                <a16:creationId xmlns:a16="http://schemas.microsoft.com/office/drawing/2014/main" id="{5F6C9E3F-6D99-470B-8F38-06F4526265B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608FA21-CDC2-4542-95C6-F1051942E536}"/>
              </a:ext>
            </a:extLst>
          </p:cNvPr>
          <p:cNvSpPr>
            <a:spLocks noGrp="1"/>
          </p:cNvSpPr>
          <p:nvPr>
            <p:ph type="sldNum" sz="quarter" idx="12"/>
          </p:nvPr>
        </p:nvSpPr>
        <p:spPr/>
        <p:txBody>
          <a:bodyPr/>
          <a:lstStyle/>
          <a:p>
            <a:fld id="{D8DA9DAA-006C-4F4B-980E-E3DF019B24E2}" type="slidenum">
              <a:rPr lang="en-US" smtClean="0"/>
              <a:pPr/>
              <a:t>73</a:t>
            </a:fld>
            <a:endParaRPr lang="en-US" dirty="0"/>
          </a:p>
        </p:txBody>
      </p:sp>
    </p:spTree>
    <p:extLst>
      <p:ext uri="{BB962C8B-B14F-4D97-AF65-F5344CB8AC3E}">
        <p14:creationId xmlns:p14="http://schemas.microsoft.com/office/powerpoint/2010/main" val="35496883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6BAFF-FD83-4CCE-B97F-B1D635FC8384}"/>
              </a:ext>
            </a:extLst>
          </p:cNvPr>
          <p:cNvSpPr>
            <a:spLocks noGrp="1"/>
          </p:cNvSpPr>
          <p:nvPr>
            <p:ph type="title"/>
          </p:nvPr>
        </p:nvSpPr>
        <p:spPr>
          <a:xfrm>
            <a:off x="804671" y="1335024"/>
            <a:ext cx="9772343" cy="1179576"/>
          </a:xfrm>
        </p:spPr>
        <p:txBody>
          <a:bodyPr>
            <a:normAutofit fontScale="90000"/>
          </a:bodyPr>
          <a:lstStyle/>
          <a:p>
            <a:r>
              <a:rPr lang="en-US" dirty="0"/>
              <a:t>Types of overloading in C++ are:</a:t>
            </a:r>
            <a:br>
              <a:rPr lang="en-US" dirty="0"/>
            </a:br>
            <a:endParaRPr lang="en-US" dirty="0"/>
          </a:p>
        </p:txBody>
      </p:sp>
      <p:sp>
        <p:nvSpPr>
          <p:cNvPr id="3" name="Content Placeholder 2">
            <a:extLst>
              <a:ext uri="{FF2B5EF4-FFF2-40B4-BE49-F238E27FC236}">
                <a16:creationId xmlns:a16="http://schemas.microsoft.com/office/drawing/2014/main" id="{E4328B3E-AA88-4EBB-9EB2-200A10B4E515}"/>
              </a:ext>
            </a:extLst>
          </p:cNvPr>
          <p:cNvSpPr>
            <a:spLocks noGrp="1"/>
          </p:cNvSpPr>
          <p:nvPr>
            <p:ph idx="1"/>
          </p:nvPr>
        </p:nvSpPr>
        <p:spPr/>
        <p:txBody>
          <a:bodyPr/>
          <a:lstStyle/>
          <a:p>
            <a:r>
              <a:rPr lang="en-US" dirty="0"/>
              <a:t>Function overloading</a:t>
            </a:r>
          </a:p>
          <a:p>
            <a:r>
              <a:rPr lang="en-US" dirty="0"/>
              <a:t>Operator overloading</a:t>
            </a:r>
          </a:p>
          <a:p>
            <a:endParaRPr lang="en-US" dirty="0"/>
          </a:p>
        </p:txBody>
      </p:sp>
      <p:sp>
        <p:nvSpPr>
          <p:cNvPr id="4" name="Date Placeholder 3">
            <a:extLst>
              <a:ext uri="{FF2B5EF4-FFF2-40B4-BE49-F238E27FC236}">
                <a16:creationId xmlns:a16="http://schemas.microsoft.com/office/drawing/2014/main" id="{FCDE79AF-B3CB-4F6C-A980-06EFD6874CCA}"/>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6433D659-B184-4D68-B73E-F3147941A37C}"/>
              </a:ext>
            </a:extLst>
          </p:cNvPr>
          <p:cNvSpPr>
            <a:spLocks noGrp="1"/>
          </p:cNvSpPr>
          <p:nvPr>
            <p:ph type="sldNum" sz="quarter" idx="12"/>
          </p:nvPr>
        </p:nvSpPr>
        <p:spPr/>
        <p:txBody>
          <a:bodyPr/>
          <a:lstStyle/>
          <a:p>
            <a:fld id="{D8DA9DAA-006C-4F4B-980E-E3DF019B24E2}" type="slidenum">
              <a:rPr lang="en-US" smtClean="0"/>
              <a:pPr/>
              <a:t>74</a:t>
            </a:fld>
            <a:endParaRPr lang="en-US" dirty="0"/>
          </a:p>
        </p:txBody>
      </p:sp>
      <p:pic>
        <p:nvPicPr>
          <p:cNvPr id="6" name="Picture 5">
            <a:extLst>
              <a:ext uri="{FF2B5EF4-FFF2-40B4-BE49-F238E27FC236}">
                <a16:creationId xmlns:a16="http://schemas.microsoft.com/office/drawing/2014/main" id="{C4DB02B5-DEAA-466D-86B3-4EE065390B10}"/>
              </a:ext>
            </a:extLst>
          </p:cNvPr>
          <p:cNvPicPr>
            <a:picLocks noChangeAspect="1"/>
          </p:cNvPicPr>
          <p:nvPr/>
        </p:nvPicPr>
        <p:blipFill>
          <a:blip r:embed="rId2"/>
          <a:stretch>
            <a:fillRect/>
          </a:stretch>
        </p:blipFill>
        <p:spPr>
          <a:xfrm>
            <a:off x="4543425" y="2381250"/>
            <a:ext cx="3105150" cy="2095500"/>
          </a:xfrm>
          <a:prstGeom prst="rect">
            <a:avLst/>
          </a:prstGeom>
        </p:spPr>
      </p:pic>
    </p:spTree>
    <p:extLst>
      <p:ext uri="{BB962C8B-B14F-4D97-AF65-F5344CB8AC3E}">
        <p14:creationId xmlns:p14="http://schemas.microsoft.com/office/powerpoint/2010/main" val="18259286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6478-F13D-4A51-BB80-6E244E747514}"/>
              </a:ext>
            </a:extLst>
          </p:cNvPr>
          <p:cNvSpPr>
            <a:spLocks noGrp="1"/>
          </p:cNvSpPr>
          <p:nvPr>
            <p:ph type="title"/>
          </p:nvPr>
        </p:nvSpPr>
        <p:spPr>
          <a:xfrm>
            <a:off x="838200" y="420624"/>
            <a:ext cx="10263662" cy="1179576"/>
          </a:xfrm>
        </p:spPr>
        <p:txBody>
          <a:bodyPr>
            <a:normAutofit/>
          </a:bodyPr>
          <a:lstStyle/>
          <a:p>
            <a:r>
              <a:rPr lang="en-US" dirty="0"/>
              <a:t>C++ Function Overloading</a:t>
            </a:r>
          </a:p>
        </p:txBody>
      </p:sp>
      <p:sp>
        <p:nvSpPr>
          <p:cNvPr id="3" name="Content Placeholder 2">
            <a:extLst>
              <a:ext uri="{FF2B5EF4-FFF2-40B4-BE49-F238E27FC236}">
                <a16:creationId xmlns:a16="http://schemas.microsoft.com/office/drawing/2014/main" id="{F07F5241-7C58-4186-AB90-BB58DAECD993}"/>
              </a:ext>
            </a:extLst>
          </p:cNvPr>
          <p:cNvSpPr>
            <a:spLocks noGrp="1"/>
          </p:cNvSpPr>
          <p:nvPr>
            <p:ph idx="1"/>
          </p:nvPr>
        </p:nvSpPr>
        <p:spPr>
          <a:xfrm>
            <a:off x="850392" y="1600200"/>
            <a:ext cx="10791148" cy="4572000"/>
          </a:xfrm>
        </p:spPr>
        <p:txBody>
          <a:bodyPr>
            <a:normAutofit/>
          </a:bodyPr>
          <a:lstStyle/>
          <a:p>
            <a:r>
              <a:rPr lang="en-US" dirty="0"/>
              <a:t>Function Overloading is defined as the process of having two or more function with the same name, but different in parameters is known as function overloading in C++. In function overloading, the function is redefined by using either different types of arguments or a different number of arguments. It is only through these differences compiler can differentiate between the functions.</a:t>
            </a:r>
          </a:p>
          <a:p>
            <a:endParaRPr lang="en-US" dirty="0"/>
          </a:p>
          <a:p>
            <a:r>
              <a:rPr lang="en-US" dirty="0"/>
              <a:t>The advantage of Function overloading is that it increases the readability of the program because you don't need to use different names for the same action.</a:t>
            </a:r>
          </a:p>
        </p:txBody>
      </p:sp>
      <p:sp>
        <p:nvSpPr>
          <p:cNvPr id="4" name="Date Placeholder 3">
            <a:extLst>
              <a:ext uri="{FF2B5EF4-FFF2-40B4-BE49-F238E27FC236}">
                <a16:creationId xmlns:a16="http://schemas.microsoft.com/office/drawing/2014/main" id="{0055F63F-84B5-4CF1-A4CA-7F232138058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6C5EC55-A930-41DF-8224-0BFCDD440F9A}"/>
              </a:ext>
            </a:extLst>
          </p:cNvPr>
          <p:cNvSpPr>
            <a:spLocks noGrp="1"/>
          </p:cNvSpPr>
          <p:nvPr>
            <p:ph type="sldNum" sz="quarter" idx="12"/>
          </p:nvPr>
        </p:nvSpPr>
        <p:spPr/>
        <p:txBody>
          <a:bodyPr/>
          <a:lstStyle/>
          <a:p>
            <a:fld id="{D8DA9DAA-006C-4F4B-980E-E3DF019B24E2}" type="slidenum">
              <a:rPr lang="en-US" smtClean="0"/>
              <a:pPr/>
              <a:t>75</a:t>
            </a:fld>
            <a:endParaRPr lang="en-US" dirty="0"/>
          </a:p>
        </p:txBody>
      </p:sp>
    </p:spTree>
    <p:extLst>
      <p:ext uri="{BB962C8B-B14F-4D97-AF65-F5344CB8AC3E}">
        <p14:creationId xmlns:p14="http://schemas.microsoft.com/office/powerpoint/2010/main" val="12366367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D1B4-E14F-4E63-BE84-D6D492890120}"/>
              </a:ext>
            </a:extLst>
          </p:cNvPr>
          <p:cNvSpPr>
            <a:spLocks noGrp="1"/>
          </p:cNvSpPr>
          <p:nvPr>
            <p:ph type="title"/>
          </p:nvPr>
        </p:nvSpPr>
        <p:spPr>
          <a:xfrm>
            <a:off x="804672" y="311442"/>
            <a:ext cx="10549128" cy="794027"/>
          </a:xfrm>
        </p:spPr>
        <p:txBody>
          <a:bodyPr>
            <a:normAutofit fontScale="90000"/>
          </a:bodyPr>
          <a:lstStyle/>
          <a:p>
            <a:r>
              <a:rPr lang="en-US" dirty="0"/>
              <a:t>C++ Function Overloading Example</a:t>
            </a:r>
          </a:p>
        </p:txBody>
      </p:sp>
      <p:sp>
        <p:nvSpPr>
          <p:cNvPr id="3" name="Content Placeholder 2">
            <a:extLst>
              <a:ext uri="{FF2B5EF4-FFF2-40B4-BE49-F238E27FC236}">
                <a16:creationId xmlns:a16="http://schemas.microsoft.com/office/drawing/2014/main" id="{584664B2-F212-4054-99CA-B09F5796A33A}"/>
              </a:ext>
            </a:extLst>
          </p:cNvPr>
          <p:cNvSpPr>
            <a:spLocks noGrp="1"/>
          </p:cNvSpPr>
          <p:nvPr>
            <p:ph idx="1"/>
          </p:nvPr>
        </p:nvSpPr>
        <p:spPr>
          <a:xfrm>
            <a:off x="850392" y="1491018"/>
            <a:ext cx="11341608" cy="4681182"/>
          </a:xfrm>
        </p:spPr>
        <p:txBody>
          <a:bodyPr/>
          <a:lstStyle/>
          <a:p>
            <a:r>
              <a:rPr lang="en-US" dirty="0"/>
              <a:t>Let's see the simple example of function overloading where we are changing number of arguments of add() method.</a:t>
            </a:r>
          </a:p>
          <a:p>
            <a:r>
              <a:rPr lang="en-US" dirty="0"/>
              <a:t>// program of function overloading when number of arguments vary.</a:t>
            </a:r>
          </a:p>
        </p:txBody>
      </p:sp>
      <p:sp>
        <p:nvSpPr>
          <p:cNvPr id="4" name="Date Placeholder 3">
            <a:extLst>
              <a:ext uri="{FF2B5EF4-FFF2-40B4-BE49-F238E27FC236}">
                <a16:creationId xmlns:a16="http://schemas.microsoft.com/office/drawing/2014/main" id="{A58EA2FC-3C02-4B38-930A-F28AE26E09D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5C42A83D-35F9-4A30-9D89-B2DDAC2FFDE3}"/>
              </a:ext>
            </a:extLst>
          </p:cNvPr>
          <p:cNvSpPr>
            <a:spLocks noGrp="1"/>
          </p:cNvSpPr>
          <p:nvPr>
            <p:ph type="sldNum" sz="quarter" idx="12"/>
          </p:nvPr>
        </p:nvSpPr>
        <p:spPr/>
        <p:txBody>
          <a:bodyPr/>
          <a:lstStyle/>
          <a:p>
            <a:fld id="{D8DA9DAA-006C-4F4B-980E-E3DF019B24E2}" type="slidenum">
              <a:rPr lang="en-US" smtClean="0"/>
              <a:pPr/>
              <a:t>76</a:t>
            </a:fld>
            <a:endParaRPr lang="en-US" dirty="0"/>
          </a:p>
        </p:txBody>
      </p:sp>
      <p:sp>
        <p:nvSpPr>
          <p:cNvPr id="6" name="Rectangle 5">
            <a:extLst>
              <a:ext uri="{FF2B5EF4-FFF2-40B4-BE49-F238E27FC236}">
                <a16:creationId xmlns:a16="http://schemas.microsoft.com/office/drawing/2014/main" id="{17AED3EF-8BC3-44B7-9AD1-F5D4790EBE77}"/>
              </a:ext>
            </a:extLst>
          </p:cNvPr>
          <p:cNvSpPr/>
          <p:nvPr/>
        </p:nvSpPr>
        <p:spPr>
          <a:xfrm>
            <a:off x="1014484" y="3141429"/>
            <a:ext cx="6096000" cy="3416320"/>
          </a:xfrm>
          <a:prstGeom prst="rect">
            <a:avLst/>
          </a:prstGeom>
        </p:spPr>
        <p:txBody>
          <a:bodyPr>
            <a:spAutoFit/>
          </a:bodyPr>
          <a:lstStyle/>
          <a:p>
            <a:pPr algn="just"/>
            <a:r>
              <a:rPr lang="en-US" dirty="0">
                <a:solidFill>
                  <a:srgbClr val="0000FF"/>
                </a:solidFill>
                <a:latin typeface="inter-regular"/>
              </a:rPr>
              <a:t>#include &lt;iostream&gt;  </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Cal {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b="1" dirty="0">
                <a:solidFill>
                  <a:srgbClr val="006699"/>
                </a:solidFill>
                <a:latin typeface="inter-regular"/>
              </a:rPr>
              <a:t>static</a:t>
            </a:r>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add(</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a,</a:t>
            </a:r>
            <a:r>
              <a:rPr lang="en-US" b="1" dirty="0" err="1">
                <a:solidFill>
                  <a:srgbClr val="2E8B57"/>
                </a:solidFill>
                <a:latin typeface="inter-regular"/>
              </a:rPr>
              <a:t>int</a:t>
            </a:r>
            <a:r>
              <a:rPr lang="en-US" dirty="0">
                <a:solidFill>
                  <a:srgbClr val="000000"/>
                </a:solidFill>
                <a:latin typeface="inter-regular"/>
              </a:rPr>
              <a:t> b){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a + b;      </a:t>
            </a:r>
          </a:p>
          <a:p>
            <a:pPr algn="just"/>
            <a:r>
              <a:rPr lang="en-US" dirty="0">
                <a:solidFill>
                  <a:srgbClr val="000000"/>
                </a:solidFill>
                <a:latin typeface="inter-regular"/>
              </a:rPr>
              <a:t>    }      </a:t>
            </a:r>
          </a:p>
          <a:p>
            <a:pPr algn="just"/>
            <a:r>
              <a:rPr lang="en-US" b="1" dirty="0">
                <a:solidFill>
                  <a:srgbClr val="006699"/>
                </a:solidFill>
                <a:latin typeface="inter-regular"/>
              </a:rPr>
              <a:t>static</a:t>
            </a:r>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add(</a:t>
            </a:r>
            <a:r>
              <a:rPr lang="en-US" b="1" dirty="0">
                <a:solidFill>
                  <a:srgbClr val="2E8B57"/>
                </a:solidFill>
                <a:latin typeface="inter-regular"/>
              </a:rPr>
              <a:t>int</a:t>
            </a:r>
            <a:r>
              <a:rPr lang="en-US" dirty="0">
                <a:solidFill>
                  <a:srgbClr val="000000"/>
                </a:solidFill>
                <a:latin typeface="inter-regular"/>
              </a:rPr>
              <a:t> a, </a:t>
            </a:r>
            <a:r>
              <a:rPr lang="en-US" b="1" dirty="0">
                <a:solidFill>
                  <a:srgbClr val="2E8B57"/>
                </a:solidFill>
                <a:latin typeface="inter-regular"/>
              </a:rPr>
              <a:t>int</a:t>
            </a:r>
            <a:r>
              <a:rPr lang="en-US" dirty="0">
                <a:solidFill>
                  <a:srgbClr val="000000"/>
                </a:solidFill>
                <a:latin typeface="inter-regular"/>
              </a:rPr>
              <a:t> b, </a:t>
            </a:r>
            <a:r>
              <a:rPr lang="en-US" b="1" dirty="0">
                <a:solidFill>
                  <a:srgbClr val="2E8B57"/>
                </a:solidFill>
                <a:latin typeface="inter-regular"/>
              </a:rPr>
              <a:t>int</a:t>
            </a:r>
            <a:r>
              <a:rPr lang="en-US" dirty="0">
                <a:solidFill>
                  <a:srgbClr val="000000"/>
                </a:solidFill>
                <a:latin typeface="inter-regular"/>
              </a:rPr>
              <a:t> c)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a + b + c;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7379F42E-6E9A-431B-8ABD-70386602A039}"/>
              </a:ext>
            </a:extLst>
          </p:cNvPr>
          <p:cNvSpPr/>
          <p:nvPr/>
        </p:nvSpPr>
        <p:spPr>
          <a:xfrm>
            <a:off x="6147179" y="3217288"/>
            <a:ext cx="3835021" cy="2031325"/>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Cal C;                                                    </a:t>
            </a:r>
            <a:r>
              <a:rPr lang="en-US" dirty="0">
                <a:solidFill>
                  <a:srgbClr val="008200"/>
                </a:solidFill>
                <a:latin typeface="inter-regular"/>
              </a:rPr>
              <a:t>//     class object declaration. </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err="1">
                <a:solidFill>
                  <a:srgbClr val="000000"/>
                </a:solidFill>
                <a:latin typeface="inter-regular"/>
              </a:rPr>
              <a:t>C.add</a:t>
            </a:r>
            <a:r>
              <a:rPr lang="en-US" dirty="0">
                <a:solidFill>
                  <a:srgbClr val="000000"/>
                </a:solidFill>
                <a:latin typeface="inter-regular"/>
              </a:rPr>
              <a:t>(10, 20)&lt;&lt;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err="1">
                <a:solidFill>
                  <a:srgbClr val="000000"/>
                </a:solidFill>
                <a:latin typeface="inter-regular"/>
              </a:rPr>
              <a:t>C.add</a:t>
            </a:r>
            <a:r>
              <a:rPr lang="en-US" dirty="0">
                <a:solidFill>
                  <a:srgbClr val="000000"/>
                </a:solidFill>
                <a:latin typeface="inter-regular"/>
              </a:rPr>
              <a:t>(12, 20, 23);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1">
            <a:extLst>
              <a:ext uri="{FF2B5EF4-FFF2-40B4-BE49-F238E27FC236}">
                <a16:creationId xmlns:a16="http://schemas.microsoft.com/office/drawing/2014/main" id="{8049CE96-66FD-45F0-B985-7DD187AA09D3}"/>
              </a:ext>
            </a:extLst>
          </p:cNvPr>
          <p:cNvSpPr>
            <a:spLocks noChangeArrowheads="1"/>
          </p:cNvSpPr>
          <p:nvPr/>
        </p:nvSpPr>
        <p:spPr bwMode="auto">
          <a:xfrm>
            <a:off x="6561004" y="5651212"/>
            <a:ext cx="3835021"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333333"/>
                </a:solidFill>
                <a:effectLst/>
                <a:latin typeface="inter-bold"/>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30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55</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78746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F44E1-98F2-4FD5-B83B-150CB92BCC62}"/>
              </a:ext>
            </a:extLst>
          </p:cNvPr>
          <p:cNvSpPr>
            <a:spLocks noGrp="1"/>
          </p:cNvSpPr>
          <p:nvPr>
            <p:ph idx="1"/>
          </p:nvPr>
        </p:nvSpPr>
        <p:spPr>
          <a:xfrm>
            <a:off x="850392" y="300252"/>
            <a:ext cx="11036808" cy="1255594"/>
          </a:xfrm>
        </p:spPr>
        <p:txBody>
          <a:bodyPr/>
          <a:lstStyle/>
          <a:p>
            <a:r>
              <a:rPr lang="en-US"/>
              <a:t>Let's see the simple example when the type of the arguments vary.</a:t>
            </a:r>
          </a:p>
          <a:p>
            <a:r>
              <a:rPr lang="en-US"/>
              <a:t>// Program of function overloading with different types of arguments.</a:t>
            </a:r>
          </a:p>
          <a:p>
            <a:endParaRPr lang="en-US" dirty="0"/>
          </a:p>
        </p:txBody>
      </p:sp>
      <p:sp>
        <p:nvSpPr>
          <p:cNvPr id="4" name="Date Placeholder 3">
            <a:extLst>
              <a:ext uri="{FF2B5EF4-FFF2-40B4-BE49-F238E27FC236}">
                <a16:creationId xmlns:a16="http://schemas.microsoft.com/office/drawing/2014/main" id="{EF366A33-2D00-4208-A287-4E6AF3E2644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131DA1C4-F50E-4E97-A3E2-84D239C97E13}"/>
              </a:ext>
            </a:extLst>
          </p:cNvPr>
          <p:cNvSpPr>
            <a:spLocks noGrp="1"/>
          </p:cNvSpPr>
          <p:nvPr>
            <p:ph type="sldNum" sz="quarter" idx="12"/>
          </p:nvPr>
        </p:nvSpPr>
        <p:spPr/>
        <p:txBody>
          <a:bodyPr/>
          <a:lstStyle/>
          <a:p>
            <a:fld id="{D8DA9DAA-006C-4F4B-980E-E3DF019B24E2}" type="slidenum">
              <a:rPr lang="en-US" smtClean="0"/>
              <a:pPr/>
              <a:t>77</a:t>
            </a:fld>
            <a:endParaRPr lang="en-US" dirty="0"/>
          </a:p>
        </p:txBody>
      </p:sp>
      <p:sp>
        <p:nvSpPr>
          <p:cNvPr id="6" name="Rectangle 5">
            <a:extLst>
              <a:ext uri="{FF2B5EF4-FFF2-40B4-BE49-F238E27FC236}">
                <a16:creationId xmlns:a16="http://schemas.microsoft.com/office/drawing/2014/main" id="{437DB2BF-0837-4B21-88CC-C7ABD467DE63}"/>
              </a:ext>
            </a:extLst>
          </p:cNvPr>
          <p:cNvSpPr/>
          <p:nvPr/>
        </p:nvSpPr>
        <p:spPr>
          <a:xfrm>
            <a:off x="741528" y="1443841"/>
            <a:ext cx="6096000" cy="3970318"/>
          </a:xfrm>
          <a:prstGeom prst="rect">
            <a:avLst/>
          </a:prstGeom>
        </p:spPr>
        <p:txBody>
          <a:bodyPr>
            <a:spAutoFit/>
          </a:bodyPr>
          <a:lstStyle/>
          <a:p>
            <a:pPr algn="just"/>
            <a:r>
              <a:rPr lang="en-US" dirty="0">
                <a:solidFill>
                  <a:srgbClr val="0000FF"/>
                </a:solidFill>
                <a:latin typeface="inter-regular"/>
              </a:rPr>
              <a:t>#include&lt;iostream&gt;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mul</a:t>
            </a:r>
            <a:r>
              <a:rPr lang="en-US" dirty="0">
                <a:solidFill>
                  <a:srgbClr val="000000"/>
                </a:solidFill>
                <a:latin typeface="inter-regular"/>
              </a:rPr>
              <a:t>(</a:t>
            </a:r>
            <a:r>
              <a:rPr lang="en-US" b="1" dirty="0" err="1">
                <a:solidFill>
                  <a:srgbClr val="2E8B57"/>
                </a:solidFill>
                <a:latin typeface="inter-regular"/>
              </a:rPr>
              <a:t>int</a:t>
            </a:r>
            <a:r>
              <a:rPr lang="en-US" dirty="0" err="1">
                <a:solidFill>
                  <a:srgbClr val="000000"/>
                </a:solidFill>
                <a:latin typeface="inter-regular"/>
              </a:rPr>
              <a:t>,</a:t>
            </a:r>
            <a:r>
              <a:rPr lang="en-US" b="1" dirty="0" err="1">
                <a:solidFill>
                  <a:srgbClr val="2E8B57"/>
                </a:solidFill>
                <a:latin typeface="inter-regular"/>
              </a:rPr>
              <a:t>int</a:t>
            </a:r>
            <a:r>
              <a:rPr lang="en-US" dirty="0">
                <a:solidFill>
                  <a:srgbClr val="000000"/>
                </a:solidFill>
                <a:latin typeface="inter-regular"/>
              </a:rPr>
              <a:t>);  </a:t>
            </a:r>
          </a:p>
          <a:p>
            <a:pPr algn="just"/>
            <a:r>
              <a:rPr lang="en-US" b="1" dirty="0">
                <a:solidFill>
                  <a:srgbClr val="2E8B57"/>
                </a:solidFill>
                <a:latin typeface="inter-regular"/>
              </a:rPr>
              <a:t>float</a:t>
            </a:r>
            <a:r>
              <a:rPr lang="en-US" dirty="0">
                <a:solidFill>
                  <a:srgbClr val="000000"/>
                </a:solidFill>
                <a:latin typeface="inter-regular"/>
              </a:rPr>
              <a:t> </a:t>
            </a:r>
            <a:r>
              <a:rPr lang="en-US" dirty="0" err="1">
                <a:solidFill>
                  <a:srgbClr val="000000"/>
                </a:solidFill>
                <a:latin typeface="inter-regular"/>
              </a:rPr>
              <a:t>mul</a:t>
            </a:r>
            <a:r>
              <a:rPr lang="en-US" dirty="0">
                <a:solidFill>
                  <a:srgbClr val="000000"/>
                </a:solidFill>
                <a:latin typeface="inter-regular"/>
              </a:rPr>
              <a:t>(</a:t>
            </a:r>
            <a:r>
              <a:rPr lang="en-US" b="1" dirty="0" err="1">
                <a:solidFill>
                  <a:srgbClr val="2E8B57"/>
                </a:solidFill>
                <a:latin typeface="inter-regular"/>
              </a:rPr>
              <a:t>float</a:t>
            </a:r>
            <a:r>
              <a:rPr lang="en-US" dirty="0" err="1">
                <a:solidFill>
                  <a:srgbClr val="000000"/>
                </a:solidFill>
                <a:latin typeface="inter-regular"/>
              </a:rPr>
              <a:t>,</a:t>
            </a:r>
            <a:r>
              <a:rPr lang="en-US" b="1" dirty="0" err="1">
                <a:solidFill>
                  <a:srgbClr val="2E8B57"/>
                </a:solidFill>
                <a:latin typeface="inter-regular"/>
              </a:rPr>
              <a:t>int</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mul</a:t>
            </a:r>
            <a:r>
              <a:rPr lang="en-US" dirty="0">
                <a:solidFill>
                  <a:srgbClr val="000000"/>
                </a:solidFill>
                <a:latin typeface="inter-regular"/>
              </a:rPr>
              <a:t>(</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a,</a:t>
            </a:r>
            <a:r>
              <a:rPr lang="en-US" b="1" dirty="0" err="1">
                <a:solidFill>
                  <a:srgbClr val="2E8B57"/>
                </a:solidFill>
                <a:latin typeface="inter-regular"/>
              </a:rPr>
              <a:t>int</a:t>
            </a:r>
            <a:r>
              <a:rPr lang="en-US" dirty="0">
                <a:solidFill>
                  <a:srgbClr val="000000"/>
                </a:solidFill>
                <a:latin typeface="inter-regular"/>
              </a:rPr>
              <a:t> b)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a*b;  </a:t>
            </a:r>
          </a:p>
          <a:p>
            <a:pPr algn="just"/>
            <a:r>
              <a:rPr lang="en-US" dirty="0">
                <a:solidFill>
                  <a:srgbClr val="000000"/>
                </a:solidFill>
                <a:latin typeface="inter-regular"/>
              </a:rPr>
              <a:t>}  </a:t>
            </a:r>
          </a:p>
          <a:p>
            <a:pPr algn="just"/>
            <a:r>
              <a:rPr lang="en-US" b="1" dirty="0">
                <a:solidFill>
                  <a:srgbClr val="2E8B57"/>
                </a:solidFill>
                <a:latin typeface="inter-regular"/>
              </a:rPr>
              <a:t>float</a:t>
            </a:r>
            <a:r>
              <a:rPr lang="en-US" dirty="0">
                <a:solidFill>
                  <a:srgbClr val="000000"/>
                </a:solidFill>
                <a:latin typeface="inter-regular"/>
              </a:rPr>
              <a:t> </a:t>
            </a:r>
            <a:r>
              <a:rPr lang="en-US" dirty="0" err="1">
                <a:solidFill>
                  <a:srgbClr val="000000"/>
                </a:solidFill>
                <a:latin typeface="inter-regular"/>
              </a:rPr>
              <a:t>mul</a:t>
            </a:r>
            <a:r>
              <a:rPr lang="en-US" dirty="0">
                <a:solidFill>
                  <a:srgbClr val="000000"/>
                </a:solidFill>
                <a:latin typeface="inter-regular"/>
              </a:rPr>
              <a:t>(</a:t>
            </a:r>
            <a:r>
              <a:rPr lang="en-US" b="1" dirty="0">
                <a:solidFill>
                  <a:srgbClr val="2E8B57"/>
                </a:solidFill>
                <a:latin typeface="inter-regular"/>
              </a:rPr>
              <a:t>double</a:t>
            </a:r>
            <a:r>
              <a:rPr lang="en-US" dirty="0">
                <a:solidFill>
                  <a:srgbClr val="000000"/>
                </a:solidFill>
                <a:latin typeface="inter-regular"/>
              </a:rPr>
              <a:t> x, </a:t>
            </a:r>
            <a:r>
              <a:rPr lang="en-US" b="1" dirty="0">
                <a:solidFill>
                  <a:srgbClr val="2E8B57"/>
                </a:solidFill>
                <a:latin typeface="inter-regular"/>
              </a:rPr>
              <a:t>int</a:t>
            </a:r>
            <a:r>
              <a:rPr lang="en-US" dirty="0">
                <a:solidFill>
                  <a:srgbClr val="000000"/>
                </a:solidFill>
                <a:latin typeface="inter-regular"/>
              </a:rPr>
              <a:t> y)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x*y;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C6594779-DBB4-482D-9397-472981D22A94}"/>
              </a:ext>
            </a:extLst>
          </p:cNvPr>
          <p:cNvSpPr/>
          <p:nvPr/>
        </p:nvSpPr>
        <p:spPr>
          <a:xfrm>
            <a:off x="5562600" y="1555846"/>
            <a:ext cx="6096000" cy="2308324"/>
          </a:xfrm>
          <a:prstGeom prst="rect">
            <a:avLst/>
          </a:prstGeom>
        </p:spPr>
        <p:txBody>
          <a:bodyPr>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r1 = </a:t>
            </a:r>
            <a:r>
              <a:rPr lang="en-US" dirty="0" err="1">
                <a:solidFill>
                  <a:srgbClr val="000000"/>
                </a:solidFill>
                <a:latin typeface="inter-regular"/>
              </a:rPr>
              <a:t>mul</a:t>
            </a:r>
            <a:r>
              <a:rPr lang="en-US" dirty="0">
                <a:solidFill>
                  <a:srgbClr val="000000"/>
                </a:solidFill>
                <a:latin typeface="inter-regular"/>
              </a:rPr>
              <a:t>(6,7);  </a:t>
            </a:r>
          </a:p>
          <a:p>
            <a:pPr algn="just"/>
            <a:r>
              <a:rPr lang="en-US" dirty="0">
                <a:solidFill>
                  <a:srgbClr val="000000"/>
                </a:solidFill>
                <a:latin typeface="inter-regular"/>
              </a:rPr>
              <a:t>    </a:t>
            </a:r>
            <a:r>
              <a:rPr lang="en-US" b="1" dirty="0">
                <a:solidFill>
                  <a:srgbClr val="2E8B57"/>
                </a:solidFill>
                <a:latin typeface="inter-regular"/>
              </a:rPr>
              <a:t>float</a:t>
            </a:r>
            <a:r>
              <a:rPr lang="en-US" dirty="0">
                <a:solidFill>
                  <a:srgbClr val="000000"/>
                </a:solidFill>
                <a:latin typeface="inter-regular"/>
              </a:rPr>
              <a:t> r2 = </a:t>
            </a:r>
            <a:r>
              <a:rPr lang="en-US" dirty="0" err="1">
                <a:solidFill>
                  <a:srgbClr val="000000"/>
                </a:solidFill>
                <a:latin typeface="inter-regular"/>
              </a:rPr>
              <a:t>mul</a:t>
            </a:r>
            <a:r>
              <a:rPr lang="en-US" dirty="0">
                <a:solidFill>
                  <a:srgbClr val="000000"/>
                </a:solidFill>
                <a:latin typeface="inter-regular"/>
              </a:rPr>
              <a:t>(0.2,3);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"r1 is : "</a:t>
            </a:r>
            <a:r>
              <a:rPr lang="en-US" dirty="0">
                <a:solidFill>
                  <a:srgbClr val="000000"/>
                </a:solidFill>
                <a:latin typeface="inter-regular"/>
              </a:rPr>
              <a:t> &lt;&lt;r1&lt;&lt;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a:t>
            </a:r>
            <a:r>
              <a:rPr lang="en-US" dirty="0">
                <a:solidFill>
                  <a:srgbClr val="0000FF"/>
                </a:solidFill>
                <a:latin typeface="inter-regular"/>
              </a:rPr>
              <a:t>"r2 is : "</a:t>
            </a:r>
            <a:r>
              <a:rPr lang="en-US" dirty="0">
                <a:solidFill>
                  <a:srgbClr val="000000"/>
                </a:solidFill>
                <a:latin typeface="inter-regular"/>
              </a:rPr>
              <a:t>  &lt;&lt;r2&lt;&lt;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1">
            <a:extLst>
              <a:ext uri="{FF2B5EF4-FFF2-40B4-BE49-F238E27FC236}">
                <a16:creationId xmlns:a16="http://schemas.microsoft.com/office/drawing/2014/main" id="{5CAC7346-D45F-4DEF-A96B-BF4EC0B0116E}"/>
              </a:ext>
            </a:extLst>
          </p:cNvPr>
          <p:cNvSpPr>
            <a:spLocks noChangeArrowheads="1"/>
          </p:cNvSpPr>
          <p:nvPr/>
        </p:nvSpPr>
        <p:spPr bwMode="auto">
          <a:xfrm>
            <a:off x="5119197" y="4042878"/>
            <a:ext cx="5062033"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333333"/>
                </a:solidFill>
                <a:effectLst/>
                <a:latin typeface="inter-bold"/>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r1 is : 42</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r2 is : 0.6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24596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221D3-B509-4302-9B7B-F3AB15BA6367}"/>
              </a:ext>
            </a:extLst>
          </p:cNvPr>
          <p:cNvSpPr>
            <a:spLocks noGrp="1"/>
          </p:cNvSpPr>
          <p:nvPr>
            <p:ph type="title"/>
          </p:nvPr>
        </p:nvSpPr>
        <p:spPr>
          <a:xfrm>
            <a:off x="627251" y="363849"/>
            <a:ext cx="9963412" cy="643901"/>
          </a:xfrm>
        </p:spPr>
        <p:txBody>
          <a:bodyPr>
            <a:normAutofit fontScale="90000"/>
          </a:bodyPr>
          <a:lstStyle/>
          <a:p>
            <a:r>
              <a:rPr lang="en-US" dirty="0"/>
              <a:t>Function Overloading and Ambiguity</a:t>
            </a:r>
          </a:p>
        </p:txBody>
      </p:sp>
      <p:sp>
        <p:nvSpPr>
          <p:cNvPr id="3" name="Content Placeholder 2">
            <a:extLst>
              <a:ext uri="{FF2B5EF4-FFF2-40B4-BE49-F238E27FC236}">
                <a16:creationId xmlns:a16="http://schemas.microsoft.com/office/drawing/2014/main" id="{CC312419-5F22-4C43-882D-7B1BF029532F}"/>
              </a:ext>
            </a:extLst>
          </p:cNvPr>
          <p:cNvSpPr>
            <a:spLocks noGrp="1"/>
          </p:cNvSpPr>
          <p:nvPr>
            <p:ph idx="1"/>
          </p:nvPr>
        </p:nvSpPr>
        <p:spPr>
          <a:xfrm>
            <a:off x="850391" y="1241946"/>
            <a:ext cx="10845739" cy="4930254"/>
          </a:xfrm>
        </p:spPr>
        <p:txBody>
          <a:bodyPr/>
          <a:lstStyle/>
          <a:p>
            <a:r>
              <a:rPr lang="en-US" dirty="0"/>
              <a:t>When the compiler is unable to decide which function is to be invoked among the overloaded function, this situation is known as </a:t>
            </a:r>
            <a:r>
              <a:rPr lang="en-US" b="1" dirty="0"/>
              <a:t>function overloading</a:t>
            </a:r>
            <a:r>
              <a:rPr lang="en-US" dirty="0"/>
              <a:t>.</a:t>
            </a:r>
          </a:p>
          <a:p>
            <a:r>
              <a:rPr lang="en-US" dirty="0"/>
              <a:t>When the compiler shows the ambiguity error, the compiler does not run the program.</a:t>
            </a:r>
          </a:p>
          <a:p>
            <a:r>
              <a:rPr lang="en-US" b="1" dirty="0"/>
              <a:t>Causes of Function Overloading:</a:t>
            </a:r>
            <a:endParaRPr lang="en-US" dirty="0"/>
          </a:p>
          <a:p>
            <a:r>
              <a:rPr lang="en-US" dirty="0"/>
              <a:t>Type Conversion.</a:t>
            </a:r>
          </a:p>
          <a:p>
            <a:r>
              <a:rPr lang="en-US" dirty="0"/>
              <a:t>Function with default arguments.</a:t>
            </a:r>
          </a:p>
          <a:p>
            <a:r>
              <a:rPr lang="en-US" dirty="0"/>
              <a:t>Function with pass by reference.</a:t>
            </a:r>
          </a:p>
          <a:p>
            <a:endParaRPr lang="en-US" dirty="0"/>
          </a:p>
        </p:txBody>
      </p:sp>
      <p:sp>
        <p:nvSpPr>
          <p:cNvPr id="4" name="Date Placeholder 3">
            <a:extLst>
              <a:ext uri="{FF2B5EF4-FFF2-40B4-BE49-F238E27FC236}">
                <a16:creationId xmlns:a16="http://schemas.microsoft.com/office/drawing/2014/main" id="{D271CF3F-1E23-4187-8C35-7A8C157342E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F0BCED8B-F56B-4EBA-9994-51189DEE82DA}"/>
              </a:ext>
            </a:extLst>
          </p:cNvPr>
          <p:cNvSpPr>
            <a:spLocks noGrp="1"/>
          </p:cNvSpPr>
          <p:nvPr>
            <p:ph type="sldNum" sz="quarter" idx="12"/>
          </p:nvPr>
        </p:nvSpPr>
        <p:spPr/>
        <p:txBody>
          <a:bodyPr/>
          <a:lstStyle/>
          <a:p>
            <a:fld id="{D8DA9DAA-006C-4F4B-980E-E3DF019B24E2}" type="slidenum">
              <a:rPr lang="en-US" smtClean="0"/>
              <a:pPr/>
              <a:t>78</a:t>
            </a:fld>
            <a:endParaRPr lang="en-US" dirty="0"/>
          </a:p>
        </p:txBody>
      </p:sp>
      <p:pic>
        <p:nvPicPr>
          <p:cNvPr id="6" name="Picture 5">
            <a:extLst>
              <a:ext uri="{FF2B5EF4-FFF2-40B4-BE49-F238E27FC236}">
                <a16:creationId xmlns:a16="http://schemas.microsoft.com/office/drawing/2014/main" id="{AADB9E09-7A6E-4177-8A6B-CDA15C78C6EC}"/>
              </a:ext>
            </a:extLst>
          </p:cNvPr>
          <p:cNvPicPr>
            <a:picLocks noChangeAspect="1"/>
          </p:cNvPicPr>
          <p:nvPr/>
        </p:nvPicPr>
        <p:blipFill>
          <a:blip r:embed="rId2"/>
          <a:stretch>
            <a:fillRect/>
          </a:stretch>
        </p:blipFill>
        <p:spPr>
          <a:xfrm>
            <a:off x="6744979" y="2907115"/>
            <a:ext cx="2305050" cy="2381250"/>
          </a:xfrm>
          <a:prstGeom prst="rect">
            <a:avLst/>
          </a:prstGeom>
        </p:spPr>
      </p:pic>
    </p:spTree>
    <p:extLst>
      <p:ext uri="{BB962C8B-B14F-4D97-AF65-F5344CB8AC3E}">
        <p14:creationId xmlns:p14="http://schemas.microsoft.com/office/powerpoint/2010/main" val="19877161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50BF-91DD-45D0-8189-CDDF676AC7E8}"/>
              </a:ext>
            </a:extLst>
          </p:cNvPr>
          <p:cNvSpPr>
            <a:spLocks noGrp="1"/>
          </p:cNvSpPr>
          <p:nvPr>
            <p:ph type="title"/>
          </p:nvPr>
        </p:nvSpPr>
        <p:spPr>
          <a:xfrm>
            <a:off x="850392" y="281962"/>
            <a:ext cx="6190488" cy="807675"/>
          </a:xfrm>
        </p:spPr>
        <p:txBody>
          <a:bodyPr>
            <a:normAutofit fontScale="90000"/>
          </a:bodyPr>
          <a:lstStyle/>
          <a:p>
            <a:r>
              <a:rPr lang="en-US" dirty="0"/>
              <a:t>Type Conversion</a:t>
            </a:r>
          </a:p>
        </p:txBody>
      </p:sp>
      <p:sp>
        <p:nvSpPr>
          <p:cNvPr id="3" name="Content Placeholder 2">
            <a:extLst>
              <a:ext uri="{FF2B5EF4-FFF2-40B4-BE49-F238E27FC236}">
                <a16:creationId xmlns:a16="http://schemas.microsoft.com/office/drawing/2014/main" id="{C27093BD-DAE8-4E8B-B93B-C10FBB9419C9}"/>
              </a:ext>
            </a:extLst>
          </p:cNvPr>
          <p:cNvSpPr>
            <a:spLocks noGrp="1"/>
          </p:cNvSpPr>
          <p:nvPr>
            <p:ph idx="1"/>
          </p:nvPr>
        </p:nvSpPr>
        <p:spPr>
          <a:xfrm>
            <a:off x="850392" y="1296537"/>
            <a:ext cx="7137908" cy="5059813"/>
          </a:xfrm>
        </p:spPr>
        <p:txBody>
          <a:bodyPr>
            <a:normAutofit fontScale="47500" lnSpcReduction="20000"/>
          </a:bodyPr>
          <a:lstStyle/>
          <a:p>
            <a:r>
              <a:rPr lang="en-US" sz="4200" dirty="0"/>
              <a:t>#include&lt;iostream&gt;  </a:t>
            </a:r>
          </a:p>
          <a:p>
            <a:r>
              <a:rPr lang="en-US" sz="4200" b="1" dirty="0"/>
              <a:t>using</a:t>
            </a:r>
            <a:r>
              <a:rPr lang="en-US" sz="4200" dirty="0"/>
              <a:t> </a:t>
            </a:r>
            <a:r>
              <a:rPr lang="en-US" sz="4200" b="1" dirty="0"/>
              <a:t>namespace</a:t>
            </a:r>
            <a:r>
              <a:rPr lang="en-US" sz="4200" dirty="0"/>
              <a:t> std;  </a:t>
            </a:r>
          </a:p>
          <a:p>
            <a:r>
              <a:rPr lang="en-US" sz="4200" b="1" dirty="0"/>
              <a:t>void</a:t>
            </a:r>
            <a:r>
              <a:rPr lang="en-US" sz="4200" dirty="0"/>
              <a:t> fun(</a:t>
            </a:r>
            <a:r>
              <a:rPr lang="en-US" sz="4200" b="1" dirty="0"/>
              <a:t>int</a:t>
            </a:r>
            <a:r>
              <a:rPr lang="en-US" sz="4200" dirty="0"/>
              <a:t>);  </a:t>
            </a:r>
          </a:p>
          <a:p>
            <a:r>
              <a:rPr lang="en-US" sz="4200" b="1" dirty="0"/>
              <a:t>void</a:t>
            </a:r>
            <a:r>
              <a:rPr lang="en-US" sz="4200" dirty="0"/>
              <a:t> fun(</a:t>
            </a:r>
            <a:r>
              <a:rPr lang="en-US" sz="4200" b="1" dirty="0"/>
              <a:t>float</a:t>
            </a:r>
            <a:r>
              <a:rPr lang="en-US" sz="4200" dirty="0"/>
              <a:t>);  </a:t>
            </a:r>
          </a:p>
          <a:p>
            <a:r>
              <a:rPr lang="en-US" sz="4200" b="1" dirty="0"/>
              <a:t>void</a:t>
            </a:r>
            <a:r>
              <a:rPr lang="en-US" sz="4200" dirty="0"/>
              <a:t> fun(</a:t>
            </a:r>
            <a:r>
              <a:rPr lang="en-US" sz="4200" b="1" dirty="0"/>
              <a:t>int</a:t>
            </a:r>
            <a:r>
              <a:rPr lang="en-US" sz="4200" dirty="0"/>
              <a:t> </a:t>
            </a:r>
            <a:r>
              <a:rPr lang="en-US" sz="4200" dirty="0" err="1"/>
              <a:t>i</a:t>
            </a:r>
            <a:r>
              <a:rPr lang="en-US" sz="4200" dirty="0"/>
              <a:t>)  </a:t>
            </a:r>
          </a:p>
          <a:p>
            <a:r>
              <a:rPr lang="en-US" sz="4200" dirty="0"/>
              <a:t>{  </a:t>
            </a:r>
          </a:p>
          <a:p>
            <a:r>
              <a:rPr lang="en-US" sz="4200" dirty="0"/>
              <a:t>    std::</a:t>
            </a:r>
            <a:r>
              <a:rPr lang="en-US" sz="4200" dirty="0" err="1"/>
              <a:t>cout</a:t>
            </a:r>
            <a:r>
              <a:rPr lang="en-US" sz="4200" dirty="0"/>
              <a:t> &lt;&lt; "Value of </a:t>
            </a:r>
            <a:r>
              <a:rPr lang="en-US" sz="4200" dirty="0" err="1"/>
              <a:t>i</a:t>
            </a:r>
            <a:r>
              <a:rPr lang="en-US" sz="4200" dirty="0"/>
              <a:t> is : " &lt;&lt;</a:t>
            </a:r>
            <a:r>
              <a:rPr lang="en-US" sz="4200" dirty="0" err="1"/>
              <a:t>i</a:t>
            </a:r>
            <a:r>
              <a:rPr lang="en-US" sz="4200" dirty="0"/>
              <a:t>&lt;&lt; std::</a:t>
            </a:r>
            <a:r>
              <a:rPr lang="en-US" sz="4200" dirty="0" err="1"/>
              <a:t>endl</a:t>
            </a:r>
            <a:r>
              <a:rPr lang="en-US" sz="4200" dirty="0"/>
              <a:t>;  </a:t>
            </a:r>
          </a:p>
          <a:p>
            <a:r>
              <a:rPr lang="en-US" sz="4200" dirty="0"/>
              <a:t>}  </a:t>
            </a:r>
          </a:p>
          <a:p>
            <a:r>
              <a:rPr lang="en-US" sz="4200" b="1" dirty="0"/>
              <a:t>void</a:t>
            </a:r>
            <a:r>
              <a:rPr lang="en-US" sz="4200" dirty="0"/>
              <a:t> fun(</a:t>
            </a:r>
            <a:r>
              <a:rPr lang="en-US" sz="4200" b="1" dirty="0"/>
              <a:t>float</a:t>
            </a:r>
            <a:r>
              <a:rPr lang="en-US" sz="4200" dirty="0"/>
              <a:t> j)  </a:t>
            </a:r>
          </a:p>
          <a:p>
            <a:r>
              <a:rPr lang="en-US" sz="4200" dirty="0"/>
              <a:t>{  </a:t>
            </a:r>
          </a:p>
          <a:p>
            <a:r>
              <a:rPr lang="en-US" sz="4200" dirty="0"/>
              <a:t>    std::</a:t>
            </a:r>
            <a:r>
              <a:rPr lang="en-US" sz="4200" dirty="0" err="1"/>
              <a:t>cout</a:t>
            </a:r>
            <a:r>
              <a:rPr lang="en-US" sz="4200" dirty="0"/>
              <a:t> &lt;&lt; "Value of j is : " &lt;&lt;j&lt;&lt; std::</a:t>
            </a:r>
            <a:r>
              <a:rPr lang="en-US" sz="4200" dirty="0" err="1"/>
              <a:t>endl</a:t>
            </a:r>
            <a:r>
              <a:rPr lang="en-US" sz="4200" dirty="0"/>
              <a:t>;  </a:t>
            </a:r>
          </a:p>
          <a:p>
            <a:r>
              <a:rPr lang="en-US" sz="4200" dirty="0"/>
              <a:t>}  </a:t>
            </a:r>
          </a:p>
          <a:p>
            <a:endParaRPr lang="en-US" dirty="0"/>
          </a:p>
        </p:txBody>
      </p:sp>
      <p:sp>
        <p:nvSpPr>
          <p:cNvPr id="4" name="Date Placeholder 3">
            <a:extLst>
              <a:ext uri="{FF2B5EF4-FFF2-40B4-BE49-F238E27FC236}">
                <a16:creationId xmlns:a16="http://schemas.microsoft.com/office/drawing/2014/main" id="{584359BD-BA8D-4B34-AE22-B414CC235714}"/>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11A17E1E-57FA-4D57-A9FD-E118D64F447C}"/>
              </a:ext>
            </a:extLst>
          </p:cNvPr>
          <p:cNvSpPr>
            <a:spLocks noGrp="1"/>
          </p:cNvSpPr>
          <p:nvPr>
            <p:ph type="sldNum" sz="quarter" idx="12"/>
          </p:nvPr>
        </p:nvSpPr>
        <p:spPr/>
        <p:txBody>
          <a:bodyPr/>
          <a:lstStyle/>
          <a:p>
            <a:fld id="{D8DA9DAA-006C-4F4B-980E-E3DF019B24E2}" type="slidenum">
              <a:rPr lang="en-US" smtClean="0"/>
              <a:pPr/>
              <a:t>79</a:t>
            </a:fld>
            <a:endParaRPr lang="en-US" dirty="0"/>
          </a:p>
        </p:txBody>
      </p:sp>
      <p:sp>
        <p:nvSpPr>
          <p:cNvPr id="6" name="Rectangle 5">
            <a:extLst>
              <a:ext uri="{FF2B5EF4-FFF2-40B4-BE49-F238E27FC236}">
                <a16:creationId xmlns:a16="http://schemas.microsoft.com/office/drawing/2014/main" id="{4B7B9557-20F7-4B5F-9FFC-C6F1B4FA0F92}"/>
              </a:ext>
            </a:extLst>
          </p:cNvPr>
          <p:cNvSpPr/>
          <p:nvPr/>
        </p:nvSpPr>
        <p:spPr>
          <a:xfrm>
            <a:off x="8242300" y="1408837"/>
            <a:ext cx="3632200" cy="1754326"/>
          </a:xfrm>
          <a:prstGeom prst="rect">
            <a:avLst/>
          </a:prstGeom>
        </p:spPr>
        <p:txBody>
          <a:bodyPr wrap="square">
            <a:spAutoFit/>
          </a:bodyPr>
          <a:lstStyle/>
          <a:p>
            <a:r>
              <a:rPr lang="en-US" b="1" dirty="0"/>
              <a:t>int</a:t>
            </a:r>
            <a:r>
              <a:rPr lang="en-US" dirty="0"/>
              <a:t> main()  </a:t>
            </a:r>
          </a:p>
          <a:p>
            <a:r>
              <a:rPr lang="en-US" dirty="0"/>
              <a:t>{  </a:t>
            </a:r>
          </a:p>
          <a:p>
            <a:r>
              <a:rPr lang="en-US" dirty="0"/>
              <a:t>    fun(12);  </a:t>
            </a:r>
          </a:p>
          <a:p>
            <a:r>
              <a:rPr lang="en-US" dirty="0"/>
              <a:t>    fun(1.2);  </a:t>
            </a:r>
          </a:p>
          <a:p>
            <a:r>
              <a:rPr lang="en-US" dirty="0"/>
              <a:t>    </a:t>
            </a:r>
            <a:r>
              <a:rPr lang="en-US" b="1" dirty="0"/>
              <a:t>return</a:t>
            </a:r>
            <a:r>
              <a:rPr lang="en-US" dirty="0"/>
              <a:t> 0;  </a:t>
            </a:r>
          </a:p>
          <a:p>
            <a:r>
              <a:rPr lang="en-US" dirty="0"/>
              <a:t>}  </a:t>
            </a:r>
          </a:p>
        </p:txBody>
      </p:sp>
    </p:spTree>
    <p:extLst>
      <p:ext uri="{BB962C8B-B14F-4D97-AF65-F5344CB8AC3E}">
        <p14:creationId xmlns:p14="http://schemas.microsoft.com/office/powerpoint/2010/main" val="21523465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753EF-07C8-4E4F-B4EA-042C40B5E55C}"/>
              </a:ext>
            </a:extLst>
          </p:cNvPr>
          <p:cNvSpPr>
            <a:spLocks noGrp="1"/>
          </p:cNvSpPr>
          <p:nvPr>
            <p:ph idx="1"/>
          </p:nvPr>
        </p:nvSpPr>
        <p:spPr>
          <a:xfrm>
            <a:off x="850391" y="395785"/>
            <a:ext cx="11105047" cy="1978925"/>
          </a:xfrm>
        </p:spPr>
        <p:txBody>
          <a:bodyPr/>
          <a:lstStyle/>
          <a:p>
            <a:r>
              <a:rPr lang="en-US" dirty="0"/>
              <a:t>The above example shows an error "</a:t>
            </a:r>
            <a:r>
              <a:rPr lang="en-US" b="1" dirty="0"/>
              <a:t>call of overloaded 'fun(double)' is ambiguous</a:t>
            </a:r>
            <a:r>
              <a:rPr lang="en-US" dirty="0"/>
              <a:t>". The fun(10) will call the first function. The fun(1.2) calls the second function according to our prediction. But, this does not refer to any function as in C++, all the floating point constants are treated as double not as a float. If we replace float to double, the program works. Therefore, this is a type conversion from float to double.</a:t>
            </a:r>
          </a:p>
          <a:p>
            <a:r>
              <a:rPr lang="en-US" dirty="0"/>
              <a:t>Function with Default Arguments</a:t>
            </a:r>
          </a:p>
          <a:p>
            <a:endParaRPr lang="en-US" dirty="0"/>
          </a:p>
        </p:txBody>
      </p:sp>
      <p:sp>
        <p:nvSpPr>
          <p:cNvPr id="4" name="Date Placeholder 3">
            <a:extLst>
              <a:ext uri="{FF2B5EF4-FFF2-40B4-BE49-F238E27FC236}">
                <a16:creationId xmlns:a16="http://schemas.microsoft.com/office/drawing/2014/main" id="{33E0988D-A23E-4673-9BC6-DD5E61525EC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2B3B3EFC-FAFE-44E7-BD95-1FF7320EFABE}"/>
              </a:ext>
            </a:extLst>
          </p:cNvPr>
          <p:cNvSpPr>
            <a:spLocks noGrp="1"/>
          </p:cNvSpPr>
          <p:nvPr>
            <p:ph type="sldNum" sz="quarter" idx="12"/>
          </p:nvPr>
        </p:nvSpPr>
        <p:spPr/>
        <p:txBody>
          <a:bodyPr/>
          <a:lstStyle/>
          <a:p>
            <a:fld id="{D8DA9DAA-006C-4F4B-980E-E3DF019B24E2}" type="slidenum">
              <a:rPr lang="en-US" smtClean="0"/>
              <a:pPr/>
              <a:t>80</a:t>
            </a:fld>
            <a:endParaRPr lang="en-US" dirty="0"/>
          </a:p>
        </p:txBody>
      </p:sp>
      <p:sp>
        <p:nvSpPr>
          <p:cNvPr id="6" name="Rectangle 5">
            <a:extLst>
              <a:ext uri="{FF2B5EF4-FFF2-40B4-BE49-F238E27FC236}">
                <a16:creationId xmlns:a16="http://schemas.microsoft.com/office/drawing/2014/main" id="{16F9EF73-AD57-40FB-959E-812031E65F9E}"/>
              </a:ext>
            </a:extLst>
          </p:cNvPr>
          <p:cNvSpPr/>
          <p:nvPr/>
        </p:nvSpPr>
        <p:spPr>
          <a:xfrm>
            <a:off x="850391" y="2518870"/>
            <a:ext cx="6096000" cy="3693319"/>
          </a:xfrm>
          <a:prstGeom prst="rect">
            <a:avLst/>
          </a:prstGeom>
        </p:spPr>
        <p:txBody>
          <a:bodyPr>
            <a:spAutoFit/>
          </a:bodyPr>
          <a:lstStyle/>
          <a:p>
            <a:pPr algn="just"/>
            <a:r>
              <a:rPr lang="en-US" dirty="0">
                <a:solidFill>
                  <a:srgbClr val="0000FF"/>
                </a:solidFill>
                <a:latin typeface="inter-regular"/>
              </a:rPr>
              <a:t>#include&lt;iostream&gt;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fun(</a:t>
            </a:r>
            <a:r>
              <a:rPr lang="en-US" b="1" dirty="0" err="1">
                <a:solidFill>
                  <a:srgbClr val="2E8B57"/>
                </a:solidFill>
                <a:latin typeface="inter-regular"/>
              </a:rPr>
              <a:t>int</a:t>
            </a:r>
            <a:r>
              <a:rPr lang="en-US" dirty="0" err="1">
                <a:solidFill>
                  <a:srgbClr val="000000"/>
                </a:solidFill>
                <a:latin typeface="inter-regular"/>
              </a:rPr>
              <a:t>,</a:t>
            </a:r>
            <a:r>
              <a:rPr lang="en-US" b="1" dirty="0" err="1">
                <a:solidFill>
                  <a:srgbClr val="2E8B57"/>
                </a:solidFill>
                <a:latin typeface="inter-regular"/>
              </a:rPr>
              <a:t>int</a:t>
            </a:r>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i</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a:t>
            </a:r>
            <a:r>
              <a:rPr lang="en-US" dirty="0" err="1">
                <a:solidFill>
                  <a:srgbClr val="0000FF"/>
                </a:solidFill>
                <a:latin typeface="inter-regular"/>
              </a:rPr>
              <a:t>i</a:t>
            </a:r>
            <a:r>
              <a:rPr lang="en-US" dirty="0">
                <a:solidFill>
                  <a:srgbClr val="0000FF"/>
                </a:solidFill>
                <a:latin typeface="inter-regular"/>
              </a:rPr>
              <a:t> is : "</a:t>
            </a:r>
            <a:r>
              <a:rPr lang="en-US" dirty="0">
                <a:solidFill>
                  <a:srgbClr val="000000"/>
                </a:solidFill>
                <a:latin typeface="inter-regular"/>
              </a:rPr>
              <a:t> &lt;&lt;</a:t>
            </a:r>
            <a:r>
              <a:rPr lang="en-US" dirty="0" err="1">
                <a:solidFill>
                  <a:srgbClr val="000000"/>
                </a:solidFill>
                <a:latin typeface="inter-regular"/>
              </a:rPr>
              <a:t>i</a:t>
            </a:r>
            <a:r>
              <a:rPr lang="en-US" dirty="0">
                <a:solidFill>
                  <a:srgbClr val="000000"/>
                </a:solidFill>
                <a:latin typeface="inter-regular"/>
              </a:rPr>
              <a:t>&lt;&lt;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a,</a:t>
            </a:r>
            <a:r>
              <a:rPr lang="en-US" b="1" dirty="0" err="1">
                <a:solidFill>
                  <a:srgbClr val="2E8B57"/>
                </a:solidFill>
                <a:latin typeface="inter-regular"/>
              </a:rPr>
              <a:t>int</a:t>
            </a:r>
            <a:r>
              <a:rPr lang="en-US" dirty="0">
                <a:solidFill>
                  <a:srgbClr val="000000"/>
                </a:solidFill>
                <a:latin typeface="inter-regular"/>
              </a:rPr>
              <a:t> b=9)  </a:t>
            </a:r>
          </a:p>
          <a:p>
            <a:pPr algn="just"/>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a is : "</a:t>
            </a:r>
            <a:r>
              <a:rPr lang="en-US" dirty="0">
                <a:solidFill>
                  <a:srgbClr val="000000"/>
                </a:solidFill>
                <a:latin typeface="inter-regular"/>
              </a:rPr>
              <a:t> &lt;&lt;a&lt;&lt;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b is : "</a:t>
            </a:r>
            <a:r>
              <a:rPr lang="en-US" dirty="0">
                <a:solidFill>
                  <a:srgbClr val="000000"/>
                </a:solidFill>
                <a:latin typeface="inter-regular"/>
              </a:rPr>
              <a:t> &lt;&lt;b&lt;&lt;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D9BF2FDC-C57B-4C3C-9516-D0B57353037F}"/>
              </a:ext>
            </a:extLst>
          </p:cNvPr>
          <p:cNvSpPr/>
          <p:nvPr/>
        </p:nvSpPr>
        <p:spPr>
          <a:xfrm>
            <a:off x="6096000" y="3152338"/>
            <a:ext cx="5559188" cy="1754326"/>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fun(12);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19037251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F630C3-ADD4-4E59-A4CB-EF41F88ECC39}"/>
              </a:ext>
            </a:extLst>
          </p:cNvPr>
          <p:cNvSpPr>
            <a:spLocks noGrp="1"/>
          </p:cNvSpPr>
          <p:nvPr>
            <p:ph idx="1"/>
          </p:nvPr>
        </p:nvSpPr>
        <p:spPr>
          <a:xfrm>
            <a:off x="850391" y="272955"/>
            <a:ext cx="10873035" cy="5899245"/>
          </a:xfrm>
        </p:spPr>
        <p:txBody>
          <a:bodyPr/>
          <a:lstStyle/>
          <a:p>
            <a:r>
              <a:rPr lang="en-US" dirty="0"/>
              <a:t>The above example shows an error "call of overloaded 'fun(int)' is ambiguous". The fun(int a, int b=9) can be called in two ways: first is by calling the function with one argument, i.e., fun(12) and another way is calling the function with two arguments, i.e., fun(4,5). The fun(int </a:t>
            </a:r>
            <a:r>
              <a:rPr lang="en-US" dirty="0" err="1"/>
              <a:t>i</a:t>
            </a:r>
            <a:r>
              <a:rPr lang="en-US" dirty="0"/>
              <a:t>) function is invoked with one argument. Therefore, the compiler could not be able to select among fun(int </a:t>
            </a:r>
            <a:r>
              <a:rPr lang="en-US" dirty="0" err="1"/>
              <a:t>i</a:t>
            </a:r>
            <a:r>
              <a:rPr lang="en-US" dirty="0"/>
              <a:t>) and fun(int </a:t>
            </a:r>
            <a:r>
              <a:rPr lang="en-US" dirty="0" err="1"/>
              <a:t>a,int</a:t>
            </a:r>
            <a:r>
              <a:rPr lang="en-US" dirty="0"/>
              <a:t> b=9).</a:t>
            </a:r>
          </a:p>
        </p:txBody>
      </p:sp>
      <p:sp>
        <p:nvSpPr>
          <p:cNvPr id="4" name="Date Placeholder 3">
            <a:extLst>
              <a:ext uri="{FF2B5EF4-FFF2-40B4-BE49-F238E27FC236}">
                <a16:creationId xmlns:a16="http://schemas.microsoft.com/office/drawing/2014/main" id="{257688FF-9E49-4507-B6E8-73F7ED4366F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8CA1DCC-495D-4EA4-BBA7-BBD76003BF28}"/>
              </a:ext>
            </a:extLst>
          </p:cNvPr>
          <p:cNvSpPr>
            <a:spLocks noGrp="1"/>
          </p:cNvSpPr>
          <p:nvPr>
            <p:ph type="sldNum" sz="quarter" idx="12"/>
          </p:nvPr>
        </p:nvSpPr>
        <p:spPr/>
        <p:txBody>
          <a:bodyPr/>
          <a:lstStyle/>
          <a:p>
            <a:fld id="{D8DA9DAA-006C-4F4B-980E-E3DF019B24E2}" type="slidenum">
              <a:rPr lang="en-US" smtClean="0"/>
              <a:pPr/>
              <a:t>81</a:t>
            </a:fld>
            <a:endParaRPr lang="en-US" dirty="0"/>
          </a:p>
        </p:txBody>
      </p:sp>
      <p:sp>
        <p:nvSpPr>
          <p:cNvPr id="6" name="Rectangle 5">
            <a:extLst>
              <a:ext uri="{FF2B5EF4-FFF2-40B4-BE49-F238E27FC236}">
                <a16:creationId xmlns:a16="http://schemas.microsoft.com/office/drawing/2014/main" id="{83E42D12-1365-4BDE-820F-FB0005D53FE9}"/>
              </a:ext>
            </a:extLst>
          </p:cNvPr>
          <p:cNvSpPr/>
          <p:nvPr/>
        </p:nvSpPr>
        <p:spPr>
          <a:xfrm>
            <a:off x="850391" y="1961445"/>
            <a:ext cx="3249031" cy="369332"/>
          </a:xfrm>
          <a:prstGeom prst="rect">
            <a:avLst/>
          </a:prstGeom>
        </p:spPr>
        <p:txBody>
          <a:bodyPr wrap="none">
            <a:spAutoFit/>
          </a:bodyPr>
          <a:lstStyle/>
          <a:p>
            <a:pPr algn="just">
              <a:buFont typeface="Arial" panose="020B0604020202020204" pitchFamily="34" charset="0"/>
              <a:buChar char="•"/>
            </a:pPr>
            <a:r>
              <a:rPr lang="en-US" dirty="0">
                <a:solidFill>
                  <a:srgbClr val="000000"/>
                </a:solidFill>
                <a:latin typeface="inter-regular"/>
              </a:rPr>
              <a:t>Function with pass by reference</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A77A1451-F686-42C0-ABF8-C334E9BDD5C5}"/>
              </a:ext>
            </a:extLst>
          </p:cNvPr>
          <p:cNvSpPr/>
          <p:nvPr/>
        </p:nvSpPr>
        <p:spPr>
          <a:xfrm>
            <a:off x="838200" y="2588106"/>
            <a:ext cx="6096000" cy="2862322"/>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&amp;);   </a:t>
            </a:r>
          </a:p>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a=10;  </a:t>
            </a:r>
          </a:p>
          <a:p>
            <a:pPr algn="just"/>
            <a:r>
              <a:rPr lang="en-US" dirty="0">
                <a:solidFill>
                  <a:srgbClr val="000000"/>
                </a:solidFill>
                <a:latin typeface="inter-regular"/>
              </a:rPr>
              <a:t>fun(a); </a:t>
            </a:r>
            <a:r>
              <a:rPr lang="en-US" dirty="0">
                <a:solidFill>
                  <a:srgbClr val="008200"/>
                </a:solidFill>
                <a:latin typeface="inter-regular"/>
              </a:rPr>
              <a:t>// error, which f()?</a:t>
            </a:r>
            <a:r>
              <a:rPr lang="en-US" dirty="0">
                <a:solidFill>
                  <a:srgbClr val="000000"/>
                </a:solidFill>
                <a:latin typeface="inter-regular"/>
              </a:rPr>
              <a:t>  </a:t>
            </a:r>
          </a:p>
          <a:p>
            <a:pPr algn="just"/>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7">
            <a:extLst>
              <a:ext uri="{FF2B5EF4-FFF2-40B4-BE49-F238E27FC236}">
                <a16:creationId xmlns:a16="http://schemas.microsoft.com/office/drawing/2014/main" id="{2B52ADE2-F653-45FA-9CE5-6008B44FEE53}"/>
              </a:ext>
            </a:extLst>
          </p:cNvPr>
          <p:cNvSpPr/>
          <p:nvPr/>
        </p:nvSpPr>
        <p:spPr>
          <a:xfrm>
            <a:off x="5095164" y="2612411"/>
            <a:ext cx="6096000" cy="2308324"/>
          </a:xfrm>
          <a:prstGeom prst="rect">
            <a:avLst/>
          </a:prstGeom>
        </p:spPr>
        <p:txBody>
          <a:bodyPr>
            <a:spAutoFit/>
          </a:bodyPr>
          <a:lstStyle/>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x)  </a:t>
            </a:r>
          </a:p>
          <a:p>
            <a:pPr algn="just"/>
            <a:r>
              <a:rPr lang="en-US" dirty="0">
                <a:solidFill>
                  <a:srgbClr val="000000"/>
                </a:solidFill>
                <a:latin typeface="inter-regular"/>
              </a:rPr>
              <a:t>{  </a:t>
            </a:r>
          </a:p>
          <a:p>
            <a:pPr algn="just"/>
            <a:r>
              <a:rPr lang="en-US" dirty="0">
                <a:solidFill>
                  <a:srgbClr val="000000"/>
                </a:solidFill>
                <a:latin typeface="inter-regular"/>
              </a:rPr>
              <a:t>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x is : "</a:t>
            </a:r>
            <a:r>
              <a:rPr lang="en-US" dirty="0">
                <a:solidFill>
                  <a:srgbClr val="000000"/>
                </a:solidFill>
                <a:latin typeface="inter-regular"/>
              </a:rPr>
              <a:t> &lt;&lt;x&lt;&lt;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fun(</a:t>
            </a:r>
            <a:r>
              <a:rPr lang="en-US" b="1" dirty="0">
                <a:solidFill>
                  <a:srgbClr val="2E8B57"/>
                </a:solidFill>
                <a:latin typeface="inter-regular"/>
              </a:rPr>
              <a:t>int</a:t>
            </a:r>
            <a:r>
              <a:rPr lang="en-US" dirty="0">
                <a:solidFill>
                  <a:srgbClr val="000000"/>
                </a:solidFill>
                <a:latin typeface="inter-regular"/>
              </a:rPr>
              <a:t> &amp;b)  </a:t>
            </a:r>
          </a:p>
          <a:p>
            <a:pPr algn="just"/>
            <a:r>
              <a:rPr lang="en-US" dirty="0">
                <a:solidFill>
                  <a:srgbClr val="000000"/>
                </a:solidFill>
                <a:latin typeface="inter-regular"/>
              </a:rPr>
              <a:t>{  </a:t>
            </a:r>
          </a:p>
          <a:p>
            <a:pPr algn="just"/>
            <a:r>
              <a:rPr lang="en-US" dirty="0">
                <a:solidFill>
                  <a:srgbClr val="000000"/>
                </a:solidFill>
                <a:latin typeface="inter-regular"/>
              </a:rPr>
              <a:t>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b is : "</a:t>
            </a:r>
            <a:r>
              <a:rPr lang="en-US" dirty="0">
                <a:solidFill>
                  <a:srgbClr val="000000"/>
                </a:solidFill>
                <a:latin typeface="inter-regular"/>
              </a:rPr>
              <a:t> &lt;&lt;b&lt;&lt;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23588943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1FDF64-D03D-4A54-831B-1DB2321A9DC2}"/>
              </a:ext>
            </a:extLst>
          </p:cNvPr>
          <p:cNvSpPr>
            <a:spLocks noGrp="1"/>
          </p:cNvSpPr>
          <p:nvPr>
            <p:ph idx="1"/>
          </p:nvPr>
        </p:nvSpPr>
        <p:spPr>
          <a:xfrm>
            <a:off x="482600" y="546100"/>
            <a:ext cx="10629900" cy="5626100"/>
          </a:xfrm>
        </p:spPr>
        <p:txBody>
          <a:bodyPr>
            <a:noAutofit/>
          </a:bodyPr>
          <a:lstStyle/>
          <a:p>
            <a:r>
              <a:rPr lang="en-US" sz="3600" dirty="0"/>
              <a:t>The above example shows an error "</a:t>
            </a:r>
            <a:r>
              <a:rPr lang="en-US" sz="3600" b="1" dirty="0"/>
              <a:t>call of overloaded 'fun(int&amp;)' is ambiguous</a:t>
            </a:r>
            <a:r>
              <a:rPr lang="en-US" sz="3600" dirty="0"/>
              <a:t>". The first function takes one integer argument and the second function takes a reference parameter as an argument. In this case, the compiler does not know which function is needed by the user as there is no syntactical difference between the fun(int) and fun(int &amp;).</a:t>
            </a:r>
          </a:p>
        </p:txBody>
      </p:sp>
      <p:sp>
        <p:nvSpPr>
          <p:cNvPr id="4" name="Date Placeholder 3">
            <a:extLst>
              <a:ext uri="{FF2B5EF4-FFF2-40B4-BE49-F238E27FC236}">
                <a16:creationId xmlns:a16="http://schemas.microsoft.com/office/drawing/2014/main" id="{1BAB3DCA-639C-4903-8243-BA8852BB9B0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79536D3E-4CF0-4E95-8EB3-EA546B2B1BB1}"/>
              </a:ext>
            </a:extLst>
          </p:cNvPr>
          <p:cNvSpPr>
            <a:spLocks noGrp="1"/>
          </p:cNvSpPr>
          <p:nvPr>
            <p:ph type="sldNum" sz="quarter" idx="12"/>
          </p:nvPr>
        </p:nvSpPr>
        <p:spPr/>
        <p:txBody>
          <a:bodyPr/>
          <a:lstStyle/>
          <a:p>
            <a:fld id="{D8DA9DAA-006C-4F4B-980E-E3DF019B24E2}" type="slidenum">
              <a:rPr lang="en-US" smtClean="0"/>
              <a:pPr/>
              <a:t>82</a:t>
            </a:fld>
            <a:endParaRPr lang="en-US" dirty="0"/>
          </a:p>
        </p:txBody>
      </p:sp>
    </p:spTree>
    <p:extLst>
      <p:ext uri="{BB962C8B-B14F-4D97-AF65-F5344CB8AC3E}">
        <p14:creationId xmlns:p14="http://schemas.microsoft.com/office/powerpoint/2010/main" val="37569365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516AA-BEF6-4011-92F8-AD888273086C}"/>
              </a:ext>
            </a:extLst>
          </p:cNvPr>
          <p:cNvSpPr>
            <a:spLocks noGrp="1"/>
          </p:cNvSpPr>
          <p:nvPr>
            <p:ph type="title"/>
          </p:nvPr>
        </p:nvSpPr>
        <p:spPr>
          <a:xfrm>
            <a:off x="804672" y="243203"/>
            <a:ext cx="10549128" cy="1179576"/>
          </a:xfrm>
        </p:spPr>
        <p:txBody>
          <a:bodyPr>
            <a:normAutofit/>
          </a:bodyPr>
          <a:lstStyle/>
          <a:p>
            <a:r>
              <a:rPr lang="en-US" dirty="0"/>
              <a:t>C++ Operators Overloading</a:t>
            </a:r>
          </a:p>
        </p:txBody>
      </p:sp>
      <p:sp>
        <p:nvSpPr>
          <p:cNvPr id="3" name="Content Placeholder 2">
            <a:extLst>
              <a:ext uri="{FF2B5EF4-FFF2-40B4-BE49-F238E27FC236}">
                <a16:creationId xmlns:a16="http://schemas.microsoft.com/office/drawing/2014/main" id="{47792723-6475-46E5-A89E-DBD8888B15A6}"/>
              </a:ext>
            </a:extLst>
          </p:cNvPr>
          <p:cNvSpPr>
            <a:spLocks noGrp="1"/>
          </p:cNvSpPr>
          <p:nvPr>
            <p:ph idx="1"/>
          </p:nvPr>
        </p:nvSpPr>
        <p:spPr>
          <a:xfrm>
            <a:off x="850392" y="1663700"/>
            <a:ext cx="10135108" cy="4508500"/>
          </a:xfrm>
        </p:spPr>
        <p:txBody>
          <a:bodyPr>
            <a:normAutofit/>
          </a:bodyPr>
          <a:lstStyle/>
          <a:p>
            <a:r>
              <a:rPr lang="en-US" dirty="0"/>
              <a:t>Operator overloading is a compile-time polymorphism in which the operator is overloaded to provide the special meaning to the user-defined data type. Operator overloading is used to overload or redefines most of the operators available in C++. It is used to perform the operation on the user-defined data type. For example, C++ provides the ability to add the variables of the user-defined data type that is applied to the built-in data types.</a:t>
            </a:r>
          </a:p>
          <a:p>
            <a:endParaRPr lang="en-US" dirty="0"/>
          </a:p>
          <a:p>
            <a:r>
              <a:rPr lang="en-US" dirty="0"/>
              <a:t>The advantage of Operators overloading is to perform different operations on the same operand.</a:t>
            </a:r>
          </a:p>
        </p:txBody>
      </p:sp>
      <p:sp>
        <p:nvSpPr>
          <p:cNvPr id="4" name="Date Placeholder 3">
            <a:extLst>
              <a:ext uri="{FF2B5EF4-FFF2-40B4-BE49-F238E27FC236}">
                <a16:creationId xmlns:a16="http://schemas.microsoft.com/office/drawing/2014/main" id="{C126704C-7369-4563-84F3-0F0DEAD070F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28DBBAA5-73E0-4B70-B7E8-FF53ECBEFAC5}"/>
              </a:ext>
            </a:extLst>
          </p:cNvPr>
          <p:cNvSpPr>
            <a:spLocks noGrp="1"/>
          </p:cNvSpPr>
          <p:nvPr>
            <p:ph type="sldNum" sz="quarter" idx="12"/>
          </p:nvPr>
        </p:nvSpPr>
        <p:spPr/>
        <p:txBody>
          <a:bodyPr/>
          <a:lstStyle/>
          <a:p>
            <a:fld id="{D8DA9DAA-006C-4F4B-980E-E3DF019B24E2}" type="slidenum">
              <a:rPr lang="en-US" smtClean="0"/>
              <a:pPr/>
              <a:t>83</a:t>
            </a:fld>
            <a:endParaRPr lang="en-US" dirty="0"/>
          </a:p>
        </p:txBody>
      </p:sp>
    </p:spTree>
    <p:extLst>
      <p:ext uri="{BB962C8B-B14F-4D97-AF65-F5344CB8AC3E}">
        <p14:creationId xmlns:p14="http://schemas.microsoft.com/office/powerpoint/2010/main" val="2170141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BDA04-5084-4361-8B23-C8D4506CB9C4}"/>
              </a:ext>
            </a:extLst>
          </p:cNvPr>
          <p:cNvSpPr>
            <a:spLocks noGrp="1"/>
          </p:cNvSpPr>
          <p:nvPr>
            <p:ph type="title"/>
          </p:nvPr>
        </p:nvSpPr>
        <p:spPr>
          <a:xfrm>
            <a:off x="322072" y="446024"/>
            <a:ext cx="10790428" cy="569976"/>
          </a:xfrm>
        </p:spPr>
        <p:txBody>
          <a:bodyPr>
            <a:normAutofit fontScale="90000"/>
          </a:bodyPr>
          <a:lstStyle/>
          <a:p>
            <a:r>
              <a:rPr lang="en-US" sz="4000" b="1" dirty="0"/>
              <a:t>Operator that cannot be overloaded are as follows:</a:t>
            </a:r>
            <a:endParaRPr lang="en-US" dirty="0"/>
          </a:p>
        </p:txBody>
      </p:sp>
      <p:sp>
        <p:nvSpPr>
          <p:cNvPr id="3" name="Content Placeholder 2">
            <a:extLst>
              <a:ext uri="{FF2B5EF4-FFF2-40B4-BE49-F238E27FC236}">
                <a16:creationId xmlns:a16="http://schemas.microsoft.com/office/drawing/2014/main" id="{B9F332B7-7AE9-401B-B3AB-644A642BB779}"/>
              </a:ext>
            </a:extLst>
          </p:cNvPr>
          <p:cNvSpPr>
            <a:spLocks noGrp="1"/>
          </p:cNvSpPr>
          <p:nvPr>
            <p:ph idx="1"/>
          </p:nvPr>
        </p:nvSpPr>
        <p:spPr>
          <a:xfrm>
            <a:off x="850392" y="1244600"/>
            <a:ext cx="10262108" cy="4927600"/>
          </a:xfrm>
        </p:spPr>
        <p:txBody>
          <a:bodyPr/>
          <a:lstStyle/>
          <a:p>
            <a:r>
              <a:rPr lang="en-US" dirty="0"/>
              <a:t>Scope operator (::)</a:t>
            </a:r>
          </a:p>
          <a:p>
            <a:r>
              <a:rPr lang="en-US" dirty="0" err="1"/>
              <a:t>Sizeof</a:t>
            </a:r>
            <a:endParaRPr lang="en-US" dirty="0"/>
          </a:p>
          <a:p>
            <a:r>
              <a:rPr lang="en-US" dirty="0"/>
              <a:t>member selector(.)</a:t>
            </a:r>
          </a:p>
          <a:p>
            <a:r>
              <a:rPr lang="en-US" dirty="0"/>
              <a:t>member pointer selector(*)</a:t>
            </a:r>
          </a:p>
          <a:p>
            <a:r>
              <a:rPr lang="en-US" dirty="0"/>
              <a:t>ternary operator(?:)</a:t>
            </a:r>
          </a:p>
          <a:p>
            <a:endParaRPr lang="en-US" dirty="0"/>
          </a:p>
        </p:txBody>
      </p:sp>
      <p:sp>
        <p:nvSpPr>
          <p:cNvPr id="4" name="Date Placeholder 3">
            <a:extLst>
              <a:ext uri="{FF2B5EF4-FFF2-40B4-BE49-F238E27FC236}">
                <a16:creationId xmlns:a16="http://schemas.microsoft.com/office/drawing/2014/main" id="{5B536D48-E506-46F9-84E1-6511303AF10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94FD4397-9920-41DC-8556-ED87A5196851}"/>
              </a:ext>
            </a:extLst>
          </p:cNvPr>
          <p:cNvSpPr>
            <a:spLocks noGrp="1"/>
          </p:cNvSpPr>
          <p:nvPr>
            <p:ph type="sldNum" sz="quarter" idx="12"/>
          </p:nvPr>
        </p:nvSpPr>
        <p:spPr/>
        <p:txBody>
          <a:bodyPr/>
          <a:lstStyle/>
          <a:p>
            <a:fld id="{D8DA9DAA-006C-4F4B-980E-E3DF019B24E2}" type="slidenum">
              <a:rPr lang="en-US" smtClean="0"/>
              <a:pPr/>
              <a:t>84</a:t>
            </a:fld>
            <a:endParaRPr lang="en-US" dirty="0"/>
          </a:p>
        </p:txBody>
      </p:sp>
    </p:spTree>
    <p:extLst>
      <p:ext uri="{BB962C8B-B14F-4D97-AF65-F5344CB8AC3E}">
        <p14:creationId xmlns:p14="http://schemas.microsoft.com/office/powerpoint/2010/main" val="28125833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940F7-3BC7-4B5D-BC24-63FFCE56DDFC}"/>
              </a:ext>
            </a:extLst>
          </p:cNvPr>
          <p:cNvSpPr>
            <a:spLocks noGrp="1"/>
          </p:cNvSpPr>
          <p:nvPr>
            <p:ph idx="1"/>
          </p:nvPr>
        </p:nvSpPr>
        <p:spPr>
          <a:xfrm>
            <a:off x="450376" y="136525"/>
            <a:ext cx="11436824" cy="6035675"/>
          </a:xfrm>
        </p:spPr>
        <p:txBody>
          <a:bodyPr>
            <a:normAutofit/>
          </a:bodyPr>
          <a:lstStyle/>
          <a:p>
            <a:r>
              <a:rPr lang="en-US" dirty="0"/>
              <a:t>Syntax of Operator Overloading</a:t>
            </a:r>
          </a:p>
          <a:p>
            <a:r>
              <a:rPr lang="en-US" dirty="0" err="1"/>
              <a:t>return_type</a:t>
            </a:r>
            <a:r>
              <a:rPr lang="en-US" dirty="0"/>
              <a:t> </a:t>
            </a:r>
            <a:r>
              <a:rPr lang="en-US" dirty="0" err="1"/>
              <a:t>class_name</a:t>
            </a:r>
            <a:r>
              <a:rPr lang="en-US" dirty="0"/>
              <a:t>  : : operator op(</a:t>
            </a:r>
            <a:r>
              <a:rPr lang="en-US" dirty="0" err="1"/>
              <a:t>argument_list</a:t>
            </a:r>
            <a:r>
              <a:rPr lang="en-US" dirty="0"/>
              <a:t>)  </a:t>
            </a:r>
          </a:p>
          <a:p>
            <a:r>
              <a:rPr lang="en-US" dirty="0"/>
              <a:t>{  </a:t>
            </a:r>
          </a:p>
          <a:p>
            <a:r>
              <a:rPr lang="en-US" dirty="0"/>
              <a:t>     // body of the function.  </a:t>
            </a:r>
          </a:p>
          <a:p>
            <a:r>
              <a:rPr lang="en-US" dirty="0"/>
              <a:t>}  </a:t>
            </a:r>
          </a:p>
          <a:p>
            <a:r>
              <a:rPr lang="en-US" dirty="0"/>
              <a:t>Where the </a:t>
            </a:r>
            <a:r>
              <a:rPr lang="en-US" b="1" dirty="0"/>
              <a:t>return type</a:t>
            </a:r>
            <a:r>
              <a:rPr lang="en-US" dirty="0"/>
              <a:t> is the type of value returned by the function.</a:t>
            </a:r>
          </a:p>
          <a:p>
            <a:r>
              <a:rPr lang="en-US" b="1" dirty="0" err="1"/>
              <a:t>class_name</a:t>
            </a:r>
            <a:r>
              <a:rPr lang="en-US" dirty="0"/>
              <a:t> is the name of the class.</a:t>
            </a:r>
          </a:p>
          <a:p>
            <a:r>
              <a:rPr lang="en-US" b="1" dirty="0"/>
              <a:t>operator op</a:t>
            </a:r>
            <a:r>
              <a:rPr lang="en-US" dirty="0"/>
              <a:t> is an operator function where op is the operator being overloaded, and the operator is the keyword.</a:t>
            </a:r>
          </a:p>
          <a:p>
            <a:endParaRPr lang="en-US" dirty="0"/>
          </a:p>
        </p:txBody>
      </p:sp>
      <p:sp>
        <p:nvSpPr>
          <p:cNvPr id="4" name="Date Placeholder 3">
            <a:extLst>
              <a:ext uri="{FF2B5EF4-FFF2-40B4-BE49-F238E27FC236}">
                <a16:creationId xmlns:a16="http://schemas.microsoft.com/office/drawing/2014/main" id="{58A4367B-E16A-41AA-89C3-BA65991091C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F695F77E-EE88-438E-9E69-C10BFBE03DD6}"/>
              </a:ext>
            </a:extLst>
          </p:cNvPr>
          <p:cNvSpPr>
            <a:spLocks noGrp="1"/>
          </p:cNvSpPr>
          <p:nvPr>
            <p:ph type="sldNum" sz="quarter" idx="12"/>
          </p:nvPr>
        </p:nvSpPr>
        <p:spPr/>
        <p:txBody>
          <a:bodyPr/>
          <a:lstStyle/>
          <a:p>
            <a:fld id="{D8DA9DAA-006C-4F4B-980E-E3DF019B24E2}" type="slidenum">
              <a:rPr lang="en-US" smtClean="0"/>
              <a:pPr/>
              <a:t>85</a:t>
            </a:fld>
            <a:endParaRPr lang="en-US" dirty="0"/>
          </a:p>
        </p:txBody>
      </p:sp>
    </p:spTree>
    <p:extLst>
      <p:ext uri="{BB962C8B-B14F-4D97-AF65-F5344CB8AC3E}">
        <p14:creationId xmlns:p14="http://schemas.microsoft.com/office/powerpoint/2010/main" val="40289044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07565-9FE9-4FE9-A34C-6EE79EC1746B}"/>
              </a:ext>
            </a:extLst>
          </p:cNvPr>
          <p:cNvSpPr>
            <a:spLocks noGrp="1"/>
          </p:cNvSpPr>
          <p:nvPr>
            <p:ph idx="1"/>
          </p:nvPr>
        </p:nvSpPr>
        <p:spPr>
          <a:xfrm>
            <a:off x="850392" y="1078173"/>
            <a:ext cx="10804796" cy="5094027"/>
          </a:xfrm>
        </p:spPr>
        <p:txBody>
          <a:bodyPr>
            <a:normAutofit/>
          </a:bodyPr>
          <a:lstStyle/>
          <a:p>
            <a:r>
              <a:rPr lang="en-US" dirty="0"/>
              <a:t>Rules for Operator Overloading</a:t>
            </a:r>
          </a:p>
          <a:p>
            <a:r>
              <a:rPr lang="en-US" dirty="0"/>
              <a:t>Existing operators can only be overloaded, but the new operators cannot be overloaded.</a:t>
            </a:r>
          </a:p>
          <a:p>
            <a:r>
              <a:rPr lang="en-US" dirty="0"/>
              <a:t>The overloaded operator contains </a:t>
            </a:r>
            <a:r>
              <a:rPr lang="en-US" dirty="0" err="1"/>
              <a:t>atleast</a:t>
            </a:r>
            <a:r>
              <a:rPr lang="en-US" dirty="0"/>
              <a:t> one operand of the user-defined data type.</a:t>
            </a:r>
          </a:p>
          <a:p>
            <a:r>
              <a:rPr lang="en-US" dirty="0"/>
              <a:t>We cannot use friend function to overload certain operators. However, the member function can be used to overload those operators.</a:t>
            </a:r>
          </a:p>
          <a:p>
            <a:r>
              <a:rPr lang="en-US" dirty="0"/>
              <a:t>When unary operators are overloaded through a member function take no explicit arguments, but, if they are overloaded by a friend function, takes one argument.</a:t>
            </a:r>
          </a:p>
          <a:p>
            <a:r>
              <a:rPr lang="en-US" dirty="0"/>
              <a:t>When binary operators are overloaded through a member function takes one explicit argument, and if they are overloaded through a friend function takes two explicit arguments.</a:t>
            </a:r>
          </a:p>
          <a:p>
            <a:endParaRPr lang="en-US" dirty="0"/>
          </a:p>
        </p:txBody>
      </p:sp>
      <p:sp>
        <p:nvSpPr>
          <p:cNvPr id="4" name="Date Placeholder 3">
            <a:extLst>
              <a:ext uri="{FF2B5EF4-FFF2-40B4-BE49-F238E27FC236}">
                <a16:creationId xmlns:a16="http://schemas.microsoft.com/office/drawing/2014/main" id="{C6899C3C-40D1-4DF7-A6F3-9EFFE66ADE73}"/>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5C2E9E6-6A5B-4075-8A8D-A267E7A40A8B}"/>
              </a:ext>
            </a:extLst>
          </p:cNvPr>
          <p:cNvSpPr>
            <a:spLocks noGrp="1"/>
          </p:cNvSpPr>
          <p:nvPr>
            <p:ph type="sldNum" sz="quarter" idx="12"/>
          </p:nvPr>
        </p:nvSpPr>
        <p:spPr/>
        <p:txBody>
          <a:bodyPr/>
          <a:lstStyle/>
          <a:p>
            <a:fld id="{D8DA9DAA-006C-4F4B-980E-E3DF019B24E2}" type="slidenum">
              <a:rPr lang="en-US" smtClean="0"/>
              <a:pPr/>
              <a:t>86</a:t>
            </a:fld>
            <a:endParaRPr lang="en-US" dirty="0"/>
          </a:p>
        </p:txBody>
      </p:sp>
    </p:spTree>
    <p:extLst>
      <p:ext uri="{BB962C8B-B14F-4D97-AF65-F5344CB8AC3E}">
        <p14:creationId xmlns:p14="http://schemas.microsoft.com/office/powerpoint/2010/main" val="143480587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2A925-7964-49C2-A439-75CC34B1F906}"/>
              </a:ext>
            </a:extLst>
          </p:cNvPr>
          <p:cNvSpPr>
            <a:spLocks noGrp="1"/>
          </p:cNvSpPr>
          <p:nvPr>
            <p:ph type="title"/>
          </p:nvPr>
        </p:nvSpPr>
        <p:spPr>
          <a:xfrm>
            <a:off x="722786" y="136525"/>
            <a:ext cx="6190488" cy="1179576"/>
          </a:xfrm>
        </p:spPr>
        <p:txBody>
          <a:bodyPr/>
          <a:lstStyle/>
          <a:p>
            <a:endParaRPr lang="en-US" dirty="0"/>
          </a:p>
        </p:txBody>
      </p:sp>
      <p:sp>
        <p:nvSpPr>
          <p:cNvPr id="4" name="Date Placeholder 3">
            <a:extLst>
              <a:ext uri="{FF2B5EF4-FFF2-40B4-BE49-F238E27FC236}">
                <a16:creationId xmlns:a16="http://schemas.microsoft.com/office/drawing/2014/main" id="{8E860C62-C056-4020-84D6-05D1CE4EA4D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17515EC-55AD-4E58-BA3D-FE3935186ABB}"/>
              </a:ext>
            </a:extLst>
          </p:cNvPr>
          <p:cNvSpPr>
            <a:spLocks noGrp="1"/>
          </p:cNvSpPr>
          <p:nvPr>
            <p:ph type="sldNum" sz="quarter" idx="12"/>
          </p:nvPr>
        </p:nvSpPr>
        <p:spPr/>
        <p:txBody>
          <a:bodyPr/>
          <a:lstStyle/>
          <a:p>
            <a:fld id="{D8DA9DAA-006C-4F4B-980E-E3DF019B24E2}" type="slidenum">
              <a:rPr lang="en-US" smtClean="0"/>
              <a:pPr/>
              <a:t>87</a:t>
            </a:fld>
            <a:endParaRPr lang="en-US" dirty="0"/>
          </a:p>
        </p:txBody>
      </p:sp>
      <p:sp>
        <p:nvSpPr>
          <p:cNvPr id="6" name="Rectangle 5">
            <a:extLst>
              <a:ext uri="{FF2B5EF4-FFF2-40B4-BE49-F238E27FC236}">
                <a16:creationId xmlns:a16="http://schemas.microsoft.com/office/drawing/2014/main" id="{1D056F93-FC7D-4E4D-8F96-D219383C0B20}"/>
              </a:ext>
            </a:extLst>
          </p:cNvPr>
          <p:cNvSpPr/>
          <p:nvPr/>
        </p:nvSpPr>
        <p:spPr>
          <a:xfrm>
            <a:off x="5178188" y="1656868"/>
            <a:ext cx="6864824" cy="2031325"/>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Test </a:t>
            </a:r>
            <a:r>
              <a:rPr lang="en-US" dirty="0" err="1">
                <a:solidFill>
                  <a:srgbClr val="000000"/>
                </a:solidFill>
                <a:latin typeface="inter-regular"/>
              </a:rPr>
              <a:t>tt</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tt</a:t>
            </a:r>
            <a:r>
              <a:rPr lang="en-US" dirty="0">
                <a:solidFill>
                  <a:srgbClr val="000000"/>
                </a:solidFill>
                <a:latin typeface="inter-regular"/>
              </a:rPr>
              <a:t>;  </a:t>
            </a:r>
            <a:r>
              <a:rPr lang="en-US" dirty="0">
                <a:solidFill>
                  <a:srgbClr val="008200"/>
                </a:solidFill>
                <a:latin typeface="inter-regular"/>
              </a:rPr>
              <a:t>// calling of a function "void operator ++()"  </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tt.Print</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9" name="Rectangle 8">
            <a:extLst>
              <a:ext uri="{FF2B5EF4-FFF2-40B4-BE49-F238E27FC236}">
                <a16:creationId xmlns:a16="http://schemas.microsoft.com/office/drawing/2014/main" id="{2340A46B-BD90-4834-9C2B-F790C2B05635}"/>
              </a:ext>
            </a:extLst>
          </p:cNvPr>
          <p:cNvSpPr/>
          <p:nvPr/>
        </p:nvSpPr>
        <p:spPr>
          <a:xfrm>
            <a:off x="722786" y="1564535"/>
            <a:ext cx="4272295" cy="4247317"/>
          </a:xfrm>
          <a:prstGeom prst="rect">
            <a:avLst/>
          </a:prstGeom>
        </p:spPr>
        <p:txBody>
          <a:bodyPr wrap="square">
            <a:spAutoFit/>
          </a:bodyPr>
          <a:lstStyle/>
          <a:p>
            <a:pPr algn="just"/>
            <a:r>
              <a:rPr lang="en-US" dirty="0">
                <a:solidFill>
                  <a:srgbClr val="0000FF"/>
                </a:solidFill>
                <a:latin typeface="inter-regular"/>
              </a:rPr>
              <a:t>#include &lt;iostream&gt;  </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Test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private</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num;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Test(): num(8){}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operator ++()         {     </a:t>
            </a:r>
          </a:p>
          <a:p>
            <a:pPr algn="just"/>
            <a:r>
              <a:rPr lang="en-US" dirty="0">
                <a:solidFill>
                  <a:srgbClr val="000000"/>
                </a:solidFill>
                <a:latin typeface="inter-regular"/>
              </a:rPr>
              <a:t>          num = num+2;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Print()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"The Count is: "</a:t>
            </a:r>
            <a:r>
              <a:rPr lang="en-US" dirty="0">
                <a:solidFill>
                  <a:srgbClr val="000000"/>
                </a:solidFill>
                <a:latin typeface="inter-regular"/>
              </a:rPr>
              <a:t>&lt;&lt;num;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37217655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74762-EDDF-4641-BCB0-032EDDA34D73}"/>
              </a:ext>
            </a:extLst>
          </p:cNvPr>
          <p:cNvSpPr>
            <a:spLocks noGrp="1"/>
          </p:cNvSpPr>
          <p:nvPr>
            <p:ph idx="1"/>
          </p:nvPr>
        </p:nvSpPr>
        <p:spPr>
          <a:xfrm>
            <a:off x="645676" y="136525"/>
            <a:ext cx="6190488" cy="3346704"/>
          </a:xfrm>
        </p:spPr>
        <p:txBody>
          <a:bodyPr/>
          <a:lstStyle/>
          <a:p>
            <a:r>
              <a:rPr lang="en-US" dirty="0"/>
              <a:t>Let's see a simple example of overloading the binary operators.</a:t>
            </a:r>
          </a:p>
          <a:p>
            <a:r>
              <a:rPr lang="en-US" dirty="0"/>
              <a:t>// program to overload the binary operators.</a:t>
            </a:r>
          </a:p>
          <a:p>
            <a:endParaRPr lang="en-US" dirty="0"/>
          </a:p>
        </p:txBody>
      </p:sp>
      <p:sp>
        <p:nvSpPr>
          <p:cNvPr id="4" name="Date Placeholder 3">
            <a:extLst>
              <a:ext uri="{FF2B5EF4-FFF2-40B4-BE49-F238E27FC236}">
                <a16:creationId xmlns:a16="http://schemas.microsoft.com/office/drawing/2014/main" id="{7C450B58-5DE1-477D-BCE5-130B92193D9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59191CE-BADA-4F3D-9E94-51C9E35B3B99}"/>
              </a:ext>
            </a:extLst>
          </p:cNvPr>
          <p:cNvSpPr>
            <a:spLocks noGrp="1"/>
          </p:cNvSpPr>
          <p:nvPr>
            <p:ph type="sldNum" sz="quarter" idx="12"/>
          </p:nvPr>
        </p:nvSpPr>
        <p:spPr/>
        <p:txBody>
          <a:bodyPr/>
          <a:lstStyle/>
          <a:p>
            <a:fld id="{D8DA9DAA-006C-4F4B-980E-E3DF019B24E2}" type="slidenum">
              <a:rPr lang="en-US" smtClean="0"/>
              <a:pPr/>
              <a:t>88</a:t>
            </a:fld>
            <a:endParaRPr lang="en-US" dirty="0"/>
          </a:p>
        </p:txBody>
      </p:sp>
      <p:sp>
        <p:nvSpPr>
          <p:cNvPr id="6" name="Rectangle 5">
            <a:extLst>
              <a:ext uri="{FF2B5EF4-FFF2-40B4-BE49-F238E27FC236}">
                <a16:creationId xmlns:a16="http://schemas.microsoft.com/office/drawing/2014/main" id="{A5639980-6775-47C2-B97D-7BD20C7054AD}"/>
              </a:ext>
            </a:extLst>
          </p:cNvPr>
          <p:cNvSpPr/>
          <p:nvPr/>
        </p:nvSpPr>
        <p:spPr>
          <a:xfrm>
            <a:off x="533400" y="1619240"/>
            <a:ext cx="6096000" cy="4247317"/>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x;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  </a:t>
            </a:r>
          </a:p>
          <a:p>
            <a:pPr algn="just"/>
            <a:r>
              <a:rPr lang="en-US" dirty="0">
                <a:solidFill>
                  <a:srgbClr val="000000"/>
                </a:solidFill>
                <a:latin typeface="inter-regular"/>
              </a:rPr>
              <a:t>    A(</a:t>
            </a:r>
            <a:r>
              <a:rPr lang="en-US" b="1" dirty="0">
                <a:solidFill>
                  <a:srgbClr val="2E8B57"/>
                </a:solidFill>
                <a:latin typeface="inter-regular"/>
              </a:rPr>
              <a:t>int</a:t>
            </a:r>
            <a:r>
              <a:rPr lang="en-US" dirty="0">
                <a:solidFill>
                  <a:srgbClr val="000000"/>
                </a:solidFill>
                <a:latin typeface="inter-regular"/>
              </a:rPr>
              <a:t> </a:t>
            </a:r>
            <a:r>
              <a:rPr lang="en-US" dirty="0" err="1">
                <a:solidFill>
                  <a:srgbClr val="000000"/>
                </a:solidFill>
                <a:latin typeface="inter-regular"/>
              </a:rPr>
              <a:t>i</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x=</a:t>
            </a:r>
            <a:r>
              <a:rPr lang="en-US" dirty="0" err="1">
                <a:solidFill>
                  <a:srgbClr val="000000"/>
                </a:solidFill>
                <a:latin typeface="inter-regular"/>
              </a:rPr>
              <a:t>i</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operator+(A);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65D32F36-CC02-4E1A-B0BC-BEA0E6B33817}"/>
              </a:ext>
            </a:extLst>
          </p:cNvPr>
          <p:cNvSpPr/>
          <p:nvPr/>
        </p:nvSpPr>
        <p:spPr>
          <a:xfrm>
            <a:off x="5456011" y="1619240"/>
            <a:ext cx="6096000" cy="3970318"/>
          </a:xfrm>
          <a:prstGeom prst="rect">
            <a:avLst/>
          </a:prstGeom>
        </p:spPr>
        <p:txBody>
          <a:bodyPr>
            <a:spAutoFit/>
          </a:bodyPr>
          <a:lstStyle/>
          <a:p>
            <a:pPr algn="just"/>
            <a:r>
              <a:rPr lang="en-US" b="1" dirty="0">
                <a:solidFill>
                  <a:srgbClr val="006699"/>
                </a:solidFill>
                <a:latin typeface="inter-regular"/>
              </a:rPr>
              <a:t>void</a:t>
            </a:r>
            <a:r>
              <a:rPr lang="en-US" dirty="0">
                <a:solidFill>
                  <a:srgbClr val="000000"/>
                </a:solidFill>
                <a:latin typeface="inter-regular"/>
              </a:rPr>
              <a:t> A :: operator+(A a)  </a:t>
            </a:r>
          </a:p>
          <a:p>
            <a:pPr algn="just"/>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m = </a:t>
            </a:r>
            <a:r>
              <a:rPr lang="en-US" dirty="0" err="1">
                <a:solidFill>
                  <a:srgbClr val="000000"/>
                </a:solidFill>
                <a:latin typeface="inter-regular"/>
              </a:rPr>
              <a:t>x+a.x</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"The result of the addition of two objects is : "</a:t>
            </a:r>
            <a:r>
              <a:rPr lang="en-US" dirty="0">
                <a:solidFill>
                  <a:srgbClr val="000000"/>
                </a:solidFill>
                <a:latin typeface="inter-regular"/>
              </a:rPr>
              <a:t>&lt;&lt;m;  </a:t>
            </a:r>
          </a:p>
          <a:p>
            <a:pPr algn="just"/>
            <a:r>
              <a:rPr lang="en-US" dirty="0">
                <a:solidFill>
                  <a:srgbClr val="000000"/>
                </a:solidFill>
                <a:latin typeface="inter-regular"/>
              </a:rPr>
              <a:t>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A a1(5);  </a:t>
            </a:r>
          </a:p>
          <a:p>
            <a:pPr algn="just"/>
            <a:r>
              <a:rPr lang="en-US" dirty="0">
                <a:solidFill>
                  <a:srgbClr val="000000"/>
                </a:solidFill>
                <a:latin typeface="inter-regular"/>
              </a:rPr>
              <a:t>    A a2(4);  </a:t>
            </a:r>
          </a:p>
          <a:p>
            <a:pPr algn="just"/>
            <a:r>
              <a:rPr lang="en-US" dirty="0">
                <a:solidFill>
                  <a:srgbClr val="000000"/>
                </a:solidFill>
                <a:latin typeface="inter-regular"/>
              </a:rPr>
              <a:t>    a1+a2;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9458327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EEBF-837F-49A6-89B1-9247EB2FEDA7}"/>
              </a:ext>
            </a:extLst>
          </p:cNvPr>
          <p:cNvSpPr>
            <a:spLocks noGrp="1"/>
          </p:cNvSpPr>
          <p:nvPr>
            <p:ph type="title"/>
          </p:nvPr>
        </p:nvSpPr>
        <p:spPr>
          <a:xfrm>
            <a:off x="850392" y="325089"/>
            <a:ext cx="11341608" cy="1179576"/>
          </a:xfrm>
        </p:spPr>
        <p:txBody>
          <a:bodyPr/>
          <a:lstStyle/>
          <a:p>
            <a:r>
              <a:rPr lang="en-US" dirty="0"/>
              <a:t>Function Overriding</a:t>
            </a:r>
          </a:p>
        </p:txBody>
      </p:sp>
      <p:sp>
        <p:nvSpPr>
          <p:cNvPr id="3" name="Content Placeholder 2">
            <a:extLst>
              <a:ext uri="{FF2B5EF4-FFF2-40B4-BE49-F238E27FC236}">
                <a16:creationId xmlns:a16="http://schemas.microsoft.com/office/drawing/2014/main" id="{BCF02A82-C303-4F07-9F86-11AC4E6D8390}"/>
              </a:ext>
            </a:extLst>
          </p:cNvPr>
          <p:cNvSpPr>
            <a:spLocks noGrp="1"/>
          </p:cNvSpPr>
          <p:nvPr>
            <p:ph idx="1"/>
          </p:nvPr>
        </p:nvSpPr>
        <p:spPr>
          <a:xfrm>
            <a:off x="850392" y="1504665"/>
            <a:ext cx="11113008" cy="4667535"/>
          </a:xfrm>
        </p:spPr>
        <p:txBody>
          <a:bodyPr>
            <a:normAutofit/>
          </a:bodyPr>
          <a:lstStyle/>
          <a:p>
            <a:r>
              <a:rPr lang="en-US" sz="2800" dirty="0"/>
              <a:t>If derived class defines same function as defined in its base class, it is known as function overriding in C++. It is used to achieve runtime polymorphism. It enables you to provide specific implementation of the function which is already provided by its base class.</a:t>
            </a:r>
          </a:p>
          <a:p>
            <a:pPr algn="just"/>
            <a:r>
              <a:rPr lang="en-US" sz="2800" dirty="0">
                <a:solidFill>
                  <a:srgbClr val="610B38"/>
                </a:solidFill>
                <a:latin typeface="erdana"/>
              </a:rPr>
              <a:t>C++ Function Overriding Example</a:t>
            </a:r>
          </a:p>
          <a:p>
            <a:pPr algn="just"/>
            <a:r>
              <a:rPr lang="en-US" sz="2800" dirty="0">
                <a:solidFill>
                  <a:srgbClr val="333333"/>
                </a:solidFill>
                <a:latin typeface="inter-regular"/>
              </a:rPr>
              <a:t>Let's see a simple example of Function overriding in C++. In this example, we are overriding the eat() function.</a:t>
            </a:r>
          </a:p>
          <a:p>
            <a:endParaRPr lang="en-US" sz="2800" dirty="0"/>
          </a:p>
        </p:txBody>
      </p:sp>
      <p:sp>
        <p:nvSpPr>
          <p:cNvPr id="4" name="Date Placeholder 3">
            <a:extLst>
              <a:ext uri="{FF2B5EF4-FFF2-40B4-BE49-F238E27FC236}">
                <a16:creationId xmlns:a16="http://schemas.microsoft.com/office/drawing/2014/main" id="{E369DB7B-E98F-437D-8568-5569B813FDA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CA787553-4B6F-412B-8D85-A8BEB41066C7}"/>
              </a:ext>
            </a:extLst>
          </p:cNvPr>
          <p:cNvSpPr>
            <a:spLocks noGrp="1"/>
          </p:cNvSpPr>
          <p:nvPr>
            <p:ph type="sldNum" sz="quarter" idx="12"/>
          </p:nvPr>
        </p:nvSpPr>
        <p:spPr/>
        <p:txBody>
          <a:bodyPr/>
          <a:lstStyle/>
          <a:p>
            <a:fld id="{D8DA9DAA-006C-4F4B-980E-E3DF019B24E2}" type="slidenum">
              <a:rPr lang="en-US" smtClean="0"/>
              <a:pPr/>
              <a:t>89</a:t>
            </a:fld>
            <a:endParaRPr lang="en-US" dirty="0"/>
          </a:p>
        </p:txBody>
      </p:sp>
    </p:spTree>
    <p:extLst>
      <p:ext uri="{BB962C8B-B14F-4D97-AF65-F5344CB8AC3E}">
        <p14:creationId xmlns:p14="http://schemas.microsoft.com/office/powerpoint/2010/main" val="37271719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AD1EF30-2E80-4F93-8E87-C5E0D818313A}"/>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FCEC400F-D185-440C-B242-2A8DE0DBBAA3}"/>
              </a:ext>
            </a:extLst>
          </p:cNvPr>
          <p:cNvSpPr>
            <a:spLocks noGrp="1"/>
          </p:cNvSpPr>
          <p:nvPr>
            <p:ph type="sldNum" sz="quarter" idx="12"/>
          </p:nvPr>
        </p:nvSpPr>
        <p:spPr/>
        <p:txBody>
          <a:bodyPr/>
          <a:lstStyle/>
          <a:p>
            <a:fld id="{D8DA9DAA-006C-4F4B-980E-E3DF019B24E2}" type="slidenum">
              <a:rPr lang="en-US" smtClean="0"/>
              <a:pPr/>
              <a:t>90</a:t>
            </a:fld>
            <a:endParaRPr lang="en-US" dirty="0"/>
          </a:p>
        </p:txBody>
      </p:sp>
      <p:sp>
        <p:nvSpPr>
          <p:cNvPr id="6" name="Rectangle 5">
            <a:extLst>
              <a:ext uri="{FF2B5EF4-FFF2-40B4-BE49-F238E27FC236}">
                <a16:creationId xmlns:a16="http://schemas.microsoft.com/office/drawing/2014/main" id="{4EF0CD67-B2DB-4696-A5EE-4FC6A9A371DC}"/>
              </a:ext>
            </a:extLst>
          </p:cNvPr>
          <p:cNvSpPr/>
          <p:nvPr/>
        </p:nvSpPr>
        <p:spPr>
          <a:xfrm>
            <a:off x="263857" y="620933"/>
            <a:ext cx="6096000" cy="4524315"/>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Animal {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b="1" dirty="0">
                <a:solidFill>
                  <a:srgbClr val="006699"/>
                </a:solidFill>
                <a:latin typeface="inter-regular"/>
              </a:rPr>
              <a:t>void</a:t>
            </a:r>
            <a:r>
              <a:rPr lang="en-US" dirty="0">
                <a:solidFill>
                  <a:srgbClr val="000000"/>
                </a:solidFill>
                <a:latin typeface="inter-regular"/>
              </a:rPr>
              <a:t> eat(){    </a:t>
            </a:r>
          </a:p>
          <a:p>
            <a:pPr algn="just"/>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"Eating..."</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Dog: </a:t>
            </a:r>
            <a:r>
              <a:rPr lang="en-US" b="1" dirty="0">
                <a:solidFill>
                  <a:srgbClr val="006699"/>
                </a:solidFill>
                <a:latin typeface="inter-regular"/>
              </a:rPr>
              <a:t>public</a:t>
            </a:r>
            <a:r>
              <a:rPr lang="en-US" dirty="0">
                <a:solidFill>
                  <a:srgbClr val="000000"/>
                </a:solidFill>
                <a:latin typeface="inter-regular"/>
              </a:rPr>
              <a:t> Animal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eat()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&lt;&lt;</a:t>
            </a:r>
            <a:r>
              <a:rPr lang="en-US" dirty="0">
                <a:solidFill>
                  <a:srgbClr val="0000FF"/>
                </a:solidFill>
                <a:latin typeface="inter-regular"/>
              </a:rPr>
              <a:t>"Eating bread..."</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3FC0CA88-C9DB-4BC1-B0D6-9963031D9872}"/>
              </a:ext>
            </a:extLst>
          </p:cNvPr>
          <p:cNvSpPr/>
          <p:nvPr/>
        </p:nvSpPr>
        <p:spPr>
          <a:xfrm>
            <a:off x="5149755" y="1175435"/>
            <a:ext cx="6096000" cy="1477328"/>
          </a:xfrm>
          <a:prstGeom prst="rect">
            <a:avLst/>
          </a:prstGeom>
        </p:spPr>
        <p:txBody>
          <a:bodyPr>
            <a:spAutoFit/>
          </a:bodyPr>
          <a:lstStyle/>
          <a:p>
            <a:pPr algn="just"/>
            <a:r>
              <a:rPr lang="en-US" b="1" dirty="0">
                <a:solidFill>
                  <a:srgbClr val="2E8B57"/>
                </a:solidFill>
                <a:latin typeface="inter-regular"/>
              </a:rPr>
              <a:t>int</a:t>
            </a:r>
            <a:r>
              <a:rPr lang="en-US" dirty="0">
                <a:solidFill>
                  <a:srgbClr val="000000"/>
                </a:solidFill>
                <a:latin typeface="inter-regular"/>
              </a:rPr>
              <a:t> main(</a:t>
            </a:r>
            <a:r>
              <a:rPr lang="en-US" b="1" dirty="0">
                <a:solidFill>
                  <a:srgbClr val="006699"/>
                </a:solidFill>
                <a:latin typeface="inter-regular"/>
              </a:rPr>
              <a:t>void</a:t>
            </a:r>
            <a:r>
              <a:rPr lang="en-US" dirty="0">
                <a:solidFill>
                  <a:srgbClr val="000000"/>
                </a:solidFill>
                <a:latin typeface="inter-regular"/>
              </a:rPr>
              <a:t>) {  </a:t>
            </a:r>
          </a:p>
          <a:p>
            <a:pPr algn="just"/>
            <a:r>
              <a:rPr lang="en-US" dirty="0">
                <a:solidFill>
                  <a:srgbClr val="000000"/>
                </a:solidFill>
                <a:latin typeface="inter-regular"/>
              </a:rPr>
              <a:t>   Dog d = Dog();    </a:t>
            </a:r>
          </a:p>
          <a:p>
            <a:pPr algn="just"/>
            <a:r>
              <a:rPr lang="en-US" dirty="0">
                <a:solidFill>
                  <a:srgbClr val="000000"/>
                </a:solidFill>
                <a:latin typeface="inter-regular"/>
              </a:rPr>
              <a:t>   </a:t>
            </a:r>
            <a:r>
              <a:rPr lang="en-US" dirty="0" err="1">
                <a:solidFill>
                  <a:srgbClr val="000000"/>
                </a:solidFill>
                <a:latin typeface="inter-regular"/>
              </a:rPr>
              <a:t>d.eat</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1">
            <a:extLst>
              <a:ext uri="{FF2B5EF4-FFF2-40B4-BE49-F238E27FC236}">
                <a16:creationId xmlns:a16="http://schemas.microsoft.com/office/drawing/2014/main" id="{086D837A-D6A8-4515-A850-DED268226E98}"/>
              </a:ext>
            </a:extLst>
          </p:cNvPr>
          <p:cNvSpPr>
            <a:spLocks noChangeArrowheads="1"/>
          </p:cNvSpPr>
          <p:nvPr/>
        </p:nvSpPr>
        <p:spPr bwMode="auto">
          <a:xfrm>
            <a:off x="4681182" y="4929804"/>
            <a:ext cx="584145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33333"/>
                </a:solidFill>
                <a:effectLst/>
                <a:latin typeface="inter-regular"/>
              </a:rPr>
              <a:t>Output:</a:t>
            </a:r>
            <a:endParaRPr kumimoji="0" lang="en-US" altLang="en-US" sz="11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535559"/>
                </a:solidFill>
                <a:effectLst/>
                <a:latin typeface="Arial Unicode MS"/>
              </a:rPr>
              <a:t>Eating bread...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05643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211A-5AEF-441D-85EA-D12130BF28C2}"/>
              </a:ext>
            </a:extLst>
          </p:cNvPr>
          <p:cNvSpPr>
            <a:spLocks noGrp="1"/>
          </p:cNvSpPr>
          <p:nvPr>
            <p:ph type="title"/>
          </p:nvPr>
        </p:nvSpPr>
        <p:spPr>
          <a:xfrm>
            <a:off x="850392" y="256851"/>
            <a:ext cx="6190488" cy="725788"/>
          </a:xfrm>
        </p:spPr>
        <p:txBody>
          <a:bodyPr>
            <a:normAutofit fontScale="90000"/>
          </a:bodyPr>
          <a:lstStyle/>
          <a:p>
            <a:r>
              <a:rPr lang="en-US" dirty="0"/>
              <a:t>C++ virtual function</a:t>
            </a:r>
          </a:p>
        </p:txBody>
      </p:sp>
      <p:sp>
        <p:nvSpPr>
          <p:cNvPr id="3" name="Content Placeholder 2">
            <a:extLst>
              <a:ext uri="{FF2B5EF4-FFF2-40B4-BE49-F238E27FC236}">
                <a16:creationId xmlns:a16="http://schemas.microsoft.com/office/drawing/2014/main" id="{DA92D6FE-7FD0-4658-9F39-3508BE5E9458}"/>
              </a:ext>
            </a:extLst>
          </p:cNvPr>
          <p:cNvSpPr>
            <a:spLocks noGrp="1"/>
          </p:cNvSpPr>
          <p:nvPr>
            <p:ph idx="1"/>
          </p:nvPr>
        </p:nvSpPr>
        <p:spPr>
          <a:xfrm>
            <a:off x="850391" y="982639"/>
            <a:ext cx="10886683" cy="5189561"/>
          </a:xfrm>
        </p:spPr>
        <p:txBody>
          <a:bodyPr>
            <a:normAutofit lnSpcReduction="10000"/>
          </a:bodyPr>
          <a:lstStyle/>
          <a:p>
            <a:r>
              <a:rPr lang="en-US" sz="2400" dirty="0"/>
              <a:t>A C++ virtual function is a member function in the base class that you redefine in a derived class. It is declared using the virtual keyword.</a:t>
            </a:r>
          </a:p>
          <a:p>
            <a:r>
              <a:rPr lang="en-US" sz="2400" dirty="0"/>
              <a:t>It is used to tell the compiler to perform dynamic linkage or late binding on the function.</a:t>
            </a:r>
          </a:p>
          <a:p>
            <a:r>
              <a:rPr lang="en-US" sz="2400" dirty="0"/>
              <a:t>There is a necessity to use the single pointer to refer to all the objects of the different classes. So, we create the pointer to the base class that refers to all the derived objects. But, when base class pointer contains the address of the derived class object, always executes the base class function. This issue can only be resolved by using the 'virtual' function.</a:t>
            </a:r>
          </a:p>
          <a:p>
            <a:r>
              <a:rPr lang="en-US" sz="2400" dirty="0"/>
              <a:t>A 'virtual' is a keyword preceding the normal declaration of a function.</a:t>
            </a:r>
          </a:p>
          <a:p>
            <a:r>
              <a:rPr lang="en-US" sz="2400" dirty="0"/>
              <a:t>When the function is made virtual, C++ determines which function is to be invoked at the runtime based on the type of the object pointed by the base class pointer.</a:t>
            </a:r>
          </a:p>
          <a:p>
            <a:endParaRPr lang="en-US" dirty="0"/>
          </a:p>
        </p:txBody>
      </p:sp>
      <p:sp>
        <p:nvSpPr>
          <p:cNvPr id="4" name="Date Placeholder 3">
            <a:extLst>
              <a:ext uri="{FF2B5EF4-FFF2-40B4-BE49-F238E27FC236}">
                <a16:creationId xmlns:a16="http://schemas.microsoft.com/office/drawing/2014/main" id="{4828536D-8EFD-4115-975C-7DB6FCBB9CE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5D7089FE-5FFE-4483-90E9-7D7A87C236AB}"/>
              </a:ext>
            </a:extLst>
          </p:cNvPr>
          <p:cNvSpPr>
            <a:spLocks noGrp="1"/>
          </p:cNvSpPr>
          <p:nvPr>
            <p:ph type="sldNum" sz="quarter" idx="12"/>
          </p:nvPr>
        </p:nvSpPr>
        <p:spPr/>
        <p:txBody>
          <a:bodyPr/>
          <a:lstStyle/>
          <a:p>
            <a:fld id="{D8DA9DAA-006C-4F4B-980E-E3DF019B24E2}" type="slidenum">
              <a:rPr lang="en-US" smtClean="0"/>
              <a:pPr/>
              <a:t>91</a:t>
            </a:fld>
            <a:endParaRPr lang="en-US" dirty="0"/>
          </a:p>
        </p:txBody>
      </p:sp>
    </p:spTree>
    <p:extLst>
      <p:ext uri="{BB962C8B-B14F-4D97-AF65-F5344CB8AC3E}">
        <p14:creationId xmlns:p14="http://schemas.microsoft.com/office/powerpoint/2010/main" val="1923752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1B4F-AA13-4245-BB58-42A6577BA93D}"/>
              </a:ext>
            </a:extLst>
          </p:cNvPr>
          <p:cNvSpPr>
            <a:spLocks noGrp="1"/>
          </p:cNvSpPr>
          <p:nvPr>
            <p:ph type="title"/>
          </p:nvPr>
        </p:nvSpPr>
        <p:spPr>
          <a:xfrm>
            <a:off x="850392" y="338737"/>
            <a:ext cx="10645800" cy="1179576"/>
          </a:xfrm>
        </p:spPr>
        <p:txBody>
          <a:bodyPr>
            <a:normAutofit/>
          </a:bodyPr>
          <a:lstStyle/>
          <a:p>
            <a:r>
              <a:rPr lang="en-US" dirty="0"/>
              <a:t>Late binding or Dynamic linkage</a:t>
            </a:r>
          </a:p>
        </p:txBody>
      </p:sp>
      <p:sp>
        <p:nvSpPr>
          <p:cNvPr id="3" name="Content Placeholder 2">
            <a:extLst>
              <a:ext uri="{FF2B5EF4-FFF2-40B4-BE49-F238E27FC236}">
                <a16:creationId xmlns:a16="http://schemas.microsoft.com/office/drawing/2014/main" id="{61C9134A-539D-4A42-A26F-DB5940B7167D}"/>
              </a:ext>
            </a:extLst>
          </p:cNvPr>
          <p:cNvSpPr>
            <a:spLocks noGrp="1"/>
          </p:cNvSpPr>
          <p:nvPr>
            <p:ph idx="1"/>
          </p:nvPr>
        </p:nvSpPr>
        <p:spPr>
          <a:xfrm>
            <a:off x="850392" y="1518313"/>
            <a:ext cx="10503408" cy="4653887"/>
          </a:xfrm>
        </p:spPr>
        <p:txBody>
          <a:bodyPr>
            <a:normAutofit/>
          </a:bodyPr>
          <a:lstStyle/>
          <a:p>
            <a:r>
              <a:rPr lang="en-US" sz="2800" dirty="0"/>
              <a:t>In late binding function call is resolved during runtime. Therefore compiler determines the type of object at runtime, and then binds the function call.</a:t>
            </a:r>
          </a:p>
        </p:txBody>
      </p:sp>
      <p:sp>
        <p:nvSpPr>
          <p:cNvPr id="4" name="Date Placeholder 3">
            <a:extLst>
              <a:ext uri="{FF2B5EF4-FFF2-40B4-BE49-F238E27FC236}">
                <a16:creationId xmlns:a16="http://schemas.microsoft.com/office/drawing/2014/main" id="{ED895B22-7792-4516-BFAD-0BEBA06920E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2BA11848-CD59-4B68-BF98-DA6AEB188FB4}"/>
              </a:ext>
            </a:extLst>
          </p:cNvPr>
          <p:cNvSpPr>
            <a:spLocks noGrp="1"/>
          </p:cNvSpPr>
          <p:nvPr>
            <p:ph type="sldNum" sz="quarter" idx="12"/>
          </p:nvPr>
        </p:nvSpPr>
        <p:spPr/>
        <p:txBody>
          <a:bodyPr/>
          <a:lstStyle/>
          <a:p>
            <a:fld id="{D8DA9DAA-006C-4F4B-980E-E3DF019B24E2}" type="slidenum">
              <a:rPr lang="en-US" smtClean="0"/>
              <a:pPr/>
              <a:t>92</a:t>
            </a:fld>
            <a:endParaRPr lang="en-US" dirty="0"/>
          </a:p>
        </p:txBody>
      </p:sp>
    </p:spTree>
    <p:extLst>
      <p:ext uri="{BB962C8B-B14F-4D97-AF65-F5344CB8AC3E}">
        <p14:creationId xmlns:p14="http://schemas.microsoft.com/office/powerpoint/2010/main" val="37659628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0FCD2-EE17-4A94-B616-95553633E4A2}"/>
              </a:ext>
            </a:extLst>
          </p:cNvPr>
          <p:cNvSpPr>
            <a:spLocks noGrp="1"/>
          </p:cNvSpPr>
          <p:nvPr>
            <p:ph idx="1"/>
          </p:nvPr>
        </p:nvSpPr>
        <p:spPr>
          <a:xfrm>
            <a:off x="850392" y="136525"/>
            <a:ext cx="11214608" cy="6035675"/>
          </a:xfrm>
        </p:spPr>
        <p:txBody>
          <a:bodyPr>
            <a:normAutofit/>
          </a:bodyPr>
          <a:lstStyle/>
          <a:p>
            <a:r>
              <a:rPr lang="en-US" sz="2400" b="1" dirty="0"/>
              <a:t>Rules of Virtual Function</a:t>
            </a:r>
            <a:endParaRPr lang="en-US" sz="2400" dirty="0"/>
          </a:p>
          <a:p>
            <a:r>
              <a:rPr lang="en-US" sz="2400" dirty="0"/>
              <a:t>Virtual functions must be members of some class.</a:t>
            </a:r>
          </a:p>
          <a:p>
            <a:r>
              <a:rPr lang="en-US" sz="2400" dirty="0"/>
              <a:t>Virtual functions cannot be static members.</a:t>
            </a:r>
          </a:p>
          <a:p>
            <a:r>
              <a:rPr lang="en-US" sz="2400" dirty="0"/>
              <a:t>They are accessed through object pointers.</a:t>
            </a:r>
          </a:p>
          <a:p>
            <a:r>
              <a:rPr lang="en-US" sz="2400" dirty="0"/>
              <a:t>They can be a friend of another class.</a:t>
            </a:r>
          </a:p>
          <a:p>
            <a:r>
              <a:rPr lang="en-US" sz="2400" dirty="0"/>
              <a:t>A virtual function must be defined in the base class, even though it is not used.</a:t>
            </a:r>
          </a:p>
          <a:p>
            <a:r>
              <a:rPr lang="en-US" sz="2400" dirty="0"/>
              <a:t>The prototypes of a virtual function of the base class and all the derived classes must be identical. If the two functions with the same name but different prototypes, C++ will consider them as the overloaded functions.</a:t>
            </a:r>
          </a:p>
          <a:p>
            <a:r>
              <a:rPr lang="en-US" sz="2400" dirty="0"/>
              <a:t>We cannot have a virtual constructor, but we can have a virtual destructor</a:t>
            </a:r>
          </a:p>
          <a:p>
            <a:r>
              <a:rPr lang="en-US" sz="2400" dirty="0"/>
              <a:t>Consider the situation when we don't use the virtual keyword.</a:t>
            </a:r>
          </a:p>
          <a:p>
            <a:endParaRPr lang="en-US" dirty="0"/>
          </a:p>
        </p:txBody>
      </p:sp>
      <p:sp>
        <p:nvSpPr>
          <p:cNvPr id="4" name="Date Placeholder 3">
            <a:extLst>
              <a:ext uri="{FF2B5EF4-FFF2-40B4-BE49-F238E27FC236}">
                <a16:creationId xmlns:a16="http://schemas.microsoft.com/office/drawing/2014/main" id="{9A50DA33-ECF3-4037-9D81-BC61B339B68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AD4EBCC-C95E-4C0B-BFF1-286091FD7919}"/>
              </a:ext>
            </a:extLst>
          </p:cNvPr>
          <p:cNvSpPr>
            <a:spLocks noGrp="1"/>
          </p:cNvSpPr>
          <p:nvPr>
            <p:ph type="sldNum" sz="quarter" idx="12"/>
          </p:nvPr>
        </p:nvSpPr>
        <p:spPr/>
        <p:txBody>
          <a:bodyPr/>
          <a:lstStyle/>
          <a:p>
            <a:fld id="{D8DA9DAA-006C-4F4B-980E-E3DF019B24E2}" type="slidenum">
              <a:rPr lang="en-US" smtClean="0"/>
              <a:pPr/>
              <a:t>93</a:t>
            </a:fld>
            <a:endParaRPr lang="en-US" dirty="0"/>
          </a:p>
        </p:txBody>
      </p:sp>
    </p:spTree>
    <p:extLst>
      <p:ext uri="{BB962C8B-B14F-4D97-AF65-F5344CB8AC3E}">
        <p14:creationId xmlns:p14="http://schemas.microsoft.com/office/powerpoint/2010/main" val="11609609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38F9440-035B-453B-A7A0-4A51799D0A9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9E3CB85-561E-4317-B2A1-A90D7E7696F3}"/>
              </a:ext>
            </a:extLst>
          </p:cNvPr>
          <p:cNvSpPr>
            <a:spLocks noGrp="1"/>
          </p:cNvSpPr>
          <p:nvPr>
            <p:ph type="sldNum" sz="quarter" idx="12"/>
          </p:nvPr>
        </p:nvSpPr>
        <p:spPr/>
        <p:txBody>
          <a:bodyPr/>
          <a:lstStyle/>
          <a:p>
            <a:fld id="{D8DA9DAA-006C-4F4B-980E-E3DF019B24E2}" type="slidenum">
              <a:rPr lang="en-US" smtClean="0"/>
              <a:pPr/>
              <a:t>94</a:t>
            </a:fld>
            <a:endParaRPr lang="en-US" dirty="0"/>
          </a:p>
        </p:txBody>
      </p:sp>
      <p:sp>
        <p:nvSpPr>
          <p:cNvPr id="6" name="Rectangle 5">
            <a:extLst>
              <a:ext uri="{FF2B5EF4-FFF2-40B4-BE49-F238E27FC236}">
                <a16:creationId xmlns:a16="http://schemas.microsoft.com/office/drawing/2014/main" id="{E242E1C7-2659-46D0-9139-147B4E093550}"/>
              </a:ext>
            </a:extLst>
          </p:cNvPr>
          <p:cNvSpPr/>
          <p:nvPr/>
        </p:nvSpPr>
        <p:spPr>
          <a:xfrm>
            <a:off x="533400" y="367186"/>
            <a:ext cx="6096000" cy="5632311"/>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x=5;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x is : "</a:t>
            </a:r>
            <a:r>
              <a:rPr lang="en-US" dirty="0">
                <a:solidFill>
                  <a:srgbClr val="000000"/>
                </a:solidFill>
                <a:latin typeface="inter-regular"/>
              </a:rPr>
              <a:t> &lt;&lt; x&lt;&lt;std::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B: </a:t>
            </a:r>
            <a:r>
              <a:rPr lang="en-US" b="1" dirty="0">
                <a:solidFill>
                  <a:srgbClr val="006699"/>
                </a:solidFill>
                <a:latin typeface="inter-regular"/>
              </a:rPr>
              <a:t>public</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2E8B57"/>
                </a:solidFill>
                <a:latin typeface="inter-regular"/>
              </a:rPr>
              <a:t>int</a:t>
            </a:r>
            <a:r>
              <a:rPr lang="en-US" dirty="0">
                <a:solidFill>
                  <a:srgbClr val="000000"/>
                </a:solidFill>
                <a:latin typeface="inter-regular"/>
              </a:rPr>
              <a:t> y = 10;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"Value of y is : "</a:t>
            </a:r>
            <a:r>
              <a:rPr lang="en-US" dirty="0">
                <a:solidFill>
                  <a:srgbClr val="000000"/>
                </a:solidFill>
                <a:latin typeface="inter-regular"/>
              </a:rPr>
              <a:t> &lt;&lt;y&lt;&lt;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843AE513-D844-4950-839D-4E91F5C73DDF}"/>
              </a:ext>
            </a:extLst>
          </p:cNvPr>
          <p:cNvSpPr/>
          <p:nvPr/>
        </p:nvSpPr>
        <p:spPr>
          <a:xfrm>
            <a:off x="6938749" y="674782"/>
            <a:ext cx="4948451" cy="2308324"/>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A *a;  </a:t>
            </a:r>
          </a:p>
          <a:p>
            <a:pPr algn="just"/>
            <a:r>
              <a:rPr lang="en-US" dirty="0">
                <a:solidFill>
                  <a:srgbClr val="000000"/>
                </a:solidFill>
                <a:latin typeface="inter-regular"/>
              </a:rPr>
              <a:t>    B </a:t>
            </a:r>
            <a:r>
              <a:rPr lang="en-US" dirty="0" err="1">
                <a:solidFill>
                  <a:srgbClr val="000000"/>
                </a:solidFill>
                <a:latin typeface="inter-regular"/>
              </a:rPr>
              <a:t>b</a:t>
            </a:r>
            <a:r>
              <a:rPr lang="en-US" dirty="0">
                <a:solidFill>
                  <a:srgbClr val="000000"/>
                </a:solidFill>
                <a:latin typeface="inter-regular"/>
              </a:rPr>
              <a:t>;  </a:t>
            </a:r>
          </a:p>
          <a:p>
            <a:pPr algn="just"/>
            <a:r>
              <a:rPr lang="en-US" dirty="0">
                <a:solidFill>
                  <a:srgbClr val="000000"/>
                </a:solidFill>
                <a:latin typeface="inter-regular"/>
              </a:rPr>
              <a:t>    a = &amp;b;  </a:t>
            </a:r>
          </a:p>
          <a:p>
            <a:pPr algn="just"/>
            <a:r>
              <a:rPr lang="en-US" dirty="0">
                <a:solidFill>
                  <a:srgbClr val="000000"/>
                </a:solidFill>
                <a:latin typeface="inter-regular"/>
              </a:rPr>
              <a:t>   a-&gt;display();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8" name="Rectangle 1">
            <a:extLst>
              <a:ext uri="{FF2B5EF4-FFF2-40B4-BE49-F238E27FC236}">
                <a16:creationId xmlns:a16="http://schemas.microsoft.com/office/drawing/2014/main" id="{6B07B0DB-C19D-4DE1-97B7-C588C1DD8114}"/>
              </a:ext>
            </a:extLst>
          </p:cNvPr>
          <p:cNvSpPr>
            <a:spLocks noChangeArrowheads="1"/>
          </p:cNvSpPr>
          <p:nvPr/>
        </p:nvSpPr>
        <p:spPr bwMode="auto">
          <a:xfrm>
            <a:off x="6096000" y="4964026"/>
            <a:ext cx="6096000"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333333"/>
                </a:solidFill>
                <a:effectLst/>
                <a:latin typeface="inter-bold"/>
              </a:rPr>
              <a:t>Output:</a:t>
            </a:r>
            <a:endParaRPr kumimoji="0" lang="en-US" altLang="en-US" sz="11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535559"/>
                </a:solidFill>
                <a:effectLst/>
                <a:latin typeface="Arial Unicode MS"/>
              </a:rPr>
              <a:t>Value of x is : 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71879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457C0-B7F6-43AD-BC1E-7D2A279F3ED0}"/>
              </a:ext>
            </a:extLst>
          </p:cNvPr>
          <p:cNvSpPr>
            <a:spLocks noGrp="1"/>
          </p:cNvSpPr>
          <p:nvPr>
            <p:ph idx="1"/>
          </p:nvPr>
        </p:nvSpPr>
        <p:spPr>
          <a:xfrm>
            <a:off x="850391" y="286603"/>
            <a:ext cx="10913979" cy="5885597"/>
          </a:xfrm>
        </p:spPr>
        <p:txBody>
          <a:bodyPr>
            <a:normAutofit/>
          </a:bodyPr>
          <a:lstStyle/>
          <a:p>
            <a:r>
              <a:rPr lang="en-US" sz="3200" dirty="0"/>
              <a:t>In the above example, * a is the base class pointer. The pointer can only access the base class members but not the members of the derived class. Although C++ permits the base pointer to point to any object derived from the base class, it cannot directly access the members of the derived class. Therefore, there is a need for virtual function which allows the base pointer to access the members of the derived class.</a:t>
            </a:r>
          </a:p>
        </p:txBody>
      </p:sp>
      <p:sp>
        <p:nvSpPr>
          <p:cNvPr id="4" name="Date Placeholder 3">
            <a:extLst>
              <a:ext uri="{FF2B5EF4-FFF2-40B4-BE49-F238E27FC236}">
                <a16:creationId xmlns:a16="http://schemas.microsoft.com/office/drawing/2014/main" id="{2F07ED74-9D9C-4F40-A94A-7D2127DE668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3E2E20AF-7F78-4FFB-AC39-D4D331E0A168}"/>
              </a:ext>
            </a:extLst>
          </p:cNvPr>
          <p:cNvSpPr>
            <a:spLocks noGrp="1"/>
          </p:cNvSpPr>
          <p:nvPr>
            <p:ph type="sldNum" sz="quarter" idx="12"/>
          </p:nvPr>
        </p:nvSpPr>
        <p:spPr/>
        <p:txBody>
          <a:bodyPr/>
          <a:lstStyle/>
          <a:p>
            <a:fld id="{D8DA9DAA-006C-4F4B-980E-E3DF019B24E2}" type="slidenum">
              <a:rPr lang="en-US" smtClean="0"/>
              <a:pPr/>
              <a:t>95</a:t>
            </a:fld>
            <a:endParaRPr lang="en-US" dirty="0"/>
          </a:p>
        </p:txBody>
      </p:sp>
    </p:spTree>
    <p:extLst>
      <p:ext uri="{BB962C8B-B14F-4D97-AF65-F5344CB8AC3E}">
        <p14:creationId xmlns:p14="http://schemas.microsoft.com/office/powerpoint/2010/main" val="41378582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0F7-19F6-4A3B-A354-E400D4ED6702}"/>
              </a:ext>
            </a:extLst>
          </p:cNvPr>
          <p:cNvSpPr>
            <a:spLocks noGrp="1"/>
          </p:cNvSpPr>
          <p:nvPr>
            <p:ph type="title"/>
          </p:nvPr>
        </p:nvSpPr>
        <p:spPr>
          <a:xfrm>
            <a:off x="477125" y="404792"/>
            <a:ext cx="10345549" cy="562015"/>
          </a:xfrm>
        </p:spPr>
        <p:txBody>
          <a:bodyPr>
            <a:normAutofit fontScale="90000"/>
          </a:bodyPr>
          <a:lstStyle/>
          <a:p>
            <a:r>
              <a:rPr lang="en-US" dirty="0"/>
              <a:t>C++ virtual function Example</a:t>
            </a:r>
          </a:p>
        </p:txBody>
      </p:sp>
      <p:sp>
        <p:nvSpPr>
          <p:cNvPr id="3" name="Content Placeholder 2">
            <a:extLst>
              <a:ext uri="{FF2B5EF4-FFF2-40B4-BE49-F238E27FC236}">
                <a16:creationId xmlns:a16="http://schemas.microsoft.com/office/drawing/2014/main" id="{B0F0CD49-E8D4-4B1B-8BFC-2700DE3E55C5}"/>
              </a:ext>
            </a:extLst>
          </p:cNvPr>
          <p:cNvSpPr>
            <a:spLocks noGrp="1"/>
          </p:cNvSpPr>
          <p:nvPr>
            <p:ph idx="1"/>
          </p:nvPr>
        </p:nvSpPr>
        <p:spPr>
          <a:xfrm>
            <a:off x="838200" y="966807"/>
            <a:ext cx="11035352" cy="562015"/>
          </a:xfrm>
        </p:spPr>
        <p:txBody>
          <a:bodyPr/>
          <a:lstStyle/>
          <a:p>
            <a:r>
              <a:rPr lang="en-US"/>
              <a:t>Let's see the simple example of C++ virtual function used to invoked the derived class in a program</a:t>
            </a:r>
            <a:endParaRPr lang="en-US" dirty="0"/>
          </a:p>
        </p:txBody>
      </p:sp>
      <p:sp>
        <p:nvSpPr>
          <p:cNvPr id="4" name="Date Placeholder 3">
            <a:extLst>
              <a:ext uri="{FF2B5EF4-FFF2-40B4-BE49-F238E27FC236}">
                <a16:creationId xmlns:a16="http://schemas.microsoft.com/office/drawing/2014/main" id="{C5BED550-ED12-42F8-A50B-73273490A7C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EB8F72B-47A7-4968-BF67-D507EFFEC2A5}"/>
              </a:ext>
            </a:extLst>
          </p:cNvPr>
          <p:cNvSpPr>
            <a:spLocks noGrp="1"/>
          </p:cNvSpPr>
          <p:nvPr>
            <p:ph type="sldNum" sz="quarter" idx="12"/>
          </p:nvPr>
        </p:nvSpPr>
        <p:spPr/>
        <p:txBody>
          <a:bodyPr/>
          <a:lstStyle/>
          <a:p>
            <a:fld id="{D8DA9DAA-006C-4F4B-980E-E3DF019B24E2}" type="slidenum">
              <a:rPr lang="en-US" smtClean="0"/>
              <a:pPr/>
              <a:t>96</a:t>
            </a:fld>
            <a:endParaRPr lang="en-US" dirty="0"/>
          </a:p>
        </p:txBody>
      </p:sp>
      <p:sp>
        <p:nvSpPr>
          <p:cNvPr id="6" name="Rectangle 5">
            <a:extLst>
              <a:ext uri="{FF2B5EF4-FFF2-40B4-BE49-F238E27FC236}">
                <a16:creationId xmlns:a16="http://schemas.microsoft.com/office/drawing/2014/main" id="{D68B191D-8944-43CF-8BC4-8841E9E40509}"/>
              </a:ext>
            </a:extLst>
          </p:cNvPr>
          <p:cNvSpPr/>
          <p:nvPr/>
        </p:nvSpPr>
        <p:spPr>
          <a:xfrm>
            <a:off x="700585" y="1680428"/>
            <a:ext cx="6096000" cy="4801314"/>
          </a:xfrm>
          <a:prstGeom prst="rect">
            <a:avLst/>
          </a:prstGeom>
        </p:spPr>
        <p:txBody>
          <a:bodyPr>
            <a:spAutoFit/>
          </a:bodyPr>
          <a:lstStyle/>
          <a:p>
            <a:pPr algn="just"/>
            <a:r>
              <a:rPr lang="en-US" dirty="0">
                <a:solidFill>
                  <a:srgbClr val="0000FF"/>
                </a:solidFill>
                <a:latin typeface="inter-regular"/>
              </a:rPr>
              <a:t>#include &lt;iostream&gt;  </a:t>
            </a:r>
            <a:r>
              <a:rPr lang="en-US" dirty="0">
                <a:solidFill>
                  <a:srgbClr val="000000"/>
                </a:solidFill>
                <a:latin typeface="inter-regular"/>
              </a:rPr>
              <a:t>  </a:t>
            </a:r>
          </a:p>
          <a:p>
            <a:pPr algn="just"/>
            <a:r>
              <a:rPr lang="en-US" dirty="0">
                <a:solidFill>
                  <a:srgbClr val="000000"/>
                </a:solidFill>
                <a:latin typeface="inter-regular"/>
              </a:rPr>
              <a:t>{    </a:t>
            </a:r>
          </a:p>
          <a:p>
            <a:pPr algn="just"/>
            <a:r>
              <a:rPr lang="en-US" dirty="0">
                <a:solidFill>
                  <a:srgbClr val="000000"/>
                </a:solidFill>
                <a:latin typeface="inter-regular"/>
              </a:rPr>
              <a:t>class A{</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virtual</a:t>
            </a:r>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"Base class is invoked"</a:t>
            </a:r>
            <a:r>
              <a:rPr lang="en-US" dirty="0">
                <a:solidFill>
                  <a:srgbClr val="000000"/>
                </a:solidFill>
                <a:latin typeface="inter-regular"/>
              </a:rPr>
              <a:t>&lt;&lt;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B:</a:t>
            </a:r>
            <a:r>
              <a:rPr lang="en-US" b="1" dirty="0">
                <a:solidFill>
                  <a:srgbClr val="006699"/>
                </a:solidFill>
                <a:latin typeface="inter-regular"/>
              </a:rPr>
              <a:t>public</a:t>
            </a:r>
            <a:r>
              <a:rPr lang="en-US" dirty="0">
                <a:solidFill>
                  <a:srgbClr val="000000"/>
                </a:solidFill>
                <a:latin typeface="inter-regular"/>
              </a:rPr>
              <a:t> A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display()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"Derived Class is invoked"</a:t>
            </a:r>
            <a:r>
              <a:rPr lang="en-US" dirty="0">
                <a:solidFill>
                  <a:srgbClr val="000000"/>
                </a:solidFill>
                <a:latin typeface="inter-regular"/>
              </a:rPr>
              <a:t>&lt;&lt;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468C3F16-1B5C-4528-AB6F-5602A9552485}"/>
              </a:ext>
            </a:extLst>
          </p:cNvPr>
          <p:cNvSpPr/>
          <p:nvPr/>
        </p:nvSpPr>
        <p:spPr>
          <a:xfrm>
            <a:off x="5562600" y="1680428"/>
            <a:ext cx="6096000" cy="2031325"/>
          </a:xfrm>
          <a:prstGeom prst="rect">
            <a:avLst/>
          </a:prstGeom>
        </p:spPr>
        <p:txBody>
          <a:bodyPr>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A* a;    </a:t>
            </a:r>
            <a:r>
              <a:rPr lang="en-US" dirty="0">
                <a:solidFill>
                  <a:srgbClr val="008200"/>
                </a:solidFill>
                <a:latin typeface="inter-regular"/>
              </a:rPr>
              <a:t>//pointer of base class  </a:t>
            </a:r>
            <a:r>
              <a:rPr lang="en-US" dirty="0">
                <a:solidFill>
                  <a:srgbClr val="000000"/>
                </a:solidFill>
                <a:latin typeface="inter-regular"/>
              </a:rPr>
              <a:t>  </a:t>
            </a:r>
          </a:p>
          <a:p>
            <a:pPr algn="just"/>
            <a:r>
              <a:rPr lang="en-US" dirty="0">
                <a:solidFill>
                  <a:srgbClr val="000000"/>
                </a:solidFill>
                <a:latin typeface="inter-regular"/>
              </a:rPr>
              <a:t> B </a:t>
            </a:r>
            <a:r>
              <a:rPr lang="en-US" dirty="0" err="1">
                <a:solidFill>
                  <a:srgbClr val="000000"/>
                </a:solidFill>
                <a:latin typeface="inter-regular"/>
              </a:rPr>
              <a:t>b</a:t>
            </a:r>
            <a:r>
              <a:rPr lang="en-US" dirty="0">
                <a:solidFill>
                  <a:srgbClr val="000000"/>
                </a:solidFill>
                <a:latin typeface="inter-regular"/>
              </a:rPr>
              <a:t>;     </a:t>
            </a:r>
            <a:r>
              <a:rPr lang="en-US" dirty="0">
                <a:solidFill>
                  <a:srgbClr val="008200"/>
                </a:solidFill>
                <a:latin typeface="inter-regular"/>
              </a:rPr>
              <a:t>//object of derived class  </a:t>
            </a:r>
            <a:r>
              <a:rPr lang="en-US" dirty="0">
                <a:solidFill>
                  <a:srgbClr val="000000"/>
                </a:solidFill>
                <a:latin typeface="inter-regular"/>
              </a:rPr>
              <a:t>  </a:t>
            </a:r>
          </a:p>
          <a:p>
            <a:pPr algn="just"/>
            <a:r>
              <a:rPr lang="en-US" dirty="0">
                <a:solidFill>
                  <a:srgbClr val="000000"/>
                </a:solidFill>
                <a:latin typeface="inter-regular"/>
              </a:rPr>
              <a:t> a = &amp;b;    </a:t>
            </a:r>
          </a:p>
          <a:p>
            <a:pPr algn="just"/>
            <a:r>
              <a:rPr lang="en-US" dirty="0">
                <a:solidFill>
                  <a:srgbClr val="000000"/>
                </a:solidFill>
                <a:latin typeface="inter-regular"/>
              </a:rPr>
              <a:t> a-&gt;display();   </a:t>
            </a:r>
            <a:r>
              <a:rPr lang="en-US" dirty="0">
                <a:solidFill>
                  <a:srgbClr val="008200"/>
                </a:solidFill>
                <a:latin typeface="inter-regular"/>
              </a:rPr>
              <a:t>//Late Binding occurs  </a:t>
            </a:r>
            <a:r>
              <a:rPr lang="en-US" dirty="0">
                <a:solidFill>
                  <a:srgbClr val="000000"/>
                </a:solidFill>
                <a:latin typeface="inter-regular"/>
              </a:rPr>
              <a:t>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41935651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C75F88C-D0B2-43DE-BC41-1167608E5AB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ECF7D82B-B7C1-4FBF-9F0F-0D5EE2CE7004}"/>
              </a:ext>
            </a:extLst>
          </p:cNvPr>
          <p:cNvSpPr>
            <a:spLocks noGrp="1"/>
          </p:cNvSpPr>
          <p:nvPr>
            <p:ph type="sldNum" sz="quarter" idx="12"/>
          </p:nvPr>
        </p:nvSpPr>
        <p:spPr/>
        <p:txBody>
          <a:bodyPr/>
          <a:lstStyle/>
          <a:p>
            <a:fld id="{D8DA9DAA-006C-4F4B-980E-E3DF019B24E2}" type="slidenum">
              <a:rPr lang="en-US" smtClean="0"/>
              <a:pPr/>
              <a:t>97</a:t>
            </a:fld>
            <a:endParaRPr lang="en-US" dirty="0"/>
          </a:p>
        </p:txBody>
      </p:sp>
      <p:sp>
        <p:nvSpPr>
          <p:cNvPr id="6" name="Rectangle 1">
            <a:extLst>
              <a:ext uri="{FF2B5EF4-FFF2-40B4-BE49-F238E27FC236}">
                <a16:creationId xmlns:a16="http://schemas.microsoft.com/office/drawing/2014/main" id="{DE3BBA0E-6D5A-4131-ABE1-1D6FC2590E30}"/>
              </a:ext>
            </a:extLst>
          </p:cNvPr>
          <p:cNvSpPr>
            <a:spLocks noGrp="1" noChangeArrowheads="1"/>
          </p:cNvSpPr>
          <p:nvPr>
            <p:ph idx="1"/>
          </p:nvPr>
        </p:nvSpPr>
        <p:spPr bwMode="auto">
          <a:xfrm>
            <a:off x="734799" y="578361"/>
            <a:ext cx="10722401"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5400" b="1" i="0" u="none" strike="noStrike" cap="none" normalizeH="0" baseline="0" dirty="0">
                <a:ln>
                  <a:noFill/>
                </a:ln>
                <a:solidFill>
                  <a:srgbClr val="333333"/>
                </a:solidFill>
                <a:effectLst/>
                <a:latin typeface="inter-bold"/>
              </a:rPr>
              <a:t>Output:</a:t>
            </a:r>
            <a:endParaRPr kumimoji="0" lang="en-US" altLang="en-US" sz="5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535559"/>
                </a:solidFill>
                <a:effectLst/>
                <a:latin typeface="Arial Unicode MS"/>
              </a:rPr>
              <a:t>Derived Class is invoked </a:t>
            </a:r>
            <a:endParaRPr kumimoji="0" lang="en-US" altLang="en-US"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91079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3A70C-000A-4722-9AF9-A47288582EED}"/>
              </a:ext>
            </a:extLst>
          </p:cNvPr>
          <p:cNvSpPr>
            <a:spLocks noGrp="1"/>
          </p:cNvSpPr>
          <p:nvPr>
            <p:ph type="title"/>
          </p:nvPr>
        </p:nvSpPr>
        <p:spPr>
          <a:xfrm>
            <a:off x="804671" y="336554"/>
            <a:ext cx="10918755" cy="698492"/>
          </a:xfrm>
        </p:spPr>
        <p:txBody>
          <a:bodyPr>
            <a:normAutofit fontScale="90000"/>
          </a:bodyPr>
          <a:lstStyle/>
          <a:p>
            <a:r>
              <a:rPr lang="en-US" dirty="0"/>
              <a:t>Pure Virtual Function</a:t>
            </a:r>
          </a:p>
        </p:txBody>
      </p:sp>
      <p:sp>
        <p:nvSpPr>
          <p:cNvPr id="3" name="Content Placeholder 2">
            <a:extLst>
              <a:ext uri="{FF2B5EF4-FFF2-40B4-BE49-F238E27FC236}">
                <a16:creationId xmlns:a16="http://schemas.microsoft.com/office/drawing/2014/main" id="{14C5F374-3620-461C-B3E4-8D1EB0636EC0}"/>
              </a:ext>
            </a:extLst>
          </p:cNvPr>
          <p:cNvSpPr>
            <a:spLocks noGrp="1"/>
          </p:cNvSpPr>
          <p:nvPr>
            <p:ph idx="1"/>
          </p:nvPr>
        </p:nvSpPr>
        <p:spPr>
          <a:xfrm>
            <a:off x="850391" y="1035046"/>
            <a:ext cx="11186933" cy="5137154"/>
          </a:xfrm>
        </p:spPr>
        <p:txBody>
          <a:bodyPr>
            <a:normAutofit/>
          </a:bodyPr>
          <a:lstStyle/>
          <a:p>
            <a:r>
              <a:rPr lang="en-US" sz="2400" dirty="0"/>
              <a:t>A virtual function is not used for performing any task. It only serves as a placeholder.</a:t>
            </a:r>
          </a:p>
          <a:p>
            <a:r>
              <a:rPr lang="en-US" sz="2400" dirty="0"/>
              <a:t>When the function has no definition, such function is known as "</a:t>
            </a:r>
            <a:r>
              <a:rPr lang="en-US" sz="2400" b="1" dirty="0"/>
              <a:t>do-nothing</a:t>
            </a:r>
            <a:r>
              <a:rPr lang="en-US" sz="2400" dirty="0"/>
              <a:t>" function.</a:t>
            </a:r>
          </a:p>
          <a:p>
            <a:r>
              <a:rPr lang="en-US" sz="2400" dirty="0"/>
              <a:t>The "</a:t>
            </a:r>
            <a:r>
              <a:rPr lang="en-US" sz="2400" b="1" dirty="0"/>
              <a:t>do-nothing</a:t>
            </a:r>
            <a:r>
              <a:rPr lang="en-US" sz="2400" dirty="0"/>
              <a:t>" function is known as a </a:t>
            </a:r>
            <a:r>
              <a:rPr lang="en-US" sz="2400" b="1" dirty="0"/>
              <a:t>pure virtual function</a:t>
            </a:r>
            <a:r>
              <a:rPr lang="en-US" sz="2400" dirty="0"/>
              <a:t>. A pure virtual function is a function declared in the base class that has no definition relative to the base class.</a:t>
            </a:r>
          </a:p>
          <a:p>
            <a:r>
              <a:rPr lang="en-US" sz="2400" dirty="0"/>
              <a:t>A class containing the pure virtual function cannot be used to declare the objects of its own, such classes are known as abstract base classes.</a:t>
            </a:r>
          </a:p>
          <a:p>
            <a:r>
              <a:rPr lang="en-US" sz="2400" dirty="0"/>
              <a:t>The main objective of the base class is to provide the traits to the derived classes and to create the base pointer used for achieving the runtime polymorphism.</a:t>
            </a:r>
          </a:p>
          <a:p>
            <a:endParaRPr lang="en-US" dirty="0"/>
          </a:p>
        </p:txBody>
      </p:sp>
      <p:sp>
        <p:nvSpPr>
          <p:cNvPr id="4" name="Date Placeholder 3">
            <a:extLst>
              <a:ext uri="{FF2B5EF4-FFF2-40B4-BE49-F238E27FC236}">
                <a16:creationId xmlns:a16="http://schemas.microsoft.com/office/drawing/2014/main" id="{5F7D981C-2BE6-4968-B06E-22294DD3540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18B9F0C-D3CE-4D39-BB23-91921FF11720}"/>
              </a:ext>
            </a:extLst>
          </p:cNvPr>
          <p:cNvSpPr>
            <a:spLocks noGrp="1"/>
          </p:cNvSpPr>
          <p:nvPr>
            <p:ph type="sldNum" sz="quarter" idx="12"/>
          </p:nvPr>
        </p:nvSpPr>
        <p:spPr/>
        <p:txBody>
          <a:bodyPr/>
          <a:lstStyle/>
          <a:p>
            <a:fld id="{D8DA9DAA-006C-4F4B-980E-E3DF019B24E2}" type="slidenum">
              <a:rPr lang="en-US" smtClean="0"/>
              <a:pPr/>
              <a:t>98</a:t>
            </a:fld>
            <a:endParaRPr lang="en-US" dirty="0"/>
          </a:p>
        </p:txBody>
      </p:sp>
    </p:spTree>
    <p:extLst>
      <p:ext uri="{BB962C8B-B14F-4D97-AF65-F5344CB8AC3E}">
        <p14:creationId xmlns:p14="http://schemas.microsoft.com/office/powerpoint/2010/main" val="42141057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60016F-1243-4739-A87F-B2DB2F94BB7F}"/>
              </a:ext>
            </a:extLst>
          </p:cNvPr>
          <p:cNvSpPr>
            <a:spLocks noGrp="1"/>
          </p:cNvSpPr>
          <p:nvPr>
            <p:ph idx="1"/>
          </p:nvPr>
        </p:nvSpPr>
        <p:spPr>
          <a:xfrm>
            <a:off x="277186" y="136525"/>
            <a:ext cx="6190488" cy="996239"/>
          </a:xfrm>
        </p:spPr>
        <p:txBody>
          <a:bodyPr/>
          <a:lstStyle/>
          <a:p>
            <a:r>
              <a:rPr lang="en-US" b="1" dirty="0"/>
              <a:t>Pure virtual function can be defined as:</a:t>
            </a:r>
            <a:endParaRPr lang="en-US" dirty="0"/>
          </a:p>
          <a:p>
            <a:r>
              <a:rPr lang="en-US" b="1" dirty="0"/>
              <a:t>virtual</a:t>
            </a:r>
            <a:r>
              <a:rPr lang="en-US" dirty="0"/>
              <a:t> </a:t>
            </a:r>
            <a:r>
              <a:rPr lang="en-US" b="1" dirty="0"/>
              <a:t>void</a:t>
            </a:r>
            <a:r>
              <a:rPr lang="en-US" dirty="0"/>
              <a:t> display() = 0;   </a:t>
            </a:r>
          </a:p>
          <a:p>
            <a:endParaRPr lang="en-US" dirty="0"/>
          </a:p>
        </p:txBody>
      </p:sp>
      <p:sp>
        <p:nvSpPr>
          <p:cNvPr id="4" name="Date Placeholder 3">
            <a:extLst>
              <a:ext uri="{FF2B5EF4-FFF2-40B4-BE49-F238E27FC236}">
                <a16:creationId xmlns:a16="http://schemas.microsoft.com/office/drawing/2014/main" id="{B4DEAC93-DC71-4CF7-9A66-704A4467481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4321B8B-5D76-41F8-A23B-EF13CF6D6629}"/>
              </a:ext>
            </a:extLst>
          </p:cNvPr>
          <p:cNvSpPr>
            <a:spLocks noGrp="1"/>
          </p:cNvSpPr>
          <p:nvPr>
            <p:ph type="sldNum" sz="quarter" idx="12"/>
          </p:nvPr>
        </p:nvSpPr>
        <p:spPr/>
        <p:txBody>
          <a:bodyPr/>
          <a:lstStyle/>
          <a:p>
            <a:fld id="{D8DA9DAA-006C-4F4B-980E-E3DF019B24E2}" type="slidenum">
              <a:rPr lang="en-US" smtClean="0"/>
              <a:pPr/>
              <a:t>99</a:t>
            </a:fld>
            <a:endParaRPr lang="en-US" dirty="0"/>
          </a:p>
        </p:txBody>
      </p:sp>
      <p:sp>
        <p:nvSpPr>
          <p:cNvPr id="6" name="Rectangle 5">
            <a:extLst>
              <a:ext uri="{FF2B5EF4-FFF2-40B4-BE49-F238E27FC236}">
                <a16:creationId xmlns:a16="http://schemas.microsoft.com/office/drawing/2014/main" id="{617CD4EA-53ED-480E-9618-C6A8149205C9}"/>
              </a:ext>
            </a:extLst>
          </p:cNvPr>
          <p:cNvSpPr/>
          <p:nvPr/>
        </p:nvSpPr>
        <p:spPr>
          <a:xfrm>
            <a:off x="371674" y="1330616"/>
            <a:ext cx="6096000" cy="4524315"/>
          </a:xfrm>
          <a:prstGeom prst="rect">
            <a:avLst/>
          </a:prstGeom>
        </p:spPr>
        <p:txBody>
          <a:bodyPr>
            <a:spAutoFit/>
          </a:bodyPr>
          <a:lstStyle/>
          <a:p>
            <a:pPr algn="just"/>
            <a:r>
              <a:rPr lang="en-US" dirty="0">
                <a:solidFill>
                  <a:srgbClr val="0000FF"/>
                </a:solidFill>
                <a:latin typeface="inter-regular"/>
              </a:rPr>
              <a:t>#include &lt;iostream&gt;</a:t>
            </a:r>
            <a:r>
              <a:rPr lang="en-US" dirty="0">
                <a:solidFill>
                  <a:srgbClr val="000000"/>
                </a:solidFill>
                <a:latin typeface="inter-regular"/>
              </a:rPr>
              <a:t>  </a:t>
            </a:r>
          </a:p>
          <a:p>
            <a:pPr algn="just"/>
            <a:r>
              <a:rPr lang="en-US" b="1" dirty="0">
                <a:solidFill>
                  <a:srgbClr val="006699"/>
                </a:solidFill>
                <a:latin typeface="inter-regular"/>
              </a:rPr>
              <a:t>using</a:t>
            </a:r>
            <a:r>
              <a:rPr lang="en-US" dirty="0">
                <a:solidFill>
                  <a:srgbClr val="000000"/>
                </a:solidFill>
                <a:latin typeface="inter-regular"/>
              </a:rPr>
              <a:t> </a:t>
            </a:r>
            <a:r>
              <a:rPr lang="en-US" b="1" dirty="0">
                <a:solidFill>
                  <a:srgbClr val="006699"/>
                </a:solidFill>
                <a:latin typeface="inter-regular"/>
              </a:rPr>
              <a:t>namespace</a:t>
            </a:r>
            <a:r>
              <a:rPr lang="en-US" dirty="0">
                <a:solidFill>
                  <a:srgbClr val="000000"/>
                </a:solidFill>
                <a:latin typeface="inter-regular"/>
              </a:rPr>
              <a:t> std;  </a:t>
            </a:r>
          </a:p>
          <a:p>
            <a:pPr algn="just"/>
            <a:r>
              <a:rPr lang="en-US" b="1" dirty="0">
                <a:solidFill>
                  <a:srgbClr val="006699"/>
                </a:solidFill>
                <a:latin typeface="inter-regular"/>
              </a:rPr>
              <a:t>class</a:t>
            </a:r>
            <a:r>
              <a:rPr lang="en-US" dirty="0">
                <a:solidFill>
                  <a:srgbClr val="000000"/>
                </a:solidFill>
                <a:latin typeface="inter-regular"/>
              </a:rPr>
              <a:t> Base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virtual</a:t>
            </a:r>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show() = 0;  </a:t>
            </a:r>
          </a:p>
          <a:p>
            <a:pPr algn="just"/>
            <a:r>
              <a:rPr lang="en-US" dirty="0">
                <a:solidFill>
                  <a:srgbClr val="000000"/>
                </a:solidFill>
                <a:latin typeface="inter-regular"/>
              </a:rPr>
              <a:t>};  </a:t>
            </a:r>
          </a:p>
          <a:p>
            <a:pPr algn="just"/>
            <a:r>
              <a:rPr lang="en-US" b="1" dirty="0">
                <a:solidFill>
                  <a:srgbClr val="006699"/>
                </a:solidFill>
                <a:latin typeface="inter-regular"/>
              </a:rPr>
              <a:t>class</a:t>
            </a:r>
            <a:r>
              <a:rPr lang="en-US" dirty="0">
                <a:solidFill>
                  <a:srgbClr val="000000"/>
                </a:solidFill>
                <a:latin typeface="inter-regular"/>
              </a:rPr>
              <a:t> Derived : </a:t>
            </a:r>
            <a:r>
              <a:rPr lang="en-US" b="1" dirty="0">
                <a:solidFill>
                  <a:srgbClr val="006699"/>
                </a:solidFill>
                <a:latin typeface="inter-regular"/>
              </a:rPr>
              <a:t>public</a:t>
            </a:r>
            <a:r>
              <a:rPr lang="en-US" dirty="0">
                <a:solidFill>
                  <a:srgbClr val="000000"/>
                </a:solidFill>
                <a:latin typeface="inter-regular"/>
              </a:rPr>
              <a:t> Base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show()  </a:t>
            </a:r>
          </a:p>
          <a:p>
            <a:pPr algn="just"/>
            <a:r>
              <a:rPr lang="en-US" dirty="0">
                <a:solidFill>
                  <a:srgbClr val="000000"/>
                </a:solidFill>
                <a:latin typeface="inter-regular"/>
              </a:rPr>
              <a:t>    {  </a:t>
            </a:r>
          </a:p>
          <a:p>
            <a:pPr algn="just"/>
            <a:r>
              <a:rPr lang="en-US" dirty="0">
                <a:solidFill>
                  <a:srgbClr val="000000"/>
                </a:solidFill>
                <a:latin typeface="inter-regular"/>
              </a:rPr>
              <a:t>        std::</a:t>
            </a:r>
            <a:r>
              <a:rPr lang="en-US" dirty="0" err="1">
                <a:solidFill>
                  <a:srgbClr val="000000"/>
                </a:solidFill>
                <a:latin typeface="inter-regular"/>
              </a:rPr>
              <a:t>cout</a:t>
            </a:r>
            <a:r>
              <a:rPr lang="en-US" dirty="0">
                <a:solidFill>
                  <a:srgbClr val="000000"/>
                </a:solidFill>
                <a:latin typeface="inter-regular"/>
              </a:rPr>
              <a:t> &lt;&lt; </a:t>
            </a:r>
            <a:r>
              <a:rPr lang="en-US" dirty="0">
                <a:solidFill>
                  <a:srgbClr val="0000FF"/>
                </a:solidFill>
                <a:latin typeface="inter-regular"/>
              </a:rPr>
              <a:t>"Derived class is derived from the base class."</a:t>
            </a:r>
            <a:r>
              <a:rPr lang="en-US" dirty="0">
                <a:solidFill>
                  <a:srgbClr val="000000"/>
                </a:solidFill>
                <a:latin typeface="inter-regular"/>
              </a:rPr>
              <a:t> &lt;&lt; std::</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buFont typeface="+mj-lt"/>
              <a:buAutoNum type="arabicPeriod"/>
            </a:pPr>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6">
            <a:extLst>
              <a:ext uri="{FF2B5EF4-FFF2-40B4-BE49-F238E27FC236}">
                <a16:creationId xmlns:a16="http://schemas.microsoft.com/office/drawing/2014/main" id="{9E34E90D-CC8E-4731-8E28-5CB500696E9D}"/>
              </a:ext>
            </a:extLst>
          </p:cNvPr>
          <p:cNvSpPr/>
          <p:nvPr/>
        </p:nvSpPr>
        <p:spPr>
          <a:xfrm>
            <a:off x="6569122" y="1740554"/>
            <a:ext cx="4908645" cy="2585323"/>
          </a:xfrm>
          <a:prstGeom prst="rect">
            <a:avLst/>
          </a:prstGeom>
        </p:spPr>
        <p:txBody>
          <a:bodyPr wrap="square">
            <a:spAutoFit/>
          </a:bodyPr>
          <a:lstStyle/>
          <a:p>
            <a:pPr algn="just"/>
            <a:r>
              <a:rPr lang="en-US" b="1" dirty="0">
                <a:solidFill>
                  <a:srgbClr val="2E8B57"/>
                </a:solidFill>
                <a:latin typeface="inter-regular"/>
              </a:rPr>
              <a:t>int</a:t>
            </a:r>
            <a:r>
              <a:rPr lang="en-US" dirty="0">
                <a:solidFill>
                  <a:srgbClr val="000000"/>
                </a:solidFill>
                <a:latin typeface="inter-regular"/>
              </a:rPr>
              <a:t> main()  </a:t>
            </a:r>
          </a:p>
          <a:p>
            <a:pPr algn="just"/>
            <a:r>
              <a:rPr lang="en-US" dirty="0">
                <a:solidFill>
                  <a:srgbClr val="000000"/>
                </a:solidFill>
                <a:latin typeface="inter-regular"/>
              </a:rPr>
              <a:t>{  </a:t>
            </a:r>
          </a:p>
          <a:p>
            <a:pPr algn="just"/>
            <a:r>
              <a:rPr lang="en-US" dirty="0">
                <a:solidFill>
                  <a:srgbClr val="000000"/>
                </a:solidFill>
                <a:latin typeface="inter-regular"/>
              </a:rPr>
              <a:t>    Base *</a:t>
            </a:r>
            <a:r>
              <a:rPr lang="en-US" dirty="0" err="1">
                <a:solidFill>
                  <a:srgbClr val="000000"/>
                </a:solidFill>
                <a:latin typeface="inter-regular"/>
              </a:rPr>
              <a:t>bptr</a:t>
            </a:r>
            <a:r>
              <a:rPr lang="en-US" dirty="0">
                <a:solidFill>
                  <a:srgbClr val="000000"/>
                </a:solidFill>
                <a:latin typeface="inter-regular"/>
              </a:rPr>
              <a:t>;  </a:t>
            </a:r>
          </a:p>
          <a:p>
            <a:pPr algn="just"/>
            <a:r>
              <a:rPr lang="en-US" dirty="0">
                <a:solidFill>
                  <a:srgbClr val="000000"/>
                </a:solidFill>
                <a:latin typeface="inter-regular"/>
              </a:rPr>
              <a:t>    </a:t>
            </a:r>
            <a:r>
              <a:rPr lang="en-US" dirty="0">
                <a:solidFill>
                  <a:srgbClr val="008200"/>
                </a:solidFill>
                <a:latin typeface="inter-regular"/>
              </a:rPr>
              <a:t>//Base b;</a:t>
            </a:r>
            <a:r>
              <a:rPr lang="en-US" dirty="0">
                <a:solidFill>
                  <a:srgbClr val="000000"/>
                </a:solidFill>
                <a:latin typeface="inter-regular"/>
              </a:rPr>
              <a:t>  </a:t>
            </a:r>
          </a:p>
          <a:p>
            <a:pPr algn="just"/>
            <a:r>
              <a:rPr lang="en-US" dirty="0">
                <a:solidFill>
                  <a:srgbClr val="000000"/>
                </a:solidFill>
                <a:latin typeface="inter-regular"/>
              </a:rPr>
              <a:t>    Derived d;  </a:t>
            </a:r>
          </a:p>
          <a:p>
            <a:pPr algn="just"/>
            <a:r>
              <a:rPr lang="en-US" dirty="0">
                <a:solidFill>
                  <a:srgbClr val="000000"/>
                </a:solidFill>
                <a:latin typeface="inter-regular"/>
              </a:rPr>
              <a:t>    </a:t>
            </a:r>
            <a:r>
              <a:rPr lang="en-US" dirty="0" err="1">
                <a:solidFill>
                  <a:srgbClr val="000000"/>
                </a:solidFill>
                <a:latin typeface="inter-regular"/>
              </a:rPr>
              <a:t>bptr</a:t>
            </a:r>
            <a:r>
              <a:rPr lang="en-US" dirty="0">
                <a:solidFill>
                  <a:srgbClr val="000000"/>
                </a:solidFill>
                <a:latin typeface="inter-regular"/>
              </a:rPr>
              <a:t> = &amp;d;  </a:t>
            </a:r>
          </a:p>
          <a:p>
            <a:pPr algn="just"/>
            <a:r>
              <a:rPr lang="en-US" dirty="0">
                <a:solidFill>
                  <a:srgbClr val="000000"/>
                </a:solidFill>
                <a:latin typeface="inter-regular"/>
              </a:rPr>
              <a:t>    </a:t>
            </a:r>
            <a:r>
              <a:rPr lang="en-US" dirty="0" err="1">
                <a:solidFill>
                  <a:srgbClr val="000000"/>
                </a:solidFill>
                <a:latin typeface="inter-regular"/>
              </a:rPr>
              <a:t>bptr</a:t>
            </a:r>
            <a:r>
              <a:rPr lang="en-US" dirty="0">
                <a:solidFill>
                  <a:srgbClr val="000000"/>
                </a:solidFill>
                <a:latin typeface="inter-regular"/>
              </a:rPr>
              <a:t>-&gt;show();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Tree>
    <p:extLst>
      <p:ext uri="{BB962C8B-B14F-4D97-AF65-F5344CB8AC3E}">
        <p14:creationId xmlns:p14="http://schemas.microsoft.com/office/powerpoint/2010/main" val="39915914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CBC6D5C-25AC-4F02-8E4E-F7C0833317CC}"/>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F47C385-D0CD-4F13-81CB-E577ABE3B498}"/>
              </a:ext>
            </a:extLst>
          </p:cNvPr>
          <p:cNvSpPr>
            <a:spLocks noGrp="1"/>
          </p:cNvSpPr>
          <p:nvPr>
            <p:ph type="sldNum" sz="quarter" idx="12"/>
          </p:nvPr>
        </p:nvSpPr>
        <p:spPr/>
        <p:txBody>
          <a:bodyPr/>
          <a:lstStyle/>
          <a:p>
            <a:fld id="{D8DA9DAA-006C-4F4B-980E-E3DF019B24E2}" type="slidenum">
              <a:rPr lang="en-US" smtClean="0"/>
              <a:pPr/>
              <a:t>100</a:t>
            </a:fld>
            <a:endParaRPr lang="en-US" dirty="0"/>
          </a:p>
        </p:txBody>
      </p:sp>
      <p:sp>
        <p:nvSpPr>
          <p:cNvPr id="6" name="Rectangle 1">
            <a:extLst>
              <a:ext uri="{FF2B5EF4-FFF2-40B4-BE49-F238E27FC236}">
                <a16:creationId xmlns:a16="http://schemas.microsoft.com/office/drawing/2014/main" id="{911DC21D-E1CD-4FF9-9D90-5383B4A9620A}"/>
              </a:ext>
            </a:extLst>
          </p:cNvPr>
          <p:cNvSpPr>
            <a:spLocks noChangeArrowheads="1"/>
          </p:cNvSpPr>
          <p:nvPr/>
        </p:nvSpPr>
        <p:spPr bwMode="auto">
          <a:xfrm>
            <a:off x="709684" y="1522154"/>
            <a:ext cx="10112991" cy="50167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333333"/>
                </a:solidFill>
                <a:effectLst/>
                <a:latin typeface="inter-bold"/>
              </a:rPr>
              <a:t>Output:</a:t>
            </a:r>
            <a:endParaRPr kumimoji="0" lang="en-US" altLang="en-US" sz="3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535559"/>
                </a:solidFill>
                <a:effectLst/>
                <a:latin typeface="Arial Unicode MS"/>
              </a:rPr>
              <a:t>Derived class is derived from the base class.</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3200" dirty="0">
              <a:solidFill>
                <a:srgbClr val="535559"/>
              </a:solidFill>
              <a:latin typeface="Arial Unicode MS"/>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rgbClr val="535559"/>
              </a:solidFill>
              <a:effectLst/>
              <a:latin typeface="Arial Unicode MS"/>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3200" dirty="0">
              <a:solidFill>
                <a:srgbClr val="535559"/>
              </a:solidFill>
              <a:latin typeface="Arial Unicode MS"/>
            </a:endParaRPr>
          </a:p>
          <a:p>
            <a:pPr algn="just"/>
            <a:r>
              <a:rPr lang="en-US" sz="3200" dirty="0"/>
              <a:t>In the above example, the base class contains the pure virtual function. Therefore, the base class is an abstract base class. We cannot create the object of the base class.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803410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EB81-D97F-4271-B125-05F7CC0C3CAF}"/>
              </a:ext>
            </a:extLst>
          </p:cNvPr>
          <p:cNvSpPr>
            <a:spLocks noGrp="1"/>
          </p:cNvSpPr>
          <p:nvPr>
            <p:ph type="title"/>
          </p:nvPr>
        </p:nvSpPr>
        <p:spPr>
          <a:xfrm>
            <a:off x="804672" y="1335024"/>
            <a:ext cx="10714038" cy="1179576"/>
          </a:xfrm>
        </p:spPr>
        <p:txBody>
          <a:bodyPr/>
          <a:lstStyle/>
          <a:p>
            <a:r>
              <a:rPr lang="en-US" dirty="0"/>
              <a:t>Abstract Classes</a:t>
            </a:r>
          </a:p>
        </p:txBody>
      </p:sp>
      <p:sp>
        <p:nvSpPr>
          <p:cNvPr id="3" name="Content Placeholder 2">
            <a:extLst>
              <a:ext uri="{FF2B5EF4-FFF2-40B4-BE49-F238E27FC236}">
                <a16:creationId xmlns:a16="http://schemas.microsoft.com/office/drawing/2014/main" id="{F86A641C-FC6D-41A6-8EFB-3A5A61494C74}"/>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43235A9B-3DAD-476A-A021-8603FBB2DBE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C171041-431C-4A56-ADEB-B6E7360971C4}"/>
              </a:ext>
            </a:extLst>
          </p:cNvPr>
          <p:cNvSpPr>
            <a:spLocks noGrp="1"/>
          </p:cNvSpPr>
          <p:nvPr>
            <p:ph type="sldNum" sz="quarter" idx="12"/>
          </p:nvPr>
        </p:nvSpPr>
        <p:spPr/>
        <p:txBody>
          <a:bodyPr/>
          <a:lstStyle/>
          <a:p>
            <a:fld id="{D8DA9DAA-006C-4F4B-980E-E3DF019B24E2}" type="slidenum">
              <a:rPr lang="en-US" smtClean="0"/>
              <a:pPr/>
              <a:t>101</a:t>
            </a:fld>
            <a:endParaRPr lang="en-US" dirty="0"/>
          </a:p>
        </p:txBody>
      </p:sp>
    </p:spTree>
    <p:extLst>
      <p:ext uri="{BB962C8B-B14F-4D97-AF65-F5344CB8AC3E}">
        <p14:creationId xmlns:p14="http://schemas.microsoft.com/office/powerpoint/2010/main" val="9415699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68749-AA77-4BCA-83F8-E7A2298DEFA9}"/>
              </a:ext>
            </a:extLst>
          </p:cNvPr>
          <p:cNvSpPr>
            <a:spLocks noGrp="1"/>
          </p:cNvSpPr>
          <p:nvPr>
            <p:ph type="title"/>
          </p:nvPr>
        </p:nvSpPr>
        <p:spPr>
          <a:xfrm>
            <a:off x="639762" y="247365"/>
            <a:ext cx="10714038" cy="876869"/>
          </a:xfrm>
        </p:spPr>
        <p:txBody>
          <a:bodyPr>
            <a:normAutofit/>
          </a:bodyPr>
          <a:lstStyle/>
          <a:p>
            <a:r>
              <a:rPr lang="en-US" dirty="0"/>
              <a:t>Interfaces in C++ (Abstract Classes)</a:t>
            </a:r>
          </a:p>
        </p:txBody>
      </p:sp>
      <p:sp>
        <p:nvSpPr>
          <p:cNvPr id="3" name="Content Placeholder 2">
            <a:extLst>
              <a:ext uri="{FF2B5EF4-FFF2-40B4-BE49-F238E27FC236}">
                <a16:creationId xmlns:a16="http://schemas.microsoft.com/office/drawing/2014/main" id="{53572B38-66FB-4045-9898-ECDA04C11D96}"/>
              </a:ext>
            </a:extLst>
          </p:cNvPr>
          <p:cNvSpPr>
            <a:spLocks noGrp="1"/>
          </p:cNvSpPr>
          <p:nvPr>
            <p:ph idx="1"/>
          </p:nvPr>
        </p:nvSpPr>
        <p:spPr>
          <a:xfrm>
            <a:off x="850392" y="1569493"/>
            <a:ext cx="10503408" cy="4602707"/>
          </a:xfrm>
        </p:spPr>
        <p:txBody>
          <a:bodyPr>
            <a:normAutofit/>
          </a:bodyPr>
          <a:lstStyle/>
          <a:p>
            <a:r>
              <a:rPr lang="en-US" sz="2800" dirty="0"/>
              <a:t>Abstract classes are the way to achieve abstraction in C++. Abstraction in C++ is the process to hide the internal details and showing functionality only. Abstraction can be achieved by two ways:</a:t>
            </a:r>
          </a:p>
          <a:p>
            <a:r>
              <a:rPr lang="en-US" sz="2800" b="1" dirty="0"/>
              <a:t>Abstract class</a:t>
            </a:r>
            <a:endParaRPr lang="en-US" sz="2800" dirty="0"/>
          </a:p>
          <a:p>
            <a:r>
              <a:rPr lang="en-US" sz="2800" b="1" dirty="0"/>
              <a:t>Interface</a:t>
            </a:r>
            <a:endParaRPr lang="en-US" sz="2800" dirty="0"/>
          </a:p>
          <a:p>
            <a:r>
              <a:rPr lang="en-US" sz="2800" dirty="0"/>
              <a:t>Abstract class and interface both can have abstract methods which are necessary for abstraction.</a:t>
            </a:r>
          </a:p>
        </p:txBody>
      </p:sp>
      <p:sp>
        <p:nvSpPr>
          <p:cNvPr id="4" name="Date Placeholder 3">
            <a:extLst>
              <a:ext uri="{FF2B5EF4-FFF2-40B4-BE49-F238E27FC236}">
                <a16:creationId xmlns:a16="http://schemas.microsoft.com/office/drawing/2014/main" id="{948D0BD7-8DC6-428C-8C04-31DDAE26388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DEE157C-4F59-4EBD-AB6C-3D4E2C9F1EE5}"/>
              </a:ext>
            </a:extLst>
          </p:cNvPr>
          <p:cNvSpPr>
            <a:spLocks noGrp="1"/>
          </p:cNvSpPr>
          <p:nvPr>
            <p:ph type="sldNum" sz="quarter" idx="12"/>
          </p:nvPr>
        </p:nvSpPr>
        <p:spPr/>
        <p:txBody>
          <a:bodyPr/>
          <a:lstStyle/>
          <a:p>
            <a:fld id="{D8DA9DAA-006C-4F4B-980E-E3DF019B24E2}" type="slidenum">
              <a:rPr lang="en-US" smtClean="0"/>
              <a:pPr/>
              <a:t>102</a:t>
            </a:fld>
            <a:endParaRPr lang="en-US" dirty="0"/>
          </a:p>
        </p:txBody>
      </p:sp>
    </p:spTree>
    <p:extLst>
      <p:ext uri="{BB962C8B-B14F-4D97-AF65-F5344CB8AC3E}">
        <p14:creationId xmlns:p14="http://schemas.microsoft.com/office/powerpoint/2010/main" val="24390553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1664-C338-4108-8A75-33BC8B8E985B}"/>
              </a:ext>
            </a:extLst>
          </p:cNvPr>
          <p:cNvSpPr>
            <a:spLocks noGrp="1"/>
          </p:cNvSpPr>
          <p:nvPr>
            <p:ph type="title"/>
          </p:nvPr>
        </p:nvSpPr>
        <p:spPr>
          <a:xfrm>
            <a:off x="709137" y="270499"/>
            <a:ext cx="11055232" cy="1179576"/>
          </a:xfrm>
        </p:spPr>
        <p:txBody>
          <a:bodyPr>
            <a:normAutofit/>
          </a:bodyPr>
          <a:lstStyle/>
          <a:p>
            <a:r>
              <a:rPr lang="en-US" dirty="0"/>
              <a:t>C++ Abstract class</a:t>
            </a:r>
          </a:p>
        </p:txBody>
      </p:sp>
      <p:sp>
        <p:nvSpPr>
          <p:cNvPr id="3" name="Content Placeholder 2">
            <a:extLst>
              <a:ext uri="{FF2B5EF4-FFF2-40B4-BE49-F238E27FC236}">
                <a16:creationId xmlns:a16="http://schemas.microsoft.com/office/drawing/2014/main" id="{997ABF18-9923-4311-85F8-A8FEA1713E36}"/>
              </a:ext>
            </a:extLst>
          </p:cNvPr>
          <p:cNvSpPr>
            <a:spLocks noGrp="1"/>
          </p:cNvSpPr>
          <p:nvPr>
            <p:ph idx="1"/>
          </p:nvPr>
        </p:nvSpPr>
        <p:spPr>
          <a:xfrm>
            <a:off x="850392" y="1610436"/>
            <a:ext cx="11009512" cy="4561764"/>
          </a:xfrm>
        </p:spPr>
        <p:txBody>
          <a:bodyPr/>
          <a:lstStyle/>
          <a:p>
            <a:r>
              <a:rPr lang="en-US" dirty="0"/>
              <a:t>In C++ class is made abstract by declaring at least one of its functions as &lt;&gt;strong&gt;pure virtual function. A pure virtual function is specified by placing "= 0" in its declaration. Its implementation must be provided by derived classes.</a:t>
            </a:r>
          </a:p>
          <a:p>
            <a:r>
              <a:rPr lang="en-US" dirty="0"/>
              <a:t>Let's see an example of abstract class in C++ which has one abstract method draw(). Its implementation is provided by derived classes: Rectangle and Circle. Both classes have different implementation.</a:t>
            </a:r>
          </a:p>
          <a:p>
            <a:endParaRPr lang="en-US" dirty="0"/>
          </a:p>
        </p:txBody>
      </p:sp>
      <p:sp>
        <p:nvSpPr>
          <p:cNvPr id="4" name="Date Placeholder 3">
            <a:extLst>
              <a:ext uri="{FF2B5EF4-FFF2-40B4-BE49-F238E27FC236}">
                <a16:creationId xmlns:a16="http://schemas.microsoft.com/office/drawing/2014/main" id="{A159BEFB-16D3-4F1B-9E84-1739ECF949E9}"/>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C8AB80F-E333-4CAB-9D53-670A231BCDE2}"/>
              </a:ext>
            </a:extLst>
          </p:cNvPr>
          <p:cNvSpPr>
            <a:spLocks noGrp="1"/>
          </p:cNvSpPr>
          <p:nvPr>
            <p:ph type="sldNum" sz="quarter" idx="12"/>
          </p:nvPr>
        </p:nvSpPr>
        <p:spPr/>
        <p:txBody>
          <a:bodyPr/>
          <a:lstStyle/>
          <a:p>
            <a:fld id="{D8DA9DAA-006C-4F4B-980E-E3DF019B24E2}" type="slidenum">
              <a:rPr lang="en-US" smtClean="0"/>
              <a:pPr/>
              <a:t>103</a:t>
            </a:fld>
            <a:endParaRPr lang="en-US" dirty="0"/>
          </a:p>
        </p:txBody>
      </p:sp>
    </p:spTree>
    <p:extLst>
      <p:ext uri="{BB962C8B-B14F-4D97-AF65-F5344CB8AC3E}">
        <p14:creationId xmlns:p14="http://schemas.microsoft.com/office/powerpoint/2010/main" val="387181407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810B5-F329-48B4-A8B1-3166A21E384C}"/>
              </a:ext>
            </a:extLst>
          </p:cNvPr>
          <p:cNvSpPr>
            <a:spLocks noGrp="1"/>
          </p:cNvSpPr>
          <p:nvPr>
            <p:ph idx="1"/>
          </p:nvPr>
        </p:nvSpPr>
        <p:spPr>
          <a:xfrm>
            <a:off x="850392" y="354842"/>
            <a:ext cx="5245608" cy="5817358"/>
          </a:xfrm>
        </p:spPr>
        <p:txBody>
          <a:bodyPr>
            <a:normAutofit fontScale="925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dirty="0"/>
              <a:t> </a:t>
            </a:r>
            <a:r>
              <a:rPr lang="en-US" b="1" dirty="0"/>
              <a:t>class</a:t>
            </a:r>
            <a:r>
              <a:rPr lang="en-US" dirty="0"/>
              <a:t> Shape    </a:t>
            </a:r>
          </a:p>
          <a:p>
            <a:r>
              <a:rPr lang="en-US" dirty="0"/>
              <a:t>{    </a:t>
            </a:r>
          </a:p>
          <a:p>
            <a:r>
              <a:rPr lang="en-US" dirty="0"/>
              <a:t>    </a:t>
            </a:r>
            <a:r>
              <a:rPr lang="en-US" b="1" dirty="0"/>
              <a:t>public</a:t>
            </a:r>
            <a:r>
              <a:rPr lang="en-US" dirty="0"/>
              <a:t>:   </a:t>
            </a:r>
          </a:p>
          <a:p>
            <a:r>
              <a:rPr lang="en-US" dirty="0"/>
              <a:t>    </a:t>
            </a:r>
            <a:r>
              <a:rPr lang="en-US" b="1" dirty="0"/>
              <a:t>virtual</a:t>
            </a:r>
            <a:r>
              <a:rPr lang="en-US" dirty="0"/>
              <a:t> </a:t>
            </a:r>
            <a:r>
              <a:rPr lang="en-US" b="1" dirty="0"/>
              <a:t>void</a:t>
            </a:r>
            <a:r>
              <a:rPr lang="en-US" dirty="0"/>
              <a:t> draw()=0;    </a:t>
            </a:r>
          </a:p>
          <a:p>
            <a:r>
              <a:rPr lang="en-US" dirty="0"/>
              <a:t>};    </a:t>
            </a:r>
          </a:p>
          <a:p>
            <a:r>
              <a:rPr lang="en-US" dirty="0"/>
              <a:t> </a:t>
            </a:r>
            <a:r>
              <a:rPr lang="en-US" b="1" dirty="0"/>
              <a:t>class</a:t>
            </a:r>
            <a:r>
              <a:rPr lang="en-US" dirty="0"/>
              <a:t> Rectangle : Shape    </a:t>
            </a:r>
          </a:p>
          <a:p>
            <a:r>
              <a:rPr lang="en-US" dirty="0"/>
              <a:t>{    </a:t>
            </a:r>
          </a:p>
          <a:p>
            <a:r>
              <a:rPr lang="en-US" dirty="0"/>
              <a:t>    </a:t>
            </a:r>
            <a:r>
              <a:rPr lang="en-US" b="1" dirty="0"/>
              <a:t>public</a:t>
            </a:r>
            <a:r>
              <a:rPr lang="en-US" dirty="0"/>
              <a:t>:  </a:t>
            </a:r>
          </a:p>
          <a:p>
            <a:r>
              <a:rPr lang="en-US" dirty="0"/>
              <a:t>     </a:t>
            </a:r>
            <a:r>
              <a:rPr lang="en-US" b="1" dirty="0"/>
              <a:t>void</a:t>
            </a:r>
            <a:r>
              <a:rPr lang="en-US" dirty="0"/>
              <a:t> draw()    </a:t>
            </a:r>
          </a:p>
          <a:p>
            <a:r>
              <a:rPr lang="en-US" dirty="0"/>
              <a:t>    {    </a:t>
            </a:r>
          </a:p>
          <a:p>
            <a:r>
              <a:rPr lang="en-US" dirty="0"/>
              <a:t>        </a:t>
            </a:r>
            <a:r>
              <a:rPr lang="en-US" dirty="0" err="1"/>
              <a:t>cout</a:t>
            </a:r>
            <a:r>
              <a:rPr lang="en-US" dirty="0"/>
              <a:t> &lt; &lt;"drawing rectangle..." &lt; &lt;</a:t>
            </a:r>
            <a:r>
              <a:rPr lang="en-US" dirty="0" err="1"/>
              <a:t>endl</a:t>
            </a:r>
            <a:r>
              <a:rPr lang="en-US" dirty="0"/>
              <a:t>;    </a:t>
            </a:r>
          </a:p>
          <a:p>
            <a:r>
              <a:rPr lang="en-US" dirty="0"/>
              <a:t>    }    </a:t>
            </a:r>
          </a:p>
          <a:p>
            <a:r>
              <a:rPr lang="en-US" dirty="0"/>
              <a:t>};    </a:t>
            </a:r>
          </a:p>
          <a:p>
            <a:endParaRPr lang="en-US" dirty="0"/>
          </a:p>
        </p:txBody>
      </p:sp>
      <p:sp>
        <p:nvSpPr>
          <p:cNvPr id="4" name="Date Placeholder 3">
            <a:extLst>
              <a:ext uri="{FF2B5EF4-FFF2-40B4-BE49-F238E27FC236}">
                <a16:creationId xmlns:a16="http://schemas.microsoft.com/office/drawing/2014/main" id="{EA5D465D-B63B-4B72-8347-63DB22FF683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2B564734-4FEC-4B6E-8C3A-55FFA22EAE59}"/>
              </a:ext>
            </a:extLst>
          </p:cNvPr>
          <p:cNvSpPr>
            <a:spLocks noGrp="1"/>
          </p:cNvSpPr>
          <p:nvPr>
            <p:ph type="sldNum" sz="quarter" idx="12"/>
          </p:nvPr>
        </p:nvSpPr>
        <p:spPr/>
        <p:txBody>
          <a:bodyPr/>
          <a:lstStyle/>
          <a:p>
            <a:fld id="{D8DA9DAA-006C-4F4B-980E-E3DF019B24E2}" type="slidenum">
              <a:rPr lang="en-US" smtClean="0"/>
              <a:pPr/>
              <a:t>104</a:t>
            </a:fld>
            <a:endParaRPr lang="en-US" dirty="0"/>
          </a:p>
        </p:txBody>
      </p:sp>
      <p:sp>
        <p:nvSpPr>
          <p:cNvPr id="6" name="Rectangle 5">
            <a:extLst>
              <a:ext uri="{FF2B5EF4-FFF2-40B4-BE49-F238E27FC236}">
                <a16:creationId xmlns:a16="http://schemas.microsoft.com/office/drawing/2014/main" id="{3A82E43E-9C4C-4ECB-84B2-6667638361F0}"/>
              </a:ext>
            </a:extLst>
          </p:cNvPr>
          <p:cNvSpPr/>
          <p:nvPr/>
        </p:nvSpPr>
        <p:spPr>
          <a:xfrm>
            <a:off x="6623714" y="1139862"/>
            <a:ext cx="4717894" cy="4247317"/>
          </a:xfrm>
          <a:prstGeom prst="rect">
            <a:avLst/>
          </a:prstGeom>
        </p:spPr>
        <p:txBody>
          <a:bodyPr wrap="square">
            <a:spAutoFit/>
          </a:bodyPr>
          <a:lstStyle/>
          <a:p>
            <a:pPr algn="just"/>
            <a:r>
              <a:rPr lang="en-US" b="1" dirty="0">
                <a:solidFill>
                  <a:srgbClr val="006699"/>
                </a:solidFill>
                <a:latin typeface="inter-regular"/>
              </a:rPr>
              <a:t>class</a:t>
            </a:r>
            <a:r>
              <a:rPr lang="en-US" dirty="0">
                <a:solidFill>
                  <a:srgbClr val="000000"/>
                </a:solidFill>
                <a:latin typeface="inter-regular"/>
              </a:rPr>
              <a:t> Circle : Shape    </a:t>
            </a:r>
          </a:p>
          <a:p>
            <a:pPr algn="just"/>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public</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void</a:t>
            </a:r>
            <a:r>
              <a:rPr lang="en-US" dirty="0">
                <a:solidFill>
                  <a:srgbClr val="000000"/>
                </a:solidFill>
                <a:latin typeface="inter-regular"/>
              </a:rPr>
              <a:t> draw()    </a:t>
            </a:r>
          </a:p>
          <a:p>
            <a:pPr algn="just"/>
            <a:r>
              <a:rPr lang="en-US" dirty="0">
                <a:solidFill>
                  <a:srgbClr val="000000"/>
                </a:solidFill>
                <a:latin typeface="inter-regular"/>
              </a:rPr>
              <a:t>    {    </a:t>
            </a:r>
          </a:p>
          <a:p>
            <a:pPr algn="just"/>
            <a:r>
              <a:rPr lang="en-US" dirty="0">
                <a:solidFill>
                  <a:srgbClr val="000000"/>
                </a:solidFill>
                <a:latin typeface="inter-regular"/>
              </a:rPr>
              <a:t>        </a:t>
            </a:r>
            <a:r>
              <a:rPr lang="en-US" dirty="0" err="1">
                <a:solidFill>
                  <a:srgbClr val="000000"/>
                </a:solidFill>
                <a:latin typeface="inter-regular"/>
              </a:rPr>
              <a:t>cout</a:t>
            </a:r>
            <a:r>
              <a:rPr lang="en-US" dirty="0">
                <a:solidFill>
                  <a:srgbClr val="000000"/>
                </a:solidFill>
                <a:latin typeface="inter-regular"/>
              </a:rPr>
              <a:t> &lt;&lt;</a:t>
            </a:r>
            <a:r>
              <a:rPr lang="en-US" dirty="0">
                <a:solidFill>
                  <a:srgbClr val="0000FF"/>
                </a:solidFill>
                <a:latin typeface="inter-regular"/>
              </a:rPr>
              <a:t>"drawing circle..."</a:t>
            </a:r>
            <a:r>
              <a:rPr lang="en-US" dirty="0">
                <a:solidFill>
                  <a:srgbClr val="000000"/>
                </a:solidFill>
                <a:latin typeface="inter-regular"/>
              </a:rPr>
              <a:t> &lt; &lt;</a:t>
            </a:r>
            <a:r>
              <a:rPr lang="en-US" dirty="0" err="1">
                <a:solidFill>
                  <a:srgbClr val="000000"/>
                </a:solidFill>
                <a:latin typeface="inter-regular"/>
              </a:rPr>
              <a:t>endl</a:t>
            </a:r>
            <a:r>
              <a:rPr lang="en-US" dirty="0">
                <a:solidFill>
                  <a:srgbClr val="000000"/>
                </a:solidFill>
                <a:latin typeface="inter-regular"/>
              </a:rPr>
              <a:t>;    </a:t>
            </a:r>
          </a:p>
          <a:p>
            <a:pPr algn="just"/>
            <a:r>
              <a:rPr lang="en-US" dirty="0">
                <a:solidFill>
                  <a:srgbClr val="000000"/>
                </a:solidFill>
                <a:latin typeface="inter-regular"/>
              </a:rPr>
              <a:t>    }    </a:t>
            </a:r>
          </a:p>
          <a:p>
            <a:pPr algn="just"/>
            <a:r>
              <a:rPr lang="en-US" dirty="0">
                <a:solidFill>
                  <a:srgbClr val="000000"/>
                </a:solidFill>
                <a:latin typeface="inter-regular"/>
              </a:rPr>
              <a:t>};    </a:t>
            </a:r>
          </a:p>
          <a:p>
            <a:pPr algn="just"/>
            <a:r>
              <a:rPr lang="en-US" b="1" dirty="0">
                <a:solidFill>
                  <a:srgbClr val="2E8B57"/>
                </a:solidFill>
                <a:latin typeface="inter-regular"/>
              </a:rPr>
              <a:t>int</a:t>
            </a:r>
            <a:r>
              <a:rPr lang="en-US" dirty="0">
                <a:solidFill>
                  <a:srgbClr val="000000"/>
                </a:solidFill>
                <a:latin typeface="inter-regular"/>
              </a:rPr>
              <a:t> main( ) {  </a:t>
            </a:r>
          </a:p>
          <a:p>
            <a:pPr algn="just"/>
            <a:r>
              <a:rPr lang="en-US" dirty="0">
                <a:solidFill>
                  <a:srgbClr val="000000"/>
                </a:solidFill>
                <a:latin typeface="inter-regular"/>
              </a:rPr>
              <a:t>    Rectangle rec;  </a:t>
            </a:r>
          </a:p>
          <a:p>
            <a:pPr algn="just"/>
            <a:r>
              <a:rPr lang="en-US" dirty="0">
                <a:solidFill>
                  <a:srgbClr val="000000"/>
                </a:solidFill>
                <a:latin typeface="inter-regular"/>
              </a:rPr>
              <a:t>    Circle </a:t>
            </a:r>
            <a:r>
              <a:rPr lang="en-US" dirty="0" err="1">
                <a:solidFill>
                  <a:srgbClr val="000000"/>
                </a:solidFill>
                <a:latin typeface="inter-regular"/>
              </a:rPr>
              <a:t>cir</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rec.draw</a:t>
            </a:r>
            <a:r>
              <a:rPr lang="en-US" dirty="0">
                <a:solidFill>
                  <a:srgbClr val="000000"/>
                </a:solidFill>
                <a:latin typeface="inter-regular"/>
              </a:rPr>
              <a:t>();    </a:t>
            </a:r>
          </a:p>
          <a:p>
            <a:pPr algn="just"/>
            <a:r>
              <a:rPr lang="en-US" dirty="0">
                <a:solidFill>
                  <a:srgbClr val="000000"/>
                </a:solidFill>
                <a:latin typeface="inter-regular"/>
              </a:rPr>
              <a:t>    </a:t>
            </a:r>
            <a:r>
              <a:rPr lang="en-US" dirty="0" err="1">
                <a:solidFill>
                  <a:srgbClr val="000000"/>
                </a:solidFill>
                <a:latin typeface="inter-regular"/>
              </a:rPr>
              <a:t>cir.draw</a:t>
            </a:r>
            <a:r>
              <a:rPr lang="en-US" dirty="0">
                <a:solidFill>
                  <a:srgbClr val="000000"/>
                </a:solidFill>
                <a:latin typeface="inter-regular"/>
              </a:rPr>
              <a:t>();   </a:t>
            </a:r>
          </a:p>
          <a:p>
            <a:pPr algn="just"/>
            <a:r>
              <a:rPr lang="en-US" dirty="0">
                <a:solidFill>
                  <a:srgbClr val="000000"/>
                </a:solidFill>
                <a:latin typeface="inter-regular"/>
              </a:rPr>
              <a:t>   </a:t>
            </a:r>
            <a:r>
              <a:rPr lang="en-US" b="1" dirty="0">
                <a:solidFill>
                  <a:srgbClr val="006699"/>
                </a:solidFill>
                <a:latin typeface="inter-regular"/>
              </a:rPr>
              <a:t>return</a:t>
            </a:r>
            <a:r>
              <a:rPr lang="en-US" dirty="0">
                <a:solidFill>
                  <a:srgbClr val="000000"/>
                </a:solidFill>
                <a:latin typeface="inter-regular"/>
              </a:rPr>
              <a:t> 0;  </a:t>
            </a:r>
          </a:p>
          <a:p>
            <a:pPr algn="just"/>
            <a:r>
              <a:rPr lang="en-US" dirty="0">
                <a:solidFill>
                  <a:srgbClr val="000000"/>
                </a:solidFill>
                <a:latin typeface="inter-regular"/>
              </a:rPr>
              <a:t>}  </a:t>
            </a:r>
            <a:endParaRPr lang="en-US" b="0" i="0" dirty="0">
              <a:solidFill>
                <a:srgbClr val="000000"/>
              </a:solidFill>
              <a:effectLst/>
              <a:latin typeface="inter-regular"/>
            </a:endParaRPr>
          </a:p>
        </p:txBody>
      </p:sp>
      <p:sp>
        <p:nvSpPr>
          <p:cNvPr id="7" name="Rectangle 1">
            <a:extLst>
              <a:ext uri="{FF2B5EF4-FFF2-40B4-BE49-F238E27FC236}">
                <a16:creationId xmlns:a16="http://schemas.microsoft.com/office/drawing/2014/main" id="{B58CC466-2DB2-4738-818D-38C373692407}"/>
              </a:ext>
            </a:extLst>
          </p:cNvPr>
          <p:cNvSpPr>
            <a:spLocks noChangeArrowheads="1"/>
          </p:cNvSpPr>
          <p:nvPr/>
        </p:nvSpPr>
        <p:spPr bwMode="auto">
          <a:xfrm>
            <a:off x="6623714" y="5697291"/>
            <a:ext cx="15042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33333"/>
                </a:solidFill>
                <a:effectLst/>
                <a:latin typeface="inter-regular"/>
              </a:rPr>
              <a:t>Output:</a:t>
            </a:r>
            <a:endParaRPr kumimoji="0" lang="en-US" altLang="en-US" sz="11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35559"/>
                </a:solidFill>
                <a:effectLst/>
                <a:latin typeface="Arial Unicode MS"/>
              </a:rPr>
              <a:t>Drawing rectangle... </a:t>
            </a:r>
            <a:br>
              <a:rPr kumimoji="0" lang="en-US" altLang="en-US" sz="1000" b="0" i="0" u="none" strike="noStrike" cap="none" normalizeH="0" baseline="0" dirty="0">
                <a:ln>
                  <a:noFill/>
                </a:ln>
                <a:solidFill>
                  <a:srgbClr val="535559"/>
                </a:solidFill>
                <a:effectLst/>
                <a:latin typeface="Arial Unicode MS"/>
              </a:rPr>
            </a:br>
            <a:r>
              <a:rPr kumimoji="0" lang="en-US" altLang="en-US" sz="1000" b="0" i="0" u="none" strike="noStrike" cap="none" normalizeH="0" baseline="0" dirty="0">
                <a:ln>
                  <a:noFill/>
                </a:ln>
                <a:solidFill>
                  <a:srgbClr val="535559"/>
                </a:solidFill>
                <a:effectLst/>
                <a:latin typeface="Arial Unicode MS"/>
              </a:rPr>
              <a:t>drawing circle...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393158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3FCA4-948C-4B42-9D43-F3E73B431870}"/>
              </a:ext>
            </a:extLst>
          </p:cNvPr>
          <p:cNvSpPr>
            <a:spLocks noGrp="1"/>
          </p:cNvSpPr>
          <p:nvPr>
            <p:ph type="title"/>
          </p:nvPr>
        </p:nvSpPr>
        <p:spPr>
          <a:xfrm>
            <a:off x="580761" y="410776"/>
            <a:ext cx="10773039" cy="550047"/>
          </a:xfrm>
        </p:spPr>
        <p:txBody>
          <a:bodyPr>
            <a:normAutofit fontScale="90000"/>
          </a:bodyPr>
          <a:lstStyle/>
          <a:p>
            <a:r>
              <a:rPr lang="en-US" dirty="0"/>
              <a:t>Data Abstraction in C++</a:t>
            </a:r>
          </a:p>
        </p:txBody>
      </p:sp>
      <p:sp>
        <p:nvSpPr>
          <p:cNvPr id="3" name="Content Placeholder 2">
            <a:extLst>
              <a:ext uri="{FF2B5EF4-FFF2-40B4-BE49-F238E27FC236}">
                <a16:creationId xmlns:a16="http://schemas.microsoft.com/office/drawing/2014/main" id="{BAFADCAE-0BA1-43F7-A266-B6E92293CE9B}"/>
              </a:ext>
            </a:extLst>
          </p:cNvPr>
          <p:cNvSpPr>
            <a:spLocks noGrp="1"/>
          </p:cNvSpPr>
          <p:nvPr>
            <p:ph idx="1"/>
          </p:nvPr>
        </p:nvSpPr>
        <p:spPr>
          <a:xfrm>
            <a:off x="850392" y="1111348"/>
            <a:ext cx="10503408" cy="5060852"/>
          </a:xfrm>
        </p:spPr>
        <p:txBody>
          <a:bodyPr/>
          <a:lstStyle/>
          <a:p>
            <a:r>
              <a:rPr lang="en-US" dirty="0"/>
              <a:t>Data Abstraction is a process of providing only the essential details to the outside world and hiding the internal details, i.e., representing only the essential details in the program.</a:t>
            </a:r>
          </a:p>
          <a:p>
            <a:r>
              <a:rPr lang="en-US" dirty="0"/>
              <a:t>Data Abstraction is a programming technique that depends on the </a:t>
            </a:r>
            <a:r>
              <a:rPr lang="en-US" dirty="0" err="1"/>
              <a:t>seperation</a:t>
            </a:r>
            <a:r>
              <a:rPr lang="en-US" dirty="0"/>
              <a:t> of the interface and implementation details of the program.</a:t>
            </a:r>
          </a:p>
          <a:p>
            <a:r>
              <a:rPr lang="en-US" dirty="0"/>
              <a:t>Let's take a real life example of AC, which can be turned ON or OFF, change the temperature, change the mode, and other external components such as fan, swing. But, we don't know the internal details of the AC, i.e., how it works internally. Thus, we can say that AC </a:t>
            </a:r>
            <a:r>
              <a:rPr lang="en-US" dirty="0" err="1"/>
              <a:t>seperates</a:t>
            </a:r>
            <a:r>
              <a:rPr lang="en-US" dirty="0"/>
              <a:t> the implementation details from the external interface.</a:t>
            </a:r>
          </a:p>
          <a:p>
            <a:r>
              <a:rPr lang="en-US" dirty="0"/>
              <a:t>C++ provides a great level of abstraction. For example, pow() function is used to calculate the power of a number without knowing the algorithm the function follows.</a:t>
            </a:r>
          </a:p>
          <a:p>
            <a:r>
              <a:rPr lang="en-US" dirty="0"/>
              <a:t>In C++ program if we implement class with private and public members then it is an example of data abstraction.</a:t>
            </a:r>
          </a:p>
          <a:p>
            <a:endParaRPr lang="en-US" dirty="0"/>
          </a:p>
        </p:txBody>
      </p:sp>
      <p:sp>
        <p:nvSpPr>
          <p:cNvPr id="4" name="Date Placeholder 3">
            <a:extLst>
              <a:ext uri="{FF2B5EF4-FFF2-40B4-BE49-F238E27FC236}">
                <a16:creationId xmlns:a16="http://schemas.microsoft.com/office/drawing/2014/main" id="{A8D4C8AF-C576-4239-BCA0-8C3933D9565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5D65109A-7FA7-482B-93ED-49B43D9B67DE}"/>
              </a:ext>
            </a:extLst>
          </p:cNvPr>
          <p:cNvSpPr>
            <a:spLocks noGrp="1"/>
          </p:cNvSpPr>
          <p:nvPr>
            <p:ph type="sldNum" sz="quarter" idx="12"/>
          </p:nvPr>
        </p:nvSpPr>
        <p:spPr/>
        <p:txBody>
          <a:bodyPr/>
          <a:lstStyle/>
          <a:p>
            <a:fld id="{D8DA9DAA-006C-4F4B-980E-E3DF019B24E2}" type="slidenum">
              <a:rPr lang="en-US" smtClean="0"/>
              <a:pPr/>
              <a:t>105</a:t>
            </a:fld>
            <a:endParaRPr lang="en-US" dirty="0"/>
          </a:p>
        </p:txBody>
      </p:sp>
    </p:spTree>
    <p:extLst>
      <p:ext uri="{BB962C8B-B14F-4D97-AF65-F5344CB8AC3E}">
        <p14:creationId xmlns:p14="http://schemas.microsoft.com/office/powerpoint/2010/main" val="42784621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EE021-55B5-48BC-8DC1-399159C951B2}"/>
              </a:ext>
            </a:extLst>
          </p:cNvPr>
          <p:cNvSpPr>
            <a:spLocks noGrp="1"/>
          </p:cNvSpPr>
          <p:nvPr>
            <p:ph type="title"/>
          </p:nvPr>
        </p:nvSpPr>
        <p:spPr>
          <a:xfrm>
            <a:off x="300251" y="245660"/>
            <a:ext cx="11150221" cy="2268940"/>
          </a:xfrm>
        </p:spPr>
        <p:txBody>
          <a:bodyPr>
            <a:normAutofit/>
          </a:bodyPr>
          <a:lstStyle/>
          <a:p>
            <a:r>
              <a:rPr lang="en-US" b="1" dirty="0"/>
              <a:t>Data Abstraction can be achieved in two ways:</a:t>
            </a:r>
            <a:endParaRPr lang="en-US" dirty="0"/>
          </a:p>
        </p:txBody>
      </p:sp>
      <p:sp>
        <p:nvSpPr>
          <p:cNvPr id="4" name="Date Placeholder 3">
            <a:extLst>
              <a:ext uri="{FF2B5EF4-FFF2-40B4-BE49-F238E27FC236}">
                <a16:creationId xmlns:a16="http://schemas.microsoft.com/office/drawing/2014/main" id="{0F0B16C9-CAD4-4939-ACFF-0962A2AB4CD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3223F99-E05B-4A79-9057-43B2E06015A4}"/>
              </a:ext>
            </a:extLst>
          </p:cNvPr>
          <p:cNvSpPr>
            <a:spLocks noGrp="1"/>
          </p:cNvSpPr>
          <p:nvPr>
            <p:ph type="sldNum" sz="quarter" idx="12"/>
          </p:nvPr>
        </p:nvSpPr>
        <p:spPr/>
        <p:txBody>
          <a:bodyPr/>
          <a:lstStyle/>
          <a:p>
            <a:fld id="{D8DA9DAA-006C-4F4B-980E-E3DF019B24E2}" type="slidenum">
              <a:rPr lang="en-US" smtClean="0"/>
              <a:pPr/>
              <a:t>106</a:t>
            </a:fld>
            <a:endParaRPr lang="en-US" dirty="0"/>
          </a:p>
        </p:txBody>
      </p:sp>
      <p:sp>
        <p:nvSpPr>
          <p:cNvPr id="8" name="Content Placeholder 7">
            <a:extLst>
              <a:ext uri="{FF2B5EF4-FFF2-40B4-BE49-F238E27FC236}">
                <a16:creationId xmlns:a16="http://schemas.microsoft.com/office/drawing/2014/main" id="{D78A8B10-9FC4-42A4-B711-7B4422764658}"/>
              </a:ext>
            </a:extLst>
          </p:cNvPr>
          <p:cNvSpPr>
            <a:spLocks noGrp="1"/>
          </p:cNvSpPr>
          <p:nvPr>
            <p:ph idx="1"/>
          </p:nvPr>
        </p:nvSpPr>
        <p:spPr/>
        <p:txBody>
          <a:bodyPr/>
          <a:lstStyle/>
          <a:p>
            <a:r>
              <a:rPr lang="en-US" dirty="0"/>
              <a:t>Abstraction using classes</a:t>
            </a:r>
          </a:p>
          <a:p>
            <a:r>
              <a:rPr lang="en-US" dirty="0"/>
              <a:t>Abstraction in header files.</a:t>
            </a:r>
          </a:p>
          <a:p>
            <a:endParaRPr lang="en-US" dirty="0"/>
          </a:p>
        </p:txBody>
      </p:sp>
      <p:pic>
        <p:nvPicPr>
          <p:cNvPr id="9" name="Picture 8">
            <a:extLst>
              <a:ext uri="{FF2B5EF4-FFF2-40B4-BE49-F238E27FC236}">
                <a16:creationId xmlns:a16="http://schemas.microsoft.com/office/drawing/2014/main" id="{E93A2D35-D403-420E-9FA0-9B8A6882B231}"/>
              </a:ext>
            </a:extLst>
          </p:cNvPr>
          <p:cNvPicPr>
            <a:picLocks noChangeAspect="1"/>
          </p:cNvPicPr>
          <p:nvPr/>
        </p:nvPicPr>
        <p:blipFill>
          <a:blip r:embed="rId2"/>
          <a:stretch>
            <a:fillRect/>
          </a:stretch>
        </p:blipFill>
        <p:spPr>
          <a:xfrm>
            <a:off x="1183445" y="4123472"/>
            <a:ext cx="3629025" cy="1695450"/>
          </a:xfrm>
          <a:prstGeom prst="rect">
            <a:avLst/>
          </a:prstGeom>
        </p:spPr>
      </p:pic>
    </p:spTree>
    <p:extLst>
      <p:ext uri="{BB962C8B-B14F-4D97-AF65-F5344CB8AC3E}">
        <p14:creationId xmlns:p14="http://schemas.microsoft.com/office/powerpoint/2010/main" val="30847318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83D7BB-3B1A-4BC5-8BD9-412CA07FF3CB}"/>
              </a:ext>
            </a:extLst>
          </p:cNvPr>
          <p:cNvSpPr>
            <a:spLocks noGrp="1"/>
          </p:cNvSpPr>
          <p:nvPr>
            <p:ph idx="1"/>
          </p:nvPr>
        </p:nvSpPr>
        <p:spPr>
          <a:xfrm>
            <a:off x="838199" y="559967"/>
            <a:ext cx="10639567" cy="4885490"/>
          </a:xfrm>
        </p:spPr>
        <p:txBody>
          <a:bodyPr>
            <a:noAutofit/>
          </a:bodyPr>
          <a:lstStyle/>
          <a:p>
            <a:r>
              <a:rPr lang="en-US" sz="3600" b="1" dirty="0"/>
              <a:t>Abstraction using classes:</a:t>
            </a:r>
            <a:r>
              <a:rPr lang="en-US" sz="3600" dirty="0"/>
              <a:t> </a:t>
            </a:r>
          </a:p>
          <a:p>
            <a:r>
              <a:rPr lang="en-US" sz="3600" dirty="0"/>
              <a:t>An abstraction can be achieved using classes. A class is used to group all the data members and member functions into a single unit by using the access specifiers. A class has the responsibility to determine which data member is to be visible outside and which is not.</a:t>
            </a:r>
          </a:p>
        </p:txBody>
      </p:sp>
      <p:sp>
        <p:nvSpPr>
          <p:cNvPr id="4" name="Date Placeholder 3">
            <a:extLst>
              <a:ext uri="{FF2B5EF4-FFF2-40B4-BE49-F238E27FC236}">
                <a16:creationId xmlns:a16="http://schemas.microsoft.com/office/drawing/2014/main" id="{6C854C5D-1E35-4C8A-BEC5-63513D1968EA}"/>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54BE35B4-807F-4C71-B929-392221ED8B92}"/>
              </a:ext>
            </a:extLst>
          </p:cNvPr>
          <p:cNvSpPr>
            <a:spLocks noGrp="1"/>
          </p:cNvSpPr>
          <p:nvPr>
            <p:ph type="sldNum" sz="quarter" idx="12"/>
          </p:nvPr>
        </p:nvSpPr>
        <p:spPr/>
        <p:txBody>
          <a:bodyPr/>
          <a:lstStyle/>
          <a:p>
            <a:fld id="{D8DA9DAA-006C-4F4B-980E-E3DF019B24E2}" type="slidenum">
              <a:rPr lang="en-US" smtClean="0"/>
              <a:pPr/>
              <a:t>107</a:t>
            </a:fld>
            <a:endParaRPr lang="en-US" dirty="0"/>
          </a:p>
        </p:txBody>
      </p:sp>
    </p:spTree>
    <p:extLst>
      <p:ext uri="{BB962C8B-B14F-4D97-AF65-F5344CB8AC3E}">
        <p14:creationId xmlns:p14="http://schemas.microsoft.com/office/powerpoint/2010/main" val="12463364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8EEA-E40A-402B-AD2B-EDD43616EBC1}"/>
              </a:ext>
            </a:extLst>
          </p:cNvPr>
          <p:cNvSpPr>
            <a:spLocks noGrp="1"/>
          </p:cNvSpPr>
          <p:nvPr>
            <p:ph type="title"/>
          </p:nvPr>
        </p:nvSpPr>
        <p:spPr>
          <a:xfrm>
            <a:off x="838200" y="475215"/>
            <a:ext cx="9362910" cy="1179576"/>
          </a:xfrm>
        </p:spPr>
        <p:txBody>
          <a:bodyPr>
            <a:normAutofit/>
          </a:bodyPr>
          <a:lstStyle/>
          <a:p>
            <a:r>
              <a:rPr lang="en-US" b="1" dirty="0"/>
              <a:t>Abstraction in header files:</a:t>
            </a:r>
          </a:p>
        </p:txBody>
      </p:sp>
      <p:sp>
        <p:nvSpPr>
          <p:cNvPr id="3" name="Content Placeholder 2">
            <a:extLst>
              <a:ext uri="{FF2B5EF4-FFF2-40B4-BE49-F238E27FC236}">
                <a16:creationId xmlns:a16="http://schemas.microsoft.com/office/drawing/2014/main" id="{4C59E2B4-77B3-4F87-838C-A3D34ABCFAC5}"/>
              </a:ext>
            </a:extLst>
          </p:cNvPr>
          <p:cNvSpPr>
            <a:spLocks noGrp="1"/>
          </p:cNvSpPr>
          <p:nvPr>
            <p:ph idx="1"/>
          </p:nvPr>
        </p:nvSpPr>
        <p:spPr>
          <a:xfrm>
            <a:off x="850392" y="1883391"/>
            <a:ext cx="10149704" cy="4288809"/>
          </a:xfrm>
        </p:spPr>
        <p:txBody>
          <a:bodyPr>
            <a:normAutofit/>
          </a:bodyPr>
          <a:lstStyle/>
          <a:p>
            <a:pPr algn="just"/>
            <a:r>
              <a:rPr lang="en-US" sz="3600" dirty="0"/>
              <a:t>An another type of abstraction is header file. For example, pow() function available is used to calculate the power of a number without actually knowing which algorithm function uses to calculate the power. Thus, we can say that header files hides all the implementation details from the user.</a:t>
            </a:r>
          </a:p>
        </p:txBody>
      </p:sp>
      <p:sp>
        <p:nvSpPr>
          <p:cNvPr id="4" name="Date Placeholder 3">
            <a:extLst>
              <a:ext uri="{FF2B5EF4-FFF2-40B4-BE49-F238E27FC236}">
                <a16:creationId xmlns:a16="http://schemas.microsoft.com/office/drawing/2014/main" id="{A6C52C91-7EE6-4ADA-B251-C2E10305C331}"/>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F2E31436-8554-4FFC-B81D-BF761CB2AB96}"/>
              </a:ext>
            </a:extLst>
          </p:cNvPr>
          <p:cNvSpPr>
            <a:spLocks noGrp="1"/>
          </p:cNvSpPr>
          <p:nvPr>
            <p:ph type="sldNum" sz="quarter" idx="12"/>
          </p:nvPr>
        </p:nvSpPr>
        <p:spPr/>
        <p:txBody>
          <a:bodyPr/>
          <a:lstStyle/>
          <a:p>
            <a:fld id="{D8DA9DAA-006C-4F4B-980E-E3DF019B24E2}" type="slidenum">
              <a:rPr lang="en-US" smtClean="0"/>
              <a:pPr/>
              <a:t>108</a:t>
            </a:fld>
            <a:endParaRPr lang="en-US" dirty="0"/>
          </a:p>
        </p:txBody>
      </p:sp>
    </p:spTree>
    <p:extLst>
      <p:ext uri="{BB962C8B-B14F-4D97-AF65-F5344CB8AC3E}">
        <p14:creationId xmlns:p14="http://schemas.microsoft.com/office/powerpoint/2010/main" val="345135315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E8AD-17BD-4D1F-B848-AFA474A329F5}"/>
              </a:ext>
            </a:extLst>
          </p:cNvPr>
          <p:cNvSpPr>
            <a:spLocks noGrp="1"/>
          </p:cNvSpPr>
          <p:nvPr>
            <p:ph type="title"/>
          </p:nvPr>
        </p:nvSpPr>
        <p:spPr>
          <a:xfrm>
            <a:off x="804672" y="136525"/>
            <a:ext cx="11387328" cy="1179576"/>
          </a:xfrm>
        </p:spPr>
        <p:txBody>
          <a:bodyPr>
            <a:normAutofit/>
          </a:bodyPr>
          <a:lstStyle/>
          <a:p>
            <a:r>
              <a:rPr lang="en-US" b="1" dirty="0"/>
              <a:t>Access Specifiers Implement Abstraction:</a:t>
            </a:r>
            <a:endParaRPr lang="en-US" dirty="0"/>
          </a:p>
        </p:txBody>
      </p:sp>
      <p:sp>
        <p:nvSpPr>
          <p:cNvPr id="3" name="Content Placeholder 2">
            <a:extLst>
              <a:ext uri="{FF2B5EF4-FFF2-40B4-BE49-F238E27FC236}">
                <a16:creationId xmlns:a16="http://schemas.microsoft.com/office/drawing/2014/main" id="{887E4BDE-5C1C-415D-B6EF-E4F0F297289A}"/>
              </a:ext>
            </a:extLst>
          </p:cNvPr>
          <p:cNvSpPr>
            <a:spLocks noGrp="1"/>
          </p:cNvSpPr>
          <p:nvPr>
            <p:ph idx="1"/>
          </p:nvPr>
        </p:nvSpPr>
        <p:spPr>
          <a:xfrm>
            <a:off x="850391" y="1316101"/>
            <a:ext cx="10859387" cy="4856099"/>
          </a:xfrm>
        </p:spPr>
        <p:txBody>
          <a:bodyPr/>
          <a:lstStyle/>
          <a:p>
            <a:r>
              <a:rPr lang="en-US" b="1" dirty="0"/>
              <a:t>Public specifier:</a:t>
            </a:r>
            <a:r>
              <a:rPr lang="en-US" dirty="0"/>
              <a:t> When the members are declared as public, members can be accessed anywhere from the program.</a:t>
            </a:r>
          </a:p>
          <a:p>
            <a:r>
              <a:rPr lang="en-US" b="1" dirty="0"/>
              <a:t>Private specifier:</a:t>
            </a:r>
            <a:r>
              <a:rPr lang="en-US" dirty="0"/>
              <a:t> When the members are declared as private, members can only be accessed only by the member functions of the class.</a:t>
            </a:r>
          </a:p>
          <a:p>
            <a:r>
              <a:rPr lang="en-US" dirty="0"/>
              <a:t>Let's see a simple example of abstraction in header files.</a:t>
            </a:r>
          </a:p>
        </p:txBody>
      </p:sp>
      <p:sp>
        <p:nvSpPr>
          <p:cNvPr id="4" name="Date Placeholder 3">
            <a:extLst>
              <a:ext uri="{FF2B5EF4-FFF2-40B4-BE49-F238E27FC236}">
                <a16:creationId xmlns:a16="http://schemas.microsoft.com/office/drawing/2014/main" id="{9CB7ECFB-1130-42DC-925B-212E1304A80D}"/>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92A3A8B8-5BFA-4ED7-A218-0A4F0808FD3F}"/>
              </a:ext>
            </a:extLst>
          </p:cNvPr>
          <p:cNvSpPr>
            <a:spLocks noGrp="1"/>
          </p:cNvSpPr>
          <p:nvPr>
            <p:ph type="sldNum" sz="quarter" idx="12"/>
          </p:nvPr>
        </p:nvSpPr>
        <p:spPr/>
        <p:txBody>
          <a:bodyPr/>
          <a:lstStyle/>
          <a:p>
            <a:fld id="{D8DA9DAA-006C-4F4B-980E-E3DF019B24E2}" type="slidenum">
              <a:rPr lang="en-US" smtClean="0"/>
              <a:pPr/>
              <a:t>109</a:t>
            </a:fld>
            <a:endParaRPr lang="en-US" dirty="0"/>
          </a:p>
        </p:txBody>
      </p:sp>
    </p:spTree>
    <p:extLst>
      <p:ext uri="{BB962C8B-B14F-4D97-AF65-F5344CB8AC3E}">
        <p14:creationId xmlns:p14="http://schemas.microsoft.com/office/powerpoint/2010/main" val="17403463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F9A10D-546D-4DEA-BBEB-D994C05BB179}"/>
              </a:ext>
            </a:extLst>
          </p:cNvPr>
          <p:cNvSpPr>
            <a:spLocks noGrp="1"/>
          </p:cNvSpPr>
          <p:nvPr>
            <p:ph idx="1"/>
          </p:nvPr>
        </p:nvSpPr>
        <p:spPr>
          <a:xfrm>
            <a:off x="850392" y="136524"/>
            <a:ext cx="11145990" cy="6035675"/>
          </a:xfrm>
        </p:spPr>
        <p:txBody>
          <a:bodyPr>
            <a:normAutofit/>
          </a:bodyPr>
          <a:lstStyle/>
          <a:p>
            <a:r>
              <a:rPr lang="en-US" dirty="0"/>
              <a:t>#include &lt;iostream&gt;  </a:t>
            </a:r>
          </a:p>
          <a:p>
            <a:r>
              <a:rPr lang="en-US" dirty="0"/>
              <a:t>#include&lt;</a:t>
            </a:r>
            <a:r>
              <a:rPr lang="en-US" dirty="0" err="1"/>
              <a:t>math.h</a:t>
            </a:r>
            <a:r>
              <a:rPr lang="en-US" dirty="0"/>
              <a:t>&gt;  </a:t>
            </a:r>
          </a:p>
          <a:p>
            <a:r>
              <a:rPr lang="en-US" b="1" dirty="0"/>
              <a:t>using</a:t>
            </a:r>
            <a:r>
              <a:rPr lang="en-US" dirty="0"/>
              <a:t> </a:t>
            </a:r>
            <a:r>
              <a:rPr lang="en-US" b="1" dirty="0"/>
              <a:t>namespace</a:t>
            </a:r>
            <a:r>
              <a:rPr lang="en-US" dirty="0"/>
              <a:t> std;  </a:t>
            </a:r>
          </a:p>
          <a:p>
            <a:r>
              <a:rPr lang="en-US" b="1" dirty="0"/>
              <a:t>int</a:t>
            </a:r>
            <a:r>
              <a:rPr lang="en-US" dirty="0"/>
              <a:t> main()  </a:t>
            </a:r>
          </a:p>
          <a:p>
            <a:r>
              <a:rPr lang="en-US" dirty="0"/>
              <a:t>{    </a:t>
            </a:r>
          </a:p>
          <a:p>
            <a:r>
              <a:rPr lang="en-US" dirty="0"/>
              <a:t> </a:t>
            </a:r>
            <a:r>
              <a:rPr lang="en-US" b="1" dirty="0"/>
              <a:t>int</a:t>
            </a:r>
            <a:r>
              <a:rPr lang="en-US" dirty="0"/>
              <a:t> n = 4;  </a:t>
            </a:r>
          </a:p>
          <a:p>
            <a:r>
              <a:rPr lang="en-US" dirty="0"/>
              <a:t>   </a:t>
            </a:r>
            <a:r>
              <a:rPr lang="en-US" b="1" dirty="0"/>
              <a:t>int</a:t>
            </a:r>
            <a:r>
              <a:rPr lang="en-US" dirty="0"/>
              <a:t> power = 3;  </a:t>
            </a:r>
          </a:p>
          <a:p>
            <a:r>
              <a:rPr lang="en-US" dirty="0"/>
              <a:t>   </a:t>
            </a:r>
            <a:r>
              <a:rPr lang="en-US" b="1" dirty="0"/>
              <a:t>int</a:t>
            </a:r>
            <a:r>
              <a:rPr lang="en-US" dirty="0"/>
              <a:t> result = pow(</a:t>
            </a:r>
            <a:r>
              <a:rPr lang="en-US" dirty="0" err="1"/>
              <a:t>n,power</a:t>
            </a:r>
            <a:r>
              <a:rPr lang="en-US" dirty="0"/>
              <a:t>);         // pow(</a:t>
            </a:r>
            <a:r>
              <a:rPr lang="en-US" dirty="0" err="1"/>
              <a:t>n,power</a:t>
            </a:r>
            <a:r>
              <a:rPr lang="en-US" dirty="0"/>
              <a:t>) is the  power function  </a:t>
            </a:r>
          </a:p>
          <a:p>
            <a:r>
              <a:rPr lang="en-US" dirty="0"/>
              <a:t>   std::</a:t>
            </a:r>
            <a:r>
              <a:rPr lang="en-US" dirty="0" err="1"/>
              <a:t>cout</a:t>
            </a:r>
            <a:r>
              <a:rPr lang="en-US" dirty="0"/>
              <a:t> &lt;&lt; "Cube of n is : " &lt;&lt;result&lt;&lt; std::</a:t>
            </a:r>
            <a:r>
              <a:rPr lang="en-US" dirty="0" err="1"/>
              <a:t>endl</a:t>
            </a:r>
            <a:r>
              <a:rPr lang="en-US" dirty="0"/>
              <a:t>;  </a:t>
            </a:r>
          </a:p>
          <a:p>
            <a:r>
              <a:rPr lang="en-US" dirty="0"/>
              <a:t>   </a:t>
            </a:r>
            <a:r>
              <a:rPr lang="en-US" b="1" dirty="0"/>
              <a:t>return</a:t>
            </a:r>
            <a:r>
              <a:rPr lang="en-US" dirty="0"/>
              <a:t> 0;  </a:t>
            </a:r>
          </a:p>
          <a:p>
            <a:r>
              <a:rPr lang="en-US" dirty="0"/>
              <a:t>}  </a:t>
            </a:r>
          </a:p>
          <a:p>
            <a:endParaRPr lang="en-US" dirty="0"/>
          </a:p>
        </p:txBody>
      </p:sp>
      <p:sp>
        <p:nvSpPr>
          <p:cNvPr id="4" name="Date Placeholder 3">
            <a:extLst>
              <a:ext uri="{FF2B5EF4-FFF2-40B4-BE49-F238E27FC236}">
                <a16:creationId xmlns:a16="http://schemas.microsoft.com/office/drawing/2014/main" id="{56E4A875-0E2A-4B0B-8A32-049C4A86E1B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2B65F8CC-B4A4-4A66-902D-F3C1C729403C}"/>
              </a:ext>
            </a:extLst>
          </p:cNvPr>
          <p:cNvSpPr>
            <a:spLocks noGrp="1"/>
          </p:cNvSpPr>
          <p:nvPr>
            <p:ph type="sldNum" sz="quarter" idx="12"/>
          </p:nvPr>
        </p:nvSpPr>
        <p:spPr/>
        <p:txBody>
          <a:bodyPr/>
          <a:lstStyle/>
          <a:p>
            <a:fld id="{D8DA9DAA-006C-4F4B-980E-E3DF019B24E2}" type="slidenum">
              <a:rPr lang="en-US" smtClean="0"/>
              <a:pPr/>
              <a:t>110</a:t>
            </a:fld>
            <a:endParaRPr lang="en-US" dirty="0"/>
          </a:p>
        </p:txBody>
      </p:sp>
    </p:spTree>
    <p:extLst>
      <p:ext uri="{BB962C8B-B14F-4D97-AF65-F5344CB8AC3E}">
        <p14:creationId xmlns:p14="http://schemas.microsoft.com/office/powerpoint/2010/main" val="423553223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B7D0A-6730-4CE6-B008-71AC95CE3937}"/>
              </a:ext>
            </a:extLst>
          </p:cNvPr>
          <p:cNvSpPr>
            <a:spLocks noGrp="1"/>
          </p:cNvSpPr>
          <p:nvPr>
            <p:ph idx="1"/>
          </p:nvPr>
        </p:nvSpPr>
        <p:spPr>
          <a:xfrm>
            <a:off x="850391" y="696036"/>
            <a:ext cx="9822157" cy="5476164"/>
          </a:xfrm>
        </p:spPr>
        <p:txBody>
          <a:bodyPr/>
          <a:lstStyle/>
          <a:p>
            <a:r>
              <a:rPr lang="en-US" dirty="0"/>
              <a:t>In the above example, pow() function is used to calculate 4 raised to the power 3. The pow() function is present in the </a:t>
            </a:r>
            <a:r>
              <a:rPr lang="en-US" dirty="0" err="1"/>
              <a:t>math.h</a:t>
            </a:r>
            <a:r>
              <a:rPr lang="en-US" dirty="0"/>
              <a:t> header file in which all the implementation details of the pow() function is hidden.</a:t>
            </a:r>
          </a:p>
          <a:p>
            <a:br>
              <a:rPr lang="en-US" dirty="0"/>
            </a:br>
            <a:endParaRPr lang="en-US" dirty="0"/>
          </a:p>
        </p:txBody>
      </p:sp>
      <p:sp>
        <p:nvSpPr>
          <p:cNvPr id="4" name="Date Placeholder 3">
            <a:extLst>
              <a:ext uri="{FF2B5EF4-FFF2-40B4-BE49-F238E27FC236}">
                <a16:creationId xmlns:a16="http://schemas.microsoft.com/office/drawing/2014/main" id="{C808B213-2A68-48D0-BDC1-5E87900775A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9C7A1E7-0276-4C3E-B9B3-FB8CA6C31DD2}"/>
              </a:ext>
            </a:extLst>
          </p:cNvPr>
          <p:cNvSpPr>
            <a:spLocks noGrp="1"/>
          </p:cNvSpPr>
          <p:nvPr>
            <p:ph type="sldNum" sz="quarter" idx="12"/>
          </p:nvPr>
        </p:nvSpPr>
        <p:spPr/>
        <p:txBody>
          <a:bodyPr/>
          <a:lstStyle/>
          <a:p>
            <a:fld id="{D8DA9DAA-006C-4F4B-980E-E3DF019B24E2}" type="slidenum">
              <a:rPr lang="en-US" smtClean="0"/>
              <a:pPr/>
              <a:t>111</a:t>
            </a:fld>
            <a:endParaRPr lang="en-US" dirty="0"/>
          </a:p>
        </p:txBody>
      </p:sp>
    </p:spTree>
    <p:extLst>
      <p:ext uri="{BB962C8B-B14F-4D97-AF65-F5344CB8AC3E}">
        <p14:creationId xmlns:p14="http://schemas.microsoft.com/office/powerpoint/2010/main" val="7599110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816DD1-616A-4E32-94DE-1A843128F099}"/>
              </a:ext>
            </a:extLst>
          </p:cNvPr>
          <p:cNvSpPr>
            <a:spLocks noGrp="1"/>
          </p:cNvSpPr>
          <p:nvPr>
            <p:ph idx="1"/>
          </p:nvPr>
        </p:nvSpPr>
        <p:spPr>
          <a:xfrm>
            <a:off x="850391" y="395785"/>
            <a:ext cx="5445775" cy="5776415"/>
          </a:xfrm>
        </p:spPr>
        <p:txBody>
          <a:bodyPr>
            <a:normAutofit fontScale="92500" lnSpcReduction="20000"/>
          </a:bodyPr>
          <a:lstStyle/>
          <a:p>
            <a:r>
              <a:rPr lang="en-US" dirty="0"/>
              <a:t>#include &lt;iostream&gt;    </a:t>
            </a:r>
          </a:p>
          <a:p>
            <a:r>
              <a:rPr lang="en-US" b="1" dirty="0"/>
              <a:t>using</a:t>
            </a:r>
            <a:r>
              <a:rPr lang="en-US" dirty="0"/>
              <a:t> </a:t>
            </a:r>
            <a:r>
              <a:rPr lang="en-US" b="1" dirty="0"/>
              <a:t>namespace</a:t>
            </a:r>
            <a:r>
              <a:rPr lang="en-US" dirty="0"/>
              <a:t> std;    </a:t>
            </a:r>
          </a:p>
          <a:p>
            <a:r>
              <a:rPr lang="en-US" dirty="0"/>
              <a:t> </a:t>
            </a:r>
            <a:r>
              <a:rPr lang="en-US" b="1" dirty="0"/>
              <a:t>class</a:t>
            </a:r>
            <a:r>
              <a:rPr lang="en-US" dirty="0"/>
              <a:t> Sum    </a:t>
            </a:r>
          </a:p>
          <a:p>
            <a:r>
              <a:rPr lang="en-US" dirty="0"/>
              <a:t>{    </a:t>
            </a:r>
          </a:p>
          <a:p>
            <a:r>
              <a:rPr lang="en-US" b="1" dirty="0"/>
              <a:t>private</a:t>
            </a:r>
            <a:r>
              <a:rPr lang="en-US" dirty="0"/>
              <a:t>: </a:t>
            </a:r>
            <a:r>
              <a:rPr lang="en-US" b="1" dirty="0"/>
              <a:t>int</a:t>
            </a:r>
            <a:r>
              <a:rPr lang="en-US" dirty="0"/>
              <a:t> x, y, z; // private variables  </a:t>
            </a:r>
          </a:p>
          <a:p>
            <a:r>
              <a:rPr lang="en-US" b="1" dirty="0"/>
              <a:t>public</a:t>
            </a:r>
            <a:r>
              <a:rPr lang="en-US" dirty="0"/>
              <a:t>:    </a:t>
            </a:r>
          </a:p>
          <a:p>
            <a:r>
              <a:rPr lang="en-US" b="1" dirty="0"/>
              <a:t>void</a:t>
            </a:r>
            <a:r>
              <a:rPr lang="en-US" dirty="0"/>
              <a:t> add()    </a:t>
            </a:r>
          </a:p>
          <a:p>
            <a:r>
              <a:rPr lang="en-US" dirty="0"/>
              <a:t>{    </a:t>
            </a:r>
          </a:p>
          <a:p>
            <a:r>
              <a:rPr lang="en-US" dirty="0" err="1"/>
              <a:t>cout</a:t>
            </a:r>
            <a:r>
              <a:rPr lang="en-US" dirty="0"/>
              <a:t>&lt;&lt;"Enter two numbers: ";    </a:t>
            </a:r>
          </a:p>
          <a:p>
            <a:r>
              <a:rPr lang="en-US" dirty="0" err="1"/>
              <a:t>cin</a:t>
            </a:r>
            <a:r>
              <a:rPr lang="en-US" dirty="0"/>
              <a:t>&gt;&gt;x&gt;&gt;y;    </a:t>
            </a:r>
          </a:p>
          <a:p>
            <a:r>
              <a:rPr lang="en-US" dirty="0"/>
              <a:t>z= </a:t>
            </a:r>
            <a:r>
              <a:rPr lang="en-US" dirty="0" err="1"/>
              <a:t>x+y</a:t>
            </a:r>
            <a:r>
              <a:rPr lang="en-US" dirty="0"/>
              <a:t>;    </a:t>
            </a:r>
          </a:p>
          <a:p>
            <a:r>
              <a:rPr lang="en-US" dirty="0" err="1"/>
              <a:t>cout</a:t>
            </a:r>
            <a:r>
              <a:rPr lang="en-US" dirty="0"/>
              <a:t>&lt;&lt;"Sum of two number is: "&lt;&lt;z&lt;&lt;</a:t>
            </a:r>
            <a:r>
              <a:rPr lang="en-US" dirty="0" err="1"/>
              <a:t>endl</a:t>
            </a:r>
            <a:r>
              <a:rPr lang="en-US" dirty="0"/>
              <a:t>;    </a:t>
            </a:r>
          </a:p>
          <a:p>
            <a:r>
              <a:rPr lang="en-US" dirty="0"/>
              <a:t>}    </a:t>
            </a:r>
          </a:p>
          <a:p>
            <a:r>
              <a:rPr lang="en-US" dirty="0"/>
              <a:t>};  </a:t>
            </a:r>
          </a:p>
        </p:txBody>
      </p:sp>
      <p:sp>
        <p:nvSpPr>
          <p:cNvPr id="4" name="Date Placeholder 3">
            <a:extLst>
              <a:ext uri="{FF2B5EF4-FFF2-40B4-BE49-F238E27FC236}">
                <a16:creationId xmlns:a16="http://schemas.microsoft.com/office/drawing/2014/main" id="{3077CDF5-1C3B-4D09-AE8D-3D17D9B2E118}"/>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9B143B94-787A-4EBB-BCEA-2C3B61D70FFB}"/>
              </a:ext>
            </a:extLst>
          </p:cNvPr>
          <p:cNvSpPr>
            <a:spLocks noGrp="1"/>
          </p:cNvSpPr>
          <p:nvPr>
            <p:ph type="sldNum" sz="quarter" idx="12"/>
          </p:nvPr>
        </p:nvSpPr>
        <p:spPr/>
        <p:txBody>
          <a:bodyPr/>
          <a:lstStyle/>
          <a:p>
            <a:fld id="{D8DA9DAA-006C-4F4B-980E-E3DF019B24E2}" type="slidenum">
              <a:rPr lang="en-US" smtClean="0"/>
              <a:pPr/>
              <a:t>112</a:t>
            </a:fld>
            <a:endParaRPr lang="en-US" dirty="0"/>
          </a:p>
        </p:txBody>
      </p:sp>
      <p:sp>
        <p:nvSpPr>
          <p:cNvPr id="6" name="Rectangle 5">
            <a:extLst>
              <a:ext uri="{FF2B5EF4-FFF2-40B4-BE49-F238E27FC236}">
                <a16:creationId xmlns:a16="http://schemas.microsoft.com/office/drawing/2014/main" id="{920F2161-2ECA-4D71-AF3C-CC9B50311F67}"/>
              </a:ext>
            </a:extLst>
          </p:cNvPr>
          <p:cNvSpPr/>
          <p:nvPr/>
        </p:nvSpPr>
        <p:spPr>
          <a:xfrm>
            <a:off x="6296167" y="395785"/>
            <a:ext cx="5057633" cy="2031325"/>
          </a:xfrm>
          <a:prstGeom prst="rect">
            <a:avLst/>
          </a:prstGeom>
        </p:spPr>
        <p:txBody>
          <a:bodyPr wrap="square">
            <a:spAutoFit/>
          </a:bodyPr>
          <a:lstStyle/>
          <a:p>
            <a:r>
              <a:rPr lang="en-US" dirty="0"/>
              <a:t>  </a:t>
            </a:r>
          </a:p>
          <a:p>
            <a:r>
              <a:rPr lang="en-US" b="1" dirty="0"/>
              <a:t>int</a:t>
            </a:r>
            <a:r>
              <a:rPr lang="en-US" dirty="0"/>
              <a:t> main()    </a:t>
            </a:r>
          </a:p>
          <a:p>
            <a:r>
              <a:rPr lang="en-US" dirty="0"/>
              <a:t>{    </a:t>
            </a:r>
          </a:p>
          <a:p>
            <a:r>
              <a:rPr lang="en-US" dirty="0"/>
              <a:t>Sum </a:t>
            </a:r>
            <a:r>
              <a:rPr lang="en-US" dirty="0" err="1"/>
              <a:t>sm</a:t>
            </a:r>
            <a:r>
              <a:rPr lang="en-US" dirty="0"/>
              <a:t>;    </a:t>
            </a:r>
          </a:p>
          <a:p>
            <a:r>
              <a:rPr lang="en-US" dirty="0" err="1"/>
              <a:t>sm.add</a:t>
            </a:r>
            <a:r>
              <a:rPr lang="en-US" dirty="0"/>
              <a:t>();    </a:t>
            </a:r>
          </a:p>
          <a:p>
            <a:r>
              <a:rPr lang="en-US" b="1" dirty="0"/>
              <a:t>return</a:t>
            </a:r>
            <a:r>
              <a:rPr lang="en-US" dirty="0"/>
              <a:t> 0;    </a:t>
            </a:r>
          </a:p>
          <a:p>
            <a:r>
              <a:rPr lang="en-US" dirty="0"/>
              <a:t>}</a:t>
            </a:r>
          </a:p>
        </p:txBody>
      </p:sp>
    </p:spTree>
    <p:extLst>
      <p:ext uri="{BB962C8B-B14F-4D97-AF65-F5344CB8AC3E}">
        <p14:creationId xmlns:p14="http://schemas.microsoft.com/office/powerpoint/2010/main" val="19070017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83D0F-434C-42D5-AFA1-12B399BF02D9}"/>
              </a:ext>
            </a:extLst>
          </p:cNvPr>
          <p:cNvSpPr>
            <a:spLocks noGrp="1"/>
          </p:cNvSpPr>
          <p:nvPr>
            <p:ph idx="1"/>
          </p:nvPr>
        </p:nvSpPr>
        <p:spPr>
          <a:xfrm>
            <a:off x="838200" y="505376"/>
            <a:ext cx="10515600" cy="5850973"/>
          </a:xfrm>
        </p:spPr>
        <p:txBody>
          <a:bodyPr/>
          <a:lstStyle/>
          <a:p>
            <a:r>
              <a:rPr lang="en-US" dirty="0"/>
              <a:t>Output:</a:t>
            </a:r>
          </a:p>
          <a:p>
            <a:endParaRPr lang="en-US" dirty="0"/>
          </a:p>
          <a:p>
            <a:r>
              <a:rPr lang="en-US" dirty="0"/>
              <a:t>Enter two numbers:</a:t>
            </a:r>
          </a:p>
          <a:p>
            <a:r>
              <a:rPr lang="en-US" dirty="0"/>
              <a:t>3</a:t>
            </a:r>
          </a:p>
          <a:p>
            <a:r>
              <a:rPr lang="en-US" dirty="0"/>
              <a:t>6</a:t>
            </a:r>
          </a:p>
          <a:p>
            <a:r>
              <a:rPr lang="en-US" dirty="0"/>
              <a:t>Sum of two number is: 9</a:t>
            </a:r>
          </a:p>
          <a:p>
            <a:endParaRPr lang="en-US" dirty="0"/>
          </a:p>
          <a:p>
            <a:r>
              <a:rPr lang="en-US" dirty="0"/>
              <a:t>In the above example, abstraction is achieved using classes. A class 'Sum' contains the private members x, y and z are only accessible by the member functions of the class.</a:t>
            </a:r>
          </a:p>
        </p:txBody>
      </p:sp>
      <p:sp>
        <p:nvSpPr>
          <p:cNvPr id="4" name="Date Placeholder 3">
            <a:extLst>
              <a:ext uri="{FF2B5EF4-FFF2-40B4-BE49-F238E27FC236}">
                <a16:creationId xmlns:a16="http://schemas.microsoft.com/office/drawing/2014/main" id="{F3CF77AF-1B18-4BA5-8B41-65F9A2A3B83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9FF0C01-6483-49F6-A1A3-A29A3C9C45CD}"/>
              </a:ext>
            </a:extLst>
          </p:cNvPr>
          <p:cNvSpPr>
            <a:spLocks noGrp="1"/>
          </p:cNvSpPr>
          <p:nvPr>
            <p:ph type="sldNum" sz="quarter" idx="12"/>
          </p:nvPr>
        </p:nvSpPr>
        <p:spPr/>
        <p:txBody>
          <a:bodyPr/>
          <a:lstStyle/>
          <a:p>
            <a:fld id="{D8DA9DAA-006C-4F4B-980E-E3DF019B24E2}" type="slidenum">
              <a:rPr lang="en-US" smtClean="0"/>
              <a:pPr/>
              <a:t>113</a:t>
            </a:fld>
            <a:endParaRPr lang="en-US" dirty="0"/>
          </a:p>
        </p:txBody>
      </p:sp>
    </p:spTree>
    <p:extLst>
      <p:ext uri="{BB962C8B-B14F-4D97-AF65-F5344CB8AC3E}">
        <p14:creationId xmlns:p14="http://schemas.microsoft.com/office/powerpoint/2010/main" val="34108249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93C4-46A7-40C5-83C4-CAAB26996863}"/>
              </a:ext>
            </a:extLst>
          </p:cNvPr>
          <p:cNvSpPr>
            <a:spLocks noGrp="1"/>
          </p:cNvSpPr>
          <p:nvPr>
            <p:ph type="title"/>
          </p:nvPr>
        </p:nvSpPr>
        <p:spPr>
          <a:xfrm>
            <a:off x="668194" y="136525"/>
            <a:ext cx="10250015" cy="1179576"/>
          </a:xfrm>
        </p:spPr>
        <p:txBody>
          <a:bodyPr>
            <a:normAutofit/>
          </a:bodyPr>
          <a:lstStyle/>
          <a:p>
            <a:r>
              <a:rPr lang="en-US" dirty="0"/>
              <a:t>Advantages Of Abstraction:</a:t>
            </a:r>
          </a:p>
        </p:txBody>
      </p:sp>
      <p:sp>
        <p:nvSpPr>
          <p:cNvPr id="3" name="Content Placeholder 2">
            <a:extLst>
              <a:ext uri="{FF2B5EF4-FFF2-40B4-BE49-F238E27FC236}">
                <a16:creationId xmlns:a16="http://schemas.microsoft.com/office/drawing/2014/main" id="{995E87CB-C49E-494B-BE32-1A2A81F9DD0F}"/>
              </a:ext>
            </a:extLst>
          </p:cNvPr>
          <p:cNvSpPr>
            <a:spLocks noGrp="1"/>
          </p:cNvSpPr>
          <p:nvPr>
            <p:ph idx="1"/>
          </p:nvPr>
        </p:nvSpPr>
        <p:spPr>
          <a:xfrm>
            <a:off x="850392" y="1487606"/>
            <a:ext cx="10503408" cy="4684594"/>
          </a:xfrm>
        </p:spPr>
        <p:txBody>
          <a:bodyPr/>
          <a:lstStyle/>
          <a:p>
            <a:r>
              <a:rPr lang="en-US" dirty="0"/>
              <a:t>Implementation details of the class are protected from the inadvertent user level errors.</a:t>
            </a:r>
          </a:p>
          <a:p>
            <a:r>
              <a:rPr lang="en-US" dirty="0"/>
              <a:t>A programmer does not need to write the low level code.</a:t>
            </a:r>
          </a:p>
          <a:p>
            <a:r>
              <a:rPr lang="en-US" dirty="0"/>
              <a:t>Data Abstraction avoids the code duplication, i.e., programmer does not have to undergo the same tasks every time to perform the similar operation.</a:t>
            </a:r>
          </a:p>
          <a:p>
            <a:r>
              <a:rPr lang="en-US" dirty="0"/>
              <a:t>The main aim of the data abstraction is to reuse the code and the proper partitioning of the code across the classes.</a:t>
            </a:r>
          </a:p>
          <a:p>
            <a:r>
              <a:rPr lang="en-US" dirty="0"/>
              <a:t>Internal implementation can be changed without affecting the user level code.</a:t>
            </a:r>
          </a:p>
          <a:p>
            <a:endParaRPr lang="en-US" dirty="0"/>
          </a:p>
        </p:txBody>
      </p:sp>
      <p:sp>
        <p:nvSpPr>
          <p:cNvPr id="4" name="Date Placeholder 3">
            <a:extLst>
              <a:ext uri="{FF2B5EF4-FFF2-40B4-BE49-F238E27FC236}">
                <a16:creationId xmlns:a16="http://schemas.microsoft.com/office/drawing/2014/main" id="{08FADAD8-9FAA-44D8-9C4C-66FEC4168503}"/>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876D4FD-59C4-4D58-A758-DE91C6E517D8}"/>
              </a:ext>
            </a:extLst>
          </p:cNvPr>
          <p:cNvSpPr>
            <a:spLocks noGrp="1"/>
          </p:cNvSpPr>
          <p:nvPr>
            <p:ph type="sldNum" sz="quarter" idx="12"/>
          </p:nvPr>
        </p:nvSpPr>
        <p:spPr/>
        <p:txBody>
          <a:bodyPr/>
          <a:lstStyle/>
          <a:p>
            <a:fld id="{D8DA9DAA-006C-4F4B-980E-E3DF019B24E2}" type="slidenum">
              <a:rPr lang="en-US" smtClean="0"/>
              <a:pPr/>
              <a:t>114</a:t>
            </a:fld>
            <a:endParaRPr lang="en-US" dirty="0"/>
          </a:p>
        </p:txBody>
      </p:sp>
    </p:spTree>
    <p:extLst>
      <p:ext uri="{BB962C8B-B14F-4D97-AF65-F5344CB8AC3E}">
        <p14:creationId xmlns:p14="http://schemas.microsoft.com/office/powerpoint/2010/main" val="17164457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6A33-0248-47FB-9DB0-B90D8403FCE8}"/>
              </a:ext>
            </a:extLst>
          </p:cNvPr>
          <p:cNvSpPr>
            <a:spLocks noGrp="1"/>
          </p:cNvSpPr>
          <p:nvPr>
            <p:ph type="title"/>
          </p:nvPr>
        </p:nvSpPr>
        <p:spPr>
          <a:xfrm>
            <a:off x="649986" y="319024"/>
            <a:ext cx="10892028" cy="2246376"/>
          </a:xfrm>
        </p:spPr>
        <p:txBody>
          <a:bodyPr>
            <a:normAutofit fontScale="90000"/>
          </a:bodyPr>
          <a:lstStyle/>
          <a:p>
            <a:r>
              <a:rPr lang="en-US" b="1" dirty="0"/>
              <a:t>Organizing C++ Classes Across Multiple Files: Best Practices for Header and Source Files</a:t>
            </a:r>
          </a:p>
        </p:txBody>
      </p:sp>
      <p:sp>
        <p:nvSpPr>
          <p:cNvPr id="4" name="Date Placeholder 3">
            <a:extLst>
              <a:ext uri="{FF2B5EF4-FFF2-40B4-BE49-F238E27FC236}">
                <a16:creationId xmlns:a16="http://schemas.microsoft.com/office/drawing/2014/main" id="{E6DBED4D-B5FC-4F9D-B14D-6EFA413C837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8C0AD4EC-0170-4019-842A-9C3367A3CD44}"/>
              </a:ext>
            </a:extLst>
          </p:cNvPr>
          <p:cNvSpPr>
            <a:spLocks noGrp="1"/>
          </p:cNvSpPr>
          <p:nvPr>
            <p:ph type="sldNum" sz="quarter" idx="12"/>
          </p:nvPr>
        </p:nvSpPr>
        <p:spPr/>
        <p:txBody>
          <a:bodyPr/>
          <a:lstStyle/>
          <a:p>
            <a:fld id="{D8DA9DAA-006C-4F4B-980E-E3DF019B24E2}" type="slidenum">
              <a:rPr lang="en-US" smtClean="0"/>
              <a:pPr/>
              <a:t>115</a:t>
            </a:fld>
            <a:endParaRPr lang="en-US" dirty="0"/>
          </a:p>
        </p:txBody>
      </p:sp>
      <p:sp>
        <p:nvSpPr>
          <p:cNvPr id="8" name="Content Placeholder 7">
            <a:extLst>
              <a:ext uri="{FF2B5EF4-FFF2-40B4-BE49-F238E27FC236}">
                <a16:creationId xmlns:a16="http://schemas.microsoft.com/office/drawing/2014/main" id="{0CECCE1D-29EF-4B45-9A78-4B42354EBA8B}"/>
              </a:ext>
            </a:extLst>
          </p:cNvPr>
          <p:cNvSpPr>
            <a:spLocks noGrp="1"/>
          </p:cNvSpPr>
          <p:nvPr>
            <p:ph idx="1"/>
          </p:nvPr>
        </p:nvSpPr>
        <p:spPr>
          <a:xfrm>
            <a:off x="850392" y="2825496"/>
            <a:ext cx="10691622" cy="3346704"/>
          </a:xfrm>
        </p:spPr>
        <p:txBody>
          <a:bodyPr/>
          <a:lstStyle/>
          <a:p>
            <a:r>
              <a:rPr lang="en-US" dirty="0"/>
              <a:t>In C++, it's common practice to split classes into multiple files to improve code organization, readability, and maintainability. Typically, a class is divided into a header file (with a .h or .</a:t>
            </a:r>
            <a:r>
              <a:rPr lang="en-US" dirty="0" err="1"/>
              <a:t>hpp</a:t>
            </a:r>
            <a:r>
              <a:rPr lang="en-US" dirty="0"/>
              <a:t> extension) and a source file (with a .</a:t>
            </a:r>
            <a:r>
              <a:rPr lang="en-US" dirty="0" err="1"/>
              <a:t>cpp</a:t>
            </a:r>
            <a:r>
              <a:rPr lang="en-US" dirty="0"/>
              <a:t> extension).</a:t>
            </a:r>
          </a:p>
          <a:p>
            <a:endParaRPr lang="en-US" dirty="0"/>
          </a:p>
        </p:txBody>
      </p:sp>
    </p:spTree>
    <p:extLst>
      <p:ext uri="{BB962C8B-B14F-4D97-AF65-F5344CB8AC3E}">
        <p14:creationId xmlns:p14="http://schemas.microsoft.com/office/powerpoint/2010/main" val="144434029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DAC6-3DC3-4B93-A430-3695CE89B367}"/>
              </a:ext>
            </a:extLst>
          </p:cNvPr>
          <p:cNvSpPr>
            <a:spLocks noGrp="1"/>
          </p:cNvSpPr>
          <p:nvPr>
            <p:ph type="title"/>
          </p:nvPr>
        </p:nvSpPr>
        <p:spPr>
          <a:xfrm>
            <a:off x="431800" y="307975"/>
            <a:ext cx="11328400" cy="520700"/>
          </a:xfrm>
        </p:spPr>
        <p:txBody>
          <a:bodyPr>
            <a:normAutofit fontScale="90000"/>
          </a:bodyPr>
          <a:lstStyle/>
          <a:p>
            <a:r>
              <a:rPr lang="en-US" sz="4000" b="1" dirty="0"/>
              <a:t>Steps to define and use C++ classes in different files</a:t>
            </a:r>
          </a:p>
        </p:txBody>
      </p:sp>
      <p:sp>
        <p:nvSpPr>
          <p:cNvPr id="3" name="Content Placeholder 2">
            <a:extLst>
              <a:ext uri="{FF2B5EF4-FFF2-40B4-BE49-F238E27FC236}">
                <a16:creationId xmlns:a16="http://schemas.microsoft.com/office/drawing/2014/main" id="{74C14EBB-3017-48B7-9F65-CC25B8329187}"/>
              </a:ext>
            </a:extLst>
          </p:cNvPr>
          <p:cNvSpPr>
            <a:spLocks noGrp="1"/>
          </p:cNvSpPr>
          <p:nvPr>
            <p:ph idx="1"/>
          </p:nvPr>
        </p:nvSpPr>
        <p:spPr>
          <a:xfrm>
            <a:off x="444500" y="685800"/>
            <a:ext cx="10909300" cy="5486399"/>
          </a:xfrm>
        </p:spPr>
        <p:txBody>
          <a:bodyPr/>
          <a:lstStyle/>
          <a:p>
            <a:pPr marL="457200" indent="-457200">
              <a:buAutoNum type="arabicPeriod"/>
            </a:pPr>
            <a:r>
              <a:rPr lang="en-US" sz="3200" b="1" dirty="0"/>
              <a:t>Header File (</a:t>
            </a:r>
            <a:r>
              <a:rPr lang="en-US" sz="3200" b="1" dirty="0" err="1"/>
              <a:t>ClassName.h</a:t>
            </a:r>
            <a:r>
              <a:rPr lang="en-US" sz="3200" b="1" dirty="0"/>
              <a:t>)</a:t>
            </a:r>
          </a:p>
          <a:p>
            <a:r>
              <a:rPr lang="en-US" dirty="0"/>
              <a:t>The header file contains the class declaration, which includes the class definition, member variables, and member function prototypes (but no actual implementation of the functions).</a:t>
            </a:r>
          </a:p>
          <a:p>
            <a:r>
              <a:rPr lang="en-US" b="1" dirty="0" err="1"/>
              <a:t>MyClass.h</a:t>
            </a:r>
            <a:endParaRPr lang="en-US" b="1" dirty="0"/>
          </a:p>
        </p:txBody>
      </p:sp>
      <p:sp>
        <p:nvSpPr>
          <p:cNvPr id="4" name="Date Placeholder 3">
            <a:extLst>
              <a:ext uri="{FF2B5EF4-FFF2-40B4-BE49-F238E27FC236}">
                <a16:creationId xmlns:a16="http://schemas.microsoft.com/office/drawing/2014/main" id="{3651A1E8-5115-4C7F-A388-8163FE59E41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30F4CD30-BD79-4992-9197-5A592659EBA7}"/>
              </a:ext>
            </a:extLst>
          </p:cNvPr>
          <p:cNvSpPr>
            <a:spLocks noGrp="1"/>
          </p:cNvSpPr>
          <p:nvPr>
            <p:ph type="sldNum" sz="quarter" idx="12"/>
          </p:nvPr>
        </p:nvSpPr>
        <p:spPr/>
        <p:txBody>
          <a:bodyPr/>
          <a:lstStyle/>
          <a:p>
            <a:fld id="{D8DA9DAA-006C-4F4B-980E-E3DF019B24E2}" type="slidenum">
              <a:rPr lang="en-US" smtClean="0"/>
              <a:pPr/>
              <a:t>116</a:t>
            </a:fld>
            <a:endParaRPr lang="en-US" dirty="0"/>
          </a:p>
        </p:txBody>
      </p:sp>
      <p:sp>
        <p:nvSpPr>
          <p:cNvPr id="7" name="Rectangle 6">
            <a:extLst>
              <a:ext uri="{FF2B5EF4-FFF2-40B4-BE49-F238E27FC236}">
                <a16:creationId xmlns:a16="http://schemas.microsoft.com/office/drawing/2014/main" id="{945608E7-B6D5-44A9-AA3D-C8BFFF5AC0EA}"/>
              </a:ext>
            </a:extLst>
          </p:cNvPr>
          <p:cNvSpPr/>
          <p:nvPr/>
        </p:nvSpPr>
        <p:spPr>
          <a:xfrm>
            <a:off x="1447800" y="2478881"/>
            <a:ext cx="5588000" cy="3693319"/>
          </a:xfrm>
          <a:prstGeom prst="rect">
            <a:avLst/>
          </a:prstGeom>
        </p:spPr>
        <p:txBody>
          <a:bodyPr wrap="square">
            <a:spAutoFit/>
          </a:bodyPr>
          <a:lstStyle/>
          <a:p>
            <a:r>
              <a:rPr lang="en-US" dirty="0"/>
              <a:t>#</a:t>
            </a:r>
            <a:r>
              <a:rPr lang="en-US" dirty="0" err="1"/>
              <a:t>ifndef</a:t>
            </a:r>
            <a:r>
              <a:rPr lang="en-US" dirty="0"/>
              <a:t> MYCLASS_H</a:t>
            </a:r>
          </a:p>
          <a:p>
            <a:r>
              <a:rPr lang="en-US" dirty="0"/>
              <a:t>#define MYCLASS_H</a:t>
            </a:r>
          </a:p>
          <a:p>
            <a:endParaRPr lang="en-US" dirty="0"/>
          </a:p>
          <a:p>
            <a:r>
              <a:rPr lang="en-US" dirty="0"/>
              <a:t>class </a:t>
            </a:r>
            <a:r>
              <a:rPr lang="en-US" dirty="0" err="1"/>
              <a:t>MyClass</a:t>
            </a:r>
            <a:r>
              <a:rPr lang="en-US" dirty="0"/>
              <a:t> {</a:t>
            </a:r>
          </a:p>
          <a:p>
            <a:r>
              <a:rPr lang="en-US" dirty="0"/>
              <a:t>public:</a:t>
            </a:r>
          </a:p>
          <a:p>
            <a:r>
              <a:rPr lang="en-US" dirty="0"/>
              <a:t>    </a:t>
            </a:r>
            <a:r>
              <a:rPr lang="en-US" dirty="0" err="1"/>
              <a:t>MyClass</a:t>
            </a:r>
            <a:r>
              <a:rPr lang="en-US" dirty="0"/>
              <a:t>();           // Constructor</a:t>
            </a:r>
          </a:p>
          <a:p>
            <a:r>
              <a:rPr lang="en-US" dirty="0"/>
              <a:t>    void display();      // Member function</a:t>
            </a:r>
          </a:p>
          <a:p>
            <a:endParaRPr lang="en-US" dirty="0"/>
          </a:p>
          <a:p>
            <a:r>
              <a:rPr lang="en-US" dirty="0"/>
              <a:t>private:</a:t>
            </a:r>
          </a:p>
          <a:p>
            <a:r>
              <a:rPr lang="en-US" dirty="0"/>
              <a:t>    int value;           // Private member variable</a:t>
            </a:r>
          </a:p>
          <a:p>
            <a:r>
              <a:rPr lang="en-US" dirty="0"/>
              <a:t>};</a:t>
            </a:r>
          </a:p>
          <a:p>
            <a:endParaRPr lang="en-US" dirty="0"/>
          </a:p>
          <a:p>
            <a:r>
              <a:rPr lang="en-US" dirty="0"/>
              <a:t>#endif</a:t>
            </a:r>
          </a:p>
        </p:txBody>
      </p:sp>
      <p:sp>
        <p:nvSpPr>
          <p:cNvPr id="8" name="Rectangle 7">
            <a:extLst>
              <a:ext uri="{FF2B5EF4-FFF2-40B4-BE49-F238E27FC236}">
                <a16:creationId xmlns:a16="http://schemas.microsoft.com/office/drawing/2014/main" id="{9D120638-9B5C-4537-9F1C-534EDE256913}"/>
              </a:ext>
            </a:extLst>
          </p:cNvPr>
          <p:cNvSpPr/>
          <p:nvPr/>
        </p:nvSpPr>
        <p:spPr>
          <a:xfrm>
            <a:off x="6324600" y="3336836"/>
            <a:ext cx="5232400" cy="2308324"/>
          </a:xfrm>
          <a:prstGeom prst="rect">
            <a:avLst/>
          </a:prstGeom>
        </p:spPr>
        <p:txBody>
          <a:bodyPr wrap="square">
            <a:spAutoFit/>
          </a:bodyPr>
          <a:lstStyle/>
          <a:p>
            <a:r>
              <a:rPr lang="en-US" sz="2400" dirty="0"/>
              <a:t>Include Guards (#</a:t>
            </a:r>
            <a:r>
              <a:rPr lang="en-US" sz="2400" dirty="0" err="1"/>
              <a:t>ifndef</a:t>
            </a:r>
            <a:r>
              <a:rPr lang="en-US" sz="2400" dirty="0"/>
              <a:t>, #define, #endif) are used to prevent multiple inclusions of the same header </a:t>
            </a:r>
            <a:r>
              <a:rPr lang="en-US" sz="2400" dirty="0" err="1"/>
              <a:t>file.The</a:t>
            </a:r>
            <a:r>
              <a:rPr lang="en-US" sz="2400" dirty="0"/>
              <a:t> class declaration in the header file defines what the class will look like without providing the actual logic.</a:t>
            </a:r>
          </a:p>
        </p:txBody>
      </p:sp>
    </p:spTree>
    <p:extLst>
      <p:ext uri="{BB962C8B-B14F-4D97-AF65-F5344CB8AC3E}">
        <p14:creationId xmlns:p14="http://schemas.microsoft.com/office/powerpoint/2010/main" val="32699871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5034E4-7C85-428E-92D3-8737D8CD1CF7}"/>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03203F4D-1111-4298-9F80-AC132EC3E482}"/>
              </a:ext>
            </a:extLst>
          </p:cNvPr>
          <p:cNvSpPr>
            <a:spLocks noGrp="1"/>
          </p:cNvSpPr>
          <p:nvPr>
            <p:ph type="sldNum" sz="quarter" idx="12"/>
          </p:nvPr>
        </p:nvSpPr>
        <p:spPr/>
        <p:txBody>
          <a:bodyPr/>
          <a:lstStyle/>
          <a:p>
            <a:fld id="{D8DA9DAA-006C-4F4B-980E-E3DF019B24E2}" type="slidenum">
              <a:rPr lang="en-US" smtClean="0"/>
              <a:pPr/>
              <a:t>117</a:t>
            </a:fld>
            <a:endParaRPr lang="en-US" dirty="0"/>
          </a:p>
        </p:txBody>
      </p:sp>
      <p:sp>
        <p:nvSpPr>
          <p:cNvPr id="7" name="Rectangle 6">
            <a:extLst>
              <a:ext uri="{FF2B5EF4-FFF2-40B4-BE49-F238E27FC236}">
                <a16:creationId xmlns:a16="http://schemas.microsoft.com/office/drawing/2014/main" id="{5AEC3CDC-0651-492F-BB19-FFA615F0D118}"/>
              </a:ext>
            </a:extLst>
          </p:cNvPr>
          <p:cNvSpPr/>
          <p:nvPr/>
        </p:nvSpPr>
        <p:spPr>
          <a:xfrm>
            <a:off x="271669" y="549462"/>
            <a:ext cx="11648661" cy="3785652"/>
          </a:xfrm>
          <a:prstGeom prst="rect">
            <a:avLst/>
          </a:prstGeom>
        </p:spPr>
        <p:txBody>
          <a:bodyPr wrap="square">
            <a:spAutoFit/>
          </a:bodyPr>
          <a:lstStyle/>
          <a:p>
            <a:r>
              <a:rPr lang="en-US" sz="4000" dirty="0"/>
              <a:t>Include Guards (#</a:t>
            </a:r>
            <a:r>
              <a:rPr lang="en-US" sz="4000" dirty="0" err="1"/>
              <a:t>ifndef</a:t>
            </a:r>
            <a:r>
              <a:rPr lang="en-US" sz="4000" dirty="0"/>
              <a:t>, #define, #endif) are used to prevent multiple inclusions of the same header file.</a:t>
            </a:r>
          </a:p>
          <a:p>
            <a:endParaRPr lang="en-US" sz="4000" dirty="0"/>
          </a:p>
          <a:p>
            <a:r>
              <a:rPr lang="en-US" sz="4000" dirty="0"/>
              <a:t>The class declaration in the header file defines what the class will look like without providing the actual logic.</a:t>
            </a:r>
          </a:p>
        </p:txBody>
      </p:sp>
    </p:spTree>
    <p:extLst>
      <p:ext uri="{BB962C8B-B14F-4D97-AF65-F5344CB8AC3E}">
        <p14:creationId xmlns:p14="http://schemas.microsoft.com/office/powerpoint/2010/main" val="10630221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EF7C0-7C99-4EB3-86B8-89E4247EF6DE}"/>
              </a:ext>
            </a:extLst>
          </p:cNvPr>
          <p:cNvSpPr>
            <a:spLocks noGrp="1"/>
          </p:cNvSpPr>
          <p:nvPr>
            <p:ph idx="1"/>
          </p:nvPr>
        </p:nvSpPr>
        <p:spPr>
          <a:xfrm>
            <a:off x="477079" y="586167"/>
            <a:ext cx="10999304" cy="4367524"/>
          </a:xfrm>
        </p:spPr>
        <p:txBody>
          <a:bodyPr>
            <a:normAutofit/>
          </a:bodyPr>
          <a:lstStyle/>
          <a:p>
            <a:r>
              <a:rPr lang="en-US" sz="2800" dirty="0"/>
              <a:t>The source file contains the actual implementation of the class's member functions. You include the corresponding header file here so that the compiler knows the class structure.</a:t>
            </a:r>
          </a:p>
        </p:txBody>
      </p:sp>
      <p:sp>
        <p:nvSpPr>
          <p:cNvPr id="4" name="Date Placeholder 3">
            <a:extLst>
              <a:ext uri="{FF2B5EF4-FFF2-40B4-BE49-F238E27FC236}">
                <a16:creationId xmlns:a16="http://schemas.microsoft.com/office/drawing/2014/main" id="{3CC8BC18-69EE-4CA4-994E-2F317A9DE983}"/>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BB0B576F-0F65-413A-A7A2-97E37421D686}"/>
              </a:ext>
            </a:extLst>
          </p:cNvPr>
          <p:cNvSpPr>
            <a:spLocks noGrp="1"/>
          </p:cNvSpPr>
          <p:nvPr>
            <p:ph type="sldNum" sz="quarter" idx="12"/>
          </p:nvPr>
        </p:nvSpPr>
        <p:spPr/>
        <p:txBody>
          <a:bodyPr/>
          <a:lstStyle/>
          <a:p>
            <a:fld id="{D8DA9DAA-006C-4F4B-980E-E3DF019B24E2}" type="slidenum">
              <a:rPr lang="en-US" smtClean="0"/>
              <a:pPr/>
              <a:t>118</a:t>
            </a:fld>
            <a:endParaRPr lang="en-US" dirty="0"/>
          </a:p>
        </p:txBody>
      </p:sp>
      <p:sp>
        <p:nvSpPr>
          <p:cNvPr id="6" name="Rectangle 1">
            <a:extLst>
              <a:ext uri="{FF2B5EF4-FFF2-40B4-BE49-F238E27FC236}">
                <a16:creationId xmlns:a16="http://schemas.microsoft.com/office/drawing/2014/main" id="{782A036E-A6BD-4933-A115-6D443F5E5CE8}"/>
              </a:ext>
            </a:extLst>
          </p:cNvPr>
          <p:cNvSpPr>
            <a:spLocks noGrp="1" noChangeArrowheads="1"/>
          </p:cNvSpPr>
          <p:nvPr>
            <p:ph type="title"/>
          </p:nvPr>
        </p:nvSpPr>
        <p:spPr bwMode="auto">
          <a:xfrm>
            <a:off x="463296" y="1391"/>
            <a:ext cx="62362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altLang="en-US" sz="3200" b="1" dirty="0">
                <a:latin typeface="Arial" panose="020B0604020202020204" pitchFamily="34" charset="0"/>
              </a:rPr>
              <a:t>2. Source File (ClassName.cpp)</a:t>
            </a:r>
            <a:endParaRPr kumimoji="0" lang="en-US" altLang="en-US" sz="3200" b="1"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C45FFF4D-388A-45F4-8CD1-59DE3F295BB9}"/>
              </a:ext>
            </a:extLst>
          </p:cNvPr>
          <p:cNvSpPr/>
          <p:nvPr/>
        </p:nvSpPr>
        <p:spPr>
          <a:xfrm>
            <a:off x="715617" y="2233233"/>
            <a:ext cx="10864531" cy="2862322"/>
          </a:xfrm>
          <a:prstGeom prst="rect">
            <a:avLst/>
          </a:prstGeom>
        </p:spPr>
        <p:txBody>
          <a:bodyPr wrap="square">
            <a:spAutoFit/>
          </a:bodyPr>
          <a:lstStyle/>
          <a:p>
            <a:r>
              <a:rPr lang="en-US" dirty="0"/>
              <a:t>#include "</a:t>
            </a:r>
            <a:r>
              <a:rPr lang="en-US" dirty="0" err="1"/>
              <a:t>MyClass.h</a:t>
            </a:r>
            <a:r>
              <a:rPr lang="en-US" dirty="0"/>
              <a:t>"</a:t>
            </a:r>
          </a:p>
          <a:p>
            <a:r>
              <a:rPr lang="en-US" dirty="0"/>
              <a:t>#include &lt;iostream&gt;</a:t>
            </a:r>
          </a:p>
          <a:p>
            <a:endParaRPr lang="en-US" dirty="0"/>
          </a:p>
          <a:p>
            <a:r>
              <a:rPr lang="en-US" dirty="0" err="1"/>
              <a:t>MyClass</a:t>
            </a:r>
            <a:r>
              <a:rPr lang="en-US" dirty="0"/>
              <a:t>::</a:t>
            </a:r>
            <a:r>
              <a:rPr lang="en-US" dirty="0" err="1"/>
              <a:t>MyClass</a:t>
            </a:r>
            <a:r>
              <a:rPr lang="en-US" dirty="0"/>
              <a:t>() : value(0) {</a:t>
            </a:r>
          </a:p>
          <a:p>
            <a:r>
              <a:rPr lang="en-US" dirty="0"/>
              <a:t>    // Constructor implementation</a:t>
            </a:r>
          </a:p>
          <a:p>
            <a:r>
              <a:rPr lang="en-US" dirty="0"/>
              <a:t>}</a:t>
            </a:r>
          </a:p>
          <a:p>
            <a:endParaRPr lang="en-US" dirty="0"/>
          </a:p>
          <a:p>
            <a:r>
              <a:rPr lang="en-US" dirty="0"/>
              <a:t>void </a:t>
            </a:r>
            <a:r>
              <a:rPr lang="en-US" dirty="0" err="1"/>
              <a:t>MyClass</a:t>
            </a:r>
            <a:r>
              <a:rPr lang="en-US" dirty="0"/>
              <a:t>::display() {</a:t>
            </a:r>
          </a:p>
          <a:p>
            <a:r>
              <a:rPr lang="en-US" dirty="0"/>
              <a:t>    std::</a:t>
            </a:r>
            <a:r>
              <a:rPr lang="en-US" dirty="0" err="1"/>
              <a:t>cout</a:t>
            </a:r>
            <a:r>
              <a:rPr lang="en-US" dirty="0"/>
              <a:t> &lt;&lt; "Value: " &lt;&lt; value &lt;&lt; std::</a:t>
            </a:r>
            <a:r>
              <a:rPr lang="en-US" dirty="0" err="1"/>
              <a:t>endl</a:t>
            </a:r>
            <a:r>
              <a:rPr lang="en-US" dirty="0"/>
              <a:t>;</a:t>
            </a:r>
          </a:p>
          <a:p>
            <a:r>
              <a:rPr lang="en-US" dirty="0"/>
              <a:t>}</a:t>
            </a:r>
          </a:p>
        </p:txBody>
      </p:sp>
      <p:sp>
        <p:nvSpPr>
          <p:cNvPr id="8" name="Rectangle 7">
            <a:extLst>
              <a:ext uri="{FF2B5EF4-FFF2-40B4-BE49-F238E27FC236}">
                <a16:creationId xmlns:a16="http://schemas.microsoft.com/office/drawing/2014/main" id="{68C622CC-4D4C-494A-83E1-CEE90C03541A}"/>
              </a:ext>
            </a:extLst>
          </p:cNvPr>
          <p:cNvSpPr/>
          <p:nvPr/>
        </p:nvSpPr>
        <p:spPr>
          <a:xfrm>
            <a:off x="611850" y="5237418"/>
            <a:ext cx="10741949" cy="1384995"/>
          </a:xfrm>
          <a:prstGeom prst="rect">
            <a:avLst/>
          </a:prstGeom>
        </p:spPr>
        <p:txBody>
          <a:bodyPr wrap="square">
            <a:spAutoFit/>
          </a:bodyPr>
          <a:lstStyle/>
          <a:p>
            <a:r>
              <a:rPr lang="en-US" sz="2800" dirty="0"/>
              <a:t>Include the header file (#include "</a:t>
            </a:r>
            <a:r>
              <a:rPr lang="en-US" sz="2800" dirty="0" err="1"/>
              <a:t>MyClass.h</a:t>
            </a:r>
            <a:r>
              <a:rPr lang="en-US" sz="2800" dirty="0"/>
              <a:t>") to inform the compiler about the class </a:t>
            </a:r>
            <a:r>
              <a:rPr lang="en-US" sz="2800" dirty="0" err="1"/>
              <a:t>declaration.Each</a:t>
            </a:r>
            <a:r>
              <a:rPr lang="en-US" sz="2800" dirty="0"/>
              <a:t> function is prefixed with </a:t>
            </a:r>
            <a:r>
              <a:rPr lang="en-US" sz="2800" dirty="0" err="1"/>
              <a:t>ClassName</a:t>
            </a:r>
            <a:r>
              <a:rPr lang="en-US" sz="2800" dirty="0"/>
              <a:t>:: to indicate that the function belongs to the </a:t>
            </a:r>
            <a:r>
              <a:rPr lang="en-US" sz="2800" dirty="0" err="1"/>
              <a:t>MyClass</a:t>
            </a:r>
            <a:r>
              <a:rPr lang="en-US" sz="2800" dirty="0"/>
              <a:t> class.</a:t>
            </a:r>
          </a:p>
        </p:txBody>
      </p:sp>
    </p:spTree>
    <p:extLst>
      <p:ext uri="{BB962C8B-B14F-4D97-AF65-F5344CB8AC3E}">
        <p14:creationId xmlns:p14="http://schemas.microsoft.com/office/powerpoint/2010/main" val="12832468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B328E-03AC-4352-B1DC-09F70C777874}"/>
              </a:ext>
            </a:extLst>
          </p:cNvPr>
          <p:cNvSpPr>
            <a:spLocks noGrp="1"/>
          </p:cNvSpPr>
          <p:nvPr>
            <p:ph type="title"/>
          </p:nvPr>
        </p:nvSpPr>
        <p:spPr>
          <a:xfrm>
            <a:off x="360172" y="210312"/>
            <a:ext cx="10726928" cy="950976"/>
          </a:xfrm>
        </p:spPr>
        <p:txBody>
          <a:bodyPr/>
          <a:lstStyle/>
          <a:p>
            <a:r>
              <a:rPr lang="en-US" b="1" dirty="0"/>
              <a:t>3. Main Program File (main.cpp)</a:t>
            </a:r>
          </a:p>
        </p:txBody>
      </p:sp>
      <p:sp>
        <p:nvSpPr>
          <p:cNvPr id="3" name="Content Placeholder 2">
            <a:extLst>
              <a:ext uri="{FF2B5EF4-FFF2-40B4-BE49-F238E27FC236}">
                <a16:creationId xmlns:a16="http://schemas.microsoft.com/office/drawing/2014/main" id="{719B37E3-6F55-4D2A-8315-054DFBE6F8F6}"/>
              </a:ext>
            </a:extLst>
          </p:cNvPr>
          <p:cNvSpPr>
            <a:spLocks noGrp="1"/>
          </p:cNvSpPr>
          <p:nvPr>
            <p:ph idx="1"/>
          </p:nvPr>
        </p:nvSpPr>
        <p:spPr>
          <a:xfrm>
            <a:off x="710692" y="1428496"/>
            <a:ext cx="6190488" cy="3346704"/>
          </a:xfrm>
        </p:spPr>
        <p:txBody>
          <a:bodyPr/>
          <a:lstStyle/>
          <a:p>
            <a:r>
              <a:rPr lang="en-US" dirty="0"/>
              <a:t>#include "</a:t>
            </a:r>
            <a:r>
              <a:rPr lang="en-US" dirty="0" err="1"/>
              <a:t>MyClass.h</a:t>
            </a:r>
            <a:r>
              <a:rPr lang="en-US" dirty="0"/>
              <a:t>"</a:t>
            </a:r>
          </a:p>
          <a:p>
            <a:endParaRPr lang="en-US" dirty="0"/>
          </a:p>
          <a:p>
            <a:r>
              <a:rPr lang="en-US" dirty="0"/>
              <a:t>int main() {</a:t>
            </a:r>
          </a:p>
          <a:p>
            <a:r>
              <a:rPr lang="en-US" dirty="0"/>
              <a:t>    </a:t>
            </a:r>
            <a:r>
              <a:rPr lang="en-US" dirty="0" err="1"/>
              <a:t>MyClass</a:t>
            </a:r>
            <a:r>
              <a:rPr lang="en-US" dirty="0"/>
              <a:t> obj;    // Create object of </a:t>
            </a:r>
            <a:r>
              <a:rPr lang="en-US" dirty="0" err="1"/>
              <a:t>MyClass</a:t>
            </a:r>
            <a:endParaRPr lang="en-US" dirty="0"/>
          </a:p>
          <a:p>
            <a:r>
              <a:rPr lang="en-US" dirty="0"/>
              <a:t>    </a:t>
            </a:r>
            <a:r>
              <a:rPr lang="en-US" dirty="0" err="1"/>
              <a:t>obj.display</a:t>
            </a:r>
            <a:r>
              <a:rPr lang="en-US" dirty="0"/>
              <a:t>();  // Call the display function</a:t>
            </a:r>
          </a:p>
          <a:p>
            <a:r>
              <a:rPr lang="en-US" dirty="0"/>
              <a:t>    return 0;</a:t>
            </a:r>
          </a:p>
          <a:p>
            <a:r>
              <a:rPr lang="en-US" dirty="0"/>
              <a:t>}</a:t>
            </a:r>
          </a:p>
          <a:p>
            <a:endParaRPr lang="en-US" dirty="0"/>
          </a:p>
        </p:txBody>
      </p:sp>
      <p:sp>
        <p:nvSpPr>
          <p:cNvPr id="4" name="Date Placeholder 3">
            <a:extLst>
              <a:ext uri="{FF2B5EF4-FFF2-40B4-BE49-F238E27FC236}">
                <a16:creationId xmlns:a16="http://schemas.microsoft.com/office/drawing/2014/main" id="{05077ECC-8AC5-4F54-82B7-74BFECF20D2B}"/>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1449C18A-D881-40EB-90CA-95CA4157DB62}"/>
              </a:ext>
            </a:extLst>
          </p:cNvPr>
          <p:cNvSpPr>
            <a:spLocks noGrp="1"/>
          </p:cNvSpPr>
          <p:nvPr>
            <p:ph type="sldNum" sz="quarter" idx="12"/>
          </p:nvPr>
        </p:nvSpPr>
        <p:spPr/>
        <p:txBody>
          <a:bodyPr/>
          <a:lstStyle/>
          <a:p>
            <a:fld id="{D8DA9DAA-006C-4F4B-980E-E3DF019B24E2}" type="slidenum">
              <a:rPr lang="en-US" smtClean="0"/>
              <a:pPr/>
              <a:t>119</a:t>
            </a:fld>
            <a:endParaRPr lang="en-US" dirty="0"/>
          </a:p>
        </p:txBody>
      </p:sp>
      <p:sp>
        <p:nvSpPr>
          <p:cNvPr id="7" name="Rectangle 6">
            <a:extLst>
              <a:ext uri="{FF2B5EF4-FFF2-40B4-BE49-F238E27FC236}">
                <a16:creationId xmlns:a16="http://schemas.microsoft.com/office/drawing/2014/main" id="{4B2571F8-4C96-4454-8F84-A8A943BE2561}"/>
              </a:ext>
            </a:extLst>
          </p:cNvPr>
          <p:cNvSpPr/>
          <p:nvPr/>
        </p:nvSpPr>
        <p:spPr>
          <a:xfrm>
            <a:off x="757936" y="5042408"/>
            <a:ext cx="10849864" cy="830997"/>
          </a:xfrm>
          <a:prstGeom prst="rect">
            <a:avLst/>
          </a:prstGeom>
        </p:spPr>
        <p:txBody>
          <a:bodyPr wrap="square">
            <a:spAutoFit/>
          </a:bodyPr>
          <a:lstStyle/>
          <a:p>
            <a:r>
              <a:rPr lang="en-US" sz="2400" dirty="0"/>
              <a:t>The main program only needs to include the header file, not the .</a:t>
            </a:r>
            <a:r>
              <a:rPr lang="en-US" sz="2400" dirty="0" err="1"/>
              <a:t>cpp</a:t>
            </a:r>
            <a:r>
              <a:rPr lang="en-US" sz="2400" dirty="0"/>
              <a:t> file, because the implementation details are taken care of during the linking process after compilation.</a:t>
            </a:r>
          </a:p>
        </p:txBody>
      </p:sp>
    </p:spTree>
    <p:extLst>
      <p:ext uri="{BB962C8B-B14F-4D97-AF65-F5344CB8AC3E}">
        <p14:creationId xmlns:p14="http://schemas.microsoft.com/office/powerpoint/2010/main" val="15274680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CFAFB-364C-4394-BF1B-4439D1D2A9AC}"/>
              </a:ext>
            </a:extLst>
          </p:cNvPr>
          <p:cNvSpPr>
            <a:spLocks noGrp="1"/>
          </p:cNvSpPr>
          <p:nvPr>
            <p:ph type="title"/>
          </p:nvPr>
        </p:nvSpPr>
        <p:spPr>
          <a:xfrm>
            <a:off x="703072" y="136525"/>
            <a:ext cx="11222228" cy="676022"/>
          </a:xfrm>
        </p:spPr>
        <p:txBody>
          <a:bodyPr>
            <a:normAutofit fontScale="90000"/>
          </a:bodyPr>
          <a:lstStyle/>
          <a:p>
            <a:r>
              <a:rPr lang="en-US" b="1" dirty="0"/>
              <a:t>Compilation</a:t>
            </a:r>
          </a:p>
        </p:txBody>
      </p:sp>
      <p:sp>
        <p:nvSpPr>
          <p:cNvPr id="3" name="Content Placeholder 2">
            <a:extLst>
              <a:ext uri="{FF2B5EF4-FFF2-40B4-BE49-F238E27FC236}">
                <a16:creationId xmlns:a16="http://schemas.microsoft.com/office/drawing/2014/main" id="{22EA8C29-F6E1-4F3E-9EAC-541452B7F68A}"/>
              </a:ext>
            </a:extLst>
          </p:cNvPr>
          <p:cNvSpPr>
            <a:spLocks noGrp="1"/>
          </p:cNvSpPr>
          <p:nvPr>
            <p:ph idx="1"/>
          </p:nvPr>
        </p:nvSpPr>
        <p:spPr>
          <a:xfrm>
            <a:off x="850392" y="812548"/>
            <a:ext cx="11074908" cy="1157242"/>
          </a:xfrm>
        </p:spPr>
        <p:txBody>
          <a:bodyPr/>
          <a:lstStyle/>
          <a:p>
            <a:r>
              <a:rPr lang="en-US" dirty="0"/>
              <a:t>If you're compiling these files manually, you can use a command like the following:</a:t>
            </a:r>
          </a:p>
          <a:p>
            <a:r>
              <a:rPr lang="pt-BR" dirty="0"/>
              <a:t>g++ main.cpp MyClass.cpp -o program</a:t>
            </a:r>
            <a:endParaRPr lang="en-US" dirty="0"/>
          </a:p>
        </p:txBody>
      </p:sp>
      <p:sp>
        <p:nvSpPr>
          <p:cNvPr id="4" name="Date Placeholder 3">
            <a:extLst>
              <a:ext uri="{FF2B5EF4-FFF2-40B4-BE49-F238E27FC236}">
                <a16:creationId xmlns:a16="http://schemas.microsoft.com/office/drawing/2014/main" id="{2F319BFC-F982-4AEB-B1B2-95D667AC46D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D885F709-568C-4BBB-9635-B4249F0FFA65}"/>
              </a:ext>
            </a:extLst>
          </p:cNvPr>
          <p:cNvSpPr>
            <a:spLocks noGrp="1"/>
          </p:cNvSpPr>
          <p:nvPr>
            <p:ph type="sldNum" sz="quarter" idx="12"/>
          </p:nvPr>
        </p:nvSpPr>
        <p:spPr/>
        <p:txBody>
          <a:bodyPr/>
          <a:lstStyle/>
          <a:p>
            <a:fld id="{D8DA9DAA-006C-4F4B-980E-E3DF019B24E2}" type="slidenum">
              <a:rPr lang="en-US" smtClean="0"/>
              <a:pPr/>
              <a:t>120</a:t>
            </a:fld>
            <a:endParaRPr lang="en-US" dirty="0"/>
          </a:p>
        </p:txBody>
      </p:sp>
      <p:sp>
        <p:nvSpPr>
          <p:cNvPr id="6" name="Rectangle 5">
            <a:extLst>
              <a:ext uri="{FF2B5EF4-FFF2-40B4-BE49-F238E27FC236}">
                <a16:creationId xmlns:a16="http://schemas.microsoft.com/office/drawing/2014/main" id="{3457B925-7B09-4029-908B-3C8FC9764B22}"/>
              </a:ext>
            </a:extLst>
          </p:cNvPr>
          <p:cNvSpPr/>
          <p:nvPr/>
        </p:nvSpPr>
        <p:spPr>
          <a:xfrm>
            <a:off x="758190" y="1865610"/>
            <a:ext cx="10675620" cy="646331"/>
          </a:xfrm>
          <a:prstGeom prst="rect">
            <a:avLst/>
          </a:prstGeom>
        </p:spPr>
        <p:txBody>
          <a:bodyPr wrap="square">
            <a:spAutoFit/>
          </a:bodyPr>
          <a:lstStyle/>
          <a:p>
            <a:r>
              <a:rPr lang="en-US" dirty="0"/>
              <a:t>This compiles both the main program and the class implementation and links them into a single executable named program.</a:t>
            </a:r>
          </a:p>
        </p:txBody>
      </p:sp>
      <p:sp>
        <p:nvSpPr>
          <p:cNvPr id="7" name="Rectangle 6">
            <a:extLst>
              <a:ext uri="{FF2B5EF4-FFF2-40B4-BE49-F238E27FC236}">
                <a16:creationId xmlns:a16="http://schemas.microsoft.com/office/drawing/2014/main" id="{54790FF3-6BBF-4B4C-8A73-10E9E3D84C0A}"/>
              </a:ext>
            </a:extLst>
          </p:cNvPr>
          <p:cNvSpPr/>
          <p:nvPr/>
        </p:nvSpPr>
        <p:spPr>
          <a:xfrm>
            <a:off x="758190" y="2828836"/>
            <a:ext cx="8385810" cy="1415772"/>
          </a:xfrm>
          <a:prstGeom prst="rect">
            <a:avLst/>
          </a:prstGeom>
        </p:spPr>
        <p:txBody>
          <a:bodyPr wrap="square">
            <a:spAutoFit/>
          </a:bodyPr>
          <a:lstStyle/>
          <a:p>
            <a:r>
              <a:rPr lang="en-US" sz="3200" b="1" dirty="0"/>
              <a:t>Summary of File Structure</a:t>
            </a:r>
          </a:p>
          <a:p>
            <a:r>
              <a:rPr lang="en-US" dirty="0" err="1"/>
              <a:t>MyClass.h</a:t>
            </a:r>
            <a:r>
              <a:rPr lang="en-US" dirty="0"/>
              <a:t>: Contains the class declaration (interface).</a:t>
            </a:r>
          </a:p>
          <a:p>
            <a:r>
              <a:rPr lang="en-US" dirty="0"/>
              <a:t>MyClass.cpp: Contains the implementation of the class methods.</a:t>
            </a:r>
          </a:p>
          <a:p>
            <a:r>
              <a:rPr lang="en-US" dirty="0"/>
              <a:t>main.cpp: The program that uses the class.</a:t>
            </a:r>
          </a:p>
        </p:txBody>
      </p:sp>
    </p:spTree>
    <p:extLst>
      <p:ext uri="{BB962C8B-B14F-4D97-AF65-F5344CB8AC3E}">
        <p14:creationId xmlns:p14="http://schemas.microsoft.com/office/powerpoint/2010/main" val="253315285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1D05A-1B36-404C-87A3-3924CD4B79B0}"/>
              </a:ext>
            </a:extLst>
          </p:cNvPr>
          <p:cNvSpPr>
            <a:spLocks noGrp="1"/>
          </p:cNvSpPr>
          <p:nvPr>
            <p:ph type="title"/>
          </p:nvPr>
        </p:nvSpPr>
        <p:spPr>
          <a:xfrm>
            <a:off x="599955" y="136525"/>
            <a:ext cx="10563913" cy="968944"/>
          </a:xfrm>
        </p:spPr>
        <p:txBody>
          <a:bodyPr/>
          <a:lstStyle/>
          <a:p>
            <a:r>
              <a:rPr lang="en-US" dirty="0"/>
              <a:t>Example 2</a:t>
            </a:r>
          </a:p>
        </p:txBody>
      </p:sp>
      <p:sp>
        <p:nvSpPr>
          <p:cNvPr id="3" name="Content Placeholder 2">
            <a:extLst>
              <a:ext uri="{FF2B5EF4-FFF2-40B4-BE49-F238E27FC236}">
                <a16:creationId xmlns:a16="http://schemas.microsoft.com/office/drawing/2014/main" id="{C7517995-C832-4538-A19C-1AB5643A2E1D}"/>
              </a:ext>
            </a:extLst>
          </p:cNvPr>
          <p:cNvSpPr>
            <a:spLocks noGrp="1"/>
          </p:cNvSpPr>
          <p:nvPr>
            <p:ph idx="1"/>
          </p:nvPr>
        </p:nvSpPr>
        <p:spPr>
          <a:xfrm>
            <a:off x="850392" y="1105469"/>
            <a:ext cx="10563912" cy="5250881"/>
          </a:xfrm>
        </p:spPr>
        <p:txBody>
          <a:bodyPr>
            <a:normAutofit/>
          </a:bodyPr>
          <a:lstStyle/>
          <a:p>
            <a:r>
              <a:rPr lang="en-US" dirty="0" err="1"/>
              <a:t>Adder.h</a:t>
            </a:r>
            <a:endParaRPr lang="en-US" dirty="0"/>
          </a:p>
          <a:p>
            <a:r>
              <a:rPr lang="en-US" dirty="0"/>
              <a:t>#</a:t>
            </a:r>
            <a:r>
              <a:rPr lang="en-US" dirty="0" err="1"/>
              <a:t>ifndef</a:t>
            </a:r>
            <a:r>
              <a:rPr lang="en-US" dirty="0"/>
              <a:t> ADDER_H</a:t>
            </a:r>
          </a:p>
          <a:p>
            <a:r>
              <a:rPr lang="en-US" dirty="0"/>
              <a:t>#define ADDER_H</a:t>
            </a:r>
          </a:p>
          <a:p>
            <a:endParaRPr lang="en-US" dirty="0"/>
          </a:p>
          <a:p>
            <a:r>
              <a:rPr lang="en-US" dirty="0"/>
              <a:t>class Adder {</a:t>
            </a:r>
          </a:p>
          <a:p>
            <a:r>
              <a:rPr lang="en-US" dirty="0"/>
              <a:t>public:</a:t>
            </a:r>
          </a:p>
          <a:p>
            <a:r>
              <a:rPr lang="en-US" dirty="0"/>
              <a:t>    Adder();                 // Default constructor</a:t>
            </a:r>
          </a:p>
          <a:p>
            <a:r>
              <a:rPr lang="en-US" dirty="0"/>
              <a:t>    int add(int a, int b);   // Member function to add two numbers</a:t>
            </a:r>
          </a:p>
          <a:p>
            <a:r>
              <a:rPr lang="en-US" dirty="0"/>
              <a:t>};</a:t>
            </a:r>
          </a:p>
          <a:p>
            <a:endParaRPr lang="en-US" dirty="0"/>
          </a:p>
          <a:p>
            <a:r>
              <a:rPr lang="en-US" dirty="0"/>
              <a:t>#endif</a:t>
            </a:r>
          </a:p>
          <a:p>
            <a:endParaRPr lang="en-US" dirty="0"/>
          </a:p>
        </p:txBody>
      </p:sp>
      <p:sp>
        <p:nvSpPr>
          <p:cNvPr id="4" name="Date Placeholder 3">
            <a:extLst>
              <a:ext uri="{FF2B5EF4-FFF2-40B4-BE49-F238E27FC236}">
                <a16:creationId xmlns:a16="http://schemas.microsoft.com/office/drawing/2014/main" id="{CBBA519C-108B-411B-8AF8-3F7B5CEB5FD2}"/>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A577451B-AB6F-4D77-9A05-8F6BC5AB8D6D}"/>
              </a:ext>
            </a:extLst>
          </p:cNvPr>
          <p:cNvSpPr>
            <a:spLocks noGrp="1"/>
          </p:cNvSpPr>
          <p:nvPr>
            <p:ph type="sldNum" sz="quarter" idx="12"/>
          </p:nvPr>
        </p:nvSpPr>
        <p:spPr/>
        <p:txBody>
          <a:bodyPr/>
          <a:lstStyle/>
          <a:p>
            <a:fld id="{D8DA9DAA-006C-4F4B-980E-E3DF019B24E2}" type="slidenum">
              <a:rPr lang="en-US" smtClean="0"/>
              <a:pPr/>
              <a:t>121</a:t>
            </a:fld>
            <a:endParaRPr lang="en-US" dirty="0"/>
          </a:p>
        </p:txBody>
      </p:sp>
    </p:spTree>
    <p:extLst>
      <p:ext uri="{BB962C8B-B14F-4D97-AF65-F5344CB8AC3E}">
        <p14:creationId xmlns:p14="http://schemas.microsoft.com/office/powerpoint/2010/main" val="129538573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A5E11-7600-45E5-8940-46A9D83970C7}"/>
              </a:ext>
            </a:extLst>
          </p:cNvPr>
          <p:cNvSpPr>
            <a:spLocks noGrp="1"/>
          </p:cNvSpPr>
          <p:nvPr>
            <p:ph type="title"/>
          </p:nvPr>
        </p:nvSpPr>
        <p:spPr>
          <a:xfrm>
            <a:off x="336031" y="324373"/>
            <a:ext cx="10867644" cy="722854"/>
          </a:xfrm>
        </p:spPr>
        <p:txBody>
          <a:bodyPr>
            <a:normAutofit fontScale="90000"/>
          </a:bodyPr>
          <a:lstStyle/>
          <a:p>
            <a:r>
              <a:rPr lang="en-US" dirty="0"/>
              <a:t>Adder.cpp</a:t>
            </a:r>
          </a:p>
        </p:txBody>
      </p:sp>
      <p:sp>
        <p:nvSpPr>
          <p:cNvPr id="3" name="Content Placeholder 2">
            <a:extLst>
              <a:ext uri="{FF2B5EF4-FFF2-40B4-BE49-F238E27FC236}">
                <a16:creationId xmlns:a16="http://schemas.microsoft.com/office/drawing/2014/main" id="{359D94D3-5D23-4F19-B808-B15B285B8F73}"/>
              </a:ext>
            </a:extLst>
          </p:cNvPr>
          <p:cNvSpPr>
            <a:spLocks noGrp="1"/>
          </p:cNvSpPr>
          <p:nvPr>
            <p:ph idx="1"/>
          </p:nvPr>
        </p:nvSpPr>
        <p:spPr>
          <a:xfrm>
            <a:off x="850392" y="1255594"/>
            <a:ext cx="10217942" cy="4916606"/>
          </a:xfrm>
        </p:spPr>
        <p:txBody>
          <a:bodyPr>
            <a:normAutofit/>
          </a:bodyPr>
          <a:lstStyle/>
          <a:p>
            <a:r>
              <a:rPr lang="en-US" dirty="0"/>
              <a:t>#include "</a:t>
            </a:r>
            <a:r>
              <a:rPr lang="en-US" dirty="0" err="1"/>
              <a:t>Adder.h</a:t>
            </a:r>
            <a:r>
              <a:rPr lang="en-US" dirty="0"/>
              <a:t>"</a:t>
            </a:r>
          </a:p>
          <a:p>
            <a:endParaRPr lang="en-US" dirty="0"/>
          </a:p>
          <a:p>
            <a:r>
              <a:rPr lang="en-US" dirty="0"/>
              <a:t>Adder::Adder() {</a:t>
            </a:r>
          </a:p>
          <a:p>
            <a:r>
              <a:rPr lang="en-US" dirty="0"/>
              <a:t>    // Constructor (can initialize things if needed)</a:t>
            </a:r>
          </a:p>
          <a:p>
            <a:r>
              <a:rPr lang="en-US" dirty="0"/>
              <a:t>}</a:t>
            </a:r>
          </a:p>
          <a:p>
            <a:endParaRPr lang="en-US" dirty="0"/>
          </a:p>
          <a:p>
            <a:r>
              <a:rPr lang="en-US" dirty="0"/>
              <a:t>int Adder::add(int a, int b) {</a:t>
            </a:r>
          </a:p>
          <a:p>
            <a:r>
              <a:rPr lang="en-US" dirty="0"/>
              <a:t>    return a + b;   // Perform addition and return result</a:t>
            </a:r>
          </a:p>
          <a:p>
            <a:r>
              <a:rPr lang="en-US" dirty="0"/>
              <a:t>}</a:t>
            </a:r>
          </a:p>
          <a:p>
            <a:endParaRPr lang="en-US" dirty="0"/>
          </a:p>
        </p:txBody>
      </p:sp>
      <p:sp>
        <p:nvSpPr>
          <p:cNvPr id="4" name="Date Placeholder 3">
            <a:extLst>
              <a:ext uri="{FF2B5EF4-FFF2-40B4-BE49-F238E27FC236}">
                <a16:creationId xmlns:a16="http://schemas.microsoft.com/office/drawing/2014/main" id="{72358810-AA77-4241-9F6C-E0EB224901CE}"/>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01D53A0-3822-462F-BC38-C67C39801221}"/>
              </a:ext>
            </a:extLst>
          </p:cNvPr>
          <p:cNvSpPr>
            <a:spLocks noGrp="1"/>
          </p:cNvSpPr>
          <p:nvPr>
            <p:ph type="sldNum" sz="quarter" idx="12"/>
          </p:nvPr>
        </p:nvSpPr>
        <p:spPr/>
        <p:txBody>
          <a:bodyPr/>
          <a:lstStyle/>
          <a:p>
            <a:fld id="{D8DA9DAA-006C-4F4B-980E-E3DF019B24E2}" type="slidenum">
              <a:rPr lang="en-US" smtClean="0"/>
              <a:pPr/>
              <a:t>122</a:t>
            </a:fld>
            <a:endParaRPr lang="en-US" dirty="0"/>
          </a:p>
        </p:txBody>
      </p:sp>
    </p:spTree>
    <p:extLst>
      <p:ext uri="{BB962C8B-B14F-4D97-AF65-F5344CB8AC3E}">
        <p14:creationId xmlns:p14="http://schemas.microsoft.com/office/powerpoint/2010/main" val="375440920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C8F2E-A9F1-44D5-9CC8-84B76C503E60}"/>
              </a:ext>
            </a:extLst>
          </p:cNvPr>
          <p:cNvSpPr>
            <a:spLocks noGrp="1"/>
          </p:cNvSpPr>
          <p:nvPr>
            <p:ph type="title"/>
          </p:nvPr>
        </p:nvSpPr>
        <p:spPr>
          <a:xfrm>
            <a:off x="850391" y="316082"/>
            <a:ext cx="10503407" cy="739436"/>
          </a:xfrm>
        </p:spPr>
        <p:txBody>
          <a:bodyPr>
            <a:normAutofit fontScale="90000"/>
          </a:bodyPr>
          <a:lstStyle/>
          <a:p>
            <a:r>
              <a:rPr lang="en-US" dirty="0"/>
              <a:t>Main2.cpp</a:t>
            </a:r>
          </a:p>
        </p:txBody>
      </p:sp>
      <p:sp>
        <p:nvSpPr>
          <p:cNvPr id="3" name="Content Placeholder 2">
            <a:extLst>
              <a:ext uri="{FF2B5EF4-FFF2-40B4-BE49-F238E27FC236}">
                <a16:creationId xmlns:a16="http://schemas.microsoft.com/office/drawing/2014/main" id="{D31EC57F-4CCE-49D2-8F94-93BF3868A90A}"/>
              </a:ext>
            </a:extLst>
          </p:cNvPr>
          <p:cNvSpPr>
            <a:spLocks noGrp="1"/>
          </p:cNvSpPr>
          <p:nvPr>
            <p:ph idx="1"/>
          </p:nvPr>
        </p:nvSpPr>
        <p:spPr>
          <a:xfrm>
            <a:off x="850392" y="1187355"/>
            <a:ext cx="10503408" cy="5168995"/>
          </a:xfrm>
        </p:spPr>
        <p:txBody>
          <a:bodyPr>
            <a:normAutofit fontScale="47500" lnSpcReduction="20000"/>
          </a:bodyPr>
          <a:lstStyle/>
          <a:p>
            <a:r>
              <a:rPr lang="en-US" dirty="0"/>
              <a:t>#include &lt;iostream&gt;</a:t>
            </a:r>
          </a:p>
          <a:p>
            <a:r>
              <a:rPr lang="en-US" dirty="0"/>
              <a:t>#include "</a:t>
            </a:r>
            <a:r>
              <a:rPr lang="en-US" dirty="0" err="1"/>
              <a:t>Adder.h</a:t>
            </a:r>
            <a:r>
              <a:rPr lang="en-US" dirty="0"/>
              <a:t>"</a:t>
            </a:r>
          </a:p>
          <a:p>
            <a:r>
              <a:rPr lang="en-US" dirty="0"/>
              <a:t>using namespace std;</a:t>
            </a:r>
          </a:p>
          <a:p>
            <a:endParaRPr lang="en-US" dirty="0"/>
          </a:p>
          <a:p>
            <a:r>
              <a:rPr lang="en-US" dirty="0"/>
              <a:t>int main() {</a:t>
            </a:r>
          </a:p>
          <a:p>
            <a:r>
              <a:rPr lang="en-US" dirty="0"/>
              <a:t>    Adder calc;             // Create an object of Adder</a:t>
            </a:r>
          </a:p>
          <a:p>
            <a:r>
              <a:rPr lang="en-US" dirty="0"/>
              <a:t>    int num1, num2;</a:t>
            </a:r>
          </a:p>
          <a:p>
            <a:endParaRPr lang="en-US" dirty="0"/>
          </a:p>
          <a:p>
            <a:r>
              <a:rPr lang="en-US" dirty="0"/>
              <a:t>    </a:t>
            </a:r>
            <a:r>
              <a:rPr lang="en-US" dirty="0" err="1"/>
              <a:t>cout</a:t>
            </a:r>
            <a:r>
              <a:rPr lang="en-US" dirty="0"/>
              <a:t> &lt;&lt; "Enter first number: ";</a:t>
            </a:r>
          </a:p>
          <a:p>
            <a:r>
              <a:rPr lang="en-US" dirty="0"/>
              <a:t>    </a:t>
            </a:r>
            <a:r>
              <a:rPr lang="en-US" dirty="0" err="1"/>
              <a:t>cin</a:t>
            </a:r>
            <a:r>
              <a:rPr lang="en-US" dirty="0"/>
              <a:t> &gt;&gt; num1;</a:t>
            </a:r>
          </a:p>
          <a:p>
            <a:endParaRPr lang="en-US" dirty="0"/>
          </a:p>
          <a:p>
            <a:r>
              <a:rPr lang="en-US" dirty="0"/>
              <a:t>    </a:t>
            </a:r>
            <a:r>
              <a:rPr lang="en-US" dirty="0" err="1"/>
              <a:t>cout</a:t>
            </a:r>
            <a:r>
              <a:rPr lang="en-US" dirty="0"/>
              <a:t> &lt;&lt; "Enter second number: ";</a:t>
            </a:r>
          </a:p>
          <a:p>
            <a:r>
              <a:rPr lang="en-US" dirty="0"/>
              <a:t>    </a:t>
            </a:r>
            <a:r>
              <a:rPr lang="en-US" dirty="0" err="1"/>
              <a:t>cin</a:t>
            </a:r>
            <a:r>
              <a:rPr lang="en-US" dirty="0"/>
              <a:t> &gt;&gt; num2;</a:t>
            </a:r>
          </a:p>
          <a:p>
            <a:endParaRPr lang="en-US" dirty="0"/>
          </a:p>
          <a:p>
            <a:r>
              <a:rPr lang="en-US" dirty="0"/>
              <a:t>    int result = </a:t>
            </a:r>
            <a:r>
              <a:rPr lang="en-US" dirty="0" err="1"/>
              <a:t>calc.add</a:t>
            </a:r>
            <a:r>
              <a:rPr lang="en-US" dirty="0"/>
              <a:t>(num1, num2);  // Call the add() function</a:t>
            </a:r>
          </a:p>
          <a:p>
            <a:endParaRPr lang="en-US" dirty="0"/>
          </a:p>
          <a:p>
            <a:r>
              <a:rPr lang="en-US" dirty="0"/>
              <a:t>    </a:t>
            </a:r>
            <a:r>
              <a:rPr lang="en-US" dirty="0" err="1"/>
              <a:t>cout</a:t>
            </a:r>
            <a:r>
              <a:rPr lang="en-US" dirty="0"/>
              <a:t> &lt;&lt; "The sum is: " &lt;&lt; result &lt;&lt; </a:t>
            </a:r>
            <a:r>
              <a:rPr lang="en-US" dirty="0" err="1"/>
              <a:t>endl</a:t>
            </a:r>
            <a:r>
              <a:rPr lang="en-US" dirty="0"/>
              <a:t>;</a:t>
            </a:r>
          </a:p>
          <a:p>
            <a:r>
              <a:rPr lang="en-US" dirty="0"/>
              <a:t>    return 0;</a:t>
            </a:r>
          </a:p>
          <a:p>
            <a:r>
              <a:rPr lang="en-US" dirty="0"/>
              <a:t>}</a:t>
            </a:r>
          </a:p>
          <a:p>
            <a:endParaRPr lang="en-US" dirty="0"/>
          </a:p>
        </p:txBody>
      </p:sp>
      <p:sp>
        <p:nvSpPr>
          <p:cNvPr id="4" name="Date Placeholder 3">
            <a:extLst>
              <a:ext uri="{FF2B5EF4-FFF2-40B4-BE49-F238E27FC236}">
                <a16:creationId xmlns:a16="http://schemas.microsoft.com/office/drawing/2014/main" id="{AE6EB5E2-D48E-49C1-868F-BEDFFC60DEF4}"/>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375DC33D-1968-4ACE-A5C8-9939B4DF14E7}"/>
              </a:ext>
            </a:extLst>
          </p:cNvPr>
          <p:cNvSpPr>
            <a:spLocks noGrp="1"/>
          </p:cNvSpPr>
          <p:nvPr>
            <p:ph type="sldNum" sz="quarter" idx="12"/>
          </p:nvPr>
        </p:nvSpPr>
        <p:spPr/>
        <p:txBody>
          <a:bodyPr/>
          <a:lstStyle/>
          <a:p>
            <a:fld id="{D8DA9DAA-006C-4F4B-980E-E3DF019B24E2}" type="slidenum">
              <a:rPr lang="en-US" smtClean="0"/>
              <a:pPr/>
              <a:t>123</a:t>
            </a:fld>
            <a:endParaRPr lang="en-US" dirty="0"/>
          </a:p>
        </p:txBody>
      </p:sp>
    </p:spTree>
    <p:extLst>
      <p:ext uri="{BB962C8B-B14F-4D97-AF65-F5344CB8AC3E}">
        <p14:creationId xmlns:p14="http://schemas.microsoft.com/office/powerpoint/2010/main" val="278560967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497F0-5957-4717-8DBF-E9CB0A2F5BB7}"/>
              </a:ext>
            </a:extLst>
          </p:cNvPr>
          <p:cNvSpPr>
            <a:spLocks noGrp="1"/>
          </p:cNvSpPr>
          <p:nvPr>
            <p:ph type="title"/>
          </p:nvPr>
        </p:nvSpPr>
        <p:spPr>
          <a:xfrm>
            <a:off x="654547" y="311442"/>
            <a:ext cx="10263662" cy="1179576"/>
          </a:xfrm>
        </p:spPr>
        <p:txBody>
          <a:bodyPr/>
          <a:lstStyle/>
          <a:p>
            <a:r>
              <a:rPr lang="en-US" dirty="0"/>
              <a:t>Compile and RUN</a:t>
            </a:r>
          </a:p>
        </p:txBody>
      </p:sp>
      <p:sp>
        <p:nvSpPr>
          <p:cNvPr id="3" name="Content Placeholder 2">
            <a:extLst>
              <a:ext uri="{FF2B5EF4-FFF2-40B4-BE49-F238E27FC236}">
                <a16:creationId xmlns:a16="http://schemas.microsoft.com/office/drawing/2014/main" id="{2EBF37C4-5CE3-4D01-AD31-5FD7BEB120E7}"/>
              </a:ext>
            </a:extLst>
          </p:cNvPr>
          <p:cNvSpPr>
            <a:spLocks noGrp="1"/>
          </p:cNvSpPr>
          <p:nvPr>
            <p:ph idx="1"/>
          </p:nvPr>
        </p:nvSpPr>
        <p:spPr>
          <a:xfrm>
            <a:off x="850391" y="2825496"/>
            <a:ext cx="10982217" cy="3346704"/>
          </a:xfrm>
        </p:spPr>
        <p:txBody>
          <a:bodyPr/>
          <a:lstStyle/>
          <a:p>
            <a:r>
              <a:rPr lang="pt-BR" dirty="0"/>
              <a:t>g++ main2.cpp Adder.cpp -o program2</a:t>
            </a:r>
          </a:p>
          <a:p>
            <a:endParaRPr lang="pt-BR" dirty="0"/>
          </a:p>
          <a:p>
            <a:r>
              <a:rPr lang="pt-BR" dirty="0"/>
              <a:t>./program2</a:t>
            </a:r>
          </a:p>
          <a:p>
            <a:endParaRPr lang="en-US" dirty="0"/>
          </a:p>
        </p:txBody>
      </p:sp>
      <p:sp>
        <p:nvSpPr>
          <p:cNvPr id="4" name="Date Placeholder 3">
            <a:extLst>
              <a:ext uri="{FF2B5EF4-FFF2-40B4-BE49-F238E27FC236}">
                <a16:creationId xmlns:a16="http://schemas.microsoft.com/office/drawing/2014/main" id="{3451CED5-5BAC-4CB6-8DF3-47FD35DEBCA5}"/>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46522598-47B6-428E-8B8A-48188A488538}"/>
              </a:ext>
            </a:extLst>
          </p:cNvPr>
          <p:cNvSpPr>
            <a:spLocks noGrp="1"/>
          </p:cNvSpPr>
          <p:nvPr>
            <p:ph type="sldNum" sz="quarter" idx="12"/>
          </p:nvPr>
        </p:nvSpPr>
        <p:spPr/>
        <p:txBody>
          <a:bodyPr/>
          <a:lstStyle/>
          <a:p>
            <a:fld id="{D8DA9DAA-006C-4F4B-980E-E3DF019B24E2}" type="slidenum">
              <a:rPr lang="en-US" smtClean="0"/>
              <a:pPr/>
              <a:t>124</a:t>
            </a:fld>
            <a:endParaRPr lang="en-US" dirty="0"/>
          </a:p>
        </p:txBody>
      </p:sp>
    </p:spTree>
    <p:extLst>
      <p:ext uri="{BB962C8B-B14F-4D97-AF65-F5344CB8AC3E}">
        <p14:creationId xmlns:p14="http://schemas.microsoft.com/office/powerpoint/2010/main" val="17110055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BB059-4CC4-4B99-BD7A-67074FF2F8B2}"/>
              </a:ext>
            </a:extLst>
          </p:cNvPr>
          <p:cNvSpPr>
            <a:spLocks noGrp="1"/>
          </p:cNvSpPr>
          <p:nvPr>
            <p:ph type="title"/>
          </p:nvPr>
        </p:nvSpPr>
        <p:spPr>
          <a:xfrm>
            <a:off x="588772" y="433324"/>
            <a:ext cx="9964928" cy="773176"/>
          </a:xfrm>
        </p:spPr>
        <p:txBody>
          <a:bodyPr>
            <a:normAutofit fontScale="90000"/>
          </a:bodyPr>
          <a:lstStyle/>
          <a:p>
            <a:r>
              <a:rPr lang="en-US" b="1" dirty="0"/>
              <a:t>Benefits of This Structure</a:t>
            </a:r>
          </a:p>
        </p:txBody>
      </p:sp>
      <p:sp>
        <p:nvSpPr>
          <p:cNvPr id="3" name="Content Placeholder 2">
            <a:extLst>
              <a:ext uri="{FF2B5EF4-FFF2-40B4-BE49-F238E27FC236}">
                <a16:creationId xmlns:a16="http://schemas.microsoft.com/office/drawing/2014/main" id="{C78CB66E-A274-412D-8A04-1FBE228FAB87}"/>
              </a:ext>
            </a:extLst>
          </p:cNvPr>
          <p:cNvSpPr>
            <a:spLocks noGrp="1"/>
          </p:cNvSpPr>
          <p:nvPr>
            <p:ph idx="1"/>
          </p:nvPr>
        </p:nvSpPr>
        <p:spPr>
          <a:xfrm>
            <a:off x="850392" y="1358900"/>
            <a:ext cx="10503408" cy="4813300"/>
          </a:xfrm>
        </p:spPr>
        <p:txBody>
          <a:bodyPr/>
          <a:lstStyle/>
          <a:p>
            <a:r>
              <a:rPr lang="en-US" b="1" dirty="0"/>
              <a:t>Separation of Concerns</a:t>
            </a:r>
            <a:r>
              <a:rPr lang="en-US" dirty="0"/>
              <a:t>: The header file describes the "what" (interface), while the source file describes the "how" (implementation).</a:t>
            </a:r>
          </a:p>
          <a:p>
            <a:r>
              <a:rPr lang="en-US" b="1" dirty="0"/>
              <a:t>Reusability: </a:t>
            </a:r>
            <a:r>
              <a:rPr lang="en-US" dirty="0"/>
              <a:t>Header files can be reused in multiple projects or modules without copying </a:t>
            </a:r>
            <a:r>
              <a:rPr lang="en-US" dirty="0" err="1"/>
              <a:t>code.Reduced</a:t>
            </a:r>
            <a:endParaRPr lang="en-US" dirty="0"/>
          </a:p>
          <a:p>
            <a:r>
              <a:rPr lang="en-US" b="1" dirty="0"/>
              <a:t>Compilation Time: </a:t>
            </a:r>
            <a:r>
              <a:rPr lang="en-US" dirty="0"/>
              <a:t>By splitting files, changes to the implementation file don’t require recompiling files that only use the header file.</a:t>
            </a:r>
          </a:p>
        </p:txBody>
      </p:sp>
      <p:sp>
        <p:nvSpPr>
          <p:cNvPr id="4" name="Date Placeholder 3">
            <a:extLst>
              <a:ext uri="{FF2B5EF4-FFF2-40B4-BE49-F238E27FC236}">
                <a16:creationId xmlns:a16="http://schemas.microsoft.com/office/drawing/2014/main" id="{0C482447-144D-4840-B0C9-61921235F0B0}"/>
              </a:ext>
            </a:extLst>
          </p:cNvPr>
          <p:cNvSpPr>
            <a:spLocks noGrp="1"/>
          </p:cNvSpPr>
          <p:nvPr>
            <p:ph type="dt" sz="half" idx="10"/>
          </p:nvPr>
        </p:nvSpPr>
        <p:spPr/>
        <p:txBody>
          <a:bodyPr/>
          <a:lstStyle/>
          <a:p>
            <a:fld id="{4D15D22D-5EF0-4907-B3D9-62E94BC904F5}" type="datetime1">
              <a:rPr lang="LID4096" smtClean="0"/>
              <a:t>09/25/2026</a:t>
            </a:fld>
            <a:endParaRPr lang="en-US" dirty="0"/>
          </a:p>
        </p:txBody>
      </p:sp>
      <p:sp>
        <p:nvSpPr>
          <p:cNvPr id="5" name="Slide Number Placeholder 4">
            <a:extLst>
              <a:ext uri="{FF2B5EF4-FFF2-40B4-BE49-F238E27FC236}">
                <a16:creationId xmlns:a16="http://schemas.microsoft.com/office/drawing/2014/main" id="{1B00EEF7-6D10-418E-8116-E7FEBA7104BA}"/>
              </a:ext>
            </a:extLst>
          </p:cNvPr>
          <p:cNvSpPr>
            <a:spLocks noGrp="1"/>
          </p:cNvSpPr>
          <p:nvPr>
            <p:ph type="sldNum" sz="quarter" idx="12"/>
          </p:nvPr>
        </p:nvSpPr>
        <p:spPr/>
        <p:txBody>
          <a:bodyPr/>
          <a:lstStyle/>
          <a:p>
            <a:fld id="{D8DA9DAA-006C-4F4B-980E-E3DF019B24E2}" type="slidenum">
              <a:rPr lang="en-US" smtClean="0"/>
              <a:pPr/>
              <a:t>125</a:t>
            </a:fld>
            <a:endParaRPr lang="en-US" dirty="0"/>
          </a:p>
        </p:txBody>
      </p:sp>
    </p:spTree>
    <p:extLst>
      <p:ext uri="{BB962C8B-B14F-4D97-AF65-F5344CB8AC3E}">
        <p14:creationId xmlns:p14="http://schemas.microsoft.com/office/powerpoint/2010/main" val="4033838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919F73-B6C2-4A43-95E2-833EC48925FE}">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BC329F5-30EE-4BF7-AA2A-B837B51416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8E00D1-8EA3-4E42-801D-0253E1EAFC2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11515</TotalTime>
  <Words>16871</Words>
  <Application>Microsoft Office PowerPoint</Application>
  <PresentationFormat>Widescreen</PresentationFormat>
  <Paragraphs>1640</Paragraphs>
  <Slides>125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125</vt:i4>
      </vt:variant>
    </vt:vector>
  </HeadingPairs>
  <TitlesOfParts>
    <vt:vector size="138" baseType="lpstr">
      <vt:lpstr>Arial</vt:lpstr>
      <vt:lpstr>Arial Unicode MS</vt:lpstr>
      <vt:lpstr>Calibri</vt:lpstr>
      <vt:lpstr>Calibri Light</vt:lpstr>
      <vt:lpstr>Consolas</vt:lpstr>
      <vt:lpstr>erdana</vt:lpstr>
      <vt:lpstr>Gill Sans MT</vt:lpstr>
      <vt:lpstr>Google Sans</vt:lpstr>
      <vt:lpstr>inter-bold</vt:lpstr>
      <vt:lpstr>inter-regular</vt:lpstr>
      <vt:lpstr>times new roman</vt:lpstr>
      <vt:lpstr>Verdana</vt:lpstr>
      <vt:lpstr>Office Theme</vt:lpstr>
      <vt:lpstr>CSC2161 C++ OOP</vt:lpstr>
      <vt:lpstr>What are functions of C++?</vt:lpstr>
      <vt:lpstr>Class</vt:lpstr>
      <vt:lpstr>Object</vt:lpstr>
      <vt:lpstr>Inheritance</vt:lpstr>
      <vt:lpstr>Polymorphism</vt:lpstr>
      <vt:lpstr>Abstraction</vt:lpstr>
      <vt:lpstr>Encapsulation</vt:lpstr>
      <vt:lpstr>PowerPoint Presentation</vt:lpstr>
      <vt:lpstr>Advantages of OOPs over Procedure-oriented programming language</vt:lpstr>
      <vt:lpstr>Overloading</vt:lpstr>
      <vt:lpstr>C++ Object and Class</vt:lpstr>
      <vt:lpstr>Creating C++ Classes and Objects</vt:lpstr>
      <vt:lpstr>Initialize and Display data through method</vt:lpstr>
      <vt:lpstr>C++ Constructor</vt:lpstr>
      <vt:lpstr>PowerPoint Presentation</vt:lpstr>
      <vt:lpstr>C++ Default Constructor</vt:lpstr>
      <vt:lpstr>C++ Parameterized Constructor</vt:lpstr>
      <vt:lpstr>PowerPoint Presentation</vt:lpstr>
      <vt:lpstr>What is a destructor in C++?</vt:lpstr>
      <vt:lpstr>C++ Constructor and Destructor Example</vt:lpstr>
      <vt:lpstr>C++ this Pointer</vt:lpstr>
      <vt:lpstr>PowerPoint Presentation</vt:lpstr>
      <vt:lpstr>Static</vt:lpstr>
      <vt:lpstr>Static Field</vt:lpstr>
      <vt:lpstr>PowerPoint Presentation</vt:lpstr>
      <vt:lpstr>Access Specifiers</vt:lpstr>
      <vt:lpstr>PowerPoint Presentation</vt:lpstr>
      <vt:lpstr>In the following example, we demonstrate the differences between public and private members: </vt:lpstr>
      <vt:lpstr>PowerPoint Presentation</vt:lpstr>
      <vt:lpstr>Struct</vt:lpstr>
      <vt:lpstr>PowerPoint Presentation</vt:lpstr>
      <vt:lpstr>PowerPoint Presentation</vt:lpstr>
      <vt:lpstr>How to access the variable of Structure:</vt:lpstr>
      <vt:lpstr>PowerPoint Presentation</vt:lpstr>
      <vt:lpstr>PowerPoint Presentation</vt:lpstr>
      <vt:lpstr>Inheritence</vt:lpstr>
      <vt:lpstr>Advantage of C++ Inheritance</vt:lpstr>
      <vt:lpstr>Types Of Inheritance</vt:lpstr>
      <vt:lpstr>Derived class</vt:lpstr>
      <vt:lpstr>PowerPoint Presentation</vt:lpstr>
      <vt:lpstr>C++ Single Inheritance</vt:lpstr>
      <vt:lpstr>C++ Single Level Inheritance Example: Inheriting Fields</vt:lpstr>
      <vt:lpstr>PowerPoint Presentation</vt:lpstr>
      <vt:lpstr>C++ Single Level Inheritance Example: Inheriting Methods</vt:lpstr>
      <vt:lpstr>How to make a Private Member Inheritable</vt:lpstr>
      <vt:lpstr>PowerPoint Presentation</vt:lpstr>
      <vt:lpstr>C++ Multilevel Inheritance</vt:lpstr>
      <vt:lpstr>C++ Multi Level Inheritance Example</vt:lpstr>
      <vt:lpstr>PowerPoint Presentation</vt:lpstr>
      <vt:lpstr>C++ Multiple Inheritance</vt:lpstr>
      <vt:lpstr>PowerPoint Presentation</vt:lpstr>
      <vt:lpstr>Ambiguity Resolution in Inheritance</vt:lpstr>
      <vt:lpstr>PowerPoint Presentation</vt:lpstr>
      <vt:lpstr>The above issue can be resolved by using the class resolution operator with the function. In the above example, the derived class code can be rewritten as:</vt:lpstr>
      <vt:lpstr>C++ Hybrid Inheritence</vt:lpstr>
      <vt:lpstr>Example</vt:lpstr>
      <vt:lpstr>PowerPoint Presentation</vt:lpstr>
      <vt:lpstr>C++ Hierarchical Inheritance</vt:lpstr>
      <vt:lpstr>PowerPoint Presentation</vt:lpstr>
      <vt:lpstr>PowerPoint Presentation</vt:lpstr>
      <vt:lpstr>C++ Polymorphism</vt:lpstr>
      <vt:lpstr>There are two types of polymorphism in C++:</vt:lpstr>
      <vt:lpstr>Compile time polymorphism:</vt:lpstr>
      <vt:lpstr>PowerPoint Presentation</vt:lpstr>
      <vt:lpstr>PowerPoint Presentation</vt:lpstr>
      <vt:lpstr>Run time polymorphism</vt:lpstr>
      <vt:lpstr>Differences b/w compile time and run time polymorphism.</vt:lpstr>
      <vt:lpstr>C++ Runtime Polymorphism Example</vt:lpstr>
      <vt:lpstr>C++ Run time Polymorphism Example: By using two derived class</vt:lpstr>
      <vt:lpstr>PowerPoint Presentation</vt:lpstr>
      <vt:lpstr>Runtime Polymorphism with Data Members</vt:lpstr>
      <vt:lpstr>Overloading</vt:lpstr>
      <vt:lpstr>Types of overloading in C++ are: </vt:lpstr>
      <vt:lpstr>C++ Function Overloading</vt:lpstr>
      <vt:lpstr>C++ Function Overloading Example</vt:lpstr>
      <vt:lpstr>PowerPoint Presentation</vt:lpstr>
      <vt:lpstr>Function Overloading and Ambiguity</vt:lpstr>
      <vt:lpstr>Type Conversion</vt:lpstr>
      <vt:lpstr>PowerPoint Presentation</vt:lpstr>
      <vt:lpstr>PowerPoint Presentation</vt:lpstr>
      <vt:lpstr>PowerPoint Presentation</vt:lpstr>
      <vt:lpstr>C++ Operators Overloading</vt:lpstr>
      <vt:lpstr>Operator that cannot be overloaded are as follows:</vt:lpstr>
      <vt:lpstr>PowerPoint Presentation</vt:lpstr>
      <vt:lpstr>PowerPoint Presentation</vt:lpstr>
      <vt:lpstr>PowerPoint Presentation</vt:lpstr>
      <vt:lpstr>PowerPoint Presentation</vt:lpstr>
      <vt:lpstr>Function Overriding</vt:lpstr>
      <vt:lpstr>PowerPoint Presentation</vt:lpstr>
      <vt:lpstr>C++ virtual function</vt:lpstr>
      <vt:lpstr>Late binding or Dynamic linkage</vt:lpstr>
      <vt:lpstr>PowerPoint Presentation</vt:lpstr>
      <vt:lpstr>PowerPoint Presentation</vt:lpstr>
      <vt:lpstr>PowerPoint Presentation</vt:lpstr>
      <vt:lpstr>C++ virtual function Example</vt:lpstr>
      <vt:lpstr>PowerPoint Presentation</vt:lpstr>
      <vt:lpstr>Pure Virtual Function</vt:lpstr>
      <vt:lpstr>PowerPoint Presentation</vt:lpstr>
      <vt:lpstr>PowerPoint Presentation</vt:lpstr>
      <vt:lpstr>Abstract Classes</vt:lpstr>
      <vt:lpstr>Interfaces in C++ (Abstract Classes)</vt:lpstr>
      <vt:lpstr>C++ Abstract class</vt:lpstr>
      <vt:lpstr>PowerPoint Presentation</vt:lpstr>
      <vt:lpstr>Data Abstraction in C++</vt:lpstr>
      <vt:lpstr>Data Abstraction can be achieved in two ways:</vt:lpstr>
      <vt:lpstr>PowerPoint Presentation</vt:lpstr>
      <vt:lpstr>Abstraction in header files:</vt:lpstr>
      <vt:lpstr>Access Specifiers Implement Abstraction:</vt:lpstr>
      <vt:lpstr>PowerPoint Presentation</vt:lpstr>
      <vt:lpstr>PowerPoint Presentation</vt:lpstr>
      <vt:lpstr>PowerPoint Presentation</vt:lpstr>
      <vt:lpstr>PowerPoint Presentation</vt:lpstr>
      <vt:lpstr>Advantages Of Abstraction:</vt:lpstr>
      <vt:lpstr>Organizing C++ Classes Across Multiple Files: Best Practices for Header and Source Files</vt:lpstr>
      <vt:lpstr>Steps to define and use C++ classes in different files</vt:lpstr>
      <vt:lpstr>PowerPoint Presentation</vt:lpstr>
      <vt:lpstr>2. Source File (ClassName.cpp)</vt:lpstr>
      <vt:lpstr>3. Main Program File (main.cpp)</vt:lpstr>
      <vt:lpstr>Compilation</vt:lpstr>
      <vt:lpstr>Example 2</vt:lpstr>
      <vt:lpstr>Adder.cpp</vt:lpstr>
      <vt:lpstr>Main2.cpp</vt:lpstr>
      <vt:lpstr>Compile and RUN</vt:lpstr>
      <vt:lpstr>Benefits of This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CSC2161 C++ Programming Functions</dc:title>
  <dc:creator>Theoneste    MURANGIRA</dc:creator>
  <cp:lastModifiedBy>Dieudonne</cp:lastModifiedBy>
  <cp:revision>94</cp:revision>
  <dcterms:created xsi:type="dcterms:W3CDTF">2023-06-17T21:22:37Z</dcterms:created>
  <dcterms:modified xsi:type="dcterms:W3CDTF">2026-09-25T07:09:45Z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