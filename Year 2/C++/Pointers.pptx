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2" r:id="rId6"/>
    <p:sldId id="263" r:id="rId7"/>
    <p:sldId id="264" r:id="rId8"/>
    <p:sldId id="265" r:id="rId9"/>
    <p:sldId id="266" r:id="rId10"/>
    <p:sldId id="269" r:id="rId11"/>
    <p:sldId id="270" r:id="rId12"/>
    <p:sldId id="271" r:id="rId13"/>
    <p:sldId id="272" r:id="rId14"/>
    <p:sldId id="273" r:id="rId15"/>
    <p:sldId id="278" r:id="rId16"/>
    <p:sldId id="279" r:id="rId17"/>
    <p:sldId id="277" r:id="rId18"/>
    <p:sldId id="280" r:id="rId19"/>
    <p:sldId id="281"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64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6613F-263D-4944-AA3E-85AABACEC0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7AA948-8D5D-407C-8E3D-BDFACDC344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75EE89-563B-4657-B6A2-0DB0967F510A}"/>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5" name="Footer Placeholder 4">
            <a:extLst>
              <a:ext uri="{FF2B5EF4-FFF2-40B4-BE49-F238E27FC236}">
                <a16:creationId xmlns:a16="http://schemas.microsoft.com/office/drawing/2014/main" id="{040EEC28-BC27-4A07-90B7-89AE48EB2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B2F67-64A2-43CB-9F80-CCE176D63447}"/>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190196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DE041-2889-4423-964C-30EE1F3780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80B4F-29CB-41C5-B407-B0044FE68FD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EDA8AC-E57E-45E6-8E86-7C69239A6664}"/>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5" name="Footer Placeholder 4">
            <a:extLst>
              <a:ext uri="{FF2B5EF4-FFF2-40B4-BE49-F238E27FC236}">
                <a16:creationId xmlns:a16="http://schemas.microsoft.com/office/drawing/2014/main" id="{3E8C43F8-F90A-43E9-80CF-1D9BAF5845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1AB56C-6DDB-4082-A93C-E35CA482EF14}"/>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16643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44BFE-851B-43AF-9E89-D34D04EF2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969DE9-5820-427A-A37B-001BE3DAFA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FDC3840-1C98-44CF-8325-C258672E2E6E}"/>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5" name="Footer Placeholder 4">
            <a:extLst>
              <a:ext uri="{FF2B5EF4-FFF2-40B4-BE49-F238E27FC236}">
                <a16:creationId xmlns:a16="http://schemas.microsoft.com/office/drawing/2014/main" id="{64DC6C82-E62F-4FF1-A072-828FCA0E78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1245C7-64B3-411D-83CA-2FD2F2252040}"/>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1030582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18A20-795A-446A-BF89-732F58C6BF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3404D-0A0D-4477-BAA3-6B6057C994A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A71DB5-9989-4EEE-A349-8052F5E3849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A8432B-BF19-40DA-8B79-F6B01CF6FA0F}"/>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6" name="Footer Placeholder 5">
            <a:extLst>
              <a:ext uri="{FF2B5EF4-FFF2-40B4-BE49-F238E27FC236}">
                <a16:creationId xmlns:a16="http://schemas.microsoft.com/office/drawing/2014/main" id="{1E0A8CDA-C644-4610-B4FE-67185E89E2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E9589-2C03-4D5B-A972-5E3E39ACE64C}"/>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374582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37A4C-EA25-4D3A-82AF-064D00FEC4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01723D-4157-4FB6-9FF7-98A349097F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370939F-6786-4F45-8C54-7F46A7A655A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741725-7DCB-4F68-AC6D-E44E756ADB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EB3BAE-9435-445C-93F3-86AE7962F54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6F4498-69A8-4F7B-B597-4C18C4E1BB68}"/>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8" name="Footer Placeholder 7">
            <a:extLst>
              <a:ext uri="{FF2B5EF4-FFF2-40B4-BE49-F238E27FC236}">
                <a16:creationId xmlns:a16="http://schemas.microsoft.com/office/drawing/2014/main" id="{968187DE-731B-4B50-995C-57F1BA0EA4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F4331A-B7C6-4B1B-908C-6E545B5144DF}"/>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1377079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A9A63-BFD8-4D5F-A51C-CDB67ED08F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3C26E8-4F27-42BF-8242-E65093A82A3F}"/>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4" name="Footer Placeholder 3">
            <a:extLst>
              <a:ext uri="{FF2B5EF4-FFF2-40B4-BE49-F238E27FC236}">
                <a16:creationId xmlns:a16="http://schemas.microsoft.com/office/drawing/2014/main" id="{9D78D470-C4EF-4CF9-AB06-0C031DA5FF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AD18B7-ECDE-4108-B3AB-BE0CB678986F}"/>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2463035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C25E17-B091-473C-A595-66252FCDAEDC}"/>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3" name="Footer Placeholder 2">
            <a:extLst>
              <a:ext uri="{FF2B5EF4-FFF2-40B4-BE49-F238E27FC236}">
                <a16:creationId xmlns:a16="http://schemas.microsoft.com/office/drawing/2014/main" id="{DBFC6CAB-1339-4BF5-AF07-F0614B3366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1BD27D-284B-48B3-93AF-D3C42326AA01}"/>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758769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3AB96-E364-44A3-B326-0BD66D73B5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6CEEF2-CC46-4C65-82B2-99C998BCBE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AD37E2-595E-47BC-93AE-F98CC710F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837705E-A748-426B-96F9-193610739CF3}"/>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6" name="Footer Placeholder 5">
            <a:extLst>
              <a:ext uri="{FF2B5EF4-FFF2-40B4-BE49-F238E27FC236}">
                <a16:creationId xmlns:a16="http://schemas.microsoft.com/office/drawing/2014/main" id="{A61A8650-A89A-46F4-B2A5-8707BDCD2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1BAEF1-D591-4D4D-A701-BE43F975A4B4}"/>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3202128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731E-5748-497F-B6E9-E39D52AE2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1A35D3-630A-47D4-900B-17203B0274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A2A727-00F2-4049-B789-CA7B8569D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ADBF9C-B5A0-431C-88ED-8E1985D122D2}"/>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6" name="Footer Placeholder 5">
            <a:extLst>
              <a:ext uri="{FF2B5EF4-FFF2-40B4-BE49-F238E27FC236}">
                <a16:creationId xmlns:a16="http://schemas.microsoft.com/office/drawing/2014/main" id="{09F6C538-1AA6-4E91-BB3C-271FDDEB6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F2B76-CB47-4DC9-A25D-7D64524C282A}"/>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3462528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9AFF6-D801-42ED-979A-88B52EBE52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CAC13C-D469-4ED0-9A4C-565DE11CAF0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9D3DE5-4802-431E-A9D8-05D1477531DC}"/>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5" name="Footer Placeholder 4">
            <a:extLst>
              <a:ext uri="{FF2B5EF4-FFF2-40B4-BE49-F238E27FC236}">
                <a16:creationId xmlns:a16="http://schemas.microsoft.com/office/drawing/2014/main" id="{DBF657DB-63C8-4EB9-946E-66A8907D02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8C5B53-A38B-4787-AA6A-CF9C48DFE7B3}"/>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1864396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F8F1E6-9E2F-4078-A7F9-E3C4D728DF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4DA7C5-F09E-4697-B9CD-AE4A144E5A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48383E-367E-4B94-AB52-B8E39BDD53D5}"/>
              </a:ext>
            </a:extLst>
          </p:cNvPr>
          <p:cNvSpPr>
            <a:spLocks noGrp="1"/>
          </p:cNvSpPr>
          <p:nvPr>
            <p:ph type="dt" sz="half" idx="10"/>
          </p:nvPr>
        </p:nvSpPr>
        <p:spPr/>
        <p:txBody>
          <a:bodyPr/>
          <a:lstStyle/>
          <a:p>
            <a:fld id="{621EE963-B868-4ECC-A159-C7F6C590DCCD}" type="datetimeFigureOut">
              <a:rPr lang="en-US" smtClean="0"/>
              <a:t>10/2/2026</a:t>
            </a:fld>
            <a:endParaRPr lang="en-US"/>
          </a:p>
        </p:txBody>
      </p:sp>
      <p:sp>
        <p:nvSpPr>
          <p:cNvPr id="5" name="Footer Placeholder 4">
            <a:extLst>
              <a:ext uri="{FF2B5EF4-FFF2-40B4-BE49-F238E27FC236}">
                <a16:creationId xmlns:a16="http://schemas.microsoft.com/office/drawing/2014/main" id="{5C2A0C95-2E04-4A74-84D2-DFC81DA8EF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12F5A9-85D0-4028-AA33-0EDD9705B972}"/>
              </a:ext>
            </a:extLst>
          </p:cNvPr>
          <p:cNvSpPr>
            <a:spLocks noGrp="1"/>
          </p:cNvSpPr>
          <p:nvPr>
            <p:ph type="sldNum" sz="quarter" idx="12"/>
          </p:nvPr>
        </p:nvSpPr>
        <p:spPr/>
        <p:txBody>
          <a:bodyPr/>
          <a:lstStyle/>
          <a:p>
            <a:fld id="{09B0B24D-CB49-4AD5-9757-E066C6CB8F19}" type="slidenum">
              <a:rPr lang="en-US" smtClean="0"/>
              <a:t>‹#›</a:t>
            </a:fld>
            <a:endParaRPr lang="en-US"/>
          </a:p>
        </p:txBody>
      </p:sp>
    </p:spTree>
    <p:extLst>
      <p:ext uri="{BB962C8B-B14F-4D97-AF65-F5344CB8AC3E}">
        <p14:creationId xmlns:p14="http://schemas.microsoft.com/office/powerpoint/2010/main" val="355530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11393-287D-4680-A0F1-041D995B69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6DB50F-E77B-414D-A66A-439184D877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C4E423-24EF-432F-91B1-D0DB379647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1EE963-B868-4ECC-A159-C7F6C590DCCD}" type="datetimeFigureOut">
              <a:rPr lang="en-US" smtClean="0"/>
              <a:t>10/2/2026</a:t>
            </a:fld>
            <a:endParaRPr lang="en-US"/>
          </a:p>
        </p:txBody>
      </p:sp>
      <p:sp>
        <p:nvSpPr>
          <p:cNvPr id="5" name="Footer Placeholder 4">
            <a:extLst>
              <a:ext uri="{FF2B5EF4-FFF2-40B4-BE49-F238E27FC236}">
                <a16:creationId xmlns:a16="http://schemas.microsoft.com/office/drawing/2014/main" id="{B1F23C91-8405-456D-9ABB-B7C0DE3B3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6B1941-9D1F-4EAB-8D24-49FC5B0F22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0B24D-CB49-4AD5-9757-E066C6CB8F19}" type="slidenum">
              <a:rPr lang="en-US" smtClean="0"/>
              <a:t>‹#›</a:t>
            </a:fld>
            <a:endParaRPr lang="en-US"/>
          </a:p>
        </p:txBody>
      </p:sp>
    </p:spTree>
    <p:extLst>
      <p:ext uri="{BB962C8B-B14F-4D97-AF65-F5344CB8AC3E}">
        <p14:creationId xmlns:p14="http://schemas.microsoft.com/office/powerpoint/2010/main" val="2307208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804A-FA07-4A0A-A3BE-45456E09CB67}"/>
              </a:ext>
            </a:extLst>
          </p:cNvPr>
          <p:cNvSpPr>
            <a:spLocks noGrp="1"/>
          </p:cNvSpPr>
          <p:nvPr>
            <p:ph type="ctrTitle"/>
          </p:nvPr>
        </p:nvSpPr>
        <p:spPr/>
        <p:txBody>
          <a:bodyPr/>
          <a:lstStyle/>
          <a:p>
            <a:r>
              <a:rPr lang="en-US" dirty="0"/>
              <a:t>C++ Pointers</a:t>
            </a:r>
          </a:p>
        </p:txBody>
      </p:sp>
      <p:sp>
        <p:nvSpPr>
          <p:cNvPr id="3" name="Subtitle 2">
            <a:extLst>
              <a:ext uri="{FF2B5EF4-FFF2-40B4-BE49-F238E27FC236}">
                <a16:creationId xmlns:a16="http://schemas.microsoft.com/office/drawing/2014/main" id="{028FBFC1-A6F7-4D5B-92DA-A2C6E3ACFBE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06993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CA1A9-DE99-460D-932F-A46BDD1054A7}"/>
              </a:ext>
            </a:extLst>
          </p:cNvPr>
          <p:cNvSpPr>
            <a:spLocks noGrp="1"/>
          </p:cNvSpPr>
          <p:nvPr>
            <p:ph type="title"/>
          </p:nvPr>
        </p:nvSpPr>
        <p:spPr/>
        <p:txBody>
          <a:bodyPr/>
          <a:lstStyle/>
          <a:p>
            <a:r>
              <a:rPr lang="en-US" b="1" dirty="0"/>
              <a:t>Pointers</a:t>
            </a:r>
          </a:p>
        </p:txBody>
      </p:sp>
      <p:sp>
        <p:nvSpPr>
          <p:cNvPr id="3" name="Content Placeholder 2">
            <a:extLst>
              <a:ext uri="{FF2B5EF4-FFF2-40B4-BE49-F238E27FC236}">
                <a16:creationId xmlns:a16="http://schemas.microsoft.com/office/drawing/2014/main" id="{B176B2C0-8867-4984-B37C-772A2B8A8094}"/>
              </a:ext>
            </a:extLst>
          </p:cNvPr>
          <p:cNvSpPr>
            <a:spLocks noGrp="1"/>
          </p:cNvSpPr>
          <p:nvPr>
            <p:ph idx="1"/>
          </p:nvPr>
        </p:nvSpPr>
        <p:spPr/>
        <p:txBody>
          <a:bodyPr>
            <a:normAutofit fontScale="92500" lnSpcReduction="10000"/>
          </a:bodyPr>
          <a:lstStyle/>
          <a:p>
            <a:pPr marL="0" indent="0">
              <a:buNone/>
            </a:pPr>
            <a:r>
              <a:rPr lang="en-US" dirty="0"/>
              <a:t>The pointer in C++ language is a variable, it is also known as locator or indicator that points to an address of a value.</a:t>
            </a:r>
          </a:p>
          <a:p>
            <a:pPr marL="0" indent="0">
              <a:buNone/>
            </a:pPr>
            <a:r>
              <a:rPr lang="en-US" dirty="0"/>
              <a:t>The symbol of an address is represented by a pointer. In addition to creating and modifying dynamic data structures, they allow programs to emulate call-by-reference. One of the principal applications of pointers is iterating through the components of arrays or other data structures. The pointer variable that refers to the same data type as the variable you're dealing with has the address of that variable set to it (such as an int or string).</a:t>
            </a:r>
          </a:p>
          <a:p>
            <a:r>
              <a:rPr lang="en-US" b="1" dirty="0"/>
              <a:t>Syntax</a:t>
            </a:r>
          </a:p>
          <a:p>
            <a:pPr marL="0" indent="0">
              <a:buNone/>
            </a:pPr>
            <a:r>
              <a:rPr lang="en-US" dirty="0"/>
              <a:t>datatype *</a:t>
            </a:r>
            <a:r>
              <a:rPr lang="en-US" dirty="0" err="1"/>
              <a:t>var_name</a:t>
            </a:r>
            <a:r>
              <a:rPr lang="en-US" dirty="0"/>
              <a:t>;   </a:t>
            </a:r>
          </a:p>
          <a:p>
            <a:pPr marL="0" indent="0">
              <a:buNone/>
            </a:pPr>
            <a:r>
              <a:rPr lang="en-US" b="1" dirty="0"/>
              <a:t>int</a:t>
            </a:r>
            <a:r>
              <a:rPr lang="en-US" dirty="0"/>
              <a:t> *</a:t>
            </a:r>
            <a:r>
              <a:rPr lang="en-US" dirty="0" err="1"/>
              <a:t>ptr</a:t>
            </a:r>
            <a:r>
              <a:rPr lang="en-US" dirty="0"/>
              <a:t>;   // </a:t>
            </a:r>
            <a:r>
              <a:rPr lang="en-US" dirty="0" err="1"/>
              <a:t>ptr</a:t>
            </a:r>
            <a:r>
              <a:rPr lang="en-US" dirty="0"/>
              <a:t> can point to an address which holds int data</a:t>
            </a:r>
          </a:p>
          <a:p>
            <a:endParaRPr lang="en-US" dirty="0"/>
          </a:p>
        </p:txBody>
      </p:sp>
    </p:spTree>
    <p:extLst>
      <p:ext uri="{BB962C8B-B14F-4D97-AF65-F5344CB8AC3E}">
        <p14:creationId xmlns:p14="http://schemas.microsoft.com/office/powerpoint/2010/main" val="1243941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D6BAA-0D58-41FA-8A2D-E113E14D7C06}"/>
              </a:ext>
            </a:extLst>
          </p:cNvPr>
          <p:cNvSpPr>
            <a:spLocks noGrp="1"/>
          </p:cNvSpPr>
          <p:nvPr>
            <p:ph type="title"/>
          </p:nvPr>
        </p:nvSpPr>
        <p:spPr>
          <a:xfrm>
            <a:off x="838200" y="365126"/>
            <a:ext cx="10515600" cy="603866"/>
          </a:xfrm>
        </p:spPr>
        <p:txBody>
          <a:bodyPr>
            <a:normAutofit fontScale="90000"/>
          </a:bodyPr>
          <a:lstStyle/>
          <a:p>
            <a:r>
              <a:rPr lang="en-US" b="1" dirty="0"/>
              <a:t>How to use a pointer?</a:t>
            </a:r>
          </a:p>
        </p:txBody>
      </p:sp>
      <p:sp>
        <p:nvSpPr>
          <p:cNvPr id="3" name="Content Placeholder 2">
            <a:extLst>
              <a:ext uri="{FF2B5EF4-FFF2-40B4-BE49-F238E27FC236}">
                <a16:creationId xmlns:a16="http://schemas.microsoft.com/office/drawing/2014/main" id="{D6D84F4A-1A06-4E3C-ACB5-90FF82D45E66}"/>
              </a:ext>
            </a:extLst>
          </p:cNvPr>
          <p:cNvSpPr>
            <a:spLocks noGrp="1"/>
          </p:cNvSpPr>
          <p:nvPr>
            <p:ph idx="1"/>
          </p:nvPr>
        </p:nvSpPr>
        <p:spPr>
          <a:xfrm>
            <a:off x="838200" y="968992"/>
            <a:ext cx="10515600" cy="5207971"/>
          </a:xfrm>
        </p:spPr>
        <p:txBody>
          <a:bodyPr>
            <a:normAutofit/>
          </a:bodyPr>
          <a:lstStyle/>
          <a:p>
            <a:pPr marL="0" indent="0">
              <a:buNone/>
            </a:pPr>
            <a:r>
              <a:rPr lang="en-US" b="1" dirty="0"/>
              <a:t>Establish a pointer variable.</a:t>
            </a:r>
          </a:p>
          <a:p>
            <a:pPr marL="0" indent="0">
              <a:buNone/>
            </a:pPr>
            <a:r>
              <a:rPr lang="en-US" dirty="0"/>
              <a:t>employing the unary operator (&amp;), which yields the address of the variable, to assign a pointer to a variable's address.</a:t>
            </a:r>
          </a:p>
          <a:p>
            <a:pPr marL="0" indent="0">
              <a:buNone/>
            </a:pPr>
            <a:r>
              <a:rPr lang="en-US" dirty="0"/>
              <a:t>Using the unary operator (*), which gives the variable's value at the address provided by its argument, one can access the value stored in an address.</a:t>
            </a:r>
          </a:p>
          <a:p>
            <a:pPr marL="0" indent="0">
              <a:buNone/>
            </a:pPr>
            <a:r>
              <a:rPr lang="en-US" dirty="0"/>
              <a:t>Since the data type knows how many bytes the information is held in, we associate it with a reference. The size of the data type to which a pointer points is added when we increment a pointer.</a:t>
            </a:r>
          </a:p>
          <a:p>
            <a:endParaRPr lang="en-US" dirty="0"/>
          </a:p>
        </p:txBody>
      </p:sp>
      <p:pic>
        <p:nvPicPr>
          <p:cNvPr id="4" name="Content Placeholder 3">
            <a:extLst>
              <a:ext uri="{FF2B5EF4-FFF2-40B4-BE49-F238E27FC236}">
                <a16:creationId xmlns:a16="http://schemas.microsoft.com/office/drawing/2014/main" id="{57888370-5EBB-4DD6-8DC0-46D6F24D2AA2}"/>
              </a:ext>
            </a:extLst>
          </p:cNvPr>
          <p:cNvPicPr>
            <a:picLocks noChangeAspect="1"/>
          </p:cNvPicPr>
          <p:nvPr/>
        </p:nvPicPr>
        <p:blipFill>
          <a:blip r:embed="rId2"/>
          <a:stretch>
            <a:fillRect/>
          </a:stretch>
        </p:blipFill>
        <p:spPr>
          <a:xfrm>
            <a:off x="2704176" y="5102224"/>
            <a:ext cx="4791075" cy="1390650"/>
          </a:xfrm>
          <a:prstGeom prst="rect">
            <a:avLst/>
          </a:prstGeom>
        </p:spPr>
      </p:pic>
    </p:spTree>
    <p:extLst>
      <p:ext uri="{BB962C8B-B14F-4D97-AF65-F5344CB8AC3E}">
        <p14:creationId xmlns:p14="http://schemas.microsoft.com/office/powerpoint/2010/main" val="334549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38EDF-22EF-46CB-B9EC-4205E1DD2D11}"/>
              </a:ext>
            </a:extLst>
          </p:cNvPr>
          <p:cNvSpPr>
            <a:spLocks noGrp="1"/>
          </p:cNvSpPr>
          <p:nvPr>
            <p:ph type="title"/>
          </p:nvPr>
        </p:nvSpPr>
        <p:spPr>
          <a:xfrm>
            <a:off x="838200" y="365125"/>
            <a:ext cx="10515600" cy="562923"/>
          </a:xfrm>
        </p:spPr>
        <p:txBody>
          <a:bodyPr>
            <a:normAutofit fontScale="90000"/>
          </a:bodyPr>
          <a:lstStyle/>
          <a:p>
            <a:r>
              <a:rPr lang="en-US" b="1" dirty="0"/>
              <a:t>Advantage of pointer</a:t>
            </a:r>
          </a:p>
        </p:txBody>
      </p:sp>
      <p:sp>
        <p:nvSpPr>
          <p:cNvPr id="3" name="Content Placeholder 2">
            <a:extLst>
              <a:ext uri="{FF2B5EF4-FFF2-40B4-BE49-F238E27FC236}">
                <a16:creationId xmlns:a16="http://schemas.microsoft.com/office/drawing/2014/main" id="{788AFCEF-4483-4BDA-A4D6-99C05FA668CA}"/>
              </a:ext>
            </a:extLst>
          </p:cNvPr>
          <p:cNvSpPr>
            <a:spLocks noGrp="1"/>
          </p:cNvSpPr>
          <p:nvPr>
            <p:ph idx="1"/>
          </p:nvPr>
        </p:nvSpPr>
        <p:spPr>
          <a:xfrm>
            <a:off x="838200" y="928048"/>
            <a:ext cx="10515600" cy="5248915"/>
          </a:xfrm>
        </p:spPr>
        <p:txBody>
          <a:bodyPr/>
          <a:lstStyle/>
          <a:p>
            <a:pPr marL="0" indent="0">
              <a:buNone/>
            </a:pPr>
            <a:endParaRPr lang="en-US" dirty="0"/>
          </a:p>
          <a:p>
            <a:pPr marL="0" indent="0">
              <a:buNone/>
            </a:pPr>
            <a:r>
              <a:rPr lang="en-US" dirty="0"/>
              <a:t>1) Pointer reduces the code and improves the performance, it is used to retrieving strings, trees etc. and used with arrays, structures and functions. </a:t>
            </a:r>
          </a:p>
          <a:p>
            <a:pPr marL="0" indent="0">
              <a:buNone/>
            </a:pPr>
            <a:r>
              <a:rPr lang="en-US" dirty="0"/>
              <a:t>2) We can return multiple values from function using pointer.</a:t>
            </a:r>
          </a:p>
          <a:p>
            <a:pPr marL="0" indent="0">
              <a:buNone/>
            </a:pPr>
            <a:r>
              <a:rPr lang="en-US" dirty="0"/>
              <a:t>3) It makes you able to access any memory location in the computer's memory.</a:t>
            </a:r>
          </a:p>
          <a:p>
            <a:endParaRPr lang="en-US" dirty="0"/>
          </a:p>
        </p:txBody>
      </p:sp>
    </p:spTree>
    <p:extLst>
      <p:ext uri="{BB962C8B-B14F-4D97-AF65-F5344CB8AC3E}">
        <p14:creationId xmlns:p14="http://schemas.microsoft.com/office/powerpoint/2010/main" val="123712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3D5A5-8F71-457B-9D4D-9BBD8444B8B1}"/>
              </a:ext>
            </a:extLst>
          </p:cNvPr>
          <p:cNvSpPr>
            <a:spLocks noGrp="1"/>
          </p:cNvSpPr>
          <p:nvPr>
            <p:ph type="title"/>
          </p:nvPr>
        </p:nvSpPr>
        <p:spPr/>
        <p:txBody>
          <a:bodyPr/>
          <a:lstStyle/>
          <a:p>
            <a:r>
              <a:rPr lang="en-US" b="1" dirty="0"/>
              <a:t>Usage of pointer</a:t>
            </a:r>
          </a:p>
        </p:txBody>
      </p:sp>
      <p:sp>
        <p:nvSpPr>
          <p:cNvPr id="3" name="Content Placeholder 2">
            <a:extLst>
              <a:ext uri="{FF2B5EF4-FFF2-40B4-BE49-F238E27FC236}">
                <a16:creationId xmlns:a16="http://schemas.microsoft.com/office/drawing/2014/main" id="{58148023-8AF1-49D2-B90A-DDDEE63D2352}"/>
              </a:ext>
            </a:extLst>
          </p:cNvPr>
          <p:cNvSpPr>
            <a:spLocks noGrp="1"/>
          </p:cNvSpPr>
          <p:nvPr>
            <p:ph idx="1"/>
          </p:nvPr>
        </p:nvSpPr>
        <p:spPr/>
        <p:txBody>
          <a:bodyPr/>
          <a:lstStyle/>
          <a:p>
            <a:pPr marL="0" indent="0">
              <a:buNone/>
            </a:pPr>
            <a:r>
              <a:rPr lang="en-US" dirty="0"/>
              <a:t>There are many usage of pointers in C++ language.</a:t>
            </a:r>
          </a:p>
          <a:p>
            <a:pPr marL="0" indent="0">
              <a:buNone/>
            </a:pPr>
            <a:r>
              <a:rPr lang="en-US" b="1" dirty="0"/>
              <a:t>1) Dynamic memory allocation</a:t>
            </a:r>
            <a:endParaRPr lang="en-US" dirty="0"/>
          </a:p>
          <a:p>
            <a:pPr marL="0" indent="0">
              <a:buNone/>
            </a:pPr>
            <a:r>
              <a:rPr lang="en-US" dirty="0"/>
              <a:t>In c language, we can dynamically allocate memory using malloc() and </a:t>
            </a:r>
            <a:r>
              <a:rPr lang="en-US" dirty="0" err="1"/>
              <a:t>calloc</a:t>
            </a:r>
            <a:r>
              <a:rPr lang="en-US" dirty="0"/>
              <a:t>() functions where pointer is used.</a:t>
            </a:r>
          </a:p>
          <a:p>
            <a:pPr marL="0" indent="0">
              <a:buNone/>
            </a:pPr>
            <a:r>
              <a:rPr lang="en-US" b="1" dirty="0"/>
              <a:t>2) Arrays, Functions and Structures</a:t>
            </a:r>
            <a:endParaRPr lang="en-US" dirty="0"/>
          </a:p>
          <a:p>
            <a:pPr marL="0" indent="0">
              <a:buNone/>
            </a:pPr>
            <a:r>
              <a:rPr lang="en-US" dirty="0"/>
              <a:t>Pointers in c language are widely used in arrays, functions and structures. It reduces the code and improves the performance.</a:t>
            </a:r>
          </a:p>
          <a:p>
            <a:endParaRPr lang="en-US" dirty="0"/>
          </a:p>
        </p:txBody>
      </p:sp>
    </p:spTree>
    <p:extLst>
      <p:ext uri="{BB962C8B-B14F-4D97-AF65-F5344CB8AC3E}">
        <p14:creationId xmlns:p14="http://schemas.microsoft.com/office/powerpoint/2010/main" val="2498030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92A91-6D37-43AD-A7D7-C7F45F88EC48}"/>
              </a:ext>
            </a:extLst>
          </p:cNvPr>
          <p:cNvSpPr>
            <a:spLocks noGrp="1"/>
          </p:cNvSpPr>
          <p:nvPr>
            <p:ph type="title"/>
          </p:nvPr>
        </p:nvSpPr>
        <p:spPr>
          <a:xfrm>
            <a:off x="838200" y="365125"/>
            <a:ext cx="10515600" cy="781287"/>
          </a:xfrm>
        </p:spPr>
        <p:txBody>
          <a:bodyPr/>
          <a:lstStyle/>
          <a:p>
            <a:r>
              <a:rPr lang="en-US" altLang="en-US" dirty="0">
                <a:solidFill>
                  <a:srgbClr val="610B38"/>
                </a:solidFill>
                <a:latin typeface="erdana"/>
              </a:rPr>
              <a:t>Symbols used in pointer</a:t>
            </a:r>
            <a:endParaRPr lang="en-US" dirty="0"/>
          </a:p>
        </p:txBody>
      </p:sp>
      <p:graphicFrame>
        <p:nvGraphicFramePr>
          <p:cNvPr id="4" name="Content Placeholder 3">
            <a:extLst>
              <a:ext uri="{FF2B5EF4-FFF2-40B4-BE49-F238E27FC236}">
                <a16:creationId xmlns:a16="http://schemas.microsoft.com/office/drawing/2014/main" id="{BB58CF27-E0B2-42D7-B348-72ABBEA2C400}"/>
              </a:ext>
            </a:extLst>
          </p:cNvPr>
          <p:cNvGraphicFramePr>
            <a:graphicFrameLocks noGrp="1"/>
          </p:cNvGraphicFramePr>
          <p:nvPr>
            <p:ph idx="1"/>
            <p:extLst>
              <p:ext uri="{D42A27DB-BD31-4B8C-83A1-F6EECF244321}">
                <p14:modId xmlns:p14="http://schemas.microsoft.com/office/powerpoint/2010/main" val="3717571177"/>
              </p:ext>
            </p:extLst>
          </p:nvPr>
        </p:nvGraphicFramePr>
        <p:xfrm>
          <a:off x="838200" y="1146413"/>
          <a:ext cx="10922391" cy="5186147"/>
        </p:xfrm>
        <a:graphic>
          <a:graphicData uri="http://schemas.openxmlformats.org/drawingml/2006/table">
            <a:tbl>
              <a:tblPr/>
              <a:tblGrid>
                <a:gridCol w="3640797">
                  <a:extLst>
                    <a:ext uri="{9D8B030D-6E8A-4147-A177-3AD203B41FA5}">
                      <a16:colId xmlns:a16="http://schemas.microsoft.com/office/drawing/2014/main" val="2202878618"/>
                    </a:ext>
                  </a:extLst>
                </a:gridCol>
                <a:gridCol w="3640797">
                  <a:extLst>
                    <a:ext uri="{9D8B030D-6E8A-4147-A177-3AD203B41FA5}">
                      <a16:colId xmlns:a16="http://schemas.microsoft.com/office/drawing/2014/main" val="3134520482"/>
                    </a:ext>
                  </a:extLst>
                </a:gridCol>
                <a:gridCol w="3640797">
                  <a:extLst>
                    <a:ext uri="{9D8B030D-6E8A-4147-A177-3AD203B41FA5}">
                      <a16:colId xmlns:a16="http://schemas.microsoft.com/office/drawing/2014/main" val="3544195986"/>
                    </a:ext>
                  </a:extLst>
                </a:gridCol>
              </a:tblGrid>
              <a:tr h="1369143">
                <a:tc>
                  <a:txBody>
                    <a:bodyPr/>
                    <a:lstStyle/>
                    <a:p>
                      <a:pPr algn="l" fontAlgn="t"/>
                      <a:r>
                        <a:rPr lang="en-US" sz="2400">
                          <a:solidFill>
                            <a:srgbClr val="000000"/>
                          </a:solidFill>
                          <a:effectLst/>
                          <a:latin typeface="times new roman" panose="02020603050405020304" pitchFamily="18" charset="0"/>
                        </a:rPr>
                        <a:t>Symbol</a:t>
                      </a:r>
                    </a:p>
                  </a:txBody>
                  <a:tcPr marL="114300" marR="114300" marT="114300" marB="114300">
                    <a:lnL w="9525" cap="flat" cmpd="sng" algn="ctr">
                      <a:solidFill>
                        <a:srgbClr val="C070C6"/>
                      </a:solidFill>
                      <a:prstDash val="solid"/>
                      <a:round/>
                      <a:headEnd type="none" w="med" len="med"/>
                      <a:tailEnd type="none" w="med" len="med"/>
                    </a:lnL>
                    <a:lnR w="9525" cap="flat" cmpd="sng" algn="ctr">
                      <a:solidFill>
                        <a:srgbClr val="C070C6"/>
                      </a:solidFill>
                      <a:prstDash val="solid"/>
                      <a:round/>
                      <a:headEnd type="none" w="med" len="med"/>
                      <a:tailEnd type="none" w="med" len="med"/>
                    </a:lnR>
                    <a:lnT w="9525" cap="flat" cmpd="sng" algn="ctr">
                      <a:solidFill>
                        <a:srgbClr val="C070C6"/>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400" dirty="0">
                          <a:solidFill>
                            <a:srgbClr val="000000"/>
                          </a:solidFill>
                          <a:effectLst/>
                          <a:latin typeface="times new roman" panose="02020603050405020304" pitchFamily="18" charset="0"/>
                        </a:rPr>
                        <a:t>Name</a:t>
                      </a:r>
                    </a:p>
                  </a:txBody>
                  <a:tcPr marL="114300" marR="114300" marT="114300" marB="114300">
                    <a:lnL w="9525" cap="flat" cmpd="sng" algn="ctr">
                      <a:solidFill>
                        <a:srgbClr val="C070C6"/>
                      </a:solidFill>
                      <a:prstDash val="solid"/>
                      <a:round/>
                      <a:headEnd type="none" w="med" len="med"/>
                      <a:tailEnd type="none" w="med" len="med"/>
                    </a:lnL>
                    <a:lnR w="9525" cap="flat" cmpd="sng" algn="ctr">
                      <a:solidFill>
                        <a:srgbClr val="C070C6"/>
                      </a:solidFill>
                      <a:prstDash val="solid"/>
                      <a:round/>
                      <a:headEnd type="none" w="med" len="med"/>
                      <a:tailEnd type="none" w="med" len="med"/>
                    </a:lnR>
                    <a:lnT w="9525" cap="flat" cmpd="sng" algn="ctr">
                      <a:solidFill>
                        <a:srgbClr val="C070C6"/>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400">
                          <a:solidFill>
                            <a:srgbClr val="000000"/>
                          </a:solidFill>
                          <a:effectLst/>
                          <a:latin typeface="times new roman" panose="02020603050405020304" pitchFamily="18" charset="0"/>
                        </a:rPr>
                        <a:t>Description</a:t>
                      </a:r>
                    </a:p>
                  </a:txBody>
                  <a:tcPr marL="114300" marR="114300" marT="114300" marB="114300">
                    <a:lnL w="9525" cap="flat" cmpd="sng" algn="ctr">
                      <a:solidFill>
                        <a:srgbClr val="C070C6"/>
                      </a:solidFill>
                      <a:prstDash val="solid"/>
                      <a:round/>
                      <a:headEnd type="none" w="med" len="med"/>
                      <a:tailEnd type="none" w="med" len="med"/>
                    </a:lnL>
                    <a:lnR w="9525" cap="flat" cmpd="sng" algn="ctr">
                      <a:solidFill>
                        <a:srgbClr val="C070C6"/>
                      </a:solidFill>
                      <a:prstDash val="solid"/>
                      <a:round/>
                      <a:headEnd type="none" w="med" len="med"/>
                      <a:tailEnd type="none" w="med" len="med"/>
                    </a:lnR>
                    <a:lnT w="9525" cap="flat" cmpd="sng" algn="ctr">
                      <a:solidFill>
                        <a:srgbClr val="C070C6"/>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658310459"/>
                  </a:ext>
                </a:extLst>
              </a:tr>
              <a:tr h="1908502">
                <a:tc>
                  <a:txBody>
                    <a:bodyPr/>
                    <a:lstStyle/>
                    <a:p>
                      <a:pPr algn="just" fontAlgn="t"/>
                      <a:r>
                        <a:rPr lang="en-US" sz="2400" dirty="0">
                          <a:solidFill>
                            <a:srgbClr val="333333"/>
                          </a:solidFill>
                          <a:effectLst/>
                          <a:latin typeface="inter-regular"/>
                        </a:rPr>
                        <a:t>&amp; (ampersand sign)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solidFill>
                            <a:srgbClr val="333333"/>
                          </a:solidFill>
                          <a:effectLst/>
                          <a:latin typeface="inter-regular"/>
                        </a:rPr>
                        <a:t>Address operator</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400">
                          <a:solidFill>
                            <a:srgbClr val="333333"/>
                          </a:solidFill>
                          <a:effectLst/>
                          <a:latin typeface="inter-regular"/>
                        </a:rPr>
                        <a:t>Determine the address of a variable.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901938631"/>
                  </a:ext>
                </a:extLst>
              </a:tr>
              <a:tr h="1908502">
                <a:tc>
                  <a:txBody>
                    <a:bodyPr/>
                    <a:lstStyle/>
                    <a:p>
                      <a:pPr algn="just" fontAlgn="t"/>
                      <a:r>
                        <a:rPr lang="en-US" sz="2400">
                          <a:solidFill>
                            <a:srgbClr val="333333"/>
                          </a:solidFill>
                          <a:effectLst/>
                          <a:latin typeface="inter-regular"/>
                        </a:rPr>
                        <a:t>∗ (asterisk sign)</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400">
                          <a:solidFill>
                            <a:srgbClr val="333333"/>
                          </a:solidFill>
                          <a:effectLst/>
                          <a:latin typeface="inter-regular"/>
                        </a:rPr>
                        <a:t>Indirection operator</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400" dirty="0">
                          <a:solidFill>
                            <a:srgbClr val="333333"/>
                          </a:solidFill>
                          <a:effectLst/>
                          <a:latin typeface="inter-regular"/>
                        </a:rPr>
                        <a:t>Access the value of an address.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130086955"/>
                  </a:ext>
                </a:extLst>
              </a:tr>
            </a:tbl>
          </a:graphicData>
        </a:graphic>
      </p:graphicFrame>
    </p:spTree>
    <p:extLst>
      <p:ext uri="{BB962C8B-B14F-4D97-AF65-F5344CB8AC3E}">
        <p14:creationId xmlns:p14="http://schemas.microsoft.com/office/powerpoint/2010/main" val="1377314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BD4F7-ED96-4E60-A892-784D5E6F0B88}"/>
              </a:ext>
            </a:extLst>
          </p:cNvPr>
          <p:cNvSpPr>
            <a:spLocks noGrp="1"/>
          </p:cNvSpPr>
          <p:nvPr>
            <p:ph type="title"/>
          </p:nvPr>
        </p:nvSpPr>
        <p:spPr/>
        <p:txBody>
          <a:bodyPr/>
          <a:lstStyle/>
          <a:p>
            <a:r>
              <a:rPr lang="en-US" b="1" dirty="0"/>
              <a:t>Declaring a pointer</a:t>
            </a:r>
          </a:p>
        </p:txBody>
      </p:sp>
      <p:sp>
        <p:nvSpPr>
          <p:cNvPr id="3" name="Content Placeholder 2">
            <a:extLst>
              <a:ext uri="{FF2B5EF4-FFF2-40B4-BE49-F238E27FC236}">
                <a16:creationId xmlns:a16="http://schemas.microsoft.com/office/drawing/2014/main" id="{D161586A-99B5-4F01-88EB-EA49059EB754}"/>
              </a:ext>
            </a:extLst>
          </p:cNvPr>
          <p:cNvSpPr>
            <a:spLocks noGrp="1"/>
          </p:cNvSpPr>
          <p:nvPr>
            <p:ph idx="1"/>
          </p:nvPr>
        </p:nvSpPr>
        <p:spPr/>
        <p:txBody>
          <a:bodyPr/>
          <a:lstStyle/>
          <a:p>
            <a:pPr marL="0" indent="0">
              <a:buNone/>
            </a:pPr>
            <a:r>
              <a:rPr lang="en-US" dirty="0"/>
              <a:t>The pointer in C++ language can be declared using ∗ (asterisk symbol).</a:t>
            </a:r>
          </a:p>
          <a:p>
            <a:pPr marL="0" indent="0">
              <a:buNone/>
            </a:pPr>
            <a:r>
              <a:rPr lang="en-US" b="1" dirty="0"/>
              <a:t>int</a:t>
            </a:r>
            <a:r>
              <a:rPr lang="en-US" dirty="0"/>
              <a:t> ∗   a; //pointer to int    </a:t>
            </a:r>
          </a:p>
          <a:p>
            <a:pPr marL="0" indent="0">
              <a:buNone/>
            </a:pPr>
            <a:r>
              <a:rPr lang="en-US" b="1" dirty="0"/>
              <a:t>char</a:t>
            </a:r>
            <a:r>
              <a:rPr lang="en-US" dirty="0"/>
              <a:t> ∗  c; //pointer to char    </a:t>
            </a:r>
          </a:p>
          <a:p>
            <a:endParaRPr lang="en-US" dirty="0"/>
          </a:p>
        </p:txBody>
      </p:sp>
    </p:spTree>
    <p:extLst>
      <p:ext uri="{BB962C8B-B14F-4D97-AF65-F5344CB8AC3E}">
        <p14:creationId xmlns:p14="http://schemas.microsoft.com/office/powerpoint/2010/main" val="1909864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7105-E04B-4FE2-A277-4B9E2DCA24A6}"/>
              </a:ext>
            </a:extLst>
          </p:cNvPr>
          <p:cNvSpPr>
            <a:spLocks noGrp="1"/>
          </p:cNvSpPr>
          <p:nvPr>
            <p:ph type="title"/>
          </p:nvPr>
        </p:nvSpPr>
        <p:spPr>
          <a:xfrm>
            <a:off x="319585" y="118018"/>
            <a:ext cx="10515600" cy="683800"/>
          </a:xfrm>
        </p:spPr>
        <p:txBody>
          <a:bodyPr>
            <a:normAutofit fontScale="90000"/>
          </a:bodyPr>
          <a:lstStyle/>
          <a:p>
            <a:r>
              <a:rPr lang="en-US" dirty="0"/>
              <a:t>Pointer Example</a:t>
            </a:r>
          </a:p>
        </p:txBody>
      </p:sp>
      <p:sp>
        <p:nvSpPr>
          <p:cNvPr id="3" name="Content Placeholder 2">
            <a:extLst>
              <a:ext uri="{FF2B5EF4-FFF2-40B4-BE49-F238E27FC236}">
                <a16:creationId xmlns:a16="http://schemas.microsoft.com/office/drawing/2014/main" id="{34D73E1B-E311-454F-8A10-109736EEDC40}"/>
              </a:ext>
            </a:extLst>
          </p:cNvPr>
          <p:cNvSpPr>
            <a:spLocks noGrp="1"/>
          </p:cNvSpPr>
          <p:nvPr>
            <p:ph idx="1"/>
          </p:nvPr>
        </p:nvSpPr>
        <p:spPr>
          <a:xfrm>
            <a:off x="319585" y="978009"/>
            <a:ext cx="10515600" cy="671915"/>
          </a:xfrm>
        </p:spPr>
        <p:txBody>
          <a:bodyPr>
            <a:normAutofit fontScale="92500" lnSpcReduction="20000"/>
          </a:bodyPr>
          <a:lstStyle/>
          <a:p>
            <a:r>
              <a:rPr lang="en-US" dirty="0"/>
              <a:t>Let's see the simple example of using pointers printing the address and value.</a:t>
            </a:r>
          </a:p>
          <a:p>
            <a:endParaRPr lang="en-US" dirty="0"/>
          </a:p>
        </p:txBody>
      </p:sp>
      <p:sp>
        <p:nvSpPr>
          <p:cNvPr id="4" name="Rectangle 3">
            <a:extLst>
              <a:ext uri="{FF2B5EF4-FFF2-40B4-BE49-F238E27FC236}">
                <a16:creationId xmlns:a16="http://schemas.microsoft.com/office/drawing/2014/main" id="{ABE6E7EB-5C12-4C1A-9F3C-9CAE826993D9}"/>
              </a:ext>
            </a:extLst>
          </p:cNvPr>
          <p:cNvSpPr/>
          <p:nvPr/>
        </p:nvSpPr>
        <p:spPr>
          <a:xfrm>
            <a:off x="415118" y="1826115"/>
            <a:ext cx="7022911" cy="3416320"/>
          </a:xfrm>
          <a:prstGeom prst="rect">
            <a:avLst/>
          </a:prstGeom>
        </p:spPr>
        <p:txBody>
          <a:bodyPr wrap="square">
            <a:spAutoFit/>
          </a:bodyPr>
          <a:lstStyle/>
          <a:p>
            <a:pPr algn="just"/>
            <a:r>
              <a:rPr lang="en-US" b="0" i="0" dirty="0">
                <a:solidFill>
                  <a:srgbClr val="0000FF"/>
                </a:solidFill>
                <a:effectLst/>
                <a:latin typeface="inter-regular"/>
              </a:rPr>
              <a:t>#include &lt;iostream&gt;</a:t>
            </a:r>
            <a:r>
              <a:rPr lang="en-US" b="0" i="0" dirty="0">
                <a:solidFill>
                  <a:srgbClr val="000000"/>
                </a:solidFill>
                <a:effectLst/>
                <a:latin typeface="inter-regular"/>
              </a:rPr>
              <a:t>  </a:t>
            </a:r>
          </a:p>
          <a:p>
            <a:pPr algn="just"/>
            <a:r>
              <a:rPr lang="en-US" b="1" i="0" dirty="0">
                <a:solidFill>
                  <a:srgbClr val="006699"/>
                </a:solidFill>
                <a:effectLst/>
                <a:latin typeface="inter-regular"/>
              </a:rPr>
              <a:t>using</a:t>
            </a:r>
            <a:r>
              <a:rPr lang="en-US" b="0" i="0" dirty="0">
                <a:solidFill>
                  <a:srgbClr val="000000"/>
                </a:solidFill>
                <a:effectLst/>
                <a:latin typeface="inter-regular"/>
              </a:rPr>
              <a:t> </a:t>
            </a:r>
            <a:r>
              <a:rPr lang="en-US" b="1" i="0" dirty="0">
                <a:solidFill>
                  <a:srgbClr val="006699"/>
                </a:solidFill>
                <a:effectLst/>
                <a:latin typeface="inter-regular"/>
              </a:rPr>
              <a:t>namespace</a:t>
            </a:r>
            <a:r>
              <a:rPr lang="en-US" b="0" i="0" dirty="0">
                <a:solidFill>
                  <a:srgbClr val="000000"/>
                </a:solidFill>
                <a:effectLst/>
                <a:latin typeface="inter-regular"/>
              </a:rPr>
              <a:t> std;  </a:t>
            </a:r>
          </a:p>
          <a:p>
            <a:pPr algn="just"/>
            <a:r>
              <a:rPr lang="en-US" b="1" i="0" dirty="0">
                <a:solidFill>
                  <a:srgbClr val="2E8B57"/>
                </a:solidFill>
                <a:effectLst/>
                <a:latin typeface="inter-regular"/>
              </a:rPr>
              <a:t>int</a:t>
            </a:r>
            <a:r>
              <a:rPr lang="en-US" b="0" i="0" dirty="0">
                <a:solidFill>
                  <a:srgbClr val="000000"/>
                </a:solidFill>
                <a:effectLst/>
                <a:latin typeface="inter-regular"/>
              </a:rPr>
              <a:t> main()  </a:t>
            </a:r>
          </a:p>
          <a:p>
            <a:pPr algn="just"/>
            <a:r>
              <a:rPr lang="en-US" b="0" i="0" dirty="0">
                <a:solidFill>
                  <a:srgbClr val="000000"/>
                </a:solidFill>
                <a:effectLst/>
                <a:latin typeface="inter-regular"/>
              </a:rPr>
              <a:t>{  </a:t>
            </a:r>
          </a:p>
          <a:p>
            <a:pPr algn="just"/>
            <a:r>
              <a:rPr lang="en-US" b="1" i="0" dirty="0">
                <a:solidFill>
                  <a:srgbClr val="2E8B57"/>
                </a:solidFill>
                <a:effectLst/>
                <a:latin typeface="inter-regular"/>
              </a:rPr>
              <a:t>int</a:t>
            </a:r>
            <a:r>
              <a:rPr lang="en-US" b="0" i="0" dirty="0">
                <a:solidFill>
                  <a:srgbClr val="000000"/>
                </a:solidFill>
                <a:effectLst/>
                <a:latin typeface="inter-regular"/>
              </a:rPr>
              <a:t> number=30;    </a:t>
            </a:r>
          </a:p>
          <a:p>
            <a:pPr algn="just"/>
            <a:r>
              <a:rPr lang="en-US" b="1" i="0" dirty="0">
                <a:solidFill>
                  <a:srgbClr val="2E8B57"/>
                </a:solidFill>
                <a:effectLst/>
                <a:latin typeface="inter-regular"/>
              </a:rPr>
              <a:t>int</a:t>
            </a:r>
            <a:r>
              <a:rPr lang="en-US" b="0" i="0" dirty="0">
                <a:solidFill>
                  <a:srgbClr val="000000"/>
                </a:solidFill>
                <a:effectLst/>
                <a:latin typeface="inter-regular"/>
              </a:rPr>
              <a:t> ∗   p;      </a:t>
            </a:r>
          </a:p>
          <a:p>
            <a:pPr algn="just"/>
            <a:r>
              <a:rPr lang="en-US" b="0" i="0" dirty="0">
                <a:solidFill>
                  <a:srgbClr val="000000"/>
                </a:solidFill>
                <a:effectLst/>
                <a:latin typeface="inter-regular"/>
              </a:rPr>
              <a:t>p=&amp;number;</a:t>
            </a:r>
            <a:r>
              <a:rPr lang="en-US" b="0" i="0" dirty="0">
                <a:solidFill>
                  <a:srgbClr val="008200"/>
                </a:solidFill>
                <a:effectLst/>
                <a:latin typeface="inter-regular"/>
              </a:rPr>
              <a:t>//stores the address of number variable  </a:t>
            </a:r>
            <a:r>
              <a:rPr lang="en-US" b="0" i="0" dirty="0">
                <a:solidFill>
                  <a:srgbClr val="000000"/>
                </a:solidFill>
                <a:effectLst/>
                <a:latin typeface="inter-regular"/>
              </a:rPr>
              <a:t>  </a:t>
            </a:r>
          </a:p>
          <a:p>
            <a:pPr algn="just"/>
            <a:r>
              <a:rPr lang="en-US" b="0" i="0" dirty="0" err="1">
                <a:solidFill>
                  <a:srgbClr val="000000"/>
                </a:solidFill>
                <a:effectLst/>
                <a:latin typeface="inter-regular"/>
              </a:rPr>
              <a:t>cout</a:t>
            </a:r>
            <a:r>
              <a:rPr lang="en-US" b="0" i="0" dirty="0">
                <a:solidFill>
                  <a:srgbClr val="000000"/>
                </a:solidFill>
                <a:effectLst/>
                <a:latin typeface="inter-regular"/>
              </a:rPr>
              <a:t>&lt;&lt;</a:t>
            </a:r>
            <a:r>
              <a:rPr lang="en-US" b="0" i="0" dirty="0">
                <a:solidFill>
                  <a:srgbClr val="0000FF"/>
                </a:solidFill>
                <a:effectLst/>
                <a:latin typeface="inter-regular"/>
              </a:rPr>
              <a:t>"Address of number variable is:"</a:t>
            </a:r>
            <a:r>
              <a:rPr lang="en-US" b="0" i="0" dirty="0">
                <a:solidFill>
                  <a:srgbClr val="000000"/>
                </a:solidFill>
                <a:effectLst/>
                <a:latin typeface="inter-regular"/>
              </a:rPr>
              <a:t>&lt;&lt;&amp;number&lt;&lt;</a:t>
            </a:r>
            <a:r>
              <a:rPr lang="en-US" b="0" i="0" dirty="0" err="1">
                <a:solidFill>
                  <a:srgbClr val="000000"/>
                </a:solidFill>
                <a:effectLst/>
                <a:latin typeface="inter-regular"/>
              </a:rPr>
              <a:t>endl</a:t>
            </a:r>
            <a:r>
              <a:rPr lang="en-US" b="0" i="0" dirty="0">
                <a:solidFill>
                  <a:srgbClr val="000000"/>
                </a:solidFill>
                <a:effectLst/>
                <a:latin typeface="inter-regular"/>
              </a:rPr>
              <a:t>;    </a:t>
            </a:r>
          </a:p>
          <a:p>
            <a:pPr algn="just"/>
            <a:r>
              <a:rPr lang="en-US" b="0" i="0" dirty="0" err="1">
                <a:solidFill>
                  <a:srgbClr val="000000"/>
                </a:solidFill>
                <a:effectLst/>
                <a:latin typeface="inter-regular"/>
              </a:rPr>
              <a:t>cout</a:t>
            </a:r>
            <a:r>
              <a:rPr lang="en-US" b="0" i="0" dirty="0">
                <a:solidFill>
                  <a:srgbClr val="000000"/>
                </a:solidFill>
                <a:effectLst/>
                <a:latin typeface="inter-regular"/>
              </a:rPr>
              <a:t>&lt;&lt;</a:t>
            </a:r>
            <a:r>
              <a:rPr lang="en-US" b="0" i="0" dirty="0">
                <a:solidFill>
                  <a:srgbClr val="0000FF"/>
                </a:solidFill>
                <a:effectLst/>
                <a:latin typeface="inter-regular"/>
              </a:rPr>
              <a:t>"Address of p variable is:"</a:t>
            </a:r>
            <a:r>
              <a:rPr lang="en-US" b="0" i="0" dirty="0">
                <a:solidFill>
                  <a:srgbClr val="000000"/>
                </a:solidFill>
                <a:effectLst/>
                <a:latin typeface="inter-regular"/>
              </a:rPr>
              <a:t>&lt;&lt;p&lt;&lt;</a:t>
            </a:r>
            <a:r>
              <a:rPr lang="en-US" b="0" i="0" dirty="0" err="1">
                <a:solidFill>
                  <a:srgbClr val="000000"/>
                </a:solidFill>
                <a:effectLst/>
                <a:latin typeface="inter-regular"/>
              </a:rPr>
              <a:t>endl</a:t>
            </a:r>
            <a:r>
              <a:rPr lang="en-US" b="0" i="0" dirty="0">
                <a:solidFill>
                  <a:srgbClr val="000000"/>
                </a:solidFill>
                <a:effectLst/>
                <a:latin typeface="inter-regular"/>
              </a:rPr>
              <a:t>;    </a:t>
            </a:r>
          </a:p>
          <a:p>
            <a:pPr algn="just"/>
            <a:r>
              <a:rPr lang="en-US" b="0" i="0" dirty="0" err="1">
                <a:solidFill>
                  <a:srgbClr val="000000"/>
                </a:solidFill>
                <a:effectLst/>
                <a:latin typeface="inter-regular"/>
              </a:rPr>
              <a:t>cout</a:t>
            </a:r>
            <a:r>
              <a:rPr lang="en-US" b="0" i="0" dirty="0">
                <a:solidFill>
                  <a:srgbClr val="000000"/>
                </a:solidFill>
                <a:effectLst/>
                <a:latin typeface="inter-regular"/>
              </a:rPr>
              <a:t>&lt;&lt;</a:t>
            </a:r>
            <a:r>
              <a:rPr lang="en-US" b="0" i="0" dirty="0">
                <a:solidFill>
                  <a:srgbClr val="0000FF"/>
                </a:solidFill>
                <a:effectLst/>
                <a:latin typeface="inter-regular"/>
              </a:rPr>
              <a:t>"Value of p variable is:"</a:t>
            </a:r>
            <a:r>
              <a:rPr lang="en-US" b="0" i="0" dirty="0">
                <a:solidFill>
                  <a:srgbClr val="000000"/>
                </a:solidFill>
                <a:effectLst/>
                <a:latin typeface="inter-regular"/>
              </a:rPr>
              <a:t>&lt;&lt;*p&lt;&lt;</a:t>
            </a:r>
            <a:r>
              <a:rPr lang="en-US" b="0" i="0" dirty="0" err="1">
                <a:solidFill>
                  <a:srgbClr val="000000"/>
                </a:solidFill>
                <a:effectLst/>
                <a:latin typeface="inter-regular"/>
              </a:rPr>
              <a:t>endl</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return</a:t>
            </a:r>
            <a:r>
              <a:rPr lang="en-US" b="0" i="0" dirty="0">
                <a:solidFill>
                  <a:srgbClr val="000000"/>
                </a:solidFill>
                <a:effectLst/>
                <a:latin typeface="inter-regular"/>
              </a:rPr>
              <a:t> 0;  </a:t>
            </a:r>
          </a:p>
          <a:p>
            <a:pPr algn="just"/>
            <a:r>
              <a:rPr lang="en-US" b="0" i="0" dirty="0">
                <a:solidFill>
                  <a:srgbClr val="000000"/>
                </a:solidFill>
                <a:effectLst/>
                <a:latin typeface="inter-regular"/>
              </a:rPr>
              <a:t>}  </a:t>
            </a:r>
          </a:p>
        </p:txBody>
      </p:sp>
      <p:sp>
        <p:nvSpPr>
          <p:cNvPr id="6" name="Rectangle 5">
            <a:extLst>
              <a:ext uri="{FF2B5EF4-FFF2-40B4-BE49-F238E27FC236}">
                <a16:creationId xmlns:a16="http://schemas.microsoft.com/office/drawing/2014/main" id="{52F09217-BE1C-4BF3-830F-A24E46EC9A44}"/>
              </a:ext>
            </a:extLst>
          </p:cNvPr>
          <p:cNvSpPr/>
          <p:nvPr/>
        </p:nvSpPr>
        <p:spPr>
          <a:xfrm>
            <a:off x="7783773" y="4780770"/>
            <a:ext cx="4676633" cy="1477328"/>
          </a:xfrm>
          <a:prstGeom prst="rect">
            <a:avLst/>
          </a:prstGeom>
        </p:spPr>
        <p:txBody>
          <a:bodyPr wrap="square">
            <a:spAutoFit/>
          </a:bodyPr>
          <a:lstStyle/>
          <a:p>
            <a:r>
              <a:rPr lang="en-US" dirty="0"/>
              <a:t>Output:</a:t>
            </a:r>
          </a:p>
          <a:p>
            <a:endParaRPr lang="en-US" dirty="0"/>
          </a:p>
          <a:p>
            <a:r>
              <a:rPr lang="en-US" dirty="0"/>
              <a:t>Address of number variable is:0x7ffccc8724c4</a:t>
            </a:r>
          </a:p>
          <a:p>
            <a:r>
              <a:rPr lang="en-US" dirty="0"/>
              <a:t>Address of p variable is:0x7ffccc8724c4</a:t>
            </a:r>
          </a:p>
          <a:p>
            <a:r>
              <a:rPr lang="en-US" dirty="0"/>
              <a:t>Value of p variable is:30 </a:t>
            </a:r>
          </a:p>
        </p:txBody>
      </p:sp>
    </p:spTree>
    <p:extLst>
      <p:ext uri="{BB962C8B-B14F-4D97-AF65-F5344CB8AC3E}">
        <p14:creationId xmlns:p14="http://schemas.microsoft.com/office/powerpoint/2010/main" val="2010835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4814-439F-47F5-AB6D-4289A3A7B6A6}"/>
              </a:ext>
            </a:extLst>
          </p:cNvPr>
          <p:cNvSpPr>
            <a:spLocks noGrp="1"/>
          </p:cNvSpPr>
          <p:nvPr>
            <p:ph type="title"/>
          </p:nvPr>
        </p:nvSpPr>
        <p:spPr/>
        <p:txBody>
          <a:bodyPr>
            <a:normAutofit fontScale="90000"/>
          </a:bodyPr>
          <a:lstStyle/>
          <a:p>
            <a:r>
              <a:rPr lang="en-US" b="1" dirty="0"/>
              <a:t>Pointer Program to swap 2 numbers without using 3rd variable</a:t>
            </a:r>
            <a:br>
              <a:rPr lang="en-US" dirty="0"/>
            </a:br>
            <a:endParaRPr lang="en-US" dirty="0"/>
          </a:p>
        </p:txBody>
      </p:sp>
      <p:sp>
        <p:nvSpPr>
          <p:cNvPr id="3" name="Content Placeholder 2">
            <a:extLst>
              <a:ext uri="{FF2B5EF4-FFF2-40B4-BE49-F238E27FC236}">
                <a16:creationId xmlns:a16="http://schemas.microsoft.com/office/drawing/2014/main" id="{55E685E4-8998-43AE-9EBE-933302D62312}"/>
              </a:ext>
            </a:extLst>
          </p:cNvPr>
          <p:cNvSpPr>
            <a:spLocks noGrp="1"/>
          </p:cNvSpPr>
          <p:nvPr>
            <p:ph idx="1"/>
          </p:nvPr>
        </p:nvSpPr>
        <p:spPr/>
        <p:txBody>
          <a:bodyPr>
            <a:normAutofit fontScale="77500" lnSpcReduction="20000"/>
          </a:bodyPr>
          <a:lstStyle/>
          <a:p>
            <a:pPr marL="0" indent="0">
              <a:buNone/>
            </a:pPr>
            <a:r>
              <a:rPr lang="en-US" dirty="0"/>
              <a:t>#include &lt;iostream&gt;  </a:t>
            </a:r>
          </a:p>
          <a:p>
            <a:pPr marL="0" indent="0">
              <a:buNone/>
            </a:pPr>
            <a:r>
              <a:rPr lang="en-US" b="1" dirty="0"/>
              <a:t>using</a:t>
            </a:r>
            <a:r>
              <a:rPr lang="en-US" dirty="0"/>
              <a:t> </a:t>
            </a:r>
            <a:r>
              <a:rPr lang="en-US" b="1" dirty="0"/>
              <a:t>namespace</a:t>
            </a:r>
            <a:r>
              <a:rPr lang="en-US" dirty="0"/>
              <a:t> std;  </a:t>
            </a:r>
          </a:p>
          <a:p>
            <a:pPr marL="0" indent="0">
              <a:buNone/>
            </a:pPr>
            <a:r>
              <a:rPr lang="en-US" b="1" dirty="0"/>
              <a:t>int</a:t>
            </a:r>
            <a:r>
              <a:rPr lang="en-US" dirty="0"/>
              <a:t> main()  </a:t>
            </a:r>
          </a:p>
          <a:p>
            <a:pPr marL="0" indent="0">
              <a:buNone/>
            </a:pPr>
            <a:r>
              <a:rPr lang="en-US" dirty="0"/>
              <a:t>{  </a:t>
            </a:r>
          </a:p>
          <a:p>
            <a:pPr marL="0" indent="0">
              <a:buNone/>
            </a:pPr>
            <a:r>
              <a:rPr lang="en-US" b="1" dirty="0"/>
              <a:t>int</a:t>
            </a:r>
            <a:r>
              <a:rPr lang="en-US" dirty="0"/>
              <a:t> a=20,b=10,∗p1=&amp;a,∗p2=&amp;b;    </a:t>
            </a:r>
          </a:p>
          <a:p>
            <a:pPr marL="0" indent="0">
              <a:buNone/>
            </a:pPr>
            <a:r>
              <a:rPr lang="en-US" dirty="0" err="1"/>
              <a:t>cout</a:t>
            </a:r>
            <a:r>
              <a:rPr lang="en-US" dirty="0"/>
              <a:t>&lt;&lt;"Before swap: ∗p1="&lt;&lt;∗p1&lt;&lt;" ∗p2="&lt;&lt;∗p2&lt;&lt;</a:t>
            </a:r>
            <a:r>
              <a:rPr lang="en-US" dirty="0" err="1"/>
              <a:t>endl</a:t>
            </a:r>
            <a:r>
              <a:rPr lang="en-US" dirty="0"/>
              <a:t>;    </a:t>
            </a:r>
          </a:p>
          <a:p>
            <a:pPr marL="0" indent="0">
              <a:buNone/>
            </a:pPr>
            <a:r>
              <a:rPr lang="en-US" dirty="0"/>
              <a:t>∗p1=∗p1+∗p2;    </a:t>
            </a:r>
          </a:p>
          <a:p>
            <a:pPr marL="0" indent="0">
              <a:buNone/>
            </a:pPr>
            <a:r>
              <a:rPr lang="en-US" dirty="0"/>
              <a:t>∗p2=∗p1-∗p2;    </a:t>
            </a:r>
          </a:p>
          <a:p>
            <a:pPr marL="0" indent="0">
              <a:buNone/>
            </a:pPr>
            <a:r>
              <a:rPr lang="en-US" dirty="0"/>
              <a:t>∗p1=∗p1-∗p2;    </a:t>
            </a:r>
          </a:p>
          <a:p>
            <a:pPr marL="0" indent="0">
              <a:buNone/>
            </a:pPr>
            <a:r>
              <a:rPr lang="en-US" dirty="0" err="1"/>
              <a:t>cout</a:t>
            </a:r>
            <a:r>
              <a:rPr lang="en-US" dirty="0"/>
              <a:t>&lt;&lt;"After swap: ∗p1="&lt;&lt;∗p1&lt;&lt;" ∗p2="&lt;&lt;∗p2&lt;&lt;</a:t>
            </a:r>
            <a:r>
              <a:rPr lang="en-US" dirty="0" err="1"/>
              <a:t>endl</a:t>
            </a:r>
            <a:r>
              <a:rPr lang="en-US" dirty="0"/>
              <a:t>;    </a:t>
            </a:r>
          </a:p>
          <a:p>
            <a:pPr marL="0" indent="0">
              <a:buNone/>
            </a:pPr>
            <a:r>
              <a:rPr lang="en-US" dirty="0"/>
              <a:t>   </a:t>
            </a:r>
            <a:r>
              <a:rPr lang="en-US" b="1" dirty="0"/>
              <a:t>return</a:t>
            </a:r>
            <a:r>
              <a:rPr lang="en-US" dirty="0"/>
              <a:t> 0;  </a:t>
            </a:r>
          </a:p>
          <a:p>
            <a:pPr marL="0" indent="0">
              <a:buNone/>
            </a:pPr>
            <a:r>
              <a:rPr lang="en-US" dirty="0"/>
              <a:t>}  </a:t>
            </a:r>
          </a:p>
          <a:p>
            <a:endParaRPr lang="en-US" dirty="0"/>
          </a:p>
        </p:txBody>
      </p:sp>
      <p:sp>
        <p:nvSpPr>
          <p:cNvPr id="4" name="Content Placeholder 2">
            <a:extLst>
              <a:ext uri="{FF2B5EF4-FFF2-40B4-BE49-F238E27FC236}">
                <a16:creationId xmlns:a16="http://schemas.microsoft.com/office/drawing/2014/main" id="{5B7EDEC2-18AA-457D-82F8-0E3079A35533}"/>
              </a:ext>
            </a:extLst>
          </p:cNvPr>
          <p:cNvSpPr txBox="1">
            <a:spLocks/>
          </p:cNvSpPr>
          <p:nvPr/>
        </p:nvSpPr>
        <p:spPr>
          <a:xfrm>
            <a:off x="7593842" y="4708525"/>
            <a:ext cx="4402540"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Output:</a:t>
            </a:r>
          </a:p>
          <a:p>
            <a:pPr marL="0" indent="0">
              <a:buFont typeface="Arial" panose="020B0604020202020204" pitchFamily="34" charset="0"/>
              <a:buNone/>
            </a:pPr>
            <a:r>
              <a:rPr lang="en-US" dirty="0"/>
              <a:t>Before swap: ∗p1=20 ∗p2=10</a:t>
            </a:r>
          </a:p>
          <a:p>
            <a:pPr marL="0" indent="0">
              <a:buFont typeface="Arial" panose="020B0604020202020204" pitchFamily="34" charset="0"/>
              <a:buNone/>
            </a:pPr>
            <a:r>
              <a:rPr lang="en-US" dirty="0"/>
              <a:t>After swap: ∗p1=10 ∗p2=20</a:t>
            </a:r>
          </a:p>
        </p:txBody>
      </p:sp>
    </p:spTree>
    <p:extLst>
      <p:ext uri="{BB962C8B-B14F-4D97-AF65-F5344CB8AC3E}">
        <p14:creationId xmlns:p14="http://schemas.microsoft.com/office/powerpoint/2010/main" val="3971554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8DAD4-4EF1-42EE-95F5-00D5EB81E441}"/>
              </a:ext>
            </a:extLst>
          </p:cNvPr>
          <p:cNvSpPr>
            <a:spLocks noGrp="1"/>
          </p:cNvSpPr>
          <p:nvPr>
            <p:ph type="title"/>
          </p:nvPr>
        </p:nvSpPr>
        <p:spPr>
          <a:xfrm>
            <a:off x="838200" y="365126"/>
            <a:ext cx="10515600" cy="808582"/>
          </a:xfrm>
        </p:spPr>
        <p:txBody>
          <a:bodyPr/>
          <a:lstStyle/>
          <a:p>
            <a:r>
              <a:rPr lang="en-US" b="1" dirty="0"/>
              <a:t>What is a void pointer?</a:t>
            </a:r>
            <a:endParaRPr lang="en-US" dirty="0"/>
          </a:p>
        </p:txBody>
      </p:sp>
      <p:sp>
        <p:nvSpPr>
          <p:cNvPr id="3" name="Content Placeholder 2">
            <a:extLst>
              <a:ext uri="{FF2B5EF4-FFF2-40B4-BE49-F238E27FC236}">
                <a16:creationId xmlns:a16="http://schemas.microsoft.com/office/drawing/2014/main" id="{C2D3E4F7-ED7F-420C-8DF5-B8FF258F2BA9}"/>
              </a:ext>
            </a:extLst>
          </p:cNvPr>
          <p:cNvSpPr>
            <a:spLocks noGrp="1"/>
          </p:cNvSpPr>
          <p:nvPr>
            <p:ph idx="1"/>
          </p:nvPr>
        </p:nvSpPr>
        <p:spPr>
          <a:xfrm>
            <a:off x="838200" y="1173708"/>
            <a:ext cx="10515600" cy="5003255"/>
          </a:xfrm>
        </p:spPr>
        <p:txBody>
          <a:bodyPr/>
          <a:lstStyle/>
          <a:p>
            <a:pPr marL="0" indent="0">
              <a:buNone/>
            </a:pPr>
            <a:r>
              <a:rPr lang="en-US" dirty="0"/>
              <a:t>This unique type of pointer, which is available in C++, stands in for the lack of a kind. Pointers that point to a value that has no type are known as void pointers (and thus also an undetermined length and undetermined dereferencing properties). </a:t>
            </a:r>
          </a:p>
          <a:p>
            <a:pPr marL="0" indent="0">
              <a:buNone/>
            </a:pPr>
            <a:r>
              <a:rPr lang="en-US" dirty="0"/>
              <a:t>This indicates that void pointers are very flexible because they can point to any data type. This flexibility has benefits. Direct dereference is not possible with these pointers.</a:t>
            </a:r>
          </a:p>
          <a:p>
            <a:pPr marL="0" indent="0">
              <a:buNone/>
            </a:pPr>
            <a:r>
              <a:rPr lang="en-US" dirty="0"/>
              <a:t>Before they may be dereferenced, they must be converted into another pointer type that points to a specific data type.</a:t>
            </a:r>
          </a:p>
          <a:p>
            <a:endParaRPr lang="en-US" dirty="0"/>
          </a:p>
        </p:txBody>
      </p:sp>
    </p:spTree>
    <p:extLst>
      <p:ext uri="{BB962C8B-B14F-4D97-AF65-F5344CB8AC3E}">
        <p14:creationId xmlns:p14="http://schemas.microsoft.com/office/powerpoint/2010/main" val="4242264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50FEF-51F6-4A0B-8A34-D7628A30C4C9}"/>
              </a:ext>
            </a:extLst>
          </p:cNvPr>
          <p:cNvSpPr>
            <a:spLocks noGrp="1"/>
          </p:cNvSpPr>
          <p:nvPr>
            <p:ph type="title"/>
          </p:nvPr>
        </p:nvSpPr>
        <p:spPr>
          <a:xfrm>
            <a:off x="838200" y="365126"/>
            <a:ext cx="10515600" cy="713048"/>
          </a:xfrm>
        </p:spPr>
        <p:txBody>
          <a:bodyPr/>
          <a:lstStyle/>
          <a:p>
            <a:r>
              <a:rPr lang="en-US" b="1" dirty="0"/>
              <a:t>What is a invalid pointer?</a:t>
            </a:r>
            <a:endParaRPr lang="en-US" dirty="0"/>
          </a:p>
        </p:txBody>
      </p:sp>
      <p:sp>
        <p:nvSpPr>
          <p:cNvPr id="3" name="Content Placeholder 2">
            <a:extLst>
              <a:ext uri="{FF2B5EF4-FFF2-40B4-BE49-F238E27FC236}">
                <a16:creationId xmlns:a16="http://schemas.microsoft.com/office/drawing/2014/main" id="{6BDC3E3D-2527-45BA-A52D-C5B31666FA4A}"/>
              </a:ext>
            </a:extLst>
          </p:cNvPr>
          <p:cNvSpPr>
            <a:spLocks noGrp="1"/>
          </p:cNvSpPr>
          <p:nvPr>
            <p:ph idx="1"/>
          </p:nvPr>
        </p:nvSpPr>
        <p:spPr>
          <a:xfrm>
            <a:off x="838200" y="1078174"/>
            <a:ext cx="10515600" cy="5098789"/>
          </a:xfrm>
        </p:spPr>
        <p:txBody>
          <a:bodyPr>
            <a:normAutofit/>
          </a:bodyPr>
          <a:lstStyle/>
          <a:p>
            <a:pPr marL="0" indent="0">
              <a:buNone/>
            </a:pPr>
            <a:r>
              <a:rPr lang="en-US" dirty="0"/>
              <a:t>A pointer must point to a valid address, not necessarily to useful items (like for arrays). We refer to these as incorrect pointers. Additionally, incorrect pointers are uninitialized pointers.</a:t>
            </a:r>
          </a:p>
          <a:p>
            <a:pPr marL="0" indent="0">
              <a:buNone/>
            </a:pPr>
            <a:endParaRPr lang="en-US" dirty="0"/>
          </a:p>
          <a:p>
            <a:pPr marL="0" indent="0">
              <a:buNone/>
            </a:pPr>
            <a:r>
              <a:rPr lang="en-US" dirty="0"/>
              <a:t>int *ptr1;  </a:t>
            </a:r>
          </a:p>
          <a:p>
            <a:pPr marL="0" indent="0">
              <a:buNone/>
            </a:pPr>
            <a:r>
              <a:rPr lang="en-US" dirty="0"/>
              <a:t>int </a:t>
            </a:r>
            <a:r>
              <a:rPr lang="en-US" dirty="0" err="1"/>
              <a:t>arr</a:t>
            </a:r>
            <a:r>
              <a:rPr lang="en-US" dirty="0"/>
              <a:t>[10];  </a:t>
            </a:r>
          </a:p>
          <a:p>
            <a:pPr marL="0" indent="0">
              <a:buNone/>
            </a:pPr>
            <a:r>
              <a:rPr lang="en-US" dirty="0"/>
              <a:t>int *ptr2 = arr+20;  </a:t>
            </a:r>
          </a:p>
          <a:p>
            <a:pPr marL="0" indent="0">
              <a:buNone/>
            </a:pPr>
            <a:endParaRPr lang="en-US" dirty="0"/>
          </a:p>
          <a:p>
            <a:pPr marL="0" indent="0">
              <a:buNone/>
            </a:pPr>
            <a:r>
              <a:rPr lang="en-US" dirty="0"/>
              <a:t>Here, ptr1 is not initialized, making it invalid, and ptr2 is outside of the bounds of </a:t>
            </a:r>
            <a:r>
              <a:rPr lang="en-US" dirty="0" err="1"/>
              <a:t>arr</a:t>
            </a:r>
            <a:r>
              <a:rPr lang="en-US" dirty="0"/>
              <a:t>, making it likewise weak. (Take note that not all build failures are caused by faulty references.)</a:t>
            </a:r>
          </a:p>
        </p:txBody>
      </p:sp>
    </p:spTree>
    <p:extLst>
      <p:ext uri="{BB962C8B-B14F-4D97-AF65-F5344CB8AC3E}">
        <p14:creationId xmlns:p14="http://schemas.microsoft.com/office/powerpoint/2010/main" val="3907471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2957-A837-41CC-99B7-3E2B8FD12EE8}"/>
              </a:ext>
            </a:extLst>
          </p:cNvPr>
          <p:cNvSpPr>
            <a:spLocks noGrp="1"/>
          </p:cNvSpPr>
          <p:nvPr>
            <p:ph type="title"/>
          </p:nvPr>
        </p:nvSpPr>
        <p:spPr/>
        <p:txBody>
          <a:bodyPr/>
          <a:lstStyle/>
          <a:p>
            <a:r>
              <a:rPr lang="en-US" b="1" dirty="0"/>
              <a:t>What is a null pointer?</a:t>
            </a:r>
          </a:p>
        </p:txBody>
      </p:sp>
      <p:sp>
        <p:nvSpPr>
          <p:cNvPr id="3" name="Content Placeholder 2">
            <a:extLst>
              <a:ext uri="{FF2B5EF4-FFF2-40B4-BE49-F238E27FC236}">
                <a16:creationId xmlns:a16="http://schemas.microsoft.com/office/drawing/2014/main" id="{A103469B-38F5-44D6-916D-27EED2623125}"/>
              </a:ext>
            </a:extLst>
          </p:cNvPr>
          <p:cNvSpPr>
            <a:spLocks noGrp="1"/>
          </p:cNvSpPr>
          <p:nvPr>
            <p:ph idx="1"/>
          </p:nvPr>
        </p:nvSpPr>
        <p:spPr/>
        <p:txBody>
          <a:bodyPr/>
          <a:lstStyle/>
          <a:p>
            <a:r>
              <a:rPr lang="en-US" dirty="0"/>
              <a:t>A null pointer is not merely an incorrect address; it also points nowhere. Here are two ways to mark a pointer as NULL:</a:t>
            </a:r>
          </a:p>
          <a:p>
            <a:r>
              <a:rPr lang="sv-SE" b="1" dirty="0"/>
              <a:t>int</a:t>
            </a:r>
            <a:r>
              <a:rPr lang="sv-SE" dirty="0"/>
              <a:t> *ptr1 = 0;  </a:t>
            </a:r>
          </a:p>
          <a:p>
            <a:r>
              <a:rPr lang="sv-SE" b="1" dirty="0"/>
              <a:t>int</a:t>
            </a:r>
            <a:r>
              <a:rPr lang="sv-SE" dirty="0"/>
              <a:t> *ptr2 = NULL;  </a:t>
            </a:r>
          </a:p>
          <a:p>
            <a:endParaRPr lang="en-US" dirty="0"/>
          </a:p>
        </p:txBody>
      </p:sp>
    </p:spTree>
    <p:extLst>
      <p:ext uri="{BB962C8B-B14F-4D97-AF65-F5344CB8AC3E}">
        <p14:creationId xmlns:p14="http://schemas.microsoft.com/office/powerpoint/2010/main" val="2627205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EE3F-667C-4381-A3F0-25813BA30509}"/>
              </a:ext>
            </a:extLst>
          </p:cNvPr>
          <p:cNvSpPr>
            <a:spLocks noGrp="1"/>
          </p:cNvSpPr>
          <p:nvPr>
            <p:ph type="title"/>
          </p:nvPr>
        </p:nvSpPr>
        <p:spPr/>
        <p:txBody>
          <a:bodyPr/>
          <a:lstStyle/>
          <a:p>
            <a:r>
              <a:rPr lang="en-US" b="1" dirty="0"/>
              <a:t>What is a pointer to a pointer?</a:t>
            </a:r>
          </a:p>
        </p:txBody>
      </p:sp>
      <p:sp>
        <p:nvSpPr>
          <p:cNvPr id="3" name="Content Placeholder 2">
            <a:extLst>
              <a:ext uri="{FF2B5EF4-FFF2-40B4-BE49-F238E27FC236}">
                <a16:creationId xmlns:a16="http://schemas.microsoft.com/office/drawing/2014/main" id="{258144AD-81A2-42D2-BB66-86A2AA93D3E5}"/>
              </a:ext>
            </a:extLst>
          </p:cNvPr>
          <p:cNvSpPr>
            <a:spLocks noGrp="1"/>
          </p:cNvSpPr>
          <p:nvPr>
            <p:ph idx="1"/>
          </p:nvPr>
        </p:nvSpPr>
        <p:spPr/>
        <p:txBody>
          <a:bodyPr>
            <a:normAutofit fontScale="92500" lnSpcReduction="10000"/>
          </a:bodyPr>
          <a:lstStyle/>
          <a:p>
            <a:pPr marL="0" indent="0">
              <a:buNone/>
            </a:pPr>
            <a:r>
              <a:rPr lang="en-US" dirty="0"/>
              <a:t>In C++, we have the ability to build a pointer to another pointer, which might then point to data or another pointer. The unary operator (*) is all that is needed in the syntax for declaring the pointer for each level of indirection.</a:t>
            </a:r>
          </a:p>
          <a:p>
            <a:pPr marL="0" indent="0">
              <a:buNone/>
            </a:pPr>
            <a:r>
              <a:rPr lang="en-US" b="1" dirty="0"/>
              <a:t>char</a:t>
            </a:r>
            <a:r>
              <a:rPr lang="en-US" dirty="0"/>
              <a:t> a;  </a:t>
            </a:r>
          </a:p>
          <a:p>
            <a:pPr marL="0" indent="0">
              <a:buNone/>
            </a:pPr>
            <a:r>
              <a:rPr lang="en-US" b="1" dirty="0"/>
              <a:t>char</a:t>
            </a:r>
            <a:r>
              <a:rPr lang="en-US" dirty="0"/>
              <a:t> *b;  </a:t>
            </a:r>
          </a:p>
          <a:p>
            <a:pPr marL="0" indent="0">
              <a:buNone/>
            </a:pPr>
            <a:r>
              <a:rPr lang="en-US" b="1" dirty="0"/>
              <a:t>char</a:t>
            </a:r>
            <a:r>
              <a:rPr lang="en-US" dirty="0"/>
              <a:t> ** c;  </a:t>
            </a:r>
          </a:p>
          <a:p>
            <a:pPr marL="0" indent="0">
              <a:buNone/>
            </a:pPr>
            <a:r>
              <a:rPr lang="en-US" dirty="0"/>
              <a:t>a = 'g';  </a:t>
            </a:r>
          </a:p>
          <a:p>
            <a:pPr marL="0" indent="0">
              <a:buNone/>
            </a:pPr>
            <a:r>
              <a:rPr lang="en-US" dirty="0"/>
              <a:t>b = &amp;a;  </a:t>
            </a:r>
          </a:p>
          <a:p>
            <a:pPr marL="0" indent="0">
              <a:buNone/>
            </a:pPr>
            <a:r>
              <a:rPr lang="en-US" dirty="0"/>
              <a:t>c = &amp;b;  </a:t>
            </a:r>
          </a:p>
          <a:p>
            <a:pPr marL="0" indent="0">
              <a:buNone/>
            </a:pPr>
            <a:r>
              <a:rPr lang="en-US" dirty="0"/>
              <a:t>Here b points to a char that stores 'g', and c points to the pointer b.</a:t>
            </a:r>
          </a:p>
          <a:p>
            <a:endParaRPr lang="en-US" dirty="0"/>
          </a:p>
        </p:txBody>
      </p:sp>
    </p:spTree>
    <p:extLst>
      <p:ext uri="{BB962C8B-B14F-4D97-AF65-F5344CB8AC3E}">
        <p14:creationId xmlns:p14="http://schemas.microsoft.com/office/powerpoint/2010/main" val="2178119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DB3D-4ACA-4EAE-BADA-0A602D43C072}"/>
              </a:ext>
            </a:extLst>
          </p:cNvPr>
          <p:cNvSpPr>
            <a:spLocks noGrp="1"/>
          </p:cNvSpPr>
          <p:nvPr>
            <p:ph type="title"/>
          </p:nvPr>
        </p:nvSpPr>
        <p:spPr/>
        <p:txBody>
          <a:bodyPr/>
          <a:lstStyle/>
          <a:p>
            <a:r>
              <a:rPr lang="en-US" dirty="0"/>
              <a:t>What are references and pointers?</a:t>
            </a:r>
          </a:p>
        </p:txBody>
      </p:sp>
      <p:sp>
        <p:nvSpPr>
          <p:cNvPr id="3" name="Content Placeholder 2">
            <a:extLst>
              <a:ext uri="{FF2B5EF4-FFF2-40B4-BE49-F238E27FC236}">
                <a16:creationId xmlns:a16="http://schemas.microsoft.com/office/drawing/2014/main" id="{9BD37652-6388-434D-B266-6E08C6B5F42A}"/>
              </a:ext>
            </a:extLst>
          </p:cNvPr>
          <p:cNvSpPr>
            <a:spLocks noGrp="1"/>
          </p:cNvSpPr>
          <p:nvPr>
            <p:ph idx="1"/>
          </p:nvPr>
        </p:nvSpPr>
        <p:spPr/>
        <p:txBody>
          <a:bodyPr/>
          <a:lstStyle/>
          <a:p>
            <a:r>
              <a:rPr lang="en-US" dirty="0"/>
              <a:t>Call-By-Value</a:t>
            </a:r>
          </a:p>
          <a:p>
            <a:r>
              <a:rPr lang="en-US" dirty="0"/>
              <a:t>Call-By-Reference with a Pointer Argument</a:t>
            </a:r>
          </a:p>
          <a:p>
            <a:r>
              <a:rPr lang="en-US" dirty="0"/>
              <a:t>Call-By-Reference with a Reference Argument</a:t>
            </a:r>
          </a:p>
          <a:p>
            <a:endParaRPr lang="en-US" dirty="0"/>
          </a:p>
        </p:txBody>
      </p:sp>
    </p:spTree>
    <p:extLst>
      <p:ext uri="{BB962C8B-B14F-4D97-AF65-F5344CB8AC3E}">
        <p14:creationId xmlns:p14="http://schemas.microsoft.com/office/powerpoint/2010/main" val="894248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62BFF-EC30-45E9-9A77-35B1A491D976}"/>
              </a:ext>
            </a:extLst>
          </p:cNvPr>
          <p:cNvSpPr>
            <a:spLocks noGrp="1"/>
          </p:cNvSpPr>
          <p:nvPr>
            <p:ph type="title"/>
          </p:nvPr>
        </p:nvSpPr>
        <p:spPr>
          <a:xfrm>
            <a:off x="838200" y="365126"/>
            <a:ext cx="10515600" cy="726696"/>
          </a:xfrm>
        </p:spPr>
        <p:txBody>
          <a:bodyPr/>
          <a:lstStyle/>
          <a:p>
            <a:r>
              <a:rPr lang="en-US" dirty="0"/>
              <a:t>Call by Value</a:t>
            </a:r>
          </a:p>
        </p:txBody>
      </p:sp>
      <p:sp>
        <p:nvSpPr>
          <p:cNvPr id="3" name="Content Placeholder 2">
            <a:extLst>
              <a:ext uri="{FF2B5EF4-FFF2-40B4-BE49-F238E27FC236}">
                <a16:creationId xmlns:a16="http://schemas.microsoft.com/office/drawing/2014/main" id="{F4B9B296-6787-40AD-8EE8-F50BD05C0831}"/>
              </a:ext>
            </a:extLst>
          </p:cNvPr>
          <p:cNvSpPr>
            <a:spLocks noGrp="1"/>
          </p:cNvSpPr>
          <p:nvPr>
            <p:ph idx="1"/>
          </p:nvPr>
        </p:nvSpPr>
        <p:spPr>
          <a:xfrm>
            <a:off x="838200" y="1091822"/>
            <a:ext cx="10515600" cy="5295330"/>
          </a:xfrm>
        </p:spPr>
        <p:txBody>
          <a:bodyPr>
            <a:normAutofit fontScale="85000" lnSpcReduction="20000"/>
          </a:bodyPr>
          <a:lstStyle/>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void </a:t>
            </a:r>
            <a:r>
              <a:rPr lang="en-US" dirty="0" err="1"/>
              <a:t>changeValue</a:t>
            </a:r>
            <a:r>
              <a:rPr lang="en-US" dirty="0"/>
              <a:t>(int x) {</a:t>
            </a:r>
          </a:p>
          <a:p>
            <a:pPr marL="0" indent="0">
              <a:buNone/>
            </a:pPr>
            <a:r>
              <a:rPr lang="en-US" dirty="0"/>
              <a:t>    x = 100;</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int a = 10;</a:t>
            </a:r>
          </a:p>
          <a:p>
            <a:pPr marL="0" indent="0">
              <a:buNone/>
            </a:pPr>
            <a:r>
              <a:rPr lang="en-US" dirty="0"/>
              <a:t>    </a:t>
            </a:r>
            <a:r>
              <a:rPr lang="en-US" dirty="0" err="1"/>
              <a:t>changeValue</a:t>
            </a:r>
            <a:r>
              <a:rPr lang="en-US" dirty="0"/>
              <a:t>(a);</a:t>
            </a:r>
          </a:p>
          <a:p>
            <a:pPr marL="0" indent="0">
              <a:buNone/>
            </a:pPr>
            <a:r>
              <a:rPr lang="en-US" dirty="0"/>
              <a:t>    </a:t>
            </a:r>
            <a:r>
              <a:rPr lang="en-US" dirty="0" err="1"/>
              <a:t>cout</a:t>
            </a:r>
            <a:r>
              <a:rPr lang="en-US" dirty="0"/>
              <a:t> &lt;&lt; a;  </a:t>
            </a:r>
          </a:p>
          <a:p>
            <a:pPr marL="0" indent="0">
              <a:buNone/>
            </a:pPr>
            <a:r>
              <a:rPr lang="en-US" dirty="0"/>
              <a:t>    return 0;</a:t>
            </a:r>
          </a:p>
          <a:p>
            <a:pPr marL="0" indent="0">
              <a:buNone/>
            </a:pPr>
            <a:r>
              <a:rPr lang="en-US" dirty="0"/>
              <a:t>}</a:t>
            </a:r>
          </a:p>
          <a:p>
            <a:endParaRPr lang="en-US" dirty="0"/>
          </a:p>
        </p:txBody>
      </p:sp>
    </p:spTree>
    <p:extLst>
      <p:ext uri="{BB962C8B-B14F-4D97-AF65-F5344CB8AC3E}">
        <p14:creationId xmlns:p14="http://schemas.microsoft.com/office/powerpoint/2010/main" val="2559046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313AB-D404-448F-ADAA-23E3A19D18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6B7ED4-6BFE-4982-B565-32A25507A499}"/>
              </a:ext>
            </a:extLst>
          </p:cNvPr>
          <p:cNvSpPr>
            <a:spLocks noGrp="1"/>
          </p:cNvSpPr>
          <p:nvPr>
            <p:ph idx="1"/>
          </p:nvPr>
        </p:nvSpPr>
        <p:spPr/>
        <p:txBody>
          <a:bodyPr/>
          <a:lstStyle/>
          <a:p>
            <a:r>
              <a:rPr lang="en-US" dirty="0"/>
              <a:t>Output: 10</a:t>
            </a:r>
          </a:p>
        </p:txBody>
      </p:sp>
    </p:spTree>
    <p:extLst>
      <p:ext uri="{BB962C8B-B14F-4D97-AF65-F5344CB8AC3E}">
        <p14:creationId xmlns:p14="http://schemas.microsoft.com/office/powerpoint/2010/main" val="3035009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14E48-B743-477B-89FF-06C20C84544E}"/>
              </a:ext>
            </a:extLst>
          </p:cNvPr>
          <p:cNvSpPr>
            <a:spLocks noGrp="1"/>
          </p:cNvSpPr>
          <p:nvPr>
            <p:ph type="title"/>
          </p:nvPr>
        </p:nvSpPr>
        <p:spPr/>
        <p:txBody>
          <a:bodyPr/>
          <a:lstStyle/>
          <a:p>
            <a:r>
              <a:rPr lang="en-US" dirty="0"/>
              <a:t>Call by reference value</a:t>
            </a:r>
          </a:p>
        </p:txBody>
      </p:sp>
      <p:sp>
        <p:nvSpPr>
          <p:cNvPr id="3" name="Content Placeholder 2">
            <a:extLst>
              <a:ext uri="{FF2B5EF4-FFF2-40B4-BE49-F238E27FC236}">
                <a16:creationId xmlns:a16="http://schemas.microsoft.com/office/drawing/2014/main" id="{43CCFDCA-5F2D-46D3-86C0-813B9F9E8033}"/>
              </a:ext>
            </a:extLst>
          </p:cNvPr>
          <p:cNvSpPr>
            <a:spLocks noGrp="1"/>
          </p:cNvSpPr>
          <p:nvPr>
            <p:ph idx="1"/>
          </p:nvPr>
        </p:nvSpPr>
        <p:spPr>
          <a:xfrm>
            <a:off x="838200" y="1528549"/>
            <a:ext cx="10515600" cy="4648414"/>
          </a:xfrm>
        </p:spPr>
        <p:txBody>
          <a:bodyPr>
            <a:normAutofit fontScale="70000" lnSpcReduction="20000"/>
          </a:bodyPr>
          <a:lstStyle/>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void </a:t>
            </a:r>
            <a:r>
              <a:rPr lang="en-US" dirty="0" err="1"/>
              <a:t>changeValue</a:t>
            </a:r>
            <a:r>
              <a:rPr lang="en-US" dirty="0"/>
              <a:t>(int &amp;x) {</a:t>
            </a:r>
          </a:p>
          <a:p>
            <a:pPr marL="0" indent="0">
              <a:buNone/>
            </a:pPr>
            <a:r>
              <a:rPr lang="en-US" dirty="0"/>
              <a:t>    x = 100;</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int a = 10;</a:t>
            </a:r>
          </a:p>
          <a:p>
            <a:pPr marL="0" indent="0">
              <a:buNone/>
            </a:pPr>
            <a:r>
              <a:rPr lang="en-US" dirty="0"/>
              <a:t>    </a:t>
            </a:r>
            <a:r>
              <a:rPr lang="en-US" dirty="0" err="1"/>
              <a:t>changeValue</a:t>
            </a:r>
            <a:r>
              <a:rPr lang="en-US" dirty="0"/>
              <a:t>(a);</a:t>
            </a:r>
          </a:p>
          <a:p>
            <a:pPr marL="0" indent="0">
              <a:buNone/>
            </a:pPr>
            <a:r>
              <a:rPr lang="en-US" dirty="0"/>
              <a:t>    </a:t>
            </a:r>
            <a:r>
              <a:rPr lang="en-US" dirty="0" err="1"/>
              <a:t>cout</a:t>
            </a:r>
            <a:r>
              <a:rPr lang="en-US" dirty="0"/>
              <a:t> &lt;&lt; a;  </a:t>
            </a:r>
          </a:p>
          <a:p>
            <a:pPr marL="0" indent="0">
              <a:buNone/>
            </a:pPr>
            <a:r>
              <a:rPr lang="en-US" dirty="0"/>
              <a:t>    return 0;</a:t>
            </a:r>
          </a:p>
          <a:p>
            <a:pPr marL="0" indent="0">
              <a:buNone/>
            </a:pPr>
            <a:r>
              <a:rPr lang="en-US" dirty="0"/>
              <a:t>}</a:t>
            </a:r>
          </a:p>
          <a:p>
            <a:endParaRPr lang="en-US" dirty="0"/>
          </a:p>
        </p:txBody>
      </p:sp>
    </p:spTree>
    <p:extLst>
      <p:ext uri="{BB962C8B-B14F-4D97-AF65-F5344CB8AC3E}">
        <p14:creationId xmlns:p14="http://schemas.microsoft.com/office/powerpoint/2010/main" val="4232500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D68E-C969-4A1D-AB73-18037D771D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996B81-1014-42FE-B178-2A6EA3AF4451}"/>
              </a:ext>
            </a:extLst>
          </p:cNvPr>
          <p:cNvSpPr>
            <a:spLocks noGrp="1"/>
          </p:cNvSpPr>
          <p:nvPr>
            <p:ph idx="1"/>
          </p:nvPr>
        </p:nvSpPr>
        <p:spPr/>
        <p:txBody>
          <a:bodyPr/>
          <a:lstStyle/>
          <a:p>
            <a:r>
              <a:rPr lang="en-US" dirty="0"/>
              <a:t>Output: 100</a:t>
            </a:r>
          </a:p>
        </p:txBody>
      </p:sp>
    </p:spTree>
    <p:extLst>
      <p:ext uri="{BB962C8B-B14F-4D97-AF65-F5344CB8AC3E}">
        <p14:creationId xmlns:p14="http://schemas.microsoft.com/office/powerpoint/2010/main" val="1216443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C9935-C4D4-4782-A141-73BAF4D1AE12}"/>
              </a:ext>
            </a:extLst>
          </p:cNvPr>
          <p:cNvSpPr>
            <a:spLocks noGrp="1"/>
          </p:cNvSpPr>
          <p:nvPr>
            <p:ph idx="1"/>
          </p:nvPr>
        </p:nvSpPr>
        <p:spPr>
          <a:xfrm>
            <a:off x="838200" y="395785"/>
            <a:ext cx="10515600" cy="5781178"/>
          </a:xfrm>
        </p:spPr>
        <p:txBody>
          <a:bodyPr>
            <a:normAutofit fontScale="92500" lnSpcReduction="10000"/>
          </a:bodyPr>
          <a:lstStyle/>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void </a:t>
            </a:r>
            <a:r>
              <a:rPr lang="en-US" dirty="0" err="1"/>
              <a:t>changeValue</a:t>
            </a:r>
            <a:r>
              <a:rPr lang="en-US" dirty="0"/>
              <a:t>(int *x) {</a:t>
            </a:r>
          </a:p>
          <a:p>
            <a:pPr marL="0" indent="0">
              <a:buNone/>
            </a:pPr>
            <a:r>
              <a:rPr lang="en-US" dirty="0"/>
              <a:t>    *x = 100;  // Modifies the original variable through the pointer</a:t>
            </a:r>
          </a:p>
          <a:p>
            <a:pPr marL="0" indent="0">
              <a:buNone/>
            </a:pPr>
            <a:r>
              <a:rPr lang="en-US" dirty="0"/>
              <a:t>}</a:t>
            </a:r>
          </a:p>
          <a:p>
            <a:pPr marL="0" indent="0">
              <a:buNone/>
            </a:pPr>
            <a:endParaRPr lang="en-US" dirty="0"/>
          </a:p>
          <a:p>
            <a:pPr marL="0" indent="0">
              <a:buNone/>
            </a:pPr>
            <a:r>
              <a:rPr lang="en-US" dirty="0"/>
              <a:t>int main() {</a:t>
            </a:r>
          </a:p>
          <a:p>
            <a:pPr marL="0" indent="0">
              <a:buNone/>
            </a:pPr>
            <a:r>
              <a:rPr lang="en-US" dirty="0"/>
              <a:t>    int a = 10;</a:t>
            </a:r>
          </a:p>
          <a:p>
            <a:pPr marL="0" indent="0">
              <a:buNone/>
            </a:pPr>
            <a:r>
              <a:rPr lang="en-US" dirty="0"/>
              <a:t>    </a:t>
            </a:r>
            <a:r>
              <a:rPr lang="en-US" dirty="0" err="1"/>
              <a:t>changeValue</a:t>
            </a:r>
            <a:r>
              <a:rPr lang="en-US" dirty="0"/>
              <a:t>(&amp;a);  // Pass the address of 'a'</a:t>
            </a:r>
          </a:p>
          <a:p>
            <a:pPr marL="0" indent="0">
              <a:buNone/>
            </a:pPr>
            <a:r>
              <a:rPr lang="en-US" dirty="0"/>
              <a:t>    </a:t>
            </a:r>
            <a:r>
              <a:rPr lang="en-US" dirty="0" err="1"/>
              <a:t>cout</a:t>
            </a:r>
            <a:r>
              <a:rPr lang="en-US" dirty="0"/>
              <a:t> &lt;&lt; "After function call: " &lt;&lt; a &lt;&lt; </a:t>
            </a:r>
            <a:r>
              <a:rPr lang="en-US" dirty="0" err="1"/>
              <a:t>endl</a:t>
            </a:r>
            <a:r>
              <a:rPr lang="en-US" dirty="0"/>
              <a:t>;  // Output: 100</a:t>
            </a:r>
          </a:p>
          <a:p>
            <a:pPr marL="0" indent="0">
              <a:buNone/>
            </a:pPr>
            <a:r>
              <a:rPr lang="en-US" dirty="0"/>
              <a:t>    return 0;</a:t>
            </a:r>
          </a:p>
          <a:p>
            <a:pPr marL="0" indent="0">
              <a:buNone/>
            </a:pPr>
            <a:r>
              <a:rPr lang="en-US" dirty="0"/>
              <a:t>}</a:t>
            </a:r>
          </a:p>
          <a:p>
            <a:endParaRPr lang="en-US" dirty="0"/>
          </a:p>
        </p:txBody>
      </p:sp>
    </p:spTree>
    <p:extLst>
      <p:ext uri="{BB962C8B-B14F-4D97-AF65-F5344CB8AC3E}">
        <p14:creationId xmlns:p14="http://schemas.microsoft.com/office/powerpoint/2010/main" val="1335671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4085A4-1067-468B-850B-83E5F5F1B0F8}"/>
              </a:ext>
            </a:extLst>
          </p:cNvPr>
          <p:cNvSpPr/>
          <p:nvPr/>
        </p:nvSpPr>
        <p:spPr>
          <a:xfrm>
            <a:off x="332096" y="338372"/>
            <a:ext cx="6096000" cy="3970318"/>
          </a:xfrm>
          <a:prstGeom prst="rect">
            <a:avLst/>
          </a:prstGeom>
        </p:spPr>
        <p:txBody>
          <a:bodyPr>
            <a:spAutoFit/>
          </a:bodyPr>
          <a:lstStyle/>
          <a:p>
            <a:pPr algn="just"/>
            <a:r>
              <a:rPr lang="en-US" b="0" i="0" dirty="0">
                <a:solidFill>
                  <a:srgbClr val="0000FF"/>
                </a:solidFill>
                <a:effectLst/>
                <a:latin typeface="inter-regular"/>
              </a:rPr>
              <a:t>#include </a:t>
            </a:r>
            <a:r>
              <a:rPr lang="en-US" b="0" i="0" dirty="0">
                <a:solidFill>
                  <a:srgbClr val="000000"/>
                </a:solidFill>
                <a:effectLst/>
                <a:latin typeface="inter-regular"/>
              </a:rPr>
              <a:t>  </a:t>
            </a:r>
          </a:p>
          <a:p>
            <a:pPr algn="just"/>
            <a:r>
              <a:rPr lang="en-US" b="1" i="0" dirty="0">
                <a:solidFill>
                  <a:srgbClr val="006699"/>
                </a:solidFill>
                <a:effectLst/>
                <a:latin typeface="inter-regular"/>
              </a:rPr>
              <a:t>using</a:t>
            </a:r>
            <a:r>
              <a:rPr lang="en-US" b="0" i="0" dirty="0">
                <a:solidFill>
                  <a:srgbClr val="000000"/>
                </a:solidFill>
                <a:effectLst/>
                <a:latin typeface="inter-regular"/>
              </a:rPr>
              <a:t> </a:t>
            </a:r>
            <a:r>
              <a:rPr lang="en-US" b="1" i="0" dirty="0">
                <a:solidFill>
                  <a:srgbClr val="006699"/>
                </a:solidFill>
                <a:effectLst/>
                <a:latin typeface="inter-regular"/>
              </a:rPr>
              <a:t>namespace</a:t>
            </a:r>
            <a:r>
              <a:rPr lang="en-US" b="0" i="0" dirty="0">
                <a:solidFill>
                  <a:srgbClr val="000000"/>
                </a:solidFill>
                <a:effectLst/>
                <a:latin typeface="inter-regular"/>
              </a:rPr>
              <a:t> std;  </a:t>
            </a:r>
          </a:p>
          <a:p>
            <a:pPr algn="just"/>
            <a:r>
              <a:rPr lang="en-US" b="0" i="0" dirty="0">
                <a:solidFill>
                  <a:srgbClr val="008200"/>
                </a:solidFill>
                <a:effectLst/>
                <a:latin typeface="inter-regular"/>
              </a:rPr>
              <a:t>// Pass-by-Value</a:t>
            </a:r>
            <a:r>
              <a:rPr lang="en-US" b="0" i="0" dirty="0">
                <a:solidFill>
                  <a:srgbClr val="000000"/>
                </a:solidFill>
                <a:effectLst/>
                <a:latin typeface="inter-regular"/>
              </a:rPr>
              <a:t>  </a:t>
            </a:r>
          </a:p>
          <a:p>
            <a:pPr algn="just"/>
            <a:r>
              <a:rPr lang="en-US" b="1" i="0" dirty="0">
                <a:solidFill>
                  <a:srgbClr val="2E8B57"/>
                </a:solidFill>
                <a:effectLst/>
                <a:latin typeface="inter-regular"/>
              </a:rPr>
              <a:t>int</a:t>
            </a:r>
            <a:r>
              <a:rPr lang="en-US" b="0" i="0" dirty="0">
                <a:solidFill>
                  <a:srgbClr val="000000"/>
                </a:solidFill>
                <a:effectLst/>
                <a:latin typeface="inter-regular"/>
              </a:rPr>
              <a:t> square1(</a:t>
            </a:r>
            <a:r>
              <a:rPr lang="en-US" b="1" i="0" dirty="0">
                <a:solidFill>
                  <a:srgbClr val="2E8B57"/>
                </a:solidFill>
                <a:effectLst/>
                <a:latin typeface="inter-regular"/>
              </a:rPr>
              <a:t>int</a:t>
            </a:r>
            <a:r>
              <a:rPr lang="en-US" b="0" i="0" dirty="0">
                <a:solidFill>
                  <a:srgbClr val="000000"/>
                </a:solidFill>
                <a:effectLst/>
                <a:latin typeface="inter-regular"/>
              </a:rPr>
              <a:t> n)  </a:t>
            </a:r>
          </a:p>
          <a:p>
            <a:pPr algn="just"/>
            <a:r>
              <a:rPr lang="en-US" b="0" i="0" dirty="0">
                <a:solidFill>
                  <a:srgbClr val="000000"/>
                </a:solidFill>
                <a:effectLst/>
                <a:latin typeface="inter-regular"/>
              </a:rPr>
              <a:t>{</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"address of n1 in square1(): "</a:t>
            </a:r>
            <a:r>
              <a:rPr lang="en-US" b="0" i="0" dirty="0">
                <a:solidFill>
                  <a:srgbClr val="000000"/>
                </a:solidFill>
                <a:effectLst/>
                <a:latin typeface="inter-regular"/>
              </a:rPr>
              <a:t> &lt;&lt; &amp;n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n *= n;  </a:t>
            </a:r>
          </a:p>
          <a:p>
            <a:pPr algn="just"/>
            <a:r>
              <a:rPr lang="en-US" b="1" i="0" dirty="0">
                <a:solidFill>
                  <a:srgbClr val="006699"/>
                </a:solidFill>
                <a:effectLst/>
                <a:latin typeface="inter-regular"/>
              </a:rPr>
              <a:t>return</a:t>
            </a:r>
            <a:r>
              <a:rPr lang="en-US" b="0" i="0" dirty="0">
                <a:solidFill>
                  <a:srgbClr val="000000"/>
                </a:solidFill>
                <a:effectLst/>
                <a:latin typeface="inter-regular"/>
              </a:rPr>
              <a:t> n;  </a:t>
            </a: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Pass-by-Reference with Pointer Arguments</a:t>
            </a:r>
            <a:r>
              <a:rPr lang="en-US" b="0" i="0" dirty="0">
                <a:solidFill>
                  <a:srgbClr val="000000"/>
                </a:solidFill>
                <a:effectLst/>
                <a:latin typeface="inter-regular"/>
              </a:rPr>
              <a:t>  </a:t>
            </a:r>
          </a:p>
          <a:p>
            <a:pPr algn="just"/>
            <a:r>
              <a:rPr lang="en-US" b="1" i="0" dirty="0">
                <a:solidFill>
                  <a:srgbClr val="006699"/>
                </a:solidFill>
                <a:effectLst/>
                <a:latin typeface="inter-regular"/>
              </a:rPr>
              <a:t>void</a:t>
            </a:r>
            <a:r>
              <a:rPr lang="en-US" b="0" i="0" dirty="0">
                <a:solidFill>
                  <a:srgbClr val="000000"/>
                </a:solidFill>
                <a:effectLst/>
                <a:latin typeface="inter-regular"/>
              </a:rPr>
              <a:t> square2(</a:t>
            </a:r>
            <a:r>
              <a:rPr lang="en-US" b="1" i="0" dirty="0">
                <a:solidFill>
                  <a:srgbClr val="2E8B57"/>
                </a:solidFill>
                <a:effectLst/>
                <a:latin typeface="inter-regular"/>
              </a:rPr>
              <a:t>int</a:t>
            </a:r>
            <a:r>
              <a:rPr lang="en-US" b="0" i="0" dirty="0">
                <a:solidFill>
                  <a:srgbClr val="000000"/>
                </a:solidFill>
                <a:effectLst/>
                <a:latin typeface="inter-regular"/>
              </a:rPr>
              <a:t>* n)  </a:t>
            </a:r>
          </a:p>
          <a:p>
            <a:pPr algn="just"/>
            <a:r>
              <a:rPr lang="en-US" b="0" i="0" dirty="0">
                <a:solidFill>
                  <a:srgbClr val="000000"/>
                </a:solidFill>
                <a:effectLst/>
                <a:latin typeface="inter-regular"/>
              </a:rPr>
              <a:t>{  </a:t>
            </a:r>
          </a:p>
          <a:p>
            <a:pPr algn="just"/>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"address of n2 in square2(): "</a:t>
            </a:r>
            <a:r>
              <a:rPr lang="en-US" b="0" i="0" dirty="0">
                <a:solidFill>
                  <a:srgbClr val="000000"/>
                </a:solidFill>
                <a:effectLst/>
                <a:latin typeface="inter-regular"/>
              </a:rPr>
              <a:t> &lt;&lt; n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*n *= *n;  </a:t>
            </a:r>
          </a:p>
          <a:p>
            <a:pPr algn="just"/>
            <a:r>
              <a:rPr lang="en-US" b="0" i="0" dirty="0">
                <a:solidFill>
                  <a:srgbClr val="000000"/>
                </a:solidFill>
                <a:effectLst/>
                <a:latin typeface="inter-regular"/>
              </a:rPr>
              <a:t>}  </a:t>
            </a:r>
          </a:p>
        </p:txBody>
      </p:sp>
      <p:sp>
        <p:nvSpPr>
          <p:cNvPr id="5" name="Rectangle 4">
            <a:extLst>
              <a:ext uri="{FF2B5EF4-FFF2-40B4-BE49-F238E27FC236}">
                <a16:creationId xmlns:a16="http://schemas.microsoft.com/office/drawing/2014/main" id="{F561C4E9-DC70-4984-8BFC-0A3B14CB7CDE}"/>
              </a:ext>
            </a:extLst>
          </p:cNvPr>
          <p:cNvSpPr/>
          <p:nvPr/>
        </p:nvSpPr>
        <p:spPr>
          <a:xfrm>
            <a:off x="6096000" y="188247"/>
            <a:ext cx="6096000" cy="3970318"/>
          </a:xfrm>
          <a:prstGeom prst="rect">
            <a:avLst/>
          </a:prstGeom>
        </p:spPr>
        <p:txBody>
          <a:bodyPr>
            <a:spAutoFit/>
          </a:bodyPr>
          <a:lstStyle/>
          <a:p>
            <a:pPr algn="just"/>
            <a:r>
              <a:rPr lang="en-US" b="0" i="0" dirty="0">
                <a:solidFill>
                  <a:srgbClr val="008200"/>
                </a:solidFill>
                <a:effectLst/>
                <a:latin typeface="inter-regular"/>
              </a:rPr>
              <a:t>// Pass-by-Reference with Reference Arguments</a:t>
            </a:r>
            <a:r>
              <a:rPr lang="en-US" b="0" i="0" dirty="0">
                <a:solidFill>
                  <a:srgbClr val="000000"/>
                </a:solidFill>
                <a:effectLst/>
                <a:latin typeface="inter-regular"/>
              </a:rPr>
              <a:t>  </a:t>
            </a:r>
          </a:p>
          <a:p>
            <a:pPr algn="just"/>
            <a:r>
              <a:rPr lang="en-US" b="1" i="0" dirty="0">
                <a:solidFill>
                  <a:srgbClr val="006699"/>
                </a:solidFill>
                <a:effectLst/>
                <a:latin typeface="inter-regular"/>
              </a:rPr>
              <a:t>void</a:t>
            </a:r>
            <a:r>
              <a:rPr lang="en-US" b="0" i="0" dirty="0">
                <a:solidFill>
                  <a:srgbClr val="000000"/>
                </a:solidFill>
                <a:effectLst/>
                <a:latin typeface="inter-regular"/>
              </a:rPr>
              <a:t> square3(</a:t>
            </a:r>
            <a:r>
              <a:rPr lang="en-US" b="1" i="0" dirty="0">
                <a:solidFill>
                  <a:srgbClr val="2E8B57"/>
                </a:solidFill>
                <a:effectLst/>
                <a:latin typeface="inter-regular"/>
              </a:rPr>
              <a:t>int</a:t>
            </a:r>
            <a:r>
              <a:rPr lang="en-US" b="0" i="0" dirty="0">
                <a:solidFill>
                  <a:srgbClr val="000000"/>
                </a:solidFill>
                <a:effectLst/>
                <a:latin typeface="inter-regular"/>
              </a:rPr>
              <a:t>&amp; n)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p>
          <a:p>
            <a:pPr algn="just"/>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"address of n3 in square3(): "</a:t>
            </a:r>
            <a:r>
              <a:rPr lang="en-US" b="0" i="0" dirty="0">
                <a:solidFill>
                  <a:srgbClr val="000000"/>
                </a:solidFill>
                <a:effectLst/>
                <a:latin typeface="inter-regular"/>
              </a:rPr>
              <a:t> &lt;&lt; &amp;n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n *= n;  </a:t>
            </a:r>
          </a:p>
          <a:p>
            <a:pPr algn="just"/>
            <a:r>
              <a:rPr lang="en-US" b="0" i="0" dirty="0">
                <a:solidFill>
                  <a:srgbClr val="000000"/>
                </a:solidFill>
                <a:effectLst/>
                <a:latin typeface="inter-regular"/>
              </a:rPr>
              <a:t>}  </a:t>
            </a:r>
          </a:p>
          <a:p>
            <a:pPr algn="just"/>
            <a:r>
              <a:rPr lang="en-US" b="1" i="0" dirty="0">
                <a:solidFill>
                  <a:srgbClr val="006699"/>
                </a:solidFill>
                <a:effectLst/>
                <a:latin typeface="inter-regular"/>
              </a:rPr>
              <a:t>void</a:t>
            </a:r>
            <a:r>
              <a:rPr lang="en-US" b="0" i="0" dirty="0">
                <a:solidFill>
                  <a:srgbClr val="000000"/>
                </a:solidFill>
                <a:effectLst/>
                <a:latin typeface="inter-regular"/>
              </a:rPr>
              <a:t> example()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 Call-by-Value</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2E8B57"/>
                </a:solidFill>
                <a:effectLst/>
                <a:latin typeface="inter-regular"/>
              </a:rPr>
              <a:t>int</a:t>
            </a:r>
            <a:r>
              <a:rPr lang="en-US" b="0" i="0" dirty="0">
                <a:solidFill>
                  <a:srgbClr val="000000"/>
                </a:solidFill>
                <a:effectLst/>
                <a:latin typeface="inter-regular"/>
              </a:rPr>
              <a:t> n1 = 8;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"address of n1 in main(): "</a:t>
            </a:r>
            <a:r>
              <a:rPr lang="en-US" b="0" i="0" dirty="0">
                <a:solidFill>
                  <a:srgbClr val="000000"/>
                </a:solidFill>
                <a:effectLst/>
                <a:latin typeface="inter-regular"/>
              </a:rPr>
              <a:t> &lt;&lt; &amp;n1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"Square of n1: "</a:t>
            </a:r>
            <a:r>
              <a:rPr lang="en-US" b="0" i="0" dirty="0">
                <a:solidFill>
                  <a:srgbClr val="000000"/>
                </a:solidFill>
                <a:effectLst/>
                <a:latin typeface="inter-regular"/>
              </a:rPr>
              <a:t> &lt;&lt; square1(n1)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"No change in n1: "</a:t>
            </a:r>
            <a:r>
              <a:rPr lang="en-US" b="0" i="0" dirty="0">
                <a:solidFill>
                  <a:srgbClr val="000000"/>
                </a:solidFill>
                <a:effectLst/>
                <a:latin typeface="inter-regular"/>
              </a:rPr>
              <a:t> &lt;&lt; n1 &lt;&lt; </a:t>
            </a:r>
            <a:r>
              <a:rPr lang="en-US" b="0" i="0" dirty="0">
                <a:solidFill>
                  <a:srgbClr val="0000FF"/>
                </a:solidFill>
                <a:effectLst/>
                <a:latin typeface="inter-regular"/>
              </a:rPr>
              <a:t>"\n"</a:t>
            </a:r>
            <a:r>
              <a:rPr lang="en-US" b="0" i="0" dirty="0">
                <a:solidFill>
                  <a:srgbClr val="000000"/>
                </a:solidFill>
                <a:effectLst/>
                <a:latin typeface="inter-regular"/>
              </a:rPr>
              <a:t>;  </a:t>
            </a:r>
          </a:p>
        </p:txBody>
      </p:sp>
    </p:spTree>
    <p:extLst>
      <p:ext uri="{BB962C8B-B14F-4D97-AF65-F5344CB8AC3E}">
        <p14:creationId xmlns:p14="http://schemas.microsoft.com/office/powerpoint/2010/main" val="316342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B349538-9B63-4FD2-98D2-BE7D944D3112}"/>
              </a:ext>
            </a:extLst>
          </p:cNvPr>
          <p:cNvSpPr/>
          <p:nvPr/>
        </p:nvSpPr>
        <p:spPr>
          <a:xfrm>
            <a:off x="409433" y="1166843"/>
            <a:ext cx="11782567" cy="4524315"/>
          </a:xfrm>
          <a:prstGeom prst="rect">
            <a:avLst/>
          </a:prstGeom>
        </p:spPr>
        <p:txBody>
          <a:bodyPr wrap="square">
            <a:spAutoFit/>
          </a:bodyPr>
          <a:lstStyle/>
          <a:p>
            <a:pPr algn="just"/>
            <a:r>
              <a:rPr lang="en-US" b="0" i="0" dirty="0">
                <a:solidFill>
                  <a:srgbClr val="000000"/>
                </a:solidFill>
                <a:effectLst/>
                <a:latin typeface="inter-regular"/>
              </a:rPr>
              <a:t> </a:t>
            </a:r>
            <a:r>
              <a:rPr lang="en-US" b="0" i="0" dirty="0">
                <a:solidFill>
                  <a:srgbClr val="008200"/>
                </a:solidFill>
                <a:effectLst/>
                <a:latin typeface="inter-regular"/>
              </a:rPr>
              <a:t>// Call-by-Reference with Pointer Arguments</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2E8B57"/>
                </a:solidFill>
                <a:effectLst/>
                <a:latin typeface="inter-regular"/>
              </a:rPr>
              <a:t>int</a:t>
            </a:r>
            <a:r>
              <a:rPr lang="en-US" b="0" i="0" dirty="0">
                <a:solidFill>
                  <a:srgbClr val="000000"/>
                </a:solidFill>
                <a:effectLst/>
                <a:latin typeface="inter-regular"/>
              </a:rPr>
              <a:t> n2 = 8;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"address of n2 in main(): "</a:t>
            </a:r>
            <a:r>
              <a:rPr lang="en-US" b="0" i="0" dirty="0">
                <a:solidFill>
                  <a:srgbClr val="000000"/>
                </a:solidFill>
                <a:effectLst/>
                <a:latin typeface="inter-regular"/>
              </a:rPr>
              <a:t> &lt;&lt; &amp;n2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square2(&amp;n2);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"Square of n2: "</a:t>
            </a:r>
            <a:r>
              <a:rPr lang="en-US" b="0" i="0" dirty="0">
                <a:solidFill>
                  <a:srgbClr val="000000"/>
                </a:solidFill>
                <a:effectLst/>
                <a:latin typeface="inter-regular"/>
              </a:rPr>
              <a:t> &lt;&lt; n2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"Change reflected in n2: "</a:t>
            </a:r>
            <a:r>
              <a:rPr lang="en-US" b="0" i="0" dirty="0">
                <a:solidFill>
                  <a:srgbClr val="000000"/>
                </a:solidFill>
                <a:effectLst/>
                <a:latin typeface="inter-regular"/>
              </a:rPr>
              <a:t> &lt;&lt; n2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 Call-by-Reference with Reference Arguments</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2E8B57"/>
                </a:solidFill>
                <a:effectLst/>
                <a:latin typeface="inter-regular"/>
              </a:rPr>
              <a:t>int</a:t>
            </a:r>
            <a:r>
              <a:rPr lang="en-US" b="0" i="0" dirty="0">
                <a:solidFill>
                  <a:srgbClr val="000000"/>
                </a:solidFill>
                <a:effectLst/>
                <a:latin typeface="inter-regular"/>
              </a:rPr>
              <a:t> n3 = 8;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"address of n3 in main(): "</a:t>
            </a:r>
            <a:r>
              <a:rPr lang="en-US" b="0" i="0" dirty="0">
                <a:solidFill>
                  <a:srgbClr val="000000"/>
                </a:solidFill>
                <a:effectLst/>
                <a:latin typeface="inter-regular"/>
              </a:rPr>
              <a:t> &lt;&lt; &amp;n3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square3(n3);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"Square of n3: "</a:t>
            </a:r>
            <a:r>
              <a:rPr lang="en-US" b="0" i="0" dirty="0">
                <a:solidFill>
                  <a:srgbClr val="000000"/>
                </a:solidFill>
                <a:effectLst/>
                <a:latin typeface="inter-regular"/>
              </a:rPr>
              <a:t> &lt;&lt; n3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"Change reflected in n3: "</a:t>
            </a:r>
            <a:r>
              <a:rPr lang="en-US" b="0" i="0" dirty="0">
                <a:solidFill>
                  <a:srgbClr val="000000"/>
                </a:solidFill>
                <a:effectLst/>
                <a:latin typeface="inter-regular"/>
              </a:rPr>
              <a:t> &lt;&lt; n3 &lt;&lt; </a:t>
            </a:r>
            <a:r>
              <a:rPr lang="en-US" b="0" i="0" dirty="0">
                <a:solidFill>
                  <a:srgbClr val="0000FF"/>
                </a:solidFill>
                <a:effectLst/>
                <a:latin typeface="inter-regular"/>
              </a:rPr>
              <a:t>"\n"</a:t>
            </a:r>
            <a:r>
              <a:rPr lang="en-US" b="0" i="0" dirty="0">
                <a:solidFill>
                  <a:srgbClr val="000000"/>
                </a:solidFill>
                <a:effectLst/>
                <a:latin typeface="inter-regular"/>
              </a:rPr>
              <a:t>;  </a:t>
            </a: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Driver program</a:t>
            </a:r>
            <a:r>
              <a:rPr lang="en-US" b="0" i="0" dirty="0">
                <a:solidFill>
                  <a:srgbClr val="000000"/>
                </a:solidFill>
                <a:effectLst/>
                <a:latin typeface="inter-regular"/>
              </a:rPr>
              <a:t>  </a:t>
            </a:r>
          </a:p>
          <a:p>
            <a:pPr algn="just"/>
            <a:r>
              <a:rPr lang="en-US" b="1" i="0" dirty="0">
                <a:solidFill>
                  <a:srgbClr val="2E8B57"/>
                </a:solidFill>
                <a:effectLst/>
                <a:latin typeface="inter-regular"/>
              </a:rPr>
              <a:t>int</a:t>
            </a:r>
            <a:r>
              <a:rPr lang="en-US" b="0" i="0" dirty="0">
                <a:solidFill>
                  <a:srgbClr val="000000"/>
                </a:solidFill>
                <a:effectLst/>
                <a:latin typeface="inter-regular"/>
              </a:rPr>
              <a:t> main() { example(); }  </a:t>
            </a:r>
          </a:p>
        </p:txBody>
      </p:sp>
    </p:spTree>
    <p:extLst>
      <p:ext uri="{BB962C8B-B14F-4D97-AF65-F5344CB8AC3E}">
        <p14:creationId xmlns:p14="http://schemas.microsoft.com/office/powerpoint/2010/main" val="3662014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84BB2-25B2-4234-A2E7-5B7946092191}"/>
              </a:ext>
            </a:extLst>
          </p:cNvPr>
          <p:cNvSpPr>
            <a:spLocks noGrp="1"/>
          </p:cNvSpPr>
          <p:nvPr>
            <p:ph type="title"/>
          </p:nvPr>
        </p:nvSpPr>
        <p:spPr>
          <a:xfrm>
            <a:off x="838200" y="365125"/>
            <a:ext cx="10515600" cy="760815"/>
          </a:xfrm>
        </p:spPr>
        <p:txBody>
          <a:bodyPr/>
          <a:lstStyle/>
          <a:p>
            <a:r>
              <a:rPr lang="en-US" dirty="0"/>
              <a:t>Output</a:t>
            </a:r>
          </a:p>
        </p:txBody>
      </p:sp>
      <p:pic>
        <p:nvPicPr>
          <p:cNvPr id="4098" name="Picture 2" descr="Cpp Pointers 1">
            <a:extLst>
              <a:ext uri="{FF2B5EF4-FFF2-40B4-BE49-F238E27FC236}">
                <a16:creationId xmlns:a16="http://schemas.microsoft.com/office/drawing/2014/main" id="{F0A05A50-7AE8-49CC-A23F-83281DFD1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85900"/>
            <a:ext cx="9206552" cy="4246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707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2043</Words>
  <Application>Microsoft Office PowerPoint</Application>
  <PresentationFormat>Widescreen</PresentationFormat>
  <Paragraphs>189</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erdana</vt:lpstr>
      <vt:lpstr>inter-regular</vt:lpstr>
      <vt:lpstr>times new roman</vt:lpstr>
      <vt:lpstr>Office Theme</vt:lpstr>
      <vt:lpstr>C++ Pointers</vt:lpstr>
      <vt:lpstr>Pointers</vt:lpstr>
      <vt:lpstr>How to use a pointer?</vt:lpstr>
      <vt:lpstr>Advantage of pointer</vt:lpstr>
      <vt:lpstr>Usage of pointer</vt:lpstr>
      <vt:lpstr>Symbols used in pointer</vt:lpstr>
      <vt:lpstr>Declaring a pointer</vt:lpstr>
      <vt:lpstr>Pointer Example</vt:lpstr>
      <vt:lpstr>Pointer Program to swap 2 numbers without using 3rd variable </vt:lpstr>
      <vt:lpstr>What is a void pointer?</vt:lpstr>
      <vt:lpstr>What is a invalid pointer?</vt:lpstr>
      <vt:lpstr>What is a null pointer?</vt:lpstr>
      <vt:lpstr>What is a pointer to a pointer?</vt:lpstr>
      <vt:lpstr>What are references and pointers?</vt:lpstr>
      <vt:lpstr>Call by Value</vt:lpstr>
      <vt:lpstr>PowerPoint Presentation</vt:lpstr>
      <vt:lpstr>Call by reference value</vt:lpstr>
      <vt:lpstr>PowerPoint Presentation</vt:lpstr>
      <vt:lpstr>PowerPoint Presentation</vt:lpstr>
      <vt:lpstr>PowerPoint Presentation</vt:lpstr>
      <vt:lpstr>PowerPoint Presentation</vt:lpstr>
      <vt:lpstr>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Pointers</dc:title>
  <dc:creator>Dieudonne</dc:creator>
  <cp:lastModifiedBy>Dieudonne</cp:lastModifiedBy>
  <cp:revision>9</cp:revision>
  <dcterms:created xsi:type="dcterms:W3CDTF">2023-07-27T10:43:51Z</dcterms:created>
  <dcterms:modified xsi:type="dcterms:W3CDTF">2026-10-02T10:11:47Z</dcterms:modified>
</cp:coreProperties>
</file>