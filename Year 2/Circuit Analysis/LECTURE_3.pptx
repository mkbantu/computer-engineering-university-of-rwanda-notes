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261" r:id="rId2"/>
    <p:sldId id="262" r:id="rId3"/>
    <p:sldId id="361" r:id="rId4"/>
    <p:sldId id="362" r:id="rId5"/>
    <p:sldId id="363" r:id="rId6"/>
    <p:sldId id="364" r:id="rId7"/>
    <p:sldId id="366" r:id="rId8"/>
    <p:sldId id="367" r:id="rId9"/>
    <p:sldId id="368" r:id="rId10"/>
    <p:sldId id="369" r:id="rId11"/>
    <p:sldId id="372" r:id="rId12"/>
    <p:sldId id="371" r:id="rId13"/>
    <p:sldId id="374" r:id="rId14"/>
    <p:sldId id="375" r:id="rId15"/>
    <p:sldId id="376" r:id="rId16"/>
    <p:sldId id="377" r:id="rId17"/>
    <p:sldId id="378" r:id="rId18"/>
    <p:sldId id="379" r:id="rId19"/>
    <p:sldId id="380" r:id="rId20"/>
    <p:sldId id="381" r:id="rId21"/>
    <p:sldId id="382" r:id="rId22"/>
    <p:sldId id="383" r:id="rId23"/>
    <p:sldId id="385" r:id="rId24"/>
    <p:sldId id="386" r:id="rId25"/>
    <p:sldId id="387" r:id="rId26"/>
    <p:sldId id="388" r:id="rId27"/>
    <p:sldId id="389" r:id="rId28"/>
    <p:sldId id="390" r:id="rId29"/>
    <p:sldId id="391" r:id="rId30"/>
    <p:sldId id="392" r:id="rId31"/>
    <p:sldId id="393" r:id="rId32"/>
    <p:sldId id="394" r:id="rId33"/>
    <p:sldId id="395" r:id="rId34"/>
    <p:sldId id="360" r:id="rId35"/>
    <p:sldId id="396" r:id="rId36"/>
    <p:sldId id="397" r:id="rId37"/>
    <p:sldId id="398" r:id="rId38"/>
    <p:sldId id="399" r:id="rId39"/>
    <p:sldId id="400" r:id="rId40"/>
    <p:sldId id="401" r:id="rId41"/>
    <p:sldId id="402" r:id="rId42"/>
    <p:sldId id="403" r:id="rId43"/>
    <p:sldId id="404" r:id="rId44"/>
    <p:sldId id="405" r:id="rId45"/>
    <p:sldId id="406" r:id="rId46"/>
    <p:sldId id="407" r:id="rId47"/>
    <p:sldId id="409" r:id="rId48"/>
    <p:sldId id="410" r:id="rId49"/>
    <p:sldId id="408" r:id="rId50"/>
    <p:sldId id="411" r:id="rId51"/>
    <p:sldId id="412" r:id="rId52"/>
    <p:sldId id="413" r:id="rId53"/>
    <p:sldId id="415" r:id="rId54"/>
    <p:sldId id="416" r:id="rId55"/>
    <p:sldId id="417" r:id="rId56"/>
    <p:sldId id="414" r:id="rId57"/>
    <p:sldId id="418" r:id="rId5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2" autoAdjust="0"/>
    <p:restoredTop sz="99112" autoAdjust="0"/>
  </p:normalViewPr>
  <p:slideViewPr>
    <p:cSldViewPr>
      <p:cViewPr varScale="1">
        <p:scale>
          <a:sx n="59" d="100"/>
          <a:sy n="59" d="100"/>
        </p:scale>
        <p:origin x="1536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709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9AE4D7-890B-4AB4-9523-94713B1879D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3F0CE1-4150-4DAC-AA3D-F3F2FC224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457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F0CE1-4150-4DAC-AA3D-F3F2FC224CB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650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Answer” </a:t>
            </a:r>
            <a:r>
              <a:rPr lang="en-US" sz="120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050" b="0" i="1" u="none" strike="noStrike" kern="1200" baseline="-25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</a:t>
            </a:r>
            <a:r>
              <a:rPr lang="en-US" sz="105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=10.0 mA (upward)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F0CE1-4150-4DAC-AA3D-F3F2FC224CB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524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C4A23-6DE9-4A01-B99C-86536EC1632E}" type="datetime1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1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779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5345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438400"/>
            <a:ext cx="82296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07DB4-49A6-4DB6-8455-36F3BBDAF475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‹#›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0" cy="685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268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96BB5-D7A8-4AA0-975B-88ABCD47A0D5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106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56761-F649-46EC-BFE5-CB0B8345DC57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558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88052-258C-4BD7-8823-CD7030ECD8D9}" type="datetime1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437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F8712-3B79-4C07-A824-544B69D4F72E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707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90B5E-4DA0-4EFF-AFA9-A3570502E510}" type="datetime1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359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AB9FC-6AB1-4DB6-AFB7-1B333675E710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000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048E2-6237-4887-B747-731832AD2358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220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9FB31-B7BB-4106-88B7-49CB8BEB2ECB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294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93471-2DE8-426B-8B1A-A3FBD5359932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723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80C458-1D56-474F-8EF7-8E55FB3F8C82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B342E1-1408-4C13-9C60-07932E3DA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101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5" Type="http://schemas.openxmlformats.org/officeDocument/2006/relationships/image" Target="../media/image22.png"/><Relationship Id="rId4" Type="http://schemas.microsoft.com/office/2007/relationships/hdphoto" Target="../media/hdphoto3.wdp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6" name="Subtitle 3"/>
          <p:cNvSpPr txBox="1">
            <a:spLocks/>
          </p:cNvSpPr>
          <p:nvPr/>
        </p:nvSpPr>
        <p:spPr>
          <a:xfrm>
            <a:off x="1447800" y="4343400"/>
            <a:ext cx="5410200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  <a:latin typeface="+mj-lt"/>
              </a:rPr>
              <a:t>Lecture 3:</a:t>
            </a:r>
          </a:p>
          <a:p>
            <a:r>
              <a:rPr lang="en-US" b="1" dirty="0">
                <a:solidFill>
                  <a:schemeClr val="tx1"/>
                </a:solidFill>
                <a:latin typeface="+mj-lt"/>
              </a:rPr>
              <a:t>Network Theorems.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ADDA-47F1-42AF-B434-BE813F0FA0F3}" type="datetime1">
              <a:rPr lang="en-US" smtClean="0"/>
              <a:t>9/29/2025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685800" y="2209800"/>
            <a:ext cx="7924800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CE80362 </a:t>
            </a:r>
            <a:r>
              <a:rPr lang="en-GB" sz="3200" dirty="0"/>
              <a:t>: Circuit Analysis 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358543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0413"/>
            <a:ext cx="8229600" cy="382587"/>
          </a:xfrm>
        </p:spPr>
        <p:txBody>
          <a:bodyPr>
            <a:noAutofit/>
          </a:bodyPr>
          <a:lstStyle/>
          <a:p>
            <a:r>
              <a:rPr lang="en-US" sz="3200" b="1" dirty="0"/>
              <a:t>Superposition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382000" cy="50292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The superposition theorem </a:t>
            </a:r>
            <a:r>
              <a:rPr lang="en-US" dirty="0"/>
              <a:t>is a method that allows us to </a:t>
            </a:r>
            <a:r>
              <a:rPr lang="en-US" b="1" dirty="0"/>
              <a:t>determine the current through or the voltage across any resistor or branch</a:t>
            </a:r>
            <a:r>
              <a:rPr lang="en-US" dirty="0"/>
              <a:t> in a network. </a:t>
            </a:r>
          </a:p>
          <a:p>
            <a:r>
              <a:rPr lang="en-US" dirty="0"/>
              <a:t>The </a:t>
            </a:r>
            <a:r>
              <a:rPr lang="en-US" b="1" dirty="0"/>
              <a:t>advantage o</a:t>
            </a:r>
            <a:r>
              <a:rPr lang="en-US" dirty="0"/>
              <a:t>f using this approach </a:t>
            </a:r>
            <a:r>
              <a:rPr lang="en-US" b="1" dirty="0"/>
              <a:t>instead of mesh analysis or nodal analysis</a:t>
            </a:r>
            <a:r>
              <a:rPr lang="en-US" dirty="0"/>
              <a:t> is that </a:t>
            </a:r>
            <a:r>
              <a:rPr lang="en-US" b="1" dirty="0">
                <a:solidFill>
                  <a:srgbClr val="0070C0"/>
                </a:solidFill>
              </a:rPr>
              <a:t>it is not necessary to use determinants or matrix algebra </a:t>
            </a:r>
            <a:r>
              <a:rPr lang="en-US" dirty="0"/>
              <a:t>to analyze a given circuit. </a:t>
            </a:r>
          </a:p>
          <a:p>
            <a:r>
              <a:rPr lang="en-US" dirty="0"/>
              <a:t>The theorem states the following: </a:t>
            </a:r>
          </a:p>
          <a:p>
            <a:pPr lvl="2"/>
            <a:r>
              <a:rPr lang="en-US" i="1" dirty="0">
                <a:solidFill>
                  <a:srgbClr val="0070C0"/>
                </a:solidFill>
              </a:rPr>
              <a:t>“The total current through or voltage across a resistor or branch may be determined by summing the effects due to each independent source”.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A9C40-C0E5-4290-8B9A-10FC0BB85A25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63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62000"/>
            <a:ext cx="8686800" cy="5638800"/>
          </a:xfrm>
        </p:spPr>
        <p:txBody>
          <a:bodyPr>
            <a:normAutofit/>
          </a:bodyPr>
          <a:lstStyle/>
          <a:p>
            <a:r>
              <a:rPr lang="en-US" dirty="0"/>
              <a:t>In order to apply the superposition theorem it is necessary to:</a:t>
            </a:r>
          </a:p>
          <a:p>
            <a:pPr lvl="2"/>
            <a:r>
              <a:rPr lang="en-US" b="1" dirty="0">
                <a:solidFill>
                  <a:srgbClr val="0070C0"/>
                </a:solidFill>
              </a:rPr>
              <a:t>remove all sources other than the one being examined. </a:t>
            </a:r>
          </a:p>
          <a:p>
            <a:r>
              <a:rPr lang="en-US" dirty="0"/>
              <a:t>This is done by </a:t>
            </a:r>
            <a:r>
              <a:rPr lang="en-US" b="1" dirty="0">
                <a:solidFill>
                  <a:srgbClr val="0070C0"/>
                </a:solidFill>
              </a:rPr>
              <a:t>zeroing</a:t>
            </a:r>
            <a:r>
              <a:rPr lang="en-US" dirty="0"/>
              <a:t> sources in the circuit (</a:t>
            </a:r>
            <a:r>
              <a:rPr lang="en-US" b="1" u="sng" dirty="0">
                <a:solidFill>
                  <a:srgbClr val="0070C0"/>
                </a:solidFill>
              </a:rPr>
              <a:t>only sources which are not considered</a:t>
            </a:r>
            <a:r>
              <a:rPr lang="en-US" dirty="0"/>
              <a:t>)</a:t>
            </a:r>
          </a:p>
          <a:p>
            <a:endParaRPr lang="en-US" sz="600" dirty="0"/>
          </a:p>
          <a:p>
            <a:pPr lvl="2"/>
            <a:r>
              <a:rPr lang="en-US" dirty="0"/>
              <a:t>Replace a Voltage source with a short circuit, since the voltage across a short circuit </a:t>
            </a:r>
            <a:r>
              <a:rPr lang="en-US" b="1" i="1" u="sng" dirty="0">
                <a:solidFill>
                  <a:srgbClr val="0070C0"/>
                </a:solidFill>
              </a:rPr>
              <a:t>is zero </a:t>
            </a:r>
            <a:r>
              <a:rPr lang="en-US" dirty="0"/>
              <a:t>volts. </a:t>
            </a:r>
          </a:p>
          <a:p>
            <a:pPr lvl="2"/>
            <a:r>
              <a:rPr lang="en-US" dirty="0"/>
              <a:t>Replace a current source with an open circuit, since the current through an open circuit is </a:t>
            </a:r>
            <a:r>
              <a:rPr lang="en-US" dirty="0">
                <a:solidFill>
                  <a:srgbClr val="0070C0"/>
                </a:solidFill>
              </a:rPr>
              <a:t>zero</a:t>
            </a:r>
            <a:r>
              <a:rPr lang="en-US" dirty="0"/>
              <a:t> amps.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0070C0"/>
                </a:solidFill>
              </a:rPr>
              <a:t>power dissipated </a:t>
            </a:r>
            <a:r>
              <a:rPr lang="en-US" dirty="0"/>
              <a:t>by any resistor can be found by: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6F08B-47EC-40E9-8E3C-0F2B43678E65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3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5562601"/>
            <a:ext cx="2057400" cy="766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459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445" y="1371600"/>
            <a:ext cx="4267200" cy="32004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Example (1): </a:t>
            </a:r>
          </a:p>
          <a:p>
            <a:pPr marL="0" indent="0">
              <a:buNone/>
            </a:pPr>
            <a:r>
              <a:rPr lang="en-US" dirty="0"/>
              <a:t>Determine the current in the load resistor,</a:t>
            </a:r>
            <a:r>
              <a:rPr lang="en-US" b="1" dirty="0"/>
              <a:t> </a:t>
            </a:r>
            <a:r>
              <a:rPr lang="en-US" b="1" i="1" dirty="0"/>
              <a:t>R</a:t>
            </a:r>
            <a:r>
              <a:rPr lang="en-US" sz="2000" b="1" i="1" dirty="0"/>
              <a:t>L</a:t>
            </a:r>
            <a:r>
              <a:rPr lang="en-US" b="1" i="1" dirty="0"/>
              <a:t> </a:t>
            </a:r>
            <a:r>
              <a:rPr lang="en-US" dirty="0"/>
              <a:t>of the circuit below. Verify that the </a:t>
            </a:r>
            <a:r>
              <a:rPr lang="en-US" b="1" dirty="0"/>
              <a:t>superposition theorem </a:t>
            </a:r>
            <a:r>
              <a:rPr lang="en-US" dirty="0"/>
              <a:t>does not apply to power.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4D40-EA0B-4EF3-A21A-27D4B91D2FD4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4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574644"/>
            <a:ext cx="4162994" cy="2997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28600" y="4419600"/>
            <a:ext cx="8915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rgbClr val="0070C0"/>
                </a:solidFill>
              </a:rPr>
              <a:t>Solution: </a:t>
            </a:r>
          </a:p>
          <a:p>
            <a:r>
              <a:rPr lang="en-US" sz="2400" dirty="0">
                <a:solidFill>
                  <a:srgbClr val="C00000"/>
                </a:solidFill>
              </a:rPr>
              <a:t>(a) Consider Only the voltage Source: </a:t>
            </a:r>
          </a:p>
          <a:p>
            <a:r>
              <a:rPr lang="en-US" sz="2400" dirty="0"/>
              <a:t>We first determine the current through </a:t>
            </a:r>
            <a:r>
              <a:rPr lang="en-US" sz="2400" b="1" i="1" dirty="0">
                <a:solidFill>
                  <a:srgbClr val="C00000"/>
                </a:solidFill>
              </a:rPr>
              <a:t>R</a:t>
            </a:r>
            <a:r>
              <a:rPr lang="en-US" b="1" i="1" dirty="0">
                <a:solidFill>
                  <a:srgbClr val="C00000"/>
                </a:solidFill>
              </a:rPr>
              <a:t>L</a:t>
            </a:r>
            <a:r>
              <a:rPr lang="en-US" sz="2400" b="1" i="1" dirty="0">
                <a:solidFill>
                  <a:srgbClr val="C00000"/>
                </a:solidFill>
              </a:rPr>
              <a:t> </a:t>
            </a:r>
            <a:r>
              <a:rPr lang="en-US" sz="2400" b="1" dirty="0">
                <a:solidFill>
                  <a:srgbClr val="C00000"/>
                </a:solidFill>
              </a:rPr>
              <a:t>due to the voltage source </a:t>
            </a:r>
            <a:r>
              <a:rPr lang="en-US" sz="2400" dirty="0"/>
              <a:t>by </a:t>
            </a:r>
            <a:r>
              <a:rPr lang="en-US" sz="2400" b="1" dirty="0"/>
              <a:t>removing the current source</a:t>
            </a:r>
            <a:r>
              <a:rPr lang="en-US" sz="2400" dirty="0"/>
              <a:t> and </a:t>
            </a:r>
            <a:r>
              <a:rPr lang="en-US" sz="2400" b="1" dirty="0"/>
              <a:t>replacing in </a:t>
            </a:r>
            <a:r>
              <a:rPr lang="en-US" sz="2400" b="1" u="sng" dirty="0"/>
              <a:t>with an open circuit</a:t>
            </a:r>
            <a:r>
              <a:rPr lang="en-US" sz="2400" b="1" dirty="0"/>
              <a:t> 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0070C0"/>
                </a:solidFill>
              </a:rPr>
              <a:t>zero amps</a:t>
            </a:r>
            <a:r>
              <a:rPr lang="en-US" sz="2400" dirty="0"/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832991"/>
            <a:ext cx="8734994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900" b="1" u="sng" dirty="0">
                <a:solidFill>
                  <a:srgbClr val="0070C0"/>
                </a:solidFill>
              </a:rPr>
              <a:t>Determine the Current through </a:t>
            </a:r>
            <a:r>
              <a:rPr lang="en-US" sz="2900" b="1" dirty="0"/>
              <a:t>any given elements.</a:t>
            </a:r>
          </a:p>
        </p:txBody>
      </p:sp>
    </p:spTree>
    <p:extLst>
      <p:ext uri="{BB962C8B-B14F-4D97-AF65-F5344CB8AC3E}">
        <p14:creationId xmlns:p14="http://schemas.microsoft.com/office/powerpoint/2010/main" val="1282434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5105400" cy="1981200"/>
          </a:xfrm>
        </p:spPr>
        <p:txBody>
          <a:bodyPr>
            <a:normAutofit/>
          </a:bodyPr>
          <a:lstStyle/>
          <a:p>
            <a:r>
              <a:rPr lang="en-US" sz="2500" dirty="0"/>
              <a:t>The resulting current through </a:t>
            </a:r>
            <a:r>
              <a:rPr lang="en-US" sz="2500" b="1" dirty="0"/>
              <a:t>R</a:t>
            </a:r>
            <a:r>
              <a:rPr lang="en-US" sz="2500" b="1" baseline="-25000" dirty="0"/>
              <a:t>L</a:t>
            </a:r>
            <a:r>
              <a:rPr lang="en-US" sz="2500" b="1" dirty="0"/>
              <a:t> </a:t>
            </a:r>
            <a:r>
              <a:rPr lang="en-US" sz="2500" dirty="0"/>
              <a:t>is determined from Ohm’s law as: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00E2C-F673-4760-9CAA-D4ADAC246BD2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5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193" y="1676400"/>
            <a:ext cx="3986107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762000"/>
            <a:ext cx="32766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5715000" y="2819400"/>
            <a:ext cx="3429000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00" b="1" dirty="0"/>
              <a:t>Current source replaced with an open circuit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48000"/>
            <a:ext cx="8458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(b) </a:t>
            </a:r>
            <a:r>
              <a:rPr lang="en-US" sz="2400" dirty="0">
                <a:solidFill>
                  <a:srgbClr val="C00000"/>
                </a:solidFill>
              </a:rPr>
              <a:t>Consider the Current Source</a:t>
            </a:r>
          </a:p>
          <a:p>
            <a:r>
              <a:rPr lang="en-US" sz="2400" dirty="0"/>
              <a:t>We determine the current through </a:t>
            </a:r>
            <a:r>
              <a:rPr lang="en-US" sz="2400" b="1" i="1" dirty="0"/>
              <a:t>R</a:t>
            </a:r>
            <a:r>
              <a:rPr lang="en-US" sz="1600" b="1" i="1" dirty="0"/>
              <a:t>L</a:t>
            </a:r>
            <a:r>
              <a:rPr lang="en-US" sz="2400" b="1" i="1" dirty="0"/>
              <a:t> </a:t>
            </a:r>
            <a:r>
              <a:rPr lang="en-US" sz="2400" dirty="0"/>
              <a:t>due to the current source by </a:t>
            </a:r>
            <a:r>
              <a:rPr lang="en-US" sz="2400" b="1" dirty="0"/>
              <a:t>removing the  voltage source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0070C0"/>
                </a:solidFill>
              </a:rPr>
              <a:t>replacing it with a short circuit</a:t>
            </a:r>
            <a:r>
              <a:rPr lang="en-US" sz="2400" dirty="0"/>
              <a:t> (zero volts)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By CDR, the resulting </a:t>
            </a:r>
          </a:p>
          <a:p>
            <a:r>
              <a:rPr lang="en-US" sz="2400" dirty="0"/>
              <a:t>current through </a:t>
            </a:r>
            <a:r>
              <a:rPr lang="en-US" sz="2400" i="1" dirty="0"/>
              <a:t>RL </a:t>
            </a:r>
            <a:r>
              <a:rPr lang="en-US" sz="2400" dirty="0"/>
              <a:t>is:</a:t>
            </a:r>
          </a:p>
          <a:p>
            <a:endParaRPr lang="en-US" sz="2400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5410200"/>
            <a:ext cx="4381500" cy="9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4196775"/>
            <a:ext cx="3429000" cy="220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2"/>
          <p:cNvSpPr/>
          <p:nvPr/>
        </p:nvSpPr>
        <p:spPr>
          <a:xfrm rot="3567536">
            <a:off x="4257356" y="4888541"/>
            <a:ext cx="13335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Voltage source replaced with  a short circuit</a:t>
            </a:r>
          </a:p>
        </p:txBody>
      </p:sp>
    </p:spTree>
    <p:extLst>
      <p:ext uri="{BB962C8B-B14F-4D97-AF65-F5344CB8AC3E}">
        <p14:creationId xmlns:p14="http://schemas.microsoft.com/office/powerpoint/2010/main" val="4141803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562600"/>
          </a:xfrm>
        </p:spPr>
        <p:txBody>
          <a:bodyPr/>
          <a:lstStyle/>
          <a:p>
            <a:r>
              <a:rPr lang="en-US" dirty="0"/>
              <a:t>The resultant current through </a:t>
            </a:r>
            <a:r>
              <a:rPr lang="en-US" b="1" i="1" dirty="0"/>
              <a:t>R</a:t>
            </a:r>
            <a:r>
              <a:rPr lang="en-US" sz="2000" b="1" i="1" dirty="0"/>
              <a:t>L</a:t>
            </a:r>
            <a:r>
              <a:rPr lang="en-US" b="1" dirty="0"/>
              <a:t> </a:t>
            </a:r>
            <a:r>
              <a:rPr lang="en-US" dirty="0"/>
              <a:t>is found by </a:t>
            </a:r>
            <a:r>
              <a:rPr lang="en-US" b="1" dirty="0">
                <a:solidFill>
                  <a:srgbClr val="0070C0"/>
                </a:solidFill>
              </a:rPr>
              <a:t>applying the superposition theorem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     </a:t>
            </a:r>
            <a:r>
              <a:rPr lang="en-US" b="1" i="1" dirty="0">
                <a:solidFill>
                  <a:srgbClr val="C00000"/>
                </a:solidFill>
              </a:rPr>
              <a:t>I</a:t>
            </a:r>
            <a:r>
              <a:rPr lang="en-US" sz="2400" b="1" i="1" baseline="-25000" dirty="0">
                <a:solidFill>
                  <a:srgbClr val="C00000"/>
                </a:solidFill>
              </a:rPr>
              <a:t>L</a:t>
            </a:r>
            <a:r>
              <a:rPr lang="en-US" b="1" i="1" dirty="0">
                <a:solidFill>
                  <a:srgbClr val="C00000"/>
                </a:solidFill>
              </a:rPr>
              <a:t>=0.5 A +(- 1.2 A)= - 0.700 A</a:t>
            </a:r>
          </a:p>
          <a:p>
            <a:r>
              <a:rPr lang="en-US" dirty="0"/>
              <a:t>The negative sign indicates that the current through </a:t>
            </a:r>
            <a:r>
              <a:rPr lang="en-US" b="1" i="1" dirty="0"/>
              <a:t>R</a:t>
            </a:r>
            <a:r>
              <a:rPr lang="en-US" sz="2000" b="1" i="1" dirty="0"/>
              <a:t>L</a:t>
            </a:r>
            <a:r>
              <a:rPr lang="en-US" b="1" dirty="0"/>
              <a:t> </a:t>
            </a:r>
            <a:r>
              <a:rPr lang="en-US" dirty="0"/>
              <a:t>is </a:t>
            </a:r>
            <a:r>
              <a:rPr lang="en-US" u="sng" dirty="0">
                <a:solidFill>
                  <a:srgbClr val="0070C0"/>
                </a:solidFill>
              </a:rPr>
              <a:t>opposite to the assumed</a:t>
            </a:r>
            <a:r>
              <a:rPr lang="en-US" dirty="0"/>
              <a:t> reference direction.  </a:t>
            </a:r>
          </a:p>
          <a:p>
            <a:r>
              <a:rPr lang="en-US" dirty="0"/>
              <a:t>Consequently, the current through </a:t>
            </a:r>
            <a:r>
              <a:rPr lang="en-US" b="1" i="1" dirty="0"/>
              <a:t>R</a:t>
            </a:r>
            <a:r>
              <a:rPr lang="en-US" sz="2000" b="1" i="1" dirty="0"/>
              <a:t>L</a:t>
            </a:r>
            <a:r>
              <a:rPr lang="en-US" dirty="0"/>
              <a:t> will be </a:t>
            </a:r>
            <a:r>
              <a:rPr lang="en-US" b="1" dirty="0">
                <a:solidFill>
                  <a:srgbClr val="C00000"/>
                </a:solidFill>
              </a:rPr>
              <a:t>upward with a magnitude of 0.7 A</a:t>
            </a:r>
            <a:r>
              <a:rPr lang="en-US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3CEFF-8571-40A5-B06C-BCAE0667B7D0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908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ADA48-8FE0-4C2E-833B-2523D040F0CE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7</a:t>
            </a:fld>
            <a:endParaRPr 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14400"/>
            <a:ext cx="87630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2774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4343400" cy="2286000"/>
          </a:xfrm>
        </p:spPr>
        <p:txBody>
          <a:bodyPr>
            <a:normAutofit fontScale="92500" lnSpcReduction="10000"/>
          </a:bodyPr>
          <a:lstStyle/>
          <a:p>
            <a:r>
              <a:rPr lang="en-US" b="1" u="sng" dirty="0"/>
              <a:t>Example (2):  </a:t>
            </a:r>
            <a:r>
              <a:rPr lang="en-US" dirty="0"/>
              <a:t>Apply superposition theorem to determine the voltage drop across the resistor </a:t>
            </a:r>
            <a:r>
              <a:rPr lang="en-US" b="1" i="1" dirty="0"/>
              <a:t>R</a:t>
            </a:r>
            <a:r>
              <a:rPr lang="en-US" sz="3000" b="1" baseline="-25000" dirty="0"/>
              <a:t>2</a:t>
            </a:r>
            <a:r>
              <a:rPr lang="en-US" b="1" dirty="0"/>
              <a:t> </a:t>
            </a:r>
            <a:r>
              <a:rPr lang="en-US" dirty="0"/>
              <a:t>of the circuit.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F0967-0D21-43C6-B6B5-2D79DF4539B9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8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1" y="1300609"/>
            <a:ext cx="4190999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04800" y="762000"/>
            <a:ext cx="88392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9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</a:t>
            </a:r>
            <a:r>
              <a:rPr lang="en-US" sz="29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</a:t>
            </a:r>
            <a:r>
              <a:rPr lang="en-US" sz="2900" b="1" u="sng" dirty="0">
                <a:solidFill>
                  <a:srgbClr val="0070C0"/>
                </a:solidFill>
              </a:rPr>
              <a:t>termine the voltage across </a:t>
            </a:r>
            <a:r>
              <a:rPr lang="en-US" sz="2900" b="1" dirty="0"/>
              <a:t>any component.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3810000"/>
            <a:ext cx="4629434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0070C0"/>
                </a:solidFill>
              </a:rPr>
              <a:t>Solution:</a:t>
            </a:r>
          </a:p>
          <a:p>
            <a:r>
              <a:rPr lang="en-US" sz="2600" dirty="0"/>
              <a:t>We consider every Source individually,  while others are zeroed.</a:t>
            </a:r>
          </a:p>
          <a:p>
            <a:r>
              <a:rPr lang="en-US" sz="2600" b="1" u="sng" dirty="0">
                <a:solidFill>
                  <a:srgbClr val="C00000"/>
                </a:solidFill>
              </a:rPr>
              <a:t>(a) If ONLY </a:t>
            </a:r>
            <a:r>
              <a:rPr lang="en-US" sz="2600" b="1" i="1" u="sng" dirty="0">
                <a:solidFill>
                  <a:srgbClr val="C00000"/>
                </a:solidFill>
              </a:rPr>
              <a:t>E1</a:t>
            </a:r>
            <a:r>
              <a:rPr lang="en-US" sz="2600" b="1" u="sng" dirty="0">
                <a:solidFill>
                  <a:srgbClr val="C00000"/>
                </a:solidFill>
              </a:rPr>
              <a:t> is Considered: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Since R</a:t>
            </a:r>
            <a:r>
              <a:rPr lang="en-US" sz="2600" baseline="-25000" dirty="0"/>
              <a:t>2</a:t>
            </a:r>
            <a:r>
              <a:rPr lang="en-US" sz="2600" dirty="0"/>
              <a:t>||R</a:t>
            </a:r>
            <a:r>
              <a:rPr lang="en-US" sz="2600" baseline="-25000" dirty="0"/>
              <a:t>3</a:t>
            </a:r>
            <a:r>
              <a:rPr lang="en-US" sz="2600" dirty="0"/>
              <a:t>= 0.8k</a:t>
            </a:r>
            <a:r>
              <a:rPr lang="en-US" sz="2600" dirty="0">
                <a:sym typeface="Symbol"/>
              </a:rPr>
              <a:t></a:t>
            </a:r>
            <a:endParaRPr lang="en-US" sz="2600" dirty="0"/>
          </a:p>
          <a:p>
            <a:endParaRPr lang="en-US" dirty="0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1" y="3805106"/>
            <a:ext cx="4267199" cy="2519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5051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763000" cy="2895600"/>
          </a:xfrm>
        </p:spPr>
        <p:txBody>
          <a:bodyPr>
            <a:normAutofit lnSpcReduction="10000"/>
          </a:bodyPr>
          <a:lstStyle/>
          <a:p>
            <a:r>
              <a:rPr lang="en-US" sz="2600" dirty="0"/>
              <a:t>By VDR, the voltage across </a:t>
            </a:r>
            <a:r>
              <a:rPr lang="en-US" sz="2600" b="1" i="1" dirty="0"/>
              <a:t>R</a:t>
            </a:r>
            <a:r>
              <a:rPr lang="en-US" sz="2600" b="1" baseline="-25000" dirty="0"/>
              <a:t>2</a:t>
            </a:r>
            <a:r>
              <a:rPr lang="en-US" sz="2600" dirty="0"/>
              <a:t> will be the same as the voltage across the parallel combination.</a:t>
            </a:r>
          </a:p>
          <a:p>
            <a:endParaRPr lang="en-US" sz="2600" dirty="0"/>
          </a:p>
          <a:p>
            <a:endParaRPr lang="en-US" sz="2600" dirty="0"/>
          </a:p>
          <a:p>
            <a:r>
              <a:rPr lang="en-US" sz="2600" dirty="0"/>
              <a:t>The </a:t>
            </a:r>
            <a:r>
              <a:rPr lang="en-US" sz="2600" dirty="0">
                <a:solidFill>
                  <a:srgbClr val="0070C0"/>
                </a:solidFill>
              </a:rPr>
              <a:t>negative sign </a:t>
            </a:r>
            <a:r>
              <a:rPr lang="en-US" sz="2600" dirty="0"/>
              <a:t>in the preceding calculation simply indicates that the voltage across the resistor due to the first </a:t>
            </a:r>
            <a:r>
              <a:rPr lang="en-US" sz="2600" b="1" dirty="0"/>
              <a:t>source is </a:t>
            </a:r>
            <a:r>
              <a:rPr lang="en-US" sz="2600" b="1" dirty="0">
                <a:solidFill>
                  <a:srgbClr val="0070C0"/>
                </a:solidFill>
              </a:rPr>
              <a:t>opposite to the assumed reference </a:t>
            </a:r>
            <a:r>
              <a:rPr lang="en-US" sz="2600" b="1" dirty="0"/>
              <a:t>polarity</a:t>
            </a:r>
            <a:r>
              <a:rPr lang="en-US" sz="2600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A775E-EF91-4D5D-8407-C94A609C06CE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9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0"/>
            <a:ext cx="7772400" cy="965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04800" y="3733800"/>
            <a:ext cx="452469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</a:t>
            </a:r>
            <a:r>
              <a:rPr lang="en-US" sz="2500" b="1" dirty="0">
                <a:solidFill>
                  <a:srgbClr val="C00000"/>
                </a:solidFill>
              </a:rPr>
              <a:t>b) </a:t>
            </a:r>
            <a:r>
              <a:rPr lang="en-US" sz="2000" b="1" dirty="0">
                <a:solidFill>
                  <a:srgbClr val="C00000"/>
                </a:solidFill>
              </a:rPr>
              <a:t>Consider the current source </a:t>
            </a:r>
            <a:r>
              <a:rPr lang="en-US" sz="2000" b="1" i="1" dirty="0">
                <a:solidFill>
                  <a:srgbClr val="C00000"/>
                </a:solidFill>
              </a:rPr>
              <a:t>I</a:t>
            </a:r>
            <a:r>
              <a:rPr lang="en-US" sz="2000" b="1" dirty="0">
                <a:solidFill>
                  <a:srgbClr val="C00000"/>
                </a:solidFill>
              </a:rPr>
              <a:t>. </a:t>
            </a:r>
          </a:p>
          <a:p>
            <a:r>
              <a:rPr lang="en-US" sz="2000" dirty="0"/>
              <a:t>The </a:t>
            </a:r>
            <a:r>
              <a:rPr lang="en-US" sz="2000" b="1" dirty="0"/>
              <a:t>total resistance </a:t>
            </a:r>
            <a:r>
              <a:rPr lang="en-US" sz="2000" dirty="0"/>
              <a:t>“seen” by the current source is:</a:t>
            </a:r>
          </a:p>
          <a:p>
            <a:r>
              <a:rPr lang="en-US" sz="2000" dirty="0"/>
              <a:t>By applying ohm’s law </a:t>
            </a: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03" y="5180350"/>
            <a:ext cx="4524697" cy="890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606421"/>
            <a:ext cx="3991749" cy="2489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23503" y="6019800"/>
            <a:ext cx="5210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Both have the </a:t>
            </a:r>
            <a:r>
              <a:rPr lang="en-US" b="1" u="sng" dirty="0">
                <a:solidFill>
                  <a:srgbClr val="C00000"/>
                </a:solidFill>
              </a:rPr>
              <a:t>same voltage </a:t>
            </a:r>
            <a:r>
              <a:rPr lang="en-US" b="1" u="sng" dirty="0"/>
              <a:t>as they are all in parallel</a:t>
            </a:r>
          </a:p>
        </p:txBody>
      </p:sp>
    </p:spTree>
    <p:extLst>
      <p:ext uri="{BB962C8B-B14F-4D97-AF65-F5344CB8AC3E}">
        <p14:creationId xmlns:p14="http://schemas.microsoft.com/office/powerpoint/2010/main" val="3587285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762000"/>
            <a:ext cx="4114800" cy="304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C00000"/>
                </a:solidFill>
              </a:rPr>
              <a:t>(c) Consider the voltage Source </a:t>
            </a:r>
            <a:r>
              <a:rPr lang="en-US" sz="2600" b="1" i="1" dirty="0">
                <a:solidFill>
                  <a:srgbClr val="C00000"/>
                </a:solidFill>
              </a:rPr>
              <a:t>E2</a:t>
            </a:r>
            <a:r>
              <a:rPr lang="en-US" sz="2600" b="1" dirty="0">
                <a:solidFill>
                  <a:srgbClr val="C00000"/>
                </a:solidFill>
              </a:rPr>
              <a:t> </a:t>
            </a:r>
            <a:r>
              <a:rPr lang="en-US" sz="2600" dirty="0"/>
              <a:t>due to the 32 V.</a:t>
            </a:r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3000" dirty="0"/>
              <a:t>Then, the voltage across R2, is given by VDR as: 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C8231-21B3-4C37-BC72-B1C404F66D0A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10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838200"/>
            <a:ext cx="42672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886200"/>
            <a:ext cx="7924800" cy="245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6850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763000" cy="5410200"/>
          </a:xfrm>
        </p:spPr>
        <p:txBody>
          <a:bodyPr/>
          <a:lstStyle/>
          <a:p>
            <a:r>
              <a:rPr lang="en-US" b="1" dirty="0"/>
              <a:t>Example for Enhancement</a:t>
            </a:r>
          </a:p>
          <a:p>
            <a:pPr marL="0" indent="0">
              <a:buNone/>
            </a:pPr>
            <a:r>
              <a:rPr lang="en-US" dirty="0"/>
              <a:t>Use the superposition theorem to determine the voltage across </a:t>
            </a:r>
            <a:r>
              <a:rPr lang="en-US" b="1" dirty="0"/>
              <a:t>R</a:t>
            </a:r>
            <a:r>
              <a:rPr lang="en-US" b="1" baseline="-25000" dirty="0"/>
              <a:t>1 </a:t>
            </a:r>
            <a:r>
              <a:rPr lang="en-US" b="1" dirty="0"/>
              <a:t> </a:t>
            </a:r>
            <a:r>
              <a:rPr lang="en-US" dirty="0"/>
              <a:t>and</a:t>
            </a:r>
            <a:r>
              <a:rPr lang="en-US" b="1" i="1" dirty="0"/>
              <a:t> R</a:t>
            </a:r>
            <a:r>
              <a:rPr lang="en-US" b="1" i="1" baseline="-25000" dirty="0"/>
              <a:t>3</a:t>
            </a:r>
            <a:r>
              <a:rPr lang="en-US" b="1" i="1" dirty="0"/>
              <a:t> </a:t>
            </a:r>
            <a:r>
              <a:rPr lang="en-US" dirty="0"/>
              <a:t>in the following circuit.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9277-B3FB-40F8-B0D3-10D907F90BB9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11</a:t>
            </a:fld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079" y="2667000"/>
            <a:ext cx="7174121" cy="345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3278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685800"/>
          </a:xfrm>
        </p:spPr>
        <p:txBody>
          <a:bodyPr>
            <a:normAutofit/>
          </a:bodyPr>
          <a:lstStyle/>
          <a:p>
            <a:r>
              <a:rPr lang="en-US" sz="3200" b="1" dirty="0" err="1"/>
              <a:t>Thévenin’s</a:t>
            </a:r>
            <a:r>
              <a:rPr lang="en-US" sz="3200" b="1" dirty="0"/>
              <a:t> Theorem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686800" cy="3886200"/>
          </a:xfrm>
        </p:spPr>
        <p:txBody>
          <a:bodyPr>
            <a:normAutofit fontScale="85000" lnSpcReduction="20000"/>
          </a:bodyPr>
          <a:lstStyle/>
          <a:p>
            <a:r>
              <a:rPr lang="en-US" sz="2800" b="1" dirty="0" err="1"/>
              <a:t>Thévenin’s</a:t>
            </a:r>
            <a:r>
              <a:rPr lang="en-US" sz="2800" b="1" dirty="0"/>
              <a:t> theorem </a:t>
            </a:r>
            <a:r>
              <a:rPr lang="en-US" sz="2800" dirty="0"/>
              <a:t>allows even the most complicated circuit to be </a:t>
            </a:r>
            <a:r>
              <a:rPr lang="en-US" sz="2800" b="1" u="sng" dirty="0"/>
              <a:t>reduced to a single voltage source and a single resistance</a:t>
            </a:r>
            <a:r>
              <a:rPr lang="en-US" sz="2800" dirty="0"/>
              <a:t>.</a:t>
            </a:r>
          </a:p>
          <a:p>
            <a:r>
              <a:rPr lang="en-US" sz="2800" b="1" dirty="0" err="1"/>
              <a:t>Thévenin’s</a:t>
            </a:r>
            <a:r>
              <a:rPr lang="en-US" sz="2800" b="1" dirty="0"/>
              <a:t> theorem </a:t>
            </a:r>
            <a:r>
              <a:rPr lang="en-US" sz="2800" dirty="0"/>
              <a:t>is a circuit analysis technique that reduces any linear bilateral network to an equivalent circuit </a:t>
            </a:r>
            <a:r>
              <a:rPr lang="en-US" sz="2800" b="1" u="sng" dirty="0">
                <a:solidFill>
                  <a:srgbClr val="0070C0"/>
                </a:solidFill>
              </a:rPr>
              <a:t>having only one voltage source and one series resistor.</a:t>
            </a:r>
            <a:r>
              <a:rPr lang="en-US" sz="2800" dirty="0"/>
              <a:t> </a:t>
            </a:r>
          </a:p>
          <a:p>
            <a:r>
              <a:rPr lang="en-US" sz="2800" dirty="0"/>
              <a:t>The resulting two-terminal circuit is equivalent to the original circuit when connected to any external branch or  component (Load). </a:t>
            </a:r>
          </a:p>
          <a:p>
            <a:r>
              <a:rPr lang="en-US" sz="2800" dirty="0"/>
              <a:t>In summary, </a:t>
            </a:r>
            <a:r>
              <a:rPr lang="en-US" sz="2800" dirty="0" err="1"/>
              <a:t>Thévenin’s</a:t>
            </a:r>
            <a:r>
              <a:rPr lang="en-US" sz="2800" dirty="0"/>
              <a:t> theorem is simplified as follows:</a:t>
            </a:r>
          </a:p>
          <a:p>
            <a:pPr lvl="2"/>
            <a:r>
              <a:rPr lang="en-US" i="1" dirty="0"/>
              <a:t>“</a:t>
            </a:r>
            <a:r>
              <a:rPr lang="en-US" b="1" i="1" dirty="0">
                <a:solidFill>
                  <a:srgbClr val="0070C0"/>
                </a:solidFill>
              </a:rPr>
              <a:t>Any linear bilateral network may be reduced to a simplified two-terminal circuit consisting of a single voltage source in series with a single resistor”.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E7FD8-3D62-4CAD-9B2B-05CC4F7F3934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12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9600" y="5029200"/>
            <a:ext cx="426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Reduced  Circuit to a </a:t>
            </a:r>
            <a:r>
              <a:rPr lang="en-US" sz="2400" dirty="0">
                <a:solidFill>
                  <a:srgbClr val="0070C0"/>
                </a:solidFill>
              </a:rPr>
              <a:t>single voltage </a:t>
            </a:r>
            <a:r>
              <a:rPr lang="en-US" sz="2400" dirty="0"/>
              <a:t>source and a </a:t>
            </a:r>
            <a:r>
              <a:rPr lang="en-US" sz="2400" dirty="0">
                <a:solidFill>
                  <a:srgbClr val="0070C0"/>
                </a:solidFill>
              </a:rPr>
              <a:t>single </a:t>
            </a:r>
            <a:r>
              <a:rPr lang="en-US" sz="2400" dirty="0"/>
              <a:t>series </a:t>
            </a:r>
            <a:r>
              <a:rPr lang="en-US" sz="2400" dirty="0">
                <a:solidFill>
                  <a:srgbClr val="0070C0"/>
                </a:solidFill>
              </a:rPr>
              <a:t>resistance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800600"/>
            <a:ext cx="2895600" cy="1547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6189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62000"/>
            <a:ext cx="8686800" cy="5715000"/>
          </a:xfrm>
        </p:spPr>
        <p:txBody>
          <a:bodyPr>
            <a:normAutofit fontScale="47500" lnSpcReduction="20000"/>
          </a:bodyPr>
          <a:lstStyle/>
          <a:p>
            <a:r>
              <a:rPr lang="en-US" sz="5900" b="1" dirty="0"/>
              <a:t>Steps to converts any circuit into its Thévenin </a:t>
            </a:r>
            <a:r>
              <a:rPr lang="en-US" sz="5900" b="1" dirty="0" err="1"/>
              <a:t>equ</a:t>
            </a:r>
            <a:r>
              <a:rPr lang="en-US" sz="5900" b="1" dirty="0"/>
              <a:t>. </a:t>
            </a:r>
            <a:r>
              <a:rPr lang="en-US" sz="5900" b="1" dirty="0" err="1"/>
              <a:t>ckt</a:t>
            </a:r>
            <a:endParaRPr lang="en-US" sz="6300" b="1" dirty="0"/>
          </a:p>
          <a:p>
            <a:endParaRPr lang="en-US" sz="1500" b="1" dirty="0"/>
          </a:p>
          <a:p>
            <a:pPr marL="514350" indent="-514350">
              <a:buFont typeface="+mj-lt"/>
              <a:buAutoNum type="arabicPeriod"/>
            </a:pPr>
            <a:r>
              <a:rPr lang="en-US" sz="4600" dirty="0"/>
              <a:t>Identify and remove the load from the circuit.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4600" dirty="0"/>
              <a:t>Label the resulting two terminals (as </a:t>
            </a:r>
            <a:r>
              <a:rPr lang="en-US" sz="4600" b="1" dirty="0"/>
              <a:t>a </a:t>
            </a:r>
            <a:r>
              <a:rPr lang="en-US" sz="4600" dirty="0"/>
              <a:t>and </a:t>
            </a:r>
            <a:r>
              <a:rPr lang="en-US" sz="4600" b="1" dirty="0"/>
              <a:t>b</a:t>
            </a:r>
            <a:r>
              <a:rPr lang="en-US" sz="4600" dirty="0"/>
              <a:t>).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4600" dirty="0"/>
              <a:t>Set all sources in the circuit to zero: Voltage sources are set to zero by replacing them with short circuits, Current sources are set to zero by replacing them with open circuits.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4600" dirty="0"/>
              <a:t>Determine the </a:t>
            </a:r>
            <a:r>
              <a:rPr lang="en-US" sz="4600" b="1" u="sng" dirty="0">
                <a:solidFill>
                  <a:srgbClr val="0070C0"/>
                </a:solidFill>
              </a:rPr>
              <a:t>Thévenin equivalent resistance</a:t>
            </a:r>
            <a:r>
              <a:rPr lang="en-US" sz="4600" dirty="0"/>
              <a:t>, </a:t>
            </a:r>
            <a:r>
              <a:rPr lang="en-US" sz="4600" b="1" dirty="0" err="1"/>
              <a:t>R</a:t>
            </a:r>
            <a:r>
              <a:rPr lang="en-US" sz="4600" b="1" baseline="-25000" dirty="0" err="1"/>
              <a:t>Th</a:t>
            </a:r>
            <a:r>
              <a:rPr lang="en-US" sz="4600" dirty="0"/>
              <a:t>, by calculating the resistance “seen” between terminals </a:t>
            </a:r>
            <a:r>
              <a:rPr lang="en-US" sz="4600" b="1" dirty="0"/>
              <a:t>a </a:t>
            </a:r>
            <a:r>
              <a:rPr lang="en-US" sz="4600" dirty="0"/>
              <a:t>and</a:t>
            </a:r>
            <a:r>
              <a:rPr lang="en-US" sz="4600" b="1" dirty="0"/>
              <a:t> b</a:t>
            </a:r>
            <a:r>
              <a:rPr lang="en-US" sz="4600" dirty="0"/>
              <a:t>. Redraw the circuit.</a:t>
            </a:r>
          </a:p>
          <a:p>
            <a:pPr marL="514350" indent="-514350">
              <a:buFont typeface="+mj-lt"/>
              <a:buAutoNum type="arabicPeriod"/>
            </a:pPr>
            <a:endParaRPr lang="en-US" sz="1500" dirty="0"/>
          </a:p>
          <a:p>
            <a:pPr marL="514350" indent="-514350">
              <a:buFont typeface="+mj-lt"/>
              <a:buAutoNum type="arabicPeriod"/>
            </a:pPr>
            <a:r>
              <a:rPr lang="en-US" sz="4600" dirty="0"/>
              <a:t>Replace the sources removed in Step 3, and determine the open-circuit voltage between the terminals. If the circuit has </a:t>
            </a:r>
            <a:r>
              <a:rPr lang="en-US" sz="4600" dirty="0">
                <a:solidFill>
                  <a:srgbClr val="0070C0"/>
                </a:solidFill>
              </a:rPr>
              <a:t>more than one source, it may be necessary to use the superposition theorem</a:t>
            </a:r>
            <a:r>
              <a:rPr lang="en-US" sz="4600" dirty="0"/>
              <a:t>. In that case, it will be necessary to determine the open-circuit voltage due to each source separately and then determine the combined effect. The resulting open-circuit voltage will be the value of the </a:t>
            </a:r>
            <a:r>
              <a:rPr lang="en-US" sz="4600" b="1" dirty="0">
                <a:solidFill>
                  <a:srgbClr val="0070C0"/>
                </a:solidFill>
              </a:rPr>
              <a:t>Thévenin voltage</a:t>
            </a:r>
            <a:r>
              <a:rPr lang="en-US" sz="4600" dirty="0"/>
              <a:t>, </a:t>
            </a:r>
            <a:r>
              <a:rPr lang="en-US" sz="4600" b="1" i="1" dirty="0" err="1"/>
              <a:t>E</a:t>
            </a:r>
            <a:r>
              <a:rPr lang="en-US" sz="4600" b="1" baseline="-25000" dirty="0" err="1"/>
              <a:t>Th</a:t>
            </a:r>
            <a:r>
              <a:rPr lang="en-US" sz="4600" dirty="0" err="1"/>
              <a:t>.</a:t>
            </a:r>
            <a:r>
              <a:rPr lang="en-US" sz="4600" dirty="0"/>
              <a:t> </a:t>
            </a:r>
          </a:p>
          <a:p>
            <a:pPr marL="514350" indent="-514350">
              <a:buFont typeface="+mj-lt"/>
              <a:buAutoNum type="arabicPeriod"/>
            </a:pPr>
            <a:endParaRPr lang="en-US" sz="1300" dirty="0"/>
          </a:p>
          <a:p>
            <a:pPr marL="514350" indent="-514350">
              <a:buFont typeface="+mj-lt"/>
              <a:buAutoNum type="arabicPeriod"/>
            </a:pPr>
            <a:r>
              <a:rPr lang="en-US" sz="4600" dirty="0"/>
              <a:t>Draw the Thévenin equivalent circuit using </a:t>
            </a:r>
            <a:r>
              <a:rPr lang="en-US" sz="4600" b="1" i="1" dirty="0" err="1"/>
              <a:t>R</a:t>
            </a:r>
            <a:r>
              <a:rPr lang="en-US" sz="4600" b="1" i="1" baseline="-25000" dirty="0" err="1"/>
              <a:t>Th</a:t>
            </a:r>
            <a:r>
              <a:rPr lang="en-US" sz="4600" b="1" dirty="0"/>
              <a:t> and </a:t>
            </a:r>
            <a:r>
              <a:rPr lang="en-US" sz="4600" b="1" i="1" dirty="0"/>
              <a:t>E</a:t>
            </a:r>
            <a:r>
              <a:rPr lang="en-US" sz="4600" b="1" i="1" baseline="-25000" dirty="0"/>
              <a:t>th</a:t>
            </a:r>
            <a:r>
              <a:rPr lang="en-US" sz="4600" dirty="0"/>
              <a:t> and include that portion of the network removed in Step 1.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B9B7C-7FAB-4728-98F6-F9688396479C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578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599" y="838200"/>
            <a:ext cx="5447731" cy="2514600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Example (1): </a:t>
            </a:r>
          </a:p>
          <a:p>
            <a:r>
              <a:rPr lang="en-US" dirty="0"/>
              <a:t>Determine the Thévenin equivalent circuit external to the resistor </a:t>
            </a:r>
            <a:r>
              <a:rPr lang="en-US" b="1" i="1" dirty="0"/>
              <a:t>R</a:t>
            </a:r>
            <a:r>
              <a:rPr lang="en-US" sz="2000" b="1" i="1" baseline="-25000" dirty="0"/>
              <a:t>L</a:t>
            </a:r>
            <a:r>
              <a:rPr lang="en-US" i="1" dirty="0"/>
              <a:t> </a:t>
            </a:r>
            <a:r>
              <a:rPr lang="en-US" dirty="0"/>
              <a:t>for the circuit. Use the Thévenin equivalent circuit to calculate the current through </a:t>
            </a:r>
            <a:r>
              <a:rPr lang="en-US" i="1" dirty="0"/>
              <a:t>R</a:t>
            </a:r>
            <a:r>
              <a:rPr lang="en-US" sz="2400" b="1" i="1" baseline="-25000" dirty="0"/>
              <a:t>L</a:t>
            </a:r>
            <a:r>
              <a:rPr lang="en-US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DA4F-FB4F-477A-A9BA-9F766E851B4C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14</a:t>
            </a:fld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9424" y="731086"/>
            <a:ext cx="3498376" cy="2697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52400" y="3975318"/>
            <a:ext cx="5257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Solution:</a:t>
            </a:r>
          </a:p>
          <a:p>
            <a:r>
              <a:rPr lang="en-US" sz="2800" b="1" dirty="0"/>
              <a:t>Steps 1 and 2: </a:t>
            </a:r>
            <a:r>
              <a:rPr lang="en-US" sz="2800" dirty="0"/>
              <a:t>Removing the load resistor from the circuit and labelling the remaining terminals</a:t>
            </a:r>
            <a:r>
              <a:rPr lang="en-US" dirty="0"/>
              <a:t>,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9424" y="3568890"/>
            <a:ext cx="3276600" cy="2527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9329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68516-9B74-4698-9995-CC1544A0FEB4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15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38330" y="1452027"/>
            <a:ext cx="344787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Step 3: </a:t>
            </a:r>
            <a:r>
              <a:rPr lang="en-US" sz="2800" dirty="0"/>
              <a:t>Setting the  sources to zero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2143" y="709681"/>
            <a:ext cx="4043257" cy="2037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 rot="5400000">
            <a:off x="3576114" y="1613784"/>
            <a:ext cx="166810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Voltage source replaced </a:t>
            </a:r>
          </a:p>
          <a:p>
            <a:r>
              <a:rPr lang="en-US" b="1" dirty="0"/>
              <a:t>with a short circuit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2600" y="2743200"/>
            <a:ext cx="3352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Current source replaced with an open circuit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4800" y="3429000"/>
            <a:ext cx="86106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Step 4: </a:t>
            </a:r>
            <a:r>
              <a:rPr lang="en-US" sz="2600" dirty="0"/>
              <a:t>The Thévenin resistance between the terminals is </a:t>
            </a:r>
            <a:r>
              <a:rPr lang="en-US" sz="2600" b="1" dirty="0"/>
              <a:t>R</a:t>
            </a:r>
            <a:r>
              <a:rPr lang="en-US" sz="2600" b="1" i="1" baseline="-25000" dirty="0"/>
              <a:t>TH</a:t>
            </a:r>
            <a:r>
              <a:rPr lang="en-US" sz="2600" b="1" dirty="0"/>
              <a:t> =24 </a:t>
            </a:r>
            <a:r>
              <a:rPr lang="en-US" sz="2600" b="1" dirty="0">
                <a:sym typeface="Symbol"/>
              </a:rPr>
              <a:t></a:t>
            </a:r>
            <a:r>
              <a:rPr lang="en-US" sz="2600" b="1" dirty="0"/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665" y="4343400"/>
            <a:ext cx="470593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/>
              <a:t>Step 5: </a:t>
            </a:r>
            <a:r>
              <a:rPr lang="en-US" sz="2600" dirty="0"/>
              <a:t>From the figure on the right, the </a:t>
            </a:r>
            <a:r>
              <a:rPr lang="en-US" sz="2600" u="sng" dirty="0">
                <a:solidFill>
                  <a:srgbClr val="0070C0"/>
                </a:solidFill>
              </a:rPr>
              <a:t>open-circuit </a:t>
            </a:r>
            <a:r>
              <a:rPr lang="en-US" sz="2600" dirty="0"/>
              <a:t> voltage between terminals </a:t>
            </a:r>
            <a:r>
              <a:rPr lang="en-US" sz="2600" i="1" dirty="0"/>
              <a:t>a </a:t>
            </a:r>
            <a:r>
              <a:rPr lang="en-US" sz="2600" dirty="0"/>
              <a:t>and </a:t>
            </a:r>
            <a:r>
              <a:rPr lang="en-US" sz="2600" i="1" dirty="0"/>
              <a:t>b </a:t>
            </a:r>
            <a:r>
              <a:rPr lang="en-US" sz="2600" dirty="0"/>
              <a:t>is:</a:t>
            </a: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636062"/>
            <a:ext cx="4276544" cy="68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4038601"/>
            <a:ext cx="327660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9239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4953000" cy="1752600"/>
          </a:xfrm>
        </p:spPr>
        <p:txBody>
          <a:bodyPr/>
          <a:lstStyle/>
          <a:p>
            <a:r>
              <a:rPr lang="en-US" b="1" dirty="0"/>
              <a:t>Step 6: </a:t>
            </a:r>
            <a:r>
              <a:rPr lang="en-US" dirty="0"/>
              <a:t>The resulting Thévenin equivalent circuit is: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AB9A0-196F-41D4-BE65-F307F94B1367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16</a:t>
            </a:fld>
            <a:endParaRPr 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762000"/>
            <a:ext cx="4063253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57200" y="3505200"/>
            <a:ext cx="7924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Hence, Using this Thévenin equivalent circuit, we easily find the current through </a:t>
            </a:r>
            <a:r>
              <a:rPr lang="en-US" sz="2500" i="1" dirty="0"/>
              <a:t>R</a:t>
            </a:r>
            <a:r>
              <a:rPr lang="en-US" sz="2500" i="1" baseline="-25000" dirty="0"/>
              <a:t>L</a:t>
            </a:r>
            <a:r>
              <a:rPr lang="en-US" sz="2500" i="1" dirty="0"/>
              <a:t> </a:t>
            </a:r>
            <a:r>
              <a:rPr lang="en-US" sz="2500" dirty="0"/>
              <a:t>as:</a:t>
            </a:r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276" y="4572000"/>
            <a:ext cx="7786255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5160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5105400" cy="3048000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Example (2)</a:t>
            </a:r>
          </a:p>
          <a:p>
            <a:r>
              <a:rPr lang="en-US" dirty="0"/>
              <a:t>Find the Thévenin equivalent circuit of the  given circuit. Using the equivalent circuit, determine the current through the load resistor when </a:t>
            </a:r>
            <a:r>
              <a:rPr lang="en-US" i="1" dirty="0"/>
              <a:t>R</a:t>
            </a:r>
            <a:r>
              <a:rPr lang="en-US" i="1" baseline="-25000" dirty="0"/>
              <a:t>L</a:t>
            </a:r>
            <a:r>
              <a:rPr lang="en-US" i="1" dirty="0"/>
              <a:t>=0</a:t>
            </a:r>
            <a:r>
              <a:rPr lang="en-US" i="1" dirty="0">
                <a:sym typeface="Symbol"/>
              </a:rPr>
              <a:t></a:t>
            </a:r>
            <a:r>
              <a:rPr lang="en-US" dirty="0"/>
              <a:t>, </a:t>
            </a:r>
            <a:r>
              <a:rPr lang="en-US" i="1" dirty="0"/>
              <a:t>R</a:t>
            </a:r>
            <a:r>
              <a:rPr lang="en-US" i="1" baseline="-25000" dirty="0"/>
              <a:t>L</a:t>
            </a:r>
            <a:r>
              <a:rPr lang="en-US" i="1" dirty="0"/>
              <a:t>=2 k</a:t>
            </a:r>
            <a:r>
              <a:rPr lang="en-US" i="1" dirty="0">
                <a:sym typeface="Symbol"/>
              </a:rPr>
              <a:t> </a:t>
            </a:r>
            <a:r>
              <a:rPr lang="en-US" dirty="0"/>
              <a:t>and </a:t>
            </a:r>
            <a:r>
              <a:rPr lang="en-US" i="1" dirty="0"/>
              <a:t>R</a:t>
            </a:r>
            <a:r>
              <a:rPr lang="en-US" i="1" baseline="-25000" dirty="0"/>
              <a:t>L</a:t>
            </a:r>
            <a:r>
              <a:rPr lang="en-US" i="1" dirty="0"/>
              <a:t>=5 k</a:t>
            </a:r>
            <a:r>
              <a:rPr lang="en-US" i="1" dirty="0">
                <a:sym typeface="Symbol"/>
              </a:rPr>
              <a:t></a:t>
            </a:r>
            <a:r>
              <a:rPr lang="en-US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5270-3267-43D9-8FAE-937350E94E69}" type="datetime1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17</a:t>
            </a:fld>
            <a:endParaRPr 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990599"/>
            <a:ext cx="3657600" cy="2067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533400" y="3581400"/>
            <a:ext cx="4133467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b="1" dirty="0">
                <a:solidFill>
                  <a:srgbClr val="C00000"/>
                </a:solidFill>
              </a:rPr>
              <a:t>Solution</a:t>
            </a:r>
          </a:p>
          <a:p>
            <a:r>
              <a:rPr lang="en-US" sz="2400" b="1" dirty="0"/>
              <a:t>Steps 1, 2, and 3: </a:t>
            </a:r>
            <a:r>
              <a:rPr lang="en-US" sz="2400" dirty="0"/>
              <a:t>After removing the load, labelling the terminals, and setting</a:t>
            </a:r>
          </a:p>
          <a:p>
            <a:r>
              <a:rPr lang="en-US" sz="2400" dirty="0"/>
              <a:t>the sources to zero, we have:</a:t>
            </a:r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113810"/>
            <a:ext cx="3505200" cy="1991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 rot="5203515">
            <a:off x="4327731" y="4172946"/>
            <a:ext cx="1752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Voltage source replaced with a short circuit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4600" y="4992469"/>
            <a:ext cx="2514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Current source replaced with an open circuit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1696" y="5562600"/>
            <a:ext cx="6610784" cy="892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b="1" dirty="0"/>
              <a:t>Step 4: </a:t>
            </a:r>
            <a:r>
              <a:rPr lang="en-US" sz="2600" dirty="0"/>
              <a:t>The Thévenin resistance of the circuit is </a:t>
            </a:r>
          </a:p>
          <a:p>
            <a:r>
              <a:rPr lang="en-US" sz="2600" b="1" i="1" dirty="0" err="1">
                <a:solidFill>
                  <a:srgbClr val="C00000"/>
                </a:solidFill>
              </a:rPr>
              <a:t>R</a:t>
            </a:r>
            <a:r>
              <a:rPr lang="en-US" b="1" i="1" dirty="0" err="1">
                <a:solidFill>
                  <a:srgbClr val="C00000"/>
                </a:solidFill>
              </a:rPr>
              <a:t>th</a:t>
            </a:r>
            <a:r>
              <a:rPr lang="en-US" sz="2600" b="1" i="1" dirty="0">
                <a:solidFill>
                  <a:srgbClr val="C00000"/>
                </a:solidFill>
              </a:rPr>
              <a:t>= 6k</a:t>
            </a:r>
            <a:r>
              <a:rPr lang="en-US" sz="2600" b="1" i="1" dirty="0">
                <a:solidFill>
                  <a:srgbClr val="C00000"/>
                </a:solidFill>
                <a:sym typeface="Symbol"/>
              </a:rPr>
              <a:t>||</a:t>
            </a:r>
            <a:r>
              <a:rPr lang="en-US" sz="2600" b="1" i="1" dirty="0">
                <a:solidFill>
                  <a:srgbClr val="C00000"/>
                </a:solidFill>
              </a:rPr>
              <a:t> 2k</a:t>
            </a:r>
            <a:r>
              <a:rPr lang="en-US" sz="2600" b="1" i="1" dirty="0">
                <a:solidFill>
                  <a:srgbClr val="C00000"/>
                </a:solidFill>
                <a:sym typeface="Symbol"/>
              </a:rPr>
              <a:t>=1.5</a:t>
            </a:r>
            <a:r>
              <a:rPr lang="en-US" sz="2600" b="1" i="1" dirty="0">
                <a:solidFill>
                  <a:srgbClr val="C00000"/>
                </a:solidFill>
              </a:rPr>
              <a:t>k</a:t>
            </a:r>
            <a:r>
              <a:rPr lang="en-US" sz="2600" b="1" i="1" dirty="0">
                <a:solidFill>
                  <a:srgbClr val="C00000"/>
                </a:solidFill>
                <a:sym typeface="Symbol"/>
              </a:rPr>
              <a:t></a:t>
            </a:r>
            <a:endParaRPr lang="en-US" sz="2600" b="1" i="1" dirty="0">
              <a:solidFill>
                <a:srgbClr val="C00000"/>
              </a:solidFill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457200" y="3581400"/>
            <a:ext cx="38862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" name="Right Arrow 1"/>
          <p:cNvSpPr/>
          <p:nvPr/>
        </p:nvSpPr>
        <p:spPr>
          <a:xfrm rot="20170149">
            <a:off x="4169020" y="4985700"/>
            <a:ext cx="682522" cy="269050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915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5334000" cy="205740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Step 5: </a:t>
            </a:r>
            <a:r>
              <a:rPr lang="en-US" dirty="0"/>
              <a:t>Although several methods are possible, we will use the superposition theorem to </a:t>
            </a:r>
            <a:r>
              <a:rPr lang="en-US" dirty="0">
                <a:solidFill>
                  <a:srgbClr val="0070C0"/>
                </a:solidFill>
              </a:rPr>
              <a:t>find the open-circuit voltage </a:t>
            </a:r>
            <a:r>
              <a:rPr lang="en-US" b="1" i="1" dirty="0" err="1">
                <a:solidFill>
                  <a:srgbClr val="0070C0"/>
                </a:solidFill>
              </a:rPr>
              <a:t>V</a:t>
            </a:r>
            <a:r>
              <a:rPr lang="en-US" b="1" i="1" baseline="-25000" dirty="0" err="1">
                <a:solidFill>
                  <a:srgbClr val="0070C0"/>
                </a:solidFill>
              </a:rPr>
              <a:t>ab</a:t>
            </a:r>
            <a:r>
              <a:rPr lang="en-US" dirty="0">
                <a:solidFill>
                  <a:srgbClr val="0070C0"/>
                </a:solidFill>
              </a:rPr>
              <a:t> due to the </a:t>
            </a:r>
            <a:r>
              <a:rPr lang="en-US" b="1" dirty="0">
                <a:solidFill>
                  <a:srgbClr val="0070C0"/>
                </a:solidFill>
              </a:rPr>
              <a:t>contribution of the 15-V source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      ( apply VDR)</a:t>
            </a:r>
            <a:r>
              <a:rPr lang="en-US" b="1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B6EA4-33A2-42E7-A7F4-E07A682971B5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18</a:t>
            </a:fld>
            <a:endParaRPr lang="en-US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762000"/>
            <a:ext cx="34290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975494"/>
            <a:ext cx="4495800" cy="808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457200" y="4191000"/>
            <a:ext cx="4953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Apply superposition theorem to find the open-circuit voltage </a:t>
            </a:r>
            <a:r>
              <a:rPr lang="en-US" sz="2000" b="1" i="1" dirty="0" err="1"/>
              <a:t>V</a:t>
            </a:r>
            <a:r>
              <a:rPr lang="en-US" sz="2000" b="1" i="1" baseline="-25000" dirty="0" err="1"/>
              <a:t>ab</a:t>
            </a:r>
            <a:r>
              <a:rPr lang="en-US" sz="2000" baseline="-25000" dirty="0"/>
              <a:t> </a:t>
            </a:r>
            <a:r>
              <a:rPr lang="en-US" sz="2000" dirty="0"/>
              <a:t>for determining the </a:t>
            </a:r>
            <a:r>
              <a:rPr lang="en-US" sz="2000" b="1" dirty="0">
                <a:solidFill>
                  <a:srgbClr val="0070C0"/>
                </a:solidFill>
              </a:rPr>
              <a:t>contribution due to the 5-mA source </a:t>
            </a:r>
            <a:r>
              <a:rPr lang="en-US" sz="2000" dirty="0"/>
              <a:t>(apply ohm’s law).</a:t>
            </a:r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173415"/>
            <a:ext cx="3434687" cy="1770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35" y="5514439"/>
            <a:ext cx="4469129" cy="654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5940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5410200"/>
          </a:xfrm>
        </p:spPr>
        <p:txBody>
          <a:bodyPr/>
          <a:lstStyle/>
          <a:p>
            <a:r>
              <a:rPr lang="en-US" dirty="0"/>
              <a:t>Hence,</a:t>
            </a:r>
          </a:p>
          <a:p>
            <a:endParaRPr lang="en-US" sz="900" dirty="0"/>
          </a:p>
          <a:p>
            <a:pPr marL="0" indent="0">
              <a:buNone/>
            </a:pPr>
            <a:endParaRPr lang="en-US" sz="800" dirty="0"/>
          </a:p>
          <a:p>
            <a:r>
              <a:rPr lang="en-US" sz="2600" b="1" dirty="0"/>
              <a:t>Step 6: </a:t>
            </a:r>
            <a:r>
              <a:rPr lang="en-US" sz="2600" dirty="0"/>
              <a:t>The resulting Thévenin equivalent circuit is: 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703DB-E10E-496D-9571-66AB6DBE572F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19</a:t>
            </a:fld>
            <a:endParaRPr lang="en-US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838200"/>
            <a:ext cx="6534151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8495" y="2183642"/>
            <a:ext cx="3025505" cy="2235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04800" y="2813713"/>
            <a:ext cx="5638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From the left circuit, it is now an easy matter to determine the current for any value of load resistor as follows </a:t>
            </a:r>
            <a:r>
              <a:rPr lang="en-US" sz="2000" b="1" dirty="0">
                <a:solidFill>
                  <a:srgbClr val="0070C0"/>
                </a:solidFill>
              </a:rPr>
              <a:t>(Apply ohm’s law):</a:t>
            </a:r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038600"/>
            <a:ext cx="61722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7629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62000"/>
            <a:ext cx="4953000" cy="266700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74F8F-C43C-4297-BBD2-4D3BE9C2AD2A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20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04800" y="762000"/>
            <a:ext cx="50962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b="1" dirty="0"/>
              <a:t>(2) </a:t>
            </a:r>
            <a:r>
              <a:rPr lang="en-US" sz="2700" dirty="0"/>
              <a:t>Use </a:t>
            </a:r>
            <a:r>
              <a:rPr lang="en-US" sz="2700" dirty="0" err="1"/>
              <a:t>Thévenin’s</a:t>
            </a:r>
            <a:r>
              <a:rPr lang="en-US" sz="2700" dirty="0"/>
              <a:t> theorem to determine the current through load resistor </a:t>
            </a:r>
            <a:r>
              <a:rPr lang="en-US" sz="2700" b="1" i="1" dirty="0"/>
              <a:t>R</a:t>
            </a:r>
            <a:r>
              <a:rPr lang="en-US" sz="2000" b="1" i="1" baseline="-25000" dirty="0"/>
              <a:t>L</a:t>
            </a:r>
            <a:r>
              <a:rPr lang="en-US" sz="2700" b="1" i="1" dirty="0"/>
              <a:t> </a:t>
            </a:r>
            <a:r>
              <a:rPr lang="en-US" sz="2700" dirty="0"/>
              <a:t>for the</a:t>
            </a:r>
          </a:p>
          <a:p>
            <a:r>
              <a:rPr lang="en-US" sz="2700" dirty="0"/>
              <a:t>Circuit of </a:t>
            </a:r>
            <a:r>
              <a:rPr lang="en-US" sz="2700" b="1" dirty="0"/>
              <a:t>Fig </a:t>
            </a:r>
            <a:r>
              <a:rPr lang="en-US" sz="2700" dirty="0"/>
              <a:t>below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953512"/>
            <a:ext cx="4006183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32361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153400" cy="609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Norton’s Theorem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382000" cy="48768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Norton’s theorem is a circuit analysis technique that is similar to </a:t>
            </a:r>
            <a:r>
              <a:rPr lang="en-US" dirty="0" err="1"/>
              <a:t>Thévenin’s</a:t>
            </a:r>
            <a:r>
              <a:rPr lang="en-US" dirty="0"/>
              <a:t> theorem. </a:t>
            </a:r>
          </a:p>
          <a:p>
            <a:r>
              <a:rPr lang="en-US" dirty="0"/>
              <a:t>By using this theorem, we reduce </a:t>
            </a:r>
            <a:r>
              <a:rPr lang="en-US" b="1" dirty="0">
                <a:solidFill>
                  <a:srgbClr val="0070C0"/>
                </a:solidFill>
              </a:rPr>
              <a:t>the circuit to a single current source and one parallel resistor</a:t>
            </a:r>
            <a:r>
              <a:rPr lang="en-US" dirty="0"/>
              <a:t>. </a:t>
            </a:r>
          </a:p>
          <a:p>
            <a:r>
              <a:rPr lang="en-US" dirty="0"/>
              <a:t>As with the Thévenin equivalent circuit, </a:t>
            </a:r>
            <a:r>
              <a:rPr lang="en-US" b="1" dirty="0"/>
              <a:t>the resulting two-terminal circuit is equivalent to the original circuit when connected to any external branch </a:t>
            </a:r>
            <a:r>
              <a:rPr lang="en-US" dirty="0"/>
              <a:t>or component.</a:t>
            </a:r>
          </a:p>
          <a:p>
            <a:r>
              <a:rPr lang="en-US" dirty="0"/>
              <a:t>In summary, Norton’s theorem may be simplified as </a:t>
            </a:r>
            <a:r>
              <a:rPr lang="en-US" b="1" dirty="0"/>
              <a:t>follows:</a:t>
            </a:r>
          </a:p>
          <a:p>
            <a:pPr lvl="2"/>
            <a:r>
              <a:rPr lang="en-US" b="1" i="1" dirty="0">
                <a:solidFill>
                  <a:srgbClr val="0070C0"/>
                </a:solidFill>
              </a:rPr>
              <a:t>“Any linear bilateral network may be reduced to a simplified two-terminal circuit consisting of a single current source and a single shunt resistor”.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F2760-ECD7-493C-9C18-8A83071C2272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0213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686800" cy="5486400"/>
          </a:xfrm>
        </p:spPr>
        <p:txBody>
          <a:bodyPr>
            <a:normAutofit fontScale="62500" lnSpcReduction="20000"/>
          </a:bodyPr>
          <a:lstStyle/>
          <a:p>
            <a:r>
              <a:rPr lang="en-US" sz="4000" b="1" u="sng" dirty="0">
                <a:solidFill>
                  <a:srgbClr val="0070C0"/>
                </a:solidFill>
              </a:rPr>
              <a:t>Steps to convert</a:t>
            </a:r>
            <a:r>
              <a:rPr lang="en-US" sz="4000" b="1" dirty="0"/>
              <a:t> any circuit into its Norton equivalent: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sz="3700" dirty="0"/>
              <a:t>Identify and </a:t>
            </a:r>
            <a:r>
              <a:rPr lang="en-US" sz="3700" b="1" dirty="0">
                <a:solidFill>
                  <a:srgbClr val="0070C0"/>
                </a:solidFill>
              </a:rPr>
              <a:t>remove the load </a:t>
            </a:r>
            <a:r>
              <a:rPr lang="en-US" sz="3700" dirty="0"/>
              <a:t>from the circuit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700" dirty="0"/>
              <a:t>Label the resulting two terminals (as </a:t>
            </a:r>
            <a:r>
              <a:rPr lang="en-US" sz="3700" b="1" dirty="0"/>
              <a:t>a </a:t>
            </a:r>
            <a:r>
              <a:rPr lang="en-US" sz="3700" dirty="0"/>
              <a:t>and </a:t>
            </a:r>
            <a:r>
              <a:rPr lang="en-US" sz="3700" b="1" dirty="0"/>
              <a:t>b</a:t>
            </a:r>
            <a:r>
              <a:rPr lang="en-US" sz="3700" dirty="0"/>
              <a:t>).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700" b="1" dirty="0"/>
              <a:t>Set </a:t>
            </a:r>
            <a:r>
              <a:rPr lang="en-US" sz="3700" b="1" dirty="0">
                <a:solidFill>
                  <a:srgbClr val="0070C0"/>
                </a:solidFill>
              </a:rPr>
              <a:t>all sources to zero</a:t>
            </a:r>
            <a:r>
              <a:rPr lang="en-US" sz="3700" dirty="0">
                <a:solidFill>
                  <a:srgbClr val="0070C0"/>
                </a:solidFill>
              </a:rPr>
              <a:t>. </a:t>
            </a:r>
            <a:r>
              <a:rPr lang="en-US" sz="3700" dirty="0"/>
              <a:t>As before, voltage sources are replaced by short circuits, and current sources by open circuits.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700" dirty="0"/>
              <a:t>Determine the </a:t>
            </a:r>
            <a:r>
              <a:rPr lang="en-US" sz="3700" dirty="0">
                <a:solidFill>
                  <a:srgbClr val="0070C0"/>
                </a:solidFill>
              </a:rPr>
              <a:t>Norton equivalent resistance, </a:t>
            </a:r>
            <a:r>
              <a:rPr lang="en-US" sz="3700" i="1" dirty="0">
                <a:solidFill>
                  <a:srgbClr val="0070C0"/>
                </a:solidFill>
              </a:rPr>
              <a:t>R</a:t>
            </a:r>
            <a:r>
              <a:rPr lang="en-US" sz="3700" i="1" baseline="-25000" dirty="0">
                <a:solidFill>
                  <a:srgbClr val="0070C0"/>
                </a:solidFill>
              </a:rPr>
              <a:t>N</a:t>
            </a:r>
            <a:r>
              <a:rPr lang="en-US" sz="3700" dirty="0">
                <a:solidFill>
                  <a:srgbClr val="0070C0"/>
                </a:solidFill>
              </a:rPr>
              <a:t>, </a:t>
            </a:r>
            <a:r>
              <a:rPr lang="en-US" sz="3700" dirty="0"/>
              <a:t>by calculating the resistance seen between terminals a and b. Redraw the circuit.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700" dirty="0"/>
              <a:t>Replace the sources removed in Step 3, and </a:t>
            </a:r>
            <a:r>
              <a:rPr lang="en-US" sz="3700" u="sng" dirty="0">
                <a:solidFill>
                  <a:srgbClr val="0070C0"/>
                </a:solidFill>
              </a:rPr>
              <a:t>determine the current that would occur in a short if the short were connected between terminals </a:t>
            </a:r>
            <a:r>
              <a:rPr lang="en-US" sz="3700" b="1" u="sng" dirty="0">
                <a:solidFill>
                  <a:srgbClr val="0070C0"/>
                </a:solidFill>
              </a:rPr>
              <a:t>a</a:t>
            </a:r>
            <a:r>
              <a:rPr lang="en-US" sz="3700" u="sng" dirty="0">
                <a:solidFill>
                  <a:srgbClr val="0070C0"/>
                </a:solidFill>
              </a:rPr>
              <a:t> and </a:t>
            </a:r>
            <a:r>
              <a:rPr lang="en-US" sz="3700" b="1" u="sng" dirty="0">
                <a:solidFill>
                  <a:srgbClr val="0070C0"/>
                </a:solidFill>
              </a:rPr>
              <a:t>b</a:t>
            </a:r>
            <a:r>
              <a:rPr lang="en-US" sz="3700" u="sng" dirty="0">
                <a:solidFill>
                  <a:srgbClr val="0070C0"/>
                </a:solidFill>
              </a:rPr>
              <a:t>.</a:t>
            </a:r>
            <a:r>
              <a:rPr lang="en-US" sz="3700" dirty="0"/>
              <a:t> If </a:t>
            </a:r>
            <a:r>
              <a:rPr lang="en-US" sz="3700" b="1" dirty="0"/>
              <a:t>the original circuit has more than one source, it may be necessary to use the superposition theorem</a:t>
            </a:r>
            <a:r>
              <a:rPr lang="en-US" sz="3700" dirty="0"/>
              <a:t>. </a:t>
            </a:r>
            <a:r>
              <a:rPr lang="en-US" sz="3700" dirty="0">
                <a:solidFill>
                  <a:srgbClr val="0070C0"/>
                </a:solidFill>
              </a:rPr>
              <a:t>The resulting short-circuit current will be the value of the Norton current </a:t>
            </a:r>
            <a:r>
              <a:rPr lang="en-US" sz="3700" i="1" dirty="0">
                <a:solidFill>
                  <a:srgbClr val="0070C0"/>
                </a:solidFill>
              </a:rPr>
              <a:t>I</a:t>
            </a:r>
            <a:r>
              <a:rPr lang="en-US" sz="3700" i="1" baseline="-25000" dirty="0">
                <a:solidFill>
                  <a:srgbClr val="0070C0"/>
                </a:solidFill>
              </a:rPr>
              <a:t>N</a:t>
            </a:r>
            <a:r>
              <a:rPr lang="en-US" sz="37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700" dirty="0"/>
              <a:t>Sketch the Norton equivalent circuit using the resistance </a:t>
            </a:r>
            <a:r>
              <a:rPr lang="en-US" sz="3700" b="1" i="1" dirty="0">
                <a:solidFill>
                  <a:srgbClr val="0070C0"/>
                </a:solidFill>
              </a:rPr>
              <a:t>R</a:t>
            </a:r>
            <a:r>
              <a:rPr lang="en-US" sz="3700" b="1" i="1" baseline="-25000" dirty="0">
                <a:solidFill>
                  <a:srgbClr val="0070C0"/>
                </a:solidFill>
              </a:rPr>
              <a:t>N </a:t>
            </a:r>
            <a:r>
              <a:rPr lang="en-US" sz="3700" i="1" dirty="0">
                <a:solidFill>
                  <a:srgbClr val="0070C0"/>
                </a:solidFill>
              </a:rPr>
              <a:t> </a:t>
            </a:r>
            <a:r>
              <a:rPr lang="en-US" sz="3700" dirty="0"/>
              <a:t>and</a:t>
            </a:r>
            <a:r>
              <a:rPr lang="en-US" sz="3700" i="1" dirty="0">
                <a:solidFill>
                  <a:srgbClr val="0070C0"/>
                </a:solidFill>
              </a:rPr>
              <a:t> </a:t>
            </a:r>
            <a:r>
              <a:rPr lang="en-US" sz="3700" b="1" i="1" dirty="0">
                <a:solidFill>
                  <a:srgbClr val="0070C0"/>
                </a:solidFill>
              </a:rPr>
              <a:t>I</a:t>
            </a:r>
            <a:r>
              <a:rPr lang="en-US" sz="3700" b="1" i="1" baseline="-25000" dirty="0">
                <a:solidFill>
                  <a:srgbClr val="0070C0"/>
                </a:solidFill>
              </a:rPr>
              <a:t>N</a:t>
            </a:r>
            <a:r>
              <a:rPr lang="en-US" sz="3700" i="1" baseline="-25000" dirty="0">
                <a:solidFill>
                  <a:srgbClr val="0070C0"/>
                </a:solidFill>
              </a:rPr>
              <a:t>.</a:t>
            </a:r>
            <a:r>
              <a:rPr lang="en-US" sz="3700" i="1" dirty="0">
                <a:solidFill>
                  <a:srgbClr val="0070C0"/>
                </a:solidFill>
              </a:rPr>
              <a:t> </a:t>
            </a:r>
            <a:r>
              <a:rPr lang="en-US" sz="3700" dirty="0"/>
              <a:t>Then,  include that portion of the network removed in Step 1 (load).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A2C0F-C437-43D9-AF58-66649DC919E4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7040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410200"/>
          </a:xfrm>
        </p:spPr>
        <p:txBody>
          <a:bodyPr>
            <a:normAutofit/>
          </a:bodyPr>
          <a:lstStyle/>
          <a:p>
            <a:r>
              <a:rPr lang="en-US" sz="2800" dirty="0"/>
              <a:t>Also , the </a:t>
            </a:r>
            <a:r>
              <a:rPr lang="en-US" sz="2800" dirty="0">
                <a:solidFill>
                  <a:srgbClr val="0070C0"/>
                </a:solidFill>
              </a:rPr>
              <a:t>Norton equivalent </a:t>
            </a:r>
            <a:r>
              <a:rPr lang="en-US" sz="2800" dirty="0"/>
              <a:t>circuit may also be determined directly </a:t>
            </a:r>
            <a:r>
              <a:rPr lang="en-US" sz="2800" dirty="0">
                <a:solidFill>
                  <a:srgbClr val="0070C0"/>
                </a:solidFill>
              </a:rPr>
              <a:t>from the Thévenin  equivalent </a:t>
            </a:r>
            <a:r>
              <a:rPr lang="en-US" sz="2800" dirty="0"/>
              <a:t>circuit by using the source conversion technique (Source transformation)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AC14B-8437-4D27-84E1-BEA9D93EF4FC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23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438400"/>
            <a:ext cx="5867400" cy="3262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81000" y="2819400"/>
            <a:ext cx="2667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From the  left Circuit, We can calculate the following: 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287078"/>
            <a:ext cx="1828800" cy="1808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62017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5105400" cy="266700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Example (1):</a:t>
            </a:r>
          </a:p>
          <a:p>
            <a:pPr algn="just"/>
            <a:r>
              <a:rPr lang="en-US" dirty="0"/>
              <a:t>Determine the Norton equivalent circuit external to the resistor </a:t>
            </a:r>
            <a:r>
              <a:rPr lang="en-US" i="1" dirty="0"/>
              <a:t>R</a:t>
            </a:r>
            <a:r>
              <a:rPr lang="en-US" i="1" baseline="-25000" dirty="0"/>
              <a:t>L</a:t>
            </a:r>
            <a:r>
              <a:rPr lang="en-US" i="1" dirty="0"/>
              <a:t> </a:t>
            </a:r>
            <a:r>
              <a:rPr lang="en-US" dirty="0"/>
              <a:t>for the given circuit. </a:t>
            </a:r>
            <a:r>
              <a:rPr lang="en-US" dirty="0">
                <a:solidFill>
                  <a:srgbClr val="0070C0"/>
                </a:solidFill>
              </a:rPr>
              <a:t>Use the Norton </a:t>
            </a:r>
            <a:r>
              <a:rPr lang="en-US" dirty="0"/>
              <a:t>equivalent circuit to calculate the current </a:t>
            </a:r>
            <a:r>
              <a:rPr lang="en-US" dirty="0">
                <a:solidFill>
                  <a:srgbClr val="0070C0"/>
                </a:solidFill>
              </a:rPr>
              <a:t>through </a:t>
            </a:r>
            <a:r>
              <a:rPr lang="en-US" i="1" dirty="0">
                <a:solidFill>
                  <a:srgbClr val="0070C0"/>
                </a:solidFill>
              </a:rPr>
              <a:t>R</a:t>
            </a:r>
            <a:r>
              <a:rPr lang="en-US" i="1" baseline="-25000" dirty="0">
                <a:solidFill>
                  <a:srgbClr val="0070C0"/>
                </a:solidFill>
              </a:rPr>
              <a:t>L</a:t>
            </a:r>
            <a:r>
              <a:rPr lang="en-US" dirty="0">
                <a:solidFill>
                  <a:srgbClr val="0070C0"/>
                </a:solidFill>
              </a:rPr>
              <a:t>. </a:t>
            </a:r>
            <a:r>
              <a:rPr lang="en-US" dirty="0"/>
              <a:t>Compare the results to those obtained using </a:t>
            </a:r>
            <a:r>
              <a:rPr lang="en-US" dirty="0" err="1"/>
              <a:t>Thévenin’s</a:t>
            </a:r>
            <a:r>
              <a:rPr lang="en-US" dirty="0"/>
              <a:t> theorem.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7A0E5-3307-43D7-9BE5-C9088CA55F89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24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7009" y="914400"/>
            <a:ext cx="3600791" cy="2333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57200" y="3809999"/>
            <a:ext cx="522140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Solution: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Steps 1 and 2: </a:t>
            </a:r>
            <a:r>
              <a:rPr lang="en-US" sz="2400" dirty="0"/>
              <a:t>Remove load resistor </a:t>
            </a:r>
            <a:r>
              <a:rPr lang="en-US" sz="2400" b="1" i="1" dirty="0"/>
              <a:t>R</a:t>
            </a:r>
            <a:r>
              <a:rPr lang="en-US" sz="2400" b="1" i="1" baseline="-25000" dirty="0"/>
              <a:t>L</a:t>
            </a:r>
            <a:r>
              <a:rPr lang="en-US" sz="2400" i="1" dirty="0"/>
              <a:t> </a:t>
            </a:r>
            <a:r>
              <a:rPr lang="en-US" sz="2400" dirty="0"/>
              <a:t>from the circuit and label the remaining terminals as </a:t>
            </a:r>
            <a:r>
              <a:rPr lang="en-US" sz="2400" i="1" dirty="0"/>
              <a:t>a </a:t>
            </a:r>
            <a:r>
              <a:rPr lang="en-US" sz="2400" dirty="0"/>
              <a:t>and </a:t>
            </a:r>
            <a:r>
              <a:rPr lang="en-US" sz="2400" i="1" dirty="0"/>
              <a:t>b</a:t>
            </a:r>
            <a:r>
              <a:rPr lang="en-US" i="1" dirty="0"/>
              <a:t>.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762000" y="3505200"/>
            <a:ext cx="8001000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8606" y="3565153"/>
            <a:ext cx="2895600" cy="2364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29998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06B7B-7732-48B9-B497-C3C4E57C1A9A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25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04800" y="990600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Step 3: </a:t>
            </a:r>
            <a:r>
              <a:rPr lang="en-US" sz="2400" dirty="0"/>
              <a:t>Zero the voltage and current sources as shown in the circuit on the right.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730529"/>
            <a:ext cx="3581400" cy="2241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 rot="5400000">
            <a:off x="3890665" y="1519535"/>
            <a:ext cx="2286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Voltage source  replaced with a short circuit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2971800"/>
            <a:ext cx="2895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Current source replaced with an open circuit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57600"/>
            <a:ext cx="82296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Step 4</a:t>
            </a:r>
            <a:r>
              <a:rPr lang="en-US" sz="2400" dirty="0"/>
              <a:t>: The resulting Norton resistance between the terminals is </a:t>
            </a:r>
            <a:r>
              <a:rPr lang="en-US" sz="3200" b="1" dirty="0">
                <a:solidFill>
                  <a:srgbClr val="C00000"/>
                </a:solidFill>
              </a:rPr>
              <a:t>R</a:t>
            </a:r>
            <a:r>
              <a:rPr lang="en-US" sz="3200" b="1" baseline="-25000" dirty="0">
                <a:solidFill>
                  <a:srgbClr val="C00000"/>
                </a:solidFill>
              </a:rPr>
              <a:t>N</a:t>
            </a:r>
            <a:r>
              <a:rPr lang="en-US" sz="3200" b="1" dirty="0">
                <a:solidFill>
                  <a:srgbClr val="C00000"/>
                </a:solidFill>
              </a:rPr>
              <a:t>=</a:t>
            </a:r>
            <a:r>
              <a:rPr lang="en-US" sz="3200" b="1" dirty="0" err="1">
                <a:solidFill>
                  <a:srgbClr val="C00000"/>
                </a:solidFill>
              </a:rPr>
              <a:t>R</a:t>
            </a:r>
            <a:r>
              <a:rPr lang="en-US" sz="3200" b="1" baseline="-25000" dirty="0" err="1">
                <a:solidFill>
                  <a:srgbClr val="C00000"/>
                </a:solidFill>
              </a:rPr>
              <a:t>ab</a:t>
            </a:r>
            <a:r>
              <a:rPr lang="en-US" sz="3200" b="1" dirty="0">
                <a:solidFill>
                  <a:srgbClr val="C00000"/>
                </a:solidFill>
              </a:rPr>
              <a:t>= 24 </a:t>
            </a:r>
            <a:r>
              <a:rPr lang="en-US" sz="3200" b="1" dirty="0">
                <a:solidFill>
                  <a:srgbClr val="C00000"/>
                </a:solidFill>
                <a:sym typeface="Symbol"/>
              </a:rPr>
              <a:t>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4724400"/>
            <a:ext cx="4572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Step 5: </a:t>
            </a:r>
            <a:r>
              <a:rPr lang="en-US" sz="2400" dirty="0"/>
              <a:t>The short-circuit current is determined by first calculating the current through the short due to each source.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4267199"/>
            <a:ext cx="3352800" cy="2123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24746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D5383-ECCE-4A4A-854D-E4B298212CD8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26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7200" y="4333220"/>
            <a:ext cx="4800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Notice that </a:t>
            </a:r>
            <a:r>
              <a:rPr lang="en-US" sz="2400" b="1" dirty="0"/>
              <a:t>R</a:t>
            </a:r>
            <a:r>
              <a:rPr lang="en-US" sz="2400" b="1" baseline="-25000" dirty="0"/>
              <a:t>1</a:t>
            </a:r>
            <a:r>
              <a:rPr lang="en-US" sz="2400" dirty="0"/>
              <a:t> is shorted by the short circuit </a:t>
            </a:r>
            <a:r>
              <a:rPr lang="en-US" sz="2400" b="1" dirty="0">
                <a:solidFill>
                  <a:srgbClr val="C00000"/>
                </a:solidFill>
              </a:rPr>
              <a:t>between a </a:t>
            </a:r>
            <a:r>
              <a:rPr lang="en-US" sz="2400" b="1" dirty="0"/>
              <a:t>and </a:t>
            </a:r>
            <a:r>
              <a:rPr lang="en-US" sz="2400" b="1" dirty="0">
                <a:solidFill>
                  <a:srgbClr val="C00000"/>
                </a:solidFill>
              </a:rPr>
              <a:t>b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4180820"/>
            <a:ext cx="3695227" cy="2327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5867400" y="3962400"/>
            <a:ext cx="20573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R</a:t>
            </a:r>
            <a:r>
              <a:rPr lang="en-US" sz="1400" baseline="-25000" dirty="0"/>
              <a:t>1</a:t>
            </a:r>
            <a:r>
              <a:rPr lang="en-US" sz="1400" dirty="0"/>
              <a:t> is shorted by the short circuit between a and b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5552420"/>
            <a:ext cx="22680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(b) The current source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4800" y="780871"/>
            <a:ext cx="4800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1" dirty="0"/>
              <a:t>Voltage Source, E</a:t>
            </a:r>
            <a:r>
              <a:rPr lang="en-US" sz="2400" dirty="0"/>
              <a:t>: The current in the short between terminals a and b</a:t>
            </a:r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938072"/>
            <a:ext cx="3760264" cy="885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304799" y="1981200"/>
            <a:ext cx="864822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1" dirty="0"/>
              <a:t>Current Source, I</a:t>
            </a:r>
            <a:r>
              <a:rPr lang="en-US" sz="2400" dirty="0"/>
              <a:t>: By examining the circuit for the current source, we see that the short circuit between terminals </a:t>
            </a:r>
            <a:r>
              <a:rPr lang="en-US" sz="2400" b="1" dirty="0"/>
              <a:t>a </a:t>
            </a:r>
            <a:r>
              <a:rPr lang="en-US" sz="2400" dirty="0"/>
              <a:t>and</a:t>
            </a:r>
            <a:r>
              <a:rPr lang="en-US" sz="2400" b="1" dirty="0"/>
              <a:t> b </a:t>
            </a:r>
            <a:r>
              <a:rPr lang="en-US" sz="2400" dirty="0"/>
              <a:t>effectively removes</a:t>
            </a:r>
            <a:r>
              <a:rPr lang="en-US" sz="2400" b="1" dirty="0"/>
              <a:t> R</a:t>
            </a:r>
            <a:r>
              <a:rPr lang="en-US" sz="2400" b="1" baseline="-25000" dirty="0"/>
              <a:t>1</a:t>
            </a:r>
            <a:r>
              <a:rPr lang="en-US" sz="2400" b="1" dirty="0"/>
              <a:t> </a:t>
            </a:r>
            <a:r>
              <a:rPr lang="en-US" sz="2400" dirty="0"/>
              <a:t>from the circuit.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Therefore, the current through the short will be  </a:t>
            </a:r>
            <a:r>
              <a:rPr lang="en-US" sz="2400" b="1" i="1" dirty="0" err="1">
                <a:solidFill>
                  <a:srgbClr val="C00000"/>
                </a:solidFill>
              </a:rPr>
              <a:t>I</a:t>
            </a:r>
            <a:r>
              <a:rPr lang="en-US" sz="2400" b="1" i="1" baseline="-25000" dirty="0" err="1">
                <a:solidFill>
                  <a:srgbClr val="C00000"/>
                </a:solidFill>
              </a:rPr>
              <a:t>ab</a:t>
            </a:r>
            <a:r>
              <a:rPr lang="en-US" sz="2400" b="1" i="1" baseline="-25000" dirty="0">
                <a:solidFill>
                  <a:srgbClr val="C00000"/>
                </a:solidFill>
              </a:rPr>
              <a:t>(2)</a:t>
            </a:r>
            <a:r>
              <a:rPr lang="en-US" sz="2400" b="1" i="1" dirty="0">
                <a:solidFill>
                  <a:srgbClr val="C00000"/>
                </a:solidFill>
              </a:rPr>
              <a:t>= -2.00 A</a:t>
            </a:r>
          </a:p>
        </p:txBody>
      </p:sp>
    </p:spTree>
    <p:extLst>
      <p:ext uri="{BB962C8B-B14F-4D97-AF65-F5344CB8AC3E}">
        <p14:creationId xmlns:p14="http://schemas.microsoft.com/office/powerpoint/2010/main" val="35777735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62000"/>
            <a:ext cx="8534400" cy="2514600"/>
          </a:xfrm>
        </p:spPr>
        <p:txBody>
          <a:bodyPr>
            <a:normAutofit fontScale="92500"/>
          </a:bodyPr>
          <a:lstStyle/>
          <a:p>
            <a:r>
              <a:rPr lang="en-US" sz="2800" dirty="0"/>
              <a:t>Now, applying the </a:t>
            </a:r>
            <a:r>
              <a:rPr lang="en-US" sz="2800" b="1" i="1" u="sng" dirty="0"/>
              <a:t>superposition theorem</a:t>
            </a:r>
            <a:r>
              <a:rPr lang="en-US" sz="2800" dirty="0"/>
              <a:t>, we find the Norton current as:</a:t>
            </a:r>
          </a:p>
          <a:p>
            <a:r>
              <a:rPr lang="en-US" sz="2800" b="1" i="1" dirty="0">
                <a:solidFill>
                  <a:srgbClr val="C00000"/>
                </a:solidFill>
              </a:rPr>
              <a:t>I</a:t>
            </a:r>
            <a:r>
              <a:rPr lang="en-US" sz="2800" b="1" baseline="-25000" dirty="0">
                <a:solidFill>
                  <a:srgbClr val="C00000"/>
                </a:solidFill>
              </a:rPr>
              <a:t>N</a:t>
            </a:r>
            <a:r>
              <a:rPr lang="en-US" sz="2800" b="1" dirty="0">
                <a:solidFill>
                  <a:srgbClr val="C00000"/>
                </a:solidFill>
              </a:rPr>
              <a:t> =</a:t>
            </a:r>
            <a:r>
              <a:rPr lang="en-US" sz="2800" b="1" i="1" dirty="0"/>
              <a:t> </a:t>
            </a:r>
            <a:r>
              <a:rPr lang="en-US" sz="2800" b="1" i="1" dirty="0" err="1">
                <a:solidFill>
                  <a:srgbClr val="FF0000"/>
                </a:solidFill>
              </a:rPr>
              <a:t>I</a:t>
            </a:r>
            <a:r>
              <a:rPr lang="en-US" sz="2800" b="1" i="1" baseline="-25000" dirty="0" err="1">
                <a:solidFill>
                  <a:srgbClr val="FF0000"/>
                </a:solidFill>
              </a:rPr>
              <a:t>ab</a:t>
            </a:r>
            <a:r>
              <a:rPr lang="en-US" sz="2800" b="1" baseline="-25000" dirty="0">
                <a:solidFill>
                  <a:srgbClr val="FF0000"/>
                </a:solidFill>
              </a:rPr>
              <a:t>(1)</a:t>
            </a:r>
            <a:r>
              <a:rPr lang="en-US" sz="2800" b="1" dirty="0">
                <a:solidFill>
                  <a:srgbClr val="FF0000"/>
                </a:solidFill>
              </a:rPr>
              <a:t>+</a:t>
            </a:r>
            <a:r>
              <a:rPr lang="en-US" sz="2800" b="1" i="1" dirty="0" err="1">
                <a:solidFill>
                  <a:srgbClr val="C00000"/>
                </a:solidFill>
              </a:rPr>
              <a:t>I</a:t>
            </a:r>
            <a:r>
              <a:rPr lang="en-US" sz="2800" b="1" i="1" baseline="-25000" dirty="0" err="1">
                <a:solidFill>
                  <a:srgbClr val="C00000"/>
                </a:solidFill>
              </a:rPr>
              <a:t>ab</a:t>
            </a:r>
            <a:r>
              <a:rPr lang="en-US" sz="2800" b="1" baseline="-25000" dirty="0">
                <a:solidFill>
                  <a:srgbClr val="C00000"/>
                </a:solidFill>
              </a:rPr>
              <a:t>(2)</a:t>
            </a:r>
            <a:r>
              <a:rPr lang="en-US" sz="2800" b="1" dirty="0">
                <a:solidFill>
                  <a:srgbClr val="C00000"/>
                </a:solidFill>
              </a:rPr>
              <a:t> = 0.833 A - 2.0A= - 1.167 A</a:t>
            </a:r>
          </a:p>
          <a:p>
            <a:r>
              <a:rPr lang="en-US" sz="2800" dirty="0"/>
              <a:t>As before, the </a:t>
            </a:r>
            <a:r>
              <a:rPr lang="en-US" sz="2800" b="1" dirty="0"/>
              <a:t>negative sign </a:t>
            </a:r>
            <a:r>
              <a:rPr lang="en-US" sz="2800" dirty="0"/>
              <a:t>indicates that the short-circuit current is actually from terminal </a:t>
            </a:r>
            <a:r>
              <a:rPr lang="en-US" sz="2800" b="1" i="1" dirty="0"/>
              <a:t>b</a:t>
            </a:r>
            <a:r>
              <a:rPr lang="en-US" sz="2800" i="1" dirty="0"/>
              <a:t> </a:t>
            </a:r>
            <a:r>
              <a:rPr lang="en-US" sz="2800" dirty="0">
                <a:solidFill>
                  <a:srgbClr val="C00000"/>
                </a:solidFill>
              </a:rPr>
              <a:t>toward terminal </a:t>
            </a:r>
            <a:r>
              <a:rPr lang="en-US" sz="2800" i="1" dirty="0">
                <a:solidFill>
                  <a:srgbClr val="C00000"/>
                </a:solidFill>
              </a:rPr>
              <a:t>a</a:t>
            </a:r>
            <a:r>
              <a:rPr lang="en-US" sz="2800" i="1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0B5A5-4A94-4CF0-958A-8CB4577B4314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27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04800" y="3276600"/>
            <a:ext cx="5410200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Step 6: </a:t>
            </a:r>
            <a:r>
              <a:rPr lang="en-US" sz="2400" dirty="0"/>
              <a:t>The resultant Norton equivalent circuit is shown.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Now we can easily find the current through load resistor </a:t>
            </a:r>
            <a:r>
              <a:rPr lang="en-US" sz="2400" b="1" dirty="0"/>
              <a:t>R</a:t>
            </a:r>
            <a:r>
              <a:rPr lang="en-US" sz="2400" b="1" baseline="-25000" dirty="0"/>
              <a:t>L</a:t>
            </a:r>
            <a:r>
              <a:rPr lang="en-US" sz="2400" dirty="0"/>
              <a:t> by using the current divider rule:</a:t>
            </a:r>
          </a:p>
          <a:p>
            <a:r>
              <a:rPr lang="en-US" dirty="0"/>
              <a:t> 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014167"/>
            <a:ext cx="3321144" cy="2326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5340190"/>
            <a:ext cx="8243832" cy="1060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663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10600" cy="5486400"/>
          </a:xfrm>
        </p:spPr>
        <p:txBody>
          <a:bodyPr/>
          <a:lstStyle/>
          <a:p>
            <a:r>
              <a:rPr lang="en-US" dirty="0"/>
              <a:t>We see that the same result was obtained by using the Thévenin equivalent circuit (</a:t>
            </a:r>
            <a:r>
              <a:rPr lang="en-US" b="1" dirty="0"/>
              <a:t>See Source transformation</a:t>
            </a:r>
            <a:r>
              <a:rPr lang="en-US" dirty="0"/>
              <a:t>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D5C1-8E2B-4027-B5F5-E4EDB49D045E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28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514600"/>
            <a:ext cx="8458199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60898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62000"/>
            <a:ext cx="4572000" cy="3048000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Example (2):</a:t>
            </a:r>
          </a:p>
          <a:p>
            <a:r>
              <a:rPr lang="en-US" dirty="0"/>
              <a:t>Find the Norton equivalent of the circuit external to resistor </a:t>
            </a:r>
            <a:r>
              <a:rPr lang="en-US" i="1" dirty="0"/>
              <a:t>R</a:t>
            </a:r>
            <a:r>
              <a:rPr lang="en-US" i="1" baseline="-25000" dirty="0"/>
              <a:t>L</a:t>
            </a:r>
            <a:r>
              <a:rPr lang="en-US" i="1" dirty="0"/>
              <a:t> </a:t>
            </a:r>
            <a:r>
              <a:rPr lang="en-US" dirty="0"/>
              <a:t>in the circuit. Use the equivalent circuit to determine the load current </a:t>
            </a:r>
            <a:r>
              <a:rPr lang="en-US" i="1" dirty="0"/>
              <a:t>I</a:t>
            </a:r>
            <a:r>
              <a:rPr lang="en-US" i="1" baseline="-25000" dirty="0"/>
              <a:t>L</a:t>
            </a:r>
            <a:r>
              <a:rPr lang="en-US" i="1" dirty="0"/>
              <a:t> </a:t>
            </a:r>
            <a:r>
              <a:rPr lang="en-US" dirty="0"/>
              <a:t>when </a:t>
            </a:r>
            <a:r>
              <a:rPr lang="en-US" i="1" dirty="0"/>
              <a:t>R</a:t>
            </a:r>
            <a:r>
              <a:rPr lang="en-US" i="1" baseline="-25000" dirty="0"/>
              <a:t>L</a:t>
            </a:r>
            <a:r>
              <a:rPr lang="en-US" i="1" dirty="0"/>
              <a:t>=</a:t>
            </a:r>
            <a:r>
              <a:rPr lang="en-US" dirty="0"/>
              <a:t>0, 2 k</a:t>
            </a:r>
            <a:r>
              <a:rPr lang="en-US" dirty="0">
                <a:sym typeface="Symbol"/>
              </a:rPr>
              <a:t></a:t>
            </a:r>
            <a:r>
              <a:rPr lang="en-US" dirty="0"/>
              <a:t>, and 5 k</a:t>
            </a:r>
            <a:r>
              <a:rPr lang="en-US" dirty="0">
                <a:sym typeface="Symbol"/>
              </a:rPr>
              <a:t></a:t>
            </a:r>
            <a:r>
              <a:rPr lang="en-US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06DFE-7251-438D-AB41-17330169240C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29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533400" y="3581400"/>
            <a:ext cx="8229600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24301" y="3810000"/>
            <a:ext cx="4581100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Solution</a:t>
            </a:r>
          </a:p>
          <a:p>
            <a:r>
              <a:rPr lang="en-US" sz="2400" b="1" dirty="0"/>
              <a:t>Steps 1, 2, and 3: </a:t>
            </a:r>
            <a:r>
              <a:rPr lang="en-US" sz="2400" dirty="0"/>
              <a:t>After removing the load resistor, labelling the remaining two terminals </a:t>
            </a:r>
            <a:r>
              <a:rPr lang="en-US" sz="2400" b="1" dirty="0"/>
              <a:t>a</a:t>
            </a:r>
            <a:r>
              <a:rPr lang="en-US" sz="2400" dirty="0"/>
              <a:t> and </a:t>
            </a:r>
            <a:r>
              <a:rPr lang="en-US" sz="2400" b="1" dirty="0"/>
              <a:t>b</a:t>
            </a:r>
            <a:r>
              <a:rPr lang="en-US" sz="2400" dirty="0"/>
              <a:t>, and setting the sources to zero, we have the following circuit 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1" y="3733800"/>
            <a:ext cx="3962400" cy="2080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/>
          <p:cNvSpPr/>
          <p:nvPr/>
        </p:nvSpPr>
        <p:spPr>
          <a:xfrm>
            <a:off x="6477000" y="5709356"/>
            <a:ext cx="14478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Current source replaced with an open circuit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5662136"/>
            <a:ext cx="12954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Voltage source replaced with a short circuit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799" y="1066800"/>
            <a:ext cx="4191001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93903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610600" cy="289560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Step 4</a:t>
            </a:r>
            <a:r>
              <a:rPr lang="en-US" dirty="0"/>
              <a:t>: The Norton resistance of the circuit is found as </a:t>
            </a:r>
            <a:r>
              <a:rPr lang="nn-NO" b="1" dirty="0">
                <a:solidFill>
                  <a:srgbClr val="C00000"/>
                </a:solidFill>
              </a:rPr>
              <a:t>R</a:t>
            </a:r>
            <a:r>
              <a:rPr lang="nn-NO" b="1" baseline="-25000" dirty="0">
                <a:solidFill>
                  <a:srgbClr val="C00000"/>
                </a:solidFill>
              </a:rPr>
              <a:t>N</a:t>
            </a:r>
            <a:r>
              <a:rPr lang="nn-NO" b="1" dirty="0">
                <a:solidFill>
                  <a:srgbClr val="C00000"/>
                </a:solidFill>
              </a:rPr>
              <a:t>=6 k</a:t>
            </a:r>
            <a:r>
              <a:rPr lang="nn-NO" b="1" dirty="0">
                <a:solidFill>
                  <a:srgbClr val="C00000"/>
                </a:solidFill>
                <a:sym typeface="Symbol"/>
              </a:rPr>
              <a:t>||</a:t>
            </a:r>
            <a:r>
              <a:rPr lang="nn-NO" b="1" dirty="0">
                <a:solidFill>
                  <a:srgbClr val="C00000"/>
                </a:solidFill>
              </a:rPr>
              <a:t>2 k</a:t>
            </a:r>
            <a:r>
              <a:rPr lang="nn-NO" b="1" dirty="0">
                <a:solidFill>
                  <a:srgbClr val="C00000"/>
                </a:solidFill>
                <a:sym typeface="Symbol"/>
              </a:rPr>
              <a:t> =</a:t>
            </a:r>
            <a:r>
              <a:rPr lang="nn-NO" b="1" dirty="0">
                <a:solidFill>
                  <a:srgbClr val="C00000"/>
                </a:solidFill>
              </a:rPr>
              <a:t>1.5 k</a:t>
            </a:r>
            <a:r>
              <a:rPr lang="nn-NO" b="1" dirty="0">
                <a:solidFill>
                  <a:srgbClr val="C00000"/>
                </a:solidFill>
                <a:sym typeface="Symbol"/>
              </a:rPr>
              <a:t>.</a:t>
            </a:r>
          </a:p>
          <a:p>
            <a:r>
              <a:rPr lang="en-US" b="1" dirty="0"/>
              <a:t>Step 5: </a:t>
            </a:r>
            <a:r>
              <a:rPr lang="en-US" dirty="0"/>
              <a:t>The value of the Norton constant-current source is found by determining the current effects </a:t>
            </a:r>
            <a:r>
              <a:rPr lang="en-US" dirty="0">
                <a:solidFill>
                  <a:srgbClr val="C00000"/>
                </a:solidFill>
              </a:rPr>
              <a:t>due to each independent </a:t>
            </a:r>
            <a:r>
              <a:rPr lang="en-US" dirty="0"/>
              <a:t>source acting on a short circuit between terminals </a:t>
            </a:r>
            <a:r>
              <a:rPr lang="en-US" b="1" i="1" dirty="0"/>
              <a:t>a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b="1" i="1" dirty="0"/>
              <a:t>b</a:t>
            </a:r>
            <a:r>
              <a:rPr lang="en-US" i="1" dirty="0"/>
              <a:t>.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3127-632C-47D9-BD1A-856C4CDCB0F0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30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04800" y="3657600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0070C0"/>
                </a:solidFill>
              </a:rPr>
              <a:t>Voltage Source, </a:t>
            </a:r>
            <a:r>
              <a:rPr lang="en-US" sz="2400" b="1" i="1" dirty="0"/>
              <a:t>E</a:t>
            </a:r>
            <a:r>
              <a:rPr lang="en-US" sz="2400" dirty="0"/>
              <a:t>: A short circuit between terminals </a:t>
            </a:r>
            <a:r>
              <a:rPr lang="en-US" sz="2400" b="1" dirty="0"/>
              <a:t>a </a:t>
            </a:r>
            <a:r>
              <a:rPr lang="en-US" sz="2400" dirty="0"/>
              <a:t>and </a:t>
            </a:r>
            <a:r>
              <a:rPr lang="en-US" sz="2400" b="1" dirty="0"/>
              <a:t>b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eliminates resistor R</a:t>
            </a:r>
            <a:r>
              <a:rPr lang="en-US" sz="2400" b="1" baseline="-25000" dirty="0">
                <a:solidFill>
                  <a:srgbClr val="0070C0"/>
                </a:solidFill>
              </a:rPr>
              <a:t>2</a:t>
            </a:r>
            <a:r>
              <a:rPr lang="en-US" sz="2400" b="1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from the circuit. The short-circuit </a:t>
            </a:r>
            <a:r>
              <a:rPr lang="en-US" sz="2400" b="1" dirty="0"/>
              <a:t>current</a:t>
            </a:r>
            <a:r>
              <a:rPr lang="en-US" sz="2400" dirty="0"/>
              <a:t> due to the voltage source is: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10000"/>
            <a:ext cx="41148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5611359"/>
            <a:ext cx="3352800" cy="738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9181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A7C78-A1C9-4F91-82EA-1FD6D5B92A87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31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04800" y="838200"/>
            <a:ext cx="4876800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0070C0"/>
                </a:solidFill>
              </a:rPr>
              <a:t>Current Source, I</a:t>
            </a:r>
            <a:r>
              <a:rPr lang="en-US" sz="2400" b="1" i="1" dirty="0"/>
              <a:t>: </a:t>
            </a:r>
            <a:r>
              <a:rPr lang="en-US" sz="2400" dirty="0"/>
              <a:t>The short circuit between terminals </a:t>
            </a:r>
            <a:r>
              <a:rPr lang="en-US" sz="2400" b="1" dirty="0"/>
              <a:t>a</a:t>
            </a:r>
            <a:r>
              <a:rPr lang="en-US" sz="2400" dirty="0"/>
              <a:t> and </a:t>
            </a:r>
            <a:r>
              <a:rPr lang="en-US" sz="2400" b="1" dirty="0"/>
              <a:t>b</a:t>
            </a:r>
            <a:r>
              <a:rPr lang="en-US" sz="2400" dirty="0"/>
              <a:t> </a:t>
            </a:r>
            <a:r>
              <a:rPr lang="en-US" sz="2400" b="1" dirty="0"/>
              <a:t>eliminates both resistors R</a:t>
            </a:r>
            <a:r>
              <a:rPr lang="en-US" sz="2400" b="1" baseline="-25000" dirty="0"/>
              <a:t>1</a:t>
            </a:r>
            <a:r>
              <a:rPr lang="en-US" sz="2400" b="1" dirty="0"/>
              <a:t> and R</a:t>
            </a:r>
            <a:r>
              <a:rPr lang="en-US" sz="2400" b="1" baseline="-25000" dirty="0"/>
              <a:t>2</a:t>
            </a:r>
            <a:r>
              <a:rPr lang="en-US" sz="2400" dirty="0"/>
              <a:t>. The short-circuit </a:t>
            </a:r>
            <a:r>
              <a:rPr lang="en-US" sz="2400" dirty="0">
                <a:solidFill>
                  <a:srgbClr val="0070C0"/>
                </a:solidFill>
              </a:rPr>
              <a:t>current due </a:t>
            </a:r>
            <a:r>
              <a:rPr lang="en-US" sz="2400" dirty="0"/>
              <a:t>to the current source is therefore: </a:t>
            </a:r>
          </a:p>
          <a:p>
            <a:pPr algn="ctr"/>
            <a:r>
              <a:rPr lang="en-US" sz="2800" b="1" i="1" dirty="0" err="1">
                <a:solidFill>
                  <a:srgbClr val="C00000"/>
                </a:solidFill>
              </a:rPr>
              <a:t>I</a:t>
            </a:r>
            <a:r>
              <a:rPr lang="en-US" sz="2800" b="1" i="1" baseline="-25000" dirty="0" err="1">
                <a:solidFill>
                  <a:srgbClr val="C00000"/>
                </a:solidFill>
              </a:rPr>
              <a:t>ab</a:t>
            </a:r>
            <a:r>
              <a:rPr lang="en-US" sz="2800" b="1" baseline="-25000" dirty="0">
                <a:solidFill>
                  <a:srgbClr val="C00000"/>
                </a:solidFill>
              </a:rPr>
              <a:t>(2)</a:t>
            </a:r>
            <a:r>
              <a:rPr lang="en-US" sz="2800" b="1" dirty="0">
                <a:solidFill>
                  <a:srgbClr val="C00000"/>
                </a:solidFill>
              </a:rPr>
              <a:t>=5.00 mA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898056"/>
            <a:ext cx="4114800" cy="2232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457200" y="3276600"/>
            <a:ext cx="8382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resultant</a:t>
            </a:r>
            <a:r>
              <a:rPr lang="en-US" sz="2800" b="1" dirty="0"/>
              <a:t> </a:t>
            </a:r>
            <a:r>
              <a:rPr lang="en-US" sz="2800" b="1" i="1" dirty="0"/>
              <a:t>I</a:t>
            </a:r>
            <a:r>
              <a:rPr lang="en-US" sz="2800" b="1" i="1" baseline="-25000" dirty="0"/>
              <a:t>N </a:t>
            </a:r>
            <a:r>
              <a:rPr lang="en-US" sz="2800" dirty="0"/>
              <a:t>is found from superposition as:</a:t>
            </a:r>
          </a:p>
          <a:p>
            <a:pPr algn="ctr"/>
            <a:r>
              <a:rPr lang="it-IT" sz="2800" i="1" dirty="0"/>
              <a:t>      </a:t>
            </a:r>
            <a:r>
              <a:rPr lang="it-IT" sz="2800" b="1" i="1" dirty="0">
                <a:solidFill>
                  <a:srgbClr val="C00000"/>
                </a:solidFill>
              </a:rPr>
              <a:t>I</a:t>
            </a:r>
            <a:r>
              <a:rPr lang="it-IT" sz="2800" b="1" baseline="-25000" dirty="0">
                <a:solidFill>
                  <a:srgbClr val="C00000"/>
                </a:solidFill>
              </a:rPr>
              <a:t>N</a:t>
            </a:r>
            <a:r>
              <a:rPr lang="it-IT" sz="2800" b="1" dirty="0">
                <a:solidFill>
                  <a:srgbClr val="C00000"/>
                </a:solidFill>
              </a:rPr>
              <a:t>  =</a:t>
            </a:r>
            <a:r>
              <a:rPr lang="it-IT" sz="2800" b="1" i="1" dirty="0">
                <a:solidFill>
                  <a:srgbClr val="C00000"/>
                </a:solidFill>
              </a:rPr>
              <a:t>I</a:t>
            </a:r>
            <a:r>
              <a:rPr lang="it-IT" sz="2800" b="1" i="1" baseline="-25000" dirty="0">
                <a:solidFill>
                  <a:srgbClr val="C00000"/>
                </a:solidFill>
              </a:rPr>
              <a:t>ab</a:t>
            </a:r>
            <a:r>
              <a:rPr lang="it-IT" sz="2800" b="1" baseline="-25000" dirty="0">
                <a:solidFill>
                  <a:srgbClr val="C00000"/>
                </a:solidFill>
              </a:rPr>
              <a:t>(1)</a:t>
            </a:r>
            <a:r>
              <a:rPr lang="it-IT" sz="2800" b="1" dirty="0">
                <a:solidFill>
                  <a:srgbClr val="C00000"/>
                </a:solidFill>
              </a:rPr>
              <a:t> +</a:t>
            </a:r>
            <a:r>
              <a:rPr lang="it-IT" sz="2800" b="1" i="1" dirty="0">
                <a:solidFill>
                  <a:srgbClr val="C00000"/>
                </a:solidFill>
              </a:rPr>
              <a:t>I</a:t>
            </a:r>
            <a:r>
              <a:rPr lang="it-IT" sz="2800" b="1" i="1" baseline="-25000" dirty="0">
                <a:solidFill>
                  <a:srgbClr val="C00000"/>
                </a:solidFill>
              </a:rPr>
              <a:t>ab</a:t>
            </a:r>
            <a:r>
              <a:rPr lang="it-IT" sz="2800" b="1" baseline="-25000" dirty="0">
                <a:solidFill>
                  <a:srgbClr val="C00000"/>
                </a:solidFill>
              </a:rPr>
              <a:t>(2)  </a:t>
            </a:r>
            <a:r>
              <a:rPr lang="it-IT" sz="2800" b="1" dirty="0">
                <a:solidFill>
                  <a:srgbClr val="C00000"/>
                </a:solidFill>
              </a:rPr>
              <a:t>=2.50 mA +5.00 mA =7.50 mA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42833" y="4922291"/>
            <a:ext cx="360073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Step 6</a:t>
            </a:r>
            <a:r>
              <a:rPr lang="en-US" sz="2800" dirty="0"/>
              <a:t>: The Norton equivalent circuit is:</a:t>
            </a: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4230706"/>
            <a:ext cx="3886200" cy="2245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3128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3352800" cy="381000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Using CDR, we have: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5EEE-FF28-4F0F-9EBA-185361068501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32</a:t>
            </a:fld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95400"/>
            <a:ext cx="8305799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82440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1"/>
            <a:ext cx="8839200" cy="1524000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Example for Enhancement: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Find the Norton equivalent circuit external to terminals </a:t>
            </a:r>
            <a:r>
              <a:rPr lang="en-US" b="1" dirty="0"/>
              <a:t>a</a:t>
            </a:r>
            <a:r>
              <a:rPr lang="en-US" dirty="0"/>
              <a:t> and </a:t>
            </a:r>
            <a:r>
              <a:rPr lang="en-US" b="1" dirty="0"/>
              <a:t>b</a:t>
            </a:r>
            <a:r>
              <a:rPr lang="en-US" dirty="0"/>
              <a:t>. Determine the current through R</a:t>
            </a:r>
            <a:r>
              <a:rPr lang="en-US" baseline="-25000" dirty="0"/>
              <a:t>L</a:t>
            </a:r>
            <a:r>
              <a:rPr lang="en-US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FB7A9-4DF7-4FEA-96F5-7AAB80EEFEAD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33</a:t>
            </a:fld>
            <a:endParaRPr 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024418"/>
            <a:ext cx="64008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04800" y="4602540"/>
            <a:ext cx="4419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2. Find the Norton equivalent external to R</a:t>
            </a:r>
            <a:r>
              <a:rPr lang="en-US" sz="2400" baseline="-25000" dirty="0"/>
              <a:t>L</a:t>
            </a:r>
            <a:r>
              <a:rPr lang="en-US" sz="2400" dirty="0"/>
              <a:t> in the circuit on the left. Solve for the current I</a:t>
            </a:r>
            <a:r>
              <a:rPr lang="en-US" sz="2400" baseline="-25000" dirty="0"/>
              <a:t>L</a:t>
            </a:r>
            <a:r>
              <a:rPr lang="en-US" sz="2400" dirty="0"/>
              <a:t> when R</a:t>
            </a:r>
            <a:r>
              <a:rPr lang="en-US" sz="2400" baseline="-25000" dirty="0"/>
              <a:t>L</a:t>
            </a:r>
            <a:r>
              <a:rPr lang="en-US" sz="2400" dirty="0"/>
              <a:t>=0, 10 k</a:t>
            </a:r>
            <a:r>
              <a:rPr lang="en-US" sz="2400" dirty="0">
                <a:sym typeface="Symbol"/>
              </a:rPr>
              <a:t></a:t>
            </a:r>
            <a:r>
              <a:rPr lang="en-US" sz="2400" dirty="0"/>
              <a:t>, 50 k</a:t>
            </a:r>
            <a:r>
              <a:rPr lang="en-US" sz="2400" dirty="0">
                <a:sym typeface="Symbol"/>
              </a:rPr>
              <a:t></a:t>
            </a:r>
            <a:r>
              <a:rPr lang="en-US" sz="2400" dirty="0"/>
              <a:t>, and 100 k</a:t>
            </a:r>
            <a:r>
              <a:rPr lang="en-US" sz="2400" dirty="0">
                <a:sym typeface="Symbol"/>
              </a:rPr>
              <a:t>.</a:t>
            </a:r>
            <a:endParaRPr lang="en-US" sz="2400" dirty="0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4419599"/>
            <a:ext cx="3962400" cy="2006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Straight Connector 8"/>
          <p:cNvCxnSpPr/>
          <p:nvPr/>
        </p:nvCxnSpPr>
        <p:spPr>
          <a:xfrm>
            <a:off x="304800" y="4343400"/>
            <a:ext cx="8686800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03988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38200"/>
            <a:ext cx="8458200" cy="5334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Maximum Power Transfer Theorem</a:t>
            </a:r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C720A-EF6E-4541-B7B1-07A72900F001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34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04800" y="1447800"/>
            <a:ext cx="86868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In amplifiers and in most communication circuits such as radio receivers and transmitters</a:t>
            </a:r>
            <a:r>
              <a:rPr lang="en-US" sz="2800" dirty="0">
                <a:solidFill>
                  <a:srgbClr val="0070C0"/>
                </a:solidFill>
              </a:rPr>
              <a:t>, it is often desired that the load receive the maximum amount of power from a source</a:t>
            </a:r>
            <a:r>
              <a:rPr lang="en-US" sz="2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maximum power transfer theorem states the following: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70C0"/>
                </a:solidFill>
              </a:rPr>
              <a:t>“</a:t>
            </a:r>
            <a:r>
              <a:rPr lang="en-US" sz="2800" i="1" dirty="0">
                <a:solidFill>
                  <a:srgbClr val="0070C0"/>
                </a:solidFill>
              </a:rPr>
              <a:t>A load resistance will receive maximum power from a circuit when the resistance of the load is exactly the same as the </a:t>
            </a:r>
            <a:r>
              <a:rPr lang="en-US" sz="2800" b="1" i="1" u="sng" dirty="0">
                <a:solidFill>
                  <a:srgbClr val="0070C0"/>
                </a:solidFill>
              </a:rPr>
              <a:t>Thévenin (Norton)  </a:t>
            </a:r>
            <a:r>
              <a:rPr lang="en-US" sz="2800" i="1" dirty="0">
                <a:solidFill>
                  <a:srgbClr val="0070C0"/>
                </a:solidFill>
              </a:rPr>
              <a:t>resistance looking back at the circuit”.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C00000"/>
                </a:solidFill>
              </a:rPr>
              <a:t>The maximum power will </a:t>
            </a:r>
            <a:r>
              <a:rPr lang="en-US" sz="3200" b="1" dirty="0">
                <a:solidFill>
                  <a:srgbClr val="C00000"/>
                </a:solidFill>
              </a:rPr>
              <a:t>occur when  </a:t>
            </a:r>
            <a:r>
              <a:rPr lang="en-US" sz="3200" b="1" i="1" dirty="0">
                <a:solidFill>
                  <a:srgbClr val="C00000"/>
                </a:solidFill>
              </a:rPr>
              <a:t>R</a:t>
            </a:r>
            <a:r>
              <a:rPr lang="en-US" sz="3200" b="1" i="1" baseline="-25000" dirty="0">
                <a:solidFill>
                  <a:srgbClr val="C00000"/>
                </a:solidFill>
              </a:rPr>
              <a:t>L</a:t>
            </a:r>
            <a:r>
              <a:rPr lang="en-US" sz="3200" b="1" i="1" dirty="0">
                <a:solidFill>
                  <a:srgbClr val="C00000"/>
                </a:solidFill>
              </a:rPr>
              <a:t>=</a:t>
            </a:r>
            <a:r>
              <a:rPr lang="en-US" sz="3200" b="1" i="1" dirty="0" err="1">
                <a:solidFill>
                  <a:srgbClr val="C00000"/>
                </a:solidFill>
              </a:rPr>
              <a:t>R</a:t>
            </a:r>
            <a:r>
              <a:rPr lang="en-US" sz="3200" b="1" baseline="-25000" dirty="0" err="1">
                <a:solidFill>
                  <a:srgbClr val="C00000"/>
                </a:solidFill>
              </a:rPr>
              <a:t>Th</a:t>
            </a:r>
            <a:r>
              <a:rPr lang="en-US" sz="3200" b="1" dirty="0">
                <a:solidFill>
                  <a:srgbClr val="C00000"/>
                </a:solidFill>
              </a:rPr>
              <a:t>=</a:t>
            </a:r>
            <a:r>
              <a:rPr lang="en-US" sz="3200" b="1" i="1" dirty="0">
                <a:solidFill>
                  <a:srgbClr val="C00000"/>
                </a:solidFill>
              </a:rPr>
              <a:t>R</a:t>
            </a:r>
            <a:r>
              <a:rPr lang="en-US" sz="3200" b="1" baseline="-25000" dirty="0">
                <a:solidFill>
                  <a:srgbClr val="C00000"/>
                </a:solidFill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25687051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5368404" cy="12954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By examining the </a:t>
            </a:r>
            <a:r>
              <a:rPr lang="en-US" dirty="0" err="1"/>
              <a:t>Thevenin’s</a:t>
            </a:r>
            <a:r>
              <a:rPr lang="en-US" dirty="0"/>
              <a:t> equivalent circuits and by using VDR, </a:t>
            </a:r>
            <a:r>
              <a:rPr lang="en-US" dirty="0">
                <a:solidFill>
                  <a:srgbClr val="C00000"/>
                </a:solidFill>
              </a:rPr>
              <a:t>the power delivered to the load is given by:</a:t>
            </a:r>
          </a:p>
          <a:p>
            <a:r>
              <a:rPr lang="en-US" dirty="0">
                <a:solidFill>
                  <a:srgbClr val="C00000"/>
                </a:solidFill>
              </a:rPr>
              <a:t>V drop across R</a:t>
            </a:r>
            <a:r>
              <a:rPr lang="en-US" sz="1600" dirty="0">
                <a:solidFill>
                  <a:srgbClr val="C00000"/>
                </a:solidFill>
              </a:rPr>
              <a:t>L</a:t>
            </a:r>
            <a:r>
              <a:rPr lang="en-US" dirty="0">
                <a:solidFill>
                  <a:srgbClr val="C00000"/>
                </a:solidFill>
              </a:rPr>
              <a:t> (use VDR)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9A751-A467-486A-A112-CB2612DD7528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35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7004" y="533400"/>
            <a:ext cx="3394596" cy="2219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28600" y="2438400"/>
                <a:ext cx="4648200" cy="1181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3200" b="0" i="1" smtClean="0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32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2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i="1" dirty="0">
                                <a:latin typeface="Cambria Math"/>
                              </a:rPr>
                              <m:t>𝑉</m:t>
                            </m:r>
                          </m:e>
                          <m:sup>
                            <m:r>
                              <a:rPr lang="en-US" sz="3200" i="1" dirty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US" sz="3200" i="1" dirty="0">
                            <a:latin typeface="Cambria Math"/>
                          </a:rPr>
                          <m:t> </m:t>
                        </m:r>
                      </m:num>
                      <m:den>
                        <m:sSub>
                          <m:sSubPr>
                            <m:ctrlPr>
                              <a:rPr lang="en-US" sz="3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 dirty="0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sz="3200" i="1" dirty="0">
                                <a:latin typeface="Cambria Math"/>
                              </a:rPr>
                              <m:t>𝐿</m:t>
                            </m:r>
                          </m:sub>
                        </m:sSub>
                        <m:r>
                          <a:rPr lang="en-US" sz="3200" i="1" dirty="0">
                            <a:latin typeface="Cambria Math"/>
                          </a:rPr>
                          <m:t> </m:t>
                        </m:r>
                      </m:den>
                    </m:f>
                    <m:r>
                      <a:rPr lang="en-US" sz="3200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32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32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32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3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b="0" i="1" dirty="0" smtClean="0">
                                        <a:latin typeface="Cambria Math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3200" b="0" i="1" dirty="0" smtClean="0">
                                        <a:latin typeface="Cambria Math"/>
                                      </a:rPr>
                                      <m:t>𝐿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3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b="0" i="1" dirty="0" smtClean="0">
                                        <a:latin typeface="Cambria Math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3200" b="0" i="1" dirty="0" smtClean="0">
                                        <a:latin typeface="Cambria Math"/>
                                      </a:rPr>
                                      <m:t>𝐿</m:t>
                                    </m:r>
                                  </m:sub>
                                </m:sSub>
                                <m:r>
                                  <a:rPr lang="en-US" sz="3200" b="0" i="1" dirty="0" smtClean="0">
                                    <a:latin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3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b="0" i="1" dirty="0" smtClean="0">
                                        <a:latin typeface="Cambria Math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3200" b="0" i="1" dirty="0" smtClean="0">
                                        <a:latin typeface="Cambria Math"/>
                                      </a:rPr>
                                      <m:t>𝑇𝐻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3200" i="1" dirty="0" smtClean="0">
                                <a:latin typeface="Cambria Math"/>
                                <a:ea typeface="Cambria Math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sz="3200" i="1" dirty="0" smtClean="0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dirty="0" smtClean="0">
                                    <a:latin typeface="Cambria Math"/>
                                    <a:ea typeface="Cambria Math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3200" b="0" i="1" dirty="0" smtClean="0">
                                    <a:latin typeface="Cambria Math"/>
                                    <a:ea typeface="Cambria Math"/>
                                  </a:rPr>
                                  <m:t>𝑇𝐻</m:t>
                                </m:r>
                              </m:sub>
                            </m:sSub>
                          </m:e>
                        </m:d>
                        <m:r>
                          <a:rPr lang="en-US" sz="3200" b="0" i="1" baseline="30000" dirty="0" smtClean="0">
                            <a:latin typeface="Cambria Math"/>
                          </a:rPr>
                          <m:t>2 </m:t>
                        </m:r>
                      </m:num>
                      <m:den>
                        <m:sSub>
                          <m:sSubPr>
                            <m:ctrlPr>
                              <a:rPr lang="en-US" sz="32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dirty="0" smtClean="0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sz="3200" b="0" i="1" dirty="0" smtClean="0">
                                <a:latin typeface="Cambria Math"/>
                              </a:rPr>
                              <m:t>𝐿</m:t>
                            </m:r>
                          </m:sub>
                        </m:sSub>
                      </m:den>
                    </m:f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2438400"/>
                <a:ext cx="4648200" cy="1181990"/>
              </a:xfrm>
              <a:prstGeom prst="rect">
                <a:avLst/>
              </a:prstGeom>
              <a:blipFill rotWithShape="1">
                <a:blip r:embed="rId3"/>
                <a:stretch>
                  <a:fillRect b="-30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89020" y="3793285"/>
                <a:ext cx="3962400" cy="830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sz="2800" b="1" i="1" smtClean="0">
                            <a:latin typeface="Cambria Math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sz="2800" b="1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 dirty="0">
                                <a:latin typeface="Cambria Math"/>
                              </a:rPr>
                              <m:t>𝑽</m:t>
                            </m:r>
                          </m:e>
                          <m:sup>
                            <m:r>
                              <a:rPr lang="en-US" sz="2800" b="1" i="1" dirty="0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  <m:r>
                          <a:rPr lang="en-US" sz="2800" b="1" i="1" dirty="0">
                            <a:latin typeface="Cambria Math"/>
                          </a:rPr>
                          <m:t> </m:t>
                        </m:r>
                      </m:num>
                      <m:den>
                        <m:sSub>
                          <m:sSubPr>
                            <m:ctrlPr>
                              <a:rPr lang="en-US" sz="28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dirty="0">
                                <a:latin typeface="Cambria Math"/>
                              </a:rPr>
                              <m:t>𝑹</m:t>
                            </m:r>
                          </m:e>
                          <m:sub>
                            <m:r>
                              <a:rPr lang="en-US" sz="2800" b="1" i="1" dirty="0">
                                <a:latin typeface="Cambria Math"/>
                              </a:rPr>
                              <m:t>𝑳</m:t>
                            </m:r>
                          </m:sub>
                        </m:sSub>
                        <m:r>
                          <a:rPr lang="en-US" sz="2800" b="1" i="1" dirty="0">
                            <a:latin typeface="Cambria Math"/>
                          </a:rPr>
                          <m:t> </m:t>
                        </m:r>
                      </m:den>
                    </m:f>
                    <m:r>
                      <a:rPr lang="en-US" sz="2800" b="1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2800" b="1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dirty="0" smtClean="0">
                                <a:latin typeface="Cambria Math"/>
                              </a:rPr>
                              <m:t>𝑹</m:t>
                            </m:r>
                          </m:e>
                          <m:sub>
                            <m:r>
                              <a:rPr lang="en-US" sz="2800" b="1" i="1" dirty="0" smtClean="0">
                                <a:latin typeface="Cambria Math"/>
                              </a:rPr>
                              <m:t>𝑳</m:t>
                            </m:r>
                          </m:sub>
                        </m:sSub>
                        <m:r>
                          <a:rPr lang="en-US" sz="2800" b="1" i="1" dirty="0" smtClean="0">
                            <a:latin typeface="Cambria Math"/>
                            <a:ea typeface="Cambria Math"/>
                          </a:rPr>
                          <m:t>×(</m:t>
                        </m:r>
                        <m:sSubSup>
                          <m:sSubSupPr>
                            <m:ctrlPr>
                              <a:rPr lang="en-US" sz="2800" b="1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SupPr>
                          <m:e>
                            <m:r>
                              <a:rPr lang="en-US" sz="2800" b="1" i="1" dirty="0" smtClean="0">
                                <a:latin typeface="Cambria Math"/>
                                <a:ea typeface="Cambria Math"/>
                              </a:rPr>
                              <m:t>𝑬</m:t>
                            </m:r>
                          </m:e>
                          <m:sub>
                            <m:r>
                              <a:rPr lang="en-US" sz="2800" b="1" i="1" dirty="0" smtClean="0">
                                <a:latin typeface="Cambria Math"/>
                                <a:ea typeface="Cambria Math"/>
                              </a:rPr>
                              <m:t>𝑻𝑯</m:t>
                            </m:r>
                          </m:sub>
                          <m:sup/>
                        </m:sSubSup>
                        <m:r>
                          <a:rPr lang="en-US" sz="2800" b="1" i="1" dirty="0" smtClean="0">
                            <a:latin typeface="Cambria Math"/>
                            <a:ea typeface="Cambria Math"/>
                          </a:rPr>
                          <m:t>)</m:t>
                        </m:r>
                        <m:r>
                          <a:rPr lang="en-US" sz="2800" b="1" i="1" baseline="30000" dirty="0" smtClean="0">
                            <a:latin typeface="Cambria Math"/>
                            <a:ea typeface="Cambria Math"/>
                          </a:rPr>
                          <m:t>𝟐</m:t>
                        </m:r>
                      </m:num>
                      <m:den>
                        <m:d>
                          <m:dPr>
                            <m:ctrlPr>
                              <a:rPr lang="en-US" sz="2800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 dirty="0">
                                    <a:latin typeface="Cambria Math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sz="2800" b="1" i="1" dirty="0">
                                    <a:latin typeface="Cambria Math"/>
                                  </a:rPr>
                                  <m:t>𝑳</m:t>
                                </m:r>
                              </m:sub>
                            </m:sSub>
                            <m:r>
                              <a:rPr lang="en-US" sz="2800" b="1" i="1" dirty="0">
                                <a:latin typeface="Cambria Math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8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 dirty="0">
                                    <a:latin typeface="Cambria Math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sz="2800" b="1" i="1" dirty="0">
                                    <a:latin typeface="Cambria Math"/>
                                  </a:rPr>
                                  <m:t>𝑻𝑯</m:t>
                                </m:r>
                              </m:sub>
                            </m:sSub>
                          </m:e>
                        </m:d>
                        <m:r>
                          <a:rPr lang="en-US" sz="2800" b="1" i="1" baseline="30000" dirty="0" smtClean="0">
                            <a:latin typeface="Cambria Math"/>
                          </a:rPr>
                          <m:t>𝟐</m:t>
                        </m:r>
                      </m:den>
                    </m:f>
                  </m:oMath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020" y="3793285"/>
                <a:ext cx="3962400" cy="830356"/>
              </a:xfrm>
              <a:prstGeom prst="rect">
                <a:avLst/>
              </a:prstGeom>
              <a:blipFill rotWithShape="0">
                <a:blip r:embed="rId4"/>
                <a:stretch>
                  <a:fillRect b="-8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381000" y="4909572"/>
            <a:ext cx="586740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dirty="0"/>
              <a:t>Then By Considering  </a:t>
            </a:r>
            <a:r>
              <a:rPr lang="en-US" sz="2700" b="1" dirty="0"/>
              <a:t>The Norton’s Theorem, and by applying CDR</a:t>
            </a:r>
            <a:r>
              <a:rPr lang="en-US" sz="2700" dirty="0"/>
              <a:t>, the Power delivered to the load is Given by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324600" y="4954398"/>
                <a:ext cx="2743200" cy="11296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7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700" b="0" i="1" smtClean="0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2700" i="1" dirty="0"/>
                  <a:t>=I</a:t>
                </a:r>
                <a:r>
                  <a:rPr lang="en-US" sz="2700" i="1" baseline="30000" dirty="0"/>
                  <a:t>2</a:t>
                </a:r>
                <a:r>
                  <a:rPr lang="en-US" sz="2700" i="1" dirty="0"/>
                  <a:t>R</a:t>
                </a:r>
                <a:r>
                  <a:rPr lang="en-US" sz="2700" i="1" baseline="-25000" dirty="0"/>
                  <a:t>L</a:t>
                </a:r>
              </a:p>
              <a:p>
                <a:r>
                  <a:rPr lang="en-US" sz="2700" b="1" dirty="0"/>
                  <a:t>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7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7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700" b="1" i="1" smtClean="0">
                                <a:latin typeface="Cambria Math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sz="2700" b="1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700" b="1" i="1">
                                    <a:latin typeface="Cambria Math"/>
                                  </a:rPr>
                                  <m:t>𝑹</m:t>
                                </m:r>
                                <m:r>
                                  <a:rPr lang="en-US" sz="2700" b="1" i="1" baseline="-25000">
                                    <a:latin typeface="Cambria Math"/>
                                  </a:rPr>
                                  <m:t>𝑵</m:t>
                                </m:r>
                                <m:r>
                                  <a:rPr lang="en-US" sz="2700" b="1" i="1">
                                    <a:latin typeface="Cambria Math"/>
                                  </a:rPr>
                                  <m:t>𝑰</m:t>
                                </m:r>
                                <m:r>
                                  <a:rPr lang="en-US" sz="2700" b="1" i="1" baseline="-25000" smtClean="0">
                                    <a:latin typeface="Cambria Math"/>
                                  </a:rPr>
                                  <m:t>𝑵</m:t>
                                </m:r>
                              </m:num>
                              <m:den>
                                <m:r>
                                  <a:rPr lang="en-US" sz="2700" b="1" i="1">
                                    <a:latin typeface="Cambria Math"/>
                                  </a:rPr>
                                  <m:t>𝑹</m:t>
                                </m:r>
                                <m:r>
                                  <a:rPr lang="en-US" sz="2700" b="1" i="1" baseline="-25000">
                                    <a:latin typeface="Cambria Math"/>
                                  </a:rPr>
                                  <m:t>𝑳</m:t>
                                </m:r>
                                <m:r>
                                  <a:rPr lang="en-US" sz="2700" b="1" i="1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700" b="1" i="1">
                                    <a:latin typeface="Cambria Math"/>
                                  </a:rPr>
                                  <m:t>𝑹𝑵</m:t>
                                </m:r>
                              </m:den>
                            </m:f>
                            <m:r>
                              <a:rPr lang="en-US" sz="2700" b="1" i="1" smtClean="0">
                                <a:latin typeface="Cambria Math"/>
                              </a:rPr>
                              <m:t>)</m:t>
                            </m:r>
                          </m:e>
                          <m:sup>
                            <m:r>
                              <a:rPr lang="en-US" sz="2700" b="1" i="1" smtClean="0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  <m:r>
                          <a:rPr lang="en-US" sz="2700" b="1" i="1" smtClean="0"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US" sz="2700" b="1" i="1" smtClean="0">
                            <a:latin typeface="Cambria Math"/>
                            <a:ea typeface="Cambria Math"/>
                          </a:rPr>
                          <m:t>𝑹𝑳</m:t>
                        </m:r>
                      </m:e>
                    </m:d>
                  </m:oMath>
                </a14:m>
                <a:endParaRPr lang="en-US" sz="2700" b="1" baseline="-25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600" y="4954398"/>
                <a:ext cx="2743200" cy="1129668"/>
              </a:xfrm>
              <a:prstGeom prst="rect">
                <a:avLst/>
              </a:prstGeom>
              <a:blipFill rotWithShape="1">
                <a:blip r:embed="rId5"/>
                <a:stretch>
                  <a:fillRect l="-4222" t="-4324" b="-48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753308"/>
            <a:ext cx="3678560" cy="2156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Straight Connector 10"/>
          <p:cNvCxnSpPr/>
          <p:nvPr/>
        </p:nvCxnSpPr>
        <p:spPr>
          <a:xfrm>
            <a:off x="228600" y="4909572"/>
            <a:ext cx="591502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85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5105400" cy="3124200"/>
          </a:xfrm>
        </p:spPr>
        <p:txBody>
          <a:bodyPr>
            <a:normAutofit/>
          </a:bodyPr>
          <a:lstStyle/>
          <a:p>
            <a:r>
              <a:rPr lang="en-US" dirty="0"/>
              <a:t>Under </a:t>
            </a:r>
            <a:r>
              <a:rPr lang="en-US" b="1" dirty="0">
                <a:solidFill>
                  <a:srgbClr val="FF0000"/>
                </a:solidFill>
              </a:rPr>
              <a:t>maximum power conditions (R</a:t>
            </a:r>
            <a:r>
              <a:rPr lang="en-US" b="1" baseline="-25000" dirty="0">
                <a:solidFill>
                  <a:srgbClr val="FF0000"/>
                </a:solidFill>
              </a:rPr>
              <a:t>L</a:t>
            </a:r>
            <a:r>
              <a:rPr lang="en-US" b="1" dirty="0">
                <a:solidFill>
                  <a:srgbClr val="FF0000"/>
                </a:solidFill>
              </a:rPr>
              <a:t>=</a:t>
            </a:r>
            <a:r>
              <a:rPr lang="en-US" b="1" dirty="0" err="1">
                <a:solidFill>
                  <a:srgbClr val="FF0000"/>
                </a:solidFill>
              </a:rPr>
              <a:t>R</a:t>
            </a:r>
            <a:r>
              <a:rPr lang="en-US" b="1" baseline="-25000" dirty="0" err="1">
                <a:solidFill>
                  <a:srgbClr val="FF0000"/>
                </a:solidFill>
              </a:rPr>
              <a:t>Th</a:t>
            </a:r>
            <a:r>
              <a:rPr lang="en-US" b="1" dirty="0">
                <a:solidFill>
                  <a:srgbClr val="FF0000"/>
                </a:solidFill>
              </a:rPr>
              <a:t> =R</a:t>
            </a:r>
            <a:r>
              <a:rPr lang="en-US" b="1" baseline="-25000" dirty="0">
                <a:solidFill>
                  <a:srgbClr val="FF0000"/>
                </a:solidFill>
              </a:rPr>
              <a:t>N</a:t>
            </a:r>
            <a:r>
              <a:rPr lang="en-US" b="1" dirty="0">
                <a:solidFill>
                  <a:srgbClr val="FF0000"/>
                </a:solidFill>
              </a:rPr>
              <a:t>), </a:t>
            </a:r>
            <a:r>
              <a:rPr lang="en-US" dirty="0"/>
              <a:t>the preceding equations may be used to determine the maximum power delivered to the load as: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8C5A4-E095-415E-BCAF-B7AD0548A3F2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36</a:t>
            </a:fld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066800"/>
            <a:ext cx="3104388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4812" y="3202511"/>
            <a:ext cx="3028188" cy="1293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172200" y="2362200"/>
            <a:ext cx="2418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By </a:t>
            </a:r>
            <a:r>
              <a:rPr lang="en-US" b="1" dirty="0" err="1"/>
              <a:t>Thevenin’s</a:t>
            </a:r>
            <a:r>
              <a:rPr lang="en-US" b="1" dirty="0"/>
              <a:t> Theorem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15812" y="4459111"/>
            <a:ext cx="2418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By Norton’s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" y="4953000"/>
            <a:ext cx="8610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Example: </a:t>
            </a:r>
            <a:r>
              <a:rPr lang="en-US" sz="2000" dirty="0"/>
              <a:t>Consider the Circuit of:</a:t>
            </a:r>
          </a:p>
          <a:p>
            <a:r>
              <a:rPr lang="en-US" sz="2000" dirty="0"/>
              <a:t>a. Determine the value of load resistance required to ensure that maximum</a:t>
            </a:r>
          </a:p>
          <a:p>
            <a:r>
              <a:rPr lang="en-US" sz="2000" dirty="0"/>
              <a:t>power is transferred to the load.</a:t>
            </a:r>
          </a:p>
          <a:p>
            <a:r>
              <a:rPr lang="en-US" sz="2000" dirty="0"/>
              <a:t>b. Find </a:t>
            </a:r>
            <a:r>
              <a:rPr lang="en-US" sz="2000" b="1" i="1" dirty="0"/>
              <a:t>V</a:t>
            </a:r>
            <a:r>
              <a:rPr lang="en-US" sz="2000" b="1" i="1" baseline="-25000" dirty="0"/>
              <a:t>L</a:t>
            </a:r>
            <a:r>
              <a:rPr lang="en-US" sz="2000" b="1" dirty="0"/>
              <a:t>, </a:t>
            </a:r>
            <a:r>
              <a:rPr lang="en-US" sz="2000" b="1" i="1" dirty="0"/>
              <a:t>I</a:t>
            </a:r>
            <a:r>
              <a:rPr lang="en-US" sz="2000" b="1" i="1" baseline="-25000" dirty="0"/>
              <a:t>L </a:t>
            </a:r>
            <a:r>
              <a:rPr lang="en-US" sz="2000" dirty="0"/>
              <a:t>, and </a:t>
            </a:r>
            <a:r>
              <a:rPr lang="en-US" sz="2000" b="1" i="1" dirty="0"/>
              <a:t>P</a:t>
            </a:r>
            <a:r>
              <a:rPr lang="en-US" sz="2000" b="1" i="1" baseline="-25000" dirty="0"/>
              <a:t>L</a:t>
            </a:r>
            <a:r>
              <a:rPr lang="en-US" sz="2000" i="1" dirty="0"/>
              <a:t> </a:t>
            </a:r>
            <a:r>
              <a:rPr lang="en-US" sz="2000" dirty="0"/>
              <a:t>when maximum power is delivered to the load</a:t>
            </a:r>
            <a:r>
              <a:rPr lang="en-US"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09788" y="4024786"/>
            <a:ext cx="477012" cy="43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88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C8DDB-1636-4DD2-AEB1-5E184F5B3F84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37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52400" y="914400"/>
            <a:ext cx="8839200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/>
              <a:t>Example (1): </a:t>
            </a:r>
            <a:r>
              <a:rPr lang="en-US" sz="2600" dirty="0"/>
              <a:t>Consider the following Circuit: 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700" dirty="0"/>
              <a:t>Determine the value of load resistance required to ensure that maximum power is transferred to the load.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700" dirty="0"/>
              <a:t>Find </a:t>
            </a:r>
            <a:r>
              <a:rPr lang="en-US" sz="2700" i="1" dirty="0"/>
              <a:t>V</a:t>
            </a:r>
            <a:r>
              <a:rPr lang="en-US" sz="2700" i="1" baseline="-25000" dirty="0"/>
              <a:t>L</a:t>
            </a:r>
            <a:r>
              <a:rPr lang="en-US" sz="2700" dirty="0"/>
              <a:t>, </a:t>
            </a:r>
            <a:r>
              <a:rPr lang="en-US" sz="2700" i="1" dirty="0"/>
              <a:t>I</a:t>
            </a:r>
            <a:r>
              <a:rPr lang="en-US" sz="2700" i="1" baseline="-25000" dirty="0"/>
              <a:t>L</a:t>
            </a:r>
            <a:r>
              <a:rPr lang="en-US" sz="2700" dirty="0"/>
              <a:t>, and </a:t>
            </a:r>
            <a:r>
              <a:rPr lang="en-US" sz="2700" i="1" dirty="0"/>
              <a:t>P</a:t>
            </a:r>
            <a:r>
              <a:rPr lang="en-US" sz="2700" i="1" baseline="-25000" dirty="0"/>
              <a:t>L</a:t>
            </a:r>
            <a:r>
              <a:rPr lang="en-US" sz="2700" i="1" dirty="0"/>
              <a:t> </a:t>
            </a:r>
            <a:r>
              <a:rPr lang="en-US" sz="2700" dirty="0"/>
              <a:t>when maximum power is delivered to the load.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429000"/>
            <a:ext cx="5181600" cy="2608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3276600"/>
            <a:ext cx="2819400" cy="1981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ight Arrow 7"/>
          <p:cNvSpPr/>
          <p:nvPr/>
        </p:nvSpPr>
        <p:spPr>
          <a:xfrm>
            <a:off x="5410200" y="3810000"/>
            <a:ext cx="990600" cy="4163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57900" y="5334000"/>
            <a:ext cx="27813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-Roman"/>
              </a:rPr>
              <a:t>The equivalent circuit external to the load.</a:t>
            </a:r>
          </a:p>
          <a:p>
            <a:r>
              <a:rPr lang="en-US" b="1" dirty="0">
                <a:solidFill>
                  <a:srgbClr val="FF0000"/>
                </a:solidFill>
                <a:latin typeface="Times-Roman"/>
              </a:rPr>
              <a:t>Refer to slide 17-19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39667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286" y="905300"/>
            <a:ext cx="5252114" cy="259989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(a) Maximum power will be transferred to the load when </a:t>
            </a:r>
            <a:r>
              <a:rPr lang="en-US" b="1" dirty="0"/>
              <a:t>R</a:t>
            </a:r>
            <a:r>
              <a:rPr lang="en-US" b="1" baseline="-25000" dirty="0"/>
              <a:t>TH</a:t>
            </a:r>
            <a:r>
              <a:rPr lang="en-US" b="1" dirty="0"/>
              <a:t>=R</a:t>
            </a:r>
            <a:r>
              <a:rPr lang="en-US" b="1" baseline="-25000" dirty="0"/>
              <a:t>L</a:t>
            </a:r>
            <a:r>
              <a:rPr lang="en-US" b="1" dirty="0"/>
              <a:t>=1.5 k</a:t>
            </a:r>
            <a:r>
              <a:rPr lang="en-US" b="1" dirty="0">
                <a:sym typeface="Symbol"/>
              </a:rPr>
              <a:t>.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(b) </a:t>
            </a:r>
            <a:r>
              <a:rPr lang="en-US" dirty="0">
                <a:solidFill>
                  <a:srgbClr val="FF0000"/>
                </a:solidFill>
                <a:sym typeface="Symbol"/>
              </a:rPr>
              <a:t>At maximum power and by </a:t>
            </a:r>
            <a:r>
              <a:rPr lang="en-US" dirty="0">
                <a:sym typeface="Symbol"/>
              </a:rPr>
              <a:t>letting </a:t>
            </a:r>
            <a:r>
              <a:rPr lang="en-US" b="1" dirty="0">
                <a:solidFill>
                  <a:srgbClr val="FF0000"/>
                </a:solidFill>
                <a:sym typeface="Symbol"/>
              </a:rPr>
              <a:t>R</a:t>
            </a:r>
            <a:r>
              <a:rPr lang="en-US" b="1" baseline="-25000" dirty="0">
                <a:solidFill>
                  <a:srgbClr val="FF0000"/>
                </a:solidFill>
                <a:sym typeface="Symbol"/>
              </a:rPr>
              <a:t>L</a:t>
            </a:r>
            <a:r>
              <a:rPr lang="en-US" b="1" dirty="0">
                <a:solidFill>
                  <a:srgbClr val="FF0000"/>
                </a:solidFill>
                <a:sym typeface="Symbol"/>
              </a:rPr>
              <a:t>=1.5 k, </a:t>
            </a:r>
            <a:r>
              <a:rPr lang="en-US" dirty="0">
                <a:sym typeface="Symbol"/>
              </a:rPr>
              <a:t>the </a:t>
            </a:r>
            <a:r>
              <a:rPr lang="en-US" dirty="0"/>
              <a:t>voltage across the Load (V</a:t>
            </a:r>
            <a:r>
              <a:rPr lang="en-US" baseline="-25000" dirty="0"/>
              <a:t>L</a:t>
            </a:r>
            <a:r>
              <a:rPr lang="en-US" dirty="0"/>
              <a:t>)is divided by 2, i.e, ½V</a:t>
            </a:r>
            <a:r>
              <a:rPr lang="en-US" baseline="-25000" dirty="0"/>
              <a:t>L</a:t>
            </a:r>
            <a:r>
              <a:rPr lang="en-US" dirty="0"/>
              <a:t> is dissipated in R</a:t>
            </a:r>
            <a:r>
              <a:rPr lang="en-US" baseline="-25000" dirty="0"/>
              <a:t>L</a:t>
            </a:r>
            <a:r>
              <a:rPr lang="en-US" dirty="0"/>
              <a:t> &amp; another 1/2V</a:t>
            </a:r>
            <a:r>
              <a:rPr lang="en-US" baseline="-25000" dirty="0"/>
              <a:t>L</a:t>
            </a:r>
            <a:r>
              <a:rPr lang="en-US" dirty="0"/>
              <a:t> is dissipated in R</a:t>
            </a:r>
            <a:r>
              <a:rPr lang="en-US" baseline="-25000" dirty="0"/>
              <a:t>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75B88-EF9E-4CA7-9F73-1D8BED0954B2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38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199" y="827964"/>
            <a:ext cx="3733801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352800"/>
            <a:ext cx="8458200" cy="301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04223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/>
              <a:t>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229600" cy="1066800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The efficiency (</a:t>
            </a:r>
            <a:r>
              <a:rPr lang="en-US" b="1" i="1" dirty="0">
                <a:solidFill>
                  <a:srgbClr val="0070C0"/>
                </a:solidFill>
                <a:sym typeface="Symbol"/>
              </a:rPr>
              <a:t></a:t>
            </a:r>
            <a:r>
              <a:rPr lang="en-US" b="1" dirty="0">
                <a:solidFill>
                  <a:srgbClr val="0070C0"/>
                </a:solidFill>
              </a:rPr>
              <a:t>) </a:t>
            </a:r>
            <a:r>
              <a:rPr lang="en-US" dirty="0"/>
              <a:t>is defined as the ratio of output power to input power: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328C3-9CB0-4C5C-826E-83B319A26561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39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33600"/>
            <a:ext cx="2514600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985" y="2275091"/>
            <a:ext cx="3148012" cy="1183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352800" y="2667000"/>
            <a:ext cx="4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0" y="2678668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:As percentages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1" y="3943052"/>
            <a:ext cx="3962399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By using the maximum power transfer theorem, we see that under the </a:t>
            </a:r>
            <a:r>
              <a:rPr lang="en-US" sz="2400" b="1" i="1" u="sng" dirty="0">
                <a:solidFill>
                  <a:srgbClr val="0070C0"/>
                </a:solidFill>
              </a:rPr>
              <a:t>condition of maximum power </a:t>
            </a:r>
            <a:r>
              <a:rPr lang="en-US" sz="2400" dirty="0"/>
              <a:t>the  </a:t>
            </a:r>
            <a:r>
              <a:rPr lang="en-US" sz="2400" b="1" dirty="0">
                <a:solidFill>
                  <a:srgbClr val="0070C0"/>
                </a:solidFill>
              </a:rPr>
              <a:t>efficiency (</a:t>
            </a:r>
            <a:r>
              <a:rPr lang="en-US" sz="2400" b="1" dirty="0">
                <a:solidFill>
                  <a:srgbClr val="0070C0"/>
                </a:solidFill>
                <a:sym typeface="Symbol"/>
              </a:rPr>
              <a:t></a:t>
            </a:r>
            <a:r>
              <a:rPr lang="en-US" sz="2400" dirty="0"/>
              <a:t>) of the circuit is</a:t>
            </a:r>
            <a:r>
              <a:rPr lang="en-US" sz="2800" dirty="0"/>
              <a:t>:</a:t>
            </a: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645142"/>
            <a:ext cx="4800599" cy="2667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5791200" y="5715000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Note: </a:t>
            </a:r>
            <a:r>
              <a:rPr lang="en-US" dirty="0"/>
              <a:t>R</a:t>
            </a:r>
            <a:r>
              <a:rPr lang="en-US" baseline="-25000" dirty="0"/>
              <a:t>TH</a:t>
            </a:r>
            <a:r>
              <a:rPr lang="en-US" dirty="0"/>
              <a:t>=R</a:t>
            </a:r>
            <a:r>
              <a:rPr lang="en-US" baseline="-25000" dirty="0"/>
              <a:t>L</a:t>
            </a:r>
            <a:r>
              <a:rPr lang="en-US" dirty="0"/>
              <a:t>, so in the </a:t>
            </a:r>
            <a:r>
              <a:rPr lang="en-US" dirty="0" err="1"/>
              <a:t>Equi</a:t>
            </a:r>
            <a:r>
              <a:rPr lang="en-US" dirty="0"/>
              <a:t>. </a:t>
            </a:r>
            <a:r>
              <a:rPr lang="en-US" dirty="0" err="1"/>
              <a:t>ckt</a:t>
            </a:r>
            <a:r>
              <a:rPr lang="en-US" dirty="0"/>
              <a:t>: R</a:t>
            </a:r>
            <a:r>
              <a:rPr lang="en-US" baseline="-25000" dirty="0"/>
              <a:t>TH</a:t>
            </a:r>
            <a:r>
              <a:rPr lang="en-US" dirty="0"/>
              <a:t>+R</a:t>
            </a:r>
            <a:r>
              <a:rPr lang="en-US" baseline="-25000" dirty="0"/>
              <a:t>TH</a:t>
            </a:r>
            <a:r>
              <a:rPr lang="en-US" dirty="0"/>
              <a:t>=2R</a:t>
            </a:r>
            <a:r>
              <a:rPr lang="en-US" baseline="-25000" dirty="0"/>
              <a:t>TH</a:t>
            </a:r>
          </a:p>
        </p:txBody>
      </p:sp>
    </p:spTree>
    <p:extLst>
      <p:ext uri="{BB962C8B-B14F-4D97-AF65-F5344CB8AC3E}">
        <p14:creationId xmlns:p14="http://schemas.microsoft.com/office/powerpoint/2010/main" val="3487364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5562600" cy="3352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Example (2): </a:t>
            </a:r>
            <a:r>
              <a:rPr lang="en-US" sz="2400" dirty="0"/>
              <a:t>For the following the circuit: 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400" dirty="0"/>
              <a:t>Determine the value of R</a:t>
            </a:r>
            <a:r>
              <a:rPr lang="en-US" sz="2400" baseline="-25000" dirty="0"/>
              <a:t>L</a:t>
            </a:r>
            <a:r>
              <a:rPr lang="en-US" sz="2400" dirty="0"/>
              <a:t> needed for maximum power transfer. 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400" dirty="0"/>
              <a:t>Determine terminal voltage V</a:t>
            </a:r>
            <a:r>
              <a:rPr lang="en-US" sz="2400" baseline="-25000" dirty="0"/>
              <a:t>L</a:t>
            </a:r>
            <a:r>
              <a:rPr lang="en-US" sz="2400" dirty="0"/>
              <a:t> and the efficiency when the value of the load resistor is R</a:t>
            </a:r>
            <a:r>
              <a:rPr lang="en-US" sz="2400" baseline="-25000" dirty="0"/>
              <a:t>L</a:t>
            </a:r>
            <a:r>
              <a:rPr lang="en-US" sz="2400" dirty="0"/>
              <a:t>=50</a:t>
            </a:r>
            <a:r>
              <a:rPr lang="en-US" sz="2400" dirty="0">
                <a:sym typeface="Symbol"/>
              </a:rPr>
              <a:t></a:t>
            </a:r>
            <a:r>
              <a:rPr lang="en-US" sz="2400" dirty="0"/>
              <a:t>. 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400" dirty="0"/>
              <a:t>Determine terminal voltage V</a:t>
            </a:r>
            <a:r>
              <a:rPr lang="en-US" sz="2400" baseline="-25000" dirty="0"/>
              <a:t>L</a:t>
            </a:r>
            <a:r>
              <a:rPr lang="en-US" sz="2400" dirty="0"/>
              <a:t> and the efficiency when the value of the load resistor is R</a:t>
            </a:r>
            <a:r>
              <a:rPr lang="en-US" sz="2400" baseline="-25000" dirty="0"/>
              <a:t>L</a:t>
            </a:r>
            <a:r>
              <a:rPr lang="en-US" sz="2400" dirty="0"/>
              <a:t>=100</a:t>
            </a:r>
            <a:r>
              <a:rPr lang="en-US" sz="2400" dirty="0">
                <a:sym typeface="Symbol"/>
              </a:rPr>
              <a:t></a:t>
            </a:r>
            <a:r>
              <a:rPr lang="en-US" sz="2400" dirty="0"/>
              <a:t>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2D5DF-3F5A-4E68-884E-F2286E623D2D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40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838200"/>
            <a:ext cx="31242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419600"/>
            <a:ext cx="8382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5761630"/>
            <a:ext cx="3695700" cy="78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738314" y="3733800"/>
                <a:ext cx="37104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/>
                        <a:sym typeface="Symbol"/>
                      </a:rPr>
                      <m:t>=</m:t>
                    </m:r>
                  </m:oMath>
                </a14:m>
                <a:r>
                  <a:rPr lang="en-US" sz="2400" b="1" dirty="0"/>
                  <a:t>(V</a:t>
                </a:r>
                <a:r>
                  <a:rPr lang="en-US" sz="2400" b="1" baseline="-25000" dirty="0"/>
                  <a:t>L</a:t>
                </a:r>
                <a:r>
                  <a:rPr lang="en-US" sz="2400" b="1" baseline="30000" dirty="0"/>
                  <a:t>2</a:t>
                </a:r>
                <a:r>
                  <a:rPr lang="en-US" sz="2400" b="1" dirty="0"/>
                  <a:t>/R</a:t>
                </a:r>
                <a:r>
                  <a:rPr lang="en-US" sz="2400" b="1" baseline="-25000" dirty="0"/>
                  <a:t>L</a:t>
                </a:r>
                <a:r>
                  <a:rPr lang="en-US" sz="2400" b="1" dirty="0"/>
                  <a:t>)/(E</a:t>
                </a:r>
                <a:r>
                  <a:rPr lang="en-US" sz="2400" b="1" baseline="-25000" dirty="0"/>
                  <a:t>s</a:t>
                </a:r>
                <a:r>
                  <a:rPr lang="en-US" sz="2400" b="1" baseline="30000" dirty="0"/>
                  <a:t>2</a:t>
                </a:r>
                <a:r>
                  <a:rPr lang="en-US" sz="2400" b="1" dirty="0"/>
                  <a:t>/(R</a:t>
                </a:r>
                <a:r>
                  <a:rPr lang="en-US" sz="2400" b="1" baseline="-25000" dirty="0"/>
                  <a:t>L</a:t>
                </a:r>
                <a:r>
                  <a:rPr lang="en-US" sz="2400" b="1" dirty="0"/>
                  <a:t>+R</a:t>
                </a:r>
                <a:r>
                  <a:rPr lang="en-US" sz="2400" b="1" baseline="-25000" dirty="0"/>
                  <a:t>TH</a:t>
                </a:r>
                <a:r>
                  <a:rPr lang="en-US" sz="2400" b="1" dirty="0"/>
                  <a:t>))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8314" y="3733800"/>
                <a:ext cx="3710486" cy="461665"/>
              </a:xfrm>
              <a:prstGeom prst="rect">
                <a:avLst/>
              </a:prstGeom>
              <a:blipFill rotWithShape="1">
                <a:blip r:embed="rId5"/>
                <a:stretch>
                  <a:fillRect l="-164" t="-10667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88122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BEC5E-36E4-43E2-B33C-9216EC40FE00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41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1" y="914400"/>
            <a:ext cx="43434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4800600" y="933819"/>
            <a:ext cx="4191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c. </a:t>
            </a:r>
            <a:r>
              <a:rPr lang="en-US" sz="2400" dirty="0"/>
              <a:t>For R</a:t>
            </a:r>
            <a:r>
              <a:rPr lang="en-US" sz="2400" baseline="-25000" dirty="0"/>
              <a:t>L</a:t>
            </a:r>
            <a:r>
              <a:rPr lang="en-US" sz="2400" dirty="0"/>
              <a:t>=100</a:t>
            </a:r>
            <a:r>
              <a:rPr lang="en-US" sz="2400" dirty="0">
                <a:sym typeface="Symbol"/>
              </a:rPr>
              <a:t></a:t>
            </a:r>
            <a:r>
              <a:rPr lang="en-US" sz="2400" dirty="0"/>
              <a:t>, the voltage appearing across the output terminals of the voltage source is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209800"/>
            <a:ext cx="4191000" cy="70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Straight Connector 8"/>
          <p:cNvCxnSpPr/>
          <p:nvPr/>
        </p:nvCxnSpPr>
        <p:spPr>
          <a:xfrm flipH="1">
            <a:off x="4648199" y="914400"/>
            <a:ext cx="1" cy="544195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048000"/>
            <a:ext cx="4191000" cy="323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76200" y="3886200"/>
            <a:ext cx="4495801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Notes: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To </a:t>
            </a:r>
            <a:r>
              <a:rPr lang="en-US" sz="2000" dirty="0">
                <a:solidFill>
                  <a:srgbClr val="0070C0"/>
                </a:solidFill>
              </a:rPr>
              <a:t>have a high efficiency</a:t>
            </a:r>
            <a:r>
              <a:rPr lang="en-US" sz="2000" dirty="0"/>
              <a:t>, the </a:t>
            </a:r>
            <a:r>
              <a:rPr lang="en-US" sz="2000" b="1" i="1" dirty="0">
                <a:solidFill>
                  <a:srgbClr val="0070C0"/>
                </a:solidFill>
              </a:rPr>
              <a:t>load resistance should be much larger </a:t>
            </a:r>
            <a:r>
              <a:rPr lang="en-US" sz="2000" dirty="0"/>
              <a:t>than the resistance of the source (typically </a:t>
            </a:r>
            <a:r>
              <a:rPr lang="en-US" sz="2000" b="1" i="1" dirty="0">
                <a:solidFill>
                  <a:srgbClr val="0070C0"/>
                </a:solidFill>
              </a:rPr>
              <a:t>R</a:t>
            </a:r>
            <a:r>
              <a:rPr lang="en-US" sz="2000" b="1" i="1" baseline="-25000" dirty="0">
                <a:solidFill>
                  <a:srgbClr val="0070C0"/>
                </a:solidFill>
              </a:rPr>
              <a:t>L</a:t>
            </a:r>
            <a:r>
              <a:rPr lang="en-US" sz="2000" b="1" i="1" dirty="0">
                <a:solidFill>
                  <a:srgbClr val="0070C0"/>
                </a:solidFill>
              </a:rPr>
              <a:t>≥</a:t>
            </a:r>
            <a:r>
              <a:rPr lang="en-US" sz="2000" b="1" dirty="0">
                <a:solidFill>
                  <a:srgbClr val="0070C0"/>
                </a:solidFill>
              </a:rPr>
              <a:t>10</a:t>
            </a:r>
            <a:r>
              <a:rPr lang="en-US" sz="2000" b="1" i="1" dirty="0">
                <a:solidFill>
                  <a:srgbClr val="0070C0"/>
                </a:solidFill>
              </a:rPr>
              <a:t>R</a:t>
            </a:r>
            <a:r>
              <a:rPr lang="en-US" sz="2000" b="1" baseline="-25000" dirty="0">
                <a:solidFill>
                  <a:srgbClr val="0070C0"/>
                </a:solidFill>
              </a:rPr>
              <a:t>int</a:t>
            </a:r>
            <a:r>
              <a:rPr lang="en-US" sz="20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To </a:t>
            </a:r>
            <a:r>
              <a:rPr lang="en-US" sz="2000" i="1" dirty="0">
                <a:solidFill>
                  <a:srgbClr val="0070C0"/>
                </a:solidFill>
              </a:rPr>
              <a:t>ensure maximum power transfer</a:t>
            </a:r>
            <a:r>
              <a:rPr lang="en-US" sz="2000" dirty="0"/>
              <a:t>, then the load resistance should equal the source resistance (</a:t>
            </a:r>
            <a:r>
              <a:rPr lang="en-US" sz="2000" b="1" dirty="0">
                <a:solidFill>
                  <a:srgbClr val="0070C0"/>
                </a:solidFill>
              </a:rPr>
              <a:t>R</a:t>
            </a:r>
            <a:r>
              <a:rPr lang="en-US" sz="2000" b="1" baseline="-25000" dirty="0">
                <a:solidFill>
                  <a:srgbClr val="0070C0"/>
                </a:solidFill>
              </a:rPr>
              <a:t>L</a:t>
            </a:r>
            <a:r>
              <a:rPr lang="en-US" sz="2000" b="1" dirty="0">
                <a:solidFill>
                  <a:srgbClr val="0070C0"/>
                </a:solidFill>
              </a:rPr>
              <a:t>=</a:t>
            </a:r>
            <a:r>
              <a:rPr lang="en-US" sz="2000" b="1" dirty="0" err="1">
                <a:solidFill>
                  <a:srgbClr val="0070C0"/>
                </a:solidFill>
              </a:rPr>
              <a:t>R</a:t>
            </a:r>
            <a:r>
              <a:rPr lang="en-US" sz="2000" b="1" baseline="-25000" dirty="0" err="1">
                <a:solidFill>
                  <a:srgbClr val="0070C0"/>
                </a:solidFill>
              </a:rPr>
              <a:t>int</a:t>
            </a:r>
            <a:r>
              <a:rPr lang="en-US" sz="2000" b="1" dirty="0">
                <a:solidFill>
                  <a:srgbClr val="0070C0"/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168088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6B245-60A2-4846-A8C3-E773B259E393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42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053784"/>
            <a:ext cx="3886200" cy="2375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52400" y="4384864"/>
            <a:ext cx="8763000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(2) </a:t>
            </a:r>
            <a:r>
              <a:rPr lang="en-US" sz="2500" dirty="0"/>
              <a:t>A Thévenin equivalent circuit consists of </a:t>
            </a:r>
            <a:r>
              <a:rPr lang="en-US" sz="2500" i="1" dirty="0" err="1"/>
              <a:t>E</a:t>
            </a:r>
            <a:r>
              <a:rPr lang="en-US" sz="2500" baseline="-25000" dirty="0" err="1"/>
              <a:t>Th</a:t>
            </a:r>
            <a:r>
              <a:rPr lang="en-US" sz="2500" dirty="0"/>
              <a:t>=10 V and </a:t>
            </a:r>
            <a:r>
              <a:rPr lang="en-US" sz="2500" i="1" dirty="0" err="1"/>
              <a:t>R</a:t>
            </a:r>
            <a:r>
              <a:rPr lang="en-US" sz="2500" baseline="-25000" dirty="0" err="1"/>
              <a:t>Th</a:t>
            </a:r>
            <a:r>
              <a:rPr lang="en-US" sz="2500" dirty="0"/>
              <a:t>=2k</a:t>
            </a:r>
            <a:r>
              <a:rPr lang="en-US" sz="2500" dirty="0">
                <a:sym typeface="Symbol"/>
              </a:rPr>
              <a:t></a:t>
            </a:r>
            <a:r>
              <a:rPr lang="en-US" sz="2500" dirty="0"/>
              <a:t>.</a:t>
            </a:r>
          </a:p>
          <a:p>
            <a:r>
              <a:rPr lang="en-US" sz="2500" dirty="0"/>
              <a:t>Determine the efficiency of the circuit when</a:t>
            </a:r>
          </a:p>
          <a:p>
            <a:r>
              <a:rPr lang="en-US" sz="2500" dirty="0"/>
              <a:t>		a. </a:t>
            </a:r>
            <a:r>
              <a:rPr lang="en-US" sz="2500" i="1" dirty="0"/>
              <a:t>R</a:t>
            </a:r>
            <a:r>
              <a:rPr lang="en-US" sz="2500" i="1" baseline="-25000" dirty="0"/>
              <a:t>L</a:t>
            </a:r>
            <a:r>
              <a:rPr lang="en-US" sz="2500" i="1" dirty="0"/>
              <a:t>=</a:t>
            </a:r>
            <a:r>
              <a:rPr lang="en-US" sz="2500" i="1" dirty="0" err="1"/>
              <a:t>R</a:t>
            </a:r>
            <a:r>
              <a:rPr lang="en-US" sz="2500" baseline="-25000" dirty="0" err="1"/>
              <a:t>Th</a:t>
            </a:r>
            <a:endParaRPr lang="en-US" sz="2500" baseline="-25000" dirty="0"/>
          </a:p>
          <a:p>
            <a:r>
              <a:rPr lang="en-US" sz="2500" dirty="0"/>
              <a:t>		b. </a:t>
            </a:r>
            <a:r>
              <a:rPr lang="en-US" sz="2500" i="1" dirty="0"/>
              <a:t>R</a:t>
            </a:r>
            <a:r>
              <a:rPr lang="en-US" sz="2500" i="1" baseline="-25000" dirty="0"/>
              <a:t>L</a:t>
            </a:r>
            <a:r>
              <a:rPr lang="en-US" sz="2500" i="1" dirty="0"/>
              <a:t>=</a:t>
            </a:r>
            <a:r>
              <a:rPr lang="en-US" sz="2500" dirty="0"/>
              <a:t>0.5</a:t>
            </a:r>
            <a:r>
              <a:rPr lang="en-US" sz="2500" i="1" dirty="0"/>
              <a:t>R</a:t>
            </a:r>
            <a:r>
              <a:rPr lang="en-US" sz="2500" baseline="-25000" dirty="0"/>
              <a:t>Th</a:t>
            </a:r>
          </a:p>
          <a:p>
            <a:r>
              <a:rPr lang="en-US" sz="2500" dirty="0"/>
              <a:t>		c. </a:t>
            </a:r>
            <a:r>
              <a:rPr lang="en-US" sz="2500" i="1" dirty="0"/>
              <a:t>R</a:t>
            </a:r>
            <a:r>
              <a:rPr lang="en-US" sz="2500" i="1" baseline="-25000" dirty="0"/>
              <a:t>L</a:t>
            </a:r>
            <a:r>
              <a:rPr lang="en-US" sz="2500" i="1" dirty="0"/>
              <a:t>=</a:t>
            </a:r>
            <a:r>
              <a:rPr lang="en-US" sz="2500" dirty="0"/>
              <a:t>2</a:t>
            </a:r>
            <a:r>
              <a:rPr lang="en-US" sz="2500" i="1" dirty="0"/>
              <a:t>R</a:t>
            </a:r>
            <a:r>
              <a:rPr lang="en-US" sz="2500" baseline="-25000" dirty="0"/>
              <a:t>Th</a:t>
            </a:r>
          </a:p>
        </p:txBody>
      </p:sp>
      <p:sp>
        <p:nvSpPr>
          <p:cNvPr id="8" name="Rectangle 7"/>
          <p:cNvSpPr/>
          <p:nvPr/>
        </p:nvSpPr>
        <p:spPr>
          <a:xfrm>
            <a:off x="152400" y="838200"/>
            <a:ext cx="51054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Example for Enhancement:</a:t>
            </a:r>
          </a:p>
          <a:p>
            <a:endParaRPr lang="en-US" sz="2800" b="1" dirty="0"/>
          </a:p>
          <a:p>
            <a:r>
              <a:rPr lang="en-US" sz="2400" b="1" dirty="0">
                <a:solidFill>
                  <a:srgbClr val="0070C0"/>
                </a:solidFill>
              </a:rPr>
              <a:t>(1) </a:t>
            </a:r>
            <a:r>
              <a:rPr lang="en-US" sz="2400" dirty="0"/>
              <a:t>Refer to the circuit on the right side.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400" dirty="0"/>
              <a:t>For what value of R</a:t>
            </a:r>
            <a:r>
              <a:rPr lang="en-US" sz="2400" baseline="-25000" dirty="0"/>
              <a:t>L</a:t>
            </a:r>
            <a:r>
              <a:rPr lang="en-US" sz="2400" dirty="0"/>
              <a:t> will the load receive maximum power? 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400" dirty="0"/>
              <a:t>Determine the power when R</a:t>
            </a:r>
            <a:r>
              <a:rPr lang="en-US" sz="2400" baseline="-25000" dirty="0"/>
              <a:t>L</a:t>
            </a:r>
            <a:r>
              <a:rPr lang="en-US" sz="2400" dirty="0"/>
              <a:t>=R</a:t>
            </a:r>
            <a:r>
              <a:rPr lang="en-US" sz="2400" baseline="-25000" dirty="0"/>
              <a:t>N</a:t>
            </a:r>
            <a:r>
              <a:rPr lang="en-US" sz="2400" dirty="0"/>
              <a:t>, when R</a:t>
            </a:r>
            <a:r>
              <a:rPr lang="en-US" sz="2400" baseline="-25000" dirty="0"/>
              <a:t>L</a:t>
            </a:r>
            <a:r>
              <a:rPr lang="en-US" sz="2400" dirty="0"/>
              <a:t>=25 k</a:t>
            </a:r>
            <a:r>
              <a:rPr lang="en-US" sz="2400" dirty="0">
                <a:sym typeface="Symbol"/>
              </a:rPr>
              <a:t></a:t>
            </a:r>
            <a:r>
              <a:rPr lang="en-US" sz="2400" dirty="0"/>
              <a:t>, and when R</a:t>
            </a:r>
            <a:r>
              <a:rPr lang="en-US" sz="2400" baseline="-25000" dirty="0"/>
              <a:t>L</a:t>
            </a:r>
            <a:r>
              <a:rPr lang="en-US" sz="2400" dirty="0"/>
              <a:t>=50 k</a:t>
            </a:r>
            <a:r>
              <a:rPr lang="en-US" sz="2400" dirty="0">
                <a:sym typeface="Symbol"/>
              </a:rPr>
              <a:t></a:t>
            </a:r>
            <a:r>
              <a:rPr lang="en-US" sz="2400" dirty="0"/>
              <a:t>.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52400" y="4191000"/>
            <a:ext cx="891540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77282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533400"/>
          </a:xfrm>
        </p:spPr>
        <p:txBody>
          <a:bodyPr>
            <a:noAutofit/>
          </a:bodyPr>
          <a:lstStyle/>
          <a:p>
            <a:r>
              <a:rPr lang="en-US" sz="3200" b="1" dirty="0"/>
              <a:t>Millman’s Theorem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839200" cy="51054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Millman’s theorem </a:t>
            </a:r>
            <a:r>
              <a:rPr lang="en-US" dirty="0"/>
              <a:t>is used to simplify circuits having several parallel voltage sources .</a:t>
            </a:r>
          </a:p>
          <a:p>
            <a:r>
              <a:rPr lang="en-US" dirty="0"/>
              <a:t>Although any of the other theorems developed in this chapter will work in this case, </a:t>
            </a:r>
            <a:r>
              <a:rPr lang="en-US" b="1" dirty="0">
                <a:solidFill>
                  <a:srgbClr val="0070C0"/>
                </a:solidFill>
              </a:rPr>
              <a:t>Millman’s theorem provides a much simpler and more direct equivalent.</a:t>
            </a:r>
          </a:p>
          <a:p>
            <a:r>
              <a:rPr lang="en-US" dirty="0"/>
              <a:t>The voltage sources may be replaced with a single equivalent source (</a:t>
            </a:r>
            <a:r>
              <a:rPr lang="en-US" b="1" dirty="0">
                <a:solidFill>
                  <a:srgbClr val="0070C0"/>
                </a:solidFill>
              </a:rPr>
              <a:t>Series of </a:t>
            </a:r>
            <a:r>
              <a:rPr lang="en-US" b="1" dirty="0" err="1">
                <a:solidFill>
                  <a:srgbClr val="0070C0"/>
                </a:solidFill>
              </a:rPr>
              <a:t>E</a:t>
            </a:r>
            <a:r>
              <a:rPr lang="en-US" b="1" baseline="-25000" dirty="0" err="1">
                <a:solidFill>
                  <a:srgbClr val="0070C0"/>
                </a:solidFill>
              </a:rPr>
              <a:t>eq</a:t>
            </a:r>
            <a:r>
              <a:rPr lang="en-US" b="1" dirty="0">
                <a:solidFill>
                  <a:srgbClr val="0070C0"/>
                </a:solidFill>
              </a:rPr>
              <a:t>, </a:t>
            </a:r>
            <a:r>
              <a:rPr lang="en-US" b="1" dirty="0" err="1">
                <a:solidFill>
                  <a:srgbClr val="0070C0"/>
                </a:solidFill>
              </a:rPr>
              <a:t>R</a:t>
            </a:r>
            <a:r>
              <a:rPr lang="en-US" b="1" baseline="-25000" dirty="0" err="1">
                <a:solidFill>
                  <a:srgbClr val="0070C0"/>
                </a:solidFill>
              </a:rPr>
              <a:t>eq</a:t>
            </a:r>
            <a:r>
              <a:rPr lang="en-US" b="1" dirty="0">
                <a:solidFill>
                  <a:srgbClr val="0070C0"/>
                </a:solidFill>
              </a:rPr>
              <a:t> and R</a:t>
            </a:r>
            <a:r>
              <a:rPr lang="en-US" b="1" baseline="-25000" dirty="0">
                <a:solidFill>
                  <a:srgbClr val="0070C0"/>
                </a:solidFill>
              </a:rPr>
              <a:t>L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en-US" dirty="0"/>
              <a:t>To find the values of the</a:t>
            </a:r>
            <a:r>
              <a:rPr lang="en-US" b="1" dirty="0"/>
              <a:t> </a:t>
            </a:r>
            <a:r>
              <a:rPr lang="en-US" b="1" dirty="0">
                <a:solidFill>
                  <a:srgbClr val="0070C0"/>
                </a:solidFill>
              </a:rPr>
              <a:t>equivalent voltage source </a:t>
            </a:r>
            <a:r>
              <a:rPr lang="en-US" b="1" i="1" dirty="0" err="1">
                <a:solidFill>
                  <a:srgbClr val="0070C0"/>
                </a:solidFill>
              </a:rPr>
              <a:t>E</a:t>
            </a:r>
            <a:r>
              <a:rPr lang="en-US" b="1" i="1" baseline="-25000" dirty="0" err="1">
                <a:solidFill>
                  <a:srgbClr val="0070C0"/>
                </a:solidFill>
              </a:rPr>
              <a:t>eq</a:t>
            </a:r>
            <a:r>
              <a:rPr lang="en-US" b="1" dirty="0">
                <a:solidFill>
                  <a:srgbClr val="0070C0"/>
                </a:solidFill>
              </a:rPr>
              <a:t> and series resistance </a:t>
            </a:r>
            <a:r>
              <a:rPr lang="en-US" b="1" i="1" dirty="0" err="1">
                <a:solidFill>
                  <a:srgbClr val="0070C0"/>
                </a:solidFill>
              </a:rPr>
              <a:t>R</a:t>
            </a:r>
            <a:r>
              <a:rPr lang="en-US" b="1" i="1" baseline="-25000" dirty="0" err="1">
                <a:solidFill>
                  <a:srgbClr val="0070C0"/>
                </a:solidFill>
              </a:rPr>
              <a:t>eq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dirty="0"/>
              <a:t>we need to </a:t>
            </a:r>
            <a:r>
              <a:rPr lang="en-US" b="1" i="1" u="sng" dirty="0"/>
              <a:t>convert</a:t>
            </a:r>
            <a:r>
              <a:rPr lang="en-US" dirty="0"/>
              <a:t> each of the </a:t>
            </a:r>
            <a:r>
              <a:rPr lang="en-US" b="1" u="sng" dirty="0"/>
              <a:t>voltage sources </a:t>
            </a:r>
            <a:r>
              <a:rPr lang="en-US" dirty="0"/>
              <a:t>into their equivalent </a:t>
            </a:r>
            <a:r>
              <a:rPr lang="en-US" b="1" u="sng" dirty="0"/>
              <a:t>current sources</a:t>
            </a:r>
            <a:r>
              <a:rPr lang="en-US" dirty="0"/>
              <a:t>. </a:t>
            </a:r>
          </a:p>
          <a:p>
            <a:r>
              <a:rPr lang="en-US" dirty="0"/>
              <a:t>The value of each current source would be determined by using Ohm’s law (</a:t>
            </a:r>
            <a:r>
              <a:rPr lang="en-US" b="1" dirty="0">
                <a:solidFill>
                  <a:srgbClr val="0070C0"/>
                </a:solidFill>
              </a:rPr>
              <a:t>i.e., I</a:t>
            </a:r>
            <a:r>
              <a:rPr lang="en-US" b="1" baseline="-25000" dirty="0">
                <a:solidFill>
                  <a:srgbClr val="0070C0"/>
                </a:solidFill>
              </a:rPr>
              <a:t>1</a:t>
            </a:r>
            <a:r>
              <a:rPr lang="en-US" b="1" dirty="0">
                <a:solidFill>
                  <a:srgbClr val="0070C0"/>
                </a:solidFill>
              </a:rPr>
              <a:t>=E</a:t>
            </a:r>
            <a:r>
              <a:rPr lang="en-US" b="1" baseline="-25000" dirty="0">
                <a:solidFill>
                  <a:srgbClr val="0070C0"/>
                </a:solidFill>
              </a:rPr>
              <a:t>1</a:t>
            </a:r>
            <a:r>
              <a:rPr lang="en-US" b="1" dirty="0">
                <a:solidFill>
                  <a:srgbClr val="0070C0"/>
                </a:solidFill>
              </a:rPr>
              <a:t>/R</a:t>
            </a:r>
            <a:r>
              <a:rPr lang="en-US" b="1" baseline="-25000" dirty="0">
                <a:solidFill>
                  <a:srgbClr val="0070C0"/>
                </a:solidFill>
              </a:rPr>
              <a:t>1</a:t>
            </a:r>
            <a:r>
              <a:rPr lang="en-US" b="1" dirty="0">
                <a:solidFill>
                  <a:srgbClr val="0070C0"/>
                </a:solidFill>
              </a:rPr>
              <a:t>, I</a:t>
            </a:r>
            <a:r>
              <a:rPr lang="en-US" b="1" baseline="-25000" dirty="0">
                <a:solidFill>
                  <a:srgbClr val="0070C0"/>
                </a:solidFill>
              </a:rPr>
              <a:t>2</a:t>
            </a:r>
            <a:r>
              <a:rPr lang="en-US" b="1" dirty="0">
                <a:solidFill>
                  <a:srgbClr val="0070C0"/>
                </a:solidFill>
              </a:rPr>
              <a:t>=E</a:t>
            </a:r>
            <a:r>
              <a:rPr lang="en-US" b="1" baseline="-25000" dirty="0">
                <a:solidFill>
                  <a:srgbClr val="0070C0"/>
                </a:solidFill>
              </a:rPr>
              <a:t>2</a:t>
            </a:r>
            <a:r>
              <a:rPr lang="en-US" b="1" dirty="0">
                <a:solidFill>
                  <a:srgbClr val="0070C0"/>
                </a:solidFill>
              </a:rPr>
              <a:t>/R</a:t>
            </a:r>
            <a:r>
              <a:rPr lang="en-US" b="1" baseline="-25000" dirty="0">
                <a:solidFill>
                  <a:srgbClr val="0070C0"/>
                </a:solidFill>
              </a:rPr>
              <a:t>2</a:t>
            </a:r>
            <a:r>
              <a:rPr lang="en-US" b="1" dirty="0">
                <a:solidFill>
                  <a:srgbClr val="0070C0"/>
                </a:solidFill>
              </a:rPr>
              <a:t>, etc</a:t>
            </a:r>
            <a:r>
              <a:rPr lang="en-US" dirty="0"/>
              <a:t>.)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970CB-66B5-481F-B277-5A020BC7052B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906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51CD-2F0F-4093-93B3-B5F7AE5B05D3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44</a:t>
            </a:fld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838199"/>
            <a:ext cx="3810000" cy="2129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762000"/>
            <a:ext cx="2514600" cy="2206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979" y="3796048"/>
            <a:ext cx="8254621" cy="207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5676900" y="2971800"/>
            <a:ext cx="27813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Single equivalent source (</a:t>
            </a:r>
            <a:r>
              <a:rPr lang="en-US" b="1" dirty="0">
                <a:solidFill>
                  <a:srgbClr val="0070C0"/>
                </a:solidFill>
              </a:rPr>
              <a:t>Series of </a:t>
            </a:r>
            <a:r>
              <a:rPr lang="en-US" b="1" dirty="0" err="1">
                <a:solidFill>
                  <a:srgbClr val="0070C0"/>
                </a:solidFill>
              </a:rPr>
              <a:t>E</a:t>
            </a:r>
            <a:r>
              <a:rPr lang="en-US" b="1" baseline="-25000" dirty="0" err="1">
                <a:solidFill>
                  <a:srgbClr val="0070C0"/>
                </a:solidFill>
              </a:rPr>
              <a:t>eq</a:t>
            </a:r>
            <a:r>
              <a:rPr lang="en-US" b="1" dirty="0">
                <a:solidFill>
                  <a:srgbClr val="0070C0"/>
                </a:solidFill>
              </a:rPr>
              <a:t>, </a:t>
            </a:r>
            <a:r>
              <a:rPr lang="en-US" b="1" dirty="0" err="1">
                <a:solidFill>
                  <a:srgbClr val="0070C0"/>
                </a:solidFill>
              </a:rPr>
              <a:t>R</a:t>
            </a:r>
            <a:r>
              <a:rPr lang="en-US" b="1" baseline="-25000" dirty="0" err="1">
                <a:solidFill>
                  <a:srgbClr val="0070C0"/>
                </a:solidFill>
              </a:rPr>
              <a:t>eq</a:t>
            </a:r>
            <a:r>
              <a:rPr lang="en-US" b="1" dirty="0">
                <a:solidFill>
                  <a:srgbClr val="0070C0"/>
                </a:solidFill>
              </a:rPr>
              <a:t> and R</a:t>
            </a:r>
            <a:r>
              <a:rPr lang="en-US" b="1" baseline="-25000" dirty="0">
                <a:solidFill>
                  <a:srgbClr val="0070C0"/>
                </a:solidFill>
              </a:rPr>
              <a:t>L</a:t>
            </a:r>
            <a:r>
              <a:rPr lang="en-US" b="1" dirty="0"/>
              <a:t>)</a:t>
            </a:r>
          </a:p>
        </p:txBody>
      </p:sp>
      <p:sp>
        <p:nvSpPr>
          <p:cNvPr id="8" name="Rectangle 7"/>
          <p:cNvSpPr/>
          <p:nvPr/>
        </p:nvSpPr>
        <p:spPr>
          <a:xfrm>
            <a:off x="990600" y="2961951"/>
            <a:ext cx="2590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Circuits having several </a:t>
            </a:r>
            <a:r>
              <a:rPr lang="en-US" b="1" dirty="0">
                <a:solidFill>
                  <a:srgbClr val="0070C0"/>
                </a:solidFill>
              </a:rPr>
              <a:t>parallel voltage </a:t>
            </a:r>
            <a:r>
              <a:rPr lang="en-US" b="1" dirty="0"/>
              <a:t>sources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867400"/>
            <a:ext cx="71627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Converted voltage sources into their equivalent current sources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91000" y="1865345"/>
            <a:ext cx="1524000" cy="420655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 rot="4135010">
            <a:off x="3349586" y="3134803"/>
            <a:ext cx="913325" cy="522795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5471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458200" cy="5486400"/>
          </a:xfrm>
        </p:spPr>
        <p:txBody>
          <a:bodyPr>
            <a:normAutofit/>
          </a:bodyPr>
          <a:lstStyle/>
          <a:p>
            <a:r>
              <a:rPr lang="en-US" dirty="0"/>
              <a:t>It is now possible to </a:t>
            </a:r>
            <a:r>
              <a:rPr lang="en-US" b="1" dirty="0"/>
              <a:t>replace the </a:t>
            </a:r>
            <a:r>
              <a:rPr lang="en-US" b="1" i="1" dirty="0"/>
              <a:t>n </a:t>
            </a:r>
            <a:r>
              <a:rPr lang="en-US" b="1" dirty="0"/>
              <a:t>current  sources </a:t>
            </a:r>
            <a:r>
              <a:rPr lang="en-US" dirty="0"/>
              <a:t>with a </a:t>
            </a:r>
            <a:r>
              <a:rPr lang="en-US" dirty="0">
                <a:solidFill>
                  <a:srgbClr val="0070C0"/>
                </a:solidFill>
              </a:rPr>
              <a:t>single current </a:t>
            </a:r>
            <a:r>
              <a:rPr lang="en-US" dirty="0"/>
              <a:t>source having a magnitude given as:</a:t>
            </a:r>
          </a:p>
          <a:p>
            <a:endParaRPr lang="en-US" dirty="0"/>
          </a:p>
          <a:p>
            <a:r>
              <a:rPr lang="en-US" dirty="0"/>
              <a:t>Write it as: </a:t>
            </a:r>
          </a:p>
          <a:p>
            <a:endParaRPr lang="en-US" dirty="0"/>
          </a:p>
          <a:p>
            <a:r>
              <a:rPr lang="en-US" dirty="0"/>
              <a:t>After Converting &amp; Summing up currents, the </a:t>
            </a:r>
            <a:r>
              <a:rPr lang="en-US" b="1" i="1" dirty="0" err="1"/>
              <a:t>E</a:t>
            </a:r>
            <a:r>
              <a:rPr lang="en-US" b="1" i="1" baseline="-25000" dirty="0" err="1"/>
              <a:t>eq</a:t>
            </a:r>
            <a:r>
              <a:rPr lang="en-US" baseline="-25000" dirty="0"/>
              <a:t> </a:t>
            </a:r>
            <a:r>
              <a:rPr lang="en-US" dirty="0"/>
              <a:t>is written as follows: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A8395-12EE-42AA-BE20-0F58DDF45056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45</a:t>
            </a:fld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905000"/>
            <a:ext cx="4724400" cy="807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819401"/>
            <a:ext cx="5715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8412" y="5105400"/>
            <a:ext cx="584358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6853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5486400"/>
          </a:xfrm>
        </p:spPr>
        <p:txBody>
          <a:bodyPr/>
          <a:lstStyle/>
          <a:p>
            <a:r>
              <a:rPr lang="en-US" dirty="0"/>
              <a:t>The general expression for the equivalent voltage is: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7C6D2-B368-47AD-B377-52879A325A41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46</a:t>
            </a:fld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447800"/>
            <a:ext cx="63246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304800" y="3429001"/>
            <a:ext cx="47244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Example: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Use Millman’s theorem to simplify the circuit so that it has only a single source.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Use the simplified circuit to find the current in the load resistor, </a:t>
            </a:r>
            <a:r>
              <a:rPr lang="en-US" sz="2800" b="1" i="1" dirty="0"/>
              <a:t>R</a:t>
            </a:r>
            <a:r>
              <a:rPr lang="en-US" sz="2800" b="1" i="1" baseline="-25000" dirty="0"/>
              <a:t>L</a:t>
            </a:r>
            <a:r>
              <a:rPr lang="en-US" sz="2800" dirty="0"/>
              <a:t>.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81000" y="3276600"/>
            <a:ext cx="86106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886200"/>
            <a:ext cx="4114801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65818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3200400" cy="1828800"/>
          </a:xfrm>
        </p:spPr>
        <p:txBody>
          <a:bodyPr>
            <a:normAutofit/>
          </a:bodyPr>
          <a:lstStyle/>
          <a:p>
            <a:r>
              <a:rPr lang="en-US" sz="2800" b="1" dirty="0"/>
              <a:t>Solution: </a:t>
            </a:r>
            <a:r>
              <a:rPr lang="en-US" sz="2800" dirty="0"/>
              <a:t>We express the equivalent voltage source as: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8F69-5DDE-4734-9690-CE8B87FBD692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47</a:t>
            </a:fld>
            <a:endParaRPr 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914400"/>
            <a:ext cx="5334000" cy="2285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382037" y="3266182"/>
            <a:ext cx="373276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The equivalent resistance is</a:t>
            </a: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429000"/>
            <a:ext cx="5715000" cy="871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419600"/>
            <a:ext cx="24384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420454" y="4702328"/>
            <a:ext cx="55231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Current through the load resistor:</a:t>
            </a:r>
          </a:p>
        </p:txBody>
      </p:sp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163993"/>
            <a:ext cx="5638800" cy="855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6210300" y="6324600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Equivalent circuit</a:t>
            </a:r>
          </a:p>
        </p:txBody>
      </p:sp>
    </p:spTree>
    <p:extLst>
      <p:ext uri="{BB962C8B-B14F-4D97-AF65-F5344CB8AC3E}">
        <p14:creationId xmlns:p14="http://schemas.microsoft.com/office/powerpoint/2010/main" val="1364139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305800" cy="533400"/>
          </a:xfrm>
        </p:spPr>
        <p:txBody>
          <a:bodyPr>
            <a:noAutofit/>
          </a:bodyPr>
          <a:lstStyle/>
          <a:p>
            <a:r>
              <a:rPr lang="en-US" sz="3200" b="1" dirty="0"/>
              <a:t>Reciprocity Theorem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610600" cy="52578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 reciprocity theorem is a theorem that can only be </a:t>
            </a:r>
            <a:r>
              <a:rPr lang="en-US" b="1" i="1" u="sng" dirty="0">
                <a:solidFill>
                  <a:srgbClr val="0070C0"/>
                </a:solidFill>
              </a:rPr>
              <a:t>used with single-source circuits</a:t>
            </a:r>
            <a:r>
              <a:rPr lang="en-US" dirty="0"/>
              <a:t>. This theorem, however, </a:t>
            </a:r>
            <a:r>
              <a:rPr lang="en-US" b="1" dirty="0">
                <a:solidFill>
                  <a:srgbClr val="0070C0"/>
                </a:solidFill>
              </a:rPr>
              <a:t>may be applied to either voltage sources or current sources</a:t>
            </a:r>
            <a:r>
              <a:rPr lang="en-US" dirty="0">
                <a:solidFill>
                  <a:srgbClr val="0070C0"/>
                </a:solidFill>
              </a:rPr>
              <a:t>. </a:t>
            </a:r>
            <a:r>
              <a:rPr lang="en-US" dirty="0"/>
              <a:t>The theorem states the following:</a:t>
            </a:r>
          </a:p>
          <a:p>
            <a:endParaRPr lang="en-US" sz="900" dirty="0"/>
          </a:p>
          <a:p>
            <a:r>
              <a:rPr lang="en-US" b="1" dirty="0"/>
              <a:t>Voltage Sources:</a:t>
            </a:r>
          </a:p>
          <a:p>
            <a:pPr lvl="2"/>
            <a:r>
              <a:rPr lang="en-US" sz="2800" i="1" dirty="0">
                <a:solidFill>
                  <a:srgbClr val="0070C0"/>
                </a:solidFill>
              </a:rPr>
              <a:t>A voltage source causing a current </a:t>
            </a:r>
            <a:r>
              <a:rPr lang="en-US" sz="2800" b="1" i="1" dirty="0">
                <a:solidFill>
                  <a:srgbClr val="0070C0"/>
                </a:solidFill>
              </a:rPr>
              <a:t>I</a:t>
            </a:r>
            <a:r>
              <a:rPr lang="en-US" sz="2800" i="1" dirty="0">
                <a:solidFill>
                  <a:srgbClr val="0070C0"/>
                </a:solidFill>
              </a:rPr>
              <a:t> in any branch of a circuit may be removed from the original location and placed into that branch having the current </a:t>
            </a:r>
            <a:r>
              <a:rPr lang="en-US" sz="2800" b="1" i="1" dirty="0">
                <a:solidFill>
                  <a:srgbClr val="0070C0"/>
                </a:solidFill>
              </a:rPr>
              <a:t>I. </a:t>
            </a:r>
            <a:r>
              <a:rPr lang="en-US" sz="2800" i="1" dirty="0">
                <a:solidFill>
                  <a:srgbClr val="0070C0"/>
                </a:solidFill>
              </a:rPr>
              <a:t>The voltage source in the new location will produce a current in the original source location that is exactly equal to the originally calculated current, </a:t>
            </a:r>
            <a:r>
              <a:rPr lang="en-US" sz="2800" b="1" i="1" dirty="0">
                <a:solidFill>
                  <a:srgbClr val="0070C0"/>
                </a:solidFill>
              </a:rPr>
              <a:t>I</a:t>
            </a:r>
            <a:r>
              <a:rPr lang="en-US" sz="2800" i="1" dirty="0">
                <a:solidFill>
                  <a:srgbClr val="0070C0"/>
                </a:solidFill>
              </a:rPr>
              <a:t>.</a:t>
            </a:r>
          </a:p>
          <a:p>
            <a:r>
              <a:rPr lang="en-US" dirty="0"/>
              <a:t>When applying the reciprocity theorem for a voltage source, the following steps must be followed: </a:t>
            </a:r>
          </a:p>
          <a:p>
            <a:pPr marL="914400" lvl="1" indent="-514350">
              <a:buFont typeface="+mj-lt"/>
              <a:buAutoNum type="arabicParenR"/>
            </a:pPr>
            <a:r>
              <a:rPr lang="en-US" dirty="0"/>
              <a:t>The </a:t>
            </a:r>
            <a:r>
              <a:rPr lang="en-US" b="1" dirty="0">
                <a:solidFill>
                  <a:srgbClr val="0070C0"/>
                </a:solidFill>
              </a:rPr>
              <a:t>voltage source </a:t>
            </a:r>
            <a:r>
              <a:rPr lang="en-US" dirty="0"/>
              <a:t>is replaced by a short circuit in the original location.</a:t>
            </a:r>
          </a:p>
          <a:p>
            <a:pPr marL="914400" lvl="1" indent="-514350">
              <a:buFont typeface="+mj-lt"/>
              <a:buAutoNum type="arabicParenR"/>
            </a:pPr>
            <a:r>
              <a:rPr lang="en-US" b="1" dirty="0"/>
              <a:t>The </a:t>
            </a:r>
            <a:r>
              <a:rPr lang="en-US" b="1" u="sng" dirty="0">
                <a:solidFill>
                  <a:srgbClr val="0070C0"/>
                </a:solidFill>
              </a:rPr>
              <a:t>polarity of the source </a:t>
            </a:r>
            <a:r>
              <a:rPr lang="en-US" dirty="0"/>
              <a:t>in the new location is such that the current direction in that branch remains unchanged.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F6645-654D-49CD-9D9F-C99824499341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401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763000" cy="54102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Current Sources:</a:t>
            </a:r>
          </a:p>
          <a:p>
            <a:pPr lvl="2"/>
            <a:r>
              <a:rPr lang="en-US" b="1" i="1" dirty="0">
                <a:solidFill>
                  <a:srgbClr val="0070C0"/>
                </a:solidFill>
              </a:rPr>
              <a:t>“A current source causing a voltage V at any node of a circuit may be removed from the original location and connected to that node. The current source in the new location will produce a voltage in the original source location that is exactly equal to the originally calculated voltage, V”.</a:t>
            </a:r>
          </a:p>
          <a:p>
            <a:r>
              <a:rPr lang="en-US" dirty="0"/>
              <a:t>When applying the reciprocity theorem for a current source, the following conditions must be met:</a:t>
            </a:r>
          </a:p>
          <a:p>
            <a:endParaRPr lang="en-US" dirty="0"/>
          </a:p>
          <a:p>
            <a:pPr marL="914400" lvl="1" indent="-514350">
              <a:buFont typeface="+mj-lt"/>
              <a:buAutoNum type="arabicParenR"/>
            </a:pPr>
            <a:r>
              <a:rPr lang="en-US" b="1" dirty="0"/>
              <a:t>The current source </a:t>
            </a:r>
            <a:r>
              <a:rPr lang="en-US" dirty="0"/>
              <a:t>is replaced by an open circuit in the original location.</a:t>
            </a:r>
          </a:p>
          <a:p>
            <a:pPr marL="914400" lvl="1" indent="-514350">
              <a:buFont typeface="+mj-lt"/>
              <a:buAutoNum type="arabicParenR"/>
            </a:pPr>
            <a:r>
              <a:rPr lang="en-US" dirty="0"/>
              <a:t>The </a:t>
            </a:r>
            <a:r>
              <a:rPr lang="en-US" dirty="0">
                <a:solidFill>
                  <a:srgbClr val="0070C0"/>
                </a:solidFill>
              </a:rPr>
              <a:t>direction of the source </a:t>
            </a:r>
            <a:r>
              <a:rPr lang="en-US" dirty="0"/>
              <a:t>in the new location is such that </a:t>
            </a:r>
            <a:r>
              <a:rPr lang="en-US" u="sng" dirty="0">
                <a:solidFill>
                  <a:srgbClr val="0070C0"/>
                </a:solidFill>
              </a:rPr>
              <a:t>the polarity of the voltage </a:t>
            </a:r>
            <a:r>
              <a:rPr lang="en-US" dirty="0"/>
              <a:t>at the node to which the current source is now connected remains unchanged.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1A8F-E35D-4F98-8483-51E986F36D58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9718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5181600" cy="3028092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Example (1): </a:t>
            </a:r>
          </a:p>
          <a:p>
            <a:pPr marL="0" indent="0">
              <a:buNone/>
            </a:pPr>
            <a:r>
              <a:rPr lang="en-US" dirty="0"/>
              <a:t>Consider the following circuit:</a:t>
            </a:r>
          </a:p>
          <a:p>
            <a:pPr marL="514350" indent="-514350">
              <a:buAutoNum type="alphaLcParenBoth"/>
            </a:pPr>
            <a:r>
              <a:rPr lang="en-US" dirty="0"/>
              <a:t>Calculate the current </a:t>
            </a:r>
            <a:r>
              <a:rPr lang="en-US" b="1" i="1" dirty="0"/>
              <a:t>I</a:t>
            </a:r>
            <a:r>
              <a:rPr lang="en-US" dirty="0"/>
              <a:t>.</a:t>
            </a:r>
          </a:p>
          <a:p>
            <a:pPr marL="514350" indent="-514350">
              <a:buAutoNum type="alphaLcParenBoth"/>
            </a:pPr>
            <a:r>
              <a:rPr lang="en-US" dirty="0"/>
              <a:t>Remove voltage source </a:t>
            </a:r>
            <a:r>
              <a:rPr lang="en-US" b="1" i="1" dirty="0"/>
              <a:t>E</a:t>
            </a:r>
            <a:r>
              <a:rPr lang="en-US" i="1" dirty="0"/>
              <a:t> </a:t>
            </a:r>
            <a:r>
              <a:rPr lang="en-US" dirty="0"/>
              <a:t>and place it into the branch with </a:t>
            </a:r>
            <a:r>
              <a:rPr lang="en-US" b="1" dirty="0"/>
              <a:t>R</a:t>
            </a:r>
            <a:r>
              <a:rPr lang="en-US" b="1" baseline="-25000" dirty="0"/>
              <a:t>3</a:t>
            </a:r>
            <a:r>
              <a:rPr lang="en-US" dirty="0"/>
              <a:t>. Show that the current through the branch which formerly had </a:t>
            </a:r>
            <a:r>
              <a:rPr lang="en-US" b="1" i="1" dirty="0"/>
              <a:t>E</a:t>
            </a:r>
            <a:r>
              <a:rPr lang="en-US" dirty="0"/>
              <a:t> is now the same as the current </a:t>
            </a:r>
            <a:r>
              <a:rPr lang="en-US" b="1" i="1" dirty="0"/>
              <a:t>I</a:t>
            </a:r>
            <a:r>
              <a:rPr lang="en-US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A6422-677F-4567-88EB-6F3C55703D99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50</a:t>
            </a:fld>
            <a:endParaRPr 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3460" y="1447800"/>
            <a:ext cx="3505200" cy="2342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" y="4114800"/>
            <a:ext cx="8382001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Straight Connector 8"/>
          <p:cNvCxnSpPr/>
          <p:nvPr/>
        </p:nvCxnSpPr>
        <p:spPr>
          <a:xfrm>
            <a:off x="533399" y="3886200"/>
            <a:ext cx="8305801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3090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4343400" cy="205740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Now removing the voltage source </a:t>
            </a:r>
            <a:r>
              <a:rPr lang="en-US" dirty="0"/>
              <a:t>from its original location and moving it into the branch containing the current </a:t>
            </a:r>
            <a:r>
              <a:rPr lang="en-US" i="1" dirty="0"/>
              <a:t>I</a:t>
            </a:r>
            <a:r>
              <a:rPr lang="en-US" dirty="0"/>
              <a:t>, we obtain the circuit: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699F-CC95-49A8-9F76-BE8905A9D68D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51</a:t>
            </a:fld>
            <a:endParaRPr 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224900"/>
            <a:ext cx="4343400" cy="266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5029200" y="609600"/>
            <a:ext cx="4038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Polarity of the source </a:t>
            </a:r>
            <a:r>
              <a:rPr lang="en-US" b="1" dirty="0"/>
              <a:t>is such that the current direction remains unchanged.</a:t>
            </a:r>
          </a:p>
        </p:txBody>
      </p:sp>
      <p:sp>
        <p:nvSpPr>
          <p:cNvPr id="8" name="Rectangle 7"/>
          <p:cNvSpPr/>
          <p:nvPr/>
        </p:nvSpPr>
        <p:spPr>
          <a:xfrm rot="4294172">
            <a:off x="2707957" y="2761274"/>
            <a:ext cx="186715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When </a:t>
            </a:r>
            <a:r>
              <a:rPr lang="en-US" b="1" i="1" dirty="0"/>
              <a:t>E</a:t>
            </a:r>
            <a:r>
              <a:rPr lang="en-US" b="1" dirty="0"/>
              <a:t> is removed it is replaced by a short circuit.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94525" y="4252211"/>
            <a:ext cx="24010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determine </a:t>
            </a:r>
            <a:r>
              <a:rPr lang="en-US" sz="2400" i="1" dirty="0">
                <a:solidFill>
                  <a:srgbClr val="0070C0"/>
                </a:solidFill>
              </a:rPr>
              <a:t>the current I </a:t>
            </a:r>
            <a:r>
              <a:rPr lang="en-US" sz="2400" dirty="0"/>
              <a:t>as follows:</a:t>
            </a:r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999" y="4440289"/>
            <a:ext cx="6044421" cy="1381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/>
          <p:cNvSpPr/>
          <p:nvPr/>
        </p:nvSpPr>
        <p:spPr>
          <a:xfrm>
            <a:off x="533400" y="5829664"/>
            <a:ext cx="83820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C00000"/>
                </a:solidFill>
              </a:rPr>
              <a:t>We see that the reciprocity theorem does indeed apply!!!</a:t>
            </a:r>
          </a:p>
        </p:txBody>
      </p:sp>
    </p:spTree>
    <p:extLst>
      <p:ext uri="{BB962C8B-B14F-4D97-AF65-F5344CB8AC3E}">
        <p14:creationId xmlns:p14="http://schemas.microsoft.com/office/powerpoint/2010/main" val="395806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5562600" cy="3048000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Example (2): </a:t>
            </a:r>
          </a:p>
          <a:p>
            <a:pPr marL="0" indent="0">
              <a:buNone/>
            </a:pPr>
            <a:r>
              <a:rPr lang="en-US" dirty="0"/>
              <a:t>Consider the circuit shown. </a:t>
            </a:r>
          </a:p>
          <a:p>
            <a:pPr marL="514350" indent="-514350">
              <a:buAutoNum type="alphaLcParenBoth"/>
            </a:pPr>
            <a:r>
              <a:rPr lang="en-US" dirty="0"/>
              <a:t>Determine the </a:t>
            </a:r>
            <a:r>
              <a:rPr lang="en-US" b="1" i="1" dirty="0"/>
              <a:t>voltage V </a:t>
            </a:r>
            <a:r>
              <a:rPr lang="en-US" dirty="0"/>
              <a:t>across resistor</a:t>
            </a:r>
            <a:r>
              <a:rPr lang="en-US" b="1" dirty="0"/>
              <a:t> R</a:t>
            </a:r>
            <a:r>
              <a:rPr lang="en-US" b="1" baseline="-25000" dirty="0"/>
              <a:t>3</a:t>
            </a:r>
            <a:r>
              <a:rPr lang="en-US" b="1" dirty="0"/>
              <a:t>.</a:t>
            </a:r>
          </a:p>
          <a:p>
            <a:pPr marL="514350" indent="-514350">
              <a:buAutoNum type="alphaLcParenBoth"/>
            </a:pPr>
            <a:r>
              <a:rPr lang="en-US" dirty="0"/>
              <a:t>Remove the current </a:t>
            </a:r>
            <a:r>
              <a:rPr lang="en-US" b="1" i="1" dirty="0"/>
              <a:t>source I </a:t>
            </a:r>
            <a:r>
              <a:rPr lang="en-US" dirty="0"/>
              <a:t>and place it between node b and the reference node. Show that the voltage across the former location of the current source (node a) is now the same as the voltage V.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CB39-3F69-4B1C-9BD7-6FACD00DB9A7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52</a:t>
            </a:fld>
            <a:endParaRPr lang="en-US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143000"/>
            <a:ext cx="33528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691" y="3962400"/>
            <a:ext cx="8257309" cy="2247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87782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5029200" cy="213359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b. After relocating the current source from the original location, and connecting it between node </a:t>
            </a:r>
            <a:r>
              <a:rPr lang="en-US" b="1" i="1" dirty="0">
                <a:solidFill>
                  <a:srgbClr val="0070C0"/>
                </a:solidFill>
              </a:rPr>
              <a:t>b</a:t>
            </a:r>
            <a:r>
              <a:rPr lang="en-US" b="1" i="1" dirty="0"/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0070C0"/>
                </a:solidFill>
              </a:rPr>
              <a:t>ground</a:t>
            </a:r>
            <a:r>
              <a:rPr lang="en-US" dirty="0"/>
              <a:t>, we obtain the circuit shown: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E0753-990D-4622-B97F-FBE13BFD5541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53</a:t>
            </a:fld>
            <a:endParaRPr lang="en-US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696" y="838200"/>
            <a:ext cx="3810000" cy="2517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352801"/>
            <a:ext cx="80010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228600" y="5562600"/>
            <a:ext cx="8001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b="1" dirty="0">
                <a:solidFill>
                  <a:srgbClr val="C00000"/>
                </a:solidFill>
              </a:rPr>
              <a:t>From the preceding results, we conclude that the reciprocity theorem again applies for the given circuit !!! </a:t>
            </a:r>
          </a:p>
        </p:txBody>
      </p:sp>
    </p:spTree>
    <p:extLst>
      <p:ext uri="{BB962C8B-B14F-4D97-AF65-F5344CB8AC3E}">
        <p14:creationId xmlns:p14="http://schemas.microsoft.com/office/powerpoint/2010/main" val="508804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458200" cy="12954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Tutorials for enhancement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sz="2600" b="1" dirty="0"/>
              <a:t>(1) </a:t>
            </a:r>
            <a:r>
              <a:rPr lang="en-US" sz="2600" dirty="0"/>
              <a:t>Use Millman’s theorem to find the current through and the power dissipated by R</a:t>
            </a:r>
            <a:r>
              <a:rPr lang="en-US" sz="2600" baseline="-25000" dirty="0"/>
              <a:t>L</a:t>
            </a:r>
            <a:r>
              <a:rPr lang="en-US" sz="2600" dirty="0"/>
              <a:t> in the following circuits</a:t>
            </a:r>
            <a:r>
              <a:rPr lang="en-US" sz="2600" dirty="0">
                <a:sym typeface="Wingdings" panose="05000000000000000000" pitchFamily="2" charset="2"/>
              </a:rPr>
              <a:t> (Fig. a, b, c  &amp; d)</a:t>
            </a:r>
            <a:endParaRPr lang="en-US" sz="2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44CE0-29CE-4FF8-B402-2ADCA8570A75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54</a:t>
            </a:fld>
            <a:endParaRPr lang="en-US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068773"/>
            <a:ext cx="3540902" cy="20460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844" y="2057400"/>
            <a:ext cx="4082955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344" y="4416629"/>
            <a:ext cx="3790656" cy="1812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3197" y="4403869"/>
            <a:ext cx="3575003" cy="1920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219200" y="3962400"/>
            <a:ext cx="1237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Fig. (a)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4034537"/>
            <a:ext cx="1237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Fig. (b)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6400" y="6139934"/>
            <a:ext cx="1237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Fig. (c)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26795" y="6222727"/>
            <a:ext cx="1237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Fig. (d)</a:t>
            </a:r>
          </a:p>
        </p:txBody>
      </p:sp>
    </p:spTree>
    <p:extLst>
      <p:ext uri="{BB962C8B-B14F-4D97-AF65-F5344CB8AC3E}">
        <p14:creationId xmlns:p14="http://schemas.microsoft.com/office/powerpoint/2010/main" val="18953648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1"/>
            <a:ext cx="8229600" cy="129539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(2) –(a)</a:t>
            </a:r>
            <a:r>
              <a:rPr lang="en-US" dirty="0"/>
              <a:t>. Apply reciprocity theorem to determine the current </a:t>
            </a:r>
            <a:r>
              <a:rPr lang="en-US" i="1" dirty="0"/>
              <a:t>I </a:t>
            </a:r>
            <a:r>
              <a:rPr lang="en-US" b="1" i="1" dirty="0"/>
              <a:t>(Fig. a </a:t>
            </a:r>
            <a:r>
              <a:rPr lang="en-US" i="1" dirty="0"/>
              <a:t>&amp;</a:t>
            </a:r>
            <a:r>
              <a:rPr lang="en-US" b="1" i="1" dirty="0"/>
              <a:t> b) </a:t>
            </a:r>
            <a:r>
              <a:rPr lang="en-US" i="1" dirty="0"/>
              <a:t>and the Voltage V </a:t>
            </a:r>
            <a:r>
              <a:rPr lang="en-US" b="1" i="1" dirty="0"/>
              <a:t>(Fig. c </a:t>
            </a:r>
            <a:r>
              <a:rPr lang="en-US" i="1" dirty="0"/>
              <a:t>&amp;</a:t>
            </a:r>
            <a:r>
              <a:rPr lang="en-US" b="1" i="1" dirty="0"/>
              <a:t> d) </a:t>
            </a:r>
            <a:r>
              <a:rPr lang="en-US" dirty="0"/>
              <a:t>in the given circuits. </a:t>
            </a:r>
            <a:r>
              <a:rPr lang="en-US" b="1" dirty="0"/>
              <a:t>(b) </a:t>
            </a:r>
            <a:r>
              <a:rPr lang="en-US" dirty="0"/>
              <a:t>Show that reciprocity applies for the given circuit.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89BAD-0749-4A77-B0D2-63213760351B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55</a:t>
            </a:fld>
            <a:endParaRPr lang="en-US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81200"/>
            <a:ext cx="4471486" cy="1981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981201"/>
            <a:ext cx="41148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704" y="4267200"/>
            <a:ext cx="4038600" cy="1914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333441"/>
            <a:ext cx="4207353" cy="1914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1843852" y="3810000"/>
            <a:ext cx="6832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Fig. 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68800" y="3886200"/>
            <a:ext cx="6928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Fig. 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57525" y="6096000"/>
            <a:ext cx="6655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Fig. 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10276" y="6107668"/>
            <a:ext cx="6928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Fig. d</a:t>
            </a:r>
          </a:p>
        </p:txBody>
      </p:sp>
    </p:spTree>
    <p:extLst>
      <p:ext uri="{BB962C8B-B14F-4D97-AF65-F5344CB8AC3E}">
        <p14:creationId xmlns:p14="http://schemas.microsoft.com/office/powerpoint/2010/main" val="329937010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57200"/>
          </a:xfrm>
        </p:spPr>
        <p:txBody>
          <a:bodyPr>
            <a:normAutofit fontScale="90000"/>
          </a:bodyPr>
          <a:lstStyle/>
          <a:p>
            <a:r>
              <a:rPr lang="en-US" b="1"/>
              <a:t>QUIZ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8EED5-CADC-4A65-B61D-DDD540857E7C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342E1-1408-4C13-9C60-07932E3DA7B3}" type="slidenum">
              <a:rPr lang="en-US" smtClean="0"/>
              <a:t>56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8600" y="1066800"/>
            <a:ext cx="891540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lphaLcParenR"/>
            </a:pPr>
            <a:r>
              <a:rPr lang="en-US" sz="2600" b="1" dirty="0"/>
              <a:t>Use </a:t>
            </a:r>
            <a:r>
              <a:rPr lang="en-US" sz="2600" b="1" dirty="0" err="1"/>
              <a:t>Thévenin’s</a:t>
            </a:r>
            <a:r>
              <a:rPr lang="en-US" sz="2600" b="1" dirty="0"/>
              <a:t> theorem to determine the current through load resistor R</a:t>
            </a:r>
            <a:r>
              <a:rPr lang="en-US" sz="2600" b="1" baseline="-25000" dirty="0"/>
              <a:t>L</a:t>
            </a:r>
            <a:r>
              <a:rPr lang="en-US" sz="2600" b="1" dirty="0"/>
              <a:t> for the following Circuit/5.</a:t>
            </a:r>
          </a:p>
          <a:p>
            <a:pPr marL="342900" indent="-342900">
              <a:buFont typeface="+mj-lt"/>
              <a:buAutoNum type="alphaLcParenR"/>
            </a:pPr>
            <a:r>
              <a:rPr lang="en-US" sz="2600" dirty="0"/>
              <a:t>Consider the Maximum Power transfer theorem and Calculate the Power that is supposed to be transferred to the load.</a:t>
            </a:r>
          </a:p>
          <a:p>
            <a:pPr marL="342900" indent="-342900">
              <a:buFont typeface="+mj-lt"/>
              <a:buAutoNum type="alphaLcParenR"/>
            </a:pPr>
            <a:r>
              <a:rPr lang="en-US" sz="2600" dirty="0"/>
              <a:t>What is the efficiency (</a:t>
            </a:r>
            <a:r>
              <a:rPr lang="en-US" sz="2600" dirty="0">
                <a:sym typeface="Symbol"/>
              </a:rPr>
              <a:t></a:t>
            </a:r>
            <a:r>
              <a:rPr lang="en-US" sz="2600" dirty="0"/>
              <a:t>) at Maximum power?</a:t>
            </a:r>
          </a:p>
          <a:p>
            <a:pPr marL="342900" indent="-342900">
              <a:buFont typeface="+mj-lt"/>
              <a:buAutoNum type="alphaLcParenR"/>
            </a:pPr>
            <a:r>
              <a:rPr lang="en-US" sz="2600" dirty="0"/>
              <a:t>What is the efficiency (</a:t>
            </a:r>
            <a:r>
              <a:rPr lang="en-US" sz="2600" dirty="0">
                <a:sym typeface="Symbol"/>
              </a:rPr>
              <a:t></a:t>
            </a:r>
            <a:r>
              <a:rPr lang="en-US" sz="2600" dirty="0"/>
              <a:t>) if the load is 100</a:t>
            </a:r>
            <a:r>
              <a:rPr lang="en-US" sz="2600" dirty="0">
                <a:sym typeface="Symbol"/>
              </a:rPr>
              <a:t>?</a:t>
            </a:r>
            <a:endParaRPr lang="en-US" sz="2600" dirty="0"/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559790"/>
            <a:ext cx="7010400" cy="2917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660640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685800"/>
            <a:ext cx="7772400" cy="762000"/>
          </a:xfrm>
        </p:spPr>
        <p:txBody>
          <a:bodyPr/>
          <a:lstStyle/>
          <a:p>
            <a:r>
              <a:rPr lang="en-US" dirty="0"/>
              <a:t>Assignment 1/10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1447800"/>
            <a:ext cx="8534400" cy="4908550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By giving examples, do a detailed research and discuss the </a:t>
            </a:r>
            <a:r>
              <a:rPr lang="en-US" dirty="0" err="1">
                <a:solidFill>
                  <a:schemeClr val="tx1"/>
                </a:solidFill>
              </a:rPr>
              <a:t>tellegen's</a:t>
            </a:r>
            <a:r>
              <a:rPr lang="en-US" dirty="0">
                <a:solidFill>
                  <a:schemeClr val="tx1"/>
                </a:solidFill>
              </a:rPr>
              <a:t> theorem used in circuit network analysis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5DFEC-4756-4CC0-A54E-45380A6CAF7D}" type="datetime1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CE80362: Circuit Analysis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481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8710</TotalTime>
  <Words>4155</Words>
  <Application>Microsoft Office PowerPoint</Application>
  <PresentationFormat>On-screen Show (4:3)</PresentationFormat>
  <Paragraphs>453</Paragraphs>
  <Slides>57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4" baseType="lpstr">
      <vt:lpstr>Arial</vt:lpstr>
      <vt:lpstr>Calibri</vt:lpstr>
      <vt:lpstr>Cambria Math</vt:lpstr>
      <vt:lpstr>Symbol</vt:lpstr>
      <vt:lpstr>Times-Roman</vt:lpstr>
      <vt:lpstr>Wingdings</vt:lpstr>
      <vt:lpstr>Office Theme</vt:lpstr>
      <vt:lpstr>PowerPoint Presentation</vt:lpstr>
      <vt:lpstr>Superposition Theorem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Thévenin’s Theorem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Norton’s Theorem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Maximum Power Transfer Theorem</vt:lpstr>
      <vt:lpstr>PowerPoint Presentation</vt:lpstr>
      <vt:lpstr>PowerPoint Presentation</vt:lpstr>
      <vt:lpstr>PowerPoint Presentation</vt:lpstr>
      <vt:lpstr>PowerPoint Presentation</vt:lpstr>
      <vt:lpstr>Efficiency</vt:lpstr>
      <vt:lpstr>PowerPoint Presentation</vt:lpstr>
      <vt:lpstr>PowerPoint Presentation</vt:lpstr>
      <vt:lpstr>PowerPoint Presentation</vt:lpstr>
      <vt:lpstr>Millman’s Theorem</vt:lpstr>
      <vt:lpstr>PowerPoint Presentation</vt:lpstr>
      <vt:lpstr>PowerPoint Presentation</vt:lpstr>
      <vt:lpstr>PowerPoint Presentation</vt:lpstr>
      <vt:lpstr>PowerPoint Presentation</vt:lpstr>
      <vt:lpstr>Reciprocity Theorem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QUIZ</vt:lpstr>
      <vt:lpstr>Assignment 1/10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Alexandre</dc:creator>
  <cp:lastModifiedBy>PC</cp:lastModifiedBy>
  <cp:revision>923</cp:revision>
  <dcterms:created xsi:type="dcterms:W3CDTF">2015-09-21T09:25:15Z</dcterms:created>
  <dcterms:modified xsi:type="dcterms:W3CDTF">2025-09-29T11:16:36Z</dcterms:modified>
</cp:coreProperties>
</file>