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61" r:id="rId2"/>
    <p:sldId id="262" r:id="rId3"/>
    <p:sldId id="263" r:id="rId4"/>
    <p:sldId id="264" r:id="rId5"/>
    <p:sldId id="265" r:id="rId6"/>
    <p:sldId id="266" r:id="rId7"/>
    <p:sldId id="267" r:id="rId8"/>
    <p:sldId id="268" r:id="rId9"/>
    <p:sldId id="269" r:id="rId10"/>
    <p:sldId id="270" r:id="rId11"/>
    <p:sldId id="271" r:id="rId12"/>
    <p:sldId id="361" r:id="rId13"/>
    <p:sldId id="362" r:id="rId14"/>
    <p:sldId id="272" r:id="rId15"/>
    <p:sldId id="273" r:id="rId16"/>
    <p:sldId id="274" r:id="rId17"/>
    <p:sldId id="275" r:id="rId18"/>
    <p:sldId id="278" r:id="rId19"/>
    <p:sldId id="279" r:id="rId20"/>
    <p:sldId id="280" r:id="rId21"/>
    <p:sldId id="281" r:id="rId22"/>
    <p:sldId id="282" r:id="rId23"/>
    <p:sldId id="283" r:id="rId24"/>
    <p:sldId id="284" r:id="rId25"/>
    <p:sldId id="285" r:id="rId26"/>
    <p:sldId id="286" r:id="rId27"/>
    <p:sldId id="287" r:id="rId28"/>
    <p:sldId id="312" r:id="rId29"/>
    <p:sldId id="288" r:id="rId30"/>
    <p:sldId id="289" r:id="rId31"/>
    <p:sldId id="290" r:id="rId32"/>
    <p:sldId id="291" r:id="rId33"/>
    <p:sldId id="292" r:id="rId34"/>
    <p:sldId id="293" r:id="rId35"/>
    <p:sldId id="294" r:id="rId36"/>
    <p:sldId id="295" r:id="rId37"/>
    <p:sldId id="359" r:id="rId38"/>
    <p:sldId id="296"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 id="325" r:id="rId52"/>
    <p:sldId id="326" r:id="rId53"/>
    <p:sldId id="327" r:id="rId54"/>
    <p:sldId id="328" r:id="rId55"/>
    <p:sldId id="329" r:id="rId56"/>
    <p:sldId id="330" r:id="rId57"/>
    <p:sldId id="363" r:id="rId58"/>
    <p:sldId id="331" r:id="rId59"/>
    <p:sldId id="364" r:id="rId60"/>
    <p:sldId id="360"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9645" autoAdjust="0"/>
  </p:normalViewPr>
  <p:slideViewPr>
    <p:cSldViewPr>
      <p:cViewPr varScale="1">
        <p:scale>
          <a:sx n="59" d="100"/>
          <a:sy n="59" d="100"/>
        </p:scale>
        <p:origin x="1500"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35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9AE4D7-890B-4AB4-9523-94713B1879D9}" type="datetimeFigureOut">
              <a:rPr lang="en-US" smtClean="0"/>
              <a:t>9/29/2025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3F0CE1-4150-4DAC-AA3D-F3F2FC224CB1}" type="slidenum">
              <a:rPr lang="en-US" smtClean="0"/>
              <a:t>‹#›</a:t>
            </a:fld>
            <a:endParaRPr lang="en-US"/>
          </a:p>
        </p:txBody>
      </p:sp>
    </p:spTree>
    <p:extLst>
      <p:ext uri="{BB962C8B-B14F-4D97-AF65-F5344CB8AC3E}">
        <p14:creationId xmlns:p14="http://schemas.microsoft.com/office/powerpoint/2010/main" val="3905457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A3F0CE1-4150-4DAC-AA3D-F3F2FC224CB1}" type="slidenum">
              <a:rPr lang="en-US" smtClean="0"/>
              <a:t>1</a:t>
            </a:fld>
            <a:endParaRPr lang="en-US"/>
          </a:p>
        </p:txBody>
      </p:sp>
    </p:spTree>
    <p:extLst>
      <p:ext uri="{BB962C8B-B14F-4D97-AF65-F5344CB8AC3E}">
        <p14:creationId xmlns:p14="http://schemas.microsoft.com/office/powerpoint/2010/main" val="38128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A3F0CE1-4150-4DAC-AA3D-F3F2FC224CB1}" type="slidenum">
              <a:rPr lang="en-US" smtClean="0"/>
              <a:t>43</a:t>
            </a:fld>
            <a:endParaRPr lang="en-US"/>
          </a:p>
        </p:txBody>
      </p:sp>
    </p:spTree>
    <p:extLst>
      <p:ext uri="{BB962C8B-B14F-4D97-AF65-F5344CB8AC3E}">
        <p14:creationId xmlns:p14="http://schemas.microsoft.com/office/powerpoint/2010/main" val="36740951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8A4929-4602-46EC-9FEB-7C2666D3F8FB}" type="datetime1">
              <a:rPr lang="en-US" smtClean="0"/>
              <a:t>9/29/2025</a:t>
            </a:fld>
            <a:endParaRPr lang="en-US" dirty="0"/>
          </a:p>
        </p:txBody>
      </p:sp>
      <p:sp>
        <p:nvSpPr>
          <p:cNvPr id="5" name="Footer Placeholder 4"/>
          <p:cNvSpPr>
            <a:spLocks noGrp="1"/>
          </p:cNvSpPr>
          <p:nvPr>
            <p:ph type="ftr" sz="quarter" idx="11"/>
          </p:nvPr>
        </p:nvSpPr>
        <p:spPr/>
        <p:txBody>
          <a:bodyPr/>
          <a:lstStyle/>
          <a:p>
            <a:r>
              <a:rPr lang="en-US"/>
              <a:t>CE80362: Circuit Analysis </a:t>
            </a:r>
            <a:endParaRPr lang="en-US" dirty="0"/>
          </a:p>
        </p:txBody>
      </p:sp>
      <p:sp>
        <p:nvSpPr>
          <p:cNvPr id="6" name="Slide Number Placeholder 5"/>
          <p:cNvSpPr>
            <a:spLocks noGrp="1"/>
          </p:cNvSpPr>
          <p:nvPr>
            <p:ph type="sldNum" sz="quarter" idx="12"/>
          </p:nvPr>
        </p:nvSpPr>
        <p:spPr/>
        <p:txBody>
          <a:bodyPr/>
          <a:lstStyle>
            <a:lvl1pPr>
              <a:defRPr/>
            </a:lvl1pPr>
          </a:lstStyle>
          <a:p>
            <a:r>
              <a:rPr lang="en-US" dirty="0"/>
              <a:t>1</a:t>
            </a:r>
          </a:p>
        </p:txBody>
      </p:sp>
      <p:pic>
        <p:nvPicPr>
          <p:cNvPr id="205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7792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5345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0" y="2438400"/>
            <a:ext cx="8229600" cy="1143000"/>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39C5F3-65E2-4D40-9E6D-030BD3A5F2D3}"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a:t>
            </a:fld>
            <a:endParaRPr lang="en-US"/>
          </a:p>
        </p:txBody>
      </p:sp>
      <p:pic>
        <p:nvPicPr>
          <p:cNvPr id="307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
            <a:ext cx="9144000" cy="6858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268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7D435F-E17E-4581-B203-FCC2BE18A2A7}"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a:t>
            </a:fld>
            <a:endParaRPr lang="en-US"/>
          </a:p>
        </p:txBody>
      </p:sp>
    </p:spTree>
    <p:extLst>
      <p:ext uri="{BB962C8B-B14F-4D97-AF65-F5344CB8AC3E}">
        <p14:creationId xmlns:p14="http://schemas.microsoft.com/office/powerpoint/2010/main" val="2660106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CD95FD-4053-4DA6-B93B-688965B64DDF}" type="datetime1">
              <a:rPr lang="en-US" smtClean="0"/>
              <a:t>9/29/2025</a:t>
            </a:fld>
            <a:endParaRPr lang="en-US"/>
          </a:p>
        </p:txBody>
      </p:sp>
      <p:sp>
        <p:nvSpPr>
          <p:cNvPr id="6" name="Footer Placeholder 5"/>
          <p:cNvSpPr>
            <a:spLocks noGrp="1"/>
          </p:cNvSpPr>
          <p:nvPr>
            <p:ph type="ftr" sz="quarter" idx="11"/>
          </p:nvPr>
        </p:nvSpPr>
        <p:spPr/>
        <p:txBody>
          <a:bodyPr/>
          <a:lstStyle/>
          <a:p>
            <a:r>
              <a:rPr lang="en-US"/>
              <a:t>CE80362: Circuit Analysis </a:t>
            </a:r>
          </a:p>
        </p:txBody>
      </p:sp>
      <p:sp>
        <p:nvSpPr>
          <p:cNvPr id="7" name="Slide Number Placeholder 6"/>
          <p:cNvSpPr>
            <a:spLocks noGrp="1"/>
          </p:cNvSpPr>
          <p:nvPr>
            <p:ph type="sldNum" sz="quarter" idx="12"/>
          </p:nvPr>
        </p:nvSpPr>
        <p:spPr/>
        <p:txBody>
          <a:bodyPr/>
          <a:lstStyle/>
          <a:p>
            <a:fld id="{06B342E1-1408-4C13-9C60-07932E3DA7B3}" type="slidenum">
              <a:rPr lang="en-US" smtClean="0"/>
              <a:t>‹#›</a:t>
            </a:fld>
            <a:endParaRPr lang="en-US"/>
          </a:p>
        </p:txBody>
      </p:sp>
    </p:spTree>
    <p:extLst>
      <p:ext uri="{BB962C8B-B14F-4D97-AF65-F5344CB8AC3E}">
        <p14:creationId xmlns:p14="http://schemas.microsoft.com/office/powerpoint/2010/main" val="2064558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A62D798-C172-4E13-A3B0-EAC112F32D03}" type="datetime1">
              <a:rPr lang="en-US" smtClean="0"/>
              <a:t>9/29/2025</a:t>
            </a:fld>
            <a:endParaRPr lang="en-US"/>
          </a:p>
        </p:txBody>
      </p:sp>
      <p:sp>
        <p:nvSpPr>
          <p:cNvPr id="8" name="Footer Placeholder 7"/>
          <p:cNvSpPr>
            <a:spLocks noGrp="1"/>
          </p:cNvSpPr>
          <p:nvPr>
            <p:ph type="ftr" sz="quarter" idx="11"/>
          </p:nvPr>
        </p:nvSpPr>
        <p:spPr/>
        <p:txBody>
          <a:bodyPr/>
          <a:lstStyle/>
          <a:p>
            <a:r>
              <a:rPr lang="en-US"/>
              <a:t>CE80362: Circuit Analysis </a:t>
            </a:r>
          </a:p>
        </p:txBody>
      </p:sp>
      <p:sp>
        <p:nvSpPr>
          <p:cNvPr id="9" name="Slide Number Placeholder 8"/>
          <p:cNvSpPr>
            <a:spLocks noGrp="1"/>
          </p:cNvSpPr>
          <p:nvPr>
            <p:ph type="sldNum" sz="quarter" idx="12"/>
          </p:nvPr>
        </p:nvSpPr>
        <p:spPr/>
        <p:txBody>
          <a:bodyPr/>
          <a:lstStyle/>
          <a:p>
            <a:fld id="{06B342E1-1408-4C13-9C60-07932E3DA7B3}" type="slidenum">
              <a:rPr lang="en-US" smtClean="0"/>
              <a:t>‹#›</a:t>
            </a:fld>
            <a:endParaRPr lang="en-US"/>
          </a:p>
        </p:txBody>
      </p:sp>
    </p:spTree>
    <p:extLst>
      <p:ext uri="{BB962C8B-B14F-4D97-AF65-F5344CB8AC3E}">
        <p14:creationId xmlns:p14="http://schemas.microsoft.com/office/powerpoint/2010/main" val="2475437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DD85A7-66FF-493D-9C5D-30BDA9ABB395}" type="datetime1">
              <a:rPr lang="en-US" smtClean="0"/>
              <a:t>9/29/2025</a:t>
            </a:fld>
            <a:endParaRPr lang="en-US"/>
          </a:p>
        </p:txBody>
      </p:sp>
      <p:sp>
        <p:nvSpPr>
          <p:cNvPr id="4" name="Footer Placeholder 3"/>
          <p:cNvSpPr>
            <a:spLocks noGrp="1"/>
          </p:cNvSpPr>
          <p:nvPr>
            <p:ph type="ftr" sz="quarter" idx="11"/>
          </p:nvPr>
        </p:nvSpPr>
        <p:spPr/>
        <p:txBody>
          <a:bodyPr/>
          <a:lstStyle/>
          <a:p>
            <a:r>
              <a:rPr lang="en-US"/>
              <a:t>CE80362: Circuit Analysis </a:t>
            </a:r>
          </a:p>
        </p:txBody>
      </p:sp>
      <p:sp>
        <p:nvSpPr>
          <p:cNvPr id="5" name="Slide Number Placeholder 4"/>
          <p:cNvSpPr>
            <a:spLocks noGrp="1"/>
          </p:cNvSpPr>
          <p:nvPr>
            <p:ph type="sldNum" sz="quarter" idx="12"/>
          </p:nvPr>
        </p:nvSpPr>
        <p:spPr/>
        <p:txBody>
          <a:bodyPr/>
          <a:lstStyle/>
          <a:p>
            <a:fld id="{06B342E1-1408-4C13-9C60-07932E3DA7B3}" type="slidenum">
              <a:rPr lang="en-US" smtClean="0"/>
              <a:t>‹#›</a:t>
            </a:fld>
            <a:endParaRPr lang="en-US"/>
          </a:p>
        </p:txBody>
      </p:sp>
    </p:spTree>
    <p:extLst>
      <p:ext uri="{BB962C8B-B14F-4D97-AF65-F5344CB8AC3E}">
        <p14:creationId xmlns:p14="http://schemas.microsoft.com/office/powerpoint/2010/main" val="2515707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A8F21A-65CB-4F2E-8276-4B28E92663B8}" type="datetime1">
              <a:rPr lang="en-US" smtClean="0"/>
              <a:t>9/29/2025</a:t>
            </a:fld>
            <a:endParaRPr lang="en-US"/>
          </a:p>
        </p:txBody>
      </p:sp>
      <p:sp>
        <p:nvSpPr>
          <p:cNvPr id="3" name="Footer Placeholder 2"/>
          <p:cNvSpPr>
            <a:spLocks noGrp="1"/>
          </p:cNvSpPr>
          <p:nvPr>
            <p:ph type="ftr" sz="quarter" idx="11"/>
          </p:nvPr>
        </p:nvSpPr>
        <p:spPr/>
        <p:txBody>
          <a:bodyPr/>
          <a:lstStyle/>
          <a:p>
            <a:r>
              <a:rPr lang="en-US"/>
              <a:t>CE80362: Circuit Analysis </a:t>
            </a:r>
          </a:p>
        </p:txBody>
      </p:sp>
      <p:sp>
        <p:nvSpPr>
          <p:cNvPr id="4" name="Slide Number Placeholder 3"/>
          <p:cNvSpPr>
            <a:spLocks noGrp="1"/>
          </p:cNvSpPr>
          <p:nvPr>
            <p:ph type="sldNum" sz="quarter" idx="12"/>
          </p:nvPr>
        </p:nvSpPr>
        <p:spPr/>
        <p:txBody>
          <a:bodyPr/>
          <a:lstStyle/>
          <a:p>
            <a:fld id="{06B342E1-1408-4C13-9C60-07932E3DA7B3}" type="slidenum">
              <a:rPr lang="en-US" smtClean="0"/>
              <a:t>‹#›</a:t>
            </a:fld>
            <a:endParaRPr lang="en-US"/>
          </a:p>
        </p:txBody>
      </p:sp>
    </p:spTree>
    <p:extLst>
      <p:ext uri="{BB962C8B-B14F-4D97-AF65-F5344CB8AC3E}">
        <p14:creationId xmlns:p14="http://schemas.microsoft.com/office/powerpoint/2010/main" val="1812359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458BED-DBBF-4007-8E58-3A6309AF6B5B}" type="datetime1">
              <a:rPr lang="en-US" smtClean="0"/>
              <a:t>9/29/2025</a:t>
            </a:fld>
            <a:endParaRPr lang="en-US"/>
          </a:p>
        </p:txBody>
      </p:sp>
      <p:sp>
        <p:nvSpPr>
          <p:cNvPr id="6" name="Footer Placeholder 5"/>
          <p:cNvSpPr>
            <a:spLocks noGrp="1"/>
          </p:cNvSpPr>
          <p:nvPr>
            <p:ph type="ftr" sz="quarter" idx="11"/>
          </p:nvPr>
        </p:nvSpPr>
        <p:spPr/>
        <p:txBody>
          <a:bodyPr/>
          <a:lstStyle/>
          <a:p>
            <a:r>
              <a:rPr lang="en-US"/>
              <a:t>CE80362: Circuit Analysis </a:t>
            </a:r>
          </a:p>
        </p:txBody>
      </p:sp>
      <p:sp>
        <p:nvSpPr>
          <p:cNvPr id="7" name="Slide Number Placeholder 6"/>
          <p:cNvSpPr>
            <a:spLocks noGrp="1"/>
          </p:cNvSpPr>
          <p:nvPr>
            <p:ph type="sldNum" sz="quarter" idx="12"/>
          </p:nvPr>
        </p:nvSpPr>
        <p:spPr/>
        <p:txBody>
          <a:bodyPr/>
          <a:lstStyle/>
          <a:p>
            <a:fld id="{06B342E1-1408-4C13-9C60-07932E3DA7B3}" type="slidenum">
              <a:rPr lang="en-US" smtClean="0"/>
              <a:t>‹#›</a:t>
            </a:fld>
            <a:endParaRPr lang="en-US"/>
          </a:p>
        </p:txBody>
      </p:sp>
    </p:spTree>
    <p:extLst>
      <p:ext uri="{BB962C8B-B14F-4D97-AF65-F5344CB8AC3E}">
        <p14:creationId xmlns:p14="http://schemas.microsoft.com/office/powerpoint/2010/main" val="2669000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D91F90-2CB6-44C6-82B6-BC54B837F65D}" type="datetime1">
              <a:rPr lang="en-US" smtClean="0"/>
              <a:t>9/29/2025</a:t>
            </a:fld>
            <a:endParaRPr lang="en-US"/>
          </a:p>
        </p:txBody>
      </p:sp>
      <p:sp>
        <p:nvSpPr>
          <p:cNvPr id="6" name="Footer Placeholder 5"/>
          <p:cNvSpPr>
            <a:spLocks noGrp="1"/>
          </p:cNvSpPr>
          <p:nvPr>
            <p:ph type="ftr" sz="quarter" idx="11"/>
          </p:nvPr>
        </p:nvSpPr>
        <p:spPr/>
        <p:txBody>
          <a:bodyPr/>
          <a:lstStyle/>
          <a:p>
            <a:r>
              <a:rPr lang="en-US"/>
              <a:t>CE80362: Circuit Analysis </a:t>
            </a:r>
          </a:p>
        </p:txBody>
      </p:sp>
      <p:sp>
        <p:nvSpPr>
          <p:cNvPr id="7" name="Slide Number Placeholder 6"/>
          <p:cNvSpPr>
            <a:spLocks noGrp="1"/>
          </p:cNvSpPr>
          <p:nvPr>
            <p:ph type="sldNum" sz="quarter" idx="12"/>
          </p:nvPr>
        </p:nvSpPr>
        <p:spPr/>
        <p:txBody>
          <a:bodyPr/>
          <a:lstStyle/>
          <a:p>
            <a:fld id="{06B342E1-1408-4C13-9C60-07932E3DA7B3}" type="slidenum">
              <a:rPr lang="en-US" smtClean="0"/>
              <a:t>‹#›</a:t>
            </a:fld>
            <a:endParaRPr lang="en-US"/>
          </a:p>
        </p:txBody>
      </p:sp>
    </p:spTree>
    <p:extLst>
      <p:ext uri="{BB962C8B-B14F-4D97-AF65-F5344CB8AC3E}">
        <p14:creationId xmlns:p14="http://schemas.microsoft.com/office/powerpoint/2010/main" val="1662220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E82E28-4DA2-4FEA-913E-182FE72E90E2}"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a:t>
            </a:fld>
            <a:endParaRPr lang="en-US"/>
          </a:p>
        </p:txBody>
      </p:sp>
    </p:spTree>
    <p:extLst>
      <p:ext uri="{BB962C8B-B14F-4D97-AF65-F5344CB8AC3E}">
        <p14:creationId xmlns:p14="http://schemas.microsoft.com/office/powerpoint/2010/main" val="320829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4C1F97-C8FC-4164-A60D-C32C66BE1880}"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a:t>
            </a:fld>
            <a:endParaRPr lang="en-US"/>
          </a:p>
        </p:txBody>
      </p:sp>
    </p:spTree>
    <p:extLst>
      <p:ext uri="{BB962C8B-B14F-4D97-AF65-F5344CB8AC3E}">
        <p14:creationId xmlns:p14="http://schemas.microsoft.com/office/powerpoint/2010/main" val="1884723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27F0ED-6F96-48D7-BA27-FA6AA762C10A}" type="datetime1">
              <a:rPr lang="en-US" smtClean="0"/>
              <a:t>9/29/2025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CE80362: Circuit Analysis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B342E1-1408-4C13-9C60-07932E3DA7B3}" type="slidenum">
              <a:rPr lang="en-US" smtClean="0"/>
              <a:t>‹#›</a:t>
            </a:fld>
            <a:endParaRPr lang="en-US"/>
          </a:p>
        </p:txBody>
      </p:sp>
    </p:spTree>
    <p:extLst>
      <p:ext uri="{BB962C8B-B14F-4D97-AF65-F5344CB8AC3E}">
        <p14:creationId xmlns:p14="http://schemas.microsoft.com/office/powerpoint/2010/main" val="1664101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0.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3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9" Type="http://schemas.openxmlformats.org/officeDocument/2006/relationships/image" Target="../media/image83.png"/></Relationships>
</file>

<file path=ppt/slides/_rels/slide36.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37.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4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5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5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CE80362: Circuit Analysis </a:t>
            </a:r>
            <a:endParaRPr lang="en-US" dirty="0"/>
          </a:p>
        </p:txBody>
      </p:sp>
      <p:sp>
        <p:nvSpPr>
          <p:cNvPr id="5" name="Slide Number Placeholder 4"/>
          <p:cNvSpPr>
            <a:spLocks noGrp="1"/>
          </p:cNvSpPr>
          <p:nvPr>
            <p:ph type="sldNum" sz="quarter" idx="12"/>
          </p:nvPr>
        </p:nvSpPr>
        <p:spPr/>
        <p:txBody>
          <a:bodyPr/>
          <a:lstStyle/>
          <a:p>
            <a:r>
              <a:rPr lang="en-US" dirty="0"/>
              <a:t>1</a:t>
            </a:r>
          </a:p>
        </p:txBody>
      </p:sp>
      <p:sp>
        <p:nvSpPr>
          <p:cNvPr id="6" name="Subtitle 3"/>
          <p:cNvSpPr txBox="1">
            <a:spLocks/>
          </p:cNvSpPr>
          <p:nvPr/>
        </p:nvSpPr>
        <p:spPr>
          <a:xfrm>
            <a:off x="228600" y="4495800"/>
            <a:ext cx="8763000" cy="914400"/>
          </a:xfrm>
          <a:prstGeom prst="rect">
            <a:avLst/>
          </a:prstGeom>
          <a:solidFill>
            <a:schemeClr val="accent3">
              <a:lumMod val="60000"/>
              <a:lumOff val="40000"/>
            </a:schemeClr>
          </a:solidFill>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b="1" dirty="0">
                <a:solidFill>
                  <a:schemeClr val="tx1"/>
                </a:solidFill>
                <a:latin typeface="+mj-lt"/>
              </a:rPr>
              <a:t>Lecture 2:</a:t>
            </a:r>
          </a:p>
          <a:p>
            <a:r>
              <a:rPr lang="en-US" b="1" dirty="0">
                <a:solidFill>
                  <a:schemeClr val="tx1"/>
                </a:solidFill>
                <a:latin typeface="+mj-lt"/>
              </a:rPr>
              <a:t>Basic Preliminaries on Circuit Analysis, Mesh (loop)  and Nodal Analysis.</a:t>
            </a:r>
          </a:p>
        </p:txBody>
      </p:sp>
      <p:sp>
        <p:nvSpPr>
          <p:cNvPr id="7" name="Date Placeholder 6"/>
          <p:cNvSpPr>
            <a:spLocks noGrp="1"/>
          </p:cNvSpPr>
          <p:nvPr>
            <p:ph type="dt" sz="half" idx="10"/>
          </p:nvPr>
        </p:nvSpPr>
        <p:spPr/>
        <p:txBody>
          <a:bodyPr/>
          <a:lstStyle/>
          <a:p>
            <a:fld id="{EC2E83DC-26C8-46FE-BC33-17D6D39638DE}" type="datetime1">
              <a:rPr lang="en-US" smtClean="0"/>
              <a:t>9/29/2025</a:t>
            </a:fld>
            <a:endParaRPr lang="en-US" dirty="0"/>
          </a:p>
        </p:txBody>
      </p:sp>
      <p:sp>
        <p:nvSpPr>
          <p:cNvPr id="2" name="Rectangle 1"/>
          <p:cNvSpPr/>
          <p:nvPr/>
        </p:nvSpPr>
        <p:spPr>
          <a:xfrm>
            <a:off x="647700" y="2209800"/>
            <a:ext cx="7924800" cy="584775"/>
          </a:xfrm>
          <a:prstGeom prst="rect">
            <a:avLst/>
          </a:prstGeom>
          <a:solidFill>
            <a:schemeClr val="accent5">
              <a:lumMod val="40000"/>
              <a:lumOff val="60000"/>
            </a:schemeClr>
          </a:solidFill>
        </p:spPr>
        <p:txBody>
          <a:bodyPr wrap="square">
            <a:spAutoFit/>
          </a:bodyPr>
          <a:lstStyle/>
          <a:p>
            <a:pPr algn="ctr"/>
            <a:r>
              <a:rPr lang="en-US" sz="3200" dirty="0"/>
              <a:t>CE80362 </a:t>
            </a:r>
            <a:r>
              <a:rPr lang="en-GB" sz="3200" dirty="0"/>
              <a:t>: Circuit Analysis </a:t>
            </a:r>
            <a:endParaRPr lang="en-US" sz="3200" b="1" dirty="0"/>
          </a:p>
        </p:txBody>
      </p:sp>
    </p:spTree>
    <p:extLst>
      <p:ext uri="{BB962C8B-B14F-4D97-AF65-F5344CB8AC3E}">
        <p14:creationId xmlns:p14="http://schemas.microsoft.com/office/powerpoint/2010/main" val="3358543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0413"/>
            <a:ext cx="8229600" cy="382587"/>
          </a:xfrm>
        </p:spPr>
        <p:txBody>
          <a:bodyPr>
            <a:noAutofit/>
          </a:bodyPr>
          <a:lstStyle/>
          <a:p>
            <a:r>
              <a:rPr lang="en-US" sz="3200" b="1" dirty="0"/>
              <a:t>Basic Preliminaries on Circuit Analysis </a:t>
            </a:r>
          </a:p>
        </p:txBody>
      </p:sp>
      <p:sp>
        <p:nvSpPr>
          <p:cNvPr id="3" name="Content Placeholder 2"/>
          <p:cNvSpPr>
            <a:spLocks noGrp="1"/>
          </p:cNvSpPr>
          <p:nvPr>
            <p:ph idx="1"/>
          </p:nvPr>
        </p:nvSpPr>
        <p:spPr>
          <a:xfrm>
            <a:off x="457200" y="1371600"/>
            <a:ext cx="8229600" cy="4754563"/>
          </a:xfrm>
        </p:spPr>
        <p:txBody>
          <a:bodyPr>
            <a:normAutofit fontScale="85000" lnSpcReduction="20000"/>
          </a:bodyPr>
          <a:lstStyle/>
          <a:p>
            <a:r>
              <a:rPr lang="en-US" b="1" dirty="0"/>
              <a:t>Series Circuits</a:t>
            </a:r>
          </a:p>
          <a:p>
            <a:r>
              <a:rPr lang="en-US" dirty="0">
                <a:solidFill>
                  <a:srgbClr val="0070C0"/>
                </a:solidFill>
              </a:rPr>
              <a:t>An electric circuit is the combination of any number of sources and loads </a:t>
            </a:r>
            <a:r>
              <a:rPr lang="en-US" dirty="0"/>
              <a:t>connected in any manner that allows charge to flow. </a:t>
            </a:r>
          </a:p>
          <a:p>
            <a:r>
              <a:rPr lang="en-US" dirty="0"/>
              <a:t>The electric circuit may be simple, such as a circuit consisting of a </a:t>
            </a:r>
            <a:r>
              <a:rPr lang="en-US" dirty="0">
                <a:solidFill>
                  <a:srgbClr val="0070C0"/>
                </a:solidFill>
              </a:rPr>
              <a:t>battery and a light bulb </a:t>
            </a:r>
            <a:r>
              <a:rPr lang="en-US" dirty="0"/>
              <a:t>or complex. All electric circuits obtain their energy either from a direct current (dc) source or from an alternating current (ac) source. </a:t>
            </a:r>
          </a:p>
          <a:p>
            <a:r>
              <a:rPr lang="en-US" dirty="0">
                <a:solidFill>
                  <a:srgbClr val="0070C0"/>
                </a:solidFill>
              </a:rPr>
              <a:t>Although ac circuits</a:t>
            </a:r>
            <a:r>
              <a:rPr lang="en-US" dirty="0"/>
              <a:t> have fundamental differences when compared with dc circuits, </a:t>
            </a:r>
            <a:r>
              <a:rPr lang="en-US" dirty="0">
                <a:solidFill>
                  <a:srgbClr val="0070C0"/>
                </a:solidFill>
              </a:rPr>
              <a:t>the laws, theorems, and rules that you learn in dc circuits apply directly to ac circuits as well.</a:t>
            </a:r>
          </a:p>
          <a:p>
            <a:pPr marL="0" indent="0">
              <a:buNone/>
            </a:pPr>
            <a:endParaRPr lang="en-US" dirty="0"/>
          </a:p>
        </p:txBody>
      </p:sp>
      <p:sp>
        <p:nvSpPr>
          <p:cNvPr id="4" name="Date Placeholder 3"/>
          <p:cNvSpPr>
            <a:spLocks noGrp="1"/>
          </p:cNvSpPr>
          <p:nvPr>
            <p:ph type="dt" sz="half" idx="10"/>
          </p:nvPr>
        </p:nvSpPr>
        <p:spPr/>
        <p:txBody>
          <a:bodyPr/>
          <a:lstStyle/>
          <a:p>
            <a:fld id="{C00BE657-0DC6-4505-A36C-8E653188994B}"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2</a:t>
            </a:fld>
            <a:endParaRPr lang="en-US"/>
          </a:p>
        </p:txBody>
      </p:sp>
    </p:spTree>
    <p:extLst>
      <p:ext uri="{BB962C8B-B14F-4D97-AF65-F5344CB8AC3E}">
        <p14:creationId xmlns:p14="http://schemas.microsoft.com/office/powerpoint/2010/main" val="292063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r>
              <a:rPr lang="en-US" dirty="0"/>
              <a:t>A series circuit is constructed by combining various elements in series.</a:t>
            </a:r>
          </a:p>
          <a:p>
            <a:pPr lvl="2"/>
            <a:r>
              <a:rPr lang="en-US" i="1" dirty="0">
                <a:solidFill>
                  <a:srgbClr val="0070C0"/>
                </a:solidFill>
              </a:rPr>
              <a:t>Two elements are said to be in series if they are connected at a single point and if there are no other current-carrying connections at this point.</a:t>
            </a:r>
          </a:p>
          <a:p>
            <a:pPr lvl="2"/>
            <a:r>
              <a:rPr lang="en-US" i="1" dirty="0">
                <a:solidFill>
                  <a:srgbClr val="0070C0"/>
                </a:solidFill>
              </a:rPr>
              <a:t>The current is the same everywhere in a series circuit.</a:t>
            </a:r>
          </a:p>
          <a:p>
            <a:endParaRPr lang="en-US" dirty="0"/>
          </a:p>
        </p:txBody>
      </p:sp>
      <p:sp>
        <p:nvSpPr>
          <p:cNvPr id="4" name="Date Placeholder 3"/>
          <p:cNvSpPr>
            <a:spLocks noGrp="1"/>
          </p:cNvSpPr>
          <p:nvPr>
            <p:ph type="dt" sz="half" idx="10"/>
          </p:nvPr>
        </p:nvSpPr>
        <p:spPr/>
        <p:txBody>
          <a:bodyPr/>
          <a:lstStyle/>
          <a:p>
            <a:fld id="{83CA7552-5B1E-4911-AC57-378930363CDF}"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a:t>
            </a:fld>
            <a:endParaRPr lang="en-US"/>
          </a:p>
        </p:txBody>
      </p:sp>
      <p:pic>
        <p:nvPicPr>
          <p:cNvPr id="9" name="Picture 8"/>
          <p:cNvPicPr>
            <a:picLocks noChangeAspect="1"/>
          </p:cNvPicPr>
          <p:nvPr/>
        </p:nvPicPr>
        <p:blipFill>
          <a:blip r:embed="rId2"/>
          <a:stretch>
            <a:fillRect/>
          </a:stretch>
        </p:blipFill>
        <p:spPr>
          <a:xfrm>
            <a:off x="2851355" y="3764756"/>
            <a:ext cx="1628775" cy="1416843"/>
          </a:xfrm>
          <a:prstGeom prst="rect">
            <a:avLst/>
          </a:prstGeom>
        </p:spPr>
      </p:pic>
      <p:pic>
        <p:nvPicPr>
          <p:cNvPr id="10" name="Picture 9"/>
          <p:cNvPicPr>
            <a:picLocks noChangeAspect="1"/>
          </p:cNvPicPr>
          <p:nvPr/>
        </p:nvPicPr>
        <p:blipFill>
          <a:blip r:embed="rId3"/>
          <a:stretch>
            <a:fillRect/>
          </a:stretch>
        </p:blipFill>
        <p:spPr>
          <a:xfrm>
            <a:off x="4964906" y="3660737"/>
            <a:ext cx="2162175" cy="1567934"/>
          </a:xfrm>
          <a:prstGeom prst="rect">
            <a:avLst/>
          </a:prstGeom>
        </p:spPr>
      </p:pic>
      <p:sp>
        <p:nvSpPr>
          <p:cNvPr id="11" name="TextBox 10"/>
          <p:cNvSpPr txBox="1"/>
          <p:nvPr/>
        </p:nvSpPr>
        <p:spPr>
          <a:xfrm>
            <a:off x="2819400" y="5228670"/>
            <a:ext cx="1905000" cy="369332"/>
          </a:xfrm>
          <a:prstGeom prst="rect">
            <a:avLst/>
          </a:prstGeom>
          <a:noFill/>
        </p:spPr>
        <p:txBody>
          <a:bodyPr wrap="square" rtlCol="0">
            <a:spAutoFit/>
          </a:bodyPr>
          <a:lstStyle/>
          <a:p>
            <a:r>
              <a:rPr lang="en-US" dirty="0"/>
              <a:t>Resistors in series.</a:t>
            </a:r>
          </a:p>
        </p:txBody>
      </p:sp>
      <p:sp>
        <p:nvSpPr>
          <p:cNvPr id="13" name="TextBox 12"/>
          <p:cNvSpPr txBox="1"/>
          <p:nvPr/>
        </p:nvSpPr>
        <p:spPr>
          <a:xfrm>
            <a:off x="5334000" y="5274192"/>
            <a:ext cx="1981200" cy="369332"/>
          </a:xfrm>
          <a:prstGeom prst="rect">
            <a:avLst/>
          </a:prstGeom>
          <a:noFill/>
        </p:spPr>
        <p:txBody>
          <a:bodyPr wrap="square" rtlCol="0">
            <a:spAutoFit/>
          </a:bodyPr>
          <a:lstStyle/>
          <a:p>
            <a:r>
              <a:rPr lang="en-US" dirty="0"/>
              <a:t>Series circuit.</a:t>
            </a:r>
          </a:p>
        </p:txBody>
      </p:sp>
    </p:spTree>
    <p:extLst>
      <p:ext uri="{BB962C8B-B14F-4D97-AF65-F5344CB8AC3E}">
        <p14:creationId xmlns:p14="http://schemas.microsoft.com/office/powerpoint/2010/main" val="1396174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762000"/>
                <a:ext cx="8458200" cy="5486400"/>
              </a:xfrm>
            </p:spPr>
            <p:txBody>
              <a:bodyPr>
                <a:normAutofit fontScale="77500" lnSpcReduction="20000"/>
              </a:bodyPr>
              <a:lstStyle/>
              <a:p>
                <a:r>
                  <a:rPr lang="en-US" b="1" dirty="0"/>
                  <a:t>Kirchhoff’s Voltage Law</a:t>
                </a:r>
              </a:p>
              <a:p>
                <a:pPr marL="0" indent="0">
                  <a:buNone/>
                </a:pPr>
                <a:r>
                  <a:rPr lang="en-US" dirty="0"/>
                  <a:t>The </a:t>
                </a:r>
                <a:r>
                  <a:rPr lang="en-US" i="1" dirty="0">
                    <a:solidFill>
                      <a:srgbClr val="0070C0"/>
                    </a:solidFill>
                  </a:rPr>
                  <a:t>most important laws </a:t>
                </a:r>
                <a:r>
                  <a:rPr lang="en-US" dirty="0"/>
                  <a:t>of electricity is Kirchhoff’s voltage law (KVL), which states the following: </a:t>
                </a:r>
              </a:p>
              <a:p>
                <a:pPr lvl="2"/>
                <a:r>
                  <a:rPr lang="en-US" b="1" i="1" dirty="0">
                    <a:solidFill>
                      <a:srgbClr val="0070C0"/>
                    </a:solidFill>
                  </a:rPr>
                  <a:t>The summation of voltage rises and voltage drops around a closed loop is equal to zero. </a:t>
                </a:r>
              </a:p>
              <a:p>
                <a:pPr marL="0" indent="0">
                  <a:buNone/>
                </a:pPr>
                <a:r>
                  <a:rPr lang="en-US" dirty="0"/>
                  <a:t>Symbolically, this may be stated as follows:</a:t>
                </a:r>
              </a:p>
              <a:p>
                <a:pPr lvl="2"/>
                <a14:m>
                  <m:oMath xmlns:m="http://schemas.openxmlformats.org/officeDocument/2006/math">
                    <m:nary>
                      <m:naryPr>
                        <m:chr m:val="∑"/>
                        <m:subHide m:val="on"/>
                        <m:supHide m:val="on"/>
                        <m:ctrlPr>
                          <a:rPr lang="en-US" b="1" i="1" smtClean="0">
                            <a:solidFill>
                              <a:srgbClr val="C00000"/>
                            </a:solidFill>
                            <a:latin typeface="Cambria Math" panose="02040503050406030204" pitchFamily="18" charset="0"/>
                          </a:rPr>
                        </m:ctrlPr>
                      </m:naryPr>
                      <m:sub/>
                      <m:sup/>
                      <m:e>
                        <m:r>
                          <a:rPr lang="en-US" b="1" i="1" smtClean="0">
                            <a:solidFill>
                              <a:srgbClr val="C00000"/>
                            </a:solidFill>
                            <a:latin typeface="Cambria Math" panose="02040503050406030204" pitchFamily="18" charset="0"/>
                          </a:rPr>
                          <m:t>𝑽</m:t>
                        </m:r>
                      </m:e>
                    </m:nary>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𝒇𝒐𝒓</m:t>
                    </m:r>
                    <m:r>
                      <a:rPr lang="en-US" b="1" i="1" smtClean="0">
                        <a:solidFill>
                          <a:srgbClr val="C00000"/>
                        </a:solidFill>
                        <a:latin typeface="Cambria Math"/>
                      </a:rPr>
                      <m:t> </m:t>
                    </m:r>
                    <m:r>
                      <a:rPr lang="en-US" b="1" i="1" smtClean="0">
                        <a:solidFill>
                          <a:srgbClr val="C00000"/>
                        </a:solidFill>
                        <a:latin typeface="Cambria Math" panose="02040503050406030204" pitchFamily="18" charset="0"/>
                      </a:rPr>
                      <m:t>𝒂</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𝒄𝒍𝒐𝒔𝒆𝒅</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𝒍𝒐𝒐𝒑</m:t>
                    </m:r>
                  </m:oMath>
                </a14:m>
                <a:endParaRPr lang="en-US" b="1" dirty="0">
                  <a:solidFill>
                    <a:srgbClr val="C00000"/>
                  </a:solidFill>
                </a:endParaRPr>
              </a:p>
              <a:p>
                <a:r>
                  <a:rPr lang="en-US" b="1" dirty="0">
                    <a:solidFill>
                      <a:srgbClr val="0070C0"/>
                    </a:solidFill>
                  </a:rPr>
                  <a:t>A closed loop </a:t>
                </a:r>
                <a:r>
                  <a:rPr lang="en-US" dirty="0"/>
                  <a:t>is defined as any path that originates at a point, travels around a circuit, and returns to the original point without retracing any segments.</a:t>
                </a:r>
              </a:p>
              <a:p>
                <a:r>
                  <a:rPr lang="en-US" dirty="0"/>
                  <a:t>When there  are loads, an alternate Kirchhoff’s voltage law is applied:</a:t>
                </a:r>
              </a:p>
              <a:p>
                <a:pPr lvl="2"/>
                <a:r>
                  <a:rPr lang="en-US" b="1" i="1" dirty="0">
                    <a:solidFill>
                      <a:srgbClr val="0070C0"/>
                    </a:solidFill>
                  </a:rPr>
                  <a:t>The summation of voltage rises is equal to the summation of voltage drops around a closed loop.</a:t>
                </a:r>
              </a:p>
              <a:p>
                <a:pPr marL="914400" lvl="2" indent="0">
                  <a:buNone/>
                </a:pPr>
                <a:endParaRPr lang="en-US" b="1" i="1" dirty="0">
                  <a:solidFill>
                    <a:srgbClr val="0070C0"/>
                  </a:solidFill>
                </a:endParaRPr>
              </a:p>
              <a:p>
                <a:pPr lvl="2"/>
                <a14:m>
                  <m:oMath xmlns:m="http://schemas.openxmlformats.org/officeDocument/2006/math">
                    <m:nary>
                      <m:naryPr>
                        <m:chr m:val="∑"/>
                        <m:subHide m:val="on"/>
                        <m:supHide m:val="on"/>
                        <m:ctrlPr>
                          <a:rPr lang="en-US" b="1" i="1" smtClean="0">
                            <a:solidFill>
                              <a:srgbClr val="C00000"/>
                            </a:solidFill>
                            <a:latin typeface="Cambria Math" panose="02040503050406030204" pitchFamily="18" charset="0"/>
                          </a:rPr>
                        </m:ctrlPr>
                      </m:naryPr>
                      <m:sub/>
                      <m:sup/>
                      <m:e>
                        <m:sSub>
                          <m:sSubPr>
                            <m:ctrlPr>
                              <a:rPr lang="en-US" b="1" i="1" smtClean="0">
                                <a:solidFill>
                                  <a:srgbClr val="C00000"/>
                                </a:solidFill>
                                <a:latin typeface="Cambria Math" panose="02040503050406030204" pitchFamily="18" charset="0"/>
                              </a:rPr>
                            </m:ctrlPr>
                          </m:sSubPr>
                          <m:e>
                            <m:r>
                              <a:rPr lang="en-US" b="1" i="1" smtClean="0">
                                <a:solidFill>
                                  <a:srgbClr val="C00000"/>
                                </a:solidFill>
                                <a:latin typeface="Cambria Math" panose="02040503050406030204" pitchFamily="18" charset="0"/>
                              </a:rPr>
                              <m:t>𝑬</m:t>
                            </m:r>
                          </m:e>
                          <m:sub>
                            <m:r>
                              <a:rPr lang="en-US" b="1" i="1" smtClean="0">
                                <a:solidFill>
                                  <a:srgbClr val="C00000"/>
                                </a:solidFill>
                                <a:latin typeface="Cambria Math" panose="02040503050406030204" pitchFamily="18" charset="0"/>
                              </a:rPr>
                              <m:t>𝑻𝒐𝒕𝒂𝒍</m:t>
                            </m:r>
                          </m:sub>
                        </m:sSub>
                      </m:e>
                    </m:nary>
                    <m:r>
                      <a:rPr lang="en-US" b="1" i="1" smtClean="0">
                        <a:solidFill>
                          <a:srgbClr val="C00000"/>
                        </a:solidFill>
                        <a:latin typeface="Cambria Math" panose="02040503050406030204" pitchFamily="18" charset="0"/>
                      </a:rPr>
                      <m:t>=</m:t>
                    </m:r>
                    <m:nary>
                      <m:naryPr>
                        <m:chr m:val="∑"/>
                        <m:subHide m:val="on"/>
                        <m:supHide m:val="on"/>
                        <m:ctrlPr>
                          <a:rPr lang="en-US" b="1" i="1" smtClean="0">
                            <a:solidFill>
                              <a:srgbClr val="C00000"/>
                            </a:solidFill>
                            <a:latin typeface="Cambria Math" panose="02040503050406030204" pitchFamily="18" charset="0"/>
                          </a:rPr>
                        </m:ctrlPr>
                      </m:naryPr>
                      <m:sub/>
                      <m:sup/>
                      <m:e>
                        <m:sSub>
                          <m:sSubPr>
                            <m:ctrlPr>
                              <a:rPr lang="en-US" b="1" i="1" smtClean="0">
                                <a:solidFill>
                                  <a:srgbClr val="C00000"/>
                                </a:solidFill>
                                <a:latin typeface="Cambria Math" panose="02040503050406030204" pitchFamily="18" charset="0"/>
                              </a:rPr>
                            </m:ctrlPr>
                          </m:sSubPr>
                          <m:e>
                            <m:r>
                              <a:rPr lang="en-US" b="1" i="1" smtClean="0">
                                <a:solidFill>
                                  <a:srgbClr val="C00000"/>
                                </a:solidFill>
                                <a:latin typeface="Cambria Math" panose="02040503050406030204" pitchFamily="18" charset="0"/>
                              </a:rPr>
                              <m:t>𝑽</m:t>
                            </m:r>
                          </m:e>
                          <m:sub>
                            <m:r>
                              <a:rPr lang="en-US" b="1" i="1" smtClean="0">
                                <a:solidFill>
                                  <a:srgbClr val="C00000"/>
                                </a:solidFill>
                                <a:latin typeface="Cambria Math" panose="02040503050406030204" pitchFamily="18" charset="0"/>
                              </a:rPr>
                              <m:t>𝒅𝒓𝒐𝒑</m:t>
                            </m:r>
                          </m:sub>
                        </m:sSub>
                      </m:e>
                    </m:nary>
                  </m:oMath>
                </a14:m>
                <a:endParaRPr lang="en-US" b="1" i="1" dirty="0">
                  <a:solidFill>
                    <a:srgbClr val="0070C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762000"/>
                <a:ext cx="8458200" cy="5486400"/>
              </a:xfrm>
              <a:blipFill>
                <a:blip r:embed="rId2"/>
                <a:stretch>
                  <a:fillRect l="-1153" t="-2000" r="-1009" b="-7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9E62737E-9631-4BF2-B6C2-EB4AC3B7D426}" type="datetime1">
              <a:rPr lang="en-US" smtClean="0"/>
              <a:t>9/29/2025</a:t>
            </a:fld>
            <a:endParaRPr lang="en-US" dirty="0"/>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a:t>
            </a:fld>
            <a:endParaRPr lang="en-US"/>
          </a:p>
        </p:txBody>
      </p:sp>
    </p:spTree>
    <p:extLst>
      <p:ext uri="{BB962C8B-B14F-4D97-AF65-F5344CB8AC3E}">
        <p14:creationId xmlns:p14="http://schemas.microsoft.com/office/powerpoint/2010/main" val="4059216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r>
              <a:rPr lang="en-US" sz="2800" dirty="0"/>
              <a:t>Example</a:t>
            </a:r>
            <a:r>
              <a:rPr lang="en-US" dirty="0"/>
              <a:t>1</a:t>
            </a:r>
          </a:p>
          <a:p>
            <a:endParaRPr lang="en-US" dirty="0"/>
          </a:p>
          <a:p>
            <a:endParaRPr lang="en-US" dirty="0"/>
          </a:p>
          <a:p>
            <a:r>
              <a:rPr lang="en-US" sz="2400" b="1" dirty="0"/>
              <a:t>Example2</a:t>
            </a:r>
            <a:r>
              <a:rPr lang="en-US" sz="2400" dirty="0"/>
              <a:t>: Verify Kirchhoff’s voltage law for the following circuits.</a:t>
            </a:r>
          </a:p>
          <a:p>
            <a:pPr marL="0" indent="0">
              <a:buNone/>
            </a:pPr>
            <a:r>
              <a:rPr lang="en-US" sz="1300" dirty="0"/>
              <a:t>                          </a:t>
            </a:r>
          </a:p>
          <a:p>
            <a:pPr marL="0" indent="0">
              <a:buNone/>
            </a:pPr>
            <a:r>
              <a:rPr lang="en-US" sz="1300" dirty="0"/>
              <a:t>                          </a:t>
            </a:r>
            <a:r>
              <a:rPr lang="en-US" sz="1300" b="1" dirty="0"/>
              <a:t>(a)</a:t>
            </a:r>
          </a:p>
        </p:txBody>
      </p:sp>
      <p:sp>
        <p:nvSpPr>
          <p:cNvPr id="4" name="Date Placeholder 3"/>
          <p:cNvSpPr>
            <a:spLocks noGrp="1"/>
          </p:cNvSpPr>
          <p:nvPr>
            <p:ph type="dt" sz="half" idx="10"/>
          </p:nvPr>
        </p:nvSpPr>
        <p:spPr/>
        <p:txBody>
          <a:bodyPr/>
          <a:lstStyle/>
          <a:p>
            <a:fld id="{2072BB1F-45C0-4445-9590-4D37D9BC8EE2}"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a:t>
            </a:fld>
            <a:endParaRPr lang="en-US" dirty="0"/>
          </a:p>
        </p:txBody>
      </p:sp>
      <p:pic>
        <p:nvPicPr>
          <p:cNvPr id="7" name="Picture 6"/>
          <p:cNvPicPr>
            <a:picLocks noChangeAspect="1"/>
          </p:cNvPicPr>
          <p:nvPr/>
        </p:nvPicPr>
        <p:blipFill>
          <a:blip r:embed="rId2"/>
          <a:stretch>
            <a:fillRect/>
          </a:stretch>
        </p:blipFill>
        <p:spPr>
          <a:xfrm>
            <a:off x="2362200" y="828368"/>
            <a:ext cx="2209800" cy="1600200"/>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5143500" y="914400"/>
                <a:ext cx="281940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𝐸</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oMath>
                </a14:m>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2</m:t>
                        </m:r>
                      </m:sub>
                    </m:sSub>
                  </m:oMath>
                </a14:m>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3</m:t>
                        </m:r>
                      </m:sub>
                    </m:sSub>
                  </m:oMath>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143500" y="914400"/>
                <a:ext cx="2819400" cy="369332"/>
              </a:xfrm>
              <a:prstGeom prst="rect">
                <a:avLst/>
              </a:prstGeom>
              <a:blipFill>
                <a:blip r:embed="rId3"/>
                <a:stretch>
                  <a:fillRect t="-8197" b="-24590"/>
                </a:stretch>
              </a:blipFill>
            </p:spPr>
            <p:txBody>
              <a:bodyPr/>
              <a:lstStyle/>
              <a:p>
                <a:r>
                  <a:rPr lang="en-US">
                    <a:noFill/>
                  </a:rPr>
                  <a:t> </a:t>
                </a:r>
              </a:p>
            </p:txBody>
          </p:sp>
        </mc:Fallback>
      </mc:AlternateContent>
      <p:sp>
        <p:nvSpPr>
          <p:cNvPr id="9" name="TextBox 8"/>
          <p:cNvSpPr txBox="1"/>
          <p:nvPr/>
        </p:nvSpPr>
        <p:spPr>
          <a:xfrm>
            <a:off x="4724400" y="1379597"/>
            <a:ext cx="4242619" cy="923330"/>
          </a:xfrm>
          <a:prstGeom prst="rect">
            <a:avLst/>
          </a:prstGeom>
          <a:noFill/>
        </p:spPr>
        <p:txBody>
          <a:bodyPr wrap="square" rtlCol="0">
            <a:spAutoFit/>
          </a:bodyPr>
          <a:lstStyle/>
          <a:p>
            <a:r>
              <a:rPr lang="en-US" dirty="0"/>
              <a:t>The voltage dropped across the resistors react in opposite direction compared to the direction of the source.</a:t>
            </a:r>
          </a:p>
        </p:txBody>
      </p:sp>
      <p:pic>
        <p:nvPicPr>
          <p:cNvPr id="10" name="Picture 9"/>
          <p:cNvPicPr>
            <a:picLocks noChangeAspect="1"/>
          </p:cNvPicPr>
          <p:nvPr/>
        </p:nvPicPr>
        <p:blipFill>
          <a:blip r:embed="rId4"/>
          <a:stretch>
            <a:fillRect/>
          </a:stretch>
        </p:blipFill>
        <p:spPr>
          <a:xfrm>
            <a:off x="1828800" y="3040857"/>
            <a:ext cx="2133600" cy="1988343"/>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228600" y="5186581"/>
                <a:ext cx="4198374" cy="1200329"/>
              </a:xfrm>
              <a:prstGeom prst="rect">
                <a:avLst/>
              </a:prstGeom>
              <a:noFill/>
            </p:spPr>
            <p:txBody>
              <a:bodyPr wrap="square" rtlCol="0">
                <a:spAutoFit/>
              </a:bodyPr>
              <a:lstStyle/>
              <a:p>
                <a:r>
                  <a:rPr lang="en-US" b="1" dirty="0">
                    <a:solidFill>
                      <a:srgbClr val="0070C0"/>
                    </a:solidFill>
                  </a:rPr>
                  <a:t>Answer (a): </a:t>
                </a:r>
                <a:r>
                  <a:rPr lang="en-US" b="1" dirty="0"/>
                  <a:t>If we follow the direction of the current, we write the loop equation as</a:t>
                </a:r>
              </a:p>
              <a:p>
                <a14:m>
                  <m:oMath xmlns:m="http://schemas.openxmlformats.org/officeDocument/2006/math">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𝑽</m:t>
                        </m:r>
                      </m:e>
                      <m:sub>
                        <m:r>
                          <a:rPr lang="en-US" b="1" i="1">
                            <a:solidFill>
                              <a:srgbClr val="C00000"/>
                            </a:solidFill>
                            <a:latin typeface="Cambria Math" panose="02040503050406030204" pitchFamily="18" charset="0"/>
                          </a:rPr>
                          <m:t>𝟏</m:t>
                        </m:r>
                      </m:sub>
                    </m:sSub>
                  </m:oMath>
                </a14:m>
                <a:r>
                  <a:rPr lang="en-US" b="1" dirty="0">
                    <a:solidFill>
                      <a:srgbClr val="C00000"/>
                    </a:solidFill>
                  </a:rPr>
                  <a:t>+</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𝑽</m:t>
                        </m:r>
                      </m:e>
                      <m:sub>
                        <m:r>
                          <a:rPr lang="en-US" b="1" i="1">
                            <a:solidFill>
                              <a:srgbClr val="C00000"/>
                            </a:solidFill>
                            <a:latin typeface="Cambria Math" panose="02040503050406030204" pitchFamily="18" charset="0"/>
                          </a:rPr>
                          <m:t>𝟐</m:t>
                        </m:r>
                      </m:sub>
                    </m:sSub>
                  </m:oMath>
                </a14:m>
                <a:r>
                  <a:rPr lang="en-US" b="1" dirty="0">
                    <a:solidFill>
                      <a:srgbClr val="C00000"/>
                    </a:solidFill>
                  </a:rPr>
                  <a:t>+</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𝑽</m:t>
                        </m:r>
                      </m:e>
                      <m:sub>
                        <m:r>
                          <a:rPr lang="en-US" b="1" i="1">
                            <a:solidFill>
                              <a:srgbClr val="C00000"/>
                            </a:solidFill>
                            <a:latin typeface="Cambria Math" panose="02040503050406030204" pitchFamily="18" charset="0"/>
                          </a:rPr>
                          <m:t>𝟑</m:t>
                        </m:r>
                      </m:sub>
                    </m:sSub>
                  </m:oMath>
                </a14:m>
                <a:r>
                  <a:rPr lang="en-US" b="1" dirty="0">
                    <a:solidFill>
                      <a:srgbClr val="C00000"/>
                    </a:solidFill>
                  </a:rPr>
                  <a:t>+</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𝑽</m:t>
                        </m:r>
                      </m:e>
                      <m:sub>
                        <m:r>
                          <a:rPr lang="en-US" b="1" i="1" smtClean="0">
                            <a:solidFill>
                              <a:srgbClr val="C00000"/>
                            </a:solidFill>
                            <a:latin typeface="Cambria Math" panose="02040503050406030204" pitchFamily="18" charset="0"/>
                          </a:rPr>
                          <m:t>𝟒</m:t>
                        </m:r>
                      </m:sub>
                    </m:sSub>
                  </m:oMath>
                </a14:m>
                <a:r>
                  <a:rPr lang="en-US" b="1" dirty="0">
                    <a:solidFill>
                      <a:srgbClr val="C00000"/>
                    </a:solidFill>
                  </a:rPr>
                  <a:t>+</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𝑽</m:t>
                        </m:r>
                      </m:e>
                      <m:sub>
                        <m:r>
                          <a:rPr lang="en-US" b="1" i="1" smtClean="0">
                            <a:solidFill>
                              <a:srgbClr val="C00000"/>
                            </a:solidFill>
                            <a:latin typeface="Cambria Math" panose="02040503050406030204" pitchFamily="18" charset="0"/>
                          </a:rPr>
                          <m:t>𝟓</m:t>
                        </m:r>
                      </m:sub>
                    </m:sSub>
                  </m:oMath>
                </a14:m>
                <a:endParaRPr lang="en-US" b="1" dirty="0">
                  <a:solidFill>
                    <a:srgbClr val="C00000"/>
                  </a:solidFill>
                </a:endParaRPr>
              </a:p>
              <a:p>
                <a14:m>
                  <m:oMath xmlns:m="http://schemas.openxmlformats.org/officeDocument/2006/math">
                    <m:r>
                      <a:rPr lang="en-US" b="1" i="1">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𝑽</m:t>
                        </m:r>
                      </m:e>
                      <m:sub>
                        <m:r>
                          <a:rPr lang="en-US" b="1" i="1">
                            <a:solidFill>
                              <a:srgbClr val="C00000"/>
                            </a:solidFill>
                            <a:latin typeface="Cambria Math" panose="02040503050406030204" pitchFamily="18" charset="0"/>
                          </a:rPr>
                          <m:t>𝟏</m:t>
                        </m:r>
                      </m:sub>
                    </m:sSub>
                  </m:oMath>
                </a14:m>
                <a:r>
                  <a:rPr lang="en-US" b="1" dirty="0">
                    <a:solidFill>
                      <a:srgbClr val="C00000"/>
                    </a:solidFill>
                  </a:rPr>
                  <a:t>-</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a:rPr>
                          <m:t>𝑽</m:t>
                        </m:r>
                      </m:e>
                      <m:sub>
                        <m:r>
                          <a:rPr lang="en-US" b="1" i="1">
                            <a:solidFill>
                              <a:srgbClr val="C00000"/>
                            </a:solidFill>
                            <a:latin typeface="Cambria Math" panose="02040503050406030204" pitchFamily="18" charset="0"/>
                          </a:rPr>
                          <m:t>𝟐</m:t>
                        </m:r>
                      </m:sub>
                    </m:sSub>
                  </m:oMath>
                </a14:m>
                <a:r>
                  <a:rPr lang="en-US" b="1" dirty="0">
                    <a:solidFill>
                      <a:srgbClr val="C00000"/>
                    </a:solidFill>
                  </a:rPr>
                  <a:t>-</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𝑽</m:t>
                        </m:r>
                      </m:e>
                      <m:sub>
                        <m:r>
                          <a:rPr lang="en-US" b="1" i="1">
                            <a:solidFill>
                              <a:srgbClr val="C00000"/>
                            </a:solidFill>
                            <a:latin typeface="Cambria Math" panose="02040503050406030204" pitchFamily="18" charset="0"/>
                          </a:rPr>
                          <m:t>𝟑</m:t>
                        </m:r>
                      </m:sub>
                    </m:sSub>
                  </m:oMath>
                </a14:m>
                <a:r>
                  <a:rPr lang="en-US" b="1" dirty="0">
                    <a:solidFill>
                      <a:srgbClr val="C00000"/>
                    </a:solidFill>
                  </a:rPr>
                  <a:t>-</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𝑽</m:t>
                        </m:r>
                      </m:e>
                      <m:sub>
                        <m:r>
                          <a:rPr lang="en-US" b="1" i="1">
                            <a:solidFill>
                              <a:srgbClr val="C00000"/>
                            </a:solidFill>
                            <a:latin typeface="Cambria Math" panose="02040503050406030204" pitchFamily="18" charset="0"/>
                          </a:rPr>
                          <m:t>𝟒</m:t>
                        </m:r>
                      </m:sub>
                    </m:sSub>
                  </m:oMath>
                </a14:m>
                <a:r>
                  <a:rPr lang="en-US" b="1" dirty="0">
                    <a:solidFill>
                      <a:srgbClr val="C00000"/>
                    </a:solidFill>
                  </a:rPr>
                  <a:t>-</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𝑽</m:t>
                        </m:r>
                      </m:e>
                      <m:sub>
                        <m:r>
                          <a:rPr lang="en-US" b="1" i="1" smtClean="0">
                            <a:solidFill>
                              <a:srgbClr val="C00000"/>
                            </a:solidFill>
                            <a:latin typeface="Cambria Math" panose="02040503050406030204" pitchFamily="18" charset="0"/>
                          </a:rPr>
                          <m:t>𝟓</m:t>
                        </m:r>
                      </m:sub>
                    </m:sSub>
                  </m:oMath>
                </a14:m>
                <a:r>
                  <a:rPr lang="en-US" b="1" dirty="0">
                    <a:solidFill>
                      <a:srgbClr val="C00000"/>
                    </a:solidFill>
                  </a:rPr>
                  <a:t>=15-2-3-6-3-1=0</a:t>
                </a:r>
              </a:p>
            </p:txBody>
          </p:sp>
        </mc:Choice>
        <mc:Fallback xmlns="">
          <p:sp>
            <p:nvSpPr>
              <p:cNvPr id="11" name="TextBox 10"/>
              <p:cNvSpPr txBox="1">
                <a:spLocks noRot="1" noChangeAspect="1" noMove="1" noResize="1" noEditPoints="1" noAdjustHandles="1" noChangeArrowheads="1" noChangeShapeType="1" noTextEdit="1"/>
              </p:cNvSpPr>
              <p:nvPr/>
            </p:nvSpPr>
            <p:spPr>
              <a:xfrm>
                <a:off x="228600" y="5186581"/>
                <a:ext cx="4198374" cy="1200329"/>
              </a:xfrm>
              <a:prstGeom prst="rect">
                <a:avLst/>
              </a:prstGeom>
              <a:blipFill>
                <a:blip r:embed="rId5"/>
                <a:stretch>
                  <a:fillRect l="-1308" t="-3046" r="-1017" b="-7107"/>
                </a:stretch>
              </a:blipFill>
            </p:spPr>
            <p:txBody>
              <a:bodyPr/>
              <a:lstStyle/>
              <a:p>
                <a:r>
                  <a:rPr lang="en-US">
                    <a:noFill/>
                  </a:rPr>
                  <a:t> </a:t>
                </a:r>
              </a:p>
            </p:txBody>
          </p:sp>
        </mc:Fallback>
      </mc:AlternateContent>
      <p:pic>
        <p:nvPicPr>
          <p:cNvPr id="12" name="Picture 11"/>
          <p:cNvPicPr>
            <a:picLocks noChangeAspect="1"/>
          </p:cNvPicPr>
          <p:nvPr/>
        </p:nvPicPr>
        <p:blipFill>
          <a:blip r:embed="rId6"/>
          <a:stretch>
            <a:fillRect/>
          </a:stretch>
        </p:blipFill>
        <p:spPr>
          <a:xfrm>
            <a:off x="5734050" y="3040857"/>
            <a:ext cx="2571750" cy="1988343"/>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4572001" y="5232123"/>
                <a:ext cx="4395018" cy="1077218"/>
              </a:xfrm>
              <a:prstGeom prst="rect">
                <a:avLst/>
              </a:prstGeom>
              <a:noFill/>
            </p:spPr>
            <p:txBody>
              <a:bodyPr wrap="square" rtlCol="0">
                <a:spAutoFit/>
              </a:bodyPr>
              <a:lstStyle/>
              <a:p>
                <a:r>
                  <a:rPr lang="en-US" sz="1600" b="1" dirty="0">
                    <a:solidFill>
                      <a:srgbClr val="0070C0"/>
                    </a:solidFill>
                  </a:rPr>
                  <a:t>Answer (b): </a:t>
                </a:r>
                <a:r>
                  <a:rPr lang="en-US" sz="1600" b="1" dirty="0"/>
                  <a:t>If we follow the direction of the current, we write the loop equation as</a:t>
                </a:r>
              </a:p>
              <a:p>
                <a14:m>
                  <m:oMath xmlns:m="http://schemas.openxmlformats.org/officeDocument/2006/math">
                    <m:sSub>
                      <m:sSubPr>
                        <m:ctrlPr>
                          <a:rPr lang="en-US" sz="1600" b="1" i="1">
                            <a:solidFill>
                              <a:srgbClr val="C00000"/>
                            </a:solidFill>
                            <a:latin typeface="Cambria Math" panose="02040503050406030204" pitchFamily="18" charset="0"/>
                          </a:rPr>
                        </m:ctrlPr>
                      </m:sSubPr>
                      <m:e>
                        <m:r>
                          <a:rPr lang="en-US" sz="1600" b="1" i="1" smtClean="0">
                            <a:solidFill>
                              <a:srgbClr val="C00000"/>
                            </a:solidFill>
                            <a:latin typeface="Cambria Math" panose="02040503050406030204" pitchFamily="18" charset="0"/>
                          </a:rPr>
                          <m:t>𝑬</m:t>
                        </m:r>
                      </m:e>
                      <m:sub>
                        <m:r>
                          <a:rPr lang="en-US" sz="1600" b="1" i="1">
                            <a:solidFill>
                              <a:srgbClr val="C00000"/>
                            </a:solidFill>
                            <a:latin typeface="Cambria Math" panose="02040503050406030204" pitchFamily="18" charset="0"/>
                          </a:rPr>
                          <m:t>𝟏</m:t>
                        </m:r>
                      </m:sub>
                    </m:sSub>
                    <m:r>
                      <a:rPr lang="en-US" sz="1600" b="1" i="1" smtClean="0">
                        <a:solidFill>
                          <a:srgbClr val="C00000"/>
                        </a:solidFill>
                        <a:latin typeface="Cambria Math" panose="02040503050406030204" pitchFamily="18" charset="0"/>
                      </a:rPr>
                      <m:t>+</m:t>
                    </m:r>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𝑬</m:t>
                        </m:r>
                      </m:e>
                      <m:sub>
                        <m:r>
                          <a:rPr lang="en-US" sz="1600" b="1" i="1" smtClean="0">
                            <a:solidFill>
                              <a:srgbClr val="C00000"/>
                            </a:solidFill>
                            <a:latin typeface="Cambria Math" panose="02040503050406030204" pitchFamily="18" charset="0"/>
                          </a:rPr>
                          <m:t>𝟐</m:t>
                        </m:r>
                      </m:sub>
                    </m:sSub>
                    <m:r>
                      <a:rPr lang="en-US" sz="1600" b="1" i="1">
                        <a:solidFill>
                          <a:srgbClr val="C00000"/>
                        </a:solidFill>
                        <a:latin typeface="Cambria Math" panose="02040503050406030204" pitchFamily="18" charset="0"/>
                      </a:rPr>
                      <m:t>+</m:t>
                    </m:r>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𝑬</m:t>
                        </m:r>
                      </m:e>
                      <m:sub>
                        <m:r>
                          <a:rPr lang="en-US" sz="1600" b="1" i="1" smtClean="0">
                            <a:solidFill>
                              <a:srgbClr val="C00000"/>
                            </a:solidFill>
                            <a:latin typeface="Cambria Math" panose="02040503050406030204" pitchFamily="18" charset="0"/>
                          </a:rPr>
                          <m:t>𝟑</m:t>
                        </m:r>
                      </m:sub>
                    </m:sSub>
                    <m:r>
                      <a:rPr lang="en-US" sz="1600" b="1" i="1">
                        <a:solidFill>
                          <a:srgbClr val="C00000"/>
                        </a:solidFill>
                        <a:latin typeface="Cambria Math" panose="02040503050406030204" pitchFamily="18" charset="0"/>
                      </a:rPr>
                      <m:t>=</m:t>
                    </m:r>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𝑽</m:t>
                        </m:r>
                      </m:e>
                      <m:sub>
                        <m:r>
                          <a:rPr lang="en-US" sz="1600" b="1" i="1">
                            <a:solidFill>
                              <a:srgbClr val="C00000"/>
                            </a:solidFill>
                            <a:latin typeface="Cambria Math" panose="02040503050406030204" pitchFamily="18" charset="0"/>
                          </a:rPr>
                          <m:t>𝟏</m:t>
                        </m:r>
                      </m:sub>
                    </m:sSub>
                  </m:oMath>
                </a14:m>
                <a:r>
                  <a:rPr lang="en-US" sz="1600" b="1" dirty="0">
                    <a:solidFill>
                      <a:srgbClr val="C00000"/>
                    </a:solidFill>
                  </a:rPr>
                  <a:t>+</a:t>
                </a:r>
                <a14:m>
                  <m:oMath xmlns:m="http://schemas.openxmlformats.org/officeDocument/2006/math">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𝑽</m:t>
                        </m:r>
                      </m:e>
                      <m:sub>
                        <m:r>
                          <a:rPr lang="en-US" sz="1600" b="1" i="1">
                            <a:solidFill>
                              <a:srgbClr val="C00000"/>
                            </a:solidFill>
                            <a:latin typeface="Cambria Math" panose="02040503050406030204" pitchFamily="18" charset="0"/>
                          </a:rPr>
                          <m:t>𝟐</m:t>
                        </m:r>
                      </m:sub>
                    </m:sSub>
                  </m:oMath>
                </a14:m>
                <a:r>
                  <a:rPr lang="en-US" sz="1600" b="1" dirty="0">
                    <a:solidFill>
                      <a:srgbClr val="C00000"/>
                    </a:solidFill>
                  </a:rPr>
                  <a:t>+</a:t>
                </a:r>
                <a14:m>
                  <m:oMath xmlns:m="http://schemas.openxmlformats.org/officeDocument/2006/math">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𝑽</m:t>
                        </m:r>
                      </m:e>
                      <m:sub>
                        <m:r>
                          <a:rPr lang="en-US" sz="1600" b="1" i="1">
                            <a:solidFill>
                              <a:srgbClr val="C00000"/>
                            </a:solidFill>
                            <a:latin typeface="Cambria Math" panose="02040503050406030204" pitchFamily="18" charset="0"/>
                          </a:rPr>
                          <m:t>𝟑</m:t>
                        </m:r>
                      </m:sub>
                    </m:sSub>
                  </m:oMath>
                </a14:m>
                <a:endParaRPr lang="en-US" sz="1600" b="1" dirty="0">
                  <a:solidFill>
                    <a:srgbClr val="C00000"/>
                  </a:solidFill>
                </a:endParaRPr>
              </a:p>
              <a:p>
                <a14:m>
                  <m:oMath xmlns:m="http://schemas.openxmlformats.org/officeDocument/2006/math">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𝑬</m:t>
                        </m:r>
                      </m:e>
                      <m:sub>
                        <m:r>
                          <a:rPr lang="en-US" sz="1600" b="1" i="1">
                            <a:solidFill>
                              <a:srgbClr val="C00000"/>
                            </a:solidFill>
                            <a:latin typeface="Cambria Math" panose="02040503050406030204" pitchFamily="18" charset="0"/>
                          </a:rPr>
                          <m:t>𝟏</m:t>
                        </m:r>
                      </m:sub>
                    </m:sSub>
                    <m:r>
                      <a:rPr lang="en-US" sz="1600" b="1" i="1">
                        <a:solidFill>
                          <a:srgbClr val="C00000"/>
                        </a:solidFill>
                        <a:latin typeface="Cambria Math" panose="02040503050406030204" pitchFamily="18" charset="0"/>
                      </a:rPr>
                      <m:t>+</m:t>
                    </m:r>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𝑬</m:t>
                        </m:r>
                      </m:e>
                      <m:sub>
                        <m:r>
                          <a:rPr lang="en-US" sz="1600" b="1" i="1">
                            <a:solidFill>
                              <a:srgbClr val="C00000"/>
                            </a:solidFill>
                            <a:latin typeface="Cambria Math" panose="02040503050406030204" pitchFamily="18" charset="0"/>
                          </a:rPr>
                          <m:t>𝟐</m:t>
                        </m:r>
                      </m:sub>
                    </m:sSub>
                    <m:r>
                      <a:rPr lang="en-US" sz="1600" b="1" i="1">
                        <a:solidFill>
                          <a:srgbClr val="C00000"/>
                        </a:solidFill>
                        <a:latin typeface="Cambria Math" panose="02040503050406030204" pitchFamily="18" charset="0"/>
                      </a:rPr>
                      <m:t>+</m:t>
                    </m:r>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𝑬</m:t>
                        </m:r>
                      </m:e>
                      <m:sub>
                        <m:r>
                          <a:rPr lang="en-US" sz="1600" b="1" i="1" smtClean="0">
                            <a:solidFill>
                              <a:srgbClr val="C00000"/>
                            </a:solidFill>
                            <a:latin typeface="Cambria Math" panose="02040503050406030204" pitchFamily="18" charset="0"/>
                          </a:rPr>
                          <m:t>𝟑</m:t>
                        </m:r>
                      </m:sub>
                    </m:sSub>
                    <m:r>
                      <a:rPr lang="en-US" sz="1600" b="1" i="1" smtClean="0">
                        <a:solidFill>
                          <a:srgbClr val="C00000"/>
                        </a:solidFill>
                        <a:latin typeface="Cambria Math" panose="02040503050406030204" pitchFamily="18" charset="0"/>
                      </a:rPr>
                      <m:t>−</m:t>
                    </m:r>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𝑽</m:t>
                        </m:r>
                      </m:e>
                      <m:sub>
                        <m:r>
                          <a:rPr lang="en-US" sz="1600" b="1" i="1">
                            <a:solidFill>
                              <a:srgbClr val="C00000"/>
                            </a:solidFill>
                            <a:latin typeface="Cambria Math" panose="02040503050406030204" pitchFamily="18" charset="0"/>
                          </a:rPr>
                          <m:t>𝟏</m:t>
                        </m:r>
                      </m:sub>
                    </m:sSub>
                  </m:oMath>
                </a14:m>
                <a:r>
                  <a:rPr lang="en-US" sz="1600" b="1" dirty="0">
                    <a:solidFill>
                      <a:srgbClr val="C00000"/>
                    </a:solidFill>
                  </a:rPr>
                  <a:t>-</a:t>
                </a:r>
                <a14:m>
                  <m:oMath xmlns:m="http://schemas.openxmlformats.org/officeDocument/2006/math">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𝑽</m:t>
                        </m:r>
                      </m:e>
                      <m:sub>
                        <m:r>
                          <a:rPr lang="en-US" sz="1600" b="1" i="1">
                            <a:solidFill>
                              <a:srgbClr val="C00000"/>
                            </a:solidFill>
                            <a:latin typeface="Cambria Math" panose="02040503050406030204" pitchFamily="18" charset="0"/>
                          </a:rPr>
                          <m:t>𝟐</m:t>
                        </m:r>
                      </m:sub>
                    </m:sSub>
                  </m:oMath>
                </a14:m>
                <a:r>
                  <a:rPr lang="en-US" sz="1600" b="1" dirty="0">
                    <a:solidFill>
                      <a:srgbClr val="C00000"/>
                    </a:solidFill>
                  </a:rPr>
                  <a:t>-</a:t>
                </a:r>
                <a14:m>
                  <m:oMath xmlns:m="http://schemas.openxmlformats.org/officeDocument/2006/math">
                    <m:sSub>
                      <m:sSubPr>
                        <m:ctrlPr>
                          <a:rPr lang="en-US"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𝑽</m:t>
                        </m:r>
                      </m:e>
                      <m:sub>
                        <m:r>
                          <a:rPr lang="en-US" sz="1600" b="1" i="1">
                            <a:solidFill>
                              <a:srgbClr val="C00000"/>
                            </a:solidFill>
                            <a:latin typeface="Cambria Math" panose="02040503050406030204" pitchFamily="18" charset="0"/>
                          </a:rPr>
                          <m:t>𝟑</m:t>
                        </m:r>
                      </m:sub>
                    </m:sSub>
                  </m:oMath>
                </a14:m>
                <a:r>
                  <a:rPr lang="en-US" sz="1600" b="1" dirty="0">
                    <a:solidFill>
                      <a:srgbClr val="C00000"/>
                    </a:solidFill>
                  </a:rPr>
                  <a:t>=2+4+3-4-3.5-1.5=0</a:t>
                </a:r>
              </a:p>
            </p:txBody>
          </p:sp>
        </mc:Choice>
        <mc:Fallback xmlns="">
          <p:sp>
            <p:nvSpPr>
              <p:cNvPr id="13" name="TextBox 12"/>
              <p:cNvSpPr txBox="1">
                <a:spLocks noRot="1" noChangeAspect="1" noMove="1" noResize="1" noEditPoints="1" noAdjustHandles="1" noChangeArrowheads="1" noChangeShapeType="1" noTextEdit="1"/>
              </p:cNvSpPr>
              <p:nvPr/>
            </p:nvSpPr>
            <p:spPr>
              <a:xfrm>
                <a:off x="4572001" y="5232123"/>
                <a:ext cx="4395018" cy="1077218"/>
              </a:xfrm>
              <a:prstGeom prst="rect">
                <a:avLst/>
              </a:prstGeom>
              <a:blipFill>
                <a:blip r:embed="rId7"/>
                <a:stretch>
                  <a:fillRect l="-693" t="-1695" b="-6215"/>
                </a:stretch>
              </a:blipFill>
            </p:spPr>
            <p:txBody>
              <a:bodyPr/>
              <a:lstStyle/>
              <a:p>
                <a:r>
                  <a:rPr lang="en-US">
                    <a:noFill/>
                  </a:rPr>
                  <a:t> </a:t>
                </a:r>
              </a:p>
            </p:txBody>
          </p:sp>
        </mc:Fallback>
      </mc:AlternateContent>
    </p:spTree>
    <p:extLst>
      <p:ext uri="{BB962C8B-B14F-4D97-AF65-F5344CB8AC3E}">
        <p14:creationId xmlns:p14="http://schemas.microsoft.com/office/powerpoint/2010/main" val="329492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ppt_x"/>
                                          </p:val>
                                        </p:tav>
                                        <p:tav tm="100000">
                                          <p:val>
                                            <p:strVal val="#ppt_x"/>
                                          </p:val>
                                        </p:tav>
                                      </p:tavLst>
                                    </p:anim>
                                    <p:anim calcmode="lin" valueType="num">
                                      <p:cBhvr additive="base">
                                        <p:cTn id="1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685800"/>
                <a:ext cx="8458200" cy="5440363"/>
              </a:xfrm>
            </p:spPr>
            <p:txBody>
              <a:bodyPr/>
              <a:lstStyle/>
              <a:p>
                <a:r>
                  <a:rPr lang="en-US" dirty="0"/>
                  <a:t>Resistors in Series</a:t>
                </a:r>
              </a:p>
              <a:p>
                <a:pPr marL="0" indent="0">
                  <a:buNone/>
                </a:pPr>
                <a:r>
                  <a:rPr lang="en-US" sz="2400" dirty="0"/>
                  <a:t>Since the circuit is a closed loop, </a:t>
                </a:r>
                <a:r>
                  <a:rPr lang="en-US" sz="2400" b="1" i="1" dirty="0">
                    <a:solidFill>
                      <a:srgbClr val="0070C0"/>
                    </a:solidFill>
                  </a:rPr>
                  <a:t>the voltage source will cause a current I in the circuit</a:t>
                </a:r>
                <a:r>
                  <a:rPr lang="en-US" sz="2400" dirty="0"/>
                  <a:t>. This </a:t>
                </a:r>
                <a:r>
                  <a:rPr lang="en-US" sz="2400" b="1" u="sng" dirty="0"/>
                  <a:t>current in turn produces a voltage drop </a:t>
                </a:r>
                <a:r>
                  <a:rPr lang="en-US" sz="2400" dirty="0"/>
                  <a:t>across each resistor, where</a:t>
                </a:r>
              </a:p>
              <a:p>
                <a:pPr lvl="2"/>
                <a14:m>
                  <m:oMath xmlns:m="http://schemas.openxmlformats.org/officeDocument/2006/math">
                    <m:sSub>
                      <m:sSubPr>
                        <m:ctrlPr>
                          <a:rPr lang="en-US" b="1" i="1">
                            <a:solidFill>
                              <a:srgbClr val="C00000"/>
                            </a:solidFill>
                            <a:latin typeface="Cambria Math" panose="02040503050406030204" pitchFamily="18" charset="0"/>
                          </a:rPr>
                        </m:ctrlPr>
                      </m:sSubPr>
                      <m:e>
                        <m:r>
                          <a:rPr lang="en-US" b="1" i="1" smtClean="0">
                            <a:solidFill>
                              <a:srgbClr val="C00000"/>
                            </a:solidFill>
                            <a:latin typeface="Cambria Math" panose="02040503050406030204" pitchFamily="18" charset="0"/>
                          </a:rPr>
                          <m:t>𝑽</m:t>
                        </m:r>
                      </m:e>
                      <m:sub>
                        <m:r>
                          <a:rPr lang="en-US" b="1" i="1" smtClean="0">
                            <a:solidFill>
                              <a:srgbClr val="C00000"/>
                            </a:solidFill>
                            <a:latin typeface="Cambria Math" panose="02040503050406030204" pitchFamily="18" charset="0"/>
                          </a:rPr>
                          <m:t>𝒙</m:t>
                        </m:r>
                      </m:sub>
                    </m:sSub>
                    <m:r>
                      <a:rPr lang="en-US" b="1" i="1">
                        <a:solidFill>
                          <a:srgbClr val="C00000"/>
                        </a:solidFill>
                        <a:latin typeface="Cambria Math" panose="02040503050406030204" pitchFamily="18" charset="0"/>
                      </a:rPr>
                      <m:t>=</m:t>
                    </m:r>
                    <m:sSub>
                      <m:sSubPr>
                        <m:ctrlPr>
                          <a:rPr lang="en-US" b="1" i="1">
                            <a:solidFill>
                              <a:srgbClr val="C00000"/>
                            </a:solidFill>
                            <a:latin typeface="Cambria Math" panose="02040503050406030204" pitchFamily="18" charset="0"/>
                          </a:rPr>
                        </m:ctrlPr>
                      </m:sSubPr>
                      <m:e>
                        <m:r>
                          <a:rPr lang="en-US" b="1" i="1" smtClean="0">
                            <a:solidFill>
                              <a:srgbClr val="C00000"/>
                            </a:solidFill>
                            <a:latin typeface="Cambria Math" panose="02040503050406030204" pitchFamily="18" charset="0"/>
                          </a:rPr>
                          <m:t>𝑰𝑹</m:t>
                        </m:r>
                      </m:e>
                      <m:sub>
                        <m:r>
                          <a:rPr lang="en-US" b="1" i="1" smtClean="0">
                            <a:solidFill>
                              <a:srgbClr val="C00000"/>
                            </a:solidFill>
                            <a:latin typeface="Cambria Math" panose="02040503050406030204" pitchFamily="18" charset="0"/>
                          </a:rPr>
                          <m:t>𝒙</m:t>
                        </m:r>
                      </m:sub>
                    </m:sSub>
                  </m:oMath>
                </a14:m>
                <a:endParaRPr lang="en-US" dirty="0"/>
              </a:p>
              <a:p>
                <a:pPr marL="0" indent="0">
                  <a:buNone/>
                </a:pPr>
                <a:r>
                  <a:rPr lang="en-US" sz="2400" dirty="0"/>
                  <a:t>Applying Kirchhoff’s voltage </a:t>
                </a:r>
              </a:p>
              <a:p>
                <a:pPr marL="0" indent="0">
                  <a:buNone/>
                </a:pPr>
                <a:r>
                  <a:rPr lang="en-US" sz="2400" dirty="0"/>
                  <a:t>law to the closed loop gives:</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685800"/>
                <a:ext cx="8458200" cy="5440363"/>
              </a:xfrm>
              <a:blipFill rotWithShape="1">
                <a:blip r:embed="rId2"/>
                <a:stretch>
                  <a:fillRect l="-1658" t="-145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FCA1509A-6500-4E0B-B3DA-FDFD0CE8C40D}"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6</a:t>
            </a:fld>
            <a:endParaRPr lang="en-US"/>
          </a:p>
        </p:txBody>
      </p:sp>
      <p:pic>
        <p:nvPicPr>
          <p:cNvPr id="7" name="Picture 6"/>
          <p:cNvPicPr>
            <a:picLocks noChangeAspect="1"/>
          </p:cNvPicPr>
          <p:nvPr/>
        </p:nvPicPr>
        <p:blipFill>
          <a:blip r:embed="rId3"/>
          <a:stretch>
            <a:fillRect/>
          </a:stretch>
        </p:blipFill>
        <p:spPr>
          <a:xfrm>
            <a:off x="4425745" y="2590800"/>
            <a:ext cx="3159513" cy="1143000"/>
          </a:xfrm>
          <a:prstGeom prst="rect">
            <a:avLst/>
          </a:prstGeom>
        </p:spPr>
      </p:pic>
      <p:pic>
        <p:nvPicPr>
          <p:cNvPr id="8" name="Picture 7"/>
          <p:cNvPicPr>
            <a:picLocks noChangeAspect="1"/>
          </p:cNvPicPr>
          <p:nvPr/>
        </p:nvPicPr>
        <p:blipFill>
          <a:blip r:embed="rId4"/>
          <a:stretch>
            <a:fillRect/>
          </a:stretch>
        </p:blipFill>
        <p:spPr>
          <a:xfrm>
            <a:off x="509587" y="3886199"/>
            <a:ext cx="2028825" cy="2239963"/>
          </a:xfrm>
          <a:prstGeom prst="rect">
            <a:avLst/>
          </a:prstGeom>
        </p:spPr>
      </p:pic>
      <p:sp>
        <p:nvSpPr>
          <p:cNvPr id="9" name="TextBox 8"/>
          <p:cNvSpPr txBox="1"/>
          <p:nvPr/>
        </p:nvSpPr>
        <p:spPr>
          <a:xfrm>
            <a:off x="2622755" y="4038600"/>
            <a:ext cx="6445045" cy="646331"/>
          </a:xfrm>
          <a:prstGeom prst="rect">
            <a:avLst/>
          </a:prstGeom>
          <a:noFill/>
        </p:spPr>
        <p:txBody>
          <a:bodyPr wrap="square" rtlCol="0">
            <a:spAutoFit/>
          </a:bodyPr>
          <a:lstStyle/>
          <a:p>
            <a:r>
              <a:rPr lang="en-US" dirty="0"/>
              <a:t>If we were to replace all the resistors of fig. (a) with a total equivalent resistance, RT, then the circuit would appear as in fig.(b)</a:t>
            </a:r>
          </a:p>
        </p:txBody>
      </p:sp>
      <p:pic>
        <p:nvPicPr>
          <p:cNvPr id="10" name="Picture 9"/>
          <p:cNvPicPr>
            <a:picLocks noChangeAspect="1"/>
          </p:cNvPicPr>
          <p:nvPr/>
        </p:nvPicPr>
        <p:blipFill>
          <a:blip r:embed="rId5"/>
          <a:stretch>
            <a:fillRect/>
          </a:stretch>
        </p:blipFill>
        <p:spPr>
          <a:xfrm>
            <a:off x="2819398" y="4652975"/>
            <a:ext cx="1908719" cy="1504937"/>
          </a:xfrm>
          <a:prstGeom prst="rect">
            <a:avLst/>
          </a:prstGeom>
        </p:spPr>
      </p:pic>
      <p:sp>
        <p:nvSpPr>
          <p:cNvPr id="11" name="TextBox 10"/>
          <p:cNvSpPr txBox="1"/>
          <p:nvPr/>
        </p:nvSpPr>
        <p:spPr>
          <a:xfrm>
            <a:off x="3400425" y="6107668"/>
            <a:ext cx="609600" cy="369332"/>
          </a:xfrm>
          <a:prstGeom prst="rect">
            <a:avLst/>
          </a:prstGeom>
          <a:noFill/>
        </p:spPr>
        <p:txBody>
          <a:bodyPr wrap="square" rtlCol="0">
            <a:spAutoFit/>
          </a:bodyPr>
          <a:lstStyle/>
          <a:p>
            <a:r>
              <a:rPr lang="en-US" dirty="0"/>
              <a:t>(b)</a:t>
            </a:r>
          </a:p>
        </p:txBody>
      </p:sp>
      <p:pic>
        <p:nvPicPr>
          <p:cNvPr id="12" name="Picture 11"/>
          <p:cNvPicPr>
            <a:picLocks noChangeAspect="1"/>
          </p:cNvPicPr>
          <p:nvPr/>
        </p:nvPicPr>
        <p:blipFill>
          <a:blip r:embed="rId6"/>
          <a:stretch>
            <a:fillRect/>
          </a:stretch>
        </p:blipFill>
        <p:spPr>
          <a:xfrm>
            <a:off x="1371600" y="6059841"/>
            <a:ext cx="648900" cy="493819"/>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5334000" y="4932324"/>
                <a:ext cx="3053978" cy="646331"/>
              </a:xfrm>
              <a:prstGeom prst="rect">
                <a:avLst/>
              </a:prstGeom>
              <a:noFill/>
            </p:spPr>
            <p:txBody>
              <a:bodyPr wrap="none" rtlCol="0">
                <a:spAutoFit/>
              </a:bodyPr>
              <a:lstStyle/>
              <a:p>
                <a:r>
                  <a:rPr lang="en-US" dirty="0"/>
                  <a:t>Hence in series network,</a:t>
                </a:r>
              </a:p>
              <a:p>
                <a:r>
                  <a:rPr lang="en-US" dirty="0"/>
                  <a:t> </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smtClean="0">
                            <a:solidFill>
                              <a:srgbClr val="C00000"/>
                            </a:solidFill>
                            <a:latin typeface="Cambria Math" panose="02040503050406030204" pitchFamily="18" charset="0"/>
                          </a:rPr>
                          <m:t>𝑹</m:t>
                        </m:r>
                      </m:e>
                      <m:sub>
                        <m:r>
                          <a:rPr lang="en-US" b="1" i="1" smtClean="0">
                            <a:solidFill>
                              <a:srgbClr val="C00000"/>
                            </a:solidFill>
                            <a:latin typeface="Cambria Math" panose="02040503050406030204" pitchFamily="18" charset="0"/>
                          </a:rPr>
                          <m:t>𝑻</m:t>
                        </m:r>
                      </m:sub>
                    </m:sSub>
                    <m:r>
                      <a:rPr lang="en-US" b="1" i="1">
                        <a:solidFill>
                          <a:srgbClr val="C00000"/>
                        </a:solidFill>
                        <a:latin typeface="Cambria Math" panose="02040503050406030204" pitchFamily="18" charset="0"/>
                      </a:rPr>
                      <m:t>=</m:t>
                    </m:r>
                    <m:nary>
                      <m:naryPr>
                        <m:chr m:val="∑"/>
                        <m:subHide m:val="on"/>
                        <m:supHide m:val="on"/>
                        <m:ctrlPr>
                          <a:rPr lang="en-US" b="1" i="1" smtClean="0">
                            <a:solidFill>
                              <a:srgbClr val="C00000"/>
                            </a:solidFill>
                            <a:latin typeface="Cambria Math" panose="02040503050406030204" pitchFamily="18" charset="0"/>
                          </a:rPr>
                        </m:ctrlPr>
                      </m:naryPr>
                      <m:sub/>
                      <m:sup/>
                      <m:e>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𝑹</m:t>
                            </m:r>
                          </m:e>
                          <m:sub>
                            <m:r>
                              <a:rPr lang="en-US" b="1" i="1" smtClean="0">
                                <a:solidFill>
                                  <a:srgbClr val="C00000"/>
                                </a:solidFill>
                                <a:latin typeface="Cambria Math" panose="02040503050406030204" pitchFamily="18" charset="0"/>
                              </a:rPr>
                              <m:t>𝒊</m:t>
                            </m:r>
                          </m:sub>
                        </m:sSub>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𝒊</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𝟐</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𝒏</m:t>
                        </m:r>
                      </m:e>
                    </m:nary>
                  </m:oMath>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5334000" y="4932324"/>
                <a:ext cx="3053978" cy="646331"/>
              </a:xfrm>
              <a:prstGeom prst="rect">
                <a:avLst/>
              </a:prstGeom>
              <a:blipFill>
                <a:blip r:embed="rId7"/>
                <a:stretch>
                  <a:fillRect l="-1597" t="-26415" b="-105660"/>
                </a:stretch>
              </a:blipFill>
            </p:spPr>
            <p:txBody>
              <a:bodyPr/>
              <a:lstStyle/>
              <a:p>
                <a:r>
                  <a:rPr lang="en-US">
                    <a:noFill/>
                  </a:rPr>
                  <a:t> </a:t>
                </a:r>
              </a:p>
            </p:txBody>
          </p:sp>
        </mc:Fallback>
      </mc:AlternateContent>
    </p:spTree>
    <p:extLst>
      <p:ext uri="{BB962C8B-B14F-4D97-AF65-F5344CB8AC3E}">
        <p14:creationId xmlns:p14="http://schemas.microsoft.com/office/powerpoint/2010/main" val="1056244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762000"/>
                <a:ext cx="8229600" cy="5364163"/>
              </a:xfrm>
            </p:spPr>
            <p:txBody>
              <a:bodyPr>
                <a:normAutofit/>
              </a:bodyPr>
              <a:lstStyle/>
              <a:p>
                <a:r>
                  <a:rPr lang="en-US" sz="2500" dirty="0"/>
                  <a:t>Examples: Determine the total resistance for each of the following  networks</a:t>
                </a:r>
              </a:p>
              <a:p>
                <a:endParaRPr lang="en-US" sz="2500" dirty="0"/>
              </a:p>
              <a:p>
                <a:endParaRPr lang="en-US" sz="2500" dirty="0"/>
              </a:p>
              <a:p>
                <a:endParaRPr lang="en-US" sz="2500" dirty="0"/>
              </a:p>
              <a:p>
                <a:endParaRPr lang="en-US" sz="2500" dirty="0"/>
              </a:p>
              <a:p>
                <a:endParaRPr lang="en-US" sz="2500" dirty="0"/>
              </a:p>
              <a:p>
                <a:endParaRPr lang="en-US" sz="2500" dirty="0"/>
              </a:p>
              <a:p>
                <a:r>
                  <a:rPr lang="en-US" sz="2400" b="1" dirty="0">
                    <a:solidFill>
                      <a:srgbClr val="C00000"/>
                    </a:solidFill>
                  </a:rPr>
                  <a:t>The power dissipated </a:t>
                </a:r>
                <a:r>
                  <a:rPr lang="en-US" sz="2400" dirty="0"/>
                  <a:t>by each resistor is:</a:t>
                </a:r>
              </a:p>
              <a:p>
                <a:r>
                  <a:rPr lang="en-US" sz="2400" dirty="0"/>
                  <a:t>Hence, </a:t>
                </a:r>
                <a14:m>
                  <m:oMath xmlns:m="http://schemas.openxmlformats.org/officeDocument/2006/math">
                    <m:sSub>
                      <m:sSubPr>
                        <m:ctrlPr>
                          <a:rPr lang="en-US" sz="2400" b="1" i="1">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𝑷</m:t>
                        </m:r>
                      </m:e>
                      <m:sub>
                        <m:r>
                          <a:rPr lang="en-US" sz="2400" b="1" i="1" smtClean="0">
                            <a:solidFill>
                              <a:srgbClr val="C00000"/>
                            </a:solidFill>
                            <a:latin typeface="Cambria Math" panose="02040503050406030204" pitchFamily="18" charset="0"/>
                          </a:rPr>
                          <m:t>𝑻</m:t>
                        </m:r>
                      </m:sub>
                    </m:sSub>
                    <m:r>
                      <a:rPr lang="en-US" sz="2400" b="1" i="1">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𝑬𝑰</m:t>
                    </m:r>
                  </m:oMath>
                </a14:m>
                <a:r>
                  <a:rPr lang="en-US" sz="2400" dirty="0"/>
                  <a:t>, with </a:t>
                </a:r>
                <a:r>
                  <a:rPr lang="en-US" sz="2400" b="1" i="1" dirty="0">
                    <a:solidFill>
                      <a:srgbClr val="C00000"/>
                    </a:solidFill>
                  </a:rPr>
                  <a:t>E=V1+V2+…+</a:t>
                </a:r>
                <a:r>
                  <a:rPr lang="en-US" sz="2400" b="1" i="1" dirty="0" err="1">
                    <a:solidFill>
                      <a:srgbClr val="C00000"/>
                    </a:solidFill>
                  </a:rPr>
                  <a:t>Vn</a:t>
                </a:r>
                <a:endParaRPr lang="en-US" sz="2400" b="1" i="1" dirty="0">
                  <a:solidFill>
                    <a:srgbClr val="C00000"/>
                  </a:solidFill>
                </a:endParaRPr>
              </a:p>
              <a:p>
                <a:r>
                  <a:rPr lang="en-US" sz="2400" b="1" i="1" dirty="0">
                    <a:solidFill>
                      <a:srgbClr val="C00000"/>
                    </a:solidFill>
                  </a:rPr>
                  <a:t>              PT=P1+P2+…..+</a:t>
                </a:r>
                <a:r>
                  <a:rPr lang="en-US" sz="2400" b="1" i="1" dirty="0" err="1">
                    <a:solidFill>
                      <a:srgbClr val="C00000"/>
                    </a:solidFill>
                  </a:rPr>
                  <a:t>Pn</a:t>
                </a:r>
                <a:endParaRPr lang="en-US" sz="2400" b="1" i="1" dirty="0">
                  <a:solidFill>
                    <a:srgbClr val="C00000"/>
                  </a:solidFill>
                </a:endParaRPr>
              </a:p>
              <a:p>
                <a:pPr marL="0" indent="0">
                  <a:buNone/>
                </a:pPr>
                <a:endParaRPr lang="en-US" sz="2400" b="1" i="1" dirty="0">
                  <a:solidFill>
                    <a:srgbClr val="C00000"/>
                  </a:solidFill>
                </a:endParaRPr>
              </a:p>
              <a:p>
                <a:pPr marL="0"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762000"/>
                <a:ext cx="8229600" cy="5364163"/>
              </a:xfrm>
              <a:blipFill>
                <a:blip r:embed="rId2"/>
                <a:stretch>
                  <a:fillRect l="-1037" t="-795"/>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263207A7-89FF-4D44-A38B-E978B590A95C}"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7</a:t>
            </a:fld>
            <a:endParaRPr lang="en-US" dirty="0"/>
          </a:p>
        </p:txBody>
      </p:sp>
      <p:pic>
        <p:nvPicPr>
          <p:cNvPr id="7" name="Picture 6"/>
          <p:cNvPicPr>
            <a:picLocks noChangeAspect="1"/>
          </p:cNvPicPr>
          <p:nvPr/>
        </p:nvPicPr>
        <p:blipFill>
          <a:blip r:embed="rId3"/>
          <a:stretch>
            <a:fillRect/>
          </a:stretch>
        </p:blipFill>
        <p:spPr>
          <a:xfrm>
            <a:off x="914400" y="1600200"/>
            <a:ext cx="4867275" cy="1752600"/>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6019800" y="2057400"/>
                <a:ext cx="2743200" cy="923330"/>
              </a:xfrm>
              <a:prstGeom prst="rect">
                <a:avLst/>
              </a:prstGeom>
              <a:noFill/>
            </p:spPr>
            <p:txBody>
              <a:bodyPr wrap="square" rtlCol="0">
                <a:spAutoFit/>
              </a:bodyPr>
              <a:lstStyle/>
              <a:p>
                <a:r>
                  <a:rPr lang="en-US" b="1" dirty="0"/>
                  <a:t>Solution</a:t>
                </a:r>
              </a:p>
              <a:p>
                <a:r>
                  <a:rPr lang="en-US" dirty="0"/>
                  <a:t>a. </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𝑹</m:t>
                        </m:r>
                      </m:e>
                      <m:sub>
                        <m:r>
                          <a:rPr lang="en-US" b="1" i="1">
                            <a:solidFill>
                              <a:srgbClr val="C00000"/>
                            </a:solidFill>
                            <a:latin typeface="Cambria Math" panose="02040503050406030204" pitchFamily="18" charset="0"/>
                          </a:rPr>
                          <m:t>𝑻</m:t>
                        </m:r>
                      </m:sub>
                    </m:sSub>
                  </m:oMath>
                </a14:m>
                <a:r>
                  <a:rPr lang="en-US" dirty="0"/>
                  <a:t>= 5+10+20+15=50 </a:t>
                </a:r>
                <a:r>
                  <a:rPr lang="el-GR" dirty="0"/>
                  <a:t>Ω</a:t>
                </a:r>
                <a:r>
                  <a:rPr lang="en-US" dirty="0"/>
                  <a:t> </a:t>
                </a:r>
              </a:p>
              <a:p>
                <a:r>
                  <a:rPr lang="en-US" dirty="0"/>
                  <a:t>b. </a:t>
                </a:r>
                <a14:m>
                  <m:oMath xmlns:m="http://schemas.openxmlformats.org/officeDocument/2006/math">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𝑹</m:t>
                        </m:r>
                      </m:e>
                      <m:sub>
                        <m:r>
                          <a:rPr lang="en-US" b="1" i="1">
                            <a:solidFill>
                              <a:srgbClr val="C00000"/>
                            </a:solidFill>
                            <a:latin typeface="Cambria Math" panose="02040503050406030204" pitchFamily="18" charset="0"/>
                          </a:rPr>
                          <m:t>𝑻</m:t>
                        </m:r>
                      </m:sub>
                    </m:sSub>
                  </m:oMath>
                </a14:m>
                <a:r>
                  <a:rPr lang="en-US" dirty="0"/>
                  <a:t> = 4(10 k</a:t>
                </a:r>
                <a:r>
                  <a:rPr lang="el-GR" dirty="0"/>
                  <a:t>Ω</a:t>
                </a:r>
                <a:r>
                  <a:rPr lang="en-US" dirty="0"/>
                  <a:t>)=40 k</a:t>
                </a:r>
                <a:r>
                  <a:rPr lang="el-GR" dirty="0"/>
                  <a:t>ΩΩ</a:t>
                </a:r>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6019800" y="2057400"/>
                <a:ext cx="2743200" cy="923330"/>
              </a:xfrm>
              <a:prstGeom prst="rect">
                <a:avLst/>
              </a:prstGeom>
              <a:blipFill>
                <a:blip r:embed="rId4"/>
                <a:stretch>
                  <a:fillRect l="-2000" t="-3974" b="-92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19878" y="3547220"/>
                <a:ext cx="8762999" cy="795474"/>
              </a:xfrm>
              <a:prstGeom prst="rect">
                <a:avLst/>
              </a:prstGeom>
              <a:noFill/>
            </p:spPr>
            <p:txBody>
              <a:bodyPr wrap="square" rtlCol="0">
                <a:spAutoFit/>
              </a:bodyPr>
              <a:lstStyle/>
              <a:p>
                <a:r>
                  <a:rPr lang="en-US" dirty="0"/>
                  <a:t>Any voltage source connected to the terminals of a network of series resistors will provide the same current as if a single resistance, having a value of </a:t>
                </a:r>
                <a:r>
                  <a:rPr lang="en-US" b="1" i="1" dirty="0"/>
                  <a:t>R</a:t>
                </a:r>
                <a:r>
                  <a:rPr lang="en-US" sz="1100" b="1" i="1" dirty="0"/>
                  <a:t>T</a:t>
                </a:r>
                <a:r>
                  <a:rPr lang="en-US" dirty="0"/>
                  <a:t>, </a:t>
                </a:r>
                <a:r>
                  <a:rPr lang="en-US" b="1" i="1" dirty="0">
                    <a:solidFill>
                      <a:srgbClr val="0070C0"/>
                    </a:solidFill>
                  </a:rPr>
                  <a:t>hence </a:t>
                </a:r>
                <a:r>
                  <a:rPr lang="en-US" b="1" i="1" dirty="0">
                    <a:solidFill>
                      <a:srgbClr val="C00000"/>
                    </a:solidFill>
                  </a:rPr>
                  <a:t>I= </a:t>
                </a:r>
                <a14:m>
                  <m:oMath xmlns:m="http://schemas.openxmlformats.org/officeDocument/2006/math">
                    <m:f>
                      <m:fPr>
                        <m:ctrlPr>
                          <a:rPr lang="en-US" b="1" i="1" dirty="0" smtClean="0">
                            <a:solidFill>
                              <a:srgbClr val="C00000"/>
                            </a:solidFill>
                            <a:latin typeface="Cambria Math" panose="02040503050406030204" pitchFamily="18" charset="0"/>
                          </a:rPr>
                        </m:ctrlPr>
                      </m:fPr>
                      <m:num>
                        <m:r>
                          <a:rPr lang="en-US" b="1" i="1" dirty="0" smtClean="0">
                            <a:solidFill>
                              <a:srgbClr val="C00000"/>
                            </a:solidFill>
                            <a:latin typeface="Cambria Math" panose="02040503050406030204" pitchFamily="18" charset="0"/>
                          </a:rPr>
                          <m:t>𝑬</m:t>
                        </m:r>
                      </m:num>
                      <m:den>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𝑹</m:t>
                            </m:r>
                          </m:e>
                          <m:sub>
                            <m:r>
                              <a:rPr lang="en-US" b="1" i="1">
                                <a:solidFill>
                                  <a:srgbClr val="C00000"/>
                                </a:solidFill>
                                <a:latin typeface="Cambria Math" panose="02040503050406030204" pitchFamily="18" charset="0"/>
                              </a:rPr>
                              <m:t>𝑻</m:t>
                            </m:r>
                          </m:sub>
                        </m:sSub>
                      </m:den>
                    </m:f>
                  </m:oMath>
                </a14:m>
                <a:r>
                  <a:rPr lang="en-US" b="1" i="1" dirty="0">
                    <a:solidFill>
                      <a:srgbClr val="0070C0"/>
                    </a:solidFill>
                  </a:rPr>
                  <a:t> (Ohm’s law)</a:t>
                </a:r>
                <a:endParaRPr lang="en-US" b="1" i="1" dirty="0"/>
              </a:p>
            </p:txBody>
          </p:sp>
        </mc:Choice>
        <mc:Fallback xmlns="">
          <p:sp>
            <p:nvSpPr>
              <p:cNvPr id="9" name="TextBox 8"/>
              <p:cNvSpPr txBox="1">
                <a:spLocks noRot="1" noChangeAspect="1" noMove="1" noResize="1" noEditPoints="1" noAdjustHandles="1" noChangeArrowheads="1" noChangeShapeType="1" noTextEdit="1"/>
              </p:cNvSpPr>
              <p:nvPr/>
            </p:nvSpPr>
            <p:spPr>
              <a:xfrm>
                <a:off x="419878" y="3547220"/>
                <a:ext cx="8762999" cy="795474"/>
              </a:xfrm>
              <a:prstGeom prst="rect">
                <a:avLst/>
              </a:prstGeom>
              <a:blipFill>
                <a:blip r:embed="rId5"/>
                <a:stretch>
                  <a:fillRect l="-626" t="-4615" b="-1538"/>
                </a:stretch>
              </a:blipFill>
            </p:spPr>
            <p:txBody>
              <a:bodyPr/>
              <a:lstStyle/>
              <a:p>
                <a:r>
                  <a:rPr lang="en-US">
                    <a:noFill/>
                  </a:rPr>
                  <a:t> </a:t>
                </a:r>
              </a:p>
            </p:txBody>
          </p:sp>
        </mc:Fallback>
      </mc:AlternateContent>
      <p:pic>
        <p:nvPicPr>
          <p:cNvPr id="10" name="Picture 9"/>
          <p:cNvPicPr>
            <a:picLocks noChangeAspect="1"/>
          </p:cNvPicPr>
          <p:nvPr/>
        </p:nvPicPr>
        <p:blipFill>
          <a:blip r:embed="rId6"/>
          <a:stretch>
            <a:fillRect/>
          </a:stretch>
        </p:blipFill>
        <p:spPr>
          <a:xfrm>
            <a:off x="6395940" y="4400549"/>
            <a:ext cx="2527516" cy="1859261"/>
          </a:xfrm>
          <a:prstGeom prst="rect">
            <a:avLst/>
          </a:prstGeom>
        </p:spPr>
      </p:pic>
      <p:sp>
        <p:nvSpPr>
          <p:cNvPr id="11" name="TextBox 10"/>
          <p:cNvSpPr txBox="1"/>
          <p:nvPr/>
        </p:nvSpPr>
        <p:spPr>
          <a:xfrm>
            <a:off x="457200" y="5705812"/>
            <a:ext cx="5857875" cy="553998"/>
          </a:xfrm>
          <a:prstGeom prst="rect">
            <a:avLst/>
          </a:prstGeom>
          <a:solidFill>
            <a:schemeClr val="accent1">
              <a:lumMod val="20000"/>
              <a:lumOff val="80000"/>
            </a:schemeClr>
          </a:solidFill>
        </p:spPr>
        <p:txBody>
          <a:bodyPr wrap="square" rtlCol="0">
            <a:spAutoFit/>
          </a:bodyPr>
          <a:lstStyle/>
          <a:p>
            <a:r>
              <a:rPr lang="en-US" sz="1500" b="1" i="1" dirty="0"/>
              <a:t>Meaning that </a:t>
            </a:r>
            <a:r>
              <a:rPr lang="en-US" sz="1500" b="1" i="1" dirty="0">
                <a:solidFill>
                  <a:srgbClr val="0070C0"/>
                </a:solidFill>
              </a:rPr>
              <a:t>energy must be conserved, the power delivered by the voltage source is equal to the total power dissipated by all the resistors</a:t>
            </a:r>
            <a:r>
              <a:rPr lang="en-US" sz="1500" dirty="0"/>
              <a:t>.</a:t>
            </a:r>
          </a:p>
        </p:txBody>
      </p:sp>
      <p:sp>
        <p:nvSpPr>
          <p:cNvPr id="12" name="Right Arrow 11"/>
          <p:cNvSpPr/>
          <p:nvPr/>
        </p:nvSpPr>
        <p:spPr>
          <a:xfrm>
            <a:off x="6019800" y="4572000"/>
            <a:ext cx="376140" cy="228600"/>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704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31837"/>
            <a:ext cx="8534400" cy="5287963"/>
          </a:xfrm>
        </p:spPr>
        <p:txBody>
          <a:bodyPr>
            <a:normAutofit/>
          </a:bodyPr>
          <a:lstStyle/>
          <a:p>
            <a:r>
              <a:rPr lang="en-US" sz="3000" b="1" dirty="0"/>
              <a:t>Example for Enhancement (1) :</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p:sp>
        <p:nvSpPr>
          <p:cNvPr id="4" name="Date Placeholder 3"/>
          <p:cNvSpPr>
            <a:spLocks noGrp="1"/>
          </p:cNvSpPr>
          <p:nvPr>
            <p:ph type="dt" sz="half" idx="10"/>
          </p:nvPr>
        </p:nvSpPr>
        <p:spPr/>
        <p:txBody>
          <a:bodyPr/>
          <a:lstStyle/>
          <a:p>
            <a:fld id="{CEC56A3F-29B6-49A7-B9AF-0A46A15B3916}"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8</a:t>
            </a:fld>
            <a:endParaRPr lang="en-US" dirty="0"/>
          </a:p>
        </p:txBody>
      </p:sp>
      <p:pic>
        <p:nvPicPr>
          <p:cNvPr id="7" name="Picture 6"/>
          <p:cNvPicPr>
            <a:picLocks noChangeAspect="1"/>
          </p:cNvPicPr>
          <p:nvPr/>
        </p:nvPicPr>
        <p:blipFill>
          <a:blip r:embed="rId2"/>
          <a:stretch>
            <a:fillRect/>
          </a:stretch>
        </p:blipFill>
        <p:spPr>
          <a:xfrm>
            <a:off x="6248400" y="1371600"/>
            <a:ext cx="2590800" cy="2369881"/>
          </a:xfrm>
          <a:prstGeom prst="rect">
            <a:avLst/>
          </a:prstGeom>
        </p:spPr>
      </p:pic>
      <p:sp>
        <p:nvSpPr>
          <p:cNvPr id="8" name="TextBox 7"/>
          <p:cNvSpPr txBox="1"/>
          <p:nvPr/>
        </p:nvSpPr>
        <p:spPr>
          <a:xfrm>
            <a:off x="180974" y="1371600"/>
            <a:ext cx="5838825" cy="2369880"/>
          </a:xfrm>
          <a:prstGeom prst="rect">
            <a:avLst/>
          </a:prstGeom>
          <a:noFill/>
        </p:spPr>
        <p:txBody>
          <a:bodyPr wrap="square" rtlCol="0">
            <a:spAutoFit/>
          </a:bodyPr>
          <a:lstStyle/>
          <a:p>
            <a:r>
              <a:rPr lang="en-US" dirty="0"/>
              <a:t> (a) </a:t>
            </a:r>
            <a:r>
              <a:rPr lang="en-US" b="1" i="1" dirty="0"/>
              <a:t>For the series circuit shown in Fig. (a), find the following quantities:</a:t>
            </a:r>
          </a:p>
          <a:p>
            <a:pPr marL="285750" indent="-285750">
              <a:buFont typeface="Arial" panose="020B0604020202020204" pitchFamily="34" charset="0"/>
              <a:buChar char="•"/>
            </a:pPr>
            <a:r>
              <a:rPr lang="en-US" sz="1600" dirty="0"/>
              <a:t>Total resistance, </a:t>
            </a:r>
            <a:r>
              <a:rPr lang="en-US" sz="1600" b="1" i="1" dirty="0"/>
              <a:t>R</a:t>
            </a:r>
            <a:r>
              <a:rPr lang="en-US" sz="1100" b="1" i="1" dirty="0"/>
              <a:t>T</a:t>
            </a:r>
          </a:p>
          <a:p>
            <a:pPr marL="285750" indent="-285750">
              <a:buFont typeface="Arial" panose="020B0604020202020204" pitchFamily="34" charset="0"/>
              <a:buChar char="•"/>
            </a:pPr>
            <a:r>
              <a:rPr lang="en-US" sz="1600" dirty="0"/>
              <a:t>Circuit current, </a:t>
            </a:r>
            <a:r>
              <a:rPr lang="en-US" sz="1600" i="1" dirty="0"/>
              <a:t>I</a:t>
            </a:r>
            <a:r>
              <a:rPr lang="en-US" sz="1600" dirty="0"/>
              <a:t>.</a:t>
            </a:r>
          </a:p>
          <a:p>
            <a:pPr marL="285750" indent="-285750">
              <a:buFont typeface="Arial" panose="020B0604020202020204" pitchFamily="34" charset="0"/>
              <a:buChar char="•"/>
            </a:pPr>
            <a:r>
              <a:rPr lang="en-US" sz="1600" dirty="0"/>
              <a:t>Voltage across each resistor</a:t>
            </a:r>
          </a:p>
          <a:p>
            <a:pPr marL="285750" indent="-285750">
              <a:buFont typeface="Arial" panose="020B0604020202020204" pitchFamily="34" charset="0"/>
              <a:buChar char="•"/>
            </a:pPr>
            <a:r>
              <a:rPr lang="en-US" sz="1600" dirty="0"/>
              <a:t>Power dissipated by each resistor.</a:t>
            </a:r>
          </a:p>
          <a:p>
            <a:pPr marL="285750" indent="-285750">
              <a:buFont typeface="Arial" panose="020B0604020202020204" pitchFamily="34" charset="0"/>
              <a:buChar char="•"/>
            </a:pPr>
            <a:r>
              <a:rPr lang="en-US" sz="1600" dirty="0"/>
              <a:t>Power delivered to the circuit by the voltage source.</a:t>
            </a:r>
          </a:p>
          <a:p>
            <a:pPr marL="285750" indent="-285750">
              <a:buFont typeface="Arial" panose="020B0604020202020204" pitchFamily="34" charset="0"/>
              <a:buChar char="•"/>
            </a:pPr>
            <a:r>
              <a:rPr lang="en-US" sz="1600" dirty="0"/>
              <a:t>Verify that the power dissipated by the resistors is equal to the power delivered to the circuit by the voltage source.</a:t>
            </a:r>
          </a:p>
        </p:txBody>
      </p:sp>
      <p:sp>
        <p:nvSpPr>
          <p:cNvPr id="9" name="TextBox 8"/>
          <p:cNvSpPr txBox="1"/>
          <p:nvPr/>
        </p:nvSpPr>
        <p:spPr>
          <a:xfrm>
            <a:off x="180974" y="4152543"/>
            <a:ext cx="6067425" cy="2123658"/>
          </a:xfrm>
          <a:prstGeom prst="rect">
            <a:avLst/>
          </a:prstGeom>
          <a:noFill/>
        </p:spPr>
        <p:txBody>
          <a:bodyPr wrap="square" rtlCol="0">
            <a:spAutoFit/>
          </a:bodyPr>
          <a:lstStyle/>
          <a:p>
            <a:r>
              <a:rPr lang="en-US" b="1" i="1" dirty="0"/>
              <a:t>(b) For the series circuit shown in Figure (b), find the following quantities:</a:t>
            </a:r>
          </a:p>
          <a:p>
            <a:pPr marL="285750" indent="-285750">
              <a:buFont typeface="Arial" panose="020B0604020202020204" pitchFamily="34" charset="0"/>
              <a:buChar char="•"/>
            </a:pPr>
            <a:r>
              <a:rPr lang="en-US" sz="1600" dirty="0"/>
              <a:t>Total resistance, </a:t>
            </a:r>
            <a:r>
              <a:rPr lang="en-US" sz="1600" b="1" i="1" dirty="0"/>
              <a:t>R</a:t>
            </a:r>
            <a:r>
              <a:rPr lang="en-US" sz="1100" b="1" i="1" dirty="0"/>
              <a:t>T</a:t>
            </a:r>
            <a:r>
              <a:rPr lang="en-US" sz="1600" b="1" i="1" dirty="0"/>
              <a:t>.</a:t>
            </a:r>
          </a:p>
          <a:p>
            <a:pPr marL="285750" indent="-285750">
              <a:buFont typeface="Arial" panose="020B0604020202020204" pitchFamily="34" charset="0"/>
              <a:buChar char="•"/>
            </a:pPr>
            <a:r>
              <a:rPr lang="en-US" sz="1600" dirty="0"/>
              <a:t>The direction and magnitude of the current,</a:t>
            </a:r>
            <a:r>
              <a:rPr lang="en-US" sz="1600" b="1" i="1" dirty="0"/>
              <a:t> I.</a:t>
            </a:r>
          </a:p>
          <a:p>
            <a:pPr marL="285750" indent="-285750">
              <a:buFont typeface="Arial" panose="020B0604020202020204" pitchFamily="34" charset="0"/>
              <a:buChar char="•"/>
            </a:pPr>
            <a:r>
              <a:rPr lang="en-US" sz="1600" dirty="0"/>
              <a:t>Polarity and magnitude of the voltage across each resistor.</a:t>
            </a:r>
          </a:p>
          <a:p>
            <a:pPr marL="285750" indent="-285750">
              <a:buFont typeface="Arial" panose="020B0604020202020204" pitchFamily="34" charset="0"/>
              <a:buChar char="•"/>
            </a:pPr>
            <a:r>
              <a:rPr lang="en-US" sz="1600" dirty="0"/>
              <a:t>Power dissipated by each resistor.</a:t>
            </a:r>
          </a:p>
          <a:p>
            <a:pPr marL="285750" indent="-285750">
              <a:buFont typeface="Arial" panose="020B0604020202020204" pitchFamily="34" charset="0"/>
              <a:buChar char="•"/>
            </a:pPr>
            <a:r>
              <a:rPr lang="en-US" sz="1600" dirty="0"/>
              <a:t>Power delivered to the circuit by the voltage source.</a:t>
            </a:r>
          </a:p>
          <a:p>
            <a:pPr marL="285750" indent="-285750">
              <a:buFont typeface="Arial" panose="020B0604020202020204" pitchFamily="34" charset="0"/>
              <a:buChar char="•"/>
            </a:pPr>
            <a:r>
              <a:rPr lang="en-US" sz="1600" dirty="0"/>
              <a:t>Show that the power dissipated is equal to the power delivered.</a:t>
            </a:r>
          </a:p>
        </p:txBody>
      </p:sp>
      <p:pic>
        <p:nvPicPr>
          <p:cNvPr id="10" name="Picture 9"/>
          <p:cNvPicPr>
            <a:picLocks noChangeAspect="1"/>
          </p:cNvPicPr>
          <p:nvPr/>
        </p:nvPicPr>
        <p:blipFill>
          <a:blip r:embed="rId3"/>
          <a:stretch>
            <a:fillRect/>
          </a:stretch>
        </p:blipFill>
        <p:spPr>
          <a:xfrm>
            <a:off x="6276973" y="4306631"/>
            <a:ext cx="2562227" cy="1941769"/>
          </a:xfrm>
          <a:prstGeom prst="rect">
            <a:avLst/>
          </a:prstGeom>
        </p:spPr>
      </p:pic>
      <p:sp>
        <p:nvSpPr>
          <p:cNvPr id="11" name="TextBox 10"/>
          <p:cNvSpPr txBox="1"/>
          <p:nvPr/>
        </p:nvSpPr>
        <p:spPr>
          <a:xfrm>
            <a:off x="7548561" y="3741480"/>
            <a:ext cx="533400" cy="276999"/>
          </a:xfrm>
          <a:prstGeom prst="rect">
            <a:avLst/>
          </a:prstGeom>
          <a:noFill/>
        </p:spPr>
        <p:txBody>
          <a:bodyPr wrap="square" rtlCol="0">
            <a:spAutoFit/>
          </a:bodyPr>
          <a:lstStyle/>
          <a:p>
            <a:r>
              <a:rPr lang="en-US" sz="1200" b="1" dirty="0"/>
              <a:t>(a)</a:t>
            </a:r>
          </a:p>
        </p:txBody>
      </p:sp>
      <p:sp>
        <p:nvSpPr>
          <p:cNvPr id="12" name="TextBox 11"/>
          <p:cNvSpPr txBox="1"/>
          <p:nvPr/>
        </p:nvSpPr>
        <p:spPr>
          <a:xfrm>
            <a:off x="7577139" y="6276201"/>
            <a:ext cx="500061" cy="276999"/>
          </a:xfrm>
          <a:prstGeom prst="rect">
            <a:avLst/>
          </a:prstGeom>
          <a:noFill/>
        </p:spPr>
        <p:txBody>
          <a:bodyPr wrap="square" rtlCol="0">
            <a:spAutoFit/>
          </a:bodyPr>
          <a:lstStyle/>
          <a:p>
            <a:r>
              <a:rPr lang="en-US" sz="1200" b="1" dirty="0"/>
              <a:t> (b)</a:t>
            </a:r>
          </a:p>
        </p:txBody>
      </p:sp>
      <p:cxnSp>
        <p:nvCxnSpPr>
          <p:cNvPr id="14" name="Straight Connector 13"/>
          <p:cNvCxnSpPr/>
          <p:nvPr/>
        </p:nvCxnSpPr>
        <p:spPr>
          <a:xfrm>
            <a:off x="76200" y="4018479"/>
            <a:ext cx="8763000"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48724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625" y="749301"/>
            <a:ext cx="8229600" cy="381000"/>
          </a:xfrm>
        </p:spPr>
        <p:txBody>
          <a:bodyPr>
            <a:noAutofit/>
          </a:bodyPr>
          <a:lstStyle/>
          <a:p>
            <a:r>
              <a:rPr lang="en-US" sz="3000" b="1" dirty="0"/>
              <a:t>The Voltage Divider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19200"/>
                <a:ext cx="8229600" cy="5105400"/>
              </a:xfrm>
              <a:ln>
                <a:solidFill>
                  <a:schemeClr val="accent1"/>
                </a:solidFill>
              </a:ln>
            </p:spPr>
            <p:txBody>
              <a:bodyPr>
                <a:normAutofit fontScale="85000" lnSpcReduction="20000"/>
              </a:bodyPr>
              <a:lstStyle/>
              <a:p>
                <a:r>
                  <a:rPr lang="en-US" sz="2400" b="1" dirty="0"/>
                  <a:t>The voltage divider rule </a:t>
                </a:r>
                <a:r>
                  <a:rPr lang="en-US" sz="2400" b="1" dirty="0">
                    <a:solidFill>
                      <a:srgbClr val="00B0F0"/>
                    </a:solidFill>
                  </a:rPr>
                  <a:t>allows us to determine the voltage across any series resistance in a single step</a:t>
                </a:r>
                <a:r>
                  <a:rPr lang="en-US" sz="2400" b="1" dirty="0"/>
                  <a:t>, without first calculating the current. </a:t>
                </a:r>
              </a:p>
              <a:p>
                <a:endParaRPr lang="en-US" sz="2400" b="1" dirty="0"/>
              </a:p>
              <a:p>
                <a:r>
                  <a:rPr lang="en-US" sz="2400" b="1" dirty="0"/>
                  <a:t>Statement: </a:t>
                </a:r>
                <a:r>
                  <a:rPr lang="en-US" sz="2400" dirty="0"/>
                  <a:t>“</a:t>
                </a:r>
                <a:r>
                  <a:rPr lang="en-US" sz="2400" i="1" dirty="0">
                    <a:solidFill>
                      <a:srgbClr val="0070C0"/>
                    </a:solidFill>
                  </a:rPr>
                  <a:t>The voltage dropped across any series resistor is proportional to the magnitude of the resistor. The total voltage dropped across all resistors must equal the applied voltage source(s) by Kirchhoff’s Voltage Law-KVL.”</a:t>
                </a:r>
              </a:p>
              <a:p>
                <a:r>
                  <a:rPr lang="en-US" sz="2400" dirty="0">
                    <a:solidFill>
                      <a:srgbClr val="0070C0"/>
                    </a:solidFill>
                  </a:rPr>
                  <a:t>Th</a:t>
                </a:r>
                <a:r>
                  <a:rPr lang="en-US" sz="2400" dirty="0"/>
                  <a:t>is is done by applying voltage divider rule on any of the resistors as a simple equation</a:t>
                </a:r>
                <a:r>
                  <a:rPr lang="en-US" sz="2400" i="1" dirty="0">
                    <a:solidFill>
                      <a:srgbClr val="0070C0"/>
                    </a:solidFill>
                  </a:rPr>
                  <a:t>:</a:t>
                </a:r>
                <a:endParaRPr lang="en-US" sz="2400" b="0" i="1" dirty="0">
                  <a:solidFill>
                    <a:srgbClr val="0070C0"/>
                  </a:solidFill>
                  <a:latin typeface="Cambria Math"/>
                </a:endParaRPr>
              </a:p>
              <a:p>
                <a:pPr marL="0" indent="0">
                  <a:buNone/>
                </a:pPr>
                <a:r>
                  <a:rPr lang="en-US" sz="2400" b="0" dirty="0">
                    <a:solidFill>
                      <a:srgbClr val="0070C0"/>
                    </a:solidFill>
                  </a:rPr>
                  <a:t>                                       </a:t>
                </a:r>
                <a14:m>
                  <m:oMath xmlns:m="http://schemas.openxmlformats.org/officeDocument/2006/math">
                    <m:r>
                      <a:rPr lang="en-US" sz="3300" b="1" i="1" smtClean="0">
                        <a:solidFill>
                          <a:srgbClr val="C00000"/>
                        </a:solidFill>
                        <a:latin typeface="Cambria Math"/>
                      </a:rPr>
                      <m:t>𝑽𝒙</m:t>
                    </m:r>
                    <m:r>
                      <a:rPr lang="en-US" sz="3300" b="1" i="1" smtClean="0">
                        <a:solidFill>
                          <a:srgbClr val="C00000"/>
                        </a:solidFill>
                        <a:latin typeface="Cambria Math"/>
                      </a:rPr>
                      <m:t>=</m:t>
                    </m:r>
                    <m:f>
                      <m:fPr>
                        <m:ctrlPr>
                          <a:rPr lang="en-US" sz="3300" b="1" i="1" smtClean="0">
                            <a:solidFill>
                              <a:srgbClr val="C00000"/>
                            </a:solidFill>
                            <a:latin typeface="Cambria Math" panose="02040503050406030204" pitchFamily="18" charset="0"/>
                          </a:rPr>
                        </m:ctrlPr>
                      </m:fPr>
                      <m:num>
                        <m:r>
                          <a:rPr lang="en-US" sz="3300" b="1" i="1" smtClean="0">
                            <a:solidFill>
                              <a:srgbClr val="C00000"/>
                            </a:solidFill>
                            <a:latin typeface="Cambria Math"/>
                          </a:rPr>
                          <m:t>𝑹𝒙</m:t>
                        </m:r>
                        <m:r>
                          <a:rPr lang="en-US" sz="3300" b="1" i="1" smtClean="0">
                            <a:solidFill>
                              <a:srgbClr val="C00000"/>
                            </a:solidFill>
                            <a:latin typeface="Cambria Math"/>
                          </a:rPr>
                          <m:t> </m:t>
                        </m:r>
                        <m:r>
                          <a:rPr lang="en-US" sz="3300" b="1" i="1" smtClean="0">
                            <a:solidFill>
                              <a:srgbClr val="C00000"/>
                            </a:solidFill>
                            <a:latin typeface="Cambria Math"/>
                          </a:rPr>
                          <m:t>𝑬</m:t>
                        </m:r>
                      </m:num>
                      <m:den>
                        <m:r>
                          <a:rPr lang="en-US" sz="3300" b="1" i="1" smtClean="0">
                            <a:solidFill>
                              <a:srgbClr val="C00000"/>
                            </a:solidFill>
                            <a:latin typeface="Cambria Math"/>
                          </a:rPr>
                          <m:t>𝑹</m:t>
                        </m:r>
                        <m:r>
                          <a:rPr lang="en-US" sz="3300" b="1" i="1" smtClean="0">
                            <a:solidFill>
                              <a:srgbClr val="C00000"/>
                            </a:solidFill>
                            <a:latin typeface="Cambria Math"/>
                          </a:rPr>
                          <m:t>𝟏</m:t>
                        </m:r>
                        <m:r>
                          <a:rPr lang="en-US" sz="3300" b="1" i="1" smtClean="0">
                            <a:solidFill>
                              <a:srgbClr val="C00000"/>
                            </a:solidFill>
                            <a:latin typeface="Cambria Math"/>
                          </a:rPr>
                          <m:t>+</m:t>
                        </m:r>
                        <m:r>
                          <a:rPr lang="en-US" sz="3300" b="1" i="1" smtClean="0">
                            <a:solidFill>
                              <a:srgbClr val="C00000"/>
                            </a:solidFill>
                            <a:latin typeface="Cambria Math"/>
                          </a:rPr>
                          <m:t>𝑹</m:t>
                        </m:r>
                        <m:r>
                          <a:rPr lang="en-US" sz="3300" b="1" i="1" smtClean="0">
                            <a:solidFill>
                              <a:srgbClr val="C00000"/>
                            </a:solidFill>
                            <a:latin typeface="Cambria Math"/>
                          </a:rPr>
                          <m:t>𝟐</m:t>
                        </m:r>
                        <m:r>
                          <a:rPr lang="en-US" sz="3300" b="1" i="1" smtClean="0">
                            <a:solidFill>
                              <a:srgbClr val="C00000"/>
                            </a:solidFill>
                            <a:latin typeface="Cambria Math"/>
                          </a:rPr>
                          <m:t>+</m:t>
                        </m:r>
                        <m:r>
                          <a:rPr lang="en-US" sz="3300" b="1" i="1" smtClean="0">
                            <a:solidFill>
                              <a:srgbClr val="C00000"/>
                            </a:solidFill>
                            <a:latin typeface="Cambria Math"/>
                          </a:rPr>
                          <m:t>𝑹</m:t>
                        </m:r>
                        <m:r>
                          <a:rPr lang="en-US" sz="3300" b="1" i="1" smtClean="0">
                            <a:solidFill>
                              <a:srgbClr val="C00000"/>
                            </a:solidFill>
                            <a:latin typeface="Cambria Math"/>
                          </a:rPr>
                          <m:t>𝟑</m:t>
                        </m:r>
                        <m:r>
                          <a:rPr lang="en-US" sz="3300" b="1" i="1" smtClean="0">
                            <a:solidFill>
                              <a:srgbClr val="C00000"/>
                            </a:solidFill>
                            <a:latin typeface="Cambria Math"/>
                          </a:rPr>
                          <m:t>+……..+</m:t>
                        </m:r>
                        <m:r>
                          <a:rPr lang="en-US" sz="3300" b="1" i="1" smtClean="0">
                            <a:solidFill>
                              <a:srgbClr val="C00000"/>
                            </a:solidFill>
                            <a:latin typeface="Cambria Math"/>
                          </a:rPr>
                          <m:t>𝑹𝒏</m:t>
                        </m:r>
                      </m:den>
                    </m:f>
                  </m:oMath>
                </a14:m>
                <a:r>
                  <a:rPr lang="en-US" sz="2400" i="1" dirty="0">
                    <a:solidFill>
                      <a:srgbClr val="0070C0"/>
                    </a:solidFill>
                  </a:rPr>
                  <a:t>, </a:t>
                </a:r>
              </a:p>
              <a:p>
                <a:pPr marL="0" indent="0">
                  <a:buNone/>
                </a:pPr>
                <a:r>
                  <a:rPr lang="en-US" sz="2400" i="1" dirty="0">
                    <a:solidFill>
                      <a:srgbClr val="0070C0"/>
                    </a:solidFill>
                  </a:rPr>
                  <a:t>        </a:t>
                </a:r>
              </a:p>
              <a:p>
                <a:pPr marL="0" indent="0">
                  <a:buNone/>
                </a:pPr>
                <a:r>
                  <a:rPr lang="en-US" sz="2400" i="1" dirty="0">
                    <a:solidFill>
                      <a:srgbClr val="0070C0"/>
                    </a:solidFill>
                  </a:rPr>
                  <a:t>  </a:t>
                </a:r>
                <a:r>
                  <a:rPr lang="en-US" sz="2400" dirty="0"/>
                  <a:t>where </a:t>
                </a:r>
                <a:r>
                  <a:rPr lang="en-US" sz="2400" b="1" i="1" dirty="0" err="1"/>
                  <a:t>Vx</a:t>
                </a:r>
                <a:r>
                  <a:rPr lang="en-US" sz="2400" dirty="0"/>
                  <a:t> is a Voltage across the concerned resistor </a:t>
                </a:r>
                <a:r>
                  <a:rPr lang="en-US" sz="2400" b="1" i="1" dirty="0"/>
                  <a:t>Rx</a:t>
                </a:r>
                <a:r>
                  <a:rPr lang="en-US" sz="2400" b="1" dirty="0"/>
                  <a:t> </a:t>
                </a:r>
                <a:r>
                  <a:rPr lang="en-US" sz="2400" dirty="0"/>
                  <a:t> in series</a:t>
                </a:r>
                <a:r>
                  <a:rPr lang="en-US" sz="2400" i="1" dirty="0">
                    <a:solidFill>
                      <a:srgbClr val="0070C0"/>
                    </a:solidFill>
                  </a:rPr>
                  <a:t>.</a:t>
                </a:r>
              </a:p>
              <a:p>
                <a:r>
                  <a:rPr lang="en-US" sz="2400" b="1" dirty="0"/>
                  <a:t>Generally, </a:t>
                </a:r>
                <a:r>
                  <a:rPr lang="en-US" sz="2400" dirty="0"/>
                  <a:t>for </a:t>
                </a:r>
                <a:r>
                  <a:rPr lang="en-US" sz="2400" b="1" dirty="0"/>
                  <a:t>any number of resistors </a:t>
                </a:r>
                <a:r>
                  <a:rPr lang="en-US" sz="2400" dirty="0"/>
                  <a:t>the voltage drop across </a:t>
                </a:r>
                <a:r>
                  <a:rPr lang="en-US" sz="2400" b="1" dirty="0"/>
                  <a:t>any resistor may </a:t>
                </a:r>
                <a:r>
                  <a:rPr lang="en-US" sz="2400" dirty="0"/>
                  <a:t>be found as:</a:t>
                </a:r>
              </a:p>
              <a:p>
                <a:pPr marL="0" indent="0">
                  <a:buNone/>
                </a:pPr>
                <a14:m>
                  <m:oMathPara xmlns:m="http://schemas.openxmlformats.org/officeDocument/2006/math">
                    <m:oMathParaPr>
                      <m:jc m:val="centerGroup"/>
                    </m:oMathParaPr>
                    <m:oMath xmlns:m="http://schemas.openxmlformats.org/officeDocument/2006/math">
                      <m:r>
                        <a:rPr lang="en-US" sz="2400" b="1" i="1" smtClean="0">
                          <a:solidFill>
                            <a:srgbClr val="C00000"/>
                          </a:solidFill>
                          <a:latin typeface="Cambria Math"/>
                        </a:rPr>
                        <m:t>𝑽𝒙</m:t>
                      </m:r>
                      <m:r>
                        <a:rPr lang="en-US" sz="2400" b="1" i="1" smtClean="0">
                          <a:solidFill>
                            <a:srgbClr val="C00000"/>
                          </a:solidFill>
                          <a:latin typeface="Cambria Math"/>
                        </a:rPr>
                        <m:t>=</m:t>
                      </m:r>
                      <m:f>
                        <m:fPr>
                          <m:ctrlPr>
                            <a:rPr lang="en-US" sz="2400" b="1" i="1" smtClean="0">
                              <a:solidFill>
                                <a:srgbClr val="C00000"/>
                              </a:solidFill>
                              <a:latin typeface="Cambria Math" panose="02040503050406030204" pitchFamily="18" charset="0"/>
                            </a:rPr>
                          </m:ctrlPr>
                        </m:fPr>
                        <m:num>
                          <m:r>
                            <a:rPr lang="en-US" sz="2400" b="1" i="1" smtClean="0">
                              <a:solidFill>
                                <a:srgbClr val="C00000"/>
                              </a:solidFill>
                              <a:latin typeface="Cambria Math"/>
                            </a:rPr>
                            <m:t>𝑹𝒙</m:t>
                          </m:r>
                        </m:num>
                        <m:den>
                          <m:r>
                            <a:rPr lang="en-US" sz="2400" b="1" i="1" smtClean="0">
                              <a:solidFill>
                                <a:srgbClr val="C00000"/>
                              </a:solidFill>
                              <a:latin typeface="Cambria Math"/>
                            </a:rPr>
                            <m:t>𝑹𝑻</m:t>
                          </m:r>
                        </m:den>
                      </m:f>
                      <m:r>
                        <a:rPr lang="en-US" sz="2400" b="1" i="0" smtClean="0">
                          <a:solidFill>
                            <a:srgbClr val="C00000"/>
                          </a:solidFill>
                          <a:latin typeface="Cambria Math"/>
                        </a:rPr>
                        <m:t>𝐄</m:t>
                      </m:r>
                    </m:oMath>
                  </m:oMathPara>
                </a14:m>
                <a:endParaRPr lang="en-US" sz="2400" b="1" dirty="0">
                  <a:solidFill>
                    <a:srgbClr val="C00000"/>
                  </a:solidFill>
                </a:endParaRPr>
              </a:p>
              <a:p>
                <a:pPr marL="0" indent="0">
                  <a:buNone/>
                </a:pPr>
                <a:endParaRPr lang="en-US" sz="2400" dirty="0"/>
              </a:p>
              <a:p>
                <a:endParaRPr lang="en-US" sz="2400" dirty="0"/>
              </a:p>
              <a:p>
                <a:endParaRPr lang="en-US" sz="2400"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19200"/>
                <a:ext cx="8229600" cy="5105400"/>
              </a:xfrm>
              <a:blipFill rotWithShape="1">
                <a:blip r:embed="rId2"/>
                <a:stretch>
                  <a:fillRect l="-518" t="-1548" r="-74"/>
                </a:stretch>
              </a:blipFill>
              <a:ln>
                <a:solidFill>
                  <a:schemeClr val="accent1"/>
                </a:solidFill>
              </a:ln>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6172E7A5-DD47-43D1-A47D-901E1FF62AC8}"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9</a:t>
            </a:fld>
            <a:endParaRPr lang="en-US"/>
          </a:p>
        </p:txBody>
      </p:sp>
    </p:spTree>
    <p:extLst>
      <p:ext uri="{BB962C8B-B14F-4D97-AF65-F5344CB8AC3E}">
        <p14:creationId xmlns:p14="http://schemas.microsoft.com/office/powerpoint/2010/main" val="3923948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382000" cy="5287963"/>
          </a:xfrm>
        </p:spPr>
        <p:txBody>
          <a:bodyPr/>
          <a:lstStyle/>
          <a:p>
            <a:r>
              <a:rPr lang="en-US" sz="2800" b="1" dirty="0">
                <a:solidFill>
                  <a:srgbClr val="0070C0"/>
                </a:solidFill>
              </a:rPr>
              <a:t>Example (1):  </a:t>
            </a:r>
            <a:r>
              <a:rPr lang="en-US" sz="2800" dirty="0"/>
              <a:t>Use the voltage divider rule to determine the voltage across each of the resistors in the circuit shown below. Show that the summation of voltage drops is equal to the applied voltage rise in the circuit</a:t>
            </a:r>
            <a:r>
              <a:rPr lang="en-US" dirty="0"/>
              <a:t>.</a:t>
            </a:r>
          </a:p>
        </p:txBody>
      </p:sp>
      <p:sp>
        <p:nvSpPr>
          <p:cNvPr id="4" name="Date Placeholder 3"/>
          <p:cNvSpPr>
            <a:spLocks noGrp="1"/>
          </p:cNvSpPr>
          <p:nvPr>
            <p:ph type="dt" sz="half" idx="10"/>
          </p:nvPr>
        </p:nvSpPr>
        <p:spPr/>
        <p:txBody>
          <a:bodyPr/>
          <a:lstStyle/>
          <a:p>
            <a:fld id="{E34BBE9B-C307-4235-82CB-67B1DE74E8B5}"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10</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124200"/>
            <a:ext cx="2590800"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9151" y="2975758"/>
            <a:ext cx="3581400" cy="22087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 name="TextBox 6"/>
              <p:cNvSpPr txBox="1"/>
              <p:nvPr/>
            </p:nvSpPr>
            <p:spPr>
              <a:xfrm>
                <a:off x="3657600" y="5486400"/>
                <a:ext cx="5257800" cy="916982"/>
              </a:xfrm>
              <a:prstGeom prst="rect">
                <a:avLst/>
              </a:prstGeom>
              <a:noFill/>
            </p:spPr>
            <p:txBody>
              <a:bodyPr wrap="square" rtlCol="0">
                <a:spAutoFit/>
              </a:bodyPr>
              <a:lstStyle/>
              <a:p>
                <a:r>
                  <a:rPr lang="en-US" b="1" dirty="0">
                    <a:solidFill>
                      <a:srgbClr val="C00000"/>
                    </a:solidFill>
                  </a:rPr>
                  <a:t>The total voltage drop is the summation:</a:t>
                </a:r>
              </a:p>
              <a:p>
                <a:pPr/>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a:rPr>
                        <m:t>𝑽𝑻</m:t>
                      </m:r>
                      <m:r>
                        <a:rPr lang="en-US" b="1" i="1" smtClean="0">
                          <a:solidFill>
                            <a:srgbClr val="C00000"/>
                          </a:solidFill>
                          <a:latin typeface="Cambria Math"/>
                        </a:rPr>
                        <m:t>=</m:t>
                      </m:r>
                      <m:r>
                        <a:rPr lang="en-US" b="1" i="1" smtClean="0">
                          <a:solidFill>
                            <a:srgbClr val="C00000"/>
                          </a:solidFill>
                          <a:latin typeface="Cambria Math"/>
                        </a:rPr>
                        <m:t>𝑽</m:t>
                      </m:r>
                      <m:r>
                        <a:rPr lang="en-US" b="1" i="1" smtClean="0">
                          <a:solidFill>
                            <a:srgbClr val="C00000"/>
                          </a:solidFill>
                          <a:latin typeface="Cambria Math"/>
                        </a:rPr>
                        <m:t>𝟏</m:t>
                      </m:r>
                      <m:r>
                        <a:rPr lang="en-US" b="1" i="1" smtClean="0">
                          <a:solidFill>
                            <a:srgbClr val="C00000"/>
                          </a:solidFill>
                          <a:latin typeface="Cambria Math"/>
                        </a:rPr>
                        <m:t>+</m:t>
                      </m:r>
                      <m:r>
                        <a:rPr lang="en-US" b="1" i="1" smtClean="0">
                          <a:solidFill>
                            <a:srgbClr val="C00000"/>
                          </a:solidFill>
                          <a:latin typeface="Cambria Math"/>
                        </a:rPr>
                        <m:t>𝑽</m:t>
                      </m:r>
                      <m:r>
                        <a:rPr lang="en-US" b="1" i="1" smtClean="0">
                          <a:solidFill>
                            <a:srgbClr val="C00000"/>
                          </a:solidFill>
                          <a:latin typeface="Cambria Math"/>
                        </a:rPr>
                        <m:t>𝟐</m:t>
                      </m:r>
                      <m:r>
                        <a:rPr lang="en-US" b="1" i="1" smtClean="0">
                          <a:solidFill>
                            <a:srgbClr val="C00000"/>
                          </a:solidFill>
                          <a:latin typeface="Cambria Math"/>
                        </a:rPr>
                        <m:t>+</m:t>
                      </m:r>
                      <m:r>
                        <a:rPr lang="en-US" b="1" i="1" smtClean="0">
                          <a:solidFill>
                            <a:srgbClr val="C00000"/>
                          </a:solidFill>
                          <a:latin typeface="Cambria Math"/>
                        </a:rPr>
                        <m:t>𝑽</m:t>
                      </m:r>
                      <m:r>
                        <a:rPr lang="en-US" b="1" i="1" smtClean="0">
                          <a:solidFill>
                            <a:srgbClr val="C00000"/>
                          </a:solidFill>
                          <a:latin typeface="Cambria Math"/>
                        </a:rPr>
                        <m:t>𝟑</m:t>
                      </m:r>
                      <m:r>
                        <a:rPr lang="en-US" b="1" i="1" smtClean="0">
                          <a:solidFill>
                            <a:srgbClr val="C00000"/>
                          </a:solidFill>
                          <a:latin typeface="Cambria Math"/>
                        </a:rPr>
                        <m:t>=</m:t>
                      </m:r>
                      <m:r>
                        <a:rPr lang="en-US" b="1" i="1" smtClean="0">
                          <a:solidFill>
                            <a:srgbClr val="C00000"/>
                          </a:solidFill>
                          <a:latin typeface="Cambria Math"/>
                        </a:rPr>
                        <m:t>𝟒</m:t>
                      </m:r>
                      <m:r>
                        <a:rPr lang="en-US" b="1" i="1" smtClean="0">
                          <a:solidFill>
                            <a:srgbClr val="C00000"/>
                          </a:solidFill>
                          <a:latin typeface="Cambria Math"/>
                        </a:rPr>
                        <m:t>.</m:t>
                      </m:r>
                      <m:r>
                        <a:rPr lang="en-US" b="1" i="1" smtClean="0">
                          <a:solidFill>
                            <a:srgbClr val="C00000"/>
                          </a:solidFill>
                          <a:latin typeface="Cambria Math"/>
                        </a:rPr>
                        <m:t>𝟑𝟐</m:t>
                      </m:r>
                      <m:r>
                        <a:rPr lang="en-US" b="1" i="1" smtClean="0">
                          <a:solidFill>
                            <a:srgbClr val="C00000"/>
                          </a:solidFill>
                          <a:latin typeface="Cambria Math"/>
                        </a:rPr>
                        <m:t>+</m:t>
                      </m:r>
                      <m:r>
                        <a:rPr lang="en-US" b="1" i="1" smtClean="0">
                          <a:solidFill>
                            <a:srgbClr val="C00000"/>
                          </a:solidFill>
                          <a:latin typeface="Cambria Math"/>
                        </a:rPr>
                        <m:t>𝟖</m:t>
                      </m:r>
                      <m:r>
                        <a:rPr lang="en-US" b="1" i="1" smtClean="0">
                          <a:solidFill>
                            <a:srgbClr val="C00000"/>
                          </a:solidFill>
                          <a:latin typeface="Cambria Math"/>
                        </a:rPr>
                        <m:t>.</m:t>
                      </m:r>
                      <m:r>
                        <a:rPr lang="en-US" b="1" i="1" smtClean="0">
                          <a:solidFill>
                            <a:srgbClr val="C00000"/>
                          </a:solidFill>
                          <a:latin typeface="Cambria Math"/>
                        </a:rPr>
                        <m:t>𝟔𝟒</m:t>
                      </m:r>
                      <m:r>
                        <a:rPr lang="en-US" b="1" i="1" smtClean="0">
                          <a:solidFill>
                            <a:srgbClr val="C00000"/>
                          </a:solidFill>
                          <a:latin typeface="Cambria Math"/>
                        </a:rPr>
                        <m:t>+</m:t>
                      </m:r>
                      <m:r>
                        <a:rPr lang="en-US" b="1" i="1" smtClean="0">
                          <a:solidFill>
                            <a:srgbClr val="C00000"/>
                          </a:solidFill>
                          <a:latin typeface="Cambria Math"/>
                        </a:rPr>
                        <m:t>𝟓</m:t>
                      </m:r>
                      <m:r>
                        <a:rPr lang="en-US" b="1" i="1" smtClean="0">
                          <a:solidFill>
                            <a:srgbClr val="C00000"/>
                          </a:solidFill>
                          <a:latin typeface="Cambria Math"/>
                        </a:rPr>
                        <m:t>.</m:t>
                      </m:r>
                      <m:r>
                        <a:rPr lang="en-US" b="1" i="1" smtClean="0">
                          <a:solidFill>
                            <a:srgbClr val="C00000"/>
                          </a:solidFill>
                          <a:latin typeface="Cambria Math"/>
                        </a:rPr>
                        <m:t>𝟎𝟒</m:t>
                      </m:r>
                      <m:r>
                        <a:rPr lang="en-US" b="1" i="1" smtClean="0">
                          <a:solidFill>
                            <a:srgbClr val="C00000"/>
                          </a:solidFill>
                          <a:latin typeface="Cambria Math"/>
                        </a:rPr>
                        <m:t>=</m:t>
                      </m:r>
                      <m:r>
                        <a:rPr lang="en-US" b="1" i="1" smtClean="0">
                          <a:solidFill>
                            <a:srgbClr val="C00000"/>
                          </a:solidFill>
                          <a:latin typeface="Cambria Math"/>
                        </a:rPr>
                        <m:t>𝟏𝟖</m:t>
                      </m:r>
                      <m:r>
                        <a:rPr lang="en-US" b="1" i="1" smtClean="0">
                          <a:solidFill>
                            <a:srgbClr val="C00000"/>
                          </a:solidFill>
                          <a:latin typeface="Cambria Math"/>
                        </a:rPr>
                        <m:t>𝑽</m:t>
                      </m:r>
                      <m:r>
                        <a:rPr lang="en-US" b="1" i="1" smtClean="0">
                          <a:solidFill>
                            <a:srgbClr val="C00000"/>
                          </a:solidFill>
                          <a:latin typeface="Cambria Math"/>
                        </a:rPr>
                        <m:t>=</m:t>
                      </m:r>
                      <m:r>
                        <a:rPr lang="en-US" b="1" i="1" smtClean="0">
                          <a:solidFill>
                            <a:srgbClr val="C00000"/>
                          </a:solidFill>
                          <a:latin typeface="Cambria Math"/>
                        </a:rPr>
                        <m:t>𝑬</m:t>
                      </m:r>
                    </m:oMath>
                  </m:oMathPara>
                </a14:m>
                <a:endParaRPr lang="en-US" b="1" dirty="0">
                  <a:solidFill>
                    <a:srgbClr val="C0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57600" y="5486400"/>
                <a:ext cx="5257800" cy="916982"/>
              </a:xfrm>
              <a:prstGeom prst="rect">
                <a:avLst/>
              </a:prstGeom>
              <a:blipFill rotWithShape="1">
                <a:blip r:embed="rId4"/>
                <a:stretch>
                  <a:fillRect l="-927" t="-3333"/>
                </a:stretch>
              </a:blipFill>
            </p:spPr>
            <p:txBody>
              <a:bodyPr/>
              <a:lstStyle/>
              <a:p>
                <a:r>
                  <a:rPr lang="en-US">
                    <a:noFill/>
                  </a:rPr>
                  <a:t> </a:t>
                </a:r>
              </a:p>
            </p:txBody>
          </p:sp>
        </mc:Fallback>
      </mc:AlternateContent>
      <p:sp>
        <p:nvSpPr>
          <p:cNvPr id="8" name="TextBox 7"/>
          <p:cNvSpPr txBox="1"/>
          <p:nvPr/>
        </p:nvSpPr>
        <p:spPr>
          <a:xfrm>
            <a:off x="3810000" y="3276600"/>
            <a:ext cx="1295400" cy="369332"/>
          </a:xfrm>
          <a:prstGeom prst="rect">
            <a:avLst/>
          </a:prstGeom>
          <a:noFill/>
        </p:spPr>
        <p:txBody>
          <a:bodyPr wrap="square" rtlCol="0">
            <a:spAutoFit/>
          </a:bodyPr>
          <a:lstStyle/>
          <a:p>
            <a:r>
              <a:rPr lang="en-US" b="1" dirty="0"/>
              <a:t>Solution</a:t>
            </a:r>
          </a:p>
        </p:txBody>
      </p:sp>
    </p:spTree>
    <p:extLst>
      <p:ext uri="{BB962C8B-B14F-4D97-AF65-F5344CB8AC3E}">
        <p14:creationId xmlns:p14="http://schemas.microsoft.com/office/powerpoint/2010/main" val="155797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additive="base">
                                        <p:cTn id="7" dur="500" fill="hold"/>
                                        <p:tgtEl>
                                          <p:spTgt spid="1027"/>
                                        </p:tgtEl>
                                        <p:attrNameLst>
                                          <p:attrName>ppt_x</p:attrName>
                                        </p:attrNameLst>
                                      </p:cBhvr>
                                      <p:tavLst>
                                        <p:tav tm="0">
                                          <p:val>
                                            <p:strVal val="#ppt_x"/>
                                          </p:val>
                                        </p:tav>
                                        <p:tav tm="100000">
                                          <p:val>
                                            <p:strVal val="#ppt_x"/>
                                          </p:val>
                                        </p:tav>
                                      </p:tavLst>
                                    </p:anim>
                                    <p:anim calcmode="lin" valueType="num">
                                      <p:cBhvr additive="base">
                                        <p:cTn id="8" dur="500" fill="hold"/>
                                        <p:tgtEl>
                                          <p:spTgt spid="102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r>
              <a:rPr lang="en-US" sz="2800" b="1" dirty="0"/>
              <a:t>Example for Enhancement (2) :</a:t>
            </a:r>
          </a:p>
          <a:p>
            <a:pPr marL="0" indent="0">
              <a:buNone/>
            </a:pPr>
            <a:r>
              <a:rPr lang="en-US" sz="2800" b="1" dirty="0"/>
              <a:t> (1) </a:t>
            </a:r>
            <a:r>
              <a:rPr lang="en-US" sz="2800" dirty="0"/>
              <a:t>Apply the Voltage divider rule</a:t>
            </a:r>
          </a:p>
          <a:p>
            <a:pPr marL="0" indent="0">
              <a:buNone/>
            </a:pPr>
            <a:r>
              <a:rPr lang="en-US" sz="2800" dirty="0"/>
              <a:t> to determine the following </a:t>
            </a:r>
          </a:p>
          <a:p>
            <a:pPr marL="0" indent="0">
              <a:buNone/>
            </a:pPr>
            <a:r>
              <a:rPr lang="en-US" sz="2800" dirty="0"/>
              <a:t>voltages: </a:t>
            </a:r>
            <a:r>
              <a:rPr lang="en-US" sz="2800" b="1" i="1" dirty="0" err="1">
                <a:solidFill>
                  <a:srgbClr val="0070C0"/>
                </a:solidFill>
              </a:rPr>
              <a:t>V</a:t>
            </a:r>
            <a:r>
              <a:rPr lang="en-US" sz="2800" b="1" i="1" dirty="0" err="1"/>
              <a:t>ac</a:t>
            </a:r>
            <a:r>
              <a:rPr lang="en-US" sz="2800" b="1" i="1" dirty="0"/>
              <a:t>, </a:t>
            </a:r>
            <a:r>
              <a:rPr lang="en-US" sz="2800" b="1" i="1" dirty="0" err="1"/>
              <a:t>Vad</a:t>
            </a:r>
            <a:r>
              <a:rPr lang="en-US" sz="2800" b="1" i="1" dirty="0"/>
              <a:t>, </a:t>
            </a:r>
            <a:r>
              <a:rPr lang="en-US" sz="2800" b="1" i="1" dirty="0" err="1"/>
              <a:t>Vcf</a:t>
            </a:r>
            <a:r>
              <a:rPr lang="en-US" sz="2800" b="1" i="1" dirty="0"/>
              <a:t>, </a:t>
            </a:r>
            <a:r>
              <a:rPr lang="en-US" sz="2800" dirty="0"/>
              <a:t>and</a:t>
            </a:r>
            <a:r>
              <a:rPr lang="en-US" sz="2800" b="1" i="1" dirty="0"/>
              <a:t> </a:t>
            </a:r>
            <a:r>
              <a:rPr lang="en-US" sz="2800" b="1" i="1" dirty="0" err="1"/>
              <a:t>Veb</a:t>
            </a:r>
            <a:r>
              <a:rPr lang="en-US" i="1" dirty="0"/>
              <a:t>.</a:t>
            </a:r>
          </a:p>
        </p:txBody>
      </p:sp>
      <p:sp>
        <p:nvSpPr>
          <p:cNvPr id="4" name="Date Placeholder 3"/>
          <p:cNvSpPr>
            <a:spLocks noGrp="1"/>
          </p:cNvSpPr>
          <p:nvPr>
            <p:ph type="dt" sz="half" idx="10"/>
          </p:nvPr>
        </p:nvSpPr>
        <p:spPr/>
        <p:txBody>
          <a:bodyPr/>
          <a:lstStyle/>
          <a:p>
            <a:fld id="{ADFB1D0C-1DE4-4D23-877A-72EF3A6460B6}"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11</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0958" y="990600"/>
            <a:ext cx="2833687"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685800" y="4038600"/>
            <a:ext cx="5011387" cy="1384995"/>
          </a:xfrm>
          <a:prstGeom prst="rect">
            <a:avLst/>
          </a:prstGeom>
        </p:spPr>
        <p:txBody>
          <a:bodyPr wrap="square">
            <a:spAutoFit/>
          </a:bodyPr>
          <a:lstStyle/>
          <a:p>
            <a:r>
              <a:rPr lang="en-US" sz="2800" b="1" dirty="0"/>
              <a:t>(2) </a:t>
            </a:r>
            <a:r>
              <a:rPr lang="en-US" sz="2800" dirty="0"/>
              <a:t>Applying the voltage divider rule to determine the voltages </a:t>
            </a:r>
            <a:r>
              <a:rPr lang="en-US" sz="2800" b="1" dirty="0" err="1"/>
              <a:t>Va</a:t>
            </a:r>
            <a:r>
              <a:rPr lang="en-US" sz="2800" b="1" dirty="0"/>
              <a:t>, </a:t>
            </a:r>
            <a:r>
              <a:rPr lang="en-US" sz="2800" b="1" dirty="0" err="1"/>
              <a:t>Vb</a:t>
            </a:r>
            <a:r>
              <a:rPr lang="en-US" sz="2800" b="1" dirty="0"/>
              <a:t>, </a:t>
            </a:r>
            <a:r>
              <a:rPr lang="en-US" sz="2800" b="1" dirty="0" err="1"/>
              <a:t>Vc</a:t>
            </a:r>
            <a:r>
              <a:rPr lang="en-US" sz="2800" b="1" dirty="0"/>
              <a:t>, and </a:t>
            </a:r>
            <a:r>
              <a:rPr lang="en-US" sz="2800" b="1" dirty="0" err="1"/>
              <a:t>Vd</a:t>
            </a:r>
            <a:r>
              <a:rPr lang="en-US" sz="2800" b="1" dirty="0"/>
              <a:t>. </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8115" y="3962400"/>
            <a:ext cx="2619375"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 name="Straight Connector 8"/>
          <p:cNvCxnSpPr/>
          <p:nvPr/>
        </p:nvCxnSpPr>
        <p:spPr>
          <a:xfrm>
            <a:off x="152400" y="3810000"/>
            <a:ext cx="8839200"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0121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382FBE62-54BE-40DE-8D0F-D507137929A9}"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12</a:t>
            </a:fld>
            <a:endParaRPr lang="en-US"/>
          </a:p>
        </p:txBody>
      </p:sp>
      <p:pic>
        <p:nvPicPr>
          <p:cNvPr id="8" name="Content Placeholder 7"/>
          <p:cNvPicPr>
            <a:picLocks noGrp="1"/>
          </p:cNvPicPr>
          <p:nvPr>
            <p:ph idx="1"/>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1143000" y="914400"/>
            <a:ext cx="7315200" cy="5410200"/>
          </a:xfrm>
          <a:prstGeom prst="rect">
            <a:avLst/>
          </a:prstGeom>
        </p:spPr>
      </p:pic>
      <p:sp>
        <p:nvSpPr>
          <p:cNvPr id="7" name="Rectangle 6"/>
          <p:cNvSpPr/>
          <p:nvPr/>
        </p:nvSpPr>
        <p:spPr>
          <a:xfrm>
            <a:off x="1143000" y="914400"/>
            <a:ext cx="48006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2497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E0AC54C3-981B-43D3-9C3E-B5AA43ACA0C7}"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13</a:t>
            </a:fld>
            <a:endParaRPr lang="en-US"/>
          </a:p>
        </p:txBody>
      </p:sp>
      <p:pic>
        <p:nvPicPr>
          <p:cNvPr id="2050"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371600" y="533400"/>
            <a:ext cx="6705600" cy="6056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524000" y="2743200"/>
            <a:ext cx="59436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0" y="5181600"/>
            <a:ext cx="11430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295400" y="457200"/>
            <a:ext cx="381000" cy="60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4419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598" y="762000"/>
            <a:ext cx="8229600" cy="533400"/>
          </a:xfrm>
        </p:spPr>
        <p:txBody>
          <a:bodyPr>
            <a:normAutofit fontScale="90000"/>
          </a:bodyPr>
          <a:lstStyle/>
          <a:p>
            <a:r>
              <a:rPr lang="en-US" b="1" dirty="0"/>
              <a:t>Tutorial</a:t>
            </a:r>
            <a:r>
              <a:rPr lang="en-US" dirty="0"/>
              <a:t>s</a:t>
            </a:r>
          </a:p>
        </p:txBody>
      </p:sp>
      <p:sp>
        <p:nvSpPr>
          <p:cNvPr id="3" name="Content Placeholder 2"/>
          <p:cNvSpPr>
            <a:spLocks noGrp="1"/>
          </p:cNvSpPr>
          <p:nvPr>
            <p:ph idx="1"/>
          </p:nvPr>
        </p:nvSpPr>
        <p:spPr>
          <a:xfrm>
            <a:off x="457200" y="1447800"/>
            <a:ext cx="8305800" cy="4953000"/>
          </a:xfrm>
        </p:spPr>
        <p:txBody>
          <a:bodyPr>
            <a:normAutofit/>
          </a:bodyPr>
          <a:lstStyle/>
          <a:p>
            <a:pPr marL="457200" indent="-457200">
              <a:buAutoNum type="arabicPeriod"/>
            </a:pPr>
            <a:r>
              <a:rPr lang="en-US" sz="2400" dirty="0"/>
              <a:t>For the circuits shown in Fig.1, determine the total resistance, </a:t>
            </a:r>
            <a:r>
              <a:rPr lang="en-US" sz="2400" b="1" i="1" dirty="0"/>
              <a:t>RT</a:t>
            </a:r>
            <a:r>
              <a:rPr lang="en-US" sz="2400" dirty="0"/>
              <a:t>, and the current,</a:t>
            </a:r>
            <a:r>
              <a:rPr lang="en-US" sz="2400" b="1" i="1" dirty="0"/>
              <a:t> I</a:t>
            </a:r>
            <a:r>
              <a:rPr lang="en-US" b="1" i="1" dirty="0"/>
              <a:t>.</a:t>
            </a:r>
          </a:p>
          <a:p>
            <a:pPr marL="514350" indent="-514350">
              <a:buAutoNum type="arabicPeriod"/>
            </a:pPr>
            <a:endParaRPr lang="en-US" b="1" i="1" dirty="0"/>
          </a:p>
          <a:p>
            <a:pPr marL="514350" indent="-514350">
              <a:buAutoNum type="arabicPeriod"/>
            </a:pPr>
            <a:endParaRPr lang="en-US" b="1" i="1" dirty="0"/>
          </a:p>
          <a:p>
            <a:pPr marL="514350" indent="-514350">
              <a:buAutoNum type="arabicPeriod"/>
            </a:pPr>
            <a:endParaRPr lang="en-US" b="1" i="1" dirty="0"/>
          </a:p>
          <a:p>
            <a:pPr marL="0" indent="0">
              <a:buNone/>
            </a:pPr>
            <a:endParaRPr lang="en-US" b="1" i="1" dirty="0"/>
          </a:p>
          <a:p>
            <a:pPr marL="0" indent="0">
              <a:buNone/>
            </a:pPr>
            <a:endParaRPr lang="en-US" b="1" i="1" dirty="0"/>
          </a:p>
        </p:txBody>
      </p:sp>
      <p:sp>
        <p:nvSpPr>
          <p:cNvPr id="4" name="Date Placeholder 3"/>
          <p:cNvSpPr>
            <a:spLocks noGrp="1"/>
          </p:cNvSpPr>
          <p:nvPr>
            <p:ph type="dt" sz="half" idx="10"/>
          </p:nvPr>
        </p:nvSpPr>
        <p:spPr/>
        <p:txBody>
          <a:bodyPr/>
          <a:lstStyle/>
          <a:p>
            <a:fld id="{D81B32BD-1461-44A4-84D7-71096518F439}"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14</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521" y="2883725"/>
            <a:ext cx="7543801"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579421" y="4941125"/>
            <a:ext cx="830779" cy="369332"/>
          </a:xfrm>
          <a:prstGeom prst="rect">
            <a:avLst/>
          </a:prstGeom>
          <a:noFill/>
        </p:spPr>
        <p:txBody>
          <a:bodyPr wrap="square" rtlCol="0">
            <a:spAutoFit/>
          </a:bodyPr>
          <a:lstStyle/>
          <a:p>
            <a:r>
              <a:rPr lang="en-US" b="1" dirty="0"/>
              <a:t>Fig.1</a:t>
            </a:r>
          </a:p>
        </p:txBody>
      </p:sp>
    </p:spTree>
    <p:extLst>
      <p:ext uri="{BB962C8B-B14F-4D97-AF65-F5344CB8AC3E}">
        <p14:creationId xmlns:p14="http://schemas.microsoft.com/office/powerpoint/2010/main" val="2387531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D680E17-CEA3-49CE-90A2-3D722D839146}"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15</a:t>
            </a:fld>
            <a:endParaRPr lang="en-US"/>
          </a:p>
        </p:txBody>
      </p:sp>
      <p:sp>
        <p:nvSpPr>
          <p:cNvPr id="7" name="Content Placeholder 6"/>
          <p:cNvSpPr>
            <a:spLocks noGrp="1"/>
          </p:cNvSpPr>
          <p:nvPr>
            <p:ph idx="1"/>
          </p:nvPr>
        </p:nvSpPr>
        <p:spPr>
          <a:xfrm>
            <a:off x="457200" y="1066800"/>
            <a:ext cx="4648200" cy="5059363"/>
          </a:xfrm>
        </p:spPr>
        <p:txBody>
          <a:bodyPr>
            <a:normAutofit fontScale="62500" lnSpcReduction="20000"/>
          </a:bodyPr>
          <a:lstStyle/>
          <a:p>
            <a:pPr marL="0" indent="0">
              <a:buNone/>
            </a:pPr>
            <a:r>
              <a:rPr lang="en-US" dirty="0"/>
              <a:t>2</a:t>
            </a:r>
            <a:r>
              <a:rPr lang="en-US" b="1" dirty="0"/>
              <a:t>.</a:t>
            </a:r>
            <a:r>
              <a:rPr lang="en-US" dirty="0"/>
              <a:t> The circuits of Fig.2 have the total resistance, RT, as shown. For each of the circuits find the following:</a:t>
            </a:r>
          </a:p>
          <a:p>
            <a:pPr marL="514350" indent="-514350">
              <a:buFont typeface="+mj-lt"/>
              <a:buAutoNum type="alphaLcPeriod"/>
            </a:pPr>
            <a:r>
              <a:rPr lang="en-US" dirty="0"/>
              <a:t>The magnitude of current in the circuit.</a:t>
            </a:r>
          </a:p>
          <a:p>
            <a:pPr marL="514350" indent="-514350">
              <a:buFont typeface="+mj-lt"/>
              <a:buAutoNum type="alphaLcPeriod"/>
            </a:pPr>
            <a:r>
              <a:rPr lang="en-US" dirty="0"/>
              <a:t>The total power delivered by the voltage source.</a:t>
            </a:r>
          </a:p>
          <a:p>
            <a:pPr marL="514350" indent="-514350">
              <a:buFont typeface="+mj-lt"/>
              <a:buAutoNum type="alphaLcPeriod"/>
            </a:pPr>
            <a:r>
              <a:rPr lang="en-US" dirty="0"/>
              <a:t>The direction of current through each resistor in the circuit.</a:t>
            </a:r>
          </a:p>
          <a:p>
            <a:pPr marL="514350" indent="-514350">
              <a:buFont typeface="+mj-lt"/>
              <a:buAutoNum type="alphaLcPeriod"/>
            </a:pPr>
            <a:r>
              <a:rPr lang="en-US" dirty="0"/>
              <a:t>The value of the unknown resistance, R.</a:t>
            </a:r>
          </a:p>
          <a:p>
            <a:pPr marL="514350" indent="-514350">
              <a:buFont typeface="+mj-lt"/>
              <a:buAutoNum type="alphaLcPeriod"/>
            </a:pPr>
            <a:r>
              <a:rPr lang="en-US" dirty="0"/>
              <a:t>The voltage drop across each resistor.</a:t>
            </a:r>
          </a:p>
          <a:p>
            <a:pPr marL="514350" indent="-514350">
              <a:buFont typeface="+mj-lt"/>
              <a:buAutoNum type="alphaLcPeriod"/>
            </a:pPr>
            <a:r>
              <a:rPr lang="en-US" dirty="0"/>
              <a:t>The power dissipated by each resistor. Verify that the summation of  powers dissipated by the resistors is equal to the power delivered by the voltage source.</a:t>
            </a:r>
          </a:p>
          <a:p>
            <a:endParaRPr 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990600"/>
            <a:ext cx="3124200" cy="2783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9948" y="3886200"/>
            <a:ext cx="3043052" cy="2534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4957948" y="5613070"/>
            <a:ext cx="762000" cy="369332"/>
          </a:xfrm>
          <a:prstGeom prst="rect">
            <a:avLst/>
          </a:prstGeom>
          <a:noFill/>
        </p:spPr>
        <p:txBody>
          <a:bodyPr wrap="square" rtlCol="0">
            <a:spAutoFit/>
          </a:bodyPr>
          <a:lstStyle/>
          <a:p>
            <a:r>
              <a:rPr lang="en-US" b="1" dirty="0"/>
              <a:t>Fig.2 </a:t>
            </a:r>
          </a:p>
        </p:txBody>
      </p:sp>
    </p:spTree>
    <p:extLst>
      <p:ext uri="{BB962C8B-B14F-4D97-AF65-F5344CB8AC3E}">
        <p14:creationId xmlns:p14="http://schemas.microsoft.com/office/powerpoint/2010/main" val="244022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3F2C1D7-C3BF-4365-9253-5327CFD414A9}"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16</a:t>
            </a:fld>
            <a:endParaRPr lang="en-US"/>
          </a:p>
        </p:txBody>
      </p:sp>
      <p:sp>
        <p:nvSpPr>
          <p:cNvPr id="7" name="TextBox 6"/>
          <p:cNvSpPr txBox="1"/>
          <p:nvPr/>
        </p:nvSpPr>
        <p:spPr>
          <a:xfrm>
            <a:off x="152400" y="1066800"/>
            <a:ext cx="6172200" cy="1938992"/>
          </a:xfrm>
          <a:prstGeom prst="rect">
            <a:avLst/>
          </a:prstGeom>
          <a:noFill/>
        </p:spPr>
        <p:txBody>
          <a:bodyPr wrap="square" rtlCol="0">
            <a:spAutoFit/>
          </a:bodyPr>
          <a:lstStyle/>
          <a:p>
            <a:r>
              <a:rPr lang="en-US" sz="2000" b="1" dirty="0"/>
              <a:t>3</a:t>
            </a:r>
            <a:r>
              <a:rPr lang="en-US" sz="2000" dirty="0"/>
              <a:t>. For the circuit of Fig.3, find the following quantities:</a:t>
            </a:r>
          </a:p>
          <a:p>
            <a:r>
              <a:rPr lang="en-US" sz="2000" dirty="0"/>
              <a:t>a. The circuit current.</a:t>
            </a:r>
          </a:p>
          <a:p>
            <a:r>
              <a:rPr lang="en-US" sz="2000" dirty="0"/>
              <a:t>b. The total resistance of the circuit.</a:t>
            </a:r>
          </a:p>
          <a:p>
            <a:r>
              <a:rPr lang="en-US" sz="2000" dirty="0"/>
              <a:t>c. The value of the unknown resistance, R.</a:t>
            </a:r>
          </a:p>
          <a:p>
            <a:r>
              <a:rPr lang="en-US" sz="2000" dirty="0"/>
              <a:t>d. The voltage drop across all resistors in the circuit.</a:t>
            </a:r>
          </a:p>
          <a:p>
            <a:r>
              <a:rPr lang="en-US" sz="2000" dirty="0"/>
              <a:t>e. The power dissipated by all resistors</a:t>
            </a:r>
            <a:r>
              <a:rPr lang="en-US" dirty="0"/>
              <a:t>.</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5547" y="838200"/>
            <a:ext cx="3069854" cy="2119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6306787" y="2772811"/>
            <a:ext cx="633507" cy="369332"/>
          </a:xfrm>
          <a:prstGeom prst="rect">
            <a:avLst/>
          </a:prstGeom>
          <a:noFill/>
        </p:spPr>
        <p:txBody>
          <a:bodyPr wrap="none" rtlCol="0">
            <a:spAutoFit/>
          </a:bodyPr>
          <a:lstStyle/>
          <a:p>
            <a:r>
              <a:rPr lang="en-US" b="1" dirty="0"/>
              <a:t>Fig.3</a:t>
            </a:r>
          </a:p>
        </p:txBody>
      </p:sp>
      <p:sp>
        <p:nvSpPr>
          <p:cNvPr id="9" name="TextBox 8"/>
          <p:cNvSpPr txBox="1"/>
          <p:nvPr/>
        </p:nvSpPr>
        <p:spPr>
          <a:xfrm>
            <a:off x="304800" y="3429000"/>
            <a:ext cx="4495800" cy="2585323"/>
          </a:xfrm>
          <a:prstGeom prst="rect">
            <a:avLst/>
          </a:prstGeom>
          <a:noFill/>
        </p:spPr>
        <p:txBody>
          <a:bodyPr wrap="square" rtlCol="0">
            <a:spAutoFit/>
          </a:bodyPr>
          <a:lstStyle/>
          <a:p>
            <a:r>
              <a:rPr lang="en-US" dirty="0"/>
              <a:t>4. The circuit of Fig.4 has a current of 2.5 mA. Find the following</a:t>
            </a:r>
          </a:p>
          <a:p>
            <a:r>
              <a:rPr lang="en-US" dirty="0"/>
              <a:t>quantities:</a:t>
            </a:r>
          </a:p>
          <a:p>
            <a:r>
              <a:rPr lang="en-US" dirty="0"/>
              <a:t>a. The total resistance of the circuit.</a:t>
            </a:r>
          </a:p>
          <a:p>
            <a:r>
              <a:rPr lang="en-US" dirty="0"/>
              <a:t>b. The value of the unknown resistance, R2.</a:t>
            </a:r>
          </a:p>
          <a:p>
            <a:r>
              <a:rPr lang="en-US" dirty="0"/>
              <a:t>c. The voltage drop across each resistor in the circuit.</a:t>
            </a:r>
          </a:p>
          <a:p>
            <a:r>
              <a:rPr lang="en-US" dirty="0"/>
              <a:t>d. The power dissipated by each resistor in the circuit.</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3591293"/>
            <a:ext cx="3352800" cy="25047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5279653" y="5377934"/>
            <a:ext cx="816347" cy="369332"/>
          </a:xfrm>
          <a:prstGeom prst="rect">
            <a:avLst/>
          </a:prstGeom>
          <a:noFill/>
        </p:spPr>
        <p:txBody>
          <a:bodyPr wrap="square" rtlCol="0">
            <a:spAutoFit/>
          </a:bodyPr>
          <a:lstStyle/>
          <a:p>
            <a:r>
              <a:rPr lang="en-US" b="1" dirty="0"/>
              <a:t>Fig.4</a:t>
            </a:r>
          </a:p>
        </p:txBody>
      </p:sp>
      <p:cxnSp>
        <p:nvCxnSpPr>
          <p:cNvPr id="12" name="Straight Connector 11"/>
          <p:cNvCxnSpPr/>
          <p:nvPr/>
        </p:nvCxnSpPr>
        <p:spPr>
          <a:xfrm>
            <a:off x="152400" y="3276600"/>
            <a:ext cx="8763001" cy="0"/>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898624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5800"/>
            <a:ext cx="8224652" cy="533400"/>
          </a:xfrm>
        </p:spPr>
        <p:txBody>
          <a:bodyPr>
            <a:noAutofit/>
          </a:bodyPr>
          <a:lstStyle/>
          <a:p>
            <a:r>
              <a:rPr lang="en-US" sz="3200" b="1" dirty="0"/>
              <a:t>PARALLEL CIRCUITS</a:t>
            </a:r>
          </a:p>
        </p:txBody>
      </p:sp>
      <p:sp>
        <p:nvSpPr>
          <p:cNvPr id="3" name="Content Placeholder 2"/>
          <p:cNvSpPr>
            <a:spLocks noGrp="1"/>
          </p:cNvSpPr>
          <p:nvPr>
            <p:ph idx="1"/>
          </p:nvPr>
        </p:nvSpPr>
        <p:spPr>
          <a:xfrm>
            <a:off x="457200" y="1219200"/>
            <a:ext cx="8534400" cy="5105400"/>
          </a:xfrm>
        </p:spPr>
        <p:txBody>
          <a:bodyPr>
            <a:normAutofit/>
          </a:bodyPr>
          <a:lstStyle/>
          <a:p>
            <a:r>
              <a:rPr lang="en-US" sz="2600" i="1" dirty="0"/>
              <a:t>Elements or branches are said to be in a parallel connection when </a:t>
            </a:r>
            <a:r>
              <a:rPr lang="en-US" sz="2600" b="1" i="1" dirty="0">
                <a:solidFill>
                  <a:srgbClr val="0070C0"/>
                </a:solidFill>
              </a:rPr>
              <a:t>they have exactly two nodes in common</a:t>
            </a:r>
            <a:r>
              <a:rPr lang="en-US" sz="2600" i="1" dirty="0"/>
              <a:t>. Additionally, these parallel elements or branches </a:t>
            </a:r>
            <a:r>
              <a:rPr lang="en-US" sz="2600" b="1" i="1" dirty="0">
                <a:solidFill>
                  <a:srgbClr val="0070C0"/>
                </a:solidFill>
              </a:rPr>
              <a:t>will have the same voltage across them</a:t>
            </a:r>
            <a:r>
              <a:rPr lang="en-US" sz="2600" i="1" dirty="0"/>
              <a:t>.</a:t>
            </a:r>
          </a:p>
          <a:p>
            <a:r>
              <a:rPr lang="en-US" sz="2600" dirty="0"/>
              <a:t>The elements between the nodes may be any two-terminal devices such as </a:t>
            </a:r>
            <a:r>
              <a:rPr lang="en-US" sz="2600" b="1" dirty="0"/>
              <a:t>voltage sources, resistors, light bulbs, etc.</a:t>
            </a:r>
          </a:p>
        </p:txBody>
      </p:sp>
      <p:sp>
        <p:nvSpPr>
          <p:cNvPr id="4" name="Date Placeholder 3"/>
          <p:cNvSpPr>
            <a:spLocks noGrp="1"/>
          </p:cNvSpPr>
          <p:nvPr>
            <p:ph type="dt" sz="half" idx="10"/>
          </p:nvPr>
        </p:nvSpPr>
        <p:spPr/>
        <p:txBody>
          <a:bodyPr/>
          <a:lstStyle/>
          <a:p>
            <a:fld id="{5BE8D31E-CC03-481C-AA9F-29C9F3379A6D}"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17</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3810000"/>
            <a:ext cx="5791200"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702597" y="5334000"/>
            <a:ext cx="1888209" cy="369332"/>
          </a:xfrm>
          <a:prstGeom prst="rect">
            <a:avLst/>
          </a:prstGeom>
        </p:spPr>
        <p:txBody>
          <a:bodyPr wrap="none">
            <a:spAutoFit/>
          </a:bodyPr>
          <a:lstStyle/>
          <a:p>
            <a:r>
              <a:rPr lang="en-US" b="1" dirty="0"/>
              <a:t>Parallel elements.</a:t>
            </a:r>
          </a:p>
        </p:txBody>
      </p:sp>
    </p:spTree>
    <p:extLst>
      <p:ext uri="{BB962C8B-B14F-4D97-AF65-F5344CB8AC3E}">
        <p14:creationId xmlns:p14="http://schemas.microsoft.com/office/powerpoint/2010/main" val="748711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838200"/>
                <a:ext cx="8686800" cy="5638800"/>
              </a:xfrm>
            </p:spPr>
            <p:txBody>
              <a:bodyPr/>
              <a:lstStyle/>
              <a:p>
                <a:r>
                  <a:rPr lang="en-US" b="1" dirty="0"/>
                  <a:t>Kirchhoff’s Current Law (KCL)</a:t>
                </a:r>
              </a:p>
              <a:p>
                <a:r>
                  <a:rPr lang="en-US" sz="2700" dirty="0"/>
                  <a:t>KCL is the underlying principle that is used to explain the operation of a </a:t>
                </a:r>
                <a:r>
                  <a:rPr lang="en-US" sz="2700" b="1" i="1" dirty="0">
                    <a:solidFill>
                      <a:srgbClr val="0070C0"/>
                    </a:solidFill>
                  </a:rPr>
                  <a:t>parallel circuit</a:t>
                </a:r>
                <a:r>
                  <a:rPr lang="en-US" sz="2700" dirty="0"/>
                  <a:t>. </a:t>
                </a:r>
              </a:p>
              <a:p>
                <a:r>
                  <a:rPr lang="en-US" sz="2700" dirty="0"/>
                  <a:t>Kirchhoff’s current law states the following:</a:t>
                </a:r>
              </a:p>
              <a:p>
                <a:pPr lvl="2"/>
                <a:r>
                  <a:rPr lang="en-US" sz="1900" b="1" i="1" dirty="0">
                    <a:solidFill>
                      <a:srgbClr val="0070C0"/>
                    </a:solidFill>
                  </a:rPr>
                  <a:t>The summation of currents entering a node is equal to the summation of  currents leaving the node.</a:t>
                </a:r>
              </a:p>
              <a:p>
                <a:r>
                  <a:rPr lang="en-US" sz="2700" dirty="0"/>
                  <a:t>In mathematical form, KCL is stated as follows:</a:t>
                </a:r>
              </a:p>
              <a:p>
                <a14:m>
                  <m:oMath xmlns:m="http://schemas.openxmlformats.org/officeDocument/2006/math">
                    <m:nary>
                      <m:naryPr>
                        <m:chr m:val="∑"/>
                        <m:subHide m:val="on"/>
                        <m:supHide m:val="on"/>
                        <m:ctrlPr>
                          <a:rPr lang="en-US" sz="2700" b="1" i="1" smtClean="0">
                            <a:solidFill>
                              <a:srgbClr val="C00000"/>
                            </a:solidFill>
                            <a:latin typeface="Cambria Math" panose="02040503050406030204" pitchFamily="18" charset="0"/>
                          </a:rPr>
                        </m:ctrlPr>
                      </m:naryPr>
                      <m:sub/>
                      <m:sup/>
                      <m:e>
                        <m:sSub>
                          <m:sSubPr>
                            <m:ctrlPr>
                              <a:rPr lang="en-US" sz="2700" b="1" i="1" smtClean="0">
                                <a:solidFill>
                                  <a:srgbClr val="C00000"/>
                                </a:solidFill>
                                <a:latin typeface="Cambria Math" panose="02040503050406030204" pitchFamily="18" charset="0"/>
                              </a:rPr>
                            </m:ctrlPr>
                          </m:sSubPr>
                          <m:e>
                            <m:r>
                              <a:rPr lang="en-US" sz="2700" b="1" i="1" smtClean="0">
                                <a:solidFill>
                                  <a:srgbClr val="C00000"/>
                                </a:solidFill>
                                <a:latin typeface="Cambria Math"/>
                              </a:rPr>
                              <m:t>𝑰</m:t>
                            </m:r>
                          </m:e>
                          <m:sub>
                            <m:r>
                              <a:rPr lang="en-US" sz="2700" b="1" i="1" smtClean="0">
                                <a:solidFill>
                                  <a:srgbClr val="C00000"/>
                                </a:solidFill>
                                <a:latin typeface="Cambria Math"/>
                              </a:rPr>
                              <m:t>𝒆𝒏𝒕𝒆𝒓𝒊𝒏𝒈</m:t>
                            </m:r>
                            <m:r>
                              <a:rPr lang="en-US" sz="2700" b="1" i="1" smtClean="0">
                                <a:solidFill>
                                  <a:srgbClr val="C00000"/>
                                </a:solidFill>
                                <a:latin typeface="Cambria Math"/>
                              </a:rPr>
                              <m:t> </m:t>
                            </m:r>
                            <m:r>
                              <a:rPr lang="en-US" sz="2700" b="1" i="1" smtClean="0">
                                <a:solidFill>
                                  <a:srgbClr val="C00000"/>
                                </a:solidFill>
                                <a:latin typeface="Cambria Math"/>
                              </a:rPr>
                              <m:t>𝒏𝒐𝒅𝒆</m:t>
                            </m:r>
                          </m:sub>
                        </m:sSub>
                        <m:r>
                          <a:rPr lang="en-US" sz="2700" b="1" i="1" smtClean="0">
                            <a:solidFill>
                              <a:srgbClr val="C00000"/>
                            </a:solidFill>
                            <a:latin typeface="Cambria Math"/>
                          </a:rPr>
                          <m:t>=</m:t>
                        </m:r>
                        <m:nary>
                          <m:naryPr>
                            <m:chr m:val="∑"/>
                            <m:subHide m:val="on"/>
                            <m:supHide m:val="on"/>
                            <m:ctrlPr>
                              <a:rPr lang="en-US" sz="2700" b="1" i="1" smtClean="0">
                                <a:solidFill>
                                  <a:srgbClr val="C00000"/>
                                </a:solidFill>
                                <a:latin typeface="Cambria Math" panose="02040503050406030204" pitchFamily="18" charset="0"/>
                              </a:rPr>
                            </m:ctrlPr>
                          </m:naryPr>
                          <m:sub/>
                          <m:sup/>
                          <m:e>
                            <m:sSub>
                              <m:sSubPr>
                                <m:ctrlPr>
                                  <a:rPr lang="en-US" sz="2700" b="1" i="1" smtClean="0">
                                    <a:solidFill>
                                      <a:srgbClr val="C00000"/>
                                    </a:solidFill>
                                    <a:latin typeface="Cambria Math" panose="02040503050406030204" pitchFamily="18" charset="0"/>
                                  </a:rPr>
                                </m:ctrlPr>
                              </m:sSubPr>
                              <m:e>
                                <m:r>
                                  <a:rPr lang="en-US" sz="2700" b="1" i="1" smtClean="0">
                                    <a:solidFill>
                                      <a:srgbClr val="C00000"/>
                                    </a:solidFill>
                                    <a:latin typeface="Cambria Math"/>
                                  </a:rPr>
                                  <m:t>𝑰</m:t>
                                </m:r>
                              </m:e>
                              <m:sub>
                                <m:r>
                                  <a:rPr lang="en-US" sz="2700" b="1" i="1" smtClean="0">
                                    <a:solidFill>
                                      <a:srgbClr val="C00000"/>
                                    </a:solidFill>
                                    <a:latin typeface="Cambria Math"/>
                                  </a:rPr>
                                  <m:t>𝒍𝒆𝒂𝒗𝒊𝒏𝒈</m:t>
                                </m:r>
                                <m:r>
                                  <a:rPr lang="en-US" sz="2700" b="1" i="1" smtClean="0">
                                    <a:solidFill>
                                      <a:srgbClr val="C00000"/>
                                    </a:solidFill>
                                    <a:latin typeface="Cambria Math"/>
                                  </a:rPr>
                                  <m:t> </m:t>
                                </m:r>
                                <m:r>
                                  <a:rPr lang="en-US" sz="2700" b="1" i="1" smtClean="0">
                                    <a:solidFill>
                                      <a:srgbClr val="C00000"/>
                                    </a:solidFill>
                                    <a:latin typeface="Cambria Math"/>
                                  </a:rPr>
                                  <m:t>𝒏𝒐𝒅𝒆</m:t>
                                </m:r>
                              </m:sub>
                            </m:sSub>
                          </m:e>
                        </m:nary>
                      </m:e>
                    </m:nary>
                  </m:oMath>
                </a14:m>
                <a:endParaRPr lang="en-US" sz="2700" b="1" dirty="0"/>
              </a:p>
              <a:p>
                <a:pPr marL="0" indent="0">
                  <a:buNone/>
                </a:pPr>
                <a:r>
                  <a:rPr lang="en-US" sz="2700" dirty="0"/>
                  <a:t>Example: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838200"/>
                <a:ext cx="8686800" cy="5638800"/>
              </a:xfrm>
              <a:blipFill rotWithShape="1">
                <a:blip r:embed="rId2"/>
                <a:stretch>
                  <a:fillRect l="-1614" t="-1405" r="-42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83AEE457-88FE-43DA-919C-93704C912247}"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18</a:t>
            </a:fld>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0478" y="3812968"/>
            <a:ext cx="2971800" cy="26640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953000"/>
            <a:ext cx="3586213" cy="12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169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 calcmode="lin" valueType="num">
                                      <p:cBhvr additive="base">
                                        <p:cTn id="7" dur="500" fill="hold"/>
                                        <p:tgtEl>
                                          <p:spTgt spid="7171"/>
                                        </p:tgtEl>
                                        <p:attrNameLst>
                                          <p:attrName>ppt_x</p:attrName>
                                        </p:attrNameLst>
                                      </p:cBhvr>
                                      <p:tavLst>
                                        <p:tav tm="0">
                                          <p:val>
                                            <p:strVal val="#ppt_x"/>
                                          </p:val>
                                        </p:tav>
                                        <p:tav tm="100000">
                                          <p:val>
                                            <p:strVal val="#ppt_x"/>
                                          </p:val>
                                        </p:tav>
                                      </p:tavLst>
                                    </p:anim>
                                    <p:anim calcmode="lin" valueType="num">
                                      <p:cBhvr additive="base">
                                        <p:cTn id="8"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10600" cy="5486400"/>
          </a:xfrm>
        </p:spPr>
        <p:txBody>
          <a:bodyPr>
            <a:normAutofit/>
          </a:bodyPr>
          <a:lstStyle/>
          <a:p>
            <a:r>
              <a:rPr lang="en-US" sz="2400" b="1" dirty="0"/>
              <a:t>Example1</a:t>
            </a:r>
            <a:r>
              <a:rPr lang="en-US" sz="2400" dirty="0"/>
              <a:t>: Verify that Kirchhoff’s current law</a:t>
            </a:r>
          </a:p>
        </p:txBody>
      </p:sp>
      <p:sp>
        <p:nvSpPr>
          <p:cNvPr id="4" name="Date Placeholder 3"/>
          <p:cNvSpPr>
            <a:spLocks noGrp="1"/>
          </p:cNvSpPr>
          <p:nvPr>
            <p:ph type="dt" sz="half" idx="10"/>
          </p:nvPr>
        </p:nvSpPr>
        <p:spPr/>
        <p:txBody>
          <a:bodyPr/>
          <a:lstStyle/>
          <a:p>
            <a:fld id="{5E2E6099-1201-47B5-B4C1-933CC1C8D029}"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19</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95400"/>
            <a:ext cx="2743200" cy="2468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3581400" y="1676400"/>
            <a:ext cx="5468624" cy="1292662"/>
          </a:xfrm>
          <a:prstGeom prst="rect">
            <a:avLst/>
          </a:prstGeom>
          <a:noFill/>
        </p:spPr>
        <p:txBody>
          <a:bodyPr wrap="square" rtlCol="0">
            <a:spAutoFit/>
          </a:bodyPr>
          <a:lstStyle/>
          <a:p>
            <a:r>
              <a:rPr lang="it-IT" sz="2600" b="1" dirty="0">
                <a:solidFill>
                  <a:srgbClr val="002060"/>
                </a:solidFill>
              </a:rPr>
              <a:t>Solution</a:t>
            </a:r>
            <a:r>
              <a:rPr lang="it-IT" sz="2600" dirty="0"/>
              <a:t>: All resistors are connected at the </a:t>
            </a:r>
            <a:r>
              <a:rPr lang="it-IT" sz="2600" dirty="0">
                <a:solidFill>
                  <a:srgbClr val="C00000"/>
                </a:solidFill>
              </a:rPr>
              <a:t>s</a:t>
            </a:r>
            <a:r>
              <a:rPr lang="it-IT" sz="2600" dirty="0"/>
              <a:t>ame node</a:t>
            </a:r>
            <a:endParaRPr lang="it-IT" sz="2600" b="1" dirty="0"/>
          </a:p>
          <a:p>
            <a:r>
              <a:rPr lang="it-IT" sz="2600" b="1" dirty="0">
                <a:solidFill>
                  <a:srgbClr val="C00000"/>
                </a:solidFill>
              </a:rPr>
              <a:t>3 mA+ 6mA+1mA=2mA+4mA+4 mA</a:t>
            </a:r>
            <a:endParaRPr lang="en-US" sz="2600" b="1" dirty="0">
              <a:solidFill>
                <a:srgbClr val="C00000"/>
              </a:solidFill>
            </a:endParaRPr>
          </a:p>
        </p:txBody>
      </p:sp>
      <p:sp>
        <p:nvSpPr>
          <p:cNvPr id="9" name="TextBox 8"/>
          <p:cNvSpPr txBox="1"/>
          <p:nvPr/>
        </p:nvSpPr>
        <p:spPr>
          <a:xfrm>
            <a:off x="381000" y="3886200"/>
            <a:ext cx="7924800" cy="477054"/>
          </a:xfrm>
          <a:prstGeom prst="rect">
            <a:avLst/>
          </a:prstGeom>
          <a:noFill/>
        </p:spPr>
        <p:txBody>
          <a:bodyPr wrap="square" rtlCol="0">
            <a:spAutoFit/>
          </a:bodyPr>
          <a:lstStyle/>
          <a:p>
            <a:pPr marL="342900" indent="-342900" algn="ctr">
              <a:buFont typeface="Arial" panose="020B0604020202020204" pitchFamily="34" charset="0"/>
              <a:buChar char="•"/>
            </a:pPr>
            <a:r>
              <a:rPr lang="en-US" sz="2500" b="1" dirty="0"/>
              <a:t>Example2</a:t>
            </a:r>
            <a:r>
              <a:rPr lang="en-US" sz="2500" dirty="0"/>
              <a:t> Find the magnitudes of the unknown currents.</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1" y="4505696"/>
            <a:ext cx="3581400" cy="1771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0" name="TextBox 9"/>
              <p:cNvSpPr txBox="1"/>
              <p:nvPr/>
            </p:nvSpPr>
            <p:spPr>
              <a:xfrm>
                <a:off x="3810000" y="4510644"/>
                <a:ext cx="5245218" cy="1754326"/>
              </a:xfrm>
              <a:prstGeom prst="rect">
                <a:avLst/>
              </a:prstGeom>
              <a:noFill/>
            </p:spPr>
            <p:txBody>
              <a:bodyPr wrap="none" rtlCol="0">
                <a:spAutoFit/>
              </a:bodyPr>
              <a:lstStyle/>
              <a:p>
                <a:r>
                  <a:rPr lang="en-US" b="1" dirty="0">
                    <a:solidFill>
                      <a:srgbClr val="0070C0"/>
                    </a:solidFill>
                  </a:rPr>
                  <a:t>Solutio</a:t>
                </a:r>
                <a:r>
                  <a:rPr lang="en-US" dirty="0">
                    <a:solidFill>
                      <a:srgbClr val="0070C0"/>
                    </a:solidFill>
                  </a:rPr>
                  <a:t>n</a:t>
                </a:r>
                <a:r>
                  <a:rPr lang="en-US" dirty="0"/>
                  <a:t>: At points a and b, there are two unknown </a:t>
                </a:r>
              </a:p>
              <a:p>
                <a:r>
                  <a:rPr lang="en-US" dirty="0"/>
                  <a:t>currents:  At </a:t>
                </a:r>
                <a:r>
                  <a:rPr lang="en-US" b="1" dirty="0"/>
                  <a:t>c</a:t>
                </a:r>
                <a:r>
                  <a:rPr lang="en-US" dirty="0"/>
                  <a:t>, we have </a:t>
                </a:r>
              </a:p>
              <a:p>
                <a:pPr/>
                <a14:m>
                  <m:oMathPara xmlns:m="http://schemas.openxmlformats.org/officeDocument/2006/math">
                    <m:oMathParaPr>
                      <m:jc m:val="left"/>
                    </m:oMathParaPr>
                    <m:oMath xmlns:m="http://schemas.openxmlformats.org/officeDocument/2006/math">
                      <m:r>
                        <a:rPr lang="en-US" b="1" i="1" smtClean="0">
                          <a:solidFill>
                            <a:srgbClr val="C00000"/>
                          </a:solidFill>
                          <a:latin typeface="Cambria Math"/>
                        </a:rPr>
                        <m:t>𝑰</m:t>
                      </m:r>
                      <m:r>
                        <a:rPr lang="en-US" b="1" i="1" smtClean="0">
                          <a:solidFill>
                            <a:srgbClr val="C00000"/>
                          </a:solidFill>
                          <a:latin typeface="Cambria Math"/>
                        </a:rPr>
                        <m:t>𝟒</m:t>
                      </m:r>
                      <m:r>
                        <a:rPr lang="en-US" b="1" i="1" smtClean="0">
                          <a:solidFill>
                            <a:srgbClr val="C00000"/>
                          </a:solidFill>
                          <a:latin typeface="Cambria Math"/>
                        </a:rPr>
                        <m:t>+</m:t>
                      </m:r>
                      <m:r>
                        <a:rPr lang="en-US" b="1" i="1" smtClean="0">
                          <a:solidFill>
                            <a:srgbClr val="C00000"/>
                          </a:solidFill>
                          <a:latin typeface="Cambria Math"/>
                        </a:rPr>
                        <m:t>𝑰</m:t>
                      </m:r>
                      <m:r>
                        <a:rPr lang="en-US" b="1" i="1" smtClean="0">
                          <a:solidFill>
                            <a:srgbClr val="C00000"/>
                          </a:solidFill>
                          <a:latin typeface="Cambria Math"/>
                        </a:rPr>
                        <m:t>𝟓</m:t>
                      </m:r>
                      <m:r>
                        <a:rPr lang="en-US" b="1" i="1" smtClean="0">
                          <a:solidFill>
                            <a:srgbClr val="C00000"/>
                          </a:solidFill>
                          <a:latin typeface="Cambria Math"/>
                        </a:rPr>
                        <m:t>+</m:t>
                      </m:r>
                      <m:r>
                        <a:rPr lang="en-US" b="1" i="1" smtClean="0">
                          <a:solidFill>
                            <a:srgbClr val="C00000"/>
                          </a:solidFill>
                          <a:latin typeface="Cambria Math"/>
                        </a:rPr>
                        <m:t>𝑰</m:t>
                      </m:r>
                      <m:r>
                        <a:rPr lang="en-US" b="1" i="1" smtClean="0">
                          <a:solidFill>
                            <a:srgbClr val="C00000"/>
                          </a:solidFill>
                          <a:latin typeface="Cambria Math"/>
                        </a:rPr>
                        <m:t>𝟔</m:t>
                      </m:r>
                      <m:r>
                        <a:rPr lang="en-US" b="1" i="1" smtClean="0">
                          <a:solidFill>
                            <a:srgbClr val="C00000"/>
                          </a:solidFill>
                          <a:latin typeface="Cambria Math"/>
                        </a:rPr>
                        <m:t>=</m:t>
                      </m:r>
                      <m:r>
                        <a:rPr lang="en-US" b="1" i="1" smtClean="0">
                          <a:solidFill>
                            <a:srgbClr val="C00000"/>
                          </a:solidFill>
                          <a:latin typeface="Cambria Math"/>
                        </a:rPr>
                        <m:t>𝑰</m:t>
                      </m:r>
                      <m:r>
                        <a:rPr lang="en-US" b="1" i="1" smtClean="0">
                          <a:solidFill>
                            <a:srgbClr val="C00000"/>
                          </a:solidFill>
                          <a:latin typeface="Cambria Math"/>
                        </a:rPr>
                        <m:t>𝟕</m:t>
                      </m:r>
                      <m:r>
                        <a:rPr lang="en-US" b="1" i="1" smtClean="0">
                          <a:solidFill>
                            <a:srgbClr val="C00000"/>
                          </a:solidFill>
                          <a:latin typeface="Cambria Math"/>
                        </a:rPr>
                        <m:t>;≡</m:t>
                      </m:r>
                      <m:r>
                        <a:rPr lang="en-US" b="1" i="1" smtClean="0">
                          <a:solidFill>
                            <a:srgbClr val="C00000"/>
                          </a:solidFill>
                          <a:latin typeface="Cambria Math"/>
                          <a:ea typeface="Cambria Math"/>
                        </a:rPr>
                        <m:t>𝑰</m:t>
                      </m:r>
                      <m:r>
                        <a:rPr lang="en-US" b="1" i="1" smtClean="0">
                          <a:solidFill>
                            <a:srgbClr val="C00000"/>
                          </a:solidFill>
                          <a:latin typeface="Cambria Math"/>
                          <a:ea typeface="Cambria Math"/>
                        </a:rPr>
                        <m:t>𝟒</m:t>
                      </m:r>
                      <m:r>
                        <a:rPr lang="en-US" b="1" i="1" smtClean="0">
                          <a:solidFill>
                            <a:srgbClr val="C00000"/>
                          </a:solidFill>
                          <a:latin typeface="Cambria Math"/>
                          <a:ea typeface="Cambria Math"/>
                        </a:rPr>
                        <m:t>+</m:t>
                      </m:r>
                      <m:r>
                        <a:rPr lang="en-US" b="1" i="1" smtClean="0">
                          <a:solidFill>
                            <a:srgbClr val="C00000"/>
                          </a:solidFill>
                          <a:latin typeface="Cambria Math"/>
                          <a:ea typeface="Cambria Math"/>
                        </a:rPr>
                        <m:t>𝟑</m:t>
                      </m:r>
                      <m:r>
                        <a:rPr lang="en-US" b="1" i="1" smtClean="0">
                          <a:solidFill>
                            <a:srgbClr val="C00000"/>
                          </a:solidFill>
                          <a:latin typeface="Cambria Math"/>
                          <a:ea typeface="Cambria Math"/>
                        </a:rPr>
                        <m:t>+</m:t>
                      </m:r>
                      <m:r>
                        <a:rPr lang="en-US" b="1" i="1" smtClean="0">
                          <a:solidFill>
                            <a:srgbClr val="C00000"/>
                          </a:solidFill>
                          <a:latin typeface="Cambria Math"/>
                          <a:ea typeface="Cambria Math"/>
                        </a:rPr>
                        <m:t>𝟐</m:t>
                      </m:r>
                      <m:r>
                        <a:rPr lang="en-US" b="1" i="1" smtClean="0">
                          <a:solidFill>
                            <a:srgbClr val="C00000"/>
                          </a:solidFill>
                          <a:latin typeface="Cambria Math"/>
                          <a:ea typeface="Cambria Math"/>
                        </a:rPr>
                        <m:t>=</m:t>
                      </m:r>
                      <m:r>
                        <a:rPr lang="en-US" b="1" i="1" smtClean="0">
                          <a:solidFill>
                            <a:srgbClr val="C00000"/>
                          </a:solidFill>
                          <a:latin typeface="Cambria Math"/>
                          <a:ea typeface="Cambria Math"/>
                        </a:rPr>
                        <m:t>𝟏𝟎</m:t>
                      </m:r>
                      <m:r>
                        <a:rPr lang="en-US" b="1" i="1" smtClean="0">
                          <a:solidFill>
                            <a:srgbClr val="C00000"/>
                          </a:solidFill>
                          <a:latin typeface="Cambria Math"/>
                          <a:ea typeface="Cambria Math"/>
                        </a:rPr>
                        <m:t>;≡</m:t>
                      </m:r>
                      <m:r>
                        <a:rPr lang="en-US" b="1" i="1" smtClean="0">
                          <a:solidFill>
                            <a:srgbClr val="C00000"/>
                          </a:solidFill>
                          <a:latin typeface="Cambria Math"/>
                          <a:ea typeface="Cambria Math"/>
                        </a:rPr>
                        <m:t>𝑰</m:t>
                      </m:r>
                      <m:r>
                        <a:rPr lang="en-US" b="1" i="1" smtClean="0">
                          <a:solidFill>
                            <a:srgbClr val="C00000"/>
                          </a:solidFill>
                          <a:latin typeface="Cambria Math"/>
                          <a:ea typeface="Cambria Math"/>
                        </a:rPr>
                        <m:t>𝟒</m:t>
                      </m:r>
                      <m:r>
                        <a:rPr lang="en-US" b="1" i="1" smtClean="0">
                          <a:solidFill>
                            <a:srgbClr val="C00000"/>
                          </a:solidFill>
                          <a:latin typeface="Cambria Math"/>
                          <a:ea typeface="Cambria Math"/>
                        </a:rPr>
                        <m:t>=</m:t>
                      </m:r>
                      <m:r>
                        <a:rPr lang="en-US" b="1" i="1" smtClean="0">
                          <a:solidFill>
                            <a:srgbClr val="C00000"/>
                          </a:solidFill>
                          <a:latin typeface="Cambria Math"/>
                          <a:ea typeface="Cambria Math"/>
                        </a:rPr>
                        <m:t>𝟓</m:t>
                      </m:r>
                    </m:oMath>
                  </m:oMathPara>
                </a14:m>
                <a:endParaRPr lang="en-US" b="1" dirty="0">
                  <a:solidFill>
                    <a:srgbClr val="C00000"/>
                  </a:solidFill>
                  <a:ea typeface="Cambria Math"/>
                  <a:sym typeface="Symbol"/>
                </a:endParaRPr>
              </a:p>
              <a:p>
                <a:r>
                  <a:rPr lang="en-US" dirty="0"/>
                  <a:t>Now we can see that at point </a:t>
                </a:r>
                <a:r>
                  <a:rPr lang="en-US" i="1" dirty="0">
                    <a:solidFill>
                      <a:srgbClr val="0070C0"/>
                    </a:solidFill>
                  </a:rPr>
                  <a:t>b </a:t>
                </a:r>
                <a:r>
                  <a:rPr lang="en-US" dirty="0"/>
                  <a:t>the current entering is</a:t>
                </a:r>
              </a:p>
              <a:p>
                <a14:m>
                  <m:oMath xmlns:m="http://schemas.openxmlformats.org/officeDocument/2006/math">
                    <m:r>
                      <a:rPr lang="en-US" b="1" i="1" smtClean="0">
                        <a:solidFill>
                          <a:srgbClr val="C00000"/>
                        </a:solidFill>
                        <a:latin typeface="Cambria Math"/>
                      </a:rPr>
                      <m:t>𝑰</m:t>
                    </m:r>
                    <m:r>
                      <a:rPr lang="en-US" b="1" i="1" smtClean="0">
                        <a:solidFill>
                          <a:srgbClr val="C00000"/>
                        </a:solidFill>
                        <a:latin typeface="Cambria Math"/>
                      </a:rPr>
                      <m:t>𝟑</m:t>
                    </m:r>
                    <m:r>
                      <a:rPr lang="en-US" b="1" i="1" smtClean="0">
                        <a:solidFill>
                          <a:srgbClr val="C00000"/>
                        </a:solidFill>
                        <a:latin typeface="Cambria Math"/>
                      </a:rPr>
                      <m:t>=</m:t>
                    </m:r>
                    <m:r>
                      <a:rPr lang="en-US" b="1" i="1" smtClean="0">
                        <a:solidFill>
                          <a:srgbClr val="C00000"/>
                        </a:solidFill>
                        <a:latin typeface="Cambria Math"/>
                      </a:rPr>
                      <m:t>𝟓</m:t>
                    </m:r>
                    <m:r>
                      <a:rPr lang="en-US" b="1" i="1" smtClean="0">
                        <a:solidFill>
                          <a:srgbClr val="C00000"/>
                        </a:solidFill>
                        <a:latin typeface="Cambria Math"/>
                      </a:rPr>
                      <m:t>+</m:t>
                    </m:r>
                    <m:r>
                      <a:rPr lang="en-US" b="1" i="1" smtClean="0">
                        <a:solidFill>
                          <a:srgbClr val="C00000"/>
                        </a:solidFill>
                        <a:latin typeface="Cambria Math"/>
                      </a:rPr>
                      <m:t>𝟑</m:t>
                    </m:r>
                    <m:r>
                      <a:rPr lang="en-US" b="1" i="1" smtClean="0">
                        <a:solidFill>
                          <a:srgbClr val="C00000"/>
                        </a:solidFill>
                        <a:latin typeface="Cambria Math"/>
                      </a:rPr>
                      <m:t>+</m:t>
                    </m:r>
                    <m:r>
                      <a:rPr lang="en-US" b="1" i="1" smtClean="0">
                        <a:solidFill>
                          <a:srgbClr val="C00000"/>
                        </a:solidFill>
                        <a:latin typeface="Cambria Math"/>
                      </a:rPr>
                      <m:t>𝟐</m:t>
                    </m:r>
                    <m:r>
                      <a:rPr lang="en-US" b="1" i="1" smtClean="0">
                        <a:solidFill>
                          <a:srgbClr val="C00000"/>
                        </a:solidFill>
                        <a:latin typeface="Cambria Math"/>
                      </a:rPr>
                      <m:t>=</m:t>
                    </m:r>
                    <m:r>
                      <a:rPr lang="en-US" b="1" i="1" smtClean="0">
                        <a:solidFill>
                          <a:srgbClr val="C00000"/>
                        </a:solidFill>
                        <a:latin typeface="Cambria Math"/>
                      </a:rPr>
                      <m:t>𝟏𝟎</m:t>
                    </m:r>
                  </m:oMath>
                </a14:m>
                <a:r>
                  <a:rPr lang="en-US" b="1" dirty="0">
                    <a:solidFill>
                      <a:srgbClr val="C00000"/>
                    </a:solidFill>
                    <a:sym typeface="Symbol"/>
                  </a:rPr>
                  <a:t></a:t>
                </a:r>
                <a:br>
                  <a:rPr lang="en-US" b="1" dirty="0">
                    <a:solidFill>
                      <a:srgbClr val="C00000"/>
                    </a:solidFill>
                    <a:sym typeface="Symbol"/>
                  </a:rPr>
                </a:br>
                <a:r>
                  <a:rPr lang="en-US" b="1" dirty="0">
                    <a:sym typeface="Symbol"/>
                  </a:rPr>
                  <a:t>At point a</a:t>
                </a:r>
                <a:r>
                  <a:rPr lang="en-US" b="1" dirty="0">
                    <a:solidFill>
                      <a:srgbClr val="C00000"/>
                    </a:solidFill>
                    <a:sym typeface="Symbol"/>
                  </a:rPr>
                  <a:t>, </a:t>
                </a:r>
                <a14:m>
                  <m:oMath xmlns:m="http://schemas.openxmlformats.org/officeDocument/2006/math">
                    <m:r>
                      <a:rPr lang="en-US" b="1" i="1" smtClean="0">
                        <a:solidFill>
                          <a:srgbClr val="C00000"/>
                        </a:solidFill>
                        <a:latin typeface="Cambria Math"/>
                        <a:sym typeface="Symbol"/>
                      </a:rPr>
                      <m:t>𝑰</m:t>
                    </m:r>
                    <m:r>
                      <a:rPr lang="en-US" b="1" i="1" smtClean="0">
                        <a:solidFill>
                          <a:srgbClr val="C00000"/>
                        </a:solidFill>
                        <a:latin typeface="Cambria Math"/>
                        <a:sym typeface="Symbol"/>
                      </a:rPr>
                      <m:t>𝟏</m:t>
                    </m:r>
                    <m:r>
                      <a:rPr lang="en-US" b="1" i="1" smtClean="0">
                        <a:solidFill>
                          <a:srgbClr val="C00000"/>
                        </a:solidFill>
                        <a:latin typeface="Cambria Math"/>
                        <a:sym typeface="Symbol"/>
                      </a:rPr>
                      <m:t>=</m:t>
                    </m:r>
                    <m:r>
                      <a:rPr lang="en-US" b="1" i="1" smtClean="0">
                        <a:solidFill>
                          <a:srgbClr val="C00000"/>
                        </a:solidFill>
                        <a:latin typeface="Cambria Math"/>
                        <a:sym typeface="Symbol"/>
                      </a:rPr>
                      <m:t>𝟏𝟎</m:t>
                    </m:r>
                    <m:r>
                      <a:rPr lang="en-US" b="1" i="1" smtClean="0">
                        <a:solidFill>
                          <a:srgbClr val="C00000"/>
                        </a:solidFill>
                        <a:latin typeface="Cambria Math"/>
                        <a:sym typeface="Symbol"/>
                      </a:rPr>
                      <m:t>−</m:t>
                    </m:r>
                    <m:r>
                      <a:rPr lang="en-US" b="1" i="1" smtClean="0">
                        <a:solidFill>
                          <a:srgbClr val="C00000"/>
                        </a:solidFill>
                        <a:latin typeface="Cambria Math"/>
                        <a:sym typeface="Symbol"/>
                      </a:rPr>
                      <m:t>𝟑</m:t>
                    </m:r>
                    <m:r>
                      <a:rPr lang="en-US" b="1" i="1" smtClean="0">
                        <a:solidFill>
                          <a:srgbClr val="C00000"/>
                        </a:solidFill>
                        <a:latin typeface="Cambria Math"/>
                        <a:sym typeface="Symbol"/>
                      </a:rPr>
                      <m:t>=</m:t>
                    </m:r>
                    <m:r>
                      <a:rPr lang="en-US" b="1" i="1" smtClean="0">
                        <a:solidFill>
                          <a:srgbClr val="C00000"/>
                        </a:solidFill>
                        <a:latin typeface="Cambria Math"/>
                        <a:sym typeface="Symbol"/>
                      </a:rPr>
                      <m:t>𝟕</m:t>
                    </m:r>
                  </m:oMath>
                </a14:m>
                <a:endParaRPr lang="en-US" b="1" dirty="0">
                  <a:solidFill>
                    <a:srgbClr val="C0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810000" y="4510644"/>
                <a:ext cx="5245218" cy="1754326"/>
              </a:xfrm>
              <a:prstGeom prst="rect">
                <a:avLst/>
              </a:prstGeom>
              <a:blipFill rotWithShape="1">
                <a:blip r:embed="rId4"/>
                <a:stretch>
                  <a:fillRect l="-930" t="-1736" r="-1163" b="-4514"/>
                </a:stretch>
              </a:blipFill>
            </p:spPr>
            <p:txBody>
              <a:bodyPr/>
              <a:lstStyle/>
              <a:p>
                <a:r>
                  <a:rPr lang="ru-RU">
                    <a:noFill/>
                  </a:rPr>
                  <a:t> </a:t>
                </a:r>
              </a:p>
            </p:txBody>
          </p:sp>
        </mc:Fallback>
      </mc:AlternateContent>
    </p:spTree>
    <p:extLst>
      <p:ext uri="{BB962C8B-B14F-4D97-AF65-F5344CB8AC3E}">
        <p14:creationId xmlns:p14="http://schemas.microsoft.com/office/powerpoint/2010/main" val="187924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86800" cy="5562600"/>
          </a:xfrm>
        </p:spPr>
        <p:txBody>
          <a:bodyPr/>
          <a:lstStyle/>
          <a:p>
            <a:r>
              <a:rPr lang="en-US" b="1" dirty="0"/>
              <a:t>Example for enhancement (3)</a:t>
            </a:r>
          </a:p>
          <a:p>
            <a:pPr marL="0" indent="0">
              <a:buNone/>
            </a:pPr>
            <a:r>
              <a:rPr lang="en-US" dirty="0"/>
              <a:t>Determine the unknown currents in the network.</a:t>
            </a:r>
          </a:p>
        </p:txBody>
      </p:sp>
      <p:sp>
        <p:nvSpPr>
          <p:cNvPr id="4" name="Date Placeholder 3"/>
          <p:cNvSpPr>
            <a:spLocks noGrp="1"/>
          </p:cNvSpPr>
          <p:nvPr>
            <p:ph type="dt" sz="half" idx="10"/>
          </p:nvPr>
        </p:nvSpPr>
        <p:spPr/>
        <p:txBody>
          <a:bodyPr/>
          <a:lstStyle/>
          <a:p>
            <a:fld id="{2B9FC54F-A58B-40BB-B1F7-ED4A8DB4C986}"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20</a:t>
            </a:fld>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133600"/>
            <a:ext cx="6761595" cy="3357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1"/>
          <p:cNvPicPr>
            <a:picLocks noChangeAspect="1"/>
          </p:cNvPicPr>
          <p:nvPr/>
        </p:nvPicPr>
        <p:blipFill>
          <a:blip r:embed="rId3"/>
          <a:stretch>
            <a:fillRect/>
          </a:stretch>
        </p:blipFill>
        <p:spPr>
          <a:xfrm rot="10800000">
            <a:off x="6233080" y="3500120"/>
            <a:ext cx="640240" cy="176066"/>
          </a:xfrm>
          <a:prstGeom prst="rect">
            <a:avLst/>
          </a:prstGeom>
        </p:spPr>
      </p:pic>
    </p:spTree>
    <p:extLst>
      <p:ext uri="{BB962C8B-B14F-4D97-AF65-F5344CB8AC3E}">
        <p14:creationId xmlns:p14="http://schemas.microsoft.com/office/powerpoint/2010/main" val="2788898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763000" cy="5410200"/>
          </a:xfrm>
        </p:spPr>
        <p:txBody>
          <a:bodyPr/>
          <a:lstStyle/>
          <a:p>
            <a:r>
              <a:rPr lang="en-US" b="1" dirty="0"/>
              <a:t>Resistors in Parallel</a:t>
            </a:r>
          </a:p>
          <a:p>
            <a:r>
              <a:rPr lang="en-US" sz="2600" dirty="0"/>
              <a:t>A simple parallel circuit is constructed by  combining a voltage source with several resistors.</a:t>
            </a:r>
          </a:p>
          <a:p>
            <a:r>
              <a:rPr lang="en-US" sz="2600" dirty="0"/>
              <a:t>The voltage source will result in c</a:t>
            </a:r>
            <a:r>
              <a:rPr lang="en-US" sz="2600" b="1" dirty="0"/>
              <a:t>urrent from the positive terminal of the source toward node </a:t>
            </a:r>
            <a:r>
              <a:rPr lang="en-US" sz="2600" b="1" dirty="0">
                <a:solidFill>
                  <a:srgbClr val="0070C0"/>
                </a:solidFill>
              </a:rPr>
              <a:t>a</a:t>
            </a:r>
            <a:r>
              <a:rPr lang="en-US" sz="2600" dirty="0"/>
              <a:t>. At this point the current will split between the various resistors and then recombine at node </a:t>
            </a:r>
            <a:r>
              <a:rPr lang="en-US" sz="2600" b="1" dirty="0">
                <a:solidFill>
                  <a:srgbClr val="0070C0"/>
                </a:solidFill>
              </a:rPr>
              <a:t>b</a:t>
            </a:r>
            <a:r>
              <a:rPr lang="en-US" sz="2600" dirty="0"/>
              <a:t> before continuing to the negative terminal of the voltage source</a:t>
            </a:r>
            <a:r>
              <a:rPr lang="en-US" dirty="0"/>
              <a:t>.</a:t>
            </a:r>
          </a:p>
        </p:txBody>
      </p:sp>
      <p:sp>
        <p:nvSpPr>
          <p:cNvPr id="4" name="Date Placeholder 3"/>
          <p:cNvSpPr>
            <a:spLocks noGrp="1"/>
          </p:cNvSpPr>
          <p:nvPr>
            <p:ph type="dt" sz="half" idx="10"/>
          </p:nvPr>
        </p:nvSpPr>
        <p:spPr/>
        <p:txBody>
          <a:bodyPr/>
          <a:lstStyle/>
          <a:p>
            <a:fld id="{DEDBAA26-78E4-449B-B988-AA27B1CB7272}"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endParaRPr lang="en-US" dirty="0"/>
          </a:p>
        </p:txBody>
      </p:sp>
      <p:sp>
        <p:nvSpPr>
          <p:cNvPr id="6" name="Slide Number Placeholder 5"/>
          <p:cNvSpPr>
            <a:spLocks noGrp="1"/>
          </p:cNvSpPr>
          <p:nvPr>
            <p:ph type="sldNum" sz="quarter" idx="12"/>
          </p:nvPr>
        </p:nvSpPr>
        <p:spPr/>
        <p:txBody>
          <a:bodyPr/>
          <a:lstStyle/>
          <a:p>
            <a:fld id="{06B342E1-1408-4C13-9C60-07932E3DA7B3}" type="slidenum">
              <a:rPr lang="en-US" smtClean="0"/>
              <a:t>21</a:t>
            </a:fld>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4191000"/>
            <a:ext cx="3886200" cy="202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 name="Rectangle 6"/>
              <p:cNvSpPr/>
              <p:nvPr/>
            </p:nvSpPr>
            <p:spPr>
              <a:xfrm>
                <a:off x="457200" y="4876800"/>
                <a:ext cx="4572000" cy="923330"/>
              </a:xfrm>
              <a:prstGeom prst="rect">
                <a:avLst/>
              </a:prstGeom>
            </p:spPr>
            <p:txBody>
              <a:bodyPr>
                <a:spAutoFit/>
              </a:bodyPr>
              <a:lstStyle/>
              <a:p>
                <a:r>
                  <a:rPr lang="en-US" dirty="0"/>
                  <a:t>We would find that the </a:t>
                </a:r>
                <a:r>
                  <a:rPr lang="en-US" b="1" dirty="0"/>
                  <a:t>voltage across all parallel resistors is exactly equal</a:t>
                </a:r>
                <a:r>
                  <a:rPr lang="en-US" dirty="0"/>
                  <a:t>, namely</a:t>
                </a:r>
              </a:p>
              <a:p>
                <a:pPr/>
                <a14:m>
                  <m:oMathPara xmlns:m="http://schemas.openxmlformats.org/officeDocument/2006/math">
                    <m:oMathParaPr>
                      <m:jc m:val="centerGroup"/>
                    </m:oMathParaPr>
                    <m:oMath xmlns:m="http://schemas.openxmlformats.org/officeDocument/2006/math">
                      <m:sSub>
                        <m:sSubPr>
                          <m:ctrlPr>
                            <a:rPr lang="en-US" b="1" i="1" smtClean="0">
                              <a:solidFill>
                                <a:srgbClr val="C00000"/>
                              </a:solidFill>
                              <a:latin typeface="Cambria Math" panose="02040503050406030204" pitchFamily="18" charset="0"/>
                            </a:rPr>
                          </m:ctrlPr>
                        </m:sSubPr>
                        <m:e>
                          <m:r>
                            <a:rPr lang="en-US" b="1" i="1" smtClean="0">
                              <a:solidFill>
                                <a:srgbClr val="C00000"/>
                              </a:solidFill>
                              <a:latin typeface="Cambria Math"/>
                            </a:rPr>
                            <m:t>𝑽</m:t>
                          </m:r>
                        </m:e>
                        <m:sub>
                          <m:r>
                            <a:rPr lang="en-US" b="1" i="1" smtClean="0">
                              <a:solidFill>
                                <a:srgbClr val="C00000"/>
                              </a:solidFill>
                              <a:latin typeface="Cambria Math"/>
                            </a:rPr>
                            <m:t>𝑹</m:t>
                          </m:r>
                          <m:r>
                            <a:rPr lang="en-US" b="1" i="1" smtClean="0">
                              <a:solidFill>
                                <a:srgbClr val="C00000"/>
                              </a:solidFill>
                              <a:latin typeface="Cambria Math"/>
                            </a:rPr>
                            <m:t>𝟏</m:t>
                          </m:r>
                        </m:sub>
                      </m:sSub>
                      <m:r>
                        <a:rPr lang="en-US" b="1" i="0" smtClean="0">
                          <a:solidFill>
                            <a:srgbClr val="C00000"/>
                          </a:solidFill>
                          <a:latin typeface="Cambria Math"/>
                        </a:rPr>
                        <m:t>=</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a:rPr>
                            <m:t>𝑽</m:t>
                          </m:r>
                        </m:e>
                        <m:sub>
                          <m:r>
                            <a:rPr lang="en-US" b="1" i="1">
                              <a:solidFill>
                                <a:srgbClr val="C00000"/>
                              </a:solidFill>
                              <a:latin typeface="Cambria Math"/>
                            </a:rPr>
                            <m:t>𝑹</m:t>
                          </m:r>
                          <m:r>
                            <a:rPr lang="en-US" b="1" i="1" smtClean="0">
                              <a:solidFill>
                                <a:srgbClr val="C00000"/>
                              </a:solidFill>
                              <a:latin typeface="Cambria Math"/>
                            </a:rPr>
                            <m:t>𝟐</m:t>
                          </m:r>
                        </m:sub>
                      </m:sSub>
                      <m:r>
                        <a:rPr lang="en-US" b="1">
                          <a:solidFill>
                            <a:srgbClr val="C00000"/>
                          </a:solidFill>
                          <a:latin typeface="Cambria Math"/>
                        </a:rPr>
                        <m:t>=</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a:rPr>
                            <m:t>𝑽</m:t>
                          </m:r>
                        </m:e>
                        <m:sub>
                          <m:r>
                            <a:rPr lang="en-US" b="1" i="1">
                              <a:solidFill>
                                <a:srgbClr val="C00000"/>
                              </a:solidFill>
                              <a:latin typeface="Cambria Math"/>
                            </a:rPr>
                            <m:t>𝑹</m:t>
                          </m:r>
                          <m:r>
                            <a:rPr lang="en-US" b="1" i="1" smtClean="0">
                              <a:solidFill>
                                <a:srgbClr val="C00000"/>
                              </a:solidFill>
                              <a:latin typeface="Cambria Math"/>
                            </a:rPr>
                            <m:t>𝟑</m:t>
                          </m:r>
                        </m:sub>
                      </m:sSub>
                      <m:r>
                        <a:rPr lang="en-US" b="1">
                          <a:solidFill>
                            <a:srgbClr val="C00000"/>
                          </a:solidFill>
                          <a:latin typeface="Cambria Math"/>
                        </a:rPr>
                        <m:t>=</m:t>
                      </m:r>
                      <m:r>
                        <a:rPr lang="en-US" b="1" i="0" smtClean="0">
                          <a:solidFill>
                            <a:srgbClr val="C00000"/>
                          </a:solidFill>
                          <a:latin typeface="Cambria Math"/>
                        </a:rPr>
                        <m:t>…….=</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a:rPr>
                            <m:t>𝑽</m:t>
                          </m:r>
                        </m:e>
                        <m:sub>
                          <m:r>
                            <a:rPr lang="en-US" b="1" i="1">
                              <a:solidFill>
                                <a:srgbClr val="C00000"/>
                              </a:solidFill>
                              <a:latin typeface="Cambria Math"/>
                            </a:rPr>
                            <m:t>𝑹</m:t>
                          </m:r>
                          <m:r>
                            <a:rPr lang="en-US" b="1" i="1" smtClean="0">
                              <a:solidFill>
                                <a:srgbClr val="C00000"/>
                              </a:solidFill>
                              <a:latin typeface="Cambria Math"/>
                            </a:rPr>
                            <m:t>𝒏</m:t>
                          </m:r>
                        </m:sub>
                      </m:sSub>
                      <m:sSub>
                        <m:sSubPr>
                          <m:ctrlPr>
                            <a:rPr lang="en-US" b="1" i="1">
                              <a:solidFill>
                                <a:srgbClr val="C00000"/>
                              </a:solidFill>
                              <a:latin typeface="Cambria Math" panose="02040503050406030204" pitchFamily="18" charset="0"/>
                            </a:rPr>
                          </m:ctrlPr>
                        </m:sSubPr>
                        <m:e>
                          <m:r>
                            <a:rPr lang="en-US" b="1" i="1" smtClean="0">
                              <a:solidFill>
                                <a:srgbClr val="C00000"/>
                              </a:solidFill>
                              <a:latin typeface="Cambria Math"/>
                            </a:rPr>
                            <m:t>=</m:t>
                          </m:r>
                          <m:r>
                            <a:rPr lang="en-US" b="1" i="1" smtClean="0">
                              <a:solidFill>
                                <a:srgbClr val="C00000"/>
                              </a:solidFill>
                              <a:latin typeface="Cambria Math"/>
                            </a:rPr>
                            <m:t>𝑬</m:t>
                          </m:r>
                        </m:e>
                        <m:sub/>
                      </m:sSub>
                    </m:oMath>
                  </m:oMathPara>
                </a14:m>
                <a:endParaRPr lang="en-US" b="1" dirty="0"/>
              </a:p>
            </p:txBody>
          </p:sp>
        </mc:Choice>
        <mc:Fallback xmlns="">
          <p:sp>
            <p:nvSpPr>
              <p:cNvPr id="7" name="Rectangle 6"/>
              <p:cNvSpPr>
                <a:spLocks noRot="1" noChangeAspect="1" noMove="1" noResize="1" noEditPoints="1" noAdjustHandles="1" noChangeArrowheads="1" noChangeShapeType="1" noTextEdit="1"/>
              </p:cNvSpPr>
              <p:nvPr/>
            </p:nvSpPr>
            <p:spPr>
              <a:xfrm>
                <a:off x="457200" y="4876800"/>
                <a:ext cx="4572000" cy="923330"/>
              </a:xfrm>
              <a:prstGeom prst="rect">
                <a:avLst/>
              </a:prstGeom>
              <a:blipFill rotWithShape="1">
                <a:blip r:embed="rId3"/>
                <a:stretch>
                  <a:fillRect l="-1067" t="-3311"/>
                </a:stretch>
              </a:blipFill>
            </p:spPr>
            <p:txBody>
              <a:bodyPr/>
              <a:lstStyle/>
              <a:p>
                <a:r>
                  <a:rPr lang="en-US">
                    <a:noFill/>
                  </a:rPr>
                  <a:t> </a:t>
                </a:r>
              </a:p>
            </p:txBody>
          </p:sp>
        </mc:Fallback>
      </mc:AlternateContent>
    </p:spTree>
    <p:extLst>
      <p:ext uri="{BB962C8B-B14F-4D97-AF65-F5344CB8AC3E}">
        <p14:creationId xmlns:p14="http://schemas.microsoft.com/office/powerpoint/2010/main" val="3843499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914400"/>
                <a:ext cx="8382000" cy="5486400"/>
              </a:xfrm>
            </p:spPr>
            <p:txBody>
              <a:bodyPr>
                <a:normAutofit fontScale="85000" lnSpcReduction="20000"/>
              </a:bodyPr>
              <a:lstStyle/>
              <a:p>
                <a:r>
                  <a:rPr lang="en-US" dirty="0"/>
                  <a:t>Therefore, by applying  Kirchhoff’s voltage law, we make the following statement:</a:t>
                </a:r>
              </a:p>
              <a:p>
                <a:pPr lvl="2"/>
                <a:r>
                  <a:rPr lang="en-US" b="1" i="1" dirty="0">
                    <a:solidFill>
                      <a:srgbClr val="0070C0"/>
                    </a:solidFill>
                  </a:rPr>
                  <a:t>The voltage across all parallel elements in a circuit will be the same.</a:t>
                </a:r>
              </a:p>
              <a:p>
                <a:r>
                  <a:rPr lang="en-US" dirty="0"/>
                  <a:t>This principle allows us to determine the equivalent resistance, </a:t>
                </a:r>
                <a:r>
                  <a:rPr lang="en-US" b="1" i="1" dirty="0"/>
                  <a:t>R</a:t>
                </a:r>
                <a:r>
                  <a:rPr lang="en-US" sz="1800" b="1" i="1" dirty="0"/>
                  <a:t>T</a:t>
                </a:r>
                <a:r>
                  <a:rPr lang="en-US" dirty="0"/>
                  <a:t>, of any number of resistors connected in parallel.</a:t>
                </a:r>
              </a:p>
              <a:p>
                <a:r>
                  <a:rPr lang="en-US" dirty="0"/>
                  <a:t>The total equivalent resistance of </a:t>
                </a:r>
                <a:r>
                  <a:rPr lang="en-US" b="1" i="1" dirty="0"/>
                  <a:t>n </a:t>
                </a:r>
                <a:r>
                  <a:rPr lang="en-US" dirty="0"/>
                  <a:t>parallel resistors may be determined in one step as follows:</a:t>
                </a:r>
              </a:p>
              <a:p>
                <a:endParaRPr lang="en-US" dirty="0"/>
              </a:p>
              <a:p>
                <a:endParaRPr lang="en-US" dirty="0"/>
              </a:p>
              <a:p>
                <a:pPr lvl="2"/>
                <a:r>
                  <a:rPr lang="en-US" b="1" i="1" dirty="0">
                    <a:solidFill>
                      <a:srgbClr val="0070C0"/>
                    </a:solidFill>
                  </a:rPr>
                  <a:t>An important effect of combining parallel resistors is that the </a:t>
                </a:r>
                <a:r>
                  <a:rPr lang="en-US" b="1" i="1" u="sng" dirty="0">
                    <a:solidFill>
                      <a:srgbClr val="0070C0"/>
                    </a:solidFill>
                  </a:rPr>
                  <a:t>resultant resistance will always be smaller </a:t>
                </a:r>
                <a:r>
                  <a:rPr lang="en-US" b="1" i="1" dirty="0">
                    <a:solidFill>
                      <a:srgbClr val="0070C0"/>
                    </a:solidFill>
                  </a:rPr>
                  <a:t>than the smallest resistor in the combination</a:t>
                </a:r>
                <a:r>
                  <a:rPr lang="en-US" dirty="0"/>
                  <a:t>.</a:t>
                </a:r>
              </a:p>
              <a:p>
                <a:pPr lvl="2"/>
                <a:r>
                  <a:rPr lang="en-US" b="1" i="1" u="sng" dirty="0">
                    <a:solidFill>
                      <a:srgbClr val="0070C0"/>
                    </a:solidFill>
                  </a:rPr>
                  <a:t>Conductance (G) is the inverse of Resistance.</a:t>
                </a:r>
              </a:p>
              <a:p>
                <a:pPr lvl="3"/>
                <a14:m>
                  <m:oMath xmlns:m="http://schemas.openxmlformats.org/officeDocument/2006/math">
                    <m:f>
                      <m:fPr>
                        <m:ctrlPr>
                          <a:rPr lang="en-US" b="1" i="1" smtClean="0">
                            <a:solidFill>
                              <a:srgbClr val="C00000"/>
                            </a:solidFill>
                            <a:latin typeface="Cambria Math" panose="02040503050406030204" pitchFamily="18" charset="0"/>
                          </a:rPr>
                        </m:ctrlPr>
                      </m:fPr>
                      <m:num>
                        <m:r>
                          <a:rPr lang="en-US" b="1" i="1" smtClean="0">
                            <a:solidFill>
                              <a:srgbClr val="C00000"/>
                            </a:solidFill>
                            <a:latin typeface="Cambria Math"/>
                          </a:rPr>
                          <m:t>𝟏</m:t>
                        </m:r>
                      </m:num>
                      <m:den>
                        <m:r>
                          <a:rPr lang="en-US" b="1" i="1" smtClean="0">
                            <a:solidFill>
                              <a:srgbClr val="C00000"/>
                            </a:solidFill>
                            <a:latin typeface="Cambria Math"/>
                          </a:rPr>
                          <m:t>𝑹𝑻</m:t>
                        </m:r>
                      </m:den>
                    </m:f>
                  </m:oMath>
                </a14:m>
                <a:r>
                  <a:rPr lang="en-US" b="1" dirty="0">
                    <a:solidFill>
                      <a:srgbClr val="C00000"/>
                    </a:solidFill>
                  </a:rPr>
                  <a:t>=</a:t>
                </a:r>
                <a14:m>
                  <m:oMath xmlns:m="http://schemas.openxmlformats.org/officeDocument/2006/math">
                    <m:f>
                      <m:fPr>
                        <m:ctrlPr>
                          <a:rPr lang="en-US" b="1" i="1" dirty="0" smtClean="0">
                            <a:solidFill>
                              <a:srgbClr val="C00000"/>
                            </a:solidFill>
                            <a:latin typeface="Cambria Math" panose="02040503050406030204" pitchFamily="18" charset="0"/>
                          </a:rPr>
                        </m:ctrlPr>
                      </m:fPr>
                      <m:num>
                        <m:r>
                          <a:rPr lang="en-US" b="1" i="1" dirty="0" smtClean="0">
                            <a:solidFill>
                              <a:srgbClr val="C00000"/>
                            </a:solidFill>
                            <a:latin typeface="Cambria Math"/>
                          </a:rPr>
                          <m:t>𝟏</m:t>
                        </m:r>
                      </m:num>
                      <m:den>
                        <m:r>
                          <a:rPr lang="en-US" b="1" i="1" dirty="0" smtClean="0">
                            <a:solidFill>
                              <a:srgbClr val="C00000"/>
                            </a:solidFill>
                            <a:latin typeface="Cambria Math"/>
                          </a:rPr>
                          <m:t>𝑹</m:t>
                        </m:r>
                        <m:r>
                          <a:rPr lang="en-US" b="1" i="1" dirty="0" smtClean="0">
                            <a:solidFill>
                              <a:srgbClr val="C00000"/>
                            </a:solidFill>
                            <a:latin typeface="Cambria Math"/>
                          </a:rPr>
                          <m:t>𝟏</m:t>
                        </m:r>
                      </m:den>
                    </m:f>
                    <m:r>
                      <a:rPr lang="en-US" b="1" i="1" dirty="0" smtClean="0">
                        <a:solidFill>
                          <a:srgbClr val="C00000"/>
                        </a:solidFill>
                        <a:latin typeface="Cambria Math"/>
                      </a:rPr>
                      <m:t>+</m:t>
                    </m:r>
                    <m:f>
                      <m:fPr>
                        <m:ctrlPr>
                          <a:rPr lang="en-US" b="1" i="1" dirty="0" smtClean="0">
                            <a:solidFill>
                              <a:srgbClr val="C00000"/>
                            </a:solidFill>
                            <a:latin typeface="Cambria Math" panose="02040503050406030204" pitchFamily="18" charset="0"/>
                          </a:rPr>
                        </m:ctrlPr>
                      </m:fPr>
                      <m:num>
                        <m:r>
                          <a:rPr lang="en-US" b="1" i="1" dirty="0" smtClean="0">
                            <a:solidFill>
                              <a:srgbClr val="C00000"/>
                            </a:solidFill>
                            <a:latin typeface="Cambria Math"/>
                          </a:rPr>
                          <m:t>𝟏</m:t>
                        </m:r>
                      </m:num>
                      <m:den>
                        <m:r>
                          <a:rPr lang="en-US" b="1" i="1" dirty="0" smtClean="0">
                            <a:solidFill>
                              <a:srgbClr val="C00000"/>
                            </a:solidFill>
                            <a:latin typeface="Cambria Math"/>
                          </a:rPr>
                          <m:t>𝑹</m:t>
                        </m:r>
                        <m:r>
                          <a:rPr lang="en-US" b="1" i="1" dirty="0" smtClean="0">
                            <a:solidFill>
                              <a:srgbClr val="C00000"/>
                            </a:solidFill>
                            <a:latin typeface="Cambria Math"/>
                          </a:rPr>
                          <m:t>𝟐</m:t>
                        </m:r>
                      </m:den>
                    </m:f>
                    <m:r>
                      <a:rPr lang="en-US" b="1" i="1" dirty="0" smtClean="0">
                        <a:solidFill>
                          <a:srgbClr val="C00000"/>
                        </a:solidFill>
                        <a:latin typeface="Cambria Math"/>
                      </a:rPr>
                      <m:t>+…</m:t>
                    </m:r>
                    <m:f>
                      <m:fPr>
                        <m:ctrlPr>
                          <a:rPr lang="en-US" b="1" i="1" dirty="0" smtClean="0">
                            <a:solidFill>
                              <a:srgbClr val="C00000"/>
                            </a:solidFill>
                            <a:latin typeface="Cambria Math" panose="02040503050406030204" pitchFamily="18" charset="0"/>
                          </a:rPr>
                        </m:ctrlPr>
                      </m:fPr>
                      <m:num>
                        <m:r>
                          <a:rPr lang="en-US" b="1" i="1" dirty="0" smtClean="0">
                            <a:solidFill>
                              <a:srgbClr val="C00000"/>
                            </a:solidFill>
                            <a:latin typeface="Cambria Math"/>
                          </a:rPr>
                          <m:t>.</m:t>
                        </m:r>
                        <m:r>
                          <a:rPr lang="en-US" b="1" i="1" dirty="0" smtClean="0">
                            <a:solidFill>
                              <a:srgbClr val="C00000"/>
                            </a:solidFill>
                            <a:latin typeface="Cambria Math"/>
                          </a:rPr>
                          <m:t>𝟏</m:t>
                        </m:r>
                      </m:num>
                      <m:den>
                        <m:r>
                          <a:rPr lang="en-US" b="1" i="1" dirty="0" smtClean="0">
                            <a:solidFill>
                              <a:srgbClr val="C00000"/>
                            </a:solidFill>
                            <a:latin typeface="Cambria Math"/>
                          </a:rPr>
                          <m:t>𝑹𝒏</m:t>
                        </m:r>
                      </m:den>
                    </m:f>
                  </m:oMath>
                </a14:m>
                <a:r>
                  <a:rPr lang="en-US" b="1" dirty="0">
                    <a:solidFill>
                      <a:srgbClr val="C00000"/>
                    </a:solidFill>
                  </a:rPr>
                  <a:t>, </a:t>
                </a:r>
                <a14:m>
                  <m:oMath xmlns:m="http://schemas.openxmlformats.org/officeDocument/2006/math">
                    <m:r>
                      <a:rPr lang="en-US" sz="1900" b="1" i="1" dirty="0" smtClean="0">
                        <a:solidFill>
                          <a:srgbClr val="C00000"/>
                        </a:solidFill>
                        <a:latin typeface="Cambria Math"/>
                      </a:rPr>
                      <m:t>𝑮𝑻</m:t>
                    </m:r>
                    <m:r>
                      <a:rPr lang="en-US" sz="1900" b="1" i="1" dirty="0" smtClean="0">
                        <a:solidFill>
                          <a:srgbClr val="C00000"/>
                        </a:solidFill>
                        <a:latin typeface="Cambria Math"/>
                      </a:rPr>
                      <m:t>=</m:t>
                    </m:r>
                    <m:r>
                      <a:rPr lang="en-US" sz="1900" b="1" i="1" dirty="0" smtClean="0">
                        <a:solidFill>
                          <a:srgbClr val="C00000"/>
                        </a:solidFill>
                        <a:latin typeface="Cambria Math"/>
                      </a:rPr>
                      <m:t>𝑮</m:t>
                    </m:r>
                    <m:r>
                      <a:rPr lang="en-US" sz="1900" b="1" i="1" dirty="0" smtClean="0">
                        <a:solidFill>
                          <a:srgbClr val="C00000"/>
                        </a:solidFill>
                        <a:latin typeface="Cambria Math"/>
                      </a:rPr>
                      <m:t>𝟏</m:t>
                    </m:r>
                    <m:r>
                      <a:rPr lang="en-US" sz="1900" b="1" i="1" dirty="0" smtClean="0">
                        <a:solidFill>
                          <a:srgbClr val="C00000"/>
                        </a:solidFill>
                        <a:latin typeface="Cambria Math"/>
                      </a:rPr>
                      <m:t>+</m:t>
                    </m:r>
                    <m:r>
                      <a:rPr lang="en-US" sz="1900" b="1" i="1" dirty="0" smtClean="0">
                        <a:solidFill>
                          <a:srgbClr val="C00000"/>
                        </a:solidFill>
                        <a:latin typeface="Cambria Math"/>
                      </a:rPr>
                      <m:t>𝑮</m:t>
                    </m:r>
                    <m:r>
                      <a:rPr lang="en-US" sz="1900" b="1" i="1" dirty="0" smtClean="0">
                        <a:solidFill>
                          <a:srgbClr val="C00000"/>
                        </a:solidFill>
                        <a:latin typeface="Cambria Math"/>
                      </a:rPr>
                      <m:t>𝟐</m:t>
                    </m:r>
                    <m:r>
                      <a:rPr lang="en-US" sz="1900" b="1" i="1" dirty="0" smtClean="0">
                        <a:solidFill>
                          <a:srgbClr val="C00000"/>
                        </a:solidFill>
                        <a:latin typeface="Cambria Math"/>
                      </a:rPr>
                      <m:t>+</m:t>
                    </m:r>
                    <m:r>
                      <a:rPr lang="en-US" sz="1900" b="1" i="1" dirty="0" smtClean="0">
                        <a:solidFill>
                          <a:srgbClr val="C00000"/>
                        </a:solidFill>
                        <a:latin typeface="Cambria Math"/>
                      </a:rPr>
                      <m:t>𝑮</m:t>
                    </m:r>
                    <m:r>
                      <a:rPr lang="en-US" sz="1900" b="1" i="1" dirty="0" smtClean="0">
                        <a:solidFill>
                          <a:srgbClr val="C00000"/>
                        </a:solidFill>
                        <a:latin typeface="Cambria Math"/>
                      </a:rPr>
                      <m:t>𝟑</m:t>
                    </m:r>
                    <m:r>
                      <a:rPr lang="en-US" sz="1900" b="1" i="1" dirty="0" smtClean="0">
                        <a:solidFill>
                          <a:srgbClr val="C00000"/>
                        </a:solidFill>
                        <a:latin typeface="Cambria Math"/>
                      </a:rPr>
                      <m:t>+……+</m:t>
                    </m:r>
                    <m:r>
                      <a:rPr lang="en-US" sz="1900" b="1" i="1" dirty="0" smtClean="0">
                        <a:solidFill>
                          <a:srgbClr val="C00000"/>
                        </a:solidFill>
                        <a:latin typeface="Cambria Math"/>
                      </a:rPr>
                      <m:t>𝑮𝒏</m:t>
                    </m:r>
                  </m:oMath>
                </a14:m>
                <a:r>
                  <a:rPr lang="en-US" b="1" dirty="0">
                    <a:solidFill>
                      <a:srgbClr val="C00000"/>
                    </a:solidFill>
                  </a:rPr>
                  <a:t> (In Siemens, S)</a:t>
                </a:r>
              </a:p>
              <a:p>
                <a:pPr lvl="3"/>
                <a:endParaRPr lang="en-US" b="0" dirty="0"/>
              </a:p>
              <a:p>
                <a:pPr lvl="3"/>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914400"/>
                <a:ext cx="8382000" cy="5486400"/>
              </a:xfrm>
              <a:blipFill rotWithShape="1">
                <a:blip r:embed="rId2"/>
                <a:stretch>
                  <a:fillRect l="-1164" t="-2222" r="-1382"/>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FD11B2A2-2CFF-4F82-8716-4D6AA65641EC}"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22</a:t>
            </a:fld>
            <a:endParaRPr lang="en-US"/>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930732"/>
            <a:ext cx="2743200" cy="950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9443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686800" cy="5562600"/>
          </a:xfrm>
        </p:spPr>
        <p:txBody>
          <a:bodyPr/>
          <a:lstStyle/>
          <a:p>
            <a:r>
              <a:rPr lang="en-US" b="1" dirty="0">
                <a:solidFill>
                  <a:srgbClr val="0070C0"/>
                </a:solidFill>
              </a:rPr>
              <a:t>Example: </a:t>
            </a:r>
            <a:r>
              <a:rPr lang="en-US" dirty="0"/>
              <a:t>For the parallel network of resistors shown below, find the total conductance </a:t>
            </a:r>
            <a:r>
              <a:rPr lang="en-US" i="1" dirty="0"/>
              <a:t>G</a:t>
            </a:r>
            <a:r>
              <a:rPr lang="en-US" dirty="0"/>
              <a:t>T and the total resistance </a:t>
            </a:r>
            <a:r>
              <a:rPr lang="en-US" i="1" dirty="0"/>
              <a:t>R</a:t>
            </a:r>
            <a:r>
              <a:rPr lang="en-US" dirty="0"/>
              <a:t>T.</a:t>
            </a:r>
          </a:p>
        </p:txBody>
      </p:sp>
      <p:sp>
        <p:nvSpPr>
          <p:cNvPr id="4" name="Date Placeholder 3"/>
          <p:cNvSpPr>
            <a:spLocks noGrp="1"/>
          </p:cNvSpPr>
          <p:nvPr>
            <p:ph type="dt" sz="half" idx="10"/>
          </p:nvPr>
        </p:nvSpPr>
        <p:spPr/>
        <p:txBody>
          <a:bodyPr/>
          <a:lstStyle/>
          <a:p>
            <a:fld id="{53DDDA32-CB13-4672-BDA9-976F847F8530}"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23</a:t>
            </a:fld>
            <a:endParaRPr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590800"/>
            <a:ext cx="4276725"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1" y="2819400"/>
            <a:ext cx="3810000" cy="1105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381000" y="5029200"/>
            <a:ext cx="4114800" cy="1292662"/>
          </a:xfrm>
          <a:prstGeom prst="rect">
            <a:avLst/>
          </a:prstGeom>
          <a:noFill/>
        </p:spPr>
        <p:txBody>
          <a:bodyPr wrap="square" rtlCol="0">
            <a:spAutoFit/>
          </a:bodyPr>
          <a:lstStyle/>
          <a:p>
            <a:r>
              <a:rPr lang="en-US" sz="2600" dirty="0"/>
              <a:t>If we have </a:t>
            </a:r>
            <a:r>
              <a:rPr lang="en-US" sz="2600" b="1" i="1" dirty="0">
                <a:solidFill>
                  <a:srgbClr val="0070C0"/>
                </a:solidFill>
              </a:rPr>
              <a:t>n </a:t>
            </a:r>
            <a:r>
              <a:rPr lang="en-US" sz="2600" b="1" dirty="0"/>
              <a:t>equal resistors in parallel</a:t>
            </a:r>
            <a:r>
              <a:rPr lang="en-US" sz="2600" dirty="0"/>
              <a:t>, each resistor, </a:t>
            </a:r>
            <a:r>
              <a:rPr lang="en-US" sz="2600" b="1" i="1" dirty="0"/>
              <a:t>R</a:t>
            </a:r>
            <a:r>
              <a:rPr lang="en-US" sz="2600" dirty="0"/>
              <a:t>, has the same conductance </a:t>
            </a:r>
            <a:r>
              <a:rPr lang="en-US" sz="2600" b="1" dirty="0"/>
              <a:t>G</a:t>
            </a:r>
            <a:r>
              <a:rPr lang="en-US" dirty="0"/>
              <a:t>,</a:t>
            </a:r>
          </a:p>
        </p:txBody>
      </p:sp>
      <p:sp>
        <p:nvSpPr>
          <p:cNvPr id="9" name="TextBox 8"/>
          <p:cNvSpPr txBox="1"/>
          <p:nvPr/>
        </p:nvSpPr>
        <p:spPr>
          <a:xfrm>
            <a:off x="4714807" y="5029200"/>
            <a:ext cx="3895793" cy="954107"/>
          </a:xfrm>
          <a:prstGeom prst="rect">
            <a:avLst/>
          </a:prstGeom>
          <a:noFill/>
        </p:spPr>
        <p:txBody>
          <a:bodyPr wrap="square" rtlCol="0">
            <a:spAutoFit/>
          </a:bodyPr>
          <a:lstStyle/>
          <a:p>
            <a:r>
              <a:rPr lang="en-US" sz="2800" dirty="0"/>
              <a:t>The total </a:t>
            </a:r>
            <a:r>
              <a:rPr lang="en-US" sz="2800" b="1" i="1" dirty="0">
                <a:solidFill>
                  <a:srgbClr val="0070C0"/>
                </a:solidFill>
              </a:rPr>
              <a:t>GT=</a:t>
            </a:r>
            <a:r>
              <a:rPr lang="en-US" sz="2800" b="1" i="1" dirty="0" err="1">
                <a:solidFill>
                  <a:srgbClr val="0070C0"/>
                </a:solidFill>
              </a:rPr>
              <a:t>nGT</a:t>
            </a:r>
            <a:endParaRPr lang="en-US" sz="2800" b="1" i="1" dirty="0">
              <a:solidFill>
                <a:srgbClr val="0070C0"/>
              </a:solidFill>
            </a:endParaRPr>
          </a:p>
          <a:p>
            <a:r>
              <a:rPr lang="en-US" sz="2800" dirty="0"/>
              <a:t>The </a:t>
            </a:r>
            <a:r>
              <a:rPr lang="en-US" sz="2800" b="1" i="1" dirty="0"/>
              <a:t>RT=1/GT=1/</a:t>
            </a:r>
            <a:r>
              <a:rPr lang="en-US" sz="2800" b="1" i="1" dirty="0" err="1"/>
              <a:t>nG</a:t>
            </a:r>
            <a:r>
              <a:rPr lang="en-US" sz="2800" b="1" i="1" dirty="0"/>
              <a:t>=R</a:t>
            </a:r>
            <a:r>
              <a:rPr lang="en-US" sz="2800" b="1" dirty="0"/>
              <a:t>/n</a:t>
            </a:r>
          </a:p>
        </p:txBody>
      </p:sp>
    </p:spTree>
    <p:extLst>
      <p:ext uri="{BB962C8B-B14F-4D97-AF65-F5344CB8AC3E}">
        <p14:creationId xmlns:p14="http://schemas.microsoft.com/office/powerpoint/2010/main" val="3246291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additive="base">
                                        <p:cTn id="7" dur="500" fill="hold"/>
                                        <p:tgtEl>
                                          <p:spTgt spid="12291"/>
                                        </p:tgtEl>
                                        <p:attrNameLst>
                                          <p:attrName>ppt_x</p:attrName>
                                        </p:attrNameLst>
                                      </p:cBhvr>
                                      <p:tavLst>
                                        <p:tav tm="0">
                                          <p:val>
                                            <p:strVal val="#ppt_x"/>
                                          </p:val>
                                        </p:tav>
                                        <p:tav tm="100000">
                                          <p:val>
                                            <p:strVal val="#ppt_x"/>
                                          </p:val>
                                        </p:tav>
                                      </p:tavLst>
                                    </p:anim>
                                    <p:anim calcmode="lin" valueType="num">
                                      <p:cBhvr additive="base">
                                        <p:cTn id="8"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62000"/>
            <a:ext cx="8686800" cy="5486400"/>
          </a:xfrm>
        </p:spPr>
        <p:txBody>
          <a:bodyPr/>
          <a:lstStyle/>
          <a:p>
            <a:r>
              <a:rPr lang="en-US" b="1" dirty="0"/>
              <a:t>Example</a:t>
            </a:r>
            <a:r>
              <a:rPr lang="en-US" dirty="0"/>
              <a:t>: For the following networks, calculate the total resistance.</a:t>
            </a:r>
          </a:p>
        </p:txBody>
      </p:sp>
      <p:sp>
        <p:nvSpPr>
          <p:cNvPr id="4" name="Date Placeholder 3"/>
          <p:cNvSpPr>
            <a:spLocks noGrp="1"/>
          </p:cNvSpPr>
          <p:nvPr>
            <p:ph type="dt" sz="half" idx="10"/>
          </p:nvPr>
        </p:nvSpPr>
        <p:spPr/>
        <p:txBody>
          <a:bodyPr/>
          <a:lstStyle/>
          <a:p>
            <a:fld id="{195BCD12-1DD9-4FB0-B71C-8A2BCEAC719C}"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24</a:t>
            </a:fld>
            <a:endParaRPr 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20" y="1905000"/>
            <a:ext cx="4328521"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759" y="3962400"/>
            <a:ext cx="3829050" cy="2190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3548" y="1905000"/>
            <a:ext cx="3287052" cy="13030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1465" y="4000871"/>
            <a:ext cx="3287052"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123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anim calcmode="lin" valueType="num">
                                      <p:cBhvr additive="base">
                                        <p:cTn id="7" dur="500" fill="hold"/>
                                        <p:tgtEl>
                                          <p:spTgt spid="13316"/>
                                        </p:tgtEl>
                                        <p:attrNameLst>
                                          <p:attrName>ppt_x</p:attrName>
                                        </p:attrNameLst>
                                      </p:cBhvr>
                                      <p:tavLst>
                                        <p:tav tm="0">
                                          <p:val>
                                            <p:strVal val="#ppt_x"/>
                                          </p:val>
                                        </p:tav>
                                        <p:tav tm="100000">
                                          <p:val>
                                            <p:strVal val="#ppt_x"/>
                                          </p:val>
                                        </p:tav>
                                      </p:tavLst>
                                    </p:anim>
                                    <p:anim calcmode="lin" valueType="num">
                                      <p:cBhvr additive="base">
                                        <p:cTn id="8"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317"/>
                                        </p:tgtEl>
                                        <p:attrNameLst>
                                          <p:attrName>style.visibility</p:attrName>
                                        </p:attrNameLst>
                                      </p:cBhvr>
                                      <p:to>
                                        <p:strVal val="visible"/>
                                      </p:to>
                                    </p:set>
                                    <p:anim calcmode="lin" valueType="num">
                                      <p:cBhvr additive="base">
                                        <p:cTn id="13" dur="500" fill="hold"/>
                                        <p:tgtEl>
                                          <p:spTgt spid="13317"/>
                                        </p:tgtEl>
                                        <p:attrNameLst>
                                          <p:attrName>ppt_x</p:attrName>
                                        </p:attrNameLst>
                                      </p:cBhvr>
                                      <p:tavLst>
                                        <p:tav tm="0">
                                          <p:val>
                                            <p:strVal val="#ppt_x"/>
                                          </p:val>
                                        </p:tav>
                                        <p:tav tm="100000">
                                          <p:val>
                                            <p:strVal val="#ppt_x"/>
                                          </p:val>
                                        </p:tav>
                                      </p:tavLst>
                                    </p:anim>
                                    <p:anim calcmode="lin" valueType="num">
                                      <p:cBhvr additive="base">
                                        <p:cTn id="14" dur="500" fill="hold"/>
                                        <p:tgtEl>
                                          <p:spTgt spid="133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534400" cy="5638800"/>
          </a:xfrm>
        </p:spPr>
        <p:txBody>
          <a:bodyPr/>
          <a:lstStyle/>
          <a:p>
            <a:r>
              <a:rPr lang="en-US" b="1" dirty="0"/>
              <a:t>Example for enhancement (4):</a:t>
            </a:r>
          </a:p>
          <a:p>
            <a:r>
              <a:rPr lang="en-US" dirty="0"/>
              <a:t>Find the total equivalent resistance for each network.</a:t>
            </a:r>
          </a:p>
        </p:txBody>
      </p:sp>
      <p:sp>
        <p:nvSpPr>
          <p:cNvPr id="4" name="Date Placeholder 3"/>
          <p:cNvSpPr>
            <a:spLocks noGrp="1"/>
          </p:cNvSpPr>
          <p:nvPr>
            <p:ph type="dt" sz="half" idx="10"/>
          </p:nvPr>
        </p:nvSpPr>
        <p:spPr/>
        <p:txBody>
          <a:bodyPr/>
          <a:lstStyle/>
          <a:p>
            <a:fld id="{555D0C15-00B6-4B8A-BBD7-09054196193B}"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25</a:t>
            </a:fld>
            <a:endParaRPr lang="en-US"/>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889" y="2819400"/>
            <a:ext cx="8753475" cy="229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0813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458200" cy="5334000"/>
          </a:xfrm>
        </p:spPr>
        <p:txBody>
          <a:bodyPr>
            <a:normAutofit fontScale="92500" lnSpcReduction="20000"/>
          </a:bodyPr>
          <a:lstStyle/>
          <a:p>
            <a:r>
              <a:rPr lang="en-US" b="1" dirty="0"/>
              <a:t>Current Divider Rule</a:t>
            </a:r>
          </a:p>
          <a:p>
            <a:r>
              <a:rPr lang="en-US" b="1" dirty="0"/>
              <a:t>The voltage divider rule (VDR)</a:t>
            </a:r>
            <a:r>
              <a:rPr lang="en-US" dirty="0"/>
              <a:t> discussed earlier, was used to determine the voltage across all resistors within a </a:t>
            </a:r>
            <a:r>
              <a:rPr lang="en-US" b="1" dirty="0">
                <a:solidFill>
                  <a:srgbClr val="0070C0"/>
                </a:solidFill>
              </a:rPr>
              <a:t>series network</a:t>
            </a:r>
            <a:r>
              <a:rPr lang="en-US" dirty="0"/>
              <a:t>.</a:t>
            </a:r>
          </a:p>
          <a:p>
            <a:endParaRPr lang="en-US" dirty="0"/>
          </a:p>
          <a:p>
            <a:r>
              <a:rPr lang="en-US" dirty="0">
                <a:solidFill>
                  <a:srgbClr val="0070C0"/>
                </a:solidFill>
              </a:rPr>
              <a:t>In parallel networks</a:t>
            </a:r>
            <a:r>
              <a:rPr lang="en-US" dirty="0"/>
              <a:t>, the voltage </a:t>
            </a:r>
            <a:r>
              <a:rPr lang="en-US" dirty="0">
                <a:solidFill>
                  <a:srgbClr val="0070C0"/>
                </a:solidFill>
              </a:rPr>
              <a:t>across all parallel </a:t>
            </a:r>
            <a:r>
              <a:rPr lang="en-US" dirty="0"/>
              <a:t>elements is </a:t>
            </a:r>
            <a:r>
              <a:rPr lang="en-US" dirty="0">
                <a:solidFill>
                  <a:srgbClr val="0070C0"/>
                </a:solidFill>
              </a:rPr>
              <a:t>the same</a:t>
            </a:r>
            <a:r>
              <a:rPr lang="en-US" dirty="0"/>
              <a:t>.</a:t>
            </a:r>
          </a:p>
          <a:p>
            <a:r>
              <a:rPr lang="en-US" dirty="0"/>
              <a:t>However, the </a:t>
            </a:r>
            <a:r>
              <a:rPr lang="en-US" b="1" dirty="0">
                <a:solidFill>
                  <a:srgbClr val="0070C0"/>
                </a:solidFill>
              </a:rPr>
              <a:t>currents through the various elements are typically different</a:t>
            </a:r>
            <a:r>
              <a:rPr lang="en-US" dirty="0"/>
              <a:t>. </a:t>
            </a:r>
          </a:p>
          <a:p>
            <a:r>
              <a:rPr lang="en-US" b="1" dirty="0"/>
              <a:t>The current divider rule (CDR</a:t>
            </a:r>
            <a:r>
              <a:rPr lang="en-US" dirty="0"/>
              <a:t>) is used to determine how </a:t>
            </a:r>
            <a:r>
              <a:rPr lang="en-US" b="1" dirty="0"/>
              <a:t>current entering a node is split between the </a:t>
            </a:r>
            <a:r>
              <a:rPr lang="en-US" b="1" dirty="0">
                <a:solidFill>
                  <a:srgbClr val="0070C0"/>
                </a:solidFill>
              </a:rPr>
              <a:t>various parallel resistors </a:t>
            </a:r>
            <a:r>
              <a:rPr lang="en-US" dirty="0"/>
              <a:t>connected to the node.</a:t>
            </a:r>
          </a:p>
        </p:txBody>
      </p:sp>
      <p:sp>
        <p:nvSpPr>
          <p:cNvPr id="4" name="Date Placeholder 3"/>
          <p:cNvSpPr>
            <a:spLocks noGrp="1"/>
          </p:cNvSpPr>
          <p:nvPr>
            <p:ph type="dt" sz="half" idx="10"/>
          </p:nvPr>
        </p:nvSpPr>
        <p:spPr/>
        <p:txBody>
          <a:bodyPr/>
          <a:lstStyle/>
          <a:p>
            <a:fld id="{A7BE7B43-7F22-49C1-A437-A2DAE94BA5ED}"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endParaRPr lang="en-US" dirty="0"/>
          </a:p>
        </p:txBody>
      </p:sp>
      <p:sp>
        <p:nvSpPr>
          <p:cNvPr id="6" name="Slide Number Placeholder 5"/>
          <p:cNvSpPr>
            <a:spLocks noGrp="1"/>
          </p:cNvSpPr>
          <p:nvPr>
            <p:ph type="sldNum" sz="quarter" idx="12"/>
          </p:nvPr>
        </p:nvSpPr>
        <p:spPr/>
        <p:txBody>
          <a:bodyPr/>
          <a:lstStyle/>
          <a:p>
            <a:fld id="{06B342E1-1408-4C13-9C60-07932E3DA7B3}" type="slidenum">
              <a:rPr lang="en-US" smtClean="0"/>
              <a:t>26</a:t>
            </a:fld>
            <a:endParaRPr lang="en-US"/>
          </a:p>
        </p:txBody>
      </p:sp>
    </p:spTree>
    <p:extLst>
      <p:ext uri="{BB962C8B-B14F-4D97-AF65-F5344CB8AC3E}">
        <p14:creationId xmlns:p14="http://schemas.microsoft.com/office/powerpoint/2010/main" val="2874782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B2D1236-4AD9-4E05-8FC5-05F7C8E0CEC6}"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27</a:t>
            </a:fld>
            <a:endParaRPr lang="en-US"/>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457200" y="1066800"/>
                <a:ext cx="8686800" cy="5059363"/>
              </a:xfrm>
            </p:spPr>
            <p:txBody>
              <a:bodyPr>
                <a:normAutofit/>
              </a:bodyPr>
              <a:lstStyle/>
              <a:p>
                <a:r>
                  <a:rPr lang="en-US" dirty="0"/>
                  <a:t>Total current in the circuit is </a:t>
                </a:r>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a:rPr>
                          <m:t>𝐼</m:t>
                        </m:r>
                      </m:e>
                      <m:sub>
                        <m:r>
                          <a:rPr lang="en-US" i="1" dirty="0">
                            <a:latin typeface="Cambria Math"/>
                          </a:rPr>
                          <m:t>𝑇</m:t>
                        </m:r>
                      </m:sub>
                    </m:sSub>
                    <m:r>
                      <a:rPr lang="en-US" i="1" dirty="0" smtClean="0">
                        <a:latin typeface="Cambria Math"/>
                      </a:rPr>
                      <m:t>=</m:t>
                    </m:r>
                    <m:f>
                      <m:fPr>
                        <m:ctrlPr>
                          <a:rPr lang="en-US" i="1" dirty="0" smtClean="0">
                            <a:latin typeface="Cambria Math" panose="02040503050406030204" pitchFamily="18" charset="0"/>
                          </a:rPr>
                        </m:ctrlPr>
                      </m:fPr>
                      <m:num>
                        <m:r>
                          <a:rPr lang="en-US" i="1" dirty="0">
                            <a:latin typeface="Cambria Math"/>
                          </a:rPr>
                          <m:t>𝐸</m:t>
                        </m:r>
                      </m:num>
                      <m:den>
                        <m:sSub>
                          <m:sSubPr>
                            <m:ctrlPr>
                              <a:rPr lang="en-US" i="1" dirty="0" smtClean="0">
                                <a:latin typeface="Cambria Math" panose="02040503050406030204" pitchFamily="18" charset="0"/>
                              </a:rPr>
                            </m:ctrlPr>
                          </m:sSubPr>
                          <m:e>
                            <m:r>
                              <a:rPr lang="en-US" b="0" i="1" dirty="0" smtClean="0">
                                <a:latin typeface="Cambria Math"/>
                              </a:rPr>
                              <m:t>𝑅</m:t>
                            </m:r>
                          </m:e>
                          <m:sub>
                            <m:r>
                              <a:rPr lang="en-US" b="0" i="1" dirty="0" smtClean="0">
                                <a:latin typeface="Cambria Math"/>
                              </a:rPr>
                              <m:t>𝑇</m:t>
                            </m:r>
                          </m:sub>
                        </m:sSub>
                      </m:den>
                    </m:f>
                  </m:oMath>
                </a14:m>
                <a:r>
                  <a:rPr lang="en-US" dirty="0"/>
                  <a:t>,</a:t>
                </a:r>
              </a:p>
              <a:p>
                <a:r>
                  <a:rPr lang="en-US" dirty="0"/>
                  <a:t>Since each of the </a:t>
                </a:r>
                <a:r>
                  <a:rPr lang="en-US" b="1" i="1" dirty="0">
                    <a:solidFill>
                      <a:srgbClr val="0070C0"/>
                    </a:solidFill>
                  </a:rPr>
                  <a:t>n </a:t>
                </a:r>
                <a:r>
                  <a:rPr lang="en-US" b="1" dirty="0">
                    <a:solidFill>
                      <a:srgbClr val="0070C0"/>
                    </a:solidFill>
                  </a:rPr>
                  <a:t>parallel resistors </a:t>
                </a:r>
                <a:r>
                  <a:rPr lang="en-US" dirty="0"/>
                  <a:t>has the same voltage, </a:t>
                </a:r>
                <a:r>
                  <a:rPr lang="en-US" i="1" dirty="0"/>
                  <a:t>E</a:t>
                </a:r>
                <a:r>
                  <a:rPr lang="en-US" dirty="0"/>
                  <a:t>, across its terminals, the current through any resistor in the network is given as</a:t>
                </a:r>
              </a:p>
              <a:p>
                <a:r>
                  <a:rPr lang="en-US" dirty="0"/>
                  <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𝐼</m:t>
                        </m:r>
                      </m:e>
                      <m:sub>
                        <m:r>
                          <a:rPr lang="en-US" b="0" i="1" dirty="0" smtClean="0">
                            <a:latin typeface="Cambria Math"/>
                          </a:rPr>
                          <m:t>𝑥</m:t>
                        </m:r>
                      </m:sub>
                    </m:sSub>
                    <m:r>
                      <a:rPr lang="en-US" i="1" dirty="0">
                        <a:latin typeface="Cambria Math"/>
                      </a:rPr>
                      <m:t>=</m:t>
                    </m:r>
                    <m:f>
                      <m:fPr>
                        <m:ctrlPr>
                          <a:rPr lang="en-US" i="1" dirty="0">
                            <a:latin typeface="Cambria Math" panose="02040503050406030204" pitchFamily="18" charset="0"/>
                          </a:rPr>
                        </m:ctrlPr>
                      </m:fPr>
                      <m:num>
                        <m:r>
                          <a:rPr lang="en-US" i="1" dirty="0">
                            <a:latin typeface="Cambria Math"/>
                          </a:rPr>
                          <m:t>𝐸</m:t>
                        </m:r>
                      </m:num>
                      <m:den>
                        <m:sSub>
                          <m:sSubPr>
                            <m:ctrlPr>
                              <a:rPr lang="en-US" i="1" dirty="0">
                                <a:latin typeface="Cambria Math" panose="02040503050406030204" pitchFamily="18" charset="0"/>
                              </a:rPr>
                            </m:ctrlPr>
                          </m:sSubPr>
                          <m:e>
                            <m:r>
                              <a:rPr lang="en-US" i="1" dirty="0">
                                <a:latin typeface="Cambria Math"/>
                              </a:rPr>
                              <m:t>𝑅</m:t>
                            </m:r>
                          </m:e>
                          <m:sub>
                            <m:r>
                              <a:rPr lang="en-US" b="0" i="1" dirty="0" smtClean="0">
                                <a:latin typeface="Cambria Math"/>
                              </a:rPr>
                              <m:t>𝑥</m:t>
                            </m:r>
                          </m:sub>
                        </m:sSub>
                      </m:den>
                    </m:f>
                  </m:oMath>
                </a14:m>
                <a:r>
                  <a:rPr lang="en-US" dirty="0"/>
                  <a:t>, and </a:t>
                </a:r>
                <a14:m>
                  <m:oMath xmlns:m="http://schemas.openxmlformats.org/officeDocument/2006/math">
                    <m:r>
                      <a:rPr lang="en-US" b="0" i="1" dirty="0" smtClean="0">
                        <a:latin typeface="Cambria Math"/>
                      </a:rPr>
                      <m:t>𝐸</m:t>
                    </m:r>
                    <m:r>
                      <a:rPr lang="en-US" i="1" dirty="0">
                        <a:latin typeface="Cambria Math"/>
                      </a:rPr>
                      <m:t>=</m:t>
                    </m:r>
                    <m:sSub>
                      <m:sSubPr>
                        <m:ctrlPr>
                          <a:rPr lang="en-US" i="1" dirty="0">
                            <a:latin typeface="Cambria Math" panose="02040503050406030204" pitchFamily="18" charset="0"/>
                          </a:rPr>
                        </m:ctrlPr>
                      </m:sSubPr>
                      <m:e>
                        <m:r>
                          <a:rPr lang="en-US" b="0" i="1" dirty="0" smtClean="0">
                            <a:latin typeface="Cambria Math"/>
                          </a:rPr>
                          <m:t>𝐼</m:t>
                        </m:r>
                      </m:e>
                      <m:sub>
                        <m:r>
                          <a:rPr lang="en-US" i="1" dirty="0">
                            <a:latin typeface="Cambria Math"/>
                          </a:rPr>
                          <m:t>𝑇</m:t>
                        </m:r>
                      </m:sub>
                    </m:sSub>
                    <m:sSub>
                      <m:sSubPr>
                        <m:ctrlPr>
                          <a:rPr lang="en-US" i="1" dirty="0">
                            <a:latin typeface="Cambria Math" panose="02040503050406030204" pitchFamily="18" charset="0"/>
                          </a:rPr>
                        </m:ctrlPr>
                      </m:sSubPr>
                      <m:e>
                        <m:r>
                          <a:rPr lang="en-US" i="1" dirty="0">
                            <a:latin typeface="Cambria Math"/>
                          </a:rPr>
                          <m:t>𝑅</m:t>
                        </m:r>
                      </m:e>
                      <m:sub>
                        <m:r>
                          <a:rPr lang="en-US" i="1" dirty="0">
                            <a:latin typeface="Cambria Math"/>
                          </a:rPr>
                          <m:t>𝑇</m:t>
                        </m:r>
                      </m:sub>
                    </m:sSub>
                  </m:oMath>
                </a14:m>
                <a:endParaRPr lang="en-US" dirty="0"/>
              </a:p>
              <a:p>
                <a:r>
                  <a:rPr lang="en-US" dirty="0"/>
                  <a:t>Hence</a:t>
                </a:r>
                <a:r>
                  <a:rPr lang="en-US" b="1" dirty="0">
                    <a:solidFill>
                      <a:srgbClr val="FF0000"/>
                    </a:solidFill>
                  </a:rPr>
                  <a:t>, </a:t>
                </a:r>
                <a14:m>
                  <m:oMath xmlns:m="http://schemas.openxmlformats.org/officeDocument/2006/math">
                    <m:sSub>
                      <m:sSubPr>
                        <m:ctrlPr>
                          <a:rPr lang="en-US" b="1" i="1" dirty="0">
                            <a:solidFill>
                              <a:srgbClr val="FF0000"/>
                            </a:solidFill>
                            <a:latin typeface="Cambria Math" panose="02040503050406030204" pitchFamily="18" charset="0"/>
                          </a:rPr>
                        </m:ctrlPr>
                      </m:sSubPr>
                      <m:e>
                        <m:r>
                          <a:rPr lang="en-US" b="1" i="1" dirty="0">
                            <a:solidFill>
                              <a:srgbClr val="FF0000"/>
                            </a:solidFill>
                            <a:latin typeface="Cambria Math"/>
                          </a:rPr>
                          <m:t>𝑰</m:t>
                        </m:r>
                      </m:e>
                      <m:sub>
                        <m:r>
                          <a:rPr lang="en-US" b="1" i="1" dirty="0">
                            <a:solidFill>
                              <a:srgbClr val="FF0000"/>
                            </a:solidFill>
                            <a:latin typeface="Cambria Math"/>
                          </a:rPr>
                          <m:t>𝒙</m:t>
                        </m:r>
                      </m:sub>
                    </m:sSub>
                    <m:r>
                      <a:rPr lang="en-US" b="1" i="1" dirty="0">
                        <a:solidFill>
                          <a:srgbClr val="FF0000"/>
                        </a:solidFill>
                        <a:latin typeface="Cambria Math"/>
                      </a:rPr>
                      <m:t>=</m:t>
                    </m:r>
                    <m:f>
                      <m:fPr>
                        <m:ctrlPr>
                          <a:rPr lang="en-US" b="1" i="1" dirty="0">
                            <a:solidFill>
                              <a:srgbClr val="FF0000"/>
                            </a:solidFill>
                            <a:latin typeface="Cambria Math" panose="02040503050406030204" pitchFamily="18" charset="0"/>
                          </a:rPr>
                        </m:ctrlPr>
                      </m:fPr>
                      <m:num>
                        <m:sSub>
                          <m:sSubPr>
                            <m:ctrlPr>
                              <a:rPr lang="en-US" b="1" i="1" dirty="0">
                                <a:solidFill>
                                  <a:srgbClr val="FF0000"/>
                                </a:solidFill>
                                <a:latin typeface="Cambria Math" panose="02040503050406030204" pitchFamily="18" charset="0"/>
                              </a:rPr>
                            </m:ctrlPr>
                          </m:sSubPr>
                          <m:e>
                            <m:r>
                              <a:rPr lang="en-US" b="1" i="1" dirty="0">
                                <a:solidFill>
                                  <a:srgbClr val="FF0000"/>
                                </a:solidFill>
                                <a:latin typeface="Cambria Math"/>
                              </a:rPr>
                              <m:t>𝑹</m:t>
                            </m:r>
                          </m:e>
                          <m:sub>
                            <m:r>
                              <a:rPr lang="en-US" b="1" i="1" dirty="0">
                                <a:solidFill>
                                  <a:srgbClr val="FF0000"/>
                                </a:solidFill>
                                <a:latin typeface="Cambria Math"/>
                              </a:rPr>
                              <m:t>𝑻</m:t>
                            </m:r>
                            <m:r>
                              <a:rPr lang="en-US" b="1" i="1" dirty="0" smtClean="0">
                                <a:solidFill>
                                  <a:srgbClr val="FF0000"/>
                                </a:solidFill>
                                <a:latin typeface="Cambria Math"/>
                              </a:rPr>
                              <m:t> </m:t>
                            </m:r>
                          </m:sub>
                        </m:sSub>
                      </m:num>
                      <m:den>
                        <m:sSub>
                          <m:sSubPr>
                            <m:ctrlPr>
                              <a:rPr lang="en-US" b="1" i="1" dirty="0">
                                <a:solidFill>
                                  <a:srgbClr val="FF0000"/>
                                </a:solidFill>
                                <a:latin typeface="Cambria Math" panose="02040503050406030204" pitchFamily="18" charset="0"/>
                              </a:rPr>
                            </m:ctrlPr>
                          </m:sSubPr>
                          <m:e>
                            <m:r>
                              <a:rPr lang="en-US" b="1" i="1" dirty="0">
                                <a:solidFill>
                                  <a:srgbClr val="FF0000"/>
                                </a:solidFill>
                                <a:latin typeface="Cambria Math"/>
                              </a:rPr>
                              <m:t>𝑹</m:t>
                            </m:r>
                          </m:e>
                          <m:sub>
                            <m:r>
                              <a:rPr lang="en-US" b="1" i="1" dirty="0">
                                <a:solidFill>
                                  <a:srgbClr val="FF0000"/>
                                </a:solidFill>
                                <a:latin typeface="Cambria Math"/>
                              </a:rPr>
                              <m:t>𝒙</m:t>
                            </m:r>
                          </m:sub>
                        </m:sSub>
                      </m:den>
                    </m:f>
                    <m:sSub>
                      <m:sSubPr>
                        <m:ctrlPr>
                          <a:rPr lang="en-US" b="1" i="1" dirty="0">
                            <a:solidFill>
                              <a:srgbClr val="FF0000"/>
                            </a:solidFill>
                            <a:latin typeface="Cambria Math" panose="02040503050406030204" pitchFamily="18" charset="0"/>
                          </a:rPr>
                        </m:ctrlPr>
                      </m:sSubPr>
                      <m:e>
                        <m:r>
                          <a:rPr lang="en-US" b="1" i="1" dirty="0">
                            <a:solidFill>
                              <a:srgbClr val="FF0000"/>
                            </a:solidFill>
                            <a:latin typeface="Cambria Math"/>
                          </a:rPr>
                          <m:t>𝑰</m:t>
                        </m:r>
                      </m:e>
                      <m:sub>
                        <m:r>
                          <a:rPr lang="en-US" b="1" i="1" dirty="0">
                            <a:solidFill>
                              <a:srgbClr val="FF0000"/>
                            </a:solidFill>
                            <a:latin typeface="Cambria Math"/>
                          </a:rPr>
                          <m:t>𝑻</m:t>
                        </m:r>
                      </m:sub>
                    </m:sSub>
                  </m:oMath>
                </a14:m>
                <a:r>
                  <a:rPr lang="en-US" dirty="0"/>
                  <a:t> , </a:t>
                </a:r>
              </a:p>
              <a:p>
                <a:pPr lvl="1"/>
                <a:r>
                  <a:rPr lang="en-US" sz="2200" dirty="0"/>
                  <a:t>Which is the current divider rule</a:t>
                </a:r>
                <a:r>
                  <a:rPr lang="en-US" dirty="0"/>
                  <a:t>.</a:t>
                </a:r>
              </a:p>
              <a:p>
                <a:endParaRPr lang="en-US" dirty="0"/>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457200" y="1066800"/>
                <a:ext cx="8686800" cy="5059363"/>
              </a:xfrm>
              <a:blipFill rotWithShape="1">
                <a:blip r:embed="rId2"/>
                <a:stretch>
                  <a:fillRect l="-1544" r="-702"/>
                </a:stretch>
              </a:blipFill>
            </p:spPr>
            <p:txBody>
              <a:bodyPr/>
              <a:lstStyle/>
              <a:p>
                <a:r>
                  <a:rPr lang="en-US">
                    <a:noFill/>
                  </a:rPr>
                  <a:t> </a:t>
                </a:r>
              </a:p>
            </p:txBody>
          </p:sp>
        </mc:Fallback>
      </mc:AlternateContent>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429000"/>
            <a:ext cx="388620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2611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914400"/>
                <a:ext cx="8610600" cy="5211763"/>
              </a:xfrm>
            </p:spPr>
            <p:txBody>
              <a:bodyPr/>
              <a:lstStyle/>
              <a:p>
                <a:r>
                  <a:rPr lang="en-US" dirty="0"/>
                  <a:t>If the network </a:t>
                </a:r>
                <a:r>
                  <a:rPr lang="en-US" b="1" dirty="0">
                    <a:solidFill>
                      <a:srgbClr val="0070C0"/>
                    </a:solidFill>
                  </a:rPr>
                  <a:t>consists of only two parallel resistors</a:t>
                </a:r>
                <a:r>
                  <a:rPr lang="en-US" dirty="0"/>
                  <a:t>, then the current through each resistor may be found in a slightly different way.</a:t>
                </a:r>
              </a:p>
              <a:p>
                <a:r>
                  <a:rPr lang="en-US" sz="2800" dirty="0"/>
                  <a:t>Recall that: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a:rPr>
                          <m:t>𝑅</m:t>
                        </m:r>
                      </m:e>
                      <m:sub>
                        <m:r>
                          <a:rPr lang="en-US" sz="2800" b="0" i="1" smtClean="0">
                            <a:latin typeface="Cambria Math"/>
                          </a:rPr>
                          <m:t>𝑇</m:t>
                        </m:r>
                      </m:sub>
                    </m:sSub>
                    <m:r>
                      <a:rPr lang="en-US" sz="2800" b="0" i="1" smtClean="0">
                        <a:latin typeface="Cambria Math"/>
                      </a:rPr>
                      <m:t>=</m:t>
                    </m:r>
                    <m:f>
                      <m:fPr>
                        <m:ctrlPr>
                          <a:rPr lang="en-US" sz="2800" b="0" i="1" smtClean="0">
                            <a:latin typeface="Cambria Math" panose="02040503050406030204" pitchFamily="18" charset="0"/>
                          </a:rPr>
                        </m:ctrlPr>
                      </m:fPr>
                      <m:num>
                        <m:r>
                          <a:rPr lang="en-US" sz="2800" b="0" i="1" smtClean="0">
                            <a:latin typeface="Cambria Math"/>
                          </a:rPr>
                          <m:t>𝑅</m:t>
                        </m:r>
                        <m:r>
                          <a:rPr lang="en-US" sz="2800" b="0" i="1" smtClean="0">
                            <a:latin typeface="Cambria Math"/>
                          </a:rPr>
                          <m:t>1×</m:t>
                        </m:r>
                        <m:r>
                          <a:rPr lang="en-US" sz="2800" b="0" i="1" smtClean="0">
                            <a:latin typeface="Cambria Math"/>
                            <a:ea typeface="Cambria Math"/>
                          </a:rPr>
                          <m:t>𝑅</m:t>
                        </m:r>
                        <m:r>
                          <a:rPr lang="en-US" sz="2800" b="0" i="1" smtClean="0">
                            <a:latin typeface="Cambria Math"/>
                            <a:ea typeface="Cambria Math"/>
                          </a:rPr>
                          <m:t>2</m:t>
                        </m:r>
                      </m:num>
                      <m:den>
                        <m:r>
                          <a:rPr lang="en-US" sz="2800" b="0" i="1" smtClean="0">
                            <a:latin typeface="Cambria Math"/>
                          </a:rPr>
                          <m:t>𝑅</m:t>
                        </m:r>
                        <m:r>
                          <a:rPr lang="en-US" sz="2800" b="0" i="1" smtClean="0">
                            <a:latin typeface="Cambria Math"/>
                          </a:rPr>
                          <m:t>1+</m:t>
                        </m:r>
                        <m:r>
                          <a:rPr lang="en-US" sz="2800" b="0" i="1" smtClean="0">
                            <a:latin typeface="Cambria Math"/>
                          </a:rPr>
                          <m:t>𝑅</m:t>
                        </m:r>
                        <m:r>
                          <a:rPr lang="en-US" sz="2800" b="0" i="1" smtClean="0">
                            <a:latin typeface="Cambria Math"/>
                          </a:rPr>
                          <m:t>2</m:t>
                        </m:r>
                      </m:den>
                    </m:f>
                    <m:r>
                      <a:rPr lang="en-US" sz="2800" b="0" i="0" smtClean="0">
                        <a:latin typeface="Cambria Math"/>
                      </a:rPr>
                      <m:t>, </m:t>
                    </m:r>
                  </m:oMath>
                </a14:m>
                <a:r>
                  <a:rPr lang="en-US" sz="2800" dirty="0"/>
                  <a:t>Then the Current </a:t>
                </a:r>
              </a:p>
              <a:p>
                <a:r>
                  <a:rPr lang="en-US" sz="2800" dirty="0"/>
                  <a:t>Which is simplified as: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914400"/>
                <a:ext cx="8610600" cy="5211763"/>
              </a:xfrm>
              <a:blipFill rotWithShape="1">
                <a:blip r:embed="rId2"/>
                <a:stretch>
                  <a:fillRect l="-1629" t="-1520" r="-1204"/>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14A6AE8A-A557-4857-B926-39A99117124A}"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28</a:t>
            </a:fld>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2362200"/>
            <a:ext cx="1752600" cy="1438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813340"/>
            <a:ext cx="1295400" cy="467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3810000"/>
            <a:ext cx="1057275" cy="447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4002970"/>
            <a:ext cx="2209800" cy="2321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533400" y="4343400"/>
            <a:ext cx="5715000" cy="646331"/>
          </a:xfrm>
          <a:prstGeom prst="rect">
            <a:avLst/>
          </a:prstGeom>
        </p:spPr>
        <p:txBody>
          <a:bodyPr wrap="square">
            <a:spAutoFit/>
          </a:bodyPr>
          <a:lstStyle/>
          <a:p>
            <a:r>
              <a:rPr lang="en-US" b="1" dirty="0"/>
              <a:t>Example: </a:t>
            </a:r>
            <a:r>
              <a:rPr lang="en-US" i="1" dirty="0"/>
              <a:t>Determine the currents I</a:t>
            </a:r>
            <a:r>
              <a:rPr lang="en-US" sz="1400" i="1" dirty="0"/>
              <a:t>1</a:t>
            </a:r>
            <a:r>
              <a:rPr lang="en-US" i="1" dirty="0"/>
              <a:t> and I</a:t>
            </a:r>
            <a:r>
              <a:rPr lang="en-US" sz="1400" i="1" dirty="0"/>
              <a:t>2</a:t>
            </a:r>
            <a:r>
              <a:rPr lang="en-US" i="1" dirty="0"/>
              <a:t> in the network</a:t>
            </a:r>
          </a:p>
          <a:p>
            <a:r>
              <a:rPr lang="en-US" i="1" dirty="0"/>
              <a:t>Solution, Since we have only two resistors, we have: </a:t>
            </a:r>
          </a:p>
        </p:txBody>
      </p:sp>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4989732"/>
            <a:ext cx="4377863" cy="14110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8827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10600" cy="5334000"/>
          </a:xfrm>
        </p:spPr>
        <p:txBody>
          <a:bodyPr/>
          <a:lstStyle/>
          <a:p>
            <a:r>
              <a:rPr lang="en-US" b="1" dirty="0">
                <a:solidFill>
                  <a:srgbClr val="0070C0"/>
                </a:solidFill>
              </a:rPr>
              <a:t>Example: </a:t>
            </a:r>
            <a:r>
              <a:rPr lang="en-US" dirty="0"/>
              <a:t>For this network, determine the currents I</a:t>
            </a:r>
            <a:r>
              <a:rPr lang="en-US" sz="2400" dirty="0"/>
              <a:t>1</a:t>
            </a:r>
            <a:r>
              <a:rPr lang="en-US" dirty="0"/>
              <a:t>, I</a:t>
            </a:r>
            <a:r>
              <a:rPr lang="en-US" sz="2400" dirty="0"/>
              <a:t>2</a:t>
            </a:r>
            <a:r>
              <a:rPr lang="en-US" dirty="0"/>
              <a:t>, and I</a:t>
            </a:r>
            <a:r>
              <a:rPr lang="en-US" sz="2400" dirty="0"/>
              <a:t>3</a:t>
            </a:r>
            <a:r>
              <a:rPr lang="en-US" dirty="0"/>
              <a:t>.</a:t>
            </a:r>
          </a:p>
        </p:txBody>
      </p:sp>
      <p:sp>
        <p:nvSpPr>
          <p:cNvPr id="4" name="Date Placeholder 3"/>
          <p:cNvSpPr>
            <a:spLocks noGrp="1"/>
          </p:cNvSpPr>
          <p:nvPr>
            <p:ph type="dt" sz="half" idx="10"/>
          </p:nvPr>
        </p:nvSpPr>
        <p:spPr/>
        <p:txBody>
          <a:bodyPr/>
          <a:lstStyle/>
          <a:p>
            <a:fld id="{D3F93CF9-D4C3-49F9-B33A-3374F3533C16}"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29</a:t>
            </a:fld>
            <a:endParaRPr lang="en-US"/>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438400"/>
            <a:ext cx="3038929"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512041" y="4560446"/>
            <a:ext cx="3678959" cy="646331"/>
          </a:xfrm>
          <a:prstGeom prst="rect">
            <a:avLst/>
          </a:prstGeom>
          <a:noFill/>
        </p:spPr>
        <p:txBody>
          <a:bodyPr wrap="square" rtlCol="0">
            <a:spAutoFit/>
          </a:bodyPr>
          <a:lstStyle/>
          <a:p>
            <a:r>
              <a:rPr lang="en-US" b="1" dirty="0"/>
              <a:t>Solution: </a:t>
            </a:r>
            <a:r>
              <a:rPr lang="en-US" dirty="0"/>
              <a:t>We calculate the total conductance of the network.</a:t>
            </a:r>
          </a:p>
        </p:txBody>
      </p:sp>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143" y="5500900"/>
            <a:ext cx="3380642" cy="541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0919" y="1545549"/>
            <a:ext cx="3409067" cy="17857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4517" y="3781780"/>
            <a:ext cx="3261870" cy="2181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5824153" y="3276600"/>
            <a:ext cx="2209800" cy="369332"/>
          </a:xfrm>
          <a:prstGeom prst="rect">
            <a:avLst/>
          </a:prstGeom>
          <a:noFill/>
        </p:spPr>
        <p:txBody>
          <a:bodyPr wrap="square" rtlCol="0">
            <a:spAutoFit/>
          </a:bodyPr>
          <a:lstStyle/>
          <a:p>
            <a:r>
              <a:rPr lang="en-US" b="1" dirty="0"/>
              <a:t>Using conductance G</a:t>
            </a:r>
          </a:p>
        </p:txBody>
      </p:sp>
      <p:sp>
        <p:nvSpPr>
          <p:cNvPr id="9" name="TextBox 8"/>
          <p:cNvSpPr txBox="1"/>
          <p:nvPr/>
        </p:nvSpPr>
        <p:spPr>
          <a:xfrm>
            <a:off x="5638800" y="5986756"/>
            <a:ext cx="2743200" cy="369332"/>
          </a:xfrm>
          <a:prstGeom prst="rect">
            <a:avLst/>
          </a:prstGeom>
          <a:noFill/>
        </p:spPr>
        <p:txBody>
          <a:bodyPr wrap="square" rtlCol="0">
            <a:spAutoFit/>
          </a:bodyPr>
          <a:lstStyle/>
          <a:p>
            <a:r>
              <a:rPr lang="en-US" b="1" dirty="0"/>
              <a:t>Using total resistance</a:t>
            </a:r>
          </a:p>
        </p:txBody>
      </p:sp>
    </p:spTree>
    <p:extLst>
      <p:ext uri="{BB962C8B-B14F-4D97-AF65-F5344CB8AC3E}">
        <p14:creationId xmlns:p14="http://schemas.microsoft.com/office/powerpoint/2010/main" val="578712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387"/>
                                        </p:tgtEl>
                                        <p:attrNameLst>
                                          <p:attrName>style.visibility</p:attrName>
                                        </p:attrNameLst>
                                      </p:cBhvr>
                                      <p:to>
                                        <p:strVal val="visible"/>
                                      </p:to>
                                    </p:set>
                                    <p:anim calcmode="lin" valueType="num">
                                      <p:cBhvr additive="base">
                                        <p:cTn id="11" dur="500" fill="hold"/>
                                        <p:tgtEl>
                                          <p:spTgt spid="16387"/>
                                        </p:tgtEl>
                                        <p:attrNameLst>
                                          <p:attrName>ppt_x</p:attrName>
                                        </p:attrNameLst>
                                      </p:cBhvr>
                                      <p:tavLst>
                                        <p:tav tm="0">
                                          <p:val>
                                            <p:strVal val="#ppt_x"/>
                                          </p:val>
                                        </p:tav>
                                        <p:tav tm="100000">
                                          <p:val>
                                            <p:strVal val="#ppt_x"/>
                                          </p:val>
                                        </p:tav>
                                      </p:tavLst>
                                    </p:anim>
                                    <p:anim calcmode="lin" valueType="num">
                                      <p:cBhvr additive="base">
                                        <p:cTn id="12" dur="500" fill="hold"/>
                                        <p:tgtEl>
                                          <p:spTgt spid="1638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388"/>
                                        </p:tgtEl>
                                        <p:attrNameLst>
                                          <p:attrName>style.visibility</p:attrName>
                                        </p:attrNameLst>
                                      </p:cBhvr>
                                      <p:to>
                                        <p:strVal val="visible"/>
                                      </p:to>
                                    </p:set>
                                    <p:anim calcmode="lin" valueType="num">
                                      <p:cBhvr additive="base">
                                        <p:cTn id="15" dur="500" fill="hold"/>
                                        <p:tgtEl>
                                          <p:spTgt spid="16388"/>
                                        </p:tgtEl>
                                        <p:attrNameLst>
                                          <p:attrName>ppt_x</p:attrName>
                                        </p:attrNameLst>
                                      </p:cBhvr>
                                      <p:tavLst>
                                        <p:tav tm="0">
                                          <p:val>
                                            <p:strVal val="#ppt_x"/>
                                          </p:val>
                                        </p:tav>
                                        <p:tav tm="100000">
                                          <p:val>
                                            <p:strVal val="#ppt_x"/>
                                          </p:val>
                                        </p:tav>
                                      </p:tavLst>
                                    </p:anim>
                                    <p:anim calcmode="lin" valueType="num">
                                      <p:cBhvr additive="base">
                                        <p:cTn id="16" dur="500" fill="hold"/>
                                        <p:tgtEl>
                                          <p:spTgt spid="1638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389"/>
                                        </p:tgtEl>
                                        <p:attrNameLst>
                                          <p:attrName>style.visibility</p:attrName>
                                        </p:attrNameLst>
                                      </p:cBhvr>
                                      <p:to>
                                        <p:strVal val="visible"/>
                                      </p:to>
                                    </p:set>
                                    <p:anim calcmode="lin" valueType="num">
                                      <p:cBhvr additive="base">
                                        <p:cTn id="23" dur="500" fill="hold"/>
                                        <p:tgtEl>
                                          <p:spTgt spid="16389"/>
                                        </p:tgtEl>
                                        <p:attrNameLst>
                                          <p:attrName>ppt_x</p:attrName>
                                        </p:attrNameLst>
                                      </p:cBhvr>
                                      <p:tavLst>
                                        <p:tav tm="0">
                                          <p:val>
                                            <p:strVal val="#ppt_x"/>
                                          </p:val>
                                        </p:tav>
                                        <p:tav tm="100000">
                                          <p:val>
                                            <p:strVal val="#ppt_x"/>
                                          </p:val>
                                        </p:tav>
                                      </p:tavLst>
                                    </p:anim>
                                    <p:anim calcmode="lin" valueType="num">
                                      <p:cBhvr additive="base">
                                        <p:cTn id="24" dur="500" fill="hold"/>
                                        <p:tgtEl>
                                          <p:spTgt spid="1638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686800" cy="5135563"/>
          </a:xfrm>
        </p:spPr>
        <p:txBody>
          <a:bodyPr/>
          <a:lstStyle/>
          <a:p>
            <a:r>
              <a:rPr lang="en-US" b="1" dirty="0"/>
              <a:t>Example for enhancement (5)</a:t>
            </a:r>
          </a:p>
          <a:p>
            <a:pPr marL="0" indent="0">
              <a:buNone/>
            </a:pPr>
            <a:r>
              <a:rPr lang="en-US" dirty="0"/>
              <a:t>(1) Use the current divider rule to calculate the </a:t>
            </a:r>
            <a:r>
              <a:rPr lang="en-US" dirty="0">
                <a:solidFill>
                  <a:srgbClr val="0070C0"/>
                </a:solidFill>
              </a:rPr>
              <a:t>unknown currents </a:t>
            </a:r>
            <a:r>
              <a:rPr lang="en-US" dirty="0"/>
              <a:t>for the networks below.</a:t>
            </a:r>
          </a:p>
          <a:p>
            <a:endParaRPr lang="en-US" dirty="0"/>
          </a:p>
        </p:txBody>
      </p:sp>
      <p:sp>
        <p:nvSpPr>
          <p:cNvPr id="4" name="Date Placeholder 3"/>
          <p:cNvSpPr>
            <a:spLocks noGrp="1"/>
          </p:cNvSpPr>
          <p:nvPr>
            <p:ph type="dt" sz="half" idx="10"/>
          </p:nvPr>
        </p:nvSpPr>
        <p:spPr/>
        <p:txBody>
          <a:bodyPr/>
          <a:lstStyle/>
          <a:p>
            <a:fld id="{FC5E5FC9-0A03-41B7-AC66-7E8D9E2DF34E}"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30</a:t>
            </a:fld>
            <a:endParaRPr lang="en-US"/>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863" y="2978727"/>
            <a:ext cx="8305801"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18013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915400" cy="5211763"/>
          </a:xfrm>
        </p:spPr>
        <p:txBody>
          <a:bodyPr/>
          <a:lstStyle/>
          <a:p>
            <a:r>
              <a:rPr lang="en-US" b="1" dirty="0"/>
              <a:t>Example for enhancement (5)-</a:t>
            </a:r>
            <a:r>
              <a:rPr lang="en-US" b="1" dirty="0" err="1"/>
              <a:t>Cont</a:t>
            </a:r>
            <a:r>
              <a:rPr lang="en-US" b="1" dirty="0"/>
              <a:t>’</a:t>
            </a:r>
          </a:p>
          <a:p>
            <a:r>
              <a:rPr lang="en-US" sz="2400" dirty="0"/>
              <a:t>For the circuit of this figure, determine the following quantities:</a:t>
            </a:r>
          </a:p>
          <a:p>
            <a:r>
              <a:rPr lang="en-US" sz="2400" dirty="0"/>
              <a:t> </a:t>
            </a:r>
            <a:r>
              <a:rPr lang="en-US" sz="2400" b="1" i="1" dirty="0"/>
              <a:t>R</a:t>
            </a:r>
            <a:r>
              <a:rPr lang="en-US" sz="1400" b="1" i="1" dirty="0"/>
              <a:t>T</a:t>
            </a:r>
            <a:r>
              <a:rPr lang="en-US" sz="2400" b="1" i="1" dirty="0"/>
              <a:t>,  I</a:t>
            </a:r>
            <a:r>
              <a:rPr lang="en-US" sz="1600" b="1" i="1" dirty="0"/>
              <a:t>T</a:t>
            </a:r>
          </a:p>
          <a:p>
            <a:r>
              <a:rPr lang="en-US" sz="2400" dirty="0"/>
              <a:t> Power delivered by the voltage source</a:t>
            </a:r>
          </a:p>
          <a:p>
            <a:r>
              <a:rPr lang="en-US" sz="2400" dirty="0"/>
              <a:t> </a:t>
            </a:r>
            <a:r>
              <a:rPr lang="en-US" sz="2400" i="1" dirty="0"/>
              <a:t>I</a:t>
            </a:r>
            <a:r>
              <a:rPr lang="en-US" sz="1600" i="1" dirty="0"/>
              <a:t>1</a:t>
            </a:r>
            <a:r>
              <a:rPr lang="en-US" sz="2400" i="1" dirty="0"/>
              <a:t> and I</a:t>
            </a:r>
            <a:r>
              <a:rPr lang="en-US" sz="1600" i="1" dirty="0"/>
              <a:t>2</a:t>
            </a:r>
            <a:r>
              <a:rPr lang="en-US" sz="2400" i="1" dirty="0"/>
              <a:t> </a:t>
            </a:r>
            <a:r>
              <a:rPr lang="en-US" sz="2400" dirty="0"/>
              <a:t>using the current divider rule</a:t>
            </a:r>
          </a:p>
          <a:p>
            <a:r>
              <a:rPr lang="en-US" sz="2400" dirty="0"/>
              <a:t>Power dissipated by the resistors.</a:t>
            </a:r>
          </a:p>
        </p:txBody>
      </p:sp>
      <p:sp>
        <p:nvSpPr>
          <p:cNvPr id="4" name="Date Placeholder 3"/>
          <p:cNvSpPr>
            <a:spLocks noGrp="1"/>
          </p:cNvSpPr>
          <p:nvPr>
            <p:ph type="dt" sz="half" idx="10"/>
          </p:nvPr>
        </p:nvSpPr>
        <p:spPr/>
        <p:txBody>
          <a:bodyPr/>
          <a:lstStyle/>
          <a:p>
            <a:fld id="{8D88B72D-1981-4CB3-8CB1-1AE077F03E07}"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31</a:t>
            </a:fld>
            <a:endParaRPr lang="en-US"/>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983179"/>
            <a:ext cx="3367768"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34193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534400" cy="5638800"/>
          </a:xfrm>
        </p:spPr>
        <p:txBody>
          <a:bodyPr>
            <a:normAutofit/>
          </a:bodyPr>
          <a:lstStyle/>
          <a:p>
            <a:r>
              <a:rPr lang="en-US" sz="2600" b="1" dirty="0"/>
              <a:t>The Series-Parallel Network</a:t>
            </a:r>
          </a:p>
          <a:p>
            <a:r>
              <a:rPr lang="en-US" sz="2000" dirty="0">
                <a:latin typeface="+mj-lt"/>
              </a:rPr>
              <a:t>In analyzing such circuits, it is imperative to remember that the </a:t>
            </a:r>
            <a:r>
              <a:rPr lang="en-US" sz="2000" b="1" dirty="0">
                <a:latin typeface="+mj-lt"/>
              </a:rPr>
              <a:t>rules for analyzing series and parallel </a:t>
            </a:r>
            <a:r>
              <a:rPr lang="en-US" sz="2000" dirty="0">
                <a:latin typeface="+mj-lt"/>
              </a:rPr>
              <a:t>elements still apply.</a:t>
            </a:r>
          </a:p>
          <a:p>
            <a:pPr lvl="2"/>
            <a:r>
              <a:rPr lang="en-US" sz="2000" b="1" dirty="0">
                <a:solidFill>
                  <a:srgbClr val="0070C0"/>
                </a:solidFill>
                <a:latin typeface="+mj-lt"/>
              </a:rPr>
              <a:t>The same current occurs through all series elements.</a:t>
            </a:r>
          </a:p>
          <a:p>
            <a:pPr lvl="2"/>
            <a:r>
              <a:rPr lang="en-US" sz="2000" b="1" dirty="0">
                <a:solidFill>
                  <a:srgbClr val="0070C0"/>
                </a:solidFill>
                <a:latin typeface="+mj-lt"/>
              </a:rPr>
              <a:t>The same voltage occurs across all parallel elements.</a:t>
            </a:r>
          </a:p>
          <a:p>
            <a:r>
              <a:rPr lang="en-US" sz="2000" dirty="0">
                <a:latin typeface="+mj-lt"/>
              </a:rPr>
              <a:t>In addition, </a:t>
            </a:r>
            <a:r>
              <a:rPr lang="en-US" sz="2000" b="1" dirty="0">
                <a:latin typeface="+mj-lt"/>
              </a:rPr>
              <a:t>remember that Kirchhoff’s voltage law and Kirchhoff’s current  law apply for all circuits </a:t>
            </a:r>
            <a:r>
              <a:rPr lang="en-US" sz="2000" dirty="0">
                <a:latin typeface="+mj-lt"/>
              </a:rPr>
              <a:t>regardless of whether the circuits are series, parallel, or series-parallel.</a:t>
            </a:r>
          </a:p>
          <a:p>
            <a:r>
              <a:rPr lang="en-US" sz="2000" b="1" dirty="0"/>
              <a:t>Example:  </a:t>
            </a:r>
            <a:r>
              <a:rPr lang="en-US" sz="2000" dirty="0"/>
              <a:t>(a) Find </a:t>
            </a:r>
            <a:r>
              <a:rPr lang="en-US" sz="2000" i="1" dirty="0"/>
              <a:t>R</a:t>
            </a:r>
            <a:r>
              <a:rPr lang="en-US" sz="2000" dirty="0"/>
              <a:t>T,  (b) Calculate </a:t>
            </a:r>
            <a:r>
              <a:rPr lang="en-US" sz="2000" i="1" dirty="0"/>
              <a:t>I</a:t>
            </a:r>
            <a:r>
              <a:rPr lang="en-US" sz="2000" dirty="0"/>
              <a:t>1, </a:t>
            </a:r>
            <a:r>
              <a:rPr lang="en-US" sz="2000" i="1" dirty="0"/>
              <a:t>I</a:t>
            </a:r>
            <a:r>
              <a:rPr lang="en-US" sz="2000" dirty="0"/>
              <a:t>2, and </a:t>
            </a:r>
            <a:r>
              <a:rPr lang="en-US" sz="2000" i="1" dirty="0"/>
              <a:t>I</a:t>
            </a:r>
            <a:r>
              <a:rPr lang="en-US" sz="2000" dirty="0"/>
              <a:t>3, (c) The voltages </a:t>
            </a:r>
            <a:r>
              <a:rPr lang="en-US" sz="2000" i="1" dirty="0"/>
              <a:t>V</a:t>
            </a:r>
            <a:r>
              <a:rPr lang="en-US" sz="2000" dirty="0"/>
              <a:t>1 and </a:t>
            </a:r>
            <a:r>
              <a:rPr lang="en-US" sz="2000" i="1" dirty="0"/>
              <a:t>V</a:t>
            </a:r>
            <a:r>
              <a:rPr lang="en-US" sz="2000" dirty="0"/>
              <a:t>2.</a:t>
            </a:r>
            <a:endParaRPr lang="en-US" sz="2000" dirty="0">
              <a:latin typeface="+mj-lt"/>
            </a:endParaRPr>
          </a:p>
        </p:txBody>
      </p:sp>
      <p:sp>
        <p:nvSpPr>
          <p:cNvPr id="4" name="Date Placeholder 3"/>
          <p:cNvSpPr>
            <a:spLocks noGrp="1"/>
          </p:cNvSpPr>
          <p:nvPr>
            <p:ph type="dt" sz="half" idx="10"/>
          </p:nvPr>
        </p:nvSpPr>
        <p:spPr/>
        <p:txBody>
          <a:bodyPr/>
          <a:lstStyle/>
          <a:p>
            <a:fld id="{14060B03-CAC4-49A3-B3D1-0572FD9D6C12}"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32</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4165023"/>
            <a:ext cx="2819400" cy="2235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a:off x="3962400" y="5029200"/>
            <a:ext cx="6858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1" y="4165023"/>
            <a:ext cx="2057400" cy="21595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3962400"/>
            <a:ext cx="1952625" cy="81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0400" y="4800600"/>
            <a:ext cx="166687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8962" y="5181600"/>
            <a:ext cx="2095500"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05601" y="5962650"/>
            <a:ext cx="2409825" cy="447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508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7"/>
                                        </p:tgtEl>
                                        <p:attrNameLst>
                                          <p:attrName>style.visibility</p:attrName>
                                        </p:attrNameLst>
                                      </p:cBhvr>
                                      <p:to>
                                        <p:strVal val="visible"/>
                                      </p:to>
                                    </p:set>
                                    <p:anim calcmode="lin" valueType="num">
                                      <p:cBhvr additive="base">
                                        <p:cTn id="11" dur="500" fill="hold"/>
                                        <p:tgtEl>
                                          <p:spTgt spid="1027"/>
                                        </p:tgtEl>
                                        <p:attrNameLst>
                                          <p:attrName>ppt_x</p:attrName>
                                        </p:attrNameLst>
                                      </p:cBhvr>
                                      <p:tavLst>
                                        <p:tav tm="0">
                                          <p:val>
                                            <p:strVal val="#ppt_x"/>
                                          </p:val>
                                        </p:tav>
                                        <p:tav tm="100000">
                                          <p:val>
                                            <p:strVal val="#ppt_x"/>
                                          </p:val>
                                        </p:tav>
                                      </p:tavLst>
                                    </p:anim>
                                    <p:anim calcmode="lin" valueType="num">
                                      <p:cBhvr additive="base">
                                        <p:cTn id="12"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 calcmode="lin" valueType="num">
                                      <p:cBhvr additive="base">
                                        <p:cTn id="17" dur="500" fill="hold"/>
                                        <p:tgtEl>
                                          <p:spTgt spid="1028"/>
                                        </p:tgtEl>
                                        <p:attrNameLst>
                                          <p:attrName>ppt_x</p:attrName>
                                        </p:attrNameLst>
                                      </p:cBhvr>
                                      <p:tavLst>
                                        <p:tav tm="0">
                                          <p:val>
                                            <p:strVal val="#ppt_x"/>
                                          </p:val>
                                        </p:tav>
                                        <p:tav tm="100000">
                                          <p:val>
                                            <p:strVal val="#ppt_x"/>
                                          </p:val>
                                        </p:tav>
                                      </p:tavLst>
                                    </p:anim>
                                    <p:anim calcmode="lin" valueType="num">
                                      <p:cBhvr additive="base">
                                        <p:cTn id="18" dur="500" fill="hold"/>
                                        <p:tgtEl>
                                          <p:spTgt spid="102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29"/>
                                        </p:tgtEl>
                                        <p:attrNameLst>
                                          <p:attrName>style.visibility</p:attrName>
                                        </p:attrNameLst>
                                      </p:cBhvr>
                                      <p:to>
                                        <p:strVal val="visible"/>
                                      </p:to>
                                    </p:set>
                                    <p:anim calcmode="lin" valueType="num">
                                      <p:cBhvr additive="base">
                                        <p:cTn id="21" dur="500" fill="hold"/>
                                        <p:tgtEl>
                                          <p:spTgt spid="1029"/>
                                        </p:tgtEl>
                                        <p:attrNameLst>
                                          <p:attrName>ppt_x</p:attrName>
                                        </p:attrNameLst>
                                      </p:cBhvr>
                                      <p:tavLst>
                                        <p:tav tm="0">
                                          <p:val>
                                            <p:strVal val="#ppt_x"/>
                                          </p:val>
                                        </p:tav>
                                        <p:tav tm="100000">
                                          <p:val>
                                            <p:strVal val="#ppt_x"/>
                                          </p:val>
                                        </p:tav>
                                      </p:tavLst>
                                    </p:anim>
                                    <p:anim calcmode="lin" valueType="num">
                                      <p:cBhvr additive="base">
                                        <p:cTn id="22" dur="500" fill="hold"/>
                                        <p:tgtEl>
                                          <p:spTgt spid="102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30"/>
                                        </p:tgtEl>
                                        <p:attrNameLst>
                                          <p:attrName>style.visibility</p:attrName>
                                        </p:attrNameLst>
                                      </p:cBhvr>
                                      <p:to>
                                        <p:strVal val="visible"/>
                                      </p:to>
                                    </p:set>
                                    <p:anim calcmode="lin" valueType="num">
                                      <p:cBhvr additive="base">
                                        <p:cTn id="25" dur="500" fill="hold"/>
                                        <p:tgtEl>
                                          <p:spTgt spid="1030"/>
                                        </p:tgtEl>
                                        <p:attrNameLst>
                                          <p:attrName>ppt_x</p:attrName>
                                        </p:attrNameLst>
                                      </p:cBhvr>
                                      <p:tavLst>
                                        <p:tav tm="0">
                                          <p:val>
                                            <p:strVal val="#ppt_x"/>
                                          </p:val>
                                        </p:tav>
                                        <p:tav tm="100000">
                                          <p:val>
                                            <p:strVal val="#ppt_x"/>
                                          </p:val>
                                        </p:tav>
                                      </p:tavLst>
                                    </p:anim>
                                    <p:anim calcmode="lin" valueType="num">
                                      <p:cBhvr additive="base">
                                        <p:cTn id="26" dur="500" fill="hold"/>
                                        <p:tgtEl>
                                          <p:spTgt spid="1030"/>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31"/>
                                        </p:tgtEl>
                                        <p:attrNameLst>
                                          <p:attrName>style.visibility</p:attrName>
                                        </p:attrNameLst>
                                      </p:cBhvr>
                                      <p:to>
                                        <p:strVal val="visible"/>
                                      </p:to>
                                    </p:set>
                                    <p:anim calcmode="lin" valueType="num">
                                      <p:cBhvr additive="base">
                                        <p:cTn id="29" dur="500" fill="hold"/>
                                        <p:tgtEl>
                                          <p:spTgt spid="1031"/>
                                        </p:tgtEl>
                                        <p:attrNameLst>
                                          <p:attrName>ppt_x</p:attrName>
                                        </p:attrNameLst>
                                      </p:cBhvr>
                                      <p:tavLst>
                                        <p:tav tm="0">
                                          <p:val>
                                            <p:strVal val="#ppt_x"/>
                                          </p:val>
                                        </p:tav>
                                        <p:tav tm="100000">
                                          <p:val>
                                            <p:strVal val="#ppt_x"/>
                                          </p:val>
                                        </p:tav>
                                      </p:tavLst>
                                    </p:anim>
                                    <p:anim calcmode="lin" valueType="num">
                                      <p:cBhvr additive="base">
                                        <p:cTn id="30" dur="500" fill="hold"/>
                                        <p:tgtEl>
                                          <p:spTgt spid="10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10600" cy="5211763"/>
          </a:xfrm>
        </p:spPr>
        <p:txBody>
          <a:bodyPr>
            <a:normAutofit fontScale="85000" lnSpcReduction="10000"/>
          </a:bodyPr>
          <a:lstStyle/>
          <a:p>
            <a:r>
              <a:rPr lang="en-US" b="1" dirty="0"/>
              <a:t>Source Transformation</a:t>
            </a:r>
          </a:p>
          <a:p>
            <a:r>
              <a:rPr lang="en-US" dirty="0"/>
              <a:t>As you recall, </a:t>
            </a:r>
            <a:r>
              <a:rPr lang="en-US" b="1" dirty="0">
                <a:solidFill>
                  <a:srgbClr val="FF0000"/>
                </a:solidFill>
              </a:rPr>
              <a:t>voltage sources always have some series resistance</a:t>
            </a:r>
            <a:r>
              <a:rPr lang="en-US" dirty="0"/>
              <a:t>, although in some cases this resistance is </a:t>
            </a:r>
            <a:r>
              <a:rPr lang="en-US" dirty="0">
                <a:solidFill>
                  <a:srgbClr val="0070C0"/>
                </a:solidFill>
              </a:rPr>
              <a:t>so small in comparison with other circuit resistance</a:t>
            </a:r>
            <a:r>
              <a:rPr lang="en-US" dirty="0"/>
              <a:t> that it may effectively </a:t>
            </a:r>
            <a:r>
              <a:rPr lang="en-US" b="1" u="sng" dirty="0">
                <a:solidFill>
                  <a:srgbClr val="0070C0"/>
                </a:solidFill>
              </a:rPr>
              <a:t>be ignored</a:t>
            </a:r>
            <a:r>
              <a:rPr lang="en-US" b="1" dirty="0">
                <a:solidFill>
                  <a:srgbClr val="0070C0"/>
                </a:solidFill>
              </a:rPr>
              <a:t> </a:t>
            </a:r>
            <a:r>
              <a:rPr lang="en-US" dirty="0"/>
              <a:t>when determining the operation of the circuit. </a:t>
            </a:r>
          </a:p>
          <a:p>
            <a:r>
              <a:rPr lang="en-US" dirty="0"/>
              <a:t>Similarly, </a:t>
            </a:r>
            <a:r>
              <a:rPr lang="en-US" b="1" dirty="0">
                <a:solidFill>
                  <a:srgbClr val="C00000"/>
                </a:solidFill>
              </a:rPr>
              <a:t>a constant-current source will always have some shunt (or parallel) resistance</a:t>
            </a:r>
            <a:r>
              <a:rPr lang="en-US" dirty="0"/>
              <a:t>.</a:t>
            </a:r>
          </a:p>
          <a:p>
            <a:r>
              <a:rPr lang="en-US" dirty="0"/>
              <a:t> If this resistance is very large in comparison with the other circuit resistance, </a:t>
            </a:r>
            <a:r>
              <a:rPr lang="en-US" b="1" dirty="0">
                <a:solidFill>
                  <a:srgbClr val="00B0F0"/>
                </a:solidFill>
              </a:rPr>
              <a:t>the internal resistance of the source may once again be ignored</a:t>
            </a:r>
            <a:r>
              <a:rPr lang="en-US" dirty="0"/>
              <a:t>. </a:t>
            </a:r>
          </a:p>
          <a:p>
            <a:r>
              <a:rPr lang="en-US" dirty="0"/>
              <a:t>An ideal current source has an infinite shunt resistance.</a:t>
            </a:r>
          </a:p>
          <a:p>
            <a:endParaRPr lang="en-US" dirty="0"/>
          </a:p>
        </p:txBody>
      </p:sp>
      <p:sp>
        <p:nvSpPr>
          <p:cNvPr id="4" name="Date Placeholder 3"/>
          <p:cNvSpPr>
            <a:spLocks noGrp="1"/>
          </p:cNvSpPr>
          <p:nvPr>
            <p:ph type="dt" sz="half" idx="10"/>
          </p:nvPr>
        </p:nvSpPr>
        <p:spPr/>
        <p:txBody>
          <a:bodyPr/>
          <a:lstStyle/>
          <a:p>
            <a:fld id="{96A446DF-7AB4-43F7-AF7E-10D631994C9A}"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33</a:t>
            </a:fld>
            <a:endParaRPr lang="en-US"/>
          </a:p>
        </p:txBody>
      </p:sp>
    </p:spTree>
    <p:extLst>
      <p:ext uri="{BB962C8B-B14F-4D97-AF65-F5344CB8AC3E}">
        <p14:creationId xmlns:p14="http://schemas.microsoft.com/office/powerpoint/2010/main" val="1782857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914400"/>
                <a:ext cx="8686800" cy="5486400"/>
              </a:xfrm>
            </p:spPr>
            <p:txBody>
              <a:bodyPr>
                <a:normAutofit fontScale="92500"/>
              </a:bodyPr>
              <a:lstStyle/>
              <a:p>
                <a:r>
                  <a:rPr lang="en-US" dirty="0"/>
                  <a:t>If the </a:t>
                </a:r>
                <a:r>
                  <a:rPr lang="en-US" u="sng" dirty="0">
                    <a:solidFill>
                      <a:srgbClr val="00B0F0"/>
                    </a:solidFill>
                  </a:rPr>
                  <a:t>i</a:t>
                </a:r>
                <a:r>
                  <a:rPr lang="en-US" b="1" u="sng" dirty="0">
                    <a:solidFill>
                      <a:srgbClr val="00B0F0"/>
                    </a:solidFill>
                  </a:rPr>
                  <a:t>nternal resistance of a source is considered</a:t>
                </a:r>
                <a:r>
                  <a:rPr lang="en-US" b="1" dirty="0">
                    <a:solidFill>
                      <a:srgbClr val="00B0F0"/>
                    </a:solidFill>
                  </a:rPr>
                  <a:t>, the source, whether it is a voltage source or a current source</a:t>
                </a:r>
                <a:r>
                  <a:rPr lang="en-US" dirty="0"/>
                  <a:t>, is easily converted to the other type.</a:t>
                </a:r>
              </a:p>
              <a:p>
                <a:r>
                  <a:rPr lang="en-US" dirty="0"/>
                  <a:t>In this fig. the current source is equivalent to the voltage source if </a:t>
                </a:r>
                <a14:m>
                  <m:oMath xmlns:m="http://schemas.openxmlformats.org/officeDocument/2006/math">
                    <m:r>
                      <a:rPr lang="en-US" b="1" i="1" smtClean="0">
                        <a:solidFill>
                          <a:srgbClr val="C00000"/>
                        </a:solidFill>
                        <a:latin typeface="Cambria Math"/>
                      </a:rPr>
                      <m:t>𝑰</m:t>
                    </m:r>
                    <m:r>
                      <a:rPr lang="en-US" b="1" i="1" smtClean="0">
                        <a:solidFill>
                          <a:srgbClr val="C00000"/>
                        </a:solidFill>
                        <a:latin typeface="Cambria Math"/>
                      </a:rPr>
                      <m:t>=</m:t>
                    </m:r>
                    <m:f>
                      <m:fPr>
                        <m:ctrlPr>
                          <a:rPr lang="en-US" b="1" i="1" smtClean="0">
                            <a:solidFill>
                              <a:srgbClr val="C00000"/>
                            </a:solidFill>
                            <a:latin typeface="Cambria Math" panose="02040503050406030204" pitchFamily="18" charset="0"/>
                          </a:rPr>
                        </m:ctrlPr>
                      </m:fPr>
                      <m:num>
                        <m:r>
                          <a:rPr lang="en-US" b="1" i="1" smtClean="0">
                            <a:solidFill>
                              <a:srgbClr val="C00000"/>
                            </a:solidFill>
                            <a:latin typeface="Cambria Math"/>
                          </a:rPr>
                          <m:t>𝑬</m:t>
                        </m:r>
                      </m:num>
                      <m:den>
                        <m:r>
                          <a:rPr lang="en-US" b="1" i="1" smtClean="0">
                            <a:solidFill>
                              <a:srgbClr val="C00000"/>
                            </a:solidFill>
                            <a:latin typeface="Cambria Math"/>
                          </a:rPr>
                          <m:t>𝑹𝒔</m:t>
                        </m:r>
                      </m:den>
                    </m:f>
                  </m:oMath>
                </a14:m>
                <a:r>
                  <a:rPr lang="en-US" b="1" dirty="0">
                    <a:solidFill>
                      <a:srgbClr val="C00000"/>
                    </a:solidFill>
                  </a:rPr>
                  <a:t> , </a:t>
                </a:r>
                <a:r>
                  <a:rPr lang="en-US" dirty="0"/>
                  <a:t>and the resistances in both cases is </a:t>
                </a:r>
                <a:r>
                  <a:rPr lang="en-US" b="1" i="1" dirty="0"/>
                  <a:t>R</a:t>
                </a:r>
                <a:r>
                  <a:rPr lang="en-US" sz="2400" b="1" i="1" dirty="0"/>
                  <a:t>S.</a:t>
                </a:r>
              </a:p>
              <a:p>
                <a:r>
                  <a:rPr lang="en-US" dirty="0"/>
                  <a:t>Similarly, </a:t>
                </a:r>
                <a:r>
                  <a:rPr lang="en-US" b="1" dirty="0">
                    <a:solidFill>
                      <a:srgbClr val="0070C0"/>
                    </a:solidFill>
                  </a:rPr>
                  <a:t>a current source </a:t>
                </a:r>
              </a:p>
              <a:p>
                <a:pPr marL="0" indent="0">
                  <a:buNone/>
                </a:pPr>
                <a:r>
                  <a:rPr lang="en-US" b="1" dirty="0">
                    <a:solidFill>
                      <a:srgbClr val="0070C0"/>
                    </a:solidFill>
                  </a:rPr>
                  <a:t>may be converted to an </a:t>
                </a:r>
              </a:p>
              <a:p>
                <a:pPr marL="0" indent="0">
                  <a:buNone/>
                </a:pPr>
                <a:r>
                  <a:rPr lang="en-US" b="1" dirty="0">
                    <a:solidFill>
                      <a:srgbClr val="0070C0"/>
                    </a:solidFill>
                  </a:rPr>
                  <a:t>equivalent voltage </a:t>
                </a:r>
                <a:r>
                  <a:rPr lang="en-US" dirty="0"/>
                  <a:t>source </a:t>
                </a:r>
              </a:p>
              <a:p>
                <a:pPr marL="0" indent="0">
                  <a:buNone/>
                </a:pPr>
                <a:r>
                  <a:rPr lang="en-US" dirty="0"/>
                  <a:t>by letting </a:t>
                </a:r>
                <a14:m>
                  <m:oMath xmlns:m="http://schemas.openxmlformats.org/officeDocument/2006/math">
                    <m:r>
                      <a:rPr lang="en-US" b="1" i="1" smtClean="0">
                        <a:solidFill>
                          <a:srgbClr val="C00000"/>
                        </a:solidFill>
                        <a:latin typeface="Cambria Math"/>
                      </a:rPr>
                      <m:t>𝑬</m:t>
                    </m:r>
                    <m:r>
                      <a:rPr lang="en-US" b="1" i="1">
                        <a:solidFill>
                          <a:srgbClr val="C00000"/>
                        </a:solidFill>
                        <a:latin typeface="Cambria Math"/>
                      </a:rPr>
                      <m:t>=</m:t>
                    </m:r>
                    <m:r>
                      <a:rPr lang="en-US" b="1" i="1" smtClean="0">
                        <a:solidFill>
                          <a:srgbClr val="C00000"/>
                        </a:solidFill>
                        <a:latin typeface="Cambria Math"/>
                      </a:rPr>
                      <m:t>𝑰𝑹𝒔</m:t>
                    </m:r>
                  </m:oMath>
                </a14:m>
                <a:endParaRPr lang="en-US" b="1"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914400"/>
                <a:ext cx="8686800" cy="5486400"/>
              </a:xfrm>
              <a:blipFill rotWithShape="1">
                <a:blip r:embed="rId2"/>
                <a:stretch>
                  <a:fillRect l="-1684" t="-1333" r="-1193" b="-556"/>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89439393-A9EC-4A9C-A1DA-C87A89B3E70B}"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34</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505200"/>
            <a:ext cx="4155534"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0987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8763000" cy="5287963"/>
          </a:xfrm>
        </p:spPr>
        <p:txBody>
          <a:bodyPr>
            <a:normAutofit/>
          </a:bodyPr>
          <a:lstStyle/>
          <a:p>
            <a:r>
              <a:rPr lang="en-US" sz="2400" dirty="0"/>
              <a:t>These results may be </a:t>
            </a:r>
            <a:r>
              <a:rPr lang="en-US" sz="2400" dirty="0">
                <a:solidFill>
                  <a:srgbClr val="0070C0"/>
                </a:solidFill>
              </a:rPr>
              <a:t>easily verified by connecting an external resistance,  </a:t>
            </a:r>
            <a:r>
              <a:rPr lang="en-US" sz="2400" b="1" i="1" dirty="0">
                <a:solidFill>
                  <a:srgbClr val="0070C0"/>
                </a:solidFill>
              </a:rPr>
              <a:t>R</a:t>
            </a:r>
            <a:r>
              <a:rPr lang="en-US" sz="1600" b="1" i="1" dirty="0">
                <a:solidFill>
                  <a:srgbClr val="0070C0"/>
                </a:solidFill>
              </a:rPr>
              <a:t>L</a:t>
            </a:r>
            <a:r>
              <a:rPr lang="en-US" sz="2400" dirty="0"/>
              <a:t>, across each source.</a:t>
            </a:r>
          </a:p>
          <a:p>
            <a:r>
              <a:rPr lang="en-US" sz="2400" dirty="0"/>
              <a:t>The </a:t>
            </a:r>
            <a:r>
              <a:rPr lang="en-US" sz="2400" dirty="0">
                <a:solidFill>
                  <a:srgbClr val="0070C0"/>
                </a:solidFill>
              </a:rPr>
              <a:t>sources can be equivalent </a:t>
            </a:r>
            <a:r>
              <a:rPr lang="en-US" sz="2400" u="sng" dirty="0">
                <a:solidFill>
                  <a:srgbClr val="0070C0"/>
                </a:solidFill>
              </a:rPr>
              <a:t>only if the voltage across  </a:t>
            </a:r>
            <a:r>
              <a:rPr lang="en-US" sz="2400" b="1" i="1" u="sng" dirty="0">
                <a:solidFill>
                  <a:srgbClr val="0070C0"/>
                </a:solidFill>
              </a:rPr>
              <a:t>R</a:t>
            </a:r>
            <a:r>
              <a:rPr lang="en-US" sz="1800" b="1" i="1" u="sng" dirty="0">
                <a:solidFill>
                  <a:srgbClr val="0070C0"/>
                </a:solidFill>
              </a:rPr>
              <a:t>L</a:t>
            </a:r>
            <a:r>
              <a:rPr lang="en-US" sz="2400" b="1" i="1" u="sng" dirty="0">
                <a:solidFill>
                  <a:srgbClr val="0070C0"/>
                </a:solidFill>
              </a:rPr>
              <a:t> </a:t>
            </a:r>
            <a:r>
              <a:rPr lang="en-US" sz="2400" u="sng" dirty="0">
                <a:solidFill>
                  <a:srgbClr val="0070C0"/>
                </a:solidFill>
              </a:rPr>
              <a:t>is the same</a:t>
            </a:r>
            <a:r>
              <a:rPr lang="en-US" sz="2400" dirty="0">
                <a:solidFill>
                  <a:srgbClr val="0070C0"/>
                </a:solidFill>
              </a:rPr>
              <a:t> </a:t>
            </a:r>
            <a:r>
              <a:rPr lang="en-US" sz="2400" dirty="0"/>
              <a:t>for both sources.  </a:t>
            </a:r>
          </a:p>
          <a:p>
            <a:r>
              <a:rPr lang="en-US" sz="2400" dirty="0"/>
              <a:t>Similarly, </a:t>
            </a:r>
            <a:r>
              <a:rPr lang="en-US" sz="2400" dirty="0">
                <a:solidFill>
                  <a:srgbClr val="0070C0"/>
                </a:solidFill>
              </a:rPr>
              <a:t>the sources are equivalent</a:t>
            </a:r>
            <a:r>
              <a:rPr lang="en-US" sz="2400" u="sng" dirty="0">
                <a:solidFill>
                  <a:srgbClr val="0070C0"/>
                </a:solidFill>
              </a:rPr>
              <a:t> only if the current through </a:t>
            </a:r>
            <a:r>
              <a:rPr lang="en-US" sz="2400" b="1" i="1" u="sng" dirty="0">
                <a:solidFill>
                  <a:srgbClr val="0070C0"/>
                </a:solidFill>
              </a:rPr>
              <a:t>R</a:t>
            </a:r>
            <a:r>
              <a:rPr lang="en-US" sz="1600" b="1" i="1" u="sng" dirty="0">
                <a:solidFill>
                  <a:srgbClr val="0070C0"/>
                </a:solidFill>
              </a:rPr>
              <a:t>L</a:t>
            </a:r>
            <a:r>
              <a:rPr lang="en-US" sz="2400" u="sng" dirty="0">
                <a:solidFill>
                  <a:srgbClr val="0070C0"/>
                </a:solidFill>
              </a:rPr>
              <a:t> is the same </a:t>
            </a:r>
            <a:r>
              <a:rPr lang="en-US" sz="2400" dirty="0"/>
              <a:t>when connected to either source.</a:t>
            </a:r>
          </a:p>
          <a:p>
            <a:r>
              <a:rPr lang="en-US" sz="2400" dirty="0"/>
              <a:t>Therefore, Considering </a:t>
            </a:r>
            <a:r>
              <a:rPr lang="en-US" sz="2400" b="1" dirty="0"/>
              <a:t>Fig. (a), </a:t>
            </a:r>
            <a:r>
              <a:rPr lang="en-US" sz="2400" b="1" i="1" dirty="0"/>
              <a:t>V</a:t>
            </a:r>
            <a:r>
              <a:rPr lang="en-US" sz="1600" b="1" i="1" dirty="0"/>
              <a:t>L</a:t>
            </a:r>
            <a:r>
              <a:rPr lang="en-US" sz="2400" dirty="0"/>
              <a:t> and </a:t>
            </a:r>
            <a:r>
              <a:rPr lang="en-US" sz="2400" b="1" i="1" dirty="0"/>
              <a:t>I</a:t>
            </a:r>
            <a:r>
              <a:rPr lang="en-US" sz="1400" b="1" i="1" dirty="0"/>
              <a:t>L  </a:t>
            </a:r>
            <a:r>
              <a:rPr lang="en-US" sz="2400" i="1" dirty="0"/>
              <a:t>are given by: </a:t>
            </a:r>
            <a:endParaRPr lang="en-US" sz="1400" i="1" dirty="0"/>
          </a:p>
          <a:p>
            <a:endParaRPr lang="en-US" sz="2400" dirty="0"/>
          </a:p>
          <a:p>
            <a:r>
              <a:rPr lang="en-US" sz="2400" dirty="0"/>
              <a:t>Considering </a:t>
            </a:r>
            <a:r>
              <a:rPr lang="en-US" sz="2400" b="1" dirty="0"/>
              <a:t>Fig. (b), </a:t>
            </a:r>
            <a:r>
              <a:rPr lang="en-US" sz="2000" dirty="0"/>
              <a:t>and by converting the source we get</a:t>
            </a:r>
          </a:p>
          <a:p>
            <a:pPr marL="0" indent="0">
              <a:buNone/>
            </a:pPr>
            <a:r>
              <a:rPr lang="en-US" sz="2400" dirty="0"/>
              <a:t>                       and           , and  so we have </a:t>
            </a:r>
          </a:p>
          <a:p>
            <a:r>
              <a:rPr lang="en-US" sz="2400" dirty="0"/>
              <a:t>The voltage across the resistor is given as</a:t>
            </a:r>
          </a:p>
        </p:txBody>
      </p:sp>
      <p:sp>
        <p:nvSpPr>
          <p:cNvPr id="4" name="Date Placeholder 3"/>
          <p:cNvSpPr>
            <a:spLocks noGrp="1"/>
          </p:cNvSpPr>
          <p:nvPr>
            <p:ph type="dt" sz="half" idx="10"/>
          </p:nvPr>
        </p:nvSpPr>
        <p:spPr/>
        <p:txBody>
          <a:bodyPr/>
          <a:lstStyle/>
          <a:p>
            <a:fld id="{CA6A9EDD-1926-4603-86BB-ED9F21F7E2A7}"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35</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657600"/>
            <a:ext cx="1066800" cy="42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799" y="3657600"/>
            <a:ext cx="1000125"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8870" y="2924175"/>
            <a:ext cx="1751305" cy="1419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605647"/>
            <a:ext cx="1019175" cy="42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4638675"/>
            <a:ext cx="4762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0" y="4610409"/>
            <a:ext cx="1438275"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5562600"/>
            <a:ext cx="1257300" cy="69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2841418" y="5579423"/>
            <a:ext cx="4724400" cy="646331"/>
          </a:xfrm>
          <a:prstGeom prst="rect">
            <a:avLst/>
          </a:prstGeom>
          <a:noFill/>
        </p:spPr>
        <p:txBody>
          <a:bodyPr wrap="square" rtlCol="0">
            <a:spAutoFit/>
          </a:bodyPr>
          <a:lstStyle/>
          <a:p>
            <a:r>
              <a:rPr lang="en-US" dirty="0"/>
              <a:t>Which is precisely the same as the result obtained in </a:t>
            </a:r>
            <a:r>
              <a:rPr lang="en-US" b="1" dirty="0"/>
              <a:t>Fig. (a).</a:t>
            </a:r>
          </a:p>
        </p:txBody>
      </p:sp>
      <p:pic>
        <p:nvPicPr>
          <p:cNvPr id="2057"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0400" y="4719885"/>
            <a:ext cx="1981200" cy="16047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7696200" y="4343400"/>
            <a:ext cx="838200" cy="369332"/>
          </a:xfrm>
          <a:prstGeom prst="rect">
            <a:avLst/>
          </a:prstGeom>
          <a:noFill/>
        </p:spPr>
        <p:txBody>
          <a:bodyPr wrap="square" rtlCol="0">
            <a:spAutoFit/>
          </a:bodyPr>
          <a:lstStyle/>
          <a:p>
            <a:r>
              <a:rPr lang="en-US" b="1" dirty="0"/>
              <a:t>Fig.(a)</a:t>
            </a:r>
          </a:p>
        </p:txBody>
      </p:sp>
      <p:sp>
        <p:nvSpPr>
          <p:cNvPr id="9" name="TextBox 8"/>
          <p:cNvSpPr txBox="1"/>
          <p:nvPr/>
        </p:nvSpPr>
        <p:spPr>
          <a:xfrm>
            <a:off x="7268870" y="6324600"/>
            <a:ext cx="846430" cy="369332"/>
          </a:xfrm>
          <a:prstGeom prst="rect">
            <a:avLst/>
          </a:prstGeom>
          <a:noFill/>
        </p:spPr>
        <p:txBody>
          <a:bodyPr wrap="square" rtlCol="0">
            <a:spAutoFit/>
          </a:bodyPr>
          <a:lstStyle/>
          <a:p>
            <a:r>
              <a:rPr lang="en-US" b="1" dirty="0"/>
              <a:t>Fig.(b)</a:t>
            </a:r>
          </a:p>
        </p:txBody>
      </p:sp>
    </p:spTree>
    <p:extLst>
      <p:ext uri="{BB962C8B-B14F-4D97-AF65-F5344CB8AC3E}">
        <p14:creationId xmlns:p14="http://schemas.microsoft.com/office/powerpoint/2010/main" val="2119734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763000" cy="5334000"/>
          </a:xfrm>
        </p:spPr>
        <p:txBody>
          <a:bodyPr/>
          <a:lstStyle/>
          <a:p>
            <a:r>
              <a:rPr lang="en-US" b="1" dirty="0">
                <a:solidFill>
                  <a:srgbClr val="0070C0"/>
                </a:solidFill>
              </a:rPr>
              <a:t>Example1: </a:t>
            </a:r>
            <a:r>
              <a:rPr lang="en-US" dirty="0"/>
              <a:t>Convert the voltage source of </a:t>
            </a:r>
            <a:r>
              <a:rPr lang="en-US" b="1" dirty="0"/>
              <a:t>fig.(a</a:t>
            </a:r>
            <a:r>
              <a:rPr lang="en-US" dirty="0"/>
              <a:t>) into a current source and verify that the current, </a:t>
            </a:r>
            <a:r>
              <a:rPr lang="en-US" b="1" i="1" dirty="0"/>
              <a:t>I</a:t>
            </a:r>
            <a:r>
              <a:rPr lang="en-US" sz="2000" b="1" i="1" dirty="0"/>
              <a:t>L</a:t>
            </a:r>
            <a:r>
              <a:rPr lang="en-US" dirty="0"/>
              <a:t>, through the load is the same for each source.</a:t>
            </a:r>
          </a:p>
        </p:txBody>
      </p:sp>
      <p:sp>
        <p:nvSpPr>
          <p:cNvPr id="4" name="Date Placeholder 3"/>
          <p:cNvSpPr>
            <a:spLocks noGrp="1"/>
          </p:cNvSpPr>
          <p:nvPr>
            <p:ph type="dt" sz="half" idx="10"/>
          </p:nvPr>
        </p:nvSpPr>
        <p:spPr/>
        <p:txBody>
          <a:bodyPr/>
          <a:lstStyle/>
          <a:p>
            <a:fld id="{1E625047-C23D-4425-99EE-B2FEB45BA871}"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36</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819400"/>
            <a:ext cx="3579681"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730544"/>
            <a:ext cx="3200400" cy="1689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686300" y="2683823"/>
            <a:ext cx="1143000" cy="400110"/>
          </a:xfrm>
          <a:prstGeom prst="rect">
            <a:avLst/>
          </a:prstGeom>
          <a:noFill/>
        </p:spPr>
        <p:txBody>
          <a:bodyPr wrap="square" rtlCol="0">
            <a:spAutoFit/>
          </a:bodyPr>
          <a:lstStyle/>
          <a:p>
            <a:r>
              <a:rPr lang="en-US" sz="2000" b="1" dirty="0">
                <a:solidFill>
                  <a:srgbClr val="0070C0"/>
                </a:solidFill>
              </a:rPr>
              <a:t>Solution</a:t>
            </a:r>
          </a:p>
        </p:txBody>
      </p:sp>
      <mc:AlternateContent xmlns:mc="http://schemas.openxmlformats.org/markup-compatibility/2006" xmlns:a14="http://schemas.microsoft.com/office/drawing/2010/main">
        <mc:Choice Requires="a14">
          <p:sp>
            <p:nvSpPr>
              <p:cNvPr id="8" name="Rectangle 7"/>
              <p:cNvSpPr/>
              <p:nvPr/>
            </p:nvSpPr>
            <p:spPr>
              <a:xfrm>
                <a:off x="533400" y="4572000"/>
                <a:ext cx="8458200" cy="1870640"/>
              </a:xfrm>
              <a:prstGeom prst="rect">
                <a:avLst/>
              </a:prstGeom>
            </p:spPr>
            <p:txBody>
              <a:bodyPr wrap="square">
                <a:spAutoFit/>
              </a:bodyPr>
              <a:lstStyle/>
              <a:p>
                <a:r>
                  <a:rPr lang="en-US" dirty="0"/>
                  <a:t>The equivalent current source will have a current magnitude given as:                              and the current through the load in </a:t>
                </a:r>
                <a:r>
                  <a:rPr lang="en-US" b="1" dirty="0"/>
                  <a:t>Fig (a)</a:t>
                </a:r>
                <a:r>
                  <a:rPr lang="en-US" dirty="0"/>
                  <a:t> is found as:</a:t>
                </a:r>
              </a:p>
              <a:p>
                <a:endParaRPr lang="en-US" dirty="0"/>
              </a:p>
              <a:p>
                <a:endParaRPr lang="en-US" dirty="0"/>
              </a:p>
              <a:p>
                <a:r>
                  <a:rPr lang="en-US" dirty="0"/>
                  <a:t>Also, the current through the load of Fig. (b)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𝐿</m:t>
                        </m:r>
                      </m:sub>
                    </m:sSub>
                    <m:f>
                      <m:fPr>
                        <m:ctrlPr>
                          <a:rPr lang="en-US" b="0" i="1" smtClean="0">
                            <a:latin typeface="Cambria Math" panose="02040503050406030204" pitchFamily="18" charset="0"/>
                          </a:rPr>
                        </m:ctrlPr>
                      </m:fPr>
                      <m:num>
                        <m:r>
                          <a:rPr lang="en-US" b="0" i="1" smtClean="0">
                            <a:latin typeface="Cambria Math"/>
                          </a:rPr>
                          <m:t>𝑅𝑠</m:t>
                        </m:r>
                      </m:num>
                      <m:den>
                        <m:r>
                          <a:rPr lang="en-US" b="0" i="1" smtClean="0">
                            <a:latin typeface="Cambria Math"/>
                          </a:rPr>
                          <m:t>𝑅𝑠</m:t>
                        </m:r>
                        <m:r>
                          <a:rPr lang="en-US" b="0" i="1" smtClean="0">
                            <a:latin typeface="Cambria Math"/>
                          </a:rPr>
                          <m:t>+</m:t>
                        </m:r>
                        <m:r>
                          <a:rPr lang="en-US" b="0" i="1" smtClean="0">
                            <a:latin typeface="Cambria Math"/>
                          </a:rPr>
                          <m:t>𝑅𝑙</m:t>
                        </m:r>
                      </m:den>
                    </m:f>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𝑇</m:t>
                        </m:r>
                      </m:sub>
                    </m:sSub>
                  </m:oMath>
                </a14:m>
                <a:endParaRPr lang="en-US" dirty="0"/>
              </a:p>
              <a:p>
                <a:r>
                  <a:rPr lang="en-US" b="1" dirty="0">
                    <a:solidFill>
                      <a:srgbClr val="0070C0"/>
                    </a:solidFill>
                  </a:rPr>
                  <a:t>Hence, Clearly the results are the same.</a:t>
                </a:r>
              </a:p>
            </p:txBody>
          </p:sp>
        </mc:Choice>
        <mc:Fallback xmlns="">
          <p:sp>
            <p:nvSpPr>
              <p:cNvPr id="8" name="Rectangle 7"/>
              <p:cNvSpPr>
                <a:spLocks noRot="1" noChangeAspect="1" noMove="1" noResize="1" noEditPoints="1" noAdjustHandles="1" noChangeArrowheads="1" noChangeShapeType="1" noTextEdit="1"/>
              </p:cNvSpPr>
              <p:nvPr/>
            </p:nvSpPr>
            <p:spPr>
              <a:xfrm>
                <a:off x="533400" y="4572000"/>
                <a:ext cx="8458200" cy="1870640"/>
              </a:xfrm>
              <a:prstGeom prst="rect">
                <a:avLst/>
              </a:prstGeom>
              <a:blipFill rotWithShape="1">
                <a:blip r:embed="rId4"/>
                <a:stretch>
                  <a:fillRect l="-649" t="-1629" b="-4235"/>
                </a:stretch>
              </a:blipFill>
            </p:spPr>
            <p:txBody>
              <a:bodyPr/>
              <a:lstStyle/>
              <a:p>
                <a:r>
                  <a:rPr lang="ru-RU">
                    <a:noFill/>
                  </a:rPr>
                  <a:t> </a:t>
                </a:r>
              </a:p>
            </p:txBody>
          </p:sp>
        </mc:Fallback>
      </mc:AlternateContent>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2800" y="4524375"/>
            <a:ext cx="1181100" cy="42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9656" y="5172075"/>
            <a:ext cx="1924050"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5936" y="5760909"/>
            <a:ext cx="1952625"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2362200" y="2683823"/>
            <a:ext cx="914400" cy="369332"/>
          </a:xfrm>
          <a:prstGeom prst="rect">
            <a:avLst/>
          </a:prstGeom>
          <a:noFill/>
        </p:spPr>
        <p:txBody>
          <a:bodyPr wrap="square" rtlCol="0">
            <a:spAutoFit/>
          </a:bodyPr>
          <a:lstStyle/>
          <a:p>
            <a:r>
              <a:rPr lang="en-US" b="1" dirty="0"/>
              <a:t>Fig. (a) </a:t>
            </a:r>
          </a:p>
        </p:txBody>
      </p:sp>
      <p:sp>
        <p:nvSpPr>
          <p:cNvPr id="10" name="TextBox 9"/>
          <p:cNvSpPr txBox="1"/>
          <p:nvPr/>
        </p:nvSpPr>
        <p:spPr>
          <a:xfrm>
            <a:off x="7753350" y="2831068"/>
            <a:ext cx="1238250" cy="369332"/>
          </a:xfrm>
          <a:prstGeom prst="rect">
            <a:avLst/>
          </a:prstGeom>
          <a:noFill/>
        </p:spPr>
        <p:txBody>
          <a:bodyPr wrap="square" rtlCol="0">
            <a:spAutoFit/>
          </a:bodyPr>
          <a:lstStyle/>
          <a:p>
            <a:r>
              <a:rPr lang="en-US" b="1" dirty="0"/>
              <a:t>Fig. (b) </a:t>
            </a:r>
          </a:p>
        </p:txBody>
      </p:sp>
    </p:spTree>
    <p:extLst>
      <p:ext uri="{BB962C8B-B14F-4D97-AF65-F5344CB8AC3E}">
        <p14:creationId xmlns:p14="http://schemas.microsoft.com/office/powerpoint/2010/main" val="365241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75"/>
                                        </p:tgtEl>
                                        <p:attrNameLst>
                                          <p:attrName>style.visibility</p:attrName>
                                        </p:attrNameLst>
                                      </p:cBhvr>
                                      <p:to>
                                        <p:strVal val="visible"/>
                                      </p:to>
                                    </p:set>
                                    <p:anim calcmode="lin" valueType="num">
                                      <p:cBhvr additive="base">
                                        <p:cTn id="11" dur="500" fill="hold"/>
                                        <p:tgtEl>
                                          <p:spTgt spid="3075"/>
                                        </p:tgtEl>
                                        <p:attrNameLst>
                                          <p:attrName>ppt_x</p:attrName>
                                        </p:attrNameLst>
                                      </p:cBhvr>
                                      <p:tavLst>
                                        <p:tav tm="0">
                                          <p:val>
                                            <p:strVal val="#ppt_x"/>
                                          </p:val>
                                        </p:tav>
                                        <p:tav tm="100000">
                                          <p:val>
                                            <p:strVal val="#ppt_x"/>
                                          </p:val>
                                        </p:tav>
                                      </p:tavLst>
                                    </p:anim>
                                    <p:anim calcmode="lin" valueType="num">
                                      <p:cBhvr additive="base">
                                        <p:cTn id="12"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686800" cy="5334000"/>
          </a:xfrm>
        </p:spPr>
        <p:txBody>
          <a:bodyPr/>
          <a:lstStyle/>
          <a:p>
            <a:r>
              <a:rPr lang="en-US" b="1" dirty="0"/>
              <a:t>Example for Enhancement</a:t>
            </a:r>
            <a:r>
              <a:rPr lang="en-US" dirty="0"/>
              <a:t>:</a:t>
            </a:r>
          </a:p>
          <a:p>
            <a:r>
              <a:rPr lang="en-US" dirty="0"/>
              <a:t>Reduce the following circuit by using the source transformation method. Also calculate the current and the voltage dropped in the resistor(s) of the final reduced circuit</a:t>
            </a:r>
          </a:p>
        </p:txBody>
      </p:sp>
      <p:sp>
        <p:nvSpPr>
          <p:cNvPr id="4" name="Date Placeholder 3"/>
          <p:cNvSpPr>
            <a:spLocks noGrp="1"/>
          </p:cNvSpPr>
          <p:nvPr>
            <p:ph type="dt" sz="half" idx="10"/>
          </p:nvPr>
        </p:nvSpPr>
        <p:spPr/>
        <p:txBody>
          <a:bodyPr/>
          <a:lstStyle/>
          <a:p>
            <a:fld id="{F52E5718-9D42-4DB0-8252-60BC9F0DB114}"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37</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581400"/>
            <a:ext cx="6172200" cy="2446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0444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514600"/>
            <a:ext cx="8229600" cy="1143000"/>
          </a:xfrm>
        </p:spPr>
        <p:txBody>
          <a:bodyPr>
            <a:normAutofit fontScale="90000"/>
          </a:bodyPr>
          <a:lstStyle/>
          <a:p>
            <a:br>
              <a:rPr lang="en-US" dirty="0"/>
            </a:br>
            <a:r>
              <a:rPr lang="en-US" b="1" dirty="0"/>
              <a:t>Mesh (loop)  and Nodal Analysis.</a:t>
            </a:r>
            <a:br>
              <a:rPr lang="en-US" b="1" dirty="0"/>
            </a:br>
            <a:r>
              <a:rPr lang="en-US" dirty="0"/>
              <a:t> </a:t>
            </a:r>
          </a:p>
        </p:txBody>
      </p:sp>
      <p:sp>
        <p:nvSpPr>
          <p:cNvPr id="4" name="Date Placeholder 3"/>
          <p:cNvSpPr>
            <a:spLocks noGrp="1"/>
          </p:cNvSpPr>
          <p:nvPr>
            <p:ph type="dt" sz="half" idx="10"/>
          </p:nvPr>
        </p:nvSpPr>
        <p:spPr/>
        <p:txBody>
          <a:bodyPr/>
          <a:lstStyle/>
          <a:p>
            <a:fld id="{69BB9E8B-62C7-49FF-8167-C9E6D7437EB5}"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38</a:t>
            </a:fld>
            <a:endParaRPr lang="en-US"/>
          </a:p>
        </p:txBody>
      </p:sp>
    </p:spTree>
    <p:extLst>
      <p:ext uri="{BB962C8B-B14F-4D97-AF65-F5344CB8AC3E}">
        <p14:creationId xmlns:p14="http://schemas.microsoft.com/office/powerpoint/2010/main" val="2627135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534400" cy="457200"/>
          </a:xfrm>
        </p:spPr>
        <p:txBody>
          <a:bodyPr>
            <a:noAutofit/>
          </a:bodyPr>
          <a:lstStyle/>
          <a:p>
            <a:r>
              <a:rPr lang="en-US" sz="2800" b="1" dirty="0"/>
              <a:t>Methods of Analysis to solve </a:t>
            </a:r>
            <a:r>
              <a:rPr lang="en-US" sz="2800" b="1" u="sng" dirty="0"/>
              <a:t>Branch-current</a:t>
            </a:r>
            <a:r>
              <a:rPr lang="en-US" sz="2800" b="1" dirty="0"/>
              <a:t> </a:t>
            </a:r>
            <a:r>
              <a:rPr lang="en-US" sz="2800" b="1" dirty="0" err="1"/>
              <a:t>ckts</a:t>
            </a:r>
            <a:r>
              <a:rPr lang="en-US" sz="2800" b="1" dirty="0"/>
              <a:t>.</a:t>
            </a:r>
          </a:p>
        </p:txBody>
      </p:sp>
      <p:sp>
        <p:nvSpPr>
          <p:cNvPr id="3" name="Content Placeholder 2"/>
          <p:cNvSpPr>
            <a:spLocks noGrp="1"/>
          </p:cNvSpPr>
          <p:nvPr>
            <p:ph idx="1"/>
          </p:nvPr>
        </p:nvSpPr>
        <p:spPr>
          <a:xfrm>
            <a:off x="457200" y="1295400"/>
            <a:ext cx="8305800" cy="5105400"/>
          </a:xfrm>
        </p:spPr>
        <p:txBody>
          <a:bodyPr>
            <a:normAutofit fontScale="70000" lnSpcReduction="20000"/>
          </a:bodyPr>
          <a:lstStyle/>
          <a:p>
            <a:r>
              <a:rPr lang="en-US" sz="3900" b="1" dirty="0"/>
              <a:t>Main Steps: </a:t>
            </a:r>
          </a:p>
          <a:p>
            <a:pPr marL="514350" indent="-514350">
              <a:buFont typeface="+mj-lt"/>
              <a:buAutoNum type="arabicPeriod"/>
            </a:pPr>
            <a:r>
              <a:rPr lang="en-US" dirty="0"/>
              <a:t>Arbitrarily </a:t>
            </a:r>
            <a:r>
              <a:rPr lang="en-US" b="1" i="1" dirty="0">
                <a:solidFill>
                  <a:srgbClr val="0070C0"/>
                </a:solidFill>
              </a:rPr>
              <a:t>assign current directions to each branch </a:t>
            </a:r>
            <a:r>
              <a:rPr lang="en-US" dirty="0"/>
              <a:t>in the network. </a:t>
            </a:r>
          </a:p>
          <a:p>
            <a:pPr marL="514350" indent="-514350">
              <a:buFont typeface="+mj-lt"/>
              <a:buAutoNum type="arabicPeriod"/>
            </a:pPr>
            <a:endParaRPr lang="en-US" dirty="0"/>
          </a:p>
          <a:p>
            <a:pPr marL="514350" indent="-514350">
              <a:buFont typeface="+mj-lt"/>
              <a:buAutoNum type="arabicPeriod"/>
            </a:pPr>
            <a:r>
              <a:rPr lang="en-US" dirty="0"/>
              <a:t> Using the assigned currents directions</a:t>
            </a:r>
            <a:r>
              <a:rPr lang="en-US" b="1" i="1" dirty="0">
                <a:solidFill>
                  <a:srgbClr val="0070C0"/>
                </a:solidFill>
              </a:rPr>
              <a:t>, label the polarities of the voltage drops across all resistors</a:t>
            </a:r>
            <a:r>
              <a:rPr lang="en-US" dirty="0"/>
              <a:t> in the circuit.</a:t>
            </a:r>
          </a:p>
          <a:p>
            <a:pPr marL="514350" indent="-514350">
              <a:buFont typeface="+mj-lt"/>
              <a:buAutoNum type="arabicPeriod"/>
            </a:pPr>
            <a:endParaRPr lang="en-US" dirty="0"/>
          </a:p>
          <a:p>
            <a:pPr marL="514350" indent="-514350">
              <a:buFont typeface="+mj-lt"/>
              <a:buAutoNum type="arabicPeriod"/>
            </a:pPr>
            <a:r>
              <a:rPr lang="en-US" b="1" dirty="0">
                <a:solidFill>
                  <a:srgbClr val="0070C0"/>
                </a:solidFill>
              </a:rPr>
              <a:t>Apply Kirchhoff’s voltage </a:t>
            </a:r>
            <a:r>
              <a:rPr lang="en-US" dirty="0"/>
              <a:t>law around each of the closed loops.  </a:t>
            </a:r>
            <a:r>
              <a:rPr lang="en-US" b="1" u="sng" dirty="0"/>
              <a:t>Write just enough equations to include all branches </a:t>
            </a:r>
            <a:r>
              <a:rPr lang="en-US" dirty="0"/>
              <a:t>in the loop equations.</a:t>
            </a:r>
          </a:p>
          <a:p>
            <a:pPr marL="514350" indent="-514350">
              <a:buFont typeface="+mj-lt"/>
              <a:buAutoNum type="arabicPeriod"/>
            </a:pPr>
            <a:endParaRPr lang="en-US" dirty="0"/>
          </a:p>
          <a:p>
            <a:pPr marL="514350" indent="-514350">
              <a:buFont typeface="+mj-lt"/>
              <a:buAutoNum type="arabicPeriod"/>
            </a:pPr>
            <a:r>
              <a:rPr lang="en-US" b="1" dirty="0">
                <a:solidFill>
                  <a:srgbClr val="0070C0"/>
                </a:solidFill>
              </a:rPr>
              <a:t>Apply Kirchhoff’s current law </a:t>
            </a:r>
            <a:r>
              <a:rPr lang="en-US" dirty="0"/>
              <a:t>at </a:t>
            </a:r>
            <a:r>
              <a:rPr lang="en-US" b="1" dirty="0"/>
              <a:t>enough nodes to ensure that all branch currents have been included</a:t>
            </a:r>
            <a:r>
              <a:rPr lang="en-US" dirty="0"/>
              <a:t>. In the event that a branch has only a current source, it will need to be included in this step.</a:t>
            </a:r>
          </a:p>
          <a:p>
            <a:pPr marL="514350" indent="-514350">
              <a:buFont typeface="+mj-lt"/>
              <a:buAutoNum type="arabicPeriod"/>
            </a:pPr>
            <a:endParaRPr lang="en-US" dirty="0"/>
          </a:p>
          <a:p>
            <a:pPr marL="514350" indent="-514350">
              <a:buFont typeface="+mj-lt"/>
              <a:buAutoNum type="arabicPeriod"/>
            </a:pPr>
            <a:r>
              <a:rPr lang="en-US" b="1" dirty="0">
                <a:solidFill>
                  <a:srgbClr val="002060"/>
                </a:solidFill>
              </a:rPr>
              <a:t>Solve</a:t>
            </a:r>
            <a:r>
              <a:rPr lang="en-US" dirty="0"/>
              <a:t> the resulting simultaneous </a:t>
            </a:r>
            <a:r>
              <a:rPr lang="en-US" b="1" dirty="0">
                <a:solidFill>
                  <a:srgbClr val="002060"/>
                </a:solidFill>
              </a:rPr>
              <a:t>linear equations</a:t>
            </a:r>
            <a:r>
              <a:rPr lang="en-US" dirty="0"/>
              <a:t>.</a:t>
            </a:r>
          </a:p>
        </p:txBody>
      </p:sp>
      <p:sp>
        <p:nvSpPr>
          <p:cNvPr id="4" name="Date Placeholder 3"/>
          <p:cNvSpPr>
            <a:spLocks noGrp="1"/>
          </p:cNvSpPr>
          <p:nvPr>
            <p:ph type="dt" sz="half" idx="10"/>
          </p:nvPr>
        </p:nvSpPr>
        <p:spPr/>
        <p:txBody>
          <a:bodyPr/>
          <a:lstStyle/>
          <a:p>
            <a:fld id="{D4CA83E9-DE6F-4DA2-A4A0-931EE806401B}"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39</a:t>
            </a:fld>
            <a:endParaRPr lang="en-US"/>
          </a:p>
        </p:txBody>
      </p:sp>
    </p:spTree>
    <p:extLst>
      <p:ext uri="{BB962C8B-B14F-4D97-AF65-F5344CB8AC3E}">
        <p14:creationId xmlns:p14="http://schemas.microsoft.com/office/powerpoint/2010/main" val="18187884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305800" cy="5486400"/>
          </a:xfrm>
        </p:spPr>
        <p:txBody>
          <a:bodyPr/>
          <a:lstStyle/>
          <a:p>
            <a:r>
              <a:rPr lang="en-US" b="1" dirty="0"/>
              <a:t>Example </a:t>
            </a:r>
            <a:r>
              <a:rPr lang="en-US" dirty="0"/>
              <a:t>Find the current in each branch in the circuit of the following figure</a:t>
            </a:r>
            <a:r>
              <a:rPr lang="en-US" b="1" dirty="0"/>
              <a:t>:</a:t>
            </a:r>
          </a:p>
        </p:txBody>
      </p:sp>
      <p:sp>
        <p:nvSpPr>
          <p:cNvPr id="4" name="Date Placeholder 3"/>
          <p:cNvSpPr>
            <a:spLocks noGrp="1"/>
          </p:cNvSpPr>
          <p:nvPr>
            <p:ph type="dt" sz="half" idx="10"/>
          </p:nvPr>
        </p:nvSpPr>
        <p:spPr/>
        <p:txBody>
          <a:bodyPr/>
          <a:lstStyle/>
          <a:p>
            <a:fld id="{5B4922CE-AB66-4CDB-8FCC-1932A821941B}"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40</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133600"/>
            <a:ext cx="4180546"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381000" y="2133600"/>
            <a:ext cx="4495800" cy="4078039"/>
          </a:xfrm>
          <a:prstGeom prst="rect">
            <a:avLst/>
          </a:prstGeom>
          <a:noFill/>
        </p:spPr>
        <p:txBody>
          <a:bodyPr wrap="square" rtlCol="0">
            <a:spAutoFit/>
          </a:bodyPr>
          <a:lstStyle/>
          <a:p>
            <a:r>
              <a:rPr lang="en-US" sz="2600" b="1" dirty="0"/>
              <a:t>Solution</a:t>
            </a:r>
          </a:p>
          <a:p>
            <a:pPr marL="457200" indent="-457200">
              <a:buFont typeface="Arial" panose="020B0604020202020204" pitchFamily="34" charset="0"/>
              <a:buChar char="•"/>
            </a:pPr>
            <a:r>
              <a:rPr lang="en-US" sz="2600" b="1" dirty="0"/>
              <a:t>Step 1: </a:t>
            </a:r>
            <a:r>
              <a:rPr lang="en-US" sz="2500" dirty="0"/>
              <a:t>Assign </a:t>
            </a:r>
            <a:r>
              <a:rPr lang="en-US" sz="2500" dirty="0">
                <a:solidFill>
                  <a:srgbClr val="0070C0"/>
                </a:solidFill>
              </a:rPr>
              <a:t>currents directions </a:t>
            </a:r>
            <a:r>
              <a:rPr lang="en-US" sz="2500" dirty="0"/>
              <a:t>as shown in Fig.(a).</a:t>
            </a:r>
          </a:p>
          <a:p>
            <a:pPr marL="457200" indent="-457200">
              <a:buFont typeface="Arial" panose="020B0604020202020204" pitchFamily="34" charset="0"/>
              <a:buChar char="•"/>
            </a:pPr>
            <a:r>
              <a:rPr lang="en-US" sz="2600" b="1" dirty="0"/>
              <a:t>Step 2: </a:t>
            </a:r>
            <a:r>
              <a:rPr lang="en-US" sz="2600" dirty="0">
                <a:solidFill>
                  <a:srgbClr val="0070C0"/>
                </a:solidFill>
              </a:rPr>
              <a:t>Indicate the polarities </a:t>
            </a:r>
            <a:r>
              <a:rPr lang="en-US" sz="2500" dirty="0"/>
              <a:t>of the voltage drops on all resistors in the circuit, using the assumed current directions.</a:t>
            </a:r>
          </a:p>
          <a:p>
            <a:pPr marL="457200" indent="-457200">
              <a:buFont typeface="Arial" panose="020B0604020202020204" pitchFamily="34" charset="0"/>
              <a:buChar char="•"/>
            </a:pPr>
            <a:r>
              <a:rPr lang="en-US" sz="2500" b="1" dirty="0"/>
              <a:t>Step 3: </a:t>
            </a:r>
            <a:r>
              <a:rPr lang="en-US" sz="2500" dirty="0"/>
              <a:t>Write the </a:t>
            </a:r>
            <a:r>
              <a:rPr lang="en-US" sz="2500" dirty="0">
                <a:solidFill>
                  <a:srgbClr val="0070C0"/>
                </a:solidFill>
              </a:rPr>
              <a:t>Kirchhoff voltage law </a:t>
            </a:r>
            <a:r>
              <a:rPr lang="en-US" sz="2500" dirty="0"/>
              <a:t>equations.</a:t>
            </a:r>
          </a:p>
        </p:txBody>
      </p:sp>
      <p:sp>
        <p:nvSpPr>
          <p:cNvPr id="8" name="Rectangle 7"/>
          <p:cNvSpPr/>
          <p:nvPr/>
        </p:nvSpPr>
        <p:spPr>
          <a:xfrm>
            <a:off x="6400800" y="5334000"/>
            <a:ext cx="899605" cy="400110"/>
          </a:xfrm>
          <a:prstGeom prst="rect">
            <a:avLst/>
          </a:prstGeom>
        </p:spPr>
        <p:txBody>
          <a:bodyPr wrap="none">
            <a:spAutoFit/>
          </a:bodyPr>
          <a:lstStyle/>
          <a:p>
            <a:r>
              <a:rPr lang="en-US" sz="2000" b="1" dirty="0"/>
              <a:t>Fig. (a)</a:t>
            </a:r>
          </a:p>
        </p:txBody>
      </p:sp>
    </p:spTree>
    <p:extLst>
      <p:ext uri="{BB962C8B-B14F-4D97-AF65-F5344CB8AC3E}">
        <p14:creationId xmlns:p14="http://schemas.microsoft.com/office/powerpoint/2010/main" val="413213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382000" cy="5410200"/>
          </a:xfrm>
        </p:spPr>
        <p:txBody>
          <a:bodyPr>
            <a:normAutofit fontScale="92500"/>
          </a:bodyPr>
          <a:lstStyle/>
          <a:p>
            <a:r>
              <a:rPr lang="en-US" b="1" dirty="0"/>
              <a:t>Identify loops and Apply KVL</a:t>
            </a:r>
          </a:p>
          <a:p>
            <a:r>
              <a:rPr lang="en-US" sz="3000" dirty="0"/>
              <a:t>We have 2 loops: </a:t>
            </a:r>
            <a:r>
              <a:rPr lang="en-US" sz="3000" b="1" dirty="0"/>
              <a:t>Loop</a:t>
            </a:r>
            <a:r>
              <a:rPr lang="en-US" sz="3000" b="1" dirty="0">
                <a:solidFill>
                  <a:srgbClr val="0070C0"/>
                </a:solidFill>
              </a:rPr>
              <a:t> </a:t>
            </a:r>
            <a:r>
              <a:rPr lang="en-US" sz="3000" b="1" i="1" dirty="0" err="1">
                <a:solidFill>
                  <a:srgbClr val="0070C0"/>
                </a:solidFill>
              </a:rPr>
              <a:t>abcda</a:t>
            </a:r>
            <a:r>
              <a:rPr lang="en-US" sz="3000" b="1" dirty="0"/>
              <a:t> and </a:t>
            </a:r>
            <a:r>
              <a:rPr lang="en-US" sz="3000" b="1" i="1" dirty="0" err="1">
                <a:solidFill>
                  <a:srgbClr val="0070C0"/>
                </a:solidFill>
              </a:rPr>
              <a:t>cefdc</a:t>
            </a:r>
            <a:r>
              <a:rPr lang="en-US" sz="3000" b="1" i="1" dirty="0">
                <a:solidFill>
                  <a:srgbClr val="0070C0"/>
                </a:solidFill>
              </a:rPr>
              <a:t> </a:t>
            </a:r>
            <a:r>
              <a:rPr lang="en-US" sz="3000" b="1" i="1" dirty="0"/>
              <a:t>(</a:t>
            </a:r>
            <a:r>
              <a:rPr lang="en-US" sz="3000" dirty="0"/>
              <a:t>or </a:t>
            </a:r>
            <a:r>
              <a:rPr lang="en-US" sz="3000" b="1" i="1" dirty="0" err="1"/>
              <a:t>abcefda</a:t>
            </a:r>
            <a:r>
              <a:rPr lang="en-US" sz="3000" b="1" i="1" dirty="0"/>
              <a:t>)</a:t>
            </a:r>
            <a:r>
              <a:rPr lang="en-US" sz="3000" i="1" dirty="0"/>
              <a:t>:</a:t>
            </a:r>
          </a:p>
          <a:p>
            <a:r>
              <a:rPr lang="en-US" dirty="0"/>
              <a:t>Loop</a:t>
            </a:r>
            <a:r>
              <a:rPr lang="en-US" dirty="0">
                <a:solidFill>
                  <a:srgbClr val="0070C0"/>
                </a:solidFill>
              </a:rPr>
              <a:t> </a:t>
            </a:r>
            <a:r>
              <a:rPr lang="en-US" i="1" dirty="0" err="1">
                <a:solidFill>
                  <a:srgbClr val="0070C0"/>
                </a:solidFill>
              </a:rPr>
              <a:t>abcda</a:t>
            </a:r>
            <a:r>
              <a:rPr lang="en-US" i="1" dirty="0">
                <a:solidFill>
                  <a:srgbClr val="0070C0"/>
                </a:solidFill>
              </a:rPr>
              <a:t>:</a:t>
            </a:r>
          </a:p>
          <a:p>
            <a:r>
              <a:rPr lang="en-US" dirty="0"/>
              <a:t>Loop</a:t>
            </a:r>
            <a:r>
              <a:rPr lang="en-US" dirty="0">
                <a:solidFill>
                  <a:srgbClr val="0070C0"/>
                </a:solidFill>
              </a:rPr>
              <a:t> </a:t>
            </a:r>
            <a:r>
              <a:rPr lang="en-US" i="1" dirty="0" err="1">
                <a:solidFill>
                  <a:srgbClr val="0070C0"/>
                </a:solidFill>
              </a:rPr>
              <a:t>cefdc</a:t>
            </a:r>
            <a:r>
              <a:rPr lang="en-US" i="1" dirty="0">
                <a:solidFill>
                  <a:srgbClr val="0070C0"/>
                </a:solidFill>
              </a:rPr>
              <a:t>: </a:t>
            </a:r>
            <a:endParaRPr lang="en-US" dirty="0"/>
          </a:p>
          <a:p>
            <a:endParaRPr lang="en-US" dirty="0"/>
          </a:p>
          <a:p>
            <a:endParaRPr lang="en-US" dirty="0"/>
          </a:p>
          <a:p>
            <a:r>
              <a:rPr lang="en-US" dirty="0"/>
              <a:t>Now, </a:t>
            </a:r>
            <a:r>
              <a:rPr lang="en-US" dirty="0">
                <a:solidFill>
                  <a:srgbClr val="0070C0"/>
                </a:solidFill>
              </a:rPr>
              <a:t>all branches have been included in the loop equations, </a:t>
            </a:r>
            <a:r>
              <a:rPr lang="en-US" dirty="0"/>
              <a:t>there is no need to write any more.</a:t>
            </a:r>
          </a:p>
          <a:p>
            <a:r>
              <a:rPr lang="en-US" b="1" dirty="0"/>
              <a:t>Step 4: </a:t>
            </a:r>
            <a:r>
              <a:rPr lang="en-US" dirty="0"/>
              <a:t>Write the Kirchhoff current law equation(s).</a:t>
            </a:r>
          </a:p>
        </p:txBody>
      </p:sp>
      <p:sp>
        <p:nvSpPr>
          <p:cNvPr id="4" name="Date Placeholder 3"/>
          <p:cNvSpPr>
            <a:spLocks noGrp="1"/>
          </p:cNvSpPr>
          <p:nvPr>
            <p:ph type="dt" sz="half" idx="10"/>
          </p:nvPr>
        </p:nvSpPr>
        <p:spPr/>
        <p:txBody>
          <a:bodyPr/>
          <a:lstStyle/>
          <a:p>
            <a:fld id="{BCBA3D98-7C58-49C8-A764-A33506443510}"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41</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9653" y="2029146"/>
            <a:ext cx="2743200" cy="2085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2053" y="2108488"/>
            <a:ext cx="3505200" cy="3664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638424"/>
            <a:ext cx="3505200" cy="333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3357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610600" cy="5181600"/>
          </a:xfrm>
        </p:spPr>
        <p:txBody>
          <a:bodyPr/>
          <a:lstStyle/>
          <a:p>
            <a:r>
              <a:rPr lang="en-US" sz="2600" dirty="0"/>
              <a:t>By applying </a:t>
            </a:r>
            <a:r>
              <a:rPr lang="en-US" sz="2600" b="1" dirty="0"/>
              <a:t>KCL at node c</a:t>
            </a:r>
            <a:r>
              <a:rPr lang="en-US" sz="2600" dirty="0"/>
              <a:t>, all branch currents in the network are included</a:t>
            </a:r>
            <a:r>
              <a:rPr lang="en-US" dirty="0"/>
              <a:t>.</a:t>
            </a:r>
          </a:p>
          <a:p>
            <a:pPr lvl="2"/>
            <a:r>
              <a:rPr lang="en-US" b="1" i="1" dirty="0">
                <a:solidFill>
                  <a:srgbClr val="0070C0"/>
                </a:solidFill>
              </a:rPr>
              <a:t>I</a:t>
            </a:r>
            <a:r>
              <a:rPr lang="en-US" sz="1600" b="1" dirty="0">
                <a:solidFill>
                  <a:srgbClr val="0070C0"/>
                </a:solidFill>
              </a:rPr>
              <a:t>3</a:t>
            </a:r>
            <a:r>
              <a:rPr lang="en-US" b="1" dirty="0">
                <a:solidFill>
                  <a:srgbClr val="0070C0"/>
                </a:solidFill>
              </a:rPr>
              <a:t>=</a:t>
            </a:r>
            <a:r>
              <a:rPr lang="en-US" b="1" i="1" dirty="0">
                <a:solidFill>
                  <a:srgbClr val="0070C0"/>
                </a:solidFill>
              </a:rPr>
              <a:t>I</a:t>
            </a:r>
            <a:r>
              <a:rPr lang="en-US" sz="1800" b="1" dirty="0">
                <a:solidFill>
                  <a:srgbClr val="0070C0"/>
                </a:solidFill>
              </a:rPr>
              <a:t>1</a:t>
            </a:r>
            <a:r>
              <a:rPr lang="en-US" b="1" dirty="0">
                <a:solidFill>
                  <a:srgbClr val="0070C0"/>
                </a:solidFill>
              </a:rPr>
              <a:t>+</a:t>
            </a:r>
            <a:r>
              <a:rPr lang="en-US" b="1" i="1" dirty="0">
                <a:solidFill>
                  <a:srgbClr val="0070C0"/>
                </a:solidFill>
              </a:rPr>
              <a:t>I</a:t>
            </a:r>
            <a:r>
              <a:rPr lang="en-US" sz="1400" b="1" dirty="0">
                <a:solidFill>
                  <a:srgbClr val="0070C0"/>
                </a:solidFill>
              </a:rPr>
              <a:t>2</a:t>
            </a:r>
          </a:p>
          <a:p>
            <a:r>
              <a:rPr lang="en-US" sz="2600" dirty="0"/>
              <a:t>To simplify the solution of the simultaneous linear equations we write them as follows</a:t>
            </a:r>
            <a:r>
              <a:rPr lang="en-US" dirty="0"/>
              <a:t>:</a:t>
            </a:r>
          </a:p>
          <a:p>
            <a:endParaRPr lang="en-US" dirty="0"/>
          </a:p>
          <a:p>
            <a:r>
              <a:rPr lang="en-US" dirty="0"/>
              <a:t>By using determinant (matrix) method, we have </a:t>
            </a:r>
          </a:p>
        </p:txBody>
      </p:sp>
      <p:sp>
        <p:nvSpPr>
          <p:cNvPr id="4" name="Date Placeholder 3"/>
          <p:cNvSpPr>
            <a:spLocks noGrp="1"/>
          </p:cNvSpPr>
          <p:nvPr>
            <p:ph type="dt" sz="half" idx="10"/>
          </p:nvPr>
        </p:nvSpPr>
        <p:spPr/>
        <p:txBody>
          <a:bodyPr/>
          <a:lstStyle/>
          <a:p>
            <a:fld id="{0BE8E91B-7748-41C0-89FF-54B944AE3B15}"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42</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2971800"/>
            <a:ext cx="2424545"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648200"/>
            <a:ext cx="3543300" cy="162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4648200" y="4648200"/>
            <a:ext cx="4267200" cy="1323439"/>
          </a:xfrm>
          <a:prstGeom prst="rect">
            <a:avLst/>
          </a:prstGeom>
          <a:noFill/>
        </p:spPr>
        <p:txBody>
          <a:bodyPr wrap="square" rtlCol="0">
            <a:spAutoFit/>
          </a:bodyPr>
          <a:lstStyle/>
          <a:p>
            <a:r>
              <a:rPr lang="en-US" sz="2000" dirty="0"/>
              <a:t>By solving for the currents, we have:</a:t>
            </a:r>
          </a:p>
          <a:p>
            <a:r>
              <a:rPr lang="en-US" sz="2000" b="1" dirty="0">
                <a:solidFill>
                  <a:srgbClr val="0070C0"/>
                </a:solidFill>
              </a:rPr>
              <a:t>I</a:t>
            </a:r>
            <a:r>
              <a:rPr lang="en-US" sz="1600" b="1" dirty="0">
                <a:solidFill>
                  <a:srgbClr val="0070C0"/>
                </a:solidFill>
              </a:rPr>
              <a:t>1</a:t>
            </a:r>
            <a:r>
              <a:rPr lang="en-US" sz="2000" b="1" dirty="0">
                <a:solidFill>
                  <a:srgbClr val="0070C0"/>
                </a:solidFill>
              </a:rPr>
              <a:t>=1.200A</a:t>
            </a:r>
          </a:p>
          <a:p>
            <a:r>
              <a:rPr lang="en-US" sz="2000" b="1" dirty="0">
                <a:solidFill>
                  <a:srgbClr val="0070C0"/>
                </a:solidFill>
              </a:rPr>
              <a:t>I</a:t>
            </a:r>
            <a:r>
              <a:rPr lang="en-US" sz="1600" b="1" dirty="0">
                <a:solidFill>
                  <a:srgbClr val="0070C0"/>
                </a:solidFill>
              </a:rPr>
              <a:t>2</a:t>
            </a:r>
            <a:r>
              <a:rPr lang="en-US" sz="2000" b="1" dirty="0">
                <a:solidFill>
                  <a:srgbClr val="0070C0"/>
                </a:solidFill>
              </a:rPr>
              <a:t>=0.200A</a:t>
            </a:r>
          </a:p>
          <a:p>
            <a:r>
              <a:rPr lang="en-US" sz="2000" b="1" dirty="0">
                <a:solidFill>
                  <a:srgbClr val="0070C0"/>
                </a:solidFill>
              </a:rPr>
              <a:t>I</a:t>
            </a:r>
            <a:r>
              <a:rPr lang="en-US" sz="1600" b="1" dirty="0">
                <a:solidFill>
                  <a:srgbClr val="0070C0"/>
                </a:solidFill>
              </a:rPr>
              <a:t>3</a:t>
            </a:r>
            <a:r>
              <a:rPr lang="en-US" sz="2000" b="1" dirty="0">
                <a:solidFill>
                  <a:srgbClr val="0070C0"/>
                </a:solidFill>
              </a:rPr>
              <a:t>=1.400A</a:t>
            </a:r>
          </a:p>
        </p:txBody>
      </p:sp>
    </p:spTree>
    <p:extLst>
      <p:ext uri="{BB962C8B-B14F-4D97-AF65-F5344CB8AC3E}">
        <p14:creationId xmlns:p14="http://schemas.microsoft.com/office/powerpoint/2010/main" val="32994448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8534400" cy="5715000"/>
          </a:xfrm>
        </p:spPr>
        <p:txBody>
          <a:bodyPr/>
          <a:lstStyle/>
          <a:p>
            <a:r>
              <a:rPr lang="en-US" b="1" dirty="0"/>
              <a:t>Examples for Enhancement:</a:t>
            </a:r>
          </a:p>
          <a:p>
            <a:pPr marL="514350" indent="-514350">
              <a:buAutoNum type="arabicParenBoth"/>
            </a:pPr>
            <a:r>
              <a:rPr lang="en-US" sz="2400" dirty="0"/>
              <a:t>Find the currents in each branch of the circuit shown in Fig.(1). Solve for the voltage </a:t>
            </a:r>
            <a:r>
              <a:rPr lang="en-US" sz="2400" i="1" dirty="0" err="1"/>
              <a:t>Vab</a:t>
            </a:r>
            <a:r>
              <a:rPr lang="en-US" sz="2400" dirty="0"/>
              <a:t>.</a:t>
            </a:r>
          </a:p>
          <a:p>
            <a:pPr marL="514350" indent="-514350">
              <a:buAutoNum type="arabicParenBoth"/>
            </a:pPr>
            <a:endParaRPr lang="en-US" dirty="0"/>
          </a:p>
          <a:p>
            <a:pPr marL="0" indent="0">
              <a:buNone/>
            </a:pPr>
            <a:r>
              <a:rPr lang="en-US" dirty="0"/>
              <a:t>			</a:t>
            </a:r>
            <a:r>
              <a:rPr lang="en-US" sz="2500" dirty="0"/>
              <a:t>Fi</a:t>
            </a:r>
            <a:r>
              <a:rPr lang="en-US" sz="2500" b="1" dirty="0"/>
              <a:t>g. (1)</a:t>
            </a:r>
          </a:p>
          <a:p>
            <a:pPr marL="0" indent="0">
              <a:buNone/>
            </a:pPr>
            <a:endParaRPr lang="en-US" dirty="0"/>
          </a:p>
          <a:p>
            <a:pPr marL="0" indent="0">
              <a:buNone/>
            </a:pPr>
            <a:r>
              <a:rPr lang="en-US" sz="2400" dirty="0"/>
              <a:t>(2) Use branch-current analysis to solve </a:t>
            </a:r>
          </a:p>
          <a:p>
            <a:pPr marL="0" indent="0">
              <a:buNone/>
            </a:pPr>
            <a:r>
              <a:rPr lang="en-US" sz="2400" dirty="0"/>
              <a:t>	for the indicated currents </a:t>
            </a:r>
          </a:p>
          <a:p>
            <a:pPr marL="0" indent="0">
              <a:buNone/>
            </a:pPr>
            <a:r>
              <a:rPr lang="en-US" sz="2400" dirty="0"/>
              <a:t>	in the circuit  of Fig. (2)                    </a:t>
            </a:r>
            <a:r>
              <a:rPr lang="en-US" sz="2400" b="1" dirty="0"/>
              <a:t>Fig. (2)</a:t>
            </a:r>
          </a:p>
          <a:p>
            <a:pPr marL="514350" indent="-514350">
              <a:buAutoNum type="arabicParenBoth"/>
            </a:pPr>
            <a:endParaRPr lang="en-US" dirty="0"/>
          </a:p>
          <a:p>
            <a:pPr marL="514350" indent="-514350">
              <a:buAutoNum type="arabicParenBoth"/>
            </a:pPr>
            <a:endParaRPr lang="en-US" dirty="0"/>
          </a:p>
          <a:p>
            <a:pPr marL="514350" indent="-514350">
              <a:buAutoNum type="arabicParenBoth"/>
            </a:pPr>
            <a:endParaRPr lang="en-US" dirty="0"/>
          </a:p>
          <a:p>
            <a:pPr marL="514350" indent="-514350">
              <a:buAutoNum type="arabicParenBoth"/>
            </a:pPr>
            <a:endParaRPr lang="en-US" dirty="0"/>
          </a:p>
          <a:p>
            <a:pPr marL="0" indent="0">
              <a:buNone/>
            </a:pPr>
            <a:endParaRPr lang="en-US" dirty="0"/>
          </a:p>
        </p:txBody>
      </p:sp>
      <p:sp>
        <p:nvSpPr>
          <p:cNvPr id="4" name="Date Placeholder 3"/>
          <p:cNvSpPr>
            <a:spLocks noGrp="1"/>
          </p:cNvSpPr>
          <p:nvPr>
            <p:ph type="dt" sz="half" idx="10"/>
          </p:nvPr>
        </p:nvSpPr>
        <p:spPr/>
        <p:txBody>
          <a:bodyPr/>
          <a:lstStyle/>
          <a:p>
            <a:fld id="{43AE88F6-7623-468B-A2E6-4FE0C2DABE27}"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43</a:t>
            </a:fld>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828800"/>
            <a:ext cx="4600903"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4311" y="3886200"/>
            <a:ext cx="2162175" cy="2387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78571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0"/>
            <a:ext cx="7772400" cy="381000"/>
          </a:xfrm>
        </p:spPr>
        <p:txBody>
          <a:bodyPr>
            <a:noAutofit/>
          </a:bodyPr>
          <a:lstStyle/>
          <a:p>
            <a:r>
              <a:rPr lang="en-US" sz="3000" b="1" dirty="0"/>
              <a:t>Mesh (Loop) Analysis</a:t>
            </a:r>
          </a:p>
        </p:txBody>
      </p:sp>
      <p:sp>
        <p:nvSpPr>
          <p:cNvPr id="3" name="Content Placeholder 2"/>
          <p:cNvSpPr>
            <a:spLocks noGrp="1"/>
          </p:cNvSpPr>
          <p:nvPr>
            <p:ph idx="1"/>
          </p:nvPr>
        </p:nvSpPr>
        <p:spPr>
          <a:xfrm>
            <a:off x="304800" y="1295400"/>
            <a:ext cx="8610600" cy="4830763"/>
          </a:xfrm>
        </p:spPr>
        <p:txBody>
          <a:bodyPr/>
          <a:lstStyle/>
          <a:p>
            <a:r>
              <a:rPr lang="en-US" dirty="0"/>
              <a:t>The best approach to analyze the </a:t>
            </a:r>
            <a:r>
              <a:rPr lang="en-US" b="1" dirty="0"/>
              <a:t>Branch-current  c</a:t>
            </a:r>
            <a:r>
              <a:rPr lang="en-US" dirty="0"/>
              <a:t>ircuits  is to use “</a:t>
            </a:r>
            <a:r>
              <a:rPr lang="en-US" b="1" dirty="0"/>
              <a:t>mesh </a:t>
            </a:r>
            <a:r>
              <a:rPr lang="en-US" dirty="0"/>
              <a:t>(or </a:t>
            </a:r>
            <a:r>
              <a:rPr lang="en-US" b="1" dirty="0"/>
              <a:t>loop</a:t>
            </a:r>
            <a:r>
              <a:rPr lang="en-US" dirty="0"/>
              <a:t>) </a:t>
            </a:r>
            <a:r>
              <a:rPr lang="en-US" b="1" dirty="0"/>
              <a:t>analysis</a:t>
            </a:r>
            <a:r>
              <a:rPr lang="en-US" dirty="0"/>
              <a:t>”.</a:t>
            </a:r>
          </a:p>
          <a:p>
            <a:endParaRPr lang="en-US" dirty="0"/>
          </a:p>
          <a:p>
            <a:r>
              <a:rPr lang="en-US" dirty="0"/>
              <a:t>The principal difference </a:t>
            </a:r>
            <a:r>
              <a:rPr lang="en-US" b="1" dirty="0"/>
              <a:t>between mesh analysis and branch-current </a:t>
            </a:r>
            <a:r>
              <a:rPr lang="en-US" dirty="0"/>
              <a:t>analysis is that we simply need to apply KVL around closed loops </a:t>
            </a:r>
            <a:r>
              <a:rPr lang="en-US" b="1" u="sng" dirty="0">
                <a:solidFill>
                  <a:srgbClr val="0070C0"/>
                </a:solidFill>
              </a:rPr>
              <a:t>without the need for applying KCL</a:t>
            </a:r>
            <a:r>
              <a:rPr lang="en-US" dirty="0"/>
              <a:t>.</a:t>
            </a:r>
          </a:p>
        </p:txBody>
      </p:sp>
      <p:sp>
        <p:nvSpPr>
          <p:cNvPr id="4" name="Date Placeholder 3"/>
          <p:cNvSpPr>
            <a:spLocks noGrp="1"/>
          </p:cNvSpPr>
          <p:nvPr>
            <p:ph type="dt" sz="half" idx="10"/>
          </p:nvPr>
        </p:nvSpPr>
        <p:spPr/>
        <p:txBody>
          <a:bodyPr/>
          <a:lstStyle/>
          <a:p>
            <a:fld id="{823839DB-F24D-4DC9-AB23-A6C2D9D3531B}"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44</a:t>
            </a:fld>
            <a:endParaRPr lang="en-US"/>
          </a:p>
        </p:txBody>
      </p:sp>
    </p:spTree>
    <p:extLst>
      <p:ext uri="{BB962C8B-B14F-4D97-AF65-F5344CB8AC3E}">
        <p14:creationId xmlns:p14="http://schemas.microsoft.com/office/powerpoint/2010/main" val="40968236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305800" cy="5486400"/>
          </a:xfrm>
        </p:spPr>
        <p:txBody>
          <a:bodyPr>
            <a:normAutofit fontScale="62500" lnSpcReduction="20000"/>
          </a:bodyPr>
          <a:lstStyle/>
          <a:p>
            <a:r>
              <a:rPr lang="en-US" sz="4200" b="1" dirty="0"/>
              <a:t>Steps:</a:t>
            </a:r>
          </a:p>
          <a:p>
            <a:pPr marL="514350" indent="-514350">
              <a:buFont typeface="+mj-lt"/>
              <a:buAutoNum type="arabicPeriod"/>
            </a:pPr>
            <a:r>
              <a:rPr lang="en-US" b="1" dirty="0"/>
              <a:t>Arbitrarily assign </a:t>
            </a:r>
            <a:r>
              <a:rPr lang="en-US" dirty="0"/>
              <a:t>a clockwise current to each interior closed loop in the network. Although the assigned current may be in any direction, a clockwise direction is used to make later work simpler. </a:t>
            </a:r>
          </a:p>
          <a:p>
            <a:pPr marL="514350" indent="-514350">
              <a:buFont typeface="+mj-lt"/>
              <a:buAutoNum type="arabicPeriod"/>
            </a:pPr>
            <a:endParaRPr lang="en-US" dirty="0"/>
          </a:p>
          <a:p>
            <a:pPr marL="514350" indent="-514350">
              <a:buFont typeface="+mj-lt"/>
              <a:buAutoNum type="arabicPeriod"/>
            </a:pPr>
            <a:r>
              <a:rPr lang="en-US" dirty="0"/>
              <a:t> Using the assigned loop currents, indicate t</a:t>
            </a:r>
            <a:r>
              <a:rPr lang="en-US" b="1" dirty="0"/>
              <a:t>he voltage polarities </a:t>
            </a:r>
            <a:r>
              <a:rPr lang="en-US" dirty="0"/>
              <a:t>across all resistors in the circuit. </a:t>
            </a:r>
            <a:r>
              <a:rPr lang="en-US" b="1" dirty="0">
                <a:solidFill>
                  <a:srgbClr val="0070C0"/>
                </a:solidFill>
              </a:rPr>
              <a:t>For a resistor that is common to two loops, the polarities of the voltage drop due to each loop current should be indicated on the appropriate side of the component</a:t>
            </a:r>
            <a:r>
              <a:rPr lang="en-US" dirty="0"/>
              <a:t>.</a:t>
            </a:r>
          </a:p>
          <a:p>
            <a:pPr marL="514350" indent="-514350">
              <a:buFont typeface="+mj-lt"/>
              <a:buAutoNum type="arabicPeriod"/>
            </a:pPr>
            <a:endParaRPr lang="en-US" dirty="0"/>
          </a:p>
          <a:p>
            <a:pPr marL="514350" indent="-514350">
              <a:buFont typeface="+mj-lt"/>
              <a:buAutoNum type="arabicPeriod"/>
            </a:pPr>
            <a:r>
              <a:rPr lang="en-US" dirty="0"/>
              <a:t>Applying KVL, write the loop equations for each loop in the network. </a:t>
            </a:r>
            <a:r>
              <a:rPr lang="en-US" dirty="0">
                <a:solidFill>
                  <a:srgbClr val="0070C0"/>
                </a:solidFill>
              </a:rPr>
              <a:t>Do not forget that resistors that are common to two loops will have two voltage drops, </a:t>
            </a:r>
            <a:r>
              <a:rPr lang="en-US" dirty="0"/>
              <a:t>one due to each loop.</a:t>
            </a:r>
          </a:p>
          <a:p>
            <a:pPr marL="514350" indent="-514350">
              <a:buFont typeface="+mj-lt"/>
              <a:buAutoNum type="arabicPeriod"/>
            </a:pPr>
            <a:endParaRPr lang="en-US" dirty="0"/>
          </a:p>
          <a:p>
            <a:pPr marL="514350" indent="-514350">
              <a:buFont typeface="+mj-lt"/>
              <a:buAutoNum type="arabicPeriod"/>
            </a:pPr>
            <a:r>
              <a:rPr lang="en-US" dirty="0"/>
              <a:t>Solve the resultant simultaneous linear equations.</a:t>
            </a:r>
          </a:p>
          <a:p>
            <a:pPr marL="514350" indent="-514350">
              <a:buFont typeface="+mj-lt"/>
              <a:buAutoNum type="arabicPeriod"/>
            </a:pPr>
            <a:endParaRPr lang="en-US" dirty="0"/>
          </a:p>
          <a:p>
            <a:pPr marL="514350" indent="-514350">
              <a:buFont typeface="+mj-lt"/>
              <a:buAutoNum type="arabicPeriod"/>
            </a:pPr>
            <a:r>
              <a:rPr lang="en-US" dirty="0"/>
              <a:t>Branch currents are determined by algebraically combining the loop currents that are common to the branch.</a:t>
            </a:r>
          </a:p>
        </p:txBody>
      </p:sp>
      <p:sp>
        <p:nvSpPr>
          <p:cNvPr id="4" name="Date Placeholder 3"/>
          <p:cNvSpPr>
            <a:spLocks noGrp="1"/>
          </p:cNvSpPr>
          <p:nvPr>
            <p:ph type="dt" sz="half" idx="10"/>
          </p:nvPr>
        </p:nvSpPr>
        <p:spPr/>
        <p:txBody>
          <a:bodyPr/>
          <a:lstStyle/>
          <a:p>
            <a:fld id="{A2648D34-E8CD-4ED6-BF7C-8D95C443E8DD}"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45</a:t>
            </a:fld>
            <a:endParaRPr lang="en-US"/>
          </a:p>
        </p:txBody>
      </p:sp>
    </p:spTree>
    <p:extLst>
      <p:ext uri="{BB962C8B-B14F-4D97-AF65-F5344CB8AC3E}">
        <p14:creationId xmlns:p14="http://schemas.microsoft.com/office/powerpoint/2010/main" val="21749750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4038600" cy="2057400"/>
          </a:xfrm>
        </p:spPr>
        <p:txBody>
          <a:bodyPr/>
          <a:lstStyle/>
          <a:p>
            <a:r>
              <a:rPr lang="en-US" sz="2600" b="1" dirty="0"/>
              <a:t>Example:</a:t>
            </a:r>
          </a:p>
          <a:p>
            <a:r>
              <a:rPr lang="en-US" sz="2600" dirty="0"/>
              <a:t>Find the current in each branch for the circuit below</a:t>
            </a:r>
            <a:r>
              <a:rPr lang="en-US" dirty="0"/>
              <a:t>.</a:t>
            </a:r>
          </a:p>
        </p:txBody>
      </p:sp>
      <p:sp>
        <p:nvSpPr>
          <p:cNvPr id="4" name="Date Placeholder 3"/>
          <p:cNvSpPr>
            <a:spLocks noGrp="1"/>
          </p:cNvSpPr>
          <p:nvPr>
            <p:ph type="dt" sz="half" idx="10"/>
          </p:nvPr>
        </p:nvSpPr>
        <p:spPr/>
        <p:txBody>
          <a:bodyPr/>
          <a:lstStyle/>
          <a:p>
            <a:fld id="{1E00656F-FEFF-4C97-9CEC-55ABA25D6237}"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46</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838200"/>
            <a:ext cx="4456853"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304800" y="3429000"/>
            <a:ext cx="8610600" cy="2246769"/>
          </a:xfrm>
          <a:prstGeom prst="rect">
            <a:avLst/>
          </a:prstGeom>
        </p:spPr>
        <p:txBody>
          <a:bodyPr wrap="square">
            <a:spAutoFit/>
          </a:bodyPr>
          <a:lstStyle/>
          <a:p>
            <a:r>
              <a:rPr lang="en-US" sz="2000" b="1" dirty="0"/>
              <a:t>Solution</a:t>
            </a:r>
          </a:p>
          <a:p>
            <a:r>
              <a:rPr lang="en-US" sz="2000" b="1" dirty="0">
                <a:solidFill>
                  <a:srgbClr val="0070C0"/>
                </a:solidFill>
              </a:rPr>
              <a:t>Step 1: </a:t>
            </a:r>
            <a:r>
              <a:rPr lang="en-US" sz="2000" dirty="0"/>
              <a:t>Loop currents I</a:t>
            </a:r>
            <a:r>
              <a:rPr lang="en-US" sz="1400" dirty="0"/>
              <a:t>1</a:t>
            </a:r>
            <a:r>
              <a:rPr lang="en-US" sz="2000" dirty="0"/>
              <a:t> and I</a:t>
            </a:r>
            <a:r>
              <a:rPr lang="en-US" sz="1400" dirty="0"/>
              <a:t>2</a:t>
            </a:r>
            <a:r>
              <a:rPr lang="en-US" sz="2000" dirty="0"/>
              <a:t> are assigned as shown  above.</a:t>
            </a:r>
          </a:p>
          <a:p>
            <a:r>
              <a:rPr lang="en-US" sz="2000" b="1" dirty="0">
                <a:solidFill>
                  <a:srgbClr val="0070C0"/>
                </a:solidFill>
              </a:rPr>
              <a:t>Step 2: </a:t>
            </a:r>
            <a:r>
              <a:rPr lang="en-US" sz="2000" dirty="0"/>
              <a:t>Voltage </a:t>
            </a:r>
            <a:r>
              <a:rPr lang="en-US" sz="2000" dirty="0">
                <a:solidFill>
                  <a:srgbClr val="0070C0"/>
                </a:solidFill>
              </a:rPr>
              <a:t>polarities are assigned </a:t>
            </a:r>
            <a:r>
              <a:rPr lang="en-US" sz="2000" dirty="0"/>
              <a:t>according to the loop currents. Notice that</a:t>
            </a:r>
          </a:p>
          <a:p>
            <a:r>
              <a:rPr lang="en-US" sz="2000" dirty="0"/>
              <a:t>the resistor </a:t>
            </a:r>
            <a:r>
              <a:rPr lang="en-US" sz="2000" b="1" dirty="0">
                <a:solidFill>
                  <a:srgbClr val="0070C0"/>
                </a:solidFill>
              </a:rPr>
              <a:t>R</a:t>
            </a:r>
            <a:r>
              <a:rPr lang="en-US" sz="1200" b="1" dirty="0">
                <a:solidFill>
                  <a:srgbClr val="0070C0"/>
                </a:solidFill>
              </a:rPr>
              <a:t>2</a:t>
            </a:r>
            <a:r>
              <a:rPr lang="en-US" sz="2000" b="1" dirty="0">
                <a:solidFill>
                  <a:srgbClr val="0070C0"/>
                </a:solidFill>
              </a:rPr>
              <a:t> has two different voltage polarities </a:t>
            </a:r>
            <a:r>
              <a:rPr lang="en-US" sz="2000" dirty="0"/>
              <a:t>due to the different loop currents.</a:t>
            </a:r>
          </a:p>
          <a:p>
            <a:r>
              <a:rPr lang="en-US" sz="2000" b="1" dirty="0">
                <a:solidFill>
                  <a:srgbClr val="0070C0"/>
                </a:solidFill>
              </a:rPr>
              <a:t>Step 3: </a:t>
            </a:r>
            <a:r>
              <a:rPr lang="en-US" sz="2000" dirty="0"/>
              <a:t>The loop equations are written by applying Kirchhoff’s voltage law in</a:t>
            </a:r>
          </a:p>
          <a:p>
            <a:r>
              <a:rPr lang="en-US" sz="2000" dirty="0"/>
              <a:t>each of the loops. The equations are as follows:</a:t>
            </a: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838" y="5667039"/>
            <a:ext cx="6776679" cy="64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0540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382000" cy="5410200"/>
          </a:xfrm>
        </p:spPr>
        <p:txBody>
          <a:bodyPr>
            <a:normAutofit/>
          </a:bodyPr>
          <a:lstStyle/>
          <a:p>
            <a:r>
              <a:rPr lang="en-US" sz="2800" dirty="0"/>
              <a:t>The preceding loop equations may be simplified as follows:</a:t>
            </a:r>
          </a:p>
        </p:txBody>
      </p:sp>
      <p:sp>
        <p:nvSpPr>
          <p:cNvPr id="4" name="Date Placeholder 3"/>
          <p:cNvSpPr>
            <a:spLocks noGrp="1"/>
          </p:cNvSpPr>
          <p:nvPr>
            <p:ph type="dt" sz="half" idx="10"/>
          </p:nvPr>
        </p:nvSpPr>
        <p:spPr/>
        <p:txBody>
          <a:bodyPr/>
          <a:lstStyle/>
          <a:p>
            <a:fld id="{B644D9A0-920E-4C44-B70A-11963D6FE3C6}"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47</a:t>
            </a:fld>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948" y="1276598"/>
            <a:ext cx="52070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133600"/>
            <a:ext cx="6477000" cy="3142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467096" y="5410200"/>
            <a:ext cx="8600704" cy="707886"/>
          </a:xfrm>
          <a:prstGeom prst="rect">
            <a:avLst/>
          </a:prstGeom>
        </p:spPr>
        <p:txBody>
          <a:bodyPr wrap="square">
            <a:spAutoFit/>
          </a:bodyPr>
          <a:lstStyle/>
          <a:p>
            <a:r>
              <a:rPr lang="en-US" sz="2000" b="1" dirty="0"/>
              <a:t>The branch </a:t>
            </a:r>
            <a:r>
              <a:rPr lang="en-US" sz="2000" dirty="0"/>
              <a:t>current for </a:t>
            </a:r>
            <a:r>
              <a:rPr lang="en-US" sz="2000" b="1" dirty="0"/>
              <a:t>R2 </a:t>
            </a:r>
            <a:r>
              <a:rPr lang="en-US" sz="2000" dirty="0"/>
              <a:t>is found by combining the loop currents through this resistor:</a:t>
            </a:r>
          </a:p>
        </p:txBody>
      </p:sp>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990" y="5715000"/>
            <a:ext cx="5188043" cy="483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41983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686800" cy="5029200"/>
          </a:xfrm>
        </p:spPr>
        <p:txBody>
          <a:bodyPr>
            <a:normAutofit fontScale="85000" lnSpcReduction="10000"/>
          </a:bodyPr>
          <a:lstStyle/>
          <a:p>
            <a:r>
              <a:rPr lang="en-US" dirty="0"/>
              <a:t>The results obtained by using mesh analysis are </a:t>
            </a:r>
            <a:r>
              <a:rPr lang="en-US" b="1" dirty="0"/>
              <a:t>exactly the same</a:t>
            </a:r>
            <a:r>
              <a:rPr lang="en-US" dirty="0"/>
              <a:t> as those obtained by branch-current analysis. </a:t>
            </a:r>
          </a:p>
          <a:p>
            <a:r>
              <a:rPr lang="en-US" dirty="0"/>
              <a:t>However,  </a:t>
            </a:r>
            <a:r>
              <a:rPr lang="en-US" b="1" dirty="0">
                <a:solidFill>
                  <a:srgbClr val="0070C0"/>
                </a:solidFill>
              </a:rPr>
              <a:t>branch-current analysis required </a:t>
            </a:r>
            <a:r>
              <a:rPr lang="en-US" b="1" u="sng" dirty="0">
                <a:solidFill>
                  <a:srgbClr val="0070C0"/>
                </a:solidFill>
              </a:rPr>
              <a:t>three equations</a:t>
            </a:r>
            <a:r>
              <a:rPr lang="en-US" dirty="0"/>
              <a:t>;</a:t>
            </a:r>
          </a:p>
          <a:p>
            <a:r>
              <a:rPr lang="en-US" dirty="0"/>
              <a:t>While </a:t>
            </a:r>
            <a:r>
              <a:rPr lang="en-US" b="1" dirty="0"/>
              <a:t>Mesh (Loop) </a:t>
            </a:r>
            <a:r>
              <a:rPr lang="en-US" dirty="0"/>
              <a:t>approach requires the solution of only</a:t>
            </a:r>
            <a:r>
              <a:rPr lang="en-US" u="sng" dirty="0"/>
              <a:t> </a:t>
            </a:r>
            <a:r>
              <a:rPr lang="en-US" b="1" u="sng" dirty="0">
                <a:solidFill>
                  <a:srgbClr val="0070C0"/>
                </a:solidFill>
              </a:rPr>
              <a:t>two </a:t>
            </a:r>
            <a:r>
              <a:rPr lang="en-US" b="1" dirty="0">
                <a:solidFill>
                  <a:srgbClr val="0070C0"/>
                </a:solidFill>
              </a:rPr>
              <a:t>simultaneous </a:t>
            </a:r>
            <a:r>
              <a:rPr lang="en-US" dirty="0"/>
              <a:t>linear </a:t>
            </a:r>
            <a:r>
              <a:rPr lang="en-US" b="1" dirty="0">
                <a:solidFill>
                  <a:srgbClr val="0070C0"/>
                </a:solidFill>
              </a:rPr>
              <a:t>equations</a:t>
            </a:r>
            <a:r>
              <a:rPr lang="en-US" dirty="0"/>
              <a:t>.</a:t>
            </a:r>
          </a:p>
          <a:p>
            <a:r>
              <a:rPr lang="en-US" dirty="0"/>
              <a:t>Hence, </a:t>
            </a:r>
            <a:r>
              <a:rPr lang="en-US" b="1" dirty="0"/>
              <a:t>Mesh analysis is preferred</a:t>
            </a:r>
            <a:r>
              <a:rPr lang="en-US" dirty="0"/>
              <a:t> to branch-current analysis.</a:t>
            </a:r>
          </a:p>
          <a:p>
            <a:r>
              <a:rPr lang="en-US" dirty="0"/>
              <a:t>If the </a:t>
            </a:r>
            <a:r>
              <a:rPr lang="en-US" b="1" dirty="0">
                <a:solidFill>
                  <a:srgbClr val="0070C0"/>
                </a:solidFill>
              </a:rPr>
              <a:t>circuit being analyzed contains </a:t>
            </a:r>
            <a:r>
              <a:rPr lang="en-US" b="1" u="sng" dirty="0">
                <a:solidFill>
                  <a:srgbClr val="0070C0"/>
                </a:solidFill>
              </a:rPr>
              <a:t>current sources</a:t>
            </a:r>
            <a:r>
              <a:rPr lang="en-US" dirty="0"/>
              <a:t>, the circuit may be simplified </a:t>
            </a:r>
            <a:r>
              <a:rPr lang="en-US" b="1" u="sng" dirty="0">
                <a:solidFill>
                  <a:srgbClr val="0070C0"/>
                </a:solidFill>
              </a:rPr>
              <a:t>by converting the current source(s) to voltage sources </a:t>
            </a:r>
            <a:r>
              <a:rPr lang="en-US" dirty="0"/>
              <a:t>and then solving the resulting network using the previous procedure. </a:t>
            </a:r>
          </a:p>
        </p:txBody>
      </p:sp>
      <p:sp>
        <p:nvSpPr>
          <p:cNvPr id="4" name="Date Placeholder 3"/>
          <p:cNvSpPr>
            <a:spLocks noGrp="1"/>
          </p:cNvSpPr>
          <p:nvPr>
            <p:ph type="dt" sz="half" idx="10"/>
          </p:nvPr>
        </p:nvSpPr>
        <p:spPr/>
        <p:txBody>
          <a:bodyPr/>
          <a:lstStyle/>
          <a:p>
            <a:fld id="{F0D2D0C3-A71C-436A-B0DC-E5CC58E3C4A0}"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48</a:t>
            </a:fld>
            <a:endParaRPr lang="en-US"/>
          </a:p>
        </p:txBody>
      </p:sp>
    </p:spTree>
    <p:extLst>
      <p:ext uri="{BB962C8B-B14F-4D97-AF65-F5344CB8AC3E}">
        <p14:creationId xmlns:p14="http://schemas.microsoft.com/office/powerpoint/2010/main" val="28110530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5334000"/>
          </a:xfrm>
        </p:spPr>
        <p:txBody>
          <a:bodyPr/>
          <a:lstStyle/>
          <a:p>
            <a:r>
              <a:rPr lang="en-US" b="1" dirty="0"/>
              <a:t>Example: </a:t>
            </a:r>
            <a:r>
              <a:rPr lang="en-US" dirty="0"/>
              <a:t>Determine the current through the 8V battery for the following circuit.</a:t>
            </a:r>
          </a:p>
        </p:txBody>
      </p:sp>
      <p:sp>
        <p:nvSpPr>
          <p:cNvPr id="4" name="Date Placeholder 3"/>
          <p:cNvSpPr>
            <a:spLocks noGrp="1"/>
          </p:cNvSpPr>
          <p:nvPr>
            <p:ph type="dt" sz="half" idx="10"/>
          </p:nvPr>
        </p:nvSpPr>
        <p:spPr/>
        <p:txBody>
          <a:bodyPr/>
          <a:lstStyle/>
          <a:p>
            <a:fld id="{67473EAB-9474-4366-949C-74176C0D1B62}"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49</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106" y="1981200"/>
            <a:ext cx="3505077" cy="18299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828800"/>
            <a:ext cx="1752600" cy="19551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ight Arrow 6"/>
          <p:cNvSpPr/>
          <p:nvPr/>
        </p:nvSpPr>
        <p:spPr>
          <a:xfrm>
            <a:off x="3971183" y="2743695"/>
            <a:ext cx="1800225" cy="381000"/>
          </a:xfrm>
          <a:prstGeom prst="righ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172324" y="2438400"/>
            <a:ext cx="1590675" cy="646331"/>
          </a:xfrm>
          <a:prstGeom prst="rect">
            <a:avLst/>
          </a:prstGeom>
          <a:noFill/>
        </p:spPr>
        <p:txBody>
          <a:bodyPr wrap="square" rtlCol="0">
            <a:spAutoFit/>
          </a:bodyPr>
          <a:lstStyle/>
          <a:p>
            <a:r>
              <a:rPr lang="en-US" b="1" dirty="0"/>
              <a:t>Converted voltage source</a:t>
            </a:r>
          </a:p>
        </p:txBody>
      </p:sp>
      <p:sp>
        <p:nvSpPr>
          <p:cNvPr id="9" name="TextBox 8"/>
          <p:cNvSpPr txBox="1"/>
          <p:nvPr/>
        </p:nvSpPr>
        <p:spPr>
          <a:xfrm>
            <a:off x="527462" y="3733800"/>
            <a:ext cx="8387938" cy="1200329"/>
          </a:xfrm>
          <a:prstGeom prst="rect">
            <a:avLst/>
          </a:prstGeom>
          <a:noFill/>
        </p:spPr>
        <p:txBody>
          <a:bodyPr wrap="square" rtlCol="0">
            <a:spAutoFit/>
          </a:bodyPr>
          <a:lstStyle/>
          <a:p>
            <a:r>
              <a:rPr lang="en-US" sz="2400" dirty="0"/>
              <a:t>After converting  the cur</a:t>
            </a:r>
            <a:r>
              <a:rPr lang="en-US" sz="2400" b="1" dirty="0"/>
              <a:t>rent source into an equivalent voltage source</a:t>
            </a:r>
            <a:r>
              <a:rPr lang="en-US" sz="2400" dirty="0"/>
              <a:t>. The equivalent circuit may now be analyzed by using the loop currents as shown below:</a:t>
            </a:r>
          </a:p>
        </p:txBody>
      </p:sp>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1" y="4571999"/>
            <a:ext cx="3828802" cy="18686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3102987" y="5353505"/>
            <a:ext cx="1823295" cy="369332"/>
          </a:xfrm>
          <a:prstGeom prst="rect">
            <a:avLst/>
          </a:prstGeom>
          <a:noFill/>
        </p:spPr>
        <p:txBody>
          <a:bodyPr wrap="square" rtlCol="0">
            <a:spAutoFit/>
          </a:bodyPr>
          <a:lstStyle/>
          <a:p>
            <a:r>
              <a:rPr lang="en-US" b="1" dirty="0"/>
              <a:t>Only two loops</a:t>
            </a:r>
          </a:p>
        </p:txBody>
      </p:sp>
      <p:sp>
        <p:nvSpPr>
          <p:cNvPr id="11" name="TextBox 10"/>
          <p:cNvSpPr txBox="1"/>
          <p:nvPr/>
        </p:nvSpPr>
        <p:spPr>
          <a:xfrm>
            <a:off x="527462" y="5181600"/>
            <a:ext cx="1529938" cy="553998"/>
          </a:xfrm>
          <a:prstGeom prst="rect">
            <a:avLst/>
          </a:prstGeom>
          <a:noFill/>
        </p:spPr>
        <p:txBody>
          <a:bodyPr wrap="square" rtlCol="0">
            <a:spAutoFit/>
          </a:bodyPr>
          <a:lstStyle/>
          <a:p>
            <a:r>
              <a:rPr lang="en-US" sz="3000" b="1" u="sng" dirty="0"/>
              <a:t>Solution</a:t>
            </a:r>
          </a:p>
        </p:txBody>
      </p:sp>
    </p:spTree>
    <p:extLst>
      <p:ext uri="{BB962C8B-B14F-4D97-AF65-F5344CB8AC3E}">
        <p14:creationId xmlns:p14="http://schemas.microsoft.com/office/powerpoint/2010/main" val="18468572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8B91677-E2BA-44C5-9CD0-558C641F0997}"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50</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90601"/>
            <a:ext cx="8382000" cy="5181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149692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838200"/>
            <a:ext cx="3749177" cy="5334000"/>
          </a:xfrm>
        </p:spPr>
        <p:txBody>
          <a:bodyPr>
            <a:normAutofit fontScale="92500" lnSpcReduction="10000"/>
          </a:bodyPr>
          <a:lstStyle/>
          <a:p>
            <a:r>
              <a:rPr lang="en-US" b="1" dirty="0"/>
              <a:t>Example for Enhancement.</a:t>
            </a:r>
          </a:p>
          <a:p>
            <a:pPr marL="514350" indent="-514350">
              <a:buAutoNum type="arabicParenBoth"/>
            </a:pPr>
            <a:r>
              <a:rPr lang="en-US" dirty="0"/>
              <a:t>Solve for the currents through R</a:t>
            </a:r>
            <a:r>
              <a:rPr lang="en-US" sz="2400" dirty="0"/>
              <a:t>2</a:t>
            </a:r>
            <a:r>
              <a:rPr lang="en-US" dirty="0"/>
              <a:t> and R</a:t>
            </a:r>
            <a:r>
              <a:rPr lang="en-US" sz="2000" dirty="0"/>
              <a:t>3</a:t>
            </a:r>
            <a:r>
              <a:rPr lang="en-US" dirty="0"/>
              <a:t> in the fig. (1) circuit</a:t>
            </a:r>
          </a:p>
          <a:p>
            <a:pPr marL="0" indent="0">
              <a:buNone/>
            </a:pPr>
            <a:endParaRPr lang="en-US" dirty="0"/>
          </a:p>
          <a:p>
            <a:pPr marL="0" indent="0">
              <a:buNone/>
            </a:pPr>
            <a:endParaRPr lang="en-US" dirty="0"/>
          </a:p>
          <a:p>
            <a:pPr marL="0" indent="0">
              <a:buNone/>
            </a:pPr>
            <a:r>
              <a:rPr lang="en-US" dirty="0"/>
              <a:t>(2) Use mesh analysis to find the loop currents in Fig. (2).</a:t>
            </a:r>
          </a:p>
        </p:txBody>
      </p:sp>
      <p:sp>
        <p:nvSpPr>
          <p:cNvPr id="4" name="Date Placeholder 3"/>
          <p:cNvSpPr>
            <a:spLocks noGrp="1"/>
          </p:cNvSpPr>
          <p:nvPr>
            <p:ph type="dt" sz="half" idx="10"/>
          </p:nvPr>
        </p:nvSpPr>
        <p:spPr/>
        <p:txBody>
          <a:bodyPr/>
          <a:lstStyle/>
          <a:p>
            <a:fld id="{698E58D4-58A0-4F2F-8D75-0E80F0526452}"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51</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6377" y="533400"/>
            <a:ext cx="4846046"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6650" y="2895600"/>
            <a:ext cx="173355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ight Arrow 6"/>
          <p:cNvSpPr/>
          <p:nvPr/>
        </p:nvSpPr>
        <p:spPr>
          <a:xfrm rot="5400000">
            <a:off x="7758161" y="2334724"/>
            <a:ext cx="575115" cy="5466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876800" y="2939534"/>
            <a:ext cx="3413623" cy="369332"/>
          </a:xfrm>
          <a:prstGeom prst="rect">
            <a:avLst/>
          </a:prstGeom>
          <a:noFill/>
        </p:spPr>
        <p:txBody>
          <a:bodyPr wrap="square" rtlCol="0">
            <a:spAutoFit/>
          </a:bodyPr>
          <a:lstStyle/>
          <a:p>
            <a:r>
              <a:rPr lang="en-US" b="1" dirty="0">
                <a:solidFill>
                  <a:srgbClr val="0070C0"/>
                </a:solidFill>
              </a:rPr>
              <a:t>Hint: </a:t>
            </a:r>
            <a:r>
              <a:rPr lang="en-US" b="1" dirty="0"/>
              <a:t>Converted voltage source</a:t>
            </a:r>
          </a:p>
        </p:txBody>
      </p:sp>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3733800"/>
            <a:ext cx="3600450" cy="28398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5974011" y="2438400"/>
            <a:ext cx="1219200" cy="369332"/>
          </a:xfrm>
          <a:prstGeom prst="rect">
            <a:avLst/>
          </a:prstGeom>
          <a:noFill/>
        </p:spPr>
        <p:txBody>
          <a:bodyPr wrap="square" rtlCol="0">
            <a:spAutoFit/>
          </a:bodyPr>
          <a:lstStyle/>
          <a:p>
            <a:r>
              <a:rPr lang="en-US" b="1" dirty="0"/>
              <a:t>fig. (1)</a:t>
            </a:r>
            <a:endParaRPr lang="en-US" dirty="0"/>
          </a:p>
        </p:txBody>
      </p:sp>
      <p:sp>
        <p:nvSpPr>
          <p:cNvPr id="10" name="TextBox 9"/>
          <p:cNvSpPr txBox="1"/>
          <p:nvPr/>
        </p:nvSpPr>
        <p:spPr>
          <a:xfrm>
            <a:off x="7620000" y="4648200"/>
            <a:ext cx="990600" cy="369332"/>
          </a:xfrm>
          <a:prstGeom prst="rect">
            <a:avLst/>
          </a:prstGeom>
          <a:noFill/>
        </p:spPr>
        <p:txBody>
          <a:bodyPr wrap="square" rtlCol="0">
            <a:spAutoFit/>
          </a:bodyPr>
          <a:lstStyle/>
          <a:p>
            <a:r>
              <a:rPr lang="en-US" b="1" dirty="0"/>
              <a:t>Fig. (2).</a:t>
            </a:r>
          </a:p>
        </p:txBody>
      </p:sp>
    </p:spTree>
    <p:extLst>
      <p:ext uri="{BB962C8B-B14F-4D97-AF65-F5344CB8AC3E}">
        <p14:creationId xmlns:p14="http://schemas.microsoft.com/office/powerpoint/2010/main" val="39853909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533400"/>
          </a:xfrm>
        </p:spPr>
        <p:txBody>
          <a:bodyPr>
            <a:noAutofit/>
          </a:bodyPr>
          <a:lstStyle/>
          <a:p>
            <a:r>
              <a:rPr lang="en-US" sz="3200" b="1" dirty="0"/>
              <a:t>Nodal Analysis</a:t>
            </a:r>
            <a:endParaRPr lang="en-US" sz="3200" dirty="0"/>
          </a:p>
        </p:txBody>
      </p:sp>
      <p:sp>
        <p:nvSpPr>
          <p:cNvPr id="3" name="Content Placeholder 2"/>
          <p:cNvSpPr>
            <a:spLocks noGrp="1"/>
          </p:cNvSpPr>
          <p:nvPr>
            <p:ph idx="1"/>
          </p:nvPr>
        </p:nvSpPr>
        <p:spPr>
          <a:xfrm>
            <a:off x="457200" y="1219200"/>
            <a:ext cx="8458200" cy="5105400"/>
          </a:xfrm>
        </p:spPr>
        <p:txBody>
          <a:bodyPr>
            <a:normAutofit fontScale="92500" lnSpcReduction="10000"/>
          </a:bodyPr>
          <a:lstStyle/>
          <a:p>
            <a:r>
              <a:rPr lang="en-US" dirty="0"/>
              <a:t>In Nodal analysis, we will apply </a:t>
            </a:r>
            <a:r>
              <a:rPr lang="en-US" b="1" dirty="0">
                <a:solidFill>
                  <a:srgbClr val="0070C0"/>
                </a:solidFill>
              </a:rPr>
              <a:t>KCL to </a:t>
            </a:r>
            <a:r>
              <a:rPr lang="en-US" dirty="0"/>
              <a:t>determine the potential difference (voltage) at any node with respect to some </a:t>
            </a:r>
            <a:r>
              <a:rPr lang="en-US" b="1" dirty="0">
                <a:solidFill>
                  <a:srgbClr val="0070C0"/>
                </a:solidFill>
              </a:rPr>
              <a:t>arbitrary reference point</a:t>
            </a:r>
            <a:r>
              <a:rPr lang="en-US" dirty="0"/>
              <a:t> in a network.</a:t>
            </a:r>
          </a:p>
          <a:p>
            <a:r>
              <a:rPr lang="en-US" b="1" dirty="0"/>
              <a:t>The steps to follow:</a:t>
            </a:r>
          </a:p>
          <a:p>
            <a:pPr marL="514350" indent="-514350">
              <a:buFont typeface="+mj-lt"/>
              <a:buAutoNum type="arabicPeriod"/>
            </a:pPr>
            <a:r>
              <a:rPr lang="en-US" dirty="0"/>
              <a:t>Arbitrarily assign </a:t>
            </a:r>
            <a:r>
              <a:rPr lang="en-US" b="1" dirty="0"/>
              <a:t>a reference node </a:t>
            </a:r>
            <a:r>
              <a:rPr lang="en-US" dirty="0"/>
              <a:t>within the circuit and indicate this node as ground. </a:t>
            </a:r>
          </a:p>
          <a:p>
            <a:pPr marL="514350" indent="-514350">
              <a:buFont typeface="+mj-lt"/>
              <a:buAutoNum type="arabicPeriod"/>
            </a:pPr>
            <a:r>
              <a:rPr lang="en-US" dirty="0"/>
              <a:t>Convert each </a:t>
            </a:r>
            <a:r>
              <a:rPr lang="en-US" dirty="0">
                <a:solidFill>
                  <a:srgbClr val="0070C0"/>
                </a:solidFill>
              </a:rPr>
              <a:t>voltage source in the </a:t>
            </a:r>
            <a:r>
              <a:rPr lang="en-US" b="1" dirty="0">
                <a:solidFill>
                  <a:srgbClr val="0070C0"/>
                </a:solidFill>
              </a:rPr>
              <a:t>network to its equivalent current source. </a:t>
            </a:r>
            <a:r>
              <a:rPr lang="en-US" dirty="0"/>
              <a:t>This step, although not absolutely necessary, </a:t>
            </a:r>
            <a:r>
              <a:rPr lang="en-US" b="1" dirty="0"/>
              <a:t>makes further calculations easier </a:t>
            </a:r>
            <a:r>
              <a:rPr lang="en-US" dirty="0"/>
              <a:t>to understand.</a:t>
            </a:r>
          </a:p>
        </p:txBody>
      </p:sp>
      <p:sp>
        <p:nvSpPr>
          <p:cNvPr id="4" name="Date Placeholder 3"/>
          <p:cNvSpPr>
            <a:spLocks noGrp="1"/>
          </p:cNvSpPr>
          <p:nvPr>
            <p:ph type="dt" sz="half" idx="10"/>
          </p:nvPr>
        </p:nvSpPr>
        <p:spPr/>
        <p:txBody>
          <a:bodyPr/>
          <a:lstStyle/>
          <a:p>
            <a:fld id="{474DB22D-3108-4627-999D-2AD55785C8BC}"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52</a:t>
            </a:fld>
            <a:endParaRPr lang="en-US"/>
          </a:p>
        </p:txBody>
      </p:sp>
    </p:spTree>
    <p:extLst>
      <p:ext uri="{BB962C8B-B14F-4D97-AF65-F5344CB8AC3E}">
        <p14:creationId xmlns:p14="http://schemas.microsoft.com/office/powerpoint/2010/main" val="18585062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763000" cy="5334000"/>
          </a:xfrm>
        </p:spPr>
        <p:txBody>
          <a:bodyPr>
            <a:normAutofit fontScale="85000" lnSpcReduction="10000"/>
          </a:bodyPr>
          <a:lstStyle/>
          <a:p>
            <a:pPr marL="0" indent="0">
              <a:buNone/>
            </a:pPr>
            <a:r>
              <a:rPr lang="en-US" dirty="0"/>
              <a:t>3. Arbitrarily assign voltages (</a:t>
            </a:r>
            <a:r>
              <a:rPr lang="en-US" i="1" dirty="0"/>
              <a:t>V</a:t>
            </a:r>
            <a:r>
              <a:rPr lang="en-US" dirty="0"/>
              <a:t>1, </a:t>
            </a:r>
            <a:r>
              <a:rPr lang="en-US" i="1" dirty="0"/>
              <a:t>V</a:t>
            </a:r>
            <a:r>
              <a:rPr lang="en-US" dirty="0"/>
              <a:t>2, . . . , </a:t>
            </a:r>
            <a:r>
              <a:rPr lang="en-US" i="1" dirty="0" err="1"/>
              <a:t>Vn</a:t>
            </a:r>
            <a:r>
              <a:rPr lang="en-US" dirty="0"/>
              <a:t>) to the remaining nodes in the circuit. </a:t>
            </a:r>
          </a:p>
          <a:p>
            <a:pPr marL="0" indent="0">
              <a:buNone/>
            </a:pPr>
            <a:r>
              <a:rPr lang="en-US" dirty="0"/>
              <a:t>4. Arbitrarily </a:t>
            </a:r>
            <a:r>
              <a:rPr lang="en-US" b="1" dirty="0">
                <a:solidFill>
                  <a:srgbClr val="0070C0"/>
                </a:solidFill>
              </a:rPr>
              <a:t>assign a current direction </a:t>
            </a:r>
            <a:r>
              <a:rPr lang="en-US" dirty="0"/>
              <a:t>to each branch in which there is no  current source and indicate the corresponding polarities of the voltage drops on all resistors.</a:t>
            </a:r>
          </a:p>
          <a:p>
            <a:pPr marL="0" indent="0">
              <a:buNone/>
            </a:pPr>
            <a:r>
              <a:rPr lang="en-US" dirty="0"/>
              <a:t>5. With the exception of ground, </a:t>
            </a:r>
            <a:r>
              <a:rPr lang="en-US" b="1" dirty="0">
                <a:solidFill>
                  <a:srgbClr val="0070C0"/>
                </a:solidFill>
              </a:rPr>
              <a:t>apply KCL at each of the nodes</a:t>
            </a:r>
            <a:r>
              <a:rPr lang="en-US" dirty="0"/>
              <a:t>. If a circuit has a total </a:t>
            </a:r>
            <a:r>
              <a:rPr lang="en-US" b="1" dirty="0"/>
              <a:t>of </a:t>
            </a:r>
            <a:r>
              <a:rPr lang="en-US" b="1" i="1" dirty="0"/>
              <a:t>n+</a:t>
            </a:r>
            <a:r>
              <a:rPr lang="en-US" b="1" dirty="0"/>
              <a:t>1 </a:t>
            </a:r>
            <a:r>
              <a:rPr lang="en-US" dirty="0"/>
              <a:t>nodes (including the reference node), there will be </a:t>
            </a:r>
            <a:r>
              <a:rPr lang="en-US" b="1" i="1" dirty="0">
                <a:solidFill>
                  <a:srgbClr val="0070C0"/>
                </a:solidFill>
              </a:rPr>
              <a:t>n</a:t>
            </a:r>
            <a:r>
              <a:rPr lang="en-US" i="1" dirty="0"/>
              <a:t> </a:t>
            </a:r>
            <a:r>
              <a:rPr lang="en-US" dirty="0"/>
              <a:t>simultaneous linear equations.</a:t>
            </a:r>
          </a:p>
          <a:p>
            <a:pPr marL="0" indent="0">
              <a:buNone/>
            </a:pPr>
            <a:r>
              <a:rPr lang="en-US" dirty="0"/>
              <a:t>6. </a:t>
            </a:r>
            <a:r>
              <a:rPr lang="en-US" b="1" dirty="0">
                <a:solidFill>
                  <a:srgbClr val="0070C0"/>
                </a:solidFill>
              </a:rPr>
              <a:t>Rewrite</a:t>
            </a:r>
            <a:r>
              <a:rPr lang="en-US" dirty="0"/>
              <a:t> each of the arbitrarily assigned currents in terms of the potential difference across a known resistance.</a:t>
            </a:r>
          </a:p>
          <a:p>
            <a:pPr marL="0" indent="0">
              <a:buNone/>
            </a:pPr>
            <a:r>
              <a:rPr lang="en-US" dirty="0"/>
              <a:t>7. </a:t>
            </a:r>
            <a:r>
              <a:rPr lang="en-US" b="1" dirty="0"/>
              <a:t>Solve </a:t>
            </a:r>
            <a:r>
              <a:rPr lang="en-US" dirty="0"/>
              <a:t>the resulting simultaneous linear equations for the voltages (</a:t>
            </a:r>
            <a:r>
              <a:rPr lang="en-US" i="1" dirty="0"/>
              <a:t>V</a:t>
            </a:r>
            <a:r>
              <a:rPr lang="en-US" dirty="0"/>
              <a:t>1,</a:t>
            </a:r>
            <a:r>
              <a:rPr lang="en-US" i="1" dirty="0"/>
              <a:t>V</a:t>
            </a:r>
            <a:r>
              <a:rPr lang="en-US" dirty="0"/>
              <a:t>2, . . . , </a:t>
            </a:r>
            <a:r>
              <a:rPr lang="en-US" i="1" dirty="0" err="1"/>
              <a:t>Vn</a:t>
            </a:r>
            <a:r>
              <a:rPr lang="en-US" dirty="0"/>
              <a:t>).</a:t>
            </a:r>
          </a:p>
        </p:txBody>
      </p:sp>
      <p:sp>
        <p:nvSpPr>
          <p:cNvPr id="4" name="Date Placeholder 3"/>
          <p:cNvSpPr>
            <a:spLocks noGrp="1"/>
          </p:cNvSpPr>
          <p:nvPr>
            <p:ph type="dt" sz="half" idx="10"/>
          </p:nvPr>
        </p:nvSpPr>
        <p:spPr/>
        <p:txBody>
          <a:bodyPr/>
          <a:lstStyle/>
          <a:p>
            <a:fld id="{65B92850-060F-4AAB-8E05-70D021442912}"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53</a:t>
            </a:fld>
            <a:endParaRPr lang="en-US"/>
          </a:p>
        </p:txBody>
      </p:sp>
    </p:spTree>
    <p:extLst>
      <p:ext uri="{BB962C8B-B14F-4D97-AF65-F5344CB8AC3E}">
        <p14:creationId xmlns:p14="http://schemas.microsoft.com/office/powerpoint/2010/main" val="27595959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534400" cy="5287963"/>
          </a:xfrm>
        </p:spPr>
        <p:txBody>
          <a:bodyPr/>
          <a:lstStyle/>
          <a:p>
            <a:r>
              <a:rPr lang="en-US" b="1" dirty="0"/>
              <a:t>Example: </a:t>
            </a:r>
            <a:r>
              <a:rPr lang="en-US" dirty="0"/>
              <a:t>Given this circuit, use nodal analysis to solve for the voltage </a:t>
            </a:r>
            <a:r>
              <a:rPr lang="en-US" b="1" i="1" dirty="0" err="1"/>
              <a:t>V</a:t>
            </a:r>
            <a:r>
              <a:rPr lang="en-US" b="1" i="1" baseline="-25000" dirty="0" err="1"/>
              <a:t>ab</a:t>
            </a:r>
            <a:r>
              <a:rPr lang="en-US" dirty="0"/>
              <a:t>.</a:t>
            </a:r>
          </a:p>
          <a:p>
            <a:endParaRPr lang="en-US" dirty="0"/>
          </a:p>
          <a:p>
            <a:endParaRPr lang="en-US" dirty="0"/>
          </a:p>
          <a:p>
            <a:endParaRPr lang="en-US" dirty="0"/>
          </a:p>
          <a:p>
            <a:endParaRPr lang="en-US" dirty="0"/>
          </a:p>
          <a:p>
            <a:endParaRPr lang="en-US" dirty="0"/>
          </a:p>
          <a:p>
            <a:r>
              <a:rPr lang="en-US" dirty="0"/>
              <a:t>I=V/R=6/30=0.2 A or 200mA</a:t>
            </a:r>
          </a:p>
        </p:txBody>
      </p:sp>
      <p:sp>
        <p:nvSpPr>
          <p:cNvPr id="4" name="Date Placeholder 3"/>
          <p:cNvSpPr>
            <a:spLocks noGrp="1"/>
          </p:cNvSpPr>
          <p:nvPr>
            <p:ph type="dt" sz="half" idx="10"/>
          </p:nvPr>
        </p:nvSpPr>
        <p:spPr/>
        <p:txBody>
          <a:bodyPr/>
          <a:lstStyle/>
          <a:p>
            <a:fld id="{EA1FE955-C0AE-4F8F-9624-B3CDDE3A7D15}"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54</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86000"/>
            <a:ext cx="2286000" cy="258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557462"/>
            <a:ext cx="1876425" cy="2038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a:off x="3429000" y="3576637"/>
            <a:ext cx="2971800" cy="3095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181600" y="2585480"/>
            <a:ext cx="2286000" cy="646331"/>
          </a:xfrm>
          <a:prstGeom prst="rect">
            <a:avLst/>
          </a:prstGeom>
          <a:noFill/>
        </p:spPr>
        <p:txBody>
          <a:bodyPr wrap="square" rtlCol="0">
            <a:spAutoFit/>
          </a:bodyPr>
          <a:lstStyle/>
          <a:p>
            <a:r>
              <a:rPr lang="en-US" b="1" dirty="0"/>
              <a:t>Converted Current source</a:t>
            </a:r>
          </a:p>
        </p:txBody>
      </p:sp>
    </p:spTree>
    <p:extLst>
      <p:ext uri="{BB962C8B-B14F-4D97-AF65-F5344CB8AC3E}">
        <p14:creationId xmlns:p14="http://schemas.microsoft.com/office/powerpoint/2010/main" val="17898536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3962400" cy="5562599"/>
          </a:xfrm>
        </p:spPr>
        <p:txBody>
          <a:bodyPr>
            <a:normAutofit fontScale="77500" lnSpcReduction="20000"/>
          </a:bodyPr>
          <a:lstStyle/>
          <a:p>
            <a:r>
              <a:rPr lang="en-US" b="1" dirty="0"/>
              <a:t>Solution</a:t>
            </a:r>
          </a:p>
          <a:p>
            <a:endParaRPr lang="en-US" b="1" dirty="0"/>
          </a:p>
          <a:p>
            <a:pPr marL="0" indent="0">
              <a:buNone/>
            </a:pPr>
            <a:r>
              <a:rPr lang="en-US" sz="2600" b="1" dirty="0"/>
              <a:t>Step 1: </a:t>
            </a:r>
            <a:r>
              <a:rPr lang="en-US" sz="2600" dirty="0"/>
              <a:t>Select a convenient reference node (ground).</a:t>
            </a:r>
          </a:p>
          <a:p>
            <a:pPr marL="0" indent="0">
              <a:buNone/>
            </a:pPr>
            <a:endParaRPr lang="en-US" sz="2600" dirty="0"/>
          </a:p>
          <a:p>
            <a:pPr marL="0" indent="0">
              <a:buNone/>
            </a:pPr>
            <a:r>
              <a:rPr lang="en-US" sz="2600" b="1" dirty="0"/>
              <a:t>Step 2: </a:t>
            </a:r>
            <a:r>
              <a:rPr lang="en-US" sz="2600" dirty="0">
                <a:solidFill>
                  <a:srgbClr val="0070C0"/>
                </a:solidFill>
              </a:rPr>
              <a:t>Convert the voltage sources into equivalent </a:t>
            </a:r>
            <a:r>
              <a:rPr lang="en-US" sz="2600" dirty="0"/>
              <a:t>current sources. The equivalent circuit is shown on the right side.</a:t>
            </a:r>
          </a:p>
          <a:p>
            <a:pPr marL="0" indent="0">
              <a:buNone/>
            </a:pPr>
            <a:endParaRPr lang="en-US" sz="2600" dirty="0"/>
          </a:p>
          <a:p>
            <a:pPr marL="0" indent="0">
              <a:buNone/>
            </a:pPr>
            <a:r>
              <a:rPr lang="en-US" sz="2600" b="1" dirty="0"/>
              <a:t>Steps 3 and 4: </a:t>
            </a:r>
            <a:r>
              <a:rPr lang="en-US" sz="2600" b="1" dirty="0">
                <a:solidFill>
                  <a:srgbClr val="0070C0"/>
                </a:solidFill>
              </a:rPr>
              <a:t>Arbitrarily assign node voltages and branch currents</a:t>
            </a:r>
            <a:r>
              <a:rPr lang="en-US" sz="2600" dirty="0"/>
              <a:t>. Indicate the voltage polarities across all resistors according to the assumed current directions.</a:t>
            </a:r>
          </a:p>
          <a:p>
            <a:pPr marL="0" indent="0">
              <a:buNone/>
            </a:pPr>
            <a:endParaRPr lang="en-US" sz="2600" dirty="0"/>
          </a:p>
          <a:p>
            <a:pPr marL="0" indent="0">
              <a:buNone/>
            </a:pPr>
            <a:r>
              <a:rPr lang="en-US" sz="2600" b="1" dirty="0"/>
              <a:t>Step 5:</a:t>
            </a:r>
            <a:r>
              <a:rPr lang="en-US" sz="2600" dirty="0"/>
              <a:t>We now apply Kirchhoff’s current law at the nodes labelled as </a:t>
            </a:r>
            <a:r>
              <a:rPr lang="en-US" sz="2600" i="1" dirty="0"/>
              <a:t>V</a:t>
            </a:r>
            <a:r>
              <a:rPr lang="en-US" sz="2600" dirty="0"/>
              <a:t>1 and</a:t>
            </a:r>
          </a:p>
        </p:txBody>
      </p:sp>
      <p:sp>
        <p:nvSpPr>
          <p:cNvPr id="4" name="Date Placeholder 3"/>
          <p:cNvSpPr>
            <a:spLocks noGrp="1"/>
          </p:cNvSpPr>
          <p:nvPr>
            <p:ph type="dt" sz="half" idx="10"/>
          </p:nvPr>
        </p:nvSpPr>
        <p:spPr/>
        <p:txBody>
          <a:bodyPr/>
          <a:lstStyle/>
          <a:p>
            <a:fld id="{607A4344-426D-42CB-BB3C-272D1E21E7FD}"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55</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838200"/>
            <a:ext cx="4038600" cy="31000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7304" y="4267200"/>
            <a:ext cx="4734296"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18485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1"/>
                                        </p:tgtEl>
                                        <p:attrNameLst>
                                          <p:attrName>style.visibility</p:attrName>
                                        </p:attrNameLst>
                                      </p:cBhvr>
                                      <p:to>
                                        <p:strVal val="visible"/>
                                      </p:to>
                                    </p:set>
                                    <p:anim calcmode="lin" valueType="num">
                                      <p:cBhvr additive="base">
                                        <p:cTn id="13" dur="500" fill="hold"/>
                                        <p:tgtEl>
                                          <p:spTgt spid="2051"/>
                                        </p:tgtEl>
                                        <p:attrNameLst>
                                          <p:attrName>ppt_x</p:attrName>
                                        </p:attrNameLst>
                                      </p:cBhvr>
                                      <p:tavLst>
                                        <p:tav tm="0">
                                          <p:val>
                                            <p:strVal val="#ppt_x"/>
                                          </p:val>
                                        </p:tav>
                                        <p:tav tm="100000">
                                          <p:val>
                                            <p:strVal val="#ppt_x"/>
                                          </p:val>
                                        </p:tav>
                                      </p:tavLst>
                                    </p:anim>
                                    <p:anim calcmode="lin" valueType="num">
                                      <p:cBhvr additive="base">
                                        <p:cTn id="14"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1"/>
            <a:ext cx="4343400" cy="1447800"/>
          </a:xfrm>
        </p:spPr>
        <p:txBody>
          <a:bodyPr>
            <a:normAutofit/>
          </a:bodyPr>
          <a:lstStyle/>
          <a:p>
            <a:r>
              <a:rPr lang="en-US" sz="2000" dirty="0"/>
              <a:t>Using </a:t>
            </a:r>
            <a:r>
              <a:rPr lang="en-US" sz="2000" i="1" dirty="0">
                <a:solidFill>
                  <a:srgbClr val="0070C0"/>
                </a:solidFill>
              </a:rPr>
              <a:t>nodal method</a:t>
            </a:r>
            <a:r>
              <a:rPr lang="en-US" sz="2000" dirty="0"/>
              <a:t>, the currents are rewritten in terms of the voltages </a:t>
            </a:r>
            <a:r>
              <a:rPr lang="en-US" sz="2400" dirty="0"/>
              <a:t>across the resistors as follows:</a:t>
            </a:r>
          </a:p>
        </p:txBody>
      </p:sp>
      <p:sp>
        <p:nvSpPr>
          <p:cNvPr id="4" name="Date Placeholder 3"/>
          <p:cNvSpPr>
            <a:spLocks noGrp="1"/>
          </p:cNvSpPr>
          <p:nvPr>
            <p:ph type="dt" sz="half" idx="10"/>
          </p:nvPr>
        </p:nvSpPr>
        <p:spPr/>
        <p:txBody>
          <a:bodyPr/>
          <a:lstStyle/>
          <a:p>
            <a:fld id="{3A1AC6B2-A6CC-4BE5-84A0-9961626E417F}"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56</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838201"/>
            <a:ext cx="3124200"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228600" y="2590801"/>
            <a:ext cx="4114800"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nodal equations become:</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2590800"/>
            <a:ext cx="4267200" cy="12672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198912" y="4032037"/>
            <a:ext cx="4572000" cy="646331"/>
          </a:xfrm>
          <a:prstGeom prst="rect">
            <a:avLst/>
          </a:prstGeom>
        </p:spPr>
        <p:txBody>
          <a:bodyPr>
            <a:spAutoFit/>
          </a:bodyPr>
          <a:lstStyle/>
          <a:p>
            <a:pPr marL="285750" indent="-285750">
              <a:buFont typeface="Arial" panose="020B0604020202020204" pitchFamily="34" charset="0"/>
              <a:buChar char="•"/>
            </a:pPr>
            <a:r>
              <a:rPr lang="en-US" dirty="0"/>
              <a:t>Substituting the voltage expressions into the original nodal equations, we have:</a:t>
            </a:r>
          </a:p>
        </p:txBody>
      </p:sp>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3886200"/>
            <a:ext cx="3510643" cy="10551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244434" y="5068669"/>
            <a:ext cx="4572000" cy="646331"/>
          </a:xfrm>
          <a:prstGeom prst="rect">
            <a:avLst/>
          </a:prstGeom>
        </p:spPr>
        <p:txBody>
          <a:bodyPr>
            <a:spAutoFit/>
          </a:bodyPr>
          <a:lstStyle/>
          <a:p>
            <a:pPr marL="285750" indent="-285750">
              <a:buFont typeface="Arial" panose="020B0604020202020204" pitchFamily="34" charset="0"/>
              <a:buChar char="•"/>
            </a:pPr>
            <a:r>
              <a:rPr lang="en-US" dirty="0"/>
              <a:t>Hence,  solving </a:t>
            </a:r>
            <a:r>
              <a:rPr lang="en-US" dirty="0" err="1"/>
              <a:t>simulteneously</a:t>
            </a:r>
            <a:r>
              <a:rPr lang="en-US" dirty="0"/>
              <a:t>, the voltage V2 is the same as the voltage </a:t>
            </a:r>
            <a:r>
              <a:rPr lang="en-US" dirty="0" err="1"/>
              <a:t>Va</a:t>
            </a:r>
            <a:r>
              <a:rPr lang="en-US" dirty="0"/>
              <a:t>, namely:</a:t>
            </a:r>
          </a:p>
        </p:txBody>
      </p:sp>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7056" y="5103749"/>
            <a:ext cx="3167743" cy="535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a:xfrm>
            <a:off x="292966" y="5867400"/>
            <a:ext cx="4752519" cy="369332"/>
          </a:xfrm>
          <a:prstGeom prst="rect">
            <a:avLst/>
          </a:prstGeom>
        </p:spPr>
        <p:txBody>
          <a:bodyPr wrap="none">
            <a:spAutoFit/>
          </a:bodyPr>
          <a:lstStyle/>
          <a:p>
            <a:pPr marL="285750" indent="-285750">
              <a:buFont typeface="Arial" panose="020B0604020202020204" pitchFamily="34" charset="0"/>
              <a:buChar char="•"/>
            </a:pPr>
            <a:r>
              <a:rPr lang="en-US" dirty="0"/>
              <a:t>Therefore, the voltage</a:t>
            </a:r>
            <a:r>
              <a:rPr lang="en-US" b="1" i="1" dirty="0"/>
              <a:t> </a:t>
            </a:r>
            <a:r>
              <a:rPr lang="en-US" b="1" i="1" dirty="0" err="1"/>
              <a:t>Vab</a:t>
            </a:r>
            <a:r>
              <a:rPr lang="en-US" b="1" i="1" dirty="0"/>
              <a:t> </a:t>
            </a:r>
            <a:r>
              <a:rPr lang="en-US" dirty="0"/>
              <a:t>is simply found as:</a:t>
            </a:r>
          </a:p>
        </p:txBody>
      </p:sp>
      <p:pic>
        <p:nvPicPr>
          <p:cNvPr id="30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0621" y="5715000"/>
            <a:ext cx="405718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820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gtEl>
                                        <p:attrNameLst>
                                          <p:attrName>style.visibility</p:attrName>
                                        </p:attrNameLst>
                                      </p:cBhvr>
                                      <p:to>
                                        <p:strVal val="visible"/>
                                      </p:to>
                                    </p:set>
                                    <p:anim calcmode="lin" valueType="num">
                                      <p:cBhvr additive="base">
                                        <p:cTn id="13" dur="500" fill="hold"/>
                                        <p:tgtEl>
                                          <p:spTgt spid="3075"/>
                                        </p:tgtEl>
                                        <p:attrNameLst>
                                          <p:attrName>ppt_x</p:attrName>
                                        </p:attrNameLst>
                                      </p:cBhvr>
                                      <p:tavLst>
                                        <p:tav tm="0">
                                          <p:val>
                                            <p:strVal val="#ppt_x"/>
                                          </p:val>
                                        </p:tav>
                                        <p:tav tm="100000">
                                          <p:val>
                                            <p:strVal val="#ppt_x"/>
                                          </p:val>
                                        </p:tav>
                                      </p:tavLst>
                                    </p:anim>
                                    <p:anim calcmode="lin" valueType="num">
                                      <p:cBhvr additive="base">
                                        <p:cTn id="14"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6"/>
                                        </p:tgtEl>
                                        <p:attrNameLst>
                                          <p:attrName>style.visibility</p:attrName>
                                        </p:attrNameLst>
                                      </p:cBhvr>
                                      <p:to>
                                        <p:strVal val="visible"/>
                                      </p:to>
                                    </p:set>
                                    <p:anim calcmode="lin" valueType="num">
                                      <p:cBhvr additive="base">
                                        <p:cTn id="19" dur="500" fill="hold"/>
                                        <p:tgtEl>
                                          <p:spTgt spid="3076"/>
                                        </p:tgtEl>
                                        <p:attrNameLst>
                                          <p:attrName>ppt_x</p:attrName>
                                        </p:attrNameLst>
                                      </p:cBhvr>
                                      <p:tavLst>
                                        <p:tav tm="0">
                                          <p:val>
                                            <p:strVal val="#ppt_x"/>
                                          </p:val>
                                        </p:tav>
                                        <p:tav tm="100000">
                                          <p:val>
                                            <p:strVal val="#ppt_x"/>
                                          </p:val>
                                        </p:tav>
                                      </p:tavLst>
                                    </p:anim>
                                    <p:anim calcmode="lin" valueType="num">
                                      <p:cBhvr additive="base">
                                        <p:cTn id="20"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7"/>
                                        </p:tgtEl>
                                        <p:attrNameLst>
                                          <p:attrName>style.visibility</p:attrName>
                                        </p:attrNameLst>
                                      </p:cBhvr>
                                      <p:to>
                                        <p:strVal val="visible"/>
                                      </p:to>
                                    </p:set>
                                    <p:anim calcmode="lin" valueType="num">
                                      <p:cBhvr additive="base">
                                        <p:cTn id="25" dur="500" fill="hold"/>
                                        <p:tgtEl>
                                          <p:spTgt spid="3077"/>
                                        </p:tgtEl>
                                        <p:attrNameLst>
                                          <p:attrName>ppt_x</p:attrName>
                                        </p:attrNameLst>
                                      </p:cBhvr>
                                      <p:tavLst>
                                        <p:tav tm="0">
                                          <p:val>
                                            <p:strVal val="#ppt_x"/>
                                          </p:val>
                                        </p:tav>
                                        <p:tav tm="100000">
                                          <p:val>
                                            <p:strVal val="#ppt_x"/>
                                          </p:val>
                                        </p:tav>
                                      </p:tavLst>
                                    </p:anim>
                                    <p:anim calcmode="lin" valueType="num">
                                      <p:cBhvr additive="base">
                                        <p:cTn id="26" dur="500" fill="hold"/>
                                        <p:tgtEl>
                                          <p:spTgt spid="307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79"/>
                                        </p:tgtEl>
                                        <p:attrNameLst>
                                          <p:attrName>style.visibility</p:attrName>
                                        </p:attrNameLst>
                                      </p:cBhvr>
                                      <p:to>
                                        <p:strVal val="visible"/>
                                      </p:to>
                                    </p:set>
                                    <p:anim calcmode="lin" valueType="num">
                                      <p:cBhvr additive="base">
                                        <p:cTn id="31" dur="500" fill="hold"/>
                                        <p:tgtEl>
                                          <p:spTgt spid="3079"/>
                                        </p:tgtEl>
                                        <p:attrNameLst>
                                          <p:attrName>ppt_x</p:attrName>
                                        </p:attrNameLst>
                                      </p:cBhvr>
                                      <p:tavLst>
                                        <p:tav tm="0">
                                          <p:val>
                                            <p:strVal val="#ppt_x"/>
                                          </p:val>
                                        </p:tav>
                                        <p:tav tm="100000">
                                          <p:val>
                                            <p:strVal val="#ppt_x"/>
                                          </p:val>
                                        </p:tav>
                                      </p:tavLst>
                                    </p:anim>
                                    <p:anim calcmode="lin" valueType="num">
                                      <p:cBhvr additive="base">
                                        <p:cTn id="32" dur="500" fill="hold"/>
                                        <p:tgtEl>
                                          <p:spTgt spid="30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5446D7D9-B32A-46CE-A191-FDD6E8A5AD32}"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57</a:t>
            </a:fld>
            <a:endParaRPr lang="en-US"/>
          </a:p>
        </p:txBody>
      </p:sp>
      <p:pic>
        <p:nvPicPr>
          <p:cNvPr id="1026"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1524000" y="609600"/>
            <a:ext cx="6096000" cy="6053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45494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305800" cy="5562600"/>
          </a:xfrm>
        </p:spPr>
        <p:txBody>
          <a:bodyPr/>
          <a:lstStyle/>
          <a:p>
            <a:r>
              <a:rPr lang="en-US" b="1" dirty="0"/>
              <a:t>Example for Enhancement</a:t>
            </a:r>
            <a:r>
              <a:rPr lang="en-US" dirty="0"/>
              <a:t>: </a:t>
            </a:r>
          </a:p>
          <a:p>
            <a:pPr marL="514350" indent="-514350">
              <a:buAutoNum type="arabicParenBoth"/>
            </a:pPr>
            <a:r>
              <a:rPr lang="en-US" sz="2600" dirty="0"/>
              <a:t>Determine the nodal voltages for the circuit shown</a:t>
            </a:r>
            <a:r>
              <a:rPr lang="en-US" sz="2800" dirty="0"/>
              <a:t>.</a:t>
            </a:r>
          </a:p>
          <a:p>
            <a:pPr marL="514350" indent="-514350">
              <a:buAutoNum type="arabicParenBoth"/>
            </a:pPr>
            <a:endParaRPr lang="en-US" sz="2800" b="1" dirty="0"/>
          </a:p>
          <a:p>
            <a:pPr marL="514350" indent="-514350">
              <a:buAutoNum type="arabicParenBoth"/>
            </a:pPr>
            <a:endParaRPr lang="en-US" sz="2800" b="1" dirty="0"/>
          </a:p>
          <a:p>
            <a:pPr marL="514350" indent="-514350">
              <a:buAutoNum type="arabicParenBoth"/>
            </a:pPr>
            <a:endParaRPr lang="en-US" sz="2800" b="1" dirty="0"/>
          </a:p>
          <a:p>
            <a:pPr marL="514350" indent="-514350">
              <a:buAutoNum type="arabicParenBoth"/>
            </a:pPr>
            <a:endParaRPr lang="en-US" sz="2800" b="1" dirty="0"/>
          </a:p>
          <a:p>
            <a:pPr marL="514350" indent="-514350">
              <a:buAutoNum type="arabicParenBoth"/>
            </a:pPr>
            <a:r>
              <a:rPr lang="en-US" sz="2600" dirty="0"/>
              <a:t>Use nodal analysis to find the nodal voltages for this circuit. Use the answers to solve for the current through R1</a:t>
            </a:r>
            <a:r>
              <a:rPr lang="en-US" sz="2600" b="1" dirty="0"/>
              <a:t>.</a:t>
            </a:r>
          </a:p>
          <a:p>
            <a:pPr marL="0" indent="0">
              <a:buNone/>
            </a:pPr>
            <a:endParaRPr lang="en-US" sz="2800" b="1" dirty="0"/>
          </a:p>
        </p:txBody>
      </p:sp>
      <p:sp>
        <p:nvSpPr>
          <p:cNvPr id="4" name="Date Placeholder 3"/>
          <p:cNvSpPr>
            <a:spLocks noGrp="1"/>
          </p:cNvSpPr>
          <p:nvPr>
            <p:ph type="dt" sz="half" idx="10"/>
          </p:nvPr>
        </p:nvSpPr>
        <p:spPr/>
        <p:txBody>
          <a:bodyPr/>
          <a:lstStyle/>
          <a:p>
            <a:fld id="{F1E6B0E4-EF9D-428D-B43F-A58B400ECB8D}"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58</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828800"/>
            <a:ext cx="3124200" cy="1864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981200"/>
            <a:ext cx="1981200" cy="1881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ight Arrow 6"/>
          <p:cNvSpPr/>
          <p:nvPr/>
        </p:nvSpPr>
        <p:spPr>
          <a:xfrm>
            <a:off x="4343400" y="2761216"/>
            <a:ext cx="2057400" cy="2867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105400" y="1992868"/>
            <a:ext cx="3095527" cy="369332"/>
          </a:xfrm>
          <a:prstGeom prst="rect">
            <a:avLst/>
          </a:prstGeom>
          <a:noFill/>
        </p:spPr>
        <p:txBody>
          <a:bodyPr wrap="none" rtlCol="0">
            <a:spAutoFit/>
          </a:bodyPr>
          <a:lstStyle/>
          <a:p>
            <a:r>
              <a:rPr lang="en-US" b="1" dirty="0">
                <a:solidFill>
                  <a:srgbClr val="0070C0"/>
                </a:solidFill>
              </a:rPr>
              <a:t>Hint: </a:t>
            </a:r>
            <a:r>
              <a:rPr lang="en-US" b="1" dirty="0"/>
              <a:t>converted current source</a:t>
            </a:r>
          </a:p>
        </p:txBody>
      </p:sp>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0" y="4886695"/>
            <a:ext cx="4533900" cy="1464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Straight Connector 9"/>
          <p:cNvCxnSpPr/>
          <p:nvPr/>
        </p:nvCxnSpPr>
        <p:spPr>
          <a:xfrm>
            <a:off x="76200" y="3962400"/>
            <a:ext cx="8991600"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452135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Assignment 1</a:t>
            </a:r>
          </a:p>
          <a:p>
            <a:endParaRPr lang="en-US" dirty="0"/>
          </a:p>
          <a:p>
            <a:endParaRPr lang="en-US" dirty="0"/>
          </a:p>
          <a:p>
            <a:endParaRPr lang="en-US" dirty="0"/>
          </a:p>
          <a:p>
            <a:r>
              <a:rPr lang="en-US" dirty="0"/>
              <a:t>With </a:t>
            </a:r>
            <a:r>
              <a:rPr lang="en-US" dirty="0" err="1"/>
              <a:t>atleast</a:t>
            </a:r>
            <a:r>
              <a:rPr lang="en-US" dirty="0"/>
              <a:t> 2 circuit examples explain the nodal mesh (loop)analysis in circuit analysis</a:t>
            </a:r>
          </a:p>
        </p:txBody>
      </p:sp>
      <p:sp>
        <p:nvSpPr>
          <p:cNvPr id="4" name="Date Placeholder 3"/>
          <p:cNvSpPr>
            <a:spLocks noGrp="1"/>
          </p:cNvSpPr>
          <p:nvPr>
            <p:ph type="dt" sz="half" idx="10"/>
          </p:nvPr>
        </p:nvSpPr>
        <p:spPr/>
        <p:txBody>
          <a:bodyPr/>
          <a:lstStyle/>
          <a:p>
            <a:fld id="{C2E173C7-3EA6-4964-8451-174AABF42FFA}"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59</a:t>
            </a:fld>
            <a:endParaRPr lang="en-US"/>
          </a:p>
        </p:txBody>
      </p:sp>
    </p:spTree>
    <p:extLst>
      <p:ext uri="{BB962C8B-B14F-4D97-AF65-F5344CB8AC3E}">
        <p14:creationId xmlns:p14="http://schemas.microsoft.com/office/powerpoint/2010/main" val="24374499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Next Class:</a:t>
            </a:r>
            <a:br>
              <a:rPr lang="en-US" dirty="0"/>
            </a:br>
            <a:r>
              <a:rPr lang="en-US" b="1" dirty="0"/>
              <a:t>Network Theorems</a:t>
            </a:r>
          </a:p>
        </p:txBody>
      </p:sp>
      <p:sp>
        <p:nvSpPr>
          <p:cNvPr id="4" name="Date Placeholder 3"/>
          <p:cNvSpPr>
            <a:spLocks noGrp="1"/>
          </p:cNvSpPr>
          <p:nvPr>
            <p:ph type="dt" sz="half" idx="10"/>
          </p:nvPr>
        </p:nvSpPr>
        <p:spPr/>
        <p:txBody>
          <a:bodyPr/>
          <a:lstStyle/>
          <a:p>
            <a:fld id="{CCC9064A-BA0F-4505-9C75-BA66B598CAB4}" type="datetime1">
              <a:rPr lang="en-US" smtClean="0"/>
              <a:t>9/29/2025</a:t>
            </a:fld>
            <a:endParaRPr lang="en-US"/>
          </a:p>
        </p:txBody>
      </p:sp>
      <p:sp>
        <p:nvSpPr>
          <p:cNvPr id="5" name="Footer Placeholder 4"/>
          <p:cNvSpPr>
            <a:spLocks noGrp="1"/>
          </p:cNvSpPr>
          <p:nvPr>
            <p:ph type="ftr" sz="quarter" idx="11"/>
          </p:nvPr>
        </p:nvSpPr>
        <p:spPr/>
        <p:txBody>
          <a:bodyPr/>
          <a:lstStyle/>
          <a:p>
            <a:r>
              <a:rPr lang="en-US"/>
              <a:t>CE80362: Circuit Analysis </a:t>
            </a:r>
          </a:p>
        </p:txBody>
      </p:sp>
      <p:sp>
        <p:nvSpPr>
          <p:cNvPr id="6" name="Slide Number Placeholder 5"/>
          <p:cNvSpPr>
            <a:spLocks noGrp="1"/>
          </p:cNvSpPr>
          <p:nvPr>
            <p:ph type="sldNum" sz="quarter" idx="12"/>
          </p:nvPr>
        </p:nvSpPr>
        <p:spPr/>
        <p:txBody>
          <a:bodyPr/>
          <a:lstStyle/>
          <a:p>
            <a:fld id="{06B342E1-1408-4C13-9C60-07932E3DA7B3}" type="slidenum">
              <a:rPr lang="en-US" smtClean="0"/>
              <a:t>60</a:t>
            </a:fld>
            <a:endParaRPr lang="en-US"/>
          </a:p>
        </p:txBody>
      </p:sp>
    </p:spTree>
    <p:extLst>
      <p:ext uri="{BB962C8B-B14F-4D97-AF65-F5344CB8AC3E}">
        <p14:creationId xmlns:p14="http://schemas.microsoft.com/office/powerpoint/2010/main" val="2568705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7009</TotalTime>
  <Words>4389</Words>
  <Application>Microsoft Office PowerPoint</Application>
  <PresentationFormat>On-screen Show (4:3)</PresentationFormat>
  <Paragraphs>554</Paragraphs>
  <Slides>60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Cambria Math</vt:lpstr>
      <vt:lpstr>Symbol</vt:lpstr>
      <vt:lpstr>Office Theme</vt:lpstr>
      <vt:lpstr>PowerPoint Presentation</vt:lpstr>
      <vt:lpstr>Basic Preliminaries on Circuit Analysis </vt:lpstr>
      <vt:lpstr>PowerPoint Presentation</vt:lpstr>
      <vt:lpstr>PowerPoint Presentation</vt:lpstr>
      <vt:lpstr>PowerPoint Presentation</vt:lpstr>
      <vt:lpstr>PowerPoint Presentation</vt:lpstr>
      <vt:lpstr>PowerPoint Presentation</vt:lpstr>
      <vt:lpstr>PowerPoint Presentation</vt:lpstr>
      <vt:lpstr>The Voltage Divider Rule</vt:lpstr>
      <vt:lpstr>PowerPoint Presentation</vt:lpstr>
      <vt:lpstr>PowerPoint Presentation</vt:lpstr>
      <vt:lpstr>PowerPoint Presentation</vt:lpstr>
      <vt:lpstr>PowerPoint Presentation</vt:lpstr>
      <vt:lpstr>Tutorials</vt:lpstr>
      <vt:lpstr>PowerPoint Presentation</vt:lpstr>
      <vt:lpstr>PowerPoint Presentation</vt:lpstr>
      <vt:lpstr>PARALLEL CIRCUITS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Mesh (loop)  and Nodal Analysis.  </vt:lpstr>
      <vt:lpstr>Methods of Analysis to solve Branch-current ckts.</vt:lpstr>
      <vt:lpstr>PowerPoint Presentation</vt:lpstr>
      <vt:lpstr>PowerPoint Presentation</vt:lpstr>
      <vt:lpstr>PowerPoint Presentation</vt:lpstr>
      <vt:lpstr>PowerPoint Presentation</vt:lpstr>
      <vt:lpstr>Mesh (Loop)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Nodal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Class: Network Theorems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Alexandre</dc:creator>
  <cp:lastModifiedBy>PC</cp:lastModifiedBy>
  <cp:revision>525</cp:revision>
  <dcterms:created xsi:type="dcterms:W3CDTF">2015-09-21T09:25:15Z</dcterms:created>
  <dcterms:modified xsi:type="dcterms:W3CDTF">2025-09-29T11:16:20Z</dcterms:modified>
</cp:coreProperties>
</file>