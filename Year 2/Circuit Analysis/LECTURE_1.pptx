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5" r:id="rId17"/>
    <p:sldId id="271" r:id="rId18"/>
    <p:sldId id="272" r:id="rId19"/>
    <p:sldId id="273" r:id="rId20"/>
    <p:sldId id="274" r:id="rId21"/>
    <p:sldId id="277" r:id="rId22"/>
    <p:sldId id="278" r:id="rId23"/>
    <p:sldId id="279" r:id="rId24"/>
    <p:sldId id="280" r:id="rId25"/>
    <p:sldId id="282" r:id="rId26"/>
    <p:sldId id="281" r:id="rId27"/>
    <p:sldId id="283" r:id="rId28"/>
    <p:sldId id="284" r:id="rId29"/>
    <p:sldId id="285" r:id="rId30"/>
    <p:sldId id="287" r:id="rId31"/>
    <p:sldId id="286" r:id="rId32"/>
    <p:sldId id="288" r:id="rId33"/>
    <p:sldId id="289" r:id="rId34"/>
    <p:sldId id="291"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59" d="100"/>
          <a:sy n="59" d="100"/>
        </p:scale>
        <p:origin x="964" y="5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2B91072-8203-49E7-98D8-BFA7B0AE0C17}" type="datetimeFigureOut">
              <a:rPr lang="en-US" smtClean="0"/>
              <a:t>9/29/2025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6BC66D1-BA50-43D8-8671-7BC93D6590E6}" type="slidenum">
              <a:rPr lang="en-US" smtClean="0"/>
              <a:t>‹#›</a:t>
            </a:fld>
            <a:endParaRPr lang="en-US"/>
          </a:p>
        </p:txBody>
      </p:sp>
    </p:spTree>
    <p:extLst>
      <p:ext uri="{BB962C8B-B14F-4D97-AF65-F5344CB8AC3E}">
        <p14:creationId xmlns:p14="http://schemas.microsoft.com/office/powerpoint/2010/main" val="37889891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7F178222-EA38-433A-9640-69C69EF620AD}" type="datetime1">
              <a:rPr lang="en-US" smtClean="0"/>
              <a:t>9/29/2025</a:t>
            </a:fld>
            <a:endParaRPr lang="en-US"/>
          </a:p>
        </p:txBody>
      </p:sp>
      <p:sp>
        <p:nvSpPr>
          <p:cNvPr id="5" name="Footer Placeholder 4"/>
          <p:cNvSpPr>
            <a:spLocks noGrp="1"/>
          </p:cNvSpPr>
          <p:nvPr>
            <p:ph type="ftr" sz="quarter" idx="11"/>
          </p:nvPr>
        </p:nvSpPr>
        <p:spPr/>
        <p:txBody>
          <a:bodyPr/>
          <a:lstStyle/>
          <a:p>
            <a:r>
              <a:rPr lang="en-US"/>
              <a:t>CE80362: Circuit Analysis </a:t>
            </a:r>
          </a:p>
        </p:txBody>
      </p:sp>
      <p:sp>
        <p:nvSpPr>
          <p:cNvPr id="6" name="Slide Number Placeholder 5"/>
          <p:cNvSpPr>
            <a:spLocks noGrp="1"/>
          </p:cNvSpPr>
          <p:nvPr>
            <p:ph type="sldNum" sz="quarter" idx="12"/>
          </p:nvPr>
        </p:nvSpPr>
        <p:spPr/>
        <p:txBody>
          <a:bodyPr/>
          <a:lstStyle/>
          <a:p>
            <a:fld id="{0BC8E04C-76C2-4646-B4FE-D645B34E3502}" type="slidenum">
              <a:rPr lang="en-US" smtClean="0"/>
              <a:t>‹#›</a:t>
            </a:fld>
            <a:endParaRPr lang="en-US"/>
          </a:p>
        </p:txBody>
      </p:sp>
    </p:spTree>
    <p:extLst>
      <p:ext uri="{BB962C8B-B14F-4D97-AF65-F5344CB8AC3E}">
        <p14:creationId xmlns:p14="http://schemas.microsoft.com/office/powerpoint/2010/main" val="284680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DD2836E-1205-44BC-8071-58EC8EFBC7CC}" type="datetime1">
              <a:rPr lang="en-US" smtClean="0"/>
              <a:t>9/29/2025</a:t>
            </a:fld>
            <a:endParaRPr lang="en-US"/>
          </a:p>
        </p:txBody>
      </p:sp>
      <p:sp>
        <p:nvSpPr>
          <p:cNvPr id="5" name="Footer Placeholder 4"/>
          <p:cNvSpPr>
            <a:spLocks noGrp="1"/>
          </p:cNvSpPr>
          <p:nvPr>
            <p:ph type="ftr" sz="quarter" idx="11"/>
          </p:nvPr>
        </p:nvSpPr>
        <p:spPr/>
        <p:txBody>
          <a:bodyPr/>
          <a:lstStyle/>
          <a:p>
            <a:r>
              <a:rPr lang="en-US"/>
              <a:t>CE80362: Circuit Analysis </a:t>
            </a:r>
          </a:p>
        </p:txBody>
      </p:sp>
      <p:sp>
        <p:nvSpPr>
          <p:cNvPr id="6" name="Slide Number Placeholder 5"/>
          <p:cNvSpPr>
            <a:spLocks noGrp="1"/>
          </p:cNvSpPr>
          <p:nvPr>
            <p:ph type="sldNum" sz="quarter" idx="12"/>
          </p:nvPr>
        </p:nvSpPr>
        <p:spPr/>
        <p:txBody>
          <a:bodyPr/>
          <a:lstStyle/>
          <a:p>
            <a:fld id="{0BC8E04C-76C2-4646-B4FE-D645B34E3502}" type="slidenum">
              <a:rPr lang="en-US" smtClean="0"/>
              <a:t>‹#›</a:t>
            </a:fld>
            <a:endParaRPr lang="en-US"/>
          </a:p>
        </p:txBody>
      </p:sp>
    </p:spTree>
    <p:extLst>
      <p:ext uri="{BB962C8B-B14F-4D97-AF65-F5344CB8AC3E}">
        <p14:creationId xmlns:p14="http://schemas.microsoft.com/office/powerpoint/2010/main" val="27767530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6E93A1A-6247-4CC7-9E46-CFDCB0A28D6F}" type="datetime1">
              <a:rPr lang="en-US" smtClean="0"/>
              <a:t>9/29/2025</a:t>
            </a:fld>
            <a:endParaRPr lang="en-US"/>
          </a:p>
        </p:txBody>
      </p:sp>
      <p:sp>
        <p:nvSpPr>
          <p:cNvPr id="5" name="Footer Placeholder 4"/>
          <p:cNvSpPr>
            <a:spLocks noGrp="1"/>
          </p:cNvSpPr>
          <p:nvPr>
            <p:ph type="ftr" sz="quarter" idx="11"/>
          </p:nvPr>
        </p:nvSpPr>
        <p:spPr/>
        <p:txBody>
          <a:bodyPr/>
          <a:lstStyle/>
          <a:p>
            <a:r>
              <a:rPr lang="en-US"/>
              <a:t>CE80362: Circuit Analysis </a:t>
            </a:r>
          </a:p>
        </p:txBody>
      </p:sp>
      <p:sp>
        <p:nvSpPr>
          <p:cNvPr id="6" name="Slide Number Placeholder 5"/>
          <p:cNvSpPr>
            <a:spLocks noGrp="1"/>
          </p:cNvSpPr>
          <p:nvPr>
            <p:ph type="sldNum" sz="quarter" idx="12"/>
          </p:nvPr>
        </p:nvSpPr>
        <p:spPr/>
        <p:txBody>
          <a:bodyPr/>
          <a:lstStyle/>
          <a:p>
            <a:fld id="{0BC8E04C-76C2-4646-B4FE-D645B34E3502}" type="slidenum">
              <a:rPr lang="en-US" smtClean="0"/>
              <a:t>‹#›</a:t>
            </a:fld>
            <a:endParaRPr lang="en-US"/>
          </a:p>
        </p:txBody>
      </p:sp>
    </p:spTree>
    <p:extLst>
      <p:ext uri="{BB962C8B-B14F-4D97-AF65-F5344CB8AC3E}">
        <p14:creationId xmlns:p14="http://schemas.microsoft.com/office/powerpoint/2010/main" val="19336935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E074F82-83DA-4CDB-84CD-576C8F90FDF9}" type="datetime1">
              <a:rPr lang="en-US" smtClean="0"/>
              <a:t>9/29/2025</a:t>
            </a:fld>
            <a:endParaRPr lang="en-US"/>
          </a:p>
        </p:txBody>
      </p:sp>
      <p:sp>
        <p:nvSpPr>
          <p:cNvPr id="6" name="Footer Placeholder 5"/>
          <p:cNvSpPr>
            <a:spLocks noGrp="1"/>
          </p:cNvSpPr>
          <p:nvPr>
            <p:ph type="ftr" sz="quarter" idx="11"/>
          </p:nvPr>
        </p:nvSpPr>
        <p:spPr/>
        <p:txBody>
          <a:bodyPr/>
          <a:lstStyle/>
          <a:p>
            <a:r>
              <a:rPr lang="en-US"/>
              <a:t>CE80362: Circuit Analysis </a:t>
            </a:r>
          </a:p>
        </p:txBody>
      </p:sp>
      <p:sp>
        <p:nvSpPr>
          <p:cNvPr id="7" name="Slide Number Placeholder 6"/>
          <p:cNvSpPr>
            <a:spLocks noGrp="1"/>
          </p:cNvSpPr>
          <p:nvPr>
            <p:ph type="sldNum" sz="quarter" idx="12"/>
          </p:nvPr>
        </p:nvSpPr>
        <p:spPr/>
        <p:txBody>
          <a:bodyPr/>
          <a:lstStyle/>
          <a:p>
            <a:fld id="{0BC8E04C-76C2-4646-B4FE-D645B34E3502}" type="slidenum">
              <a:rPr lang="en-US" smtClean="0"/>
              <a:t>‹#›</a:t>
            </a:fld>
            <a:endParaRPr lang="en-US"/>
          </a:p>
        </p:txBody>
      </p:sp>
    </p:spTree>
    <p:extLst>
      <p:ext uri="{BB962C8B-B14F-4D97-AF65-F5344CB8AC3E}">
        <p14:creationId xmlns:p14="http://schemas.microsoft.com/office/powerpoint/2010/main" val="40736692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EC05BB7-8819-4311-A7CA-1D45BD9A30ED}" type="datetime1">
              <a:rPr lang="en-US" smtClean="0"/>
              <a:t>9/29/2025</a:t>
            </a:fld>
            <a:endParaRPr lang="en-US"/>
          </a:p>
        </p:txBody>
      </p:sp>
      <p:sp>
        <p:nvSpPr>
          <p:cNvPr id="8" name="Footer Placeholder 7"/>
          <p:cNvSpPr>
            <a:spLocks noGrp="1"/>
          </p:cNvSpPr>
          <p:nvPr>
            <p:ph type="ftr" sz="quarter" idx="11"/>
          </p:nvPr>
        </p:nvSpPr>
        <p:spPr/>
        <p:txBody>
          <a:bodyPr/>
          <a:lstStyle/>
          <a:p>
            <a:r>
              <a:rPr lang="en-US"/>
              <a:t>CE80362: Circuit Analysis </a:t>
            </a:r>
          </a:p>
        </p:txBody>
      </p:sp>
      <p:sp>
        <p:nvSpPr>
          <p:cNvPr id="9" name="Slide Number Placeholder 8"/>
          <p:cNvSpPr>
            <a:spLocks noGrp="1"/>
          </p:cNvSpPr>
          <p:nvPr>
            <p:ph type="sldNum" sz="quarter" idx="12"/>
          </p:nvPr>
        </p:nvSpPr>
        <p:spPr/>
        <p:txBody>
          <a:bodyPr/>
          <a:lstStyle/>
          <a:p>
            <a:fld id="{0BC8E04C-76C2-4646-B4FE-D645B34E3502}" type="slidenum">
              <a:rPr lang="en-US" smtClean="0"/>
              <a:t>‹#›</a:t>
            </a:fld>
            <a:endParaRPr lang="en-US"/>
          </a:p>
        </p:txBody>
      </p:sp>
    </p:spTree>
    <p:extLst>
      <p:ext uri="{BB962C8B-B14F-4D97-AF65-F5344CB8AC3E}">
        <p14:creationId xmlns:p14="http://schemas.microsoft.com/office/powerpoint/2010/main" val="34238394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EDFE193-193D-4C9C-B0EE-BB75F5D6D052}" type="datetime1">
              <a:rPr lang="en-US" smtClean="0"/>
              <a:t>9/29/2025</a:t>
            </a:fld>
            <a:endParaRPr lang="en-US"/>
          </a:p>
        </p:txBody>
      </p:sp>
      <p:sp>
        <p:nvSpPr>
          <p:cNvPr id="4" name="Footer Placeholder 3"/>
          <p:cNvSpPr>
            <a:spLocks noGrp="1"/>
          </p:cNvSpPr>
          <p:nvPr>
            <p:ph type="ftr" sz="quarter" idx="11"/>
          </p:nvPr>
        </p:nvSpPr>
        <p:spPr/>
        <p:txBody>
          <a:bodyPr/>
          <a:lstStyle/>
          <a:p>
            <a:r>
              <a:rPr lang="en-US"/>
              <a:t>CE80362: Circuit Analysis </a:t>
            </a:r>
          </a:p>
        </p:txBody>
      </p:sp>
      <p:sp>
        <p:nvSpPr>
          <p:cNvPr id="5" name="Slide Number Placeholder 4"/>
          <p:cNvSpPr>
            <a:spLocks noGrp="1"/>
          </p:cNvSpPr>
          <p:nvPr>
            <p:ph type="sldNum" sz="quarter" idx="12"/>
          </p:nvPr>
        </p:nvSpPr>
        <p:spPr/>
        <p:txBody>
          <a:bodyPr/>
          <a:lstStyle/>
          <a:p>
            <a:fld id="{0BC8E04C-76C2-4646-B4FE-D645B34E3502}" type="slidenum">
              <a:rPr lang="en-US" smtClean="0"/>
              <a:t>‹#›</a:t>
            </a:fld>
            <a:endParaRPr lang="en-US"/>
          </a:p>
        </p:txBody>
      </p:sp>
    </p:spTree>
    <p:extLst>
      <p:ext uri="{BB962C8B-B14F-4D97-AF65-F5344CB8AC3E}">
        <p14:creationId xmlns:p14="http://schemas.microsoft.com/office/powerpoint/2010/main" val="39236924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E40D075-34C5-4E11-9E75-B724B37A6D22}" type="datetime1">
              <a:rPr lang="en-US" smtClean="0"/>
              <a:t>9/29/2025</a:t>
            </a:fld>
            <a:endParaRPr lang="en-US"/>
          </a:p>
        </p:txBody>
      </p:sp>
      <p:sp>
        <p:nvSpPr>
          <p:cNvPr id="3" name="Footer Placeholder 2"/>
          <p:cNvSpPr>
            <a:spLocks noGrp="1"/>
          </p:cNvSpPr>
          <p:nvPr>
            <p:ph type="ftr" sz="quarter" idx="11"/>
          </p:nvPr>
        </p:nvSpPr>
        <p:spPr/>
        <p:txBody>
          <a:bodyPr/>
          <a:lstStyle/>
          <a:p>
            <a:r>
              <a:rPr lang="en-US"/>
              <a:t>CE80362: Circuit Analysis </a:t>
            </a:r>
          </a:p>
        </p:txBody>
      </p:sp>
      <p:sp>
        <p:nvSpPr>
          <p:cNvPr id="4" name="Slide Number Placeholder 3"/>
          <p:cNvSpPr>
            <a:spLocks noGrp="1"/>
          </p:cNvSpPr>
          <p:nvPr>
            <p:ph type="sldNum" sz="quarter" idx="12"/>
          </p:nvPr>
        </p:nvSpPr>
        <p:spPr/>
        <p:txBody>
          <a:bodyPr/>
          <a:lstStyle/>
          <a:p>
            <a:fld id="{0BC8E04C-76C2-4646-B4FE-D645B34E3502}" type="slidenum">
              <a:rPr lang="en-US" smtClean="0"/>
              <a:t>‹#›</a:t>
            </a:fld>
            <a:endParaRPr lang="en-US"/>
          </a:p>
        </p:txBody>
      </p:sp>
    </p:spTree>
    <p:extLst>
      <p:ext uri="{BB962C8B-B14F-4D97-AF65-F5344CB8AC3E}">
        <p14:creationId xmlns:p14="http://schemas.microsoft.com/office/powerpoint/2010/main" val="25261763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0D61177-EF1D-485D-8169-F1A01B384E30}" type="datetime1">
              <a:rPr lang="en-US" smtClean="0"/>
              <a:t>9/29/2025</a:t>
            </a:fld>
            <a:endParaRPr lang="en-US"/>
          </a:p>
        </p:txBody>
      </p:sp>
      <p:sp>
        <p:nvSpPr>
          <p:cNvPr id="6" name="Footer Placeholder 5"/>
          <p:cNvSpPr>
            <a:spLocks noGrp="1"/>
          </p:cNvSpPr>
          <p:nvPr>
            <p:ph type="ftr" sz="quarter" idx="11"/>
          </p:nvPr>
        </p:nvSpPr>
        <p:spPr/>
        <p:txBody>
          <a:bodyPr/>
          <a:lstStyle/>
          <a:p>
            <a:r>
              <a:rPr lang="en-US"/>
              <a:t>CE80362: Circuit Analysis </a:t>
            </a:r>
          </a:p>
        </p:txBody>
      </p:sp>
      <p:sp>
        <p:nvSpPr>
          <p:cNvPr id="7" name="Slide Number Placeholder 6"/>
          <p:cNvSpPr>
            <a:spLocks noGrp="1"/>
          </p:cNvSpPr>
          <p:nvPr>
            <p:ph type="sldNum" sz="quarter" idx="12"/>
          </p:nvPr>
        </p:nvSpPr>
        <p:spPr/>
        <p:txBody>
          <a:bodyPr/>
          <a:lstStyle/>
          <a:p>
            <a:fld id="{0BC8E04C-76C2-4646-B4FE-D645B34E3502}" type="slidenum">
              <a:rPr lang="en-US" smtClean="0"/>
              <a:t>‹#›</a:t>
            </a:fld>
            <a:endParaRPr lang="en-US"/>
          </a:p>
        </p:txBody>
      </p:sp>
    </p:spTree>
    <p:extLst>
      <p:ext uri="{BB962C8B-B14F-4D97-AF65-F5344CB8AC3E}">
        <p14:creationId xmlns:p14="http://schemas.microsoft.com/office/powerpoint/2010/main" val="15601260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4DB00B8-C50A-4769-A778-B683E1ABF464}" type="datetime1">
              <a:rPr lang="en-US" smtClean="0"/>
              <a:t>9/29/2025</a:t>
            </a:fld>
            <a:endParaRPr lang="en-US"/>
          </a:p>
        </p:txBody>
      </p:sp>
      <p:sp>
        <p:nvSpPr>
          <p:cNvPr id="6" name="Footer Placeholder 5"/>
          <p:cNvSpPr>
            <a:spLocks noGrp="1"/>
          </p:cNvSpPr>
          <p:nvPr>
            <p:ph type="ftr" sz="quarter" idx="11"/>
          </p:nvPr>
        </p:nvSpPr>
        <p:spPr/>
        <p:txBody>
          <a:bodyPr/>
          <a:lstStyle/>
          <a:p>
            <a:r>
              <a:rPr lang="en-US"/>
              <a:t>CE80362: Circuit Analysis </a:t>
            </a:r>
          </a:p>
        </p:txBody>
      </p:sp>
      <p:sp>
        <p:nvSpPr>
          <p:cNvPr id="7" name="Slide Number Placeholder 6"/>
          <p:cNvSpPr>
            <a:spLocks noGrp="1"/>
          </p:cNvSpPr>
          <p:nvPr>
            <p:ph type="sldNum" sz="quarter" idx="12"/>
          </p:nvPr>
        </p:nvSpPr>
        <p:spPr/>
        <p:txBody>
          <a:bodyPr/>
          <a:lstStyle/>
          <a:p>
            <a:fld id="{0BC8E04C-76C2-4646-B4FE-D645B34E3502}" type="slidenum">
              <a:rPr lang="en-US" smtClean="0"/>
              <a:t>‹#›</a:t>
            </a:fld>
            <a:endParaRPr lang="en-US"/>
          </a:p>
        </p:txBody>
      </p:sp>
    </p:spTree>
    <p:extLst>
      <p:ext uri="{BB962C8B-B14F-4D97-AF65-F5344CB8AC3E}">
        <p14:creationId xmlns:p14="http://schemas.microsoft.com/office/powerpoint/2010/main" val="34866747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E0E0557-863C-43FD-B05B-E51BDDCC182C}" type="datetime1">
              <a:rPr lang="en-US" smtClean="0"/>
              <a:t>9/29/2025</a:t>
            </a:fld>
            <a:endParaRPr lang="en-US"/>
          </a:p>
        </p:txBody>
      </p:sp>
      <p:sp>
        <p:nvSpPr>
          <p:cNvPr id="5" name="Footer Placeholder 4"/>
          <p:cNvSpPr>
            <a:spLocks noGrp="1"/>
          </p:cNvSpPr>
          <p:nvPr>
            <p:ph type="ftr" sz="quarter" idx="11"/>
          </p:nvPr>
        </p:nvSpPr>
        <p:spPr/>
        <p:txBody>
          <a:bodyPr/>
          <a:lstStyle/>
          <a:p>
            <a:r>
              <a:rPr lang="en-US"/>
              <a:t>CE80362: Circuit Analysis </a:t>
            </a:r>
          </a:p>
        </p:txBody>
      </p:sp>
      <p:sp>
        <p:nvSpPr>
          <p:cNvPr id="6" name="Slide Number Placeholder 5"/>
          <p:cNvSpPr>
            <a:spLocks noGrp="1"/>
          </p:cNvSpPr>
          <p:nvPr>
            <p:ph type="sldNum" sz="quarter" idx="12"/>
          </p:nvPr>
        </p:nvSpPr>
        <p:spPr/>
        <p:txBody>
          <a:bodyPr/>
          <a:lstStyle/>
          <a:p>
            <a:fld id="{0BC8E04C-76C2-4646-B4FE-D645B34E3502}" type="slidenum">
              <a:rPr lang="en-US" smtClean="0"/>
              <a:t>‹#›</a:t>
            </a:fld>
            <a:endParaRPr lang="en-US"/>
          </a:p>
        </p:txBody>
      </p:sp>
    </p:spTree>
    <p:extLst>
      <p:ext uri="{BB962C8B-B14F-4D97-AF65-F5344CB8AC3E}">
        <p14:creationId xmlns:p14="http://schemas.microsoft.com/office/powerpoint/2010/main" val="33047370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38665CA-1845-41F0-BAFD-575B97C9B317}" type="datetime1">
              <a:rPr lang="en-US" smtClean="0"/>
              <a:t>9/29/2025</a:t>
            </a:fld>
            <a:endParaRPr lang="en-US"/>
          </a:p>
        </p:txBody>
      </p:sp>
      <p:sp>
        <p:nvSpPr>
          <p:cNvPr id="5" name="Footer Placeholder 4"/>
          <p:cNvSpPr>
            <a:spLocks noGrp="1"/>
          </p:cNvSpPr>
          <p:nvPr>
            <p:ph type="ftr" sz="quarter" idx="11"/>
          </p:nvPr>
        </p:nvSpPr>
        <p:spPr/>
        <p:txBody>
          <a:bodyPr/>
          <a:lstStyle/>
          <a:p>
            <a:r>
              <a:rPr lang="en-US"/>
              <a:t>CE80362: Circuit Analysis </a:t>
            </a:r>
          </a:p>
        </p:txBody>
      </p:sp>
      <p:sp>
        <p:nvSpPr>
          <p:cNvPr id="6" name="Slide Number Placeholder 5"/>
          <p:cNvSpPr>
            <a:spLocks noGrp="1"/>
          </p:cNvSpPr>
          <p:nvPr>
            <p:ph type="sldNum" sz="quarter" idx="12"/>
          </p:nvPr>
        </p:nvSpPr>
        <p:spPr/>
        <p:txBody>
          <a:bodyPr/>
          <a:lstStyle/>
          <a:p>
            <a:fld id="{0BC8E04C-76C2-4646-B4FE-D645B34E3502}" type="slidenum">
              <a:rPr lang="en-US" smtClean="0"/>
              <a:t>‹#›</a:t>
            </a:fld>
            <a:endParaRPr lang="en-US"/>
          </a:p>
        </p:txBody>
      </p:sp>
    </p:spTree>
    <p:extLst>
      <p:ext uri="{BB962C8B-B14F-4D97-AF65-F5344CB8AC3E}">
        <p14:creationId xmlns:p14="http://schemas.microsoft.com/office/powerpoint/2010/main" val="8268317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A08AE5B-0E82-4B8E-A719-1BBD36C58E18}" type="datetime1">
              <a:rPr lang="en-US" smtClean="0"/>
              <a:t>9/29/2025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CE80362: Circuit Analysis </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BC8E04C-76C2-4646-B4FE-D645B34E3502}" type="slidenum">
              <a:rPr lang="en-US" smtClean="0"/>
              <a:t>‹#›</a:t>
            </a:fld>
            <a:endParaRPr lang="en-US"/>
          </a:p>
        </p:txBody>
      </p:sp>
    </p:spTree>
    <p:extLst>
      <p:ext uri="{BB962C8B-B14F-4D97-AF65-F5344CB8AC3E}">
        <p14:creationId xmlns:p14="http://schemas.microsoft.com/office/powerpoint/2010/main" val="2157188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7.gi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9.gif"/><Relationship Id="rId2" Type="http://schemas.openxmlformats.org/officeDocument/2006/relationships/image" Target="../media/image18.gif"/><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9.xml.rels><?xml version="1.0" encoding="UTF-8" standalone="yes"?>
<Relationships xmlns="http://schemas.openxmlformats.org/package/2006/relationships"><Relationship Id="rId3" Type="http://schemas.openxmlformats.org/officeDocument/2006/relationships/image" Target="../media/image21.gif"/><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1195834"/>
          </a:xfrm>
        </p:spPr>
        <p:txBody>
          <a:bodyPr>
            <a:normAutofit/>
          </a:bodyPr>
          <a:lstStyle/>
          <a:p>
            <a:r>
              <a:rPr lang="en-US" dirty="0"/>
              <a:t>CE80362 : Circuit </a:t>
            </a:r>
            <a:r>
              <a:rPr lang="en-GB" dirty="0"/>
              <a:t>Analysis </a:t>
            </a:r>
            <a:endParaRPr lang="en-US" dirty="0"/>
          </a:p>
        </p:txBody>
      </p:sp>
      <p:sp>
        <p:nvSpPr>
          <p:cNvPr id="3" name="Subtitle 2"/>
          <p:cNvSpPr>
            <a:spLocks noGrp="1"/>
          </p:cNvSpPr>
          <p:nvPr>
            <p:ph type="subTitle" idx="1"/>
          </p:nvPr>
        </p:nvSpPr>
        <p:spPr>
          <a:xfrm>
            <a:off x="1524000" y="3550522"/>
            <a:ext cx="9144000" cy="1655762"/>
          </a:xfrm>
        </p:spPr>
        <p:txBody>
          <a:bodyPr>
            <a:normAutofit/>
          </a:bodyPr>
          <a:lstStyle/>
          <a:p>
            <a:r>
              <a:rPr lang="en-US" sz="4000" b="1" dirty="0"/>
              <a:t>Lecture 1:</a:t>
            </a:r>
          </a:p>
          <a:p>
            <a:r>
              <a:rPr lang="en-US" sz="4000" dirty="0"/>
              <a:t>Passive circuit elements </a:t>
            </a:r>
          </a:p>
        </p:txBody>
      </p:sp>
      <p:sp>
        <p:nvSpPr>
          <p:cNvPr id="4" name="Date Placeholder 3"/>
          <p:cNvSpPr>
            <a:spLocks noGrp="1"/>
          </p:cNvSpPr>
          <p:nvPr>
            <p:ph type="dt" sz="half" idx="10"/>
          </p:nvPr>
        </p:nvSpPr>
        <p:spPr/>
        <p:txBody>
          <a:bodyPr/>
          <a:lstStyle/>
          <a:p>
            <a:fld id="{E350EA18-487E-4C4B-BAE9-0FF4EF4307BD}" type="datetime1">
              <a:rPr lang="en-US" smtClean="0"/>
              <a:t>9/29/2025</a:t>
            </a:fld>
            <a:endParaRPr lang="en-US"/>
          </a:p>
        </p:txBody>
      </p:sp>
      <p:sp>
        <p:nvSpPr>
          <p:cNvPr id="5" name="Slide Number Placeholder 4"/>
          <p:cNvSpPr>
            <a:spLocks noGrp="1"/>
          </p:cNvSpPr>
          <p:nvPr>
            <p:ph type="sldNum" sz="quarter" idx="12"/>
          </p:nvPr>
        </p:nvSpPr>
        <p:spPr/>
        <p:txBody>
          <a:bodyPr/>
          <a:lstStyle/>
          <a:p>
            <a:fld id="{0BC8E04C-76C2-4646-B4FE-D645B34E3502}" type="slidenum">
              <a:rPr lang="en-US" smtClean="0"/>
              <a:t>1</a:t>
            </a:fld>
            <a:endParaRPr lang="en-US"/>
          </a:p>
        </p:txBody>
      </p:sp>
      <p:sp>
        <p:nvSpPr>
          <p:cNvPr id="6" name="Footer Placeholder 5"/>
          <p:cNvSpPr>
            <a:spLocks noGrp="1"/>
          </p:cNvSpPr>
          <p:nvPr>
            <p:ph type="ftr" sz="quarter" idx="11"/>
          </p:nvPr>
        </p:nvSpPr>
        <p:spPr/>
        <p:txBody>
          <a:bodyPr/>
          <a:lstStyle/>
          <a:p>
            <a:r>
              <a:rPr lang="en-US"/>
              <a:t>CE80362: Circuit Analysis </a:t>
            </a:r>
          </a:p>
        </p:txBody>
      </p:sp>
    </p:spTree>
    <p:extLst>
      <p:ext uri="{BB962C8B-B14F-4D97-AF65-F5344CB8AC3E}">
        <p14:creationId xmlns:p14="http://schemas.microsoft.com/office/powerpoint/2010/main" val="39839547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29579"/>
          </a:xfrm>
        </p:spPr>
        <p:txBody>
          <a:bodyPr/>
          <a:lstStyle/>
          <a:p>
            <a:r>
              <a:rPr lang="en-US" dirty="0"/>
              <a:t>Definition.</a:t>
            </a:r>
          </a:p>
        </p:txBody>
      </p:sp>
      <p:sp>
        <p:nvSpPr>
          <p:cNvPr id="3" name="Content Placeholder 2"/>
          <p:cNvSpPr>
            <a:spLocks noGrp="1"/>
          </p:cNvSpPr>
          <p:nvPr>
            <p:ph idx="1"/>
          </p:nvPr>
        </p:nvSpPr>
        <p:spPr>
          <a:xfrm>
            <a:off x="0" y="978794"/>
            <a:ext cx="12192000" cy="5743978"/>
          </a:xfrm>
        </p:spPr>
        <p:txBody>
          <a:bodyPr/>
          <a:lstStyle/>
          <a:p>
            <a:r>
              <a:rPr lang="en-US" dirty="0"/>
              <a:t>The circuit elements can be categorized into two types, </a:t>
            </a:r>
          </a:p>
          <a:p>
            <a:r>
              <a:rPr lang="en-US" dirty="0"/>
              <a:t>active elements </a:t>
            </a:r>
          </a:p>
          <a:p>
            <a:r>
              <a:rPr lang="en-US" dirty="0"/>
              <a:t>passive elements. </a:t>
            </a:r>
          </a:p>
          <a:p>
            <a:r>
              <a:rPr lang="en-US" dirty="0"/>
              <a:t>A Passive element is an element which cannot deliver more energy to the circuit that what is supplied to it by the circuit. </a:t>
            </a:r>
          </a:p>
          <a:p>
            <a:r>
              <a:rPr lang="en-US" dirty="0"/>
              <a:t>Resistors, capacitors, inductors </a:t>
            </a:r>
          </a:p>
          <a:p>
            <a:r>
              <a:rPr lang="en-US" dirty="0"/>
              <a:t>An Active element, delivers more energy to the circuit than what the circuit supplies to it.</a:t>
            </a:r>
          </a:p>
          <a:p>
            <a:r>
              <a:rPr lang="en-US" dirty="0"/>
              <a:t>All Power sources (i.e. current or voltage sources) are active elements</a:t>
            </a:r>
          </a:p>
          <a:p>
            <a:r>
              <a:rPr lang="en-US" dirty="0"/>
              <a:t>Passive elements do not generate (convert from non-electrical energy) any electricity.  They may either consume energy </a:t>
            </a:r>
          </a:p>
          <a:p>
            <a:endParaRPr lang="en-US" dirty="0"/>
          </a:p>
        </p:txBody>
      </p:sp>
      <p:sp>
        <p:nvSpPr>
          <p:cNvPr id="4" name="Date Placeholder 3"/>
          <p:cNvSpPr>
            <a:spLocks noGrp="1"/>
          </p:cNvSpPr>
          <p:nvPr>
            <p:ph type="dt" sz="half" idx="10"/>
          </p:nvPr>
        </p:nvSpPr>
        <p:spPr/>
        <p:txBody>
          <a:bodyPr/>
          <a:lstStyle/>
          <a:p>
            <a:fld id="{73E0A6A1-7C96-41CA-A735-070E53DCB9F0}" type="datetime1">
              <a:rPr lang="en-US" smtClean="0"/>
              <a:t>9/29/2025</a:t>
            </a:fld>
            <a:endParaRPr lang="en-US"/>
          </a:p>
        </p:txBody>
      </p:sp>
      <p:sp>
        <p:nvSpPr>
          <p:cNvPr id="5" name="Slide Number Placeholder 4"/>
          <p:cNvSpPr>
            <a:spLocks noGrp="1"/>
          </p:cNvSpPr>
          <p:nvPr>
            <p:ph type="sldNum" sz="quarter" idx="12"/>
          </p:nvPr>
        </p:nvSpPr>
        <p:spPr/>
        <p:txBody>
          <a:bodyPr/>
          <a:lstStyle/>
          <a:p>
            <a:fld id="{0BC8E04C-76C2-4646-B4FE-D645B34E3502}" type="slidenum">
              <a:rPr lang="en-US" smtClean="0"/>
              <a:t>2</a:t>
            </a:fld>
            <a:endParaRPr lang="en-US"/>
          </a:p>
        </p:txBody>
      </p:sp>
      <p:sp>
        <p:nvSpPr>
          <p:cNvPr id="6" name="Footer Placeholder 5"/>
          <p:cNvSpPr>
            <a:spLocks noGrp="1"/>
          </p:cNvSpPr>
          <p:nvPr>
            <p:ph type="ftr" sz="quarter" idx="11"/>
          </p:nvPr>
        </p:nvSpPr>
        <p:spPr/>
        <p:txBody>
          <a:bodyPr/>
          <a:lstStyle/>
          <a:p>
            <a:r>
              <a:rPr lang="en-US"/>
              <a:t>CE80362: Circuit Analysis </a:t>
            </a:r>
          </a:p>
        </p:txBody>
      </p:sp>
    </p:spTree>
    <p:extLst>
      <p:ext uri="{BB962C8B-B14F-4D97-AF65-F5344CB8AC3E}">
        <p14:creationId xmlns:p14="http://schemas.microsoft.com/office/powerpoint/2010/main" val="40515209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68216"/>
          </a:xfrm>
        </p:spPr>
        <p:txBody>
          <a:bodyPr/>
          <a:lstStyle/>
          <a:p>
            <a:r>
              <a:rPr lang="en-US" dirty="0"/>
              <a:t>1. Resistance </a:t>
            </a:r>
          </a:p>
        </p:txBody>
      </p:sp>
      <p:sp>
        <p:nvSpPr>
          <p:cNvPr id="3" name="Content Placeholder 2"/>
          <p:cNvSpPr>
            <a:spLocks noGrp="1"/>
          </p:cNvSpPr>
          <p:nvPr>
            <p:ph idx="1"/>
          </p:nvPr>
        </p:nvSpPr>
        <p:spPr>
          <a:xfrm>
            <a:off x="154546" y="1043189"/>
            <a:ext cx="11912958" cy="5692462"/>
          </a:xfrm>
        </p:spPr>
        <p:txBody>
          <a:bodyPr/>
          <a:lstStyle/>
          <a:p>
            <a:r>
              <a:rPr lang="en-US" sz="3600" dirty="0"/>
              <a:t>Electrical resistance is the property of a material by virtue of which it opposes the flow of electrons through the material. </a:t>
            </a:r>
          </a:p>
          <a:p>
            <a:r>
              <a:rPr lang="en-US" sz="3600" dirty="0"/>
              <a:t>Thus the resistance restricts the flow of electric current through the material. </a:t>
            </a:r>
          </a:p>
          <a:p>
            <a:r>
              <a:rPr lang="en-US" sz="3600" dirty="0"/>
              <a:t>The unit resistance being “ohm” (Ω) quantitatively it is obtained from ohm’s law </a:t>
            </a:r>
          </a:p>
          <a:p>
            <a:r>
              <a:rPr lang="en-US" sz="3600" dirty="0"/>
              <a:t>The Circuit symbols for Resistance are shown in the figures below.</a:t>
            </a:r>
          </a:p>
          <a:p>
            <a:endParaRPr lang="en-US" dirty="0"/>
          </a:p>
        </p:txBody>
      </p:sp>
      <p:pic>
        <p:nvPicPr>
          <p:cNvPr id="10" name="Picture 9"/>
          <p:cNvPicPr/>
          <p:nvPr/>
        </p:nvPicPr>
        <p:blipFill>
          <a:blip r:embed="rId2">
            <a:extLst>
              <a:ext uri="{28A0092B-C50C-407E-A947-70E740481C1C}">
                <a14:useLocalDpi xmlns:a14="http://schemas.microsoft.com/office/drawing/2010/main" val="0"/>
              </a:ext>
            </a:extLst>
          </a:blip>
          <a:srcRect/>
          <a:stretch>
            <a:fillRect/>
          </a:stretch>
        </p:blipFill>
        <p:spPr bwMode="auto">
          <a:xfrm>
            <a:off x="1790164" y="5356672"/>
            <a:ext cx="7920507" cy="1108522"/>
          </a:xfrm>
          <a:prstGeom prst="rect">
            <a:avLst/>
          </a:prstGeom>
          <a:noFill/>
          <a:ln>
            <a:noFill/>
          </a:ln>
        </p:spPr>
      </p:pic>
      <p:sp>
        <p:nvSpPr>
          <p:cNvPr id="4" name="Date Placeholder 3"/>
          <p:cNvSpPr>
            <a:spLocks noGrp="1"/>
          </p:cNvSpPr>
          <p:nvPr>
            <p:ph type="dt" sz="half" idx="10"/>
          </p:nvPr>
        </p:nvSpPr>
        <p:spPr/>
        <p:txBody>
          <a:bodyPr/>
          <a:lstStyle/>
          <a:p>
            <a:fld id="{1D3378E1-5FFE-45A4-BF82-813FA4A00A1E}" type="datetime1">
              <a:rPr lang="en-US" smtClean="0"/>
              <a:t>9/29/2025</a:t>
            </a:fld>
            <a:endParaRPr lang="en-US"/>
          </a:p>
        </p:txBody>
      </p:sp>
      <p:sp>
        <p:nvSpPr>
          <p:cNvPr id="5" name="Slide Number Placeholder 4"/>
          <p:cNvSpPr>
            <a:spLocks noGrp="1"/>
          </p:cNvSpPr>
          <p:nvPr>
            <p:ph type="sldNum" sz="quarter" idx="12"/>
          </p:nvPr>
        </p:nvSpPr>
        <p:spPr/>
        <p:txBody>
          <a:bodyPr/>
          <a:lstStyle/>
          <a:p>
            <a:fld id="{0BC8E04C-76C2-4646-B4FE-D645B34E3502}" type="slidenum">
              <a:rPr lang="en-US" smtClean="0"/>
              <a:t>3</a:t>
            </a:fld>
            <a:endParaRPr lang="en-US"/>
          </a:p>
        </p:txBody>
      </p:sp>
      <p:sp>
        <p:nvSpPr>
          <p:cNvPr id="6" name="Footer Placeholder 5"/>
          <p:cNvSpPr>
            <a:spLocks noGrp="1"/>
          </p:cNvSpPr>
          <p:nvPr>
            <p:ph type="ftr" sz="quarter" idx="11"/>
          </p:nvPr>
        </p:nvSpPr>
        <p:spPr/>
        <p:txBody>
          <a:bodyPr/>
          <a:lstStyle/>
          <a:p>
            <a:r>
              <a:rPr lang="en-US"/>
              <a:t>CE80362: Circuit Analysis </a:t>
            </a:r>
          </a:p>
        </p:txBody>
      </p:sp>
    </p:spTree>
    <p:extLst>
      <p:ext uri="{BB962C8B-B14F-4D97-AF65-F5344CB8AC3E}">
        <p14:creationId xmlns:p14="http://schemas.microsoft.com/office/powerpoint/2010/main" val="9592036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29578"/>
          </a:xfrm>
        </p:spPr>
        <p:txBody>
          <a:bodyPr>
            <a:normAutofit/>
          </a:bodyPr>
          <a:lstStyle/>
          <a:p>
            <a:r>
              <a:rPr lang="en-US" b="1" dirty="0"/>
              <a:t>The Ohm’s Law</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206062" y="1094704"/>
                <a:ext cx="11706896" cy="5602310"/>
              </a:xfrm>
            </p:spPr>
            <p:txBody>
              <a:bodyPr/>
              <a:lstStyle/>
              <a:p>
                <a:r>
                  <a:rPr lang="en-US" sz="3600" dirty="0"/>
                  <a:t>This law was first described by Professor Georg Simon Ohm (1791-1867) in a pamphlet.</a:t>
                </a:r>
              </a:p>
              <a:p>
                <a:r>
                  <a:rPr lang="en-US" sz="3600" dirty="0"/>
                  <a:t>It states that “physical condition being unchanged, the current through any conductor is directly proportional to the applied potential difference across it”.</a:t>
                </a:r>
              </a:p>
              <a:p>
                <a:r>
                  <a:rPr lang="en-US" sz="3600" dirty="0" err="1"/>
                  <a:t>ie</a:t>
                </a:r>
                <a:r>
                  <a:rPr lang="en-US" sz="3600" dirty="0"/>
                  <a:t> V αI </a:t>
                </a:r>
              </a:p>
              <a:p>
                <a:r>
                  <a:rPr lang="en-US" sz="3600" dirty="0"/>
                  <a:t>Or V=IR, R being the constant of proportionality termed as Resistance</a:t>
                </a:r>
              </a:p>
              <a:p>
                <a:r>
                  <a:rPr lang="en-US" sz="3600" dirty="0"/>
                  <a:t>Therefore </a:t>
                </a:r>
                <a14:m>
                  <m:oMath xmlns:m="http://schemas.openxmlformats.org/officeDocument/2006/math">
                    <m:r>
                      <a:rPr lang="en-US" sz="3600" i="1">
                        <a:latin typeface="Cambria Math" panose="02040503050406030204" pitchFamily="18" charset="0"/>
                      </a:rPr>
                      <m:t>𝑅</m:t>
                    </m:r>
                    <m:r>
                      <a:rPr lang="en-US" sz="3600" i="1">
                        <a:latin typeface="Cambria Math" panose="02040503050406030204" pitchFamily="18" charset="0"/>
                      </a:rPr>
                      <m:t>=</m:t>
                    </m:r>
                    <m:f>
                      <m:fPr>
                        <m:ctrlPr>
                          <a:rPr lang="en-US" sz="3600" i="1">
                            <a:latin typeface="Cambria Math" panose="02040503050406030204" pitchFamily="18" charset="0"/>
                          </a:rPr>
                        </m:ctrlPr>
                      </m:fPr>
                      <m:num>
                        <m:r>
                          <a:rPr lang="en-US" sz="3600" i="1">
                            <a:latin typeface="Cambria Math" panose="02040503050406030204" pitchFamily="18" charset="0"/>
                          </a:rPr>
                          <m:t>𝑉</m:t>
                        </m:r>
                      </m:num>
                      <m:den>
                        <m:r>
                          <a:rPr lang="en-US" sz="3600" i="1">
                            <a:latin typeface="Cambria Math" panose="02040503050406030204" pitchFamily="18" charset="0"/>
                          </a:rPr>
                          <m:t>𝐼</m:t>
                        </m:r>
                      </m:den>
                    </m:f>
                  </m:oMath>
                </a14:m>
                <a:r>
                  <a:rPr lang="en-US" sz="3600" dirty="0"/>
                  <a:t> </a:t>
                </a:r>
              </a:p>
              <a:p>
                <a:endParaRPr lang="en-US" sz="3600"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206062" y="1094704"/>
                <a:ext cx="11706896" cy="5602310"/>
              </a:xfrm>
              <a:blipFill rotWithShape="0">
                <a:blip r:embed="rId2"/>
                <a:stretch>
                  <a:fillRect l="-1458" t="-2720" r="-1875"/>
                </a:stretch>
              </a:blipFill>
            </p:spPr>
            <p:txBody>
              <a:bodyPr/>
              <a:lstStyle/>
              <a:p>
                <a:r>
                  <a:rPr lang="en-US">
                    <a:noFill/>
                  </a:rPr>
                  <a:t> </a:t>
                </a:r>
              </a:p>
            </p:txBody>
          </p:sp>
        </mc:Fallback>
      </mc:AlternateContent>
      <p:sp>
        <p:nvSpPr>
          <p:cNvPr id="4" name="Date Placeholder 3"/>
          <p:cNvSpPr>
            <a:spLocks noGrp="1"/>
          </p:cNvSpPr>
          <p:nvPr>
            <p:ph type="dt" sz="half" idx="10"/>
          </p:nvPr>
        </p:nvSpPr>
        <p:spPr/>
        <p:txBody>
          <a:bodyPr/>
          <a:lstStyle/>
          <a:p>
            <a:fld id="{883CFE17-0A7D-40E1-9A11-0EF437C58185}" type="datetime1">
              <a:rPr lang="en-US" smtClean="0"/>
              <a:t>9/29/2025</a:t>
            </a:fld>
            <a:endParaRPr lang="en-US"/>
          </a:p>
        </p:txBody>
      </p:sp>
      <p:sp>
        <p:nvSpPr>
          <p:cNvPr id="5" name="Slide Number Placeholder 4"/>
          <p:cNvSpPr>
            <a:spLocks noGrp="1"/>
          </p:cNvSpPr>
          <p:nvPr>
            <p:ph type="sldNum" sz="quarter" idx="12"/>
          </p:nvPr>
        </p:nvSpPr>
        <p:spPr/>
        <p:txBody>
          <a:bodyPr/>
          <a:lstStyle/>
          <a:p>
            <a:fld id="{0BC8E04C-76C2-4646-B4FE-D645B34E3502}" type="slidenum">
              <a:rPr lang="en-US" smtClean="0"/>
              <a:t>4</a:t>
            </a:fld>
            <a:endParaRPr lang="en-US"/>
          </a:p>
        </p:txBody>
      </p:sp>
      <p:sp>
        <p:nvSpPr>
          <p:cNvPr id="6" name="Footer Placeholder 5"/>
          <p:cNvSpPr>
            <a:spLocks noGrp="1"/>
          </p:cNvSpPr>
          <p:nvPr>
            <p:ph type="ftr" sz="quarter" idx="11"/>
          </p:nvPr>
        </p:nvSpPr>
        <p:spPr/>
        <p:txBody>
          <a:bodyPr/>
          <a:lstStyle/>
          <a:p>
            <a:r>
              <a:rPr lang="en-US"/>
              <a:t>CE80362: Circuit Analysis </a:t>
            </a:r>
          </a:p>
        </p:txBody>
      </p:sp>
    </p:spTree>
    <p:extLst>
      <p:ext uri="{BB962C8B-B14F-4D97-AF65-F5344CB8AC3E}">
        <p14:creationId xmlns:p14="http://schemas.microsoft.com/office/powerpoint/2010/main" val="34422797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459123"/>
          </a:xfrm>
        </p:spPr>
        <p:txBody>
          <a:bodyPr>
            <a:normAutofit fontScale="90000"/>
          </a:bodyPr>
          <a:lstStyle/>
          <a:p>
            <a:r>
              <a:rPr lang="en-US" b="1" dirty="0"/>
              <a:t>The Ohm’s Law </a:t>
            </a:r>
            <a:r>
              <a:rPr lang="en-US" b="1" dirty="0" err="1"/>
              <a:t>contd</a:t>
            </a:r>
            <a:r>
              <a:rPr lang="en-US" b="1" dirty="0"/>
              <a:t>’</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03031" y="1001376"/>
                <a:ext cx="11250769" cy="5489575"/>
              </a:xfrm>
            </p:spPr>
            <p:txBody>
              <a:bodyPr/>
              <a:lstStyle/>
              <a:p>
                <a:r>
                  <a:rPr lang="en-US" sz="3200" dirty="0"/>
                  <a:t>When an electric current flows through any conductor, heat is generated due to collision of free electrons with atoms.</a:t>
                </a:r>
              </a:p>
              <a:p>
                <a:r>
                  <a:rPr lang="en-US" sz="3200" dirty="0"/>
                  <a:t> Let I amps be the strength of current for a potential difference of V volts across the conductor, </a:t>
                </a:r>
              </a:p>
              <a:p>
                <a:r>
                  <a:rPr lang="en-US" sz="3200" dirty="0"/>
                  <a:t>Then the power absorbed by the resistor is given by </a:t>
                </a:r>
              </a:p>
              <a:p>
                <a:pPr marL="0" indent="0">
                  <a:buNone/>
                </a:pPr>
                <a:r>
                  <a:rPr lang="en-US" sz="3200" dirty="0"/>
                  <a:t>       </a:t>
                </a:r>
                <a14:m>
                  <m:oMath xmlns:m="http://schemas.openxmlformats.org/officeDocument/2006/math">
                    <m:r>
                      <a:rPr lang="en-US" sz="3200" i="1">
                        <a:latin typeface="Cambria Math" panose="02040503050406030204" pitchFamily="18" charset="0"/>
                      </a:rPr>
                      <m:t>𝑃</m:t>
                    </m:r>
                    <m:r>
                      <a:rPr lang="en-US" sz="3200" i="1">
                        <a:latin typeface="Cambria Math" panose="02040503050406030204" pitchFamily="18" charset="0"/>
                      </a:rPr>
                      <m:t>=</m:t>
                    </m:r>
                    <m:r>
                      <a:rPr lang="en-US" sz="3200" i="1">
                        <a:latin typeface="Cambria Math" panose="02040503050406030204" pitchFamily="18" charset="0"/>
                      </a:rPr>
                      <m:t>𝑉𝐼</m:t>
                    </m:r>
                    <m:r>
                      <a:rPr lang="en-US" sz="3200" i="1">
                        <a:latin typeface="Cambria Math" panose="02040503050406030204" pitchFamily="18" charset="0"/>
                      </a:rPr>
                      <m:t>=</m:t>
                    </m:r>
                    <m:d>
                      <m:dPr>
                        <m:ctrlPr>
                          <a:rPr lang="en-US" sz="3200" i="1">
                            <a:latin typeface="Cambria Math" panose="02040503050406030204" pitchFamily="18" charset="0"/>
                          </a:rPr>
                        </m:ctrlPr>
                      </m:dPr>
                      <m:e>
                        <m:r>
                          <a:rPr lang="en-US" sz="3200" i="1">
                            <a:latin typeface="Cambria Math" panose="02040503050406030204" pitchFamily="18" charset="0"/>
                          </a:rPr>
                          <m:t>𝐼𝑅</m:t>
                        </m:r>
                      </m:e>
                    </m:d>
                    <m:r>
                      <a:rPr lang="en-US" sz="3200" i="1">
                        <a:latin typeface="Cambria Math" panose="02040503050406030204" pitchFamily="18" charset="0"/>
                      </a:rPr>
                      <m:t>𝐼</m:t>
                    </m:r>
                    <m:r>
                      <a:rPr lang="en-US" sz="3200" i="1">
                        <a:latin typeface="Cambria Math" panose="02040503050406030204" pitchFamily="18" charset="0"/>
                      </a:rPr>
                      <m:t>= </m:t>
                    </m:r>
                    <m:sSup>
                      <m:sSupPr>
                        <m:ctrlPr>
                          <a:rPr lang="en-US" sz="3200" i="1">
                            <a:latin typeface="Cambria Math" panose="02040503050406030204" pitchFamily="18" charset="0"/>
                          </a:rPr>
                        </m:ctrlPr>
                      </m:sSupPr>
                      <m:e>
                        <m:r>
                          <a:rPr lang="en-US" sz="3200" i="1">
                            <a:latin typeface="Cambria Math" panose="02040503050406030204" pitchFamily="18" charset="0"/>
                          </a:rPr>
                          <m:t>𝐼</m:t>
                        </m:r>
                      </m:e>
                      <m:sup>
                        <m:r>
                          <a:rPr lang="en-US" sz="3200" i="1">
                            <a:latin typeface="Cambria Math" panose="02040503050406030204" pitchFamily="18" charset="0"/>
                          </a:rPr>
                          <m:t>2</m:t>
                        </m:r>
                      </m:sup>
                    </m:sSup>
                    <m:r>
                      <a:rPr lang="en-US" sz="3200" i="1">
                        <a:latin typeface="Cambria Math" panose="02040503050406030204" pitchFamily="18" charset="0"/>
                      </a:rPr>
                      <m:t>𝑅</m:t>
                    </m:r>
                  </m:oMath>
                </a14:m>
                <a:r>
                  <a:rPr lang="en-US" sz="3200" dirty="0"/>
                  <a:t> Watts</a:t>
                </a:r>
              </a:p>
              <a:p>
                <a:r>
                  <a:rPr lang="en-US" sz="3200" dirty="0"/>
                  <a:t>And the energy lost in the resistance in form of heat is then expressed as</a:t>
                </a:r>
              </a:p>
              <a:p>
                <a:pPr marL="0" indent="0">
                  <a:buNone/>
                </a:pPr>
                <a:r>
                  <a:rPr lang="en-US" sz="3200" dirty="0"/>
                  <a:t>     </a:t>
                </a:r>
                <a14:m>
                  <m:oMath xmlns:m="http://schemas.openxmlformats.org/officeDocument/2006/math">
                    <m:r>
                      <a:rPr lang="en-US" sz="3200" i="1">
                        <a:latin typeface="Cambria Math" panose="02040503050406030204" pitchFamily="18" charset="0"/>
                      </a:rPr>
                      <m:t>𝑤</m:t>
                    </m:r>
                    <m:r>
                      <a:rPr lang="en-US" sz="3200" i="1">
                        <a:latin typeface="Cambria Math" panose="02040503050406030204" pitchFamily="18" charset="0"/>
                      </a:rPr>
                      <m:t>=</m:t>
                    </m:r>
                    <m:nary>
                      <m:naryPr>
                        <m:limLoc m:val="undOvr"/>
                        <m:ctrlPr>
                          <a:rPr lang="en-US" sz="3200" i="1">
                            <a:latin typeface="Cambria Math" panose="02040503050406030204" pitchFamily="18" charset="0"/>
                          </a:rPr>
                        </m:ctrlPr>
                      </m:naryPr>
                      <m:sub>
                        <m:r>
                          <a:rPr lang="en-US" sz="3200" i="1">
                            <a:latin typeface="Cambria Math" panose="02040503050406030204" pitchFamily="18" charset="0"/>
                          </a:rPr>
                          <m:t>0</m:t>
                        </m:r>
                      </m:sub>
                      <m:sup>
                        <m:r>
                          <a:rPr lang="en-US" sz="3200" i="1">
                            <a:latin typeface="Cambria Math" panose="02040503050406030204" pitchFamily="18" charset="0"/>
                          </a:rPr>
                          <m:t>𝑡</m:t>
                        </m:r>
                      </m:sup>
                      <m:e>
                        <m:r>
                          <a:rPr lang="en-US" sz="3200" i="1">
                            <a:latin typeface="Cambria Math" panose="02040503050406030204" pitchFamily="18" charset="0"/>
                          </a:rPr>
                          <m:t>𝑃</m:t>
                        </m:r>
                        <m:r>
                          <a:rPr lang="en-US" sz="3200" i="1">
                            <a:latin typeface="Cambria Math" panose="02040503050406030204" pitchFamily="18" charset="0"/>
                          </a:rPr>
                          <m:t>.</m:t>
                        </m:r>
                        <m:r>
                          <a:rPr lang="en-US" sz="3200" i="1">
                            <a:latin typeface="Cambria Math" panose="02040503050406030204" pitchFamily="18" charset="0"/>
                          </a:rPr>
                          <m:t>𝑑𝑡</m:t>
                        </m:r>
                      </m:e>
                    </m:nary>
                    <m:r>
                      <a:rPr lang="en-US" sz="3200" i="1">
                        <a:latin typeface="Cambria Math" panose="02040503050406030204" pitchFamily="18" charset="0"/>
                      </a:rPr>
                      <m:t>=</m:t>
                    </m:r>
                    <m:r>
                      <a:rPr lang="en-US" sz="3200" i="1">
                        <a:latin typeface="Cambria Math" panose="02040503050406030204" pitchFamily="18" charset="0"/>
                      </a:rPr>
                      <m:t>𝑃𝑡</m:t>
                    </m:r>
                    <m:r>
                      <a:rPr lang="en-US" sz="3200" i="1">
                        <a:latin typeface="Cambria Math" panose="02040503050406030204" pitchFamily="18" charset="0"/>
                      </a:rPr>
                      <m:t>=</m:t>
                    </m:r>
                    <m:sSup>
                      <m:sSupPr>
                        <m:ctrlPr>
                          <a:rPr lang="en-US" sz="3200" i="1">
                            <a:latin typeface="Cambria Math" panose="02040503050406030204" pitchFamily="18" charset="0"/>
                          </a:rPr>
                        </m:ctrlPr>
                      </m:sSupPr>
                      <m:e>
                        <m:r>
                          <a:rPr lang="en-US" sz="3200" i="1">
                            <a:latin typeface="Cambria Math" panose="02040503050406030204" pitchFamily="18" charset="0"/>
                          </a:rPr>
                          <m:t>𝐼</m:t>
                        </m:r>
                      </m:e>
                      <m:sup>
                        <m:r>
                          <a:rPr lang="en-US" sz="3200" i="1">
                            <a:latin typeface="Cambria Math" panose="02040503050406030204" pitchFamily="18" charset="0"/>
                          </a:rPr>
                          <m:t>2</m:t>
                        </m:r>
                      </m:sup>
                    </m:sSup>
                    <m:r>
                      <a:rPr lang="en-US" sz="3200" i="1">
                        <a:latin typeface="Cambria Math" panose="02040503050406030204" pitchFamily="18" charset="0"/>
                      </a:rPr>
                      <m:t>𝑅𝑡</m:t>
                    </m:r>
                    <m:r>
                      <a:rPr lang="en-US" sz="3200" i="1">
                        <a:latin typeface="Cambria Math" panose="02040503050406030204" pitchFamily="18" charset="0"/>
                      </a:rPr>
                      <m:t>=</m:t>
                    </m:r>
                    <m:f>
                      <m:fPr>
                        <m:ctrlPr>
                          <a:rPr lang="en-US" sz="3200" i="1" smtClean="0">
                            <a:solidFill>
                              <a:srgbClr val="FF0000"/>
                            </a:solidFill>
                            <a:latin typeface="Cambria Math" panose="02040503050406030204" pitchFamily="18" charset="0"/>
                          </a:rPr>
                        </m:ctrlPr>
                      </m:fPr>
                      <m:num>
                        <m:sSup>
                          <m:sSupPr>
                            <m:ctrlPr>
                              <a:rPr lang="en-US" sz="3200" i="1">
                                <a:solidFill>
                                  <a:srgbClr val="FF0000"/>
                                </a:solidFill>
                                <a:latin typeface="Cambria Math" panose="02040503050406030204" pitchFamily="18" charset="0"/>
                              </a:rPr>
                            </m:ctrlPr>
                          </m:sSupPr>
                          <m:e>
                            <m:r>
                              <a:rPr lang="en-US" sz="3200" i="1">
                                <a:solidFill>
                                  <a:srgbClr val="FF0000"/>
                                </a:solidFill>
                                <a:latin typeface="Cambria Math" panose="02040503050406030204" pitchFamily="18" charset="0"/>
                              </a:rPr>
                              <m:t>𝑉</m:t>
                            </m:r>
                          </m:e>
                          <m:sup>
                            <m:r>
                              <a:rPr lang="en-US" sz="3200" i="1">
                                <a:solidFill>
                                  <a:srgbClr val="FF0000"/>
                                </a:solidFill>
                                <a:latin typeface="Cambria Math" panose="02040503050406030204" pitchFamily="18" charset="0"/>
                              </a:rPr>
                              <m:t>2</m:t>
                            </m:r>
                          </m:sup>
                        </m:sSup>
                      </m:num>
                      <m:den>
                        <m:r>
                          <a:rPr lang="en-US" sz="3200" i="1">
                            <a:solidFill>
                              <a:srgbClr val="FF0000"/>
                            </a:solidFill>
                            <a:latin typeface="Cambria Math" panose="02040503050406030204" pitchFamily="18" charset="0"/>
                          </a:rPr>
                          <m:t>𝑅</m:t>
                        </m:r>
                      </m:den>
                    </m:f>
                    <m:r>
                      <a:rPr lang="en-US" sz="3200" b="0" i="1" smtClean="0">
                        <a:solidFill>
                          <a:srgbClr val="FF0000"/>
                        </a:solidFill>
                        <a:latin typeface="Cambria Math"/>
                      </a:rPr>
                      <m:t>𝑡</m:t>
                    </m:r>
                  </m:oMath>
                </a14:m>
                <a:endParaRPr lang="en-US" sz="3200"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03031" y="1001376"/>
                <a:ext cx="11250769" cy="5489575"/>
              </a:xfrm>
              <a:blipFill rotWithShape="1">
                <a:blip r:embed="rId2"/>
                <a:stretch>
                  <a:fillRect l="-1246" t="-2331" r="-1463"/>
                </a:stretch>
              </a:blipFill>
            </p:spPr>
            <p:txBody>
              <a:bodyPr/>
              <a:lstStyle/>
              <a:p>
                <a:r>
                  <a:rPr lang="en-US">
                    <a:noFill/>
                  </a:rPr>
                  <a:t> </a:t>
                </a:r>
              </a:p>
            </p:txBody>
          </p:sp>
        </mc:Fallback>
      </mc:AlternateContent>
      <p:sp>
        <p:nvSpPr>
          <p:cNvPr id="4" name="Date Placeholder 3"/>
          <p:cNvSpPr>
            <a:spLocks noGrp="1"/>
          </p:cNvSpPr>
          <p:nvPr>
            <p:ph type="dt" sz="half" idx="10"/>
          </p:nvPr>
        </p:nvSpPr>
        <p:spPr/>
        <p:txBody>
          <a:bodyPr/>
          <a:lstStyle/>
          <a:p>
            <a:fld id="{BF4F9F3F-9B80-41FE-91DD-3843BE2A0EE3}" type="datetime1">
              <a:rPr lang="en-US" smtClean="0"/>
              <a:t>9/29/2025</a:t>
            </a:fld>
            <a:endParaRPr lang="en-US"/>
          </a:p>
        </p:txBody>
      </p:sp>
      <p:sp>
        <p:nvSpPr>
          <p:cNvPr id="5" name="Slide Number Placeholder 4"/>
          <p:cNvSpPr>
            <a:spLocks noGrp="1"/>
          </p:cNvSpPr>
          <p:nvPr>
            <p:ph type="sldNum" sz="quarter" idx="12"/>
          </p:nvPr>
        </p:nvSpPr>
        <p:spPr/>
        <p:txBody>
          <a:bodyPr/>
          <a:lstStyle/>
          <a:p>
            <a:fld id="{0BC8E04C-76C2-4646-B4FE-D645B34E3502}" type="slidenum">
              <a:rPr lang="en-US" smtClean="0"/>
              <a:t>5</a:t>
            </a:fld>
            <a:endParaRPr lang="en-US"/>
          </a:p>
        </p:txBody>
      </p:sp>
      <p:sp>
        <p:nvSpPr>
          <p:cNvPr id="6" name="Footer Placeholder 5"/>
          <p:cNvSpPr>
            <a:spLocks noGrp="1"/>
          </p:cNvSpPr>
          <p:nvPr>
            <p:ph type="ftr" sz="quarter" idx="11"/>
          </p:nvPr>
        </p:nvSpPr>
        <p:spPr/>
        <p:txBody>
          <a:bodyPr/>
          <a:lstStyle/>
          <a:p>
            <a:r>
              <a:rPr lang="en-US"/>
              <a:t>CE80362: Circuit Analysis </a:t>
            </a:r>
          </a:p>
        </p:txBody>
      </p:sp>
    </p:spTree>
    <p:extLst>
      <p:ext uri="{BB962C8B-B14F-4D97-AF65-F5344CB8AC3E}">
        <p14:creationId xmlns:p14="http://schemas.microsoft.com/office/powerpoint/2010/main" val="26755218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407607"/>
          </a:xfrm>
        </p:spPr>
        <p:txBody>
          <a:bodyPr>
            <a:normAutofit fontScale="90000"/>
          </a:bodyPr>
          <a:lstStyle/>
          <a:p>
            <a:r>
              <a:rPr lang="en-US" b="1" dirty="0"/>
              <a:t>2 Inductance </a:t>
            </a:r>
            <a:endParaRPr lang="en-US" dirty="0"/>
          </a:p>
        </p:txBody>
      </p:sp>
      <p:sp>
        <p:nvSpPr>
          <p:cNvPr id="3" name="Content Placeholder 2"/>
          <p:cNvSpPr>
            <a:spLocks noGrp="1"/>
          </p:cNvSpPr>
          <p:nvPr>
            <p:ph idx="1"/>
          </p:nvPr>
        </p:nvSpPr>
        <p:spPr>
          <a:xfrm>
            <a:off x="103031" y="772732"/>
            <a:ext cx="11964473" cy="5988676"/>
          </a:xfrm>
        </p:spPr>
        <p:txBody>
          <a:bodyPr/>
          <a:lstStyle/>
          <a:p>
            <a:r>
              <a:rPr lang="en-US" sz="3600" dirty="0"/>
              <a:t>The inductance is the property of a material by virtue of which it opposes any change of magnitude or direction of electric current passing through the conductor.</a:t>
            </a:r>
          </a:p>
          <a:p>
            <a:r>
              <a:rPr lang="en-US" sz="3600" dirty="0"/>
              <a:t> The unit of inductance being “henry” (L),</a:t>
            </a:r>
          </a:p>
          <a:p>
            <a:r>
              <a:rPr lang="en-US" sz="3600" dirty="0"/>
              <a:t>It is given by Faraday’s law of electromagnetic induction. </a:t>
            </a:r>
          </a:p>
          <a:p>
            <a:r>
              <a:rPr lang="en-US" sz="3600" dirty="0"/>
              <a:t>Inductance is said to be one henry when current through a coil of conductor changes at the rate of one ampere per second inducing one volt across the coil</a:t>
            </a:r>
            <a:r>
              <a:rPr lang="en-US" dirty="0"/>
              <a:t>.</a:t>
            </a:r>
          </a:p>
          <a:p>
            <a:endParaRPr lang="en-US" dirty="0"/>
          </a:p>
        </p:txBody>
      </p:sp>
      <p:pic>
        <p:nvPicPr>
          <p:cNvPr id="4" name="Picture 3"/>
          <p:cNvPicPr/>
          <p:nvPr/>
        </p:nvPicPr>
        <p:blipFill>
          <a:blip r:embed="rId2">
            <a:extLst>
              <a:ext uri="{28A0092B-C50C-407E-A947-70E740481C1C}">
                <a14:useLocalDpi xmlns:a14="http://schemas.microsoft.com/office/drawing/2010/main" val="0"/>
              </a:ext>
            </a:extLst>
          </a:blip>
          <a:srcRect/>
          <a:stretch>
            <a:fillRect/>
          </a:stretch>
        </p:blipFill>
        <p:spPr bwMode="auto">
          <a:xfrm>
            <a:off x="2421697" y="5403425"/>
            <a:ext cx="6773818" cy="1229195"/>
          </a:xfrm>
          <a:prstGeom prst="rect">
            <a:avLst/>
          </a:prstGeom>
          <a:noFill/>
          <a:ln>
            <a:noFill/>
          </a:ln>
        </p:spPr>
      </p:pic>
      <p:sp>
        <p:nvSpPr>
          <p:cNvPr id="5" name="Date Placeholder 4"/>
          <p:cNvSpPr>
            <a:spLocks noGrp="1"/>
          </p:cNvSpPr>
          <p:nvPr>
            <p:ph type="dt" sz="half" idx="10"/>
          </p:nvPr>
        </p:nvSpPr>
        <p:spPr/>
        <p:txBody>
          <a:bodyPr/>
          <a:lstStyle/>
          <a:p>
            <a:fld id="{DC2CA758-F7E1-4EA8-9F07-17CBBAAD318D}" type="datetime1">
              <a:rPr lang="en-US" smtClean="0"/>
              <a:t>9/29/2025</a:t>
            </a:fld>
            <a:endParaRPr lang="en-US"/>
          </a:p>
        </p:txBody>
      </p:sp>
      <p:sp>
        <p:nvSpPr>
          <p:cNvPr id="6" name="Slide Number Placeholder 5"/>
          <p:cNvSpPr>
            <a:spLocks noGrp="1"/>
          </p:cNvSpPr>
          <p:nvPr>
            <p:ph type="sldNum" sz="quarter" idx="12"/>
          </p:nvPr>
        </p:nvSpPr>
        <p:spPr/>
        <p:txBody>
          <a:bodyPr/>
          <a:lstStyle/>
          <a:p>
            <a:fld id="{0BC8E04C-76C2-4646-B4FE-D645B34E3502}" type="slidenum">
              <a:rPr lang="en-US" smtClean="0"/>
              <a:t>6</a:t>
            </a:fld>
            <a:endParaRPr lang="en-US"/>
          </a:p>
        </p:txBody>
      </p:sp>
      <p:sp>
        <p:nvSpPr>
          <p:cNvPr id="7" name="Footer Placeholder 6"/>
          <p:cNvSpPr>
            <a:spLocks noGrp="1"/>
          </p:cNvSpPr>
          <p:nvPr>
            <p:ph type="ftr" sz="quarter" idx="11"/>
          </p:nvPr>
        </p:nvSpPr>
        <p:spPr/>
        <p:txBody>
          <a:bodyPr/>
          <a:lstStyle/>
          <a:p>
            <a:r>
              <a:rPr lang="en-US"/>
              <a:t>CE80362: Circuit Analysis </a:t>
            </a:r>
          </a:p>
        </p:txBody>
      </p:sp>
    </p:spTree>
    <p:extLst>
      <p:ext uri="{BB962C8B-B14F-4D97-AF65-F5344CB8AC3E}">
        <p14:creationId xmlns:p14="http://schemas.microsoft.com/office/powerpoint/2010/main" val="19483155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484881"/>
          </a:xfrm>
        </p:spPr>
        <p:txBody>
          <a:bodyPr>
            <a:normAutofit fontScale="90000"/>
          </a:bodyPr>
          <a:lstStyle/>
          <a:p>
            <a:r>
              <a:rPr lang="en-US" dirty="0" err="1"/>
              <a:t>Cntd</a:t>
            </a:r>
            <a:r>
              <a:rPr lang="en-US" dirty="0"/>
              <a:t>’</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93183" y="1068946"/>
                <a:ext cx="11732654" cy="5525037"/>
              </a:xfrm>
            </p:spPr>
            <p:txBody>
              <a:bodyPr>
                <a:normAutofit/>
              </a:bodyPr>
              <a:lstStyle/>
              <a:p>
                <a:r>
                  <a:rPr lang="en-US" dirty="0"/>
                  <a:t>A wire of finite length, when twisted into a coil, it becomes a simplest inductor. </a:t>
                </a:r>
              </a:p>
              <a:p>
                <a:r>
                  <a:rPr lang="en-US" dirty="0"/>
                  <a:t>As soon as current will flow through the coil an electromagnetic field is formed. </a:t>
                </a:r>
              </a:p>
              <a:p>
                <a:pPr algn="just"/>
                <a:r>
                  <a:rPr lang="en-US" dirty="0"/>
                  <a:t>However, with any change of flow or direction of current, an electromagnetic field changes. </a:t>
                </a:r>
              </a:p>
              <a:p>
                <a:r>
                  <a:rPr lang="en-US" dirty="0"/>
                  <a:t>This change of field induces the voltage (v) across the coil and is given by</a:t>
                </a:r>
              </a:p>
              <a:p>
                <a14:m>
                  <m:oMath xmlns:m="http://schemas.openxmlformats.org/officeDocument/2006/math">
                    <m:r>
                      <a:rPr lang="en-US" i="1">
                        <a:latin typeface="Cambria Math" panose="02040503050406030204" pitchFamily="18" charset="0"/>
                      </a:rPr>
                      <m:t>𝑣</m:t>
                    </m:r>
                    <m:r>
                      <a:rPr lang="en-US" i="1">
                        <a:latin typeface="Cambria Math" panose="02040503050406030204" pitchFamily="18" charset="0"/>
                      </a:rPr>
                      <m:t>=</m:t>
                    </m:r>
                    <m:r>
                      <a:rPr lang="en-US" i="1">
                        <a:latin typeface="Cambria Math" panose="02040503050406030204" pitchFamily="18" charset="0"/>
                      </a:rPr>
                      <m:t>𝐿</m:t>
                    </m:r>
                    <m:f>
                      <m:fPr>
                        <m:ctrlPr>
                          <a:rPr lang="en-US" i="1">
                            <a:latin typeface="Cambria Math" panose="02040503050406030204" pitchFamily="18" charset="0"/>
                          </a:rPr>
                        </m:ctrlPr>
                      </m:fPr>
                      <m:num>
                        <m:r>
                          <a:rPr lang="en-US" i="1">
                            <a:latin typeface="Cambria Math" panose="02040503050406030204" pitchFamily="18" charset="0"/>
                          </a:rPr>
                          <m:t>𝑑𝑖</m:t>
                        </m:r>
                      </m:num>
                      <m:den>
                        <m:r>
                          <a:rPr lang="en-US" i="1">
                            <a:latin typeface="Cambria Math" panose="02040503050406030204" pitchFamily="18" charset="0"/>
                          </a:rPr>
                          <m:t>𝑑𝑡</m:t>
                        </m:r>
                      </m:den>
                    </m:f>
                  </m:oMath>
                </a14:m>
                <a:r>
                  <a:rPr lang="en-US" dirty="0"/>
                  <a:t> </a:t>
                </a:r>
              </a:p>
              <a:p>
                <a:r>
                  <a:rPr lang="en-US" dirty="0"/>
                  <a:t>Where </a:t>
                </a:r>
                <a:r>
                  <a:rPr lang="en-US" b="1" i="1" dirty="0" err="1"/>
                  <a:t>i</a:t>
                </a:r>
                <a:r>
                  <a:rPr lang="en-US" b="1" i="1" dirty="0"/>
                  <a:t> </a:t>
                </a:r>
                <a:r>
                  <a:rPr lang="en-US" dirty="0"/>
                  <a:t>is the current through the inductor in ampere.</a:t>
                </a:r>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93183" y="1068946"/>
                <a:ext cx="11732654" cy="5525037"/>
              </a:xfrm>
              <a:blipFill rotWithShape="1">
                <a:blip r:embed="rId2"/>
                <a:stretch>
                  <a:fillRect l="-936" t="-1764" r="-1091"/>
                </a:stretch>
              </a:blipFill>
            </p:spPr>
            <p:txBody>
              <a:bodyPr/>
              <a:lstStyle/>
              <a:p>
                <a:r>
                  <a:rPr lang="en-US">
                    <a:noFill/>
                  </a:rPr>
                  <a:t> </a:t>
                </a:r>
              </a:p>
            </p:txBody>
          </p:sp>
        </mc:Fallback>
      </mc:AlternateContent>
      <p:sp>
        <p:nvSpPr>
          <p:cNvPr id="4" name="Date Placeholder 3"/>
          <p:cNvSpPr>
            <a:spLocks noGrp="1"/>
          </p:cNvSpPr>
          <p:nvPr>
            <p:ph type="dt" sz="half" idx="10"/>
          </p:nvPr>
        </p:nvSpPr>
        <p:spPr/>
        <p:txBody>
          <a:bodyPr/>
          <a:lstStyle/>
          <a:p>
            <a:fld id="{F58FC855-C468-400E-BB18-9147FF4E02DD}" type="datetime1">
              <a:rPr lang="en-US" smtClean="0"/>
              <a:t>9/29/2025</a:t>
            </a:fld>
            <a:endParaRPr lang="en-US"/>
          </a:p>
        </p:txBody>
      </p:sp>
      <p:sp>
        <p:nvSpPr>
          <p:cNvPr id="5" name="Slide Number Placeholder 4"/>
          <p:cNvSpPr>
            <a:spLocks noGrp="1"/>
          </p:cNvSpPr>
          <p:nvPr>
            <p:ph type="sldNum" sz="quarter" idx="12"/>
          </p:nvPr>
        </p:nvSpPr>
        <p:spPr/>
        <p:txBody>
          <a:bodyPr/>
          <a:lstStyle/>
          <a:p>
            <a:fld id="{0BC8E04C-76C2-4646-B4FE-D645B34E3502}" type="slidenum">
              <a:rPr lang="en-US" smtClean="0"/>
              <a:t>7</a:t>
            </a:fld>
            <a:endParaRPr lang="en-US"/>
          </a:p>
        </p:txBody>
      </p:sp>
      <p:sp>
        <p:nvSpPr>
          <p:cNvPr id="6" name="Footer Placeholder 5"/>
          <p:cNvSpPr>
            <a:spLocks noGrp="1"/>
          </p:cNvSpPr>
          <p:nvPr>
            <p:ph type="ftr" sz="quarter" idx="11"/>
          </p:nvPr>
        </p:nvSpPr>
        <p:spPr/>
        <p:txBody>
          <a:bodyPr/>
          <a:lstStyle/>
          <a:p>
            <a:r>
              <a:rPr lang="en-US"/>
              <a:t>CE80362: Circuit Analysis </a:t>
            </a:r>
          </a:p>
        </p:txBody>
      </p:sp>
    </p:spTree>
    <p:extLst>
      <p:ext uri="{BB962C8B-B14F-4D97-AF65-F5344CB8AC3E}">
        <p14:creationId xmlns:p14="http://schemas.microsoft.com/office/powerpoint/2010/main" val="29034503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a:xfrm>
                <a:off x="154546" y="90152"/>
                <a:ext cx="11797048" cy="6568225"/>
              </a:xfrm>
            </p:spPr>
            <p:txBody>
              <a:bodyPr>
                <a:normAutofit fontScale="90000"/>
              </a:bodyPr>
              <a:lstStyle/>
              <a:p>
                <a:r>
                  <a:rPr lang="en-US" sz="8900" b="1" dirty="0"/>
                  <a:t>.</a:t>
                </a:r>
                <a:r>
                  <a:rPr lang="en-US" sz="4000" dirty="0"/>
                  <a:t>The power absorbed by the inductor is given by</a:t>
                </a:r>
                <a:br>
                  <a:rPr lang="en-US" sz="4000" dirty="0"/>
                </a:br>
                <a14:m>
                  <m:oMath xmlns:m="http://schemas.openxmlformats.org/officeDocument/2006/math">
                    <m:r>
                      <a:rPr lang="en-US" sz="4000" i="1">
                        <a:latin typeface="Cambria Math" panose="02040503050406030204" pitchFamily="18" charset="0"/>
                      </a:rPr>
                      <m:t>𝑃</m:t>
                    </m:r>
                    <m:r>
                      <a:rPr lang="en-US" sz="4000" i="1">
                        <a:latin typeface="Cambria Math" panose="02040503050406030204" pitchFamily="18" charset="0"/>
                      </a:rPr>
                      <m:t>=</m:t>
                    </m:r>
                    <m:r>
                      <a:rPr lang="en-US" sz="4000" i="1">
                        <a:latin typeface="Cambria Math" panose="02040503050406030204" pitchFamily="18" charset="0"/>
                      </a:rPr>
                      <m:t>𝑉𝐼</m:t>
                    </m:r>
                    <m:r>
                      <a:rPr lang="en-US" sz="4000" i="1">
                        <a:latin typeface="Cambria Math" panose="02040503050406030204" pitchFamily="18" charset="0"/>
                      </a:rPr>
                      <m:t>=</m:t>
                    </m:r>
                    <m:r>
                      <a:rPr lang="en-US" sz="4000" i="1">
                        <a:latin typeface="Cambria Math" panose="02040503050406030204" pitchFamily="18" charset="0"/>
                      </a:rPr>
                      <m:t>𝐿𝑖</m:t>
                    </m:r>
                    <m:f>
                      <m:fPr>
                        <m:ctrlPr>
                          <a:rPr lang="en-US" sz="4000" i="1">
                            <a:latin typeface="Cambria Math" panose="02040503050406030204" pitchFamily="18" charset="0"/>
                          </a:rPr>
                        </m:ctrlPr>
                      </m:fPr>
                      <m:num>
                        <m:r>
                          <a:rPr lang="en-US" sz="4000" i="1">
                            <a:latin typeface="Cambria Math" panose="02040503050406030204" pitchFamily="18" charset="0"/>
                          </a:rPr>
                          <m:t>𝑑𝑖</m:t>
                        </m:r>
                      </m:num>
                      <m:den>
                        <m:r>
                          <a:rPr lang="en-US" sz="4000" i="1">
                            <a:latin typeface="Cambria Math" panose="02040503050406030204" pitchFamily="18" charset="0"/>
                          </a:rPr>
                          <m:t>𝑑𝑡</m:t>
                        </m:r>
                      </m:den>
                    </m:f>
                  </m:oMath>
                </a14:m>
                <a:r>
                  <a:rPr lang="en-US" sz="4000" dirty="0"/>
                  <a:t> Watts.</a:t>
                </a:r>
                <a:br>
                  <a:rPr lang="en-US" sz="4000" dirty="0"/>
                </a:br>
                <a:r>
                  <a:rPr lang="en-US" sz="8900" b="1" dirty="0"/>
                  <a:t>. </a:t>
                </a:r>
                <a:r>
                  <a:rPr lang="en-US" sz="4000" dirty="0"/>
                  <a:t>Energy absorbed by the inductor will thus be given by </a:t>
                </a:r>
                <a:br>
                  <a:rPr lang="en-US" sz="4000" dirty="0"/>
                </a:br>
                <a14:m>
                  <m:oMath xmlns:m="http://schemas.openxmlformats.org/officeDocument/2006/math">
                    <m:r>
                      <a:rPr lang="en-US" sz="4000" i="1">
                        <a:latin typeface="Cambria Math" panose="02040503050406030204" pitchFamily="18" charset="0"/>
                      </a:rPr>
                      <m:t>𝑊</m:t>
                    </m:r>
                    <m:r>
                      <a:rPr lang="en-US" sz="4000" i="1">
                        <a:latin typeface="Cambria Math" panose="02040503050406030204" pitchFamily="18" charset="0"/>
                      </a:rPr>
                      <m:t>=</m:t>
                    </m:r>
                    <m:nary>
                      <m:naryPr>
                        <m:limLoc m:val="subSup"/>
                        <m:ctrlPr>
                          <a:rPr lang="en-US" sz="4000" i="1">
                            <a:latin typeface="Cambria Math" panose="02040503050406030204" pitchFamily="18" charset="0"/>
                          </a:rPr>
                        </m:ctrlPr>
                      </m:naryPr>
                      <m:sub>
                        <m:r>
                          <a:rPr lang="en-US" sz="4000" i="1">
                            <a:latin typeface="Cambria Math" panose="02040503050406030204" pitchFamily="18" charset="0"/>
                          </a:rPr>
                          <m:t>0</m:t>
                        </m:r>
                      </m:sub>
                      <m:sup>
                        <m:r>
                          <a:rPr lang="en-US" sz="4000" i="1">
                            <a:latin typeface="Cambria Math" panose="02040503050406030204" pitchFamily="18" charset="0"/>
                          </a:rPr>
                          <m:t>𝑡</m:t>
                        </m:r>
                      </m:sup>
                      <m:e>
                        <m:r>
                          <a:rPr lang="en-US" sz="4000" i="1">
                            <a:latin typeface="Cambria Math" panose="02040503050406030204" pitchFamily="18" charset="0"/>
                          </a:rPr>
                          <m:t>𝑃</m:t>
                        </m:r>
                        <m:r>
                          <a:rPr lang="en-US" sz="4000" i="1">
                            <a:latin typeface="Cambria Math" panose="02040503050406030204" pitchFamily="18" charset="0"/>
                          </a:rPr>
                          <m:t> </m:t>
                        </m:r>
                        <m:r>
                          <a:rPr lang="en-US" sz="4000" i="1">
                            <a:latin typeface="Cambria Math" panose="02040503050406030204" pitchFamily="18" charset="0"/>
                          </a:rPr>
                          <m:t>𝑑𝑡</m:t>
                        </m:r>
                      </m:e>
                    </m:nary>
                    <m:r>
                      <a:rPr lang="en-US" sz="4000" i="1">
                        <a:latin typeface="Cambria Math" panose="02040503050406030204" pitchFamily="18" charset="0"/>
                      </a:rPr>
                      <m:t>=</m:t>
                    </m:r>
                    <m:nary>
                      <m:naryPr>
                        <m:limLoc m:val="undOvr"/>
                        <m:ctrlPr>
                          <a:rPr lang="en-US" sz="4000" i="1">
                            <a:latin typeface="Cambria Math" panose="02040503050406030204" pitchFamily="18" charset="0"/>
                          </a:rPr>
                        </m:ctrlPr>
                      </m:naryPr>
                      <m:sub>
                        <m:r>
                          <a:rPr lang="en-US" sz="4000" i="1">
                            <a:latin typeface="Cambria Math" panose="02040503050406030204" pitchFamily="18" charset="0"/>
                          </a:rPr>
                          <m:t>0</m:t>
                        </m:r>
                      </m:sub>
                      <m:sup>
                        <m:r>
                          <a:rPr lang="en-US" sz="4000" i="1">
                            <a:latin typeface="Cambria Math" panose="02040503050406030204" pitchFamily="18" charset="0"/>
                          </a:rPr>
                          <m:t>𝑡</m:t>
                        </m:r>
                      </m:sup>
                      <m:e>
                        <m:r>
                          <a:rPr lang="en-US" sz="4000" i="1">
                            <a:latin typeface="Cambria Math" panose="02040503050406030204" pitchFamily="18" charset="0"/>
                          </a:rPr>
                          <m:t>𝐿𝑖</m:t>
                        </m:r>
                        <m:f>
                          <m:fPr>
                            <m:ctrlPr>
                              <a:rPr lang="en-US" sz="4000" i="1">
                                <a:latin typeface="Cambria Math" panose="02040503050406030204" pitchFamily="18" charset="0"/>
                              </a:rPr>
                            </m:ctrlPr>
                          </m:fPr>
                          <m:num>
                            <m:r>
                              <a:rPr lang="en-US" sz="4000" i="1">
                                <a:latin typeface="Cambria Math" panose="02040503050406030204" pitchFamily="18" charset="0"/>
                              </a:rPr>
                              <m:t>𝑑𝑖</m:t>
                            </m:r>
                          </m:num>
                          <m:den>
                            <m:r>
                              <a:rPr lang="en-US" sz="4000" i="1">
                                <a:latin typeface="Cambria Math" panose="02040503050406030204" pitchFamily="18" charset="0"/>
                              </a:rPr>
                              <m:t>𝑑𝑡</m:t>
                            </m:r>
                          </m:den>
                        </m:f>
                      </m:e>
                    </m:nary>
                    <m:r>
                      <a:rPr lang="en-US" sz="4000" i="1">
                        <a:latin typeface="Cambria Math" panose="02040503050406030204" pitchFamily="18" charset="0"/>
                      </a:rPr>
                      <m:t> </m:t>
                    </m:r>
                    <m:r>
                      <a:rPr lang="en-US" sz="4000" i="1">
                        <a:latin typeface="Cambria Math" panose="02040503050406030204" pitchFamily="18" charset="0"/>
                      </a:rPr>
                      <m:t>𝑑𝑡</m:t>
                    </m:r>
                    <m:r>
                      <a:rPr lang="en-US" sz="4000" i="1">
                        <a:latin typeface="Cambria Math" panose="02040503050406030204" pitchFamily="18" charset="0"/>
                      </a:rPr>
                      <m:t>=</m:t>
                    </m:r>
                    <m:f>
                      <m:fPr>
                        <m:ctrlPr>
                          <a:rPr lang="en-US" sz="4000" i="1">
                            <a:latin typeface="Cambria Math" panose="02040503050406030204" pitchFamily="18" charset="0"/>
                          </a:rPr>
                        </m:ctrlPr>
                      </m:fPr>
                      <m:num>
                        <m:r>
                          <a:rPr lang="en-US" sz="4000" i="1">
                            <a:latin typeface="Cambria Math" panose="02040503050406030204" pitchFamily="18" charset="0"/>
                          </a:rPr>
                          <m:t>1</m:t>
                        </m:r>
                      </m:num>
                      <m:den>
                        <m:r>
                          <a:rPr lang="en-US" sz="4000" i="1">
                            <a:latin typeface="Cambria Math" panose="02040503050406030204" pitchFamily="18" charset="0"/>
                          </a:rPr>
                          <m:t>2</m:t>
                        </m:r>
                      </m:den>
                    </m:f>
                    <m:r>
                      <a:rPr lang="en-US" sz="4000" i="1">
                        <a:latin typeface="Cambria Math" panose="02040503050406030204" pitchFamily="18" charset="0"/>
                      </a:rPr>
                      <m:t> </m:t>
                    </m:r>
                    <m:r>
                      <a:rPr lang="en-US" sz="4000" i="1">
                        <a:latin typeface="Cambria Math" panose="02040503050406030204" pitchFamily="18" charset="0"/>
                      </a:rPr>
                      <m:t>𝐿</m:t>
                    </m:r>
                    <m:sSup>
                      <m:sSupPr>
                        <m:ctrlPr>
                          <a:rPr lang="en-US" sz="4000" i="1">
                            <a:latin typeface="Cambria Math" panose="02040503050406030204" pitchFamily="18" charset="0"/>
                          </a:rPr>
                        </m:ctrlPr>
                      </m:sSupPr>
                      <m:e>
                        <m:r>
                          <a:rPr lang="en-US" sz="4000" i="1">
                            <a:latin typeface="Cambria Math" panose="02040503050406030204" pitchFamily="18" charset="0"/>
                          </a:rPr>
                          <m:t>𝑖</m:t>
                        </m:r>
                      </m:e>
                      <m:sup>
                        <m:r>
                          <a:rPr lang="en-US" sz="4000" i="1">
                            <a:latin typeface="Cambria Math" panose="02040503050406030204" pitchFamily="18" charset="0"/>
                          </a:rPr>
                          <m:t>2</m:t>
                        </m:r>
                      </m:sup>
                    </m:sSup>
                  </m:oMath>
                </a14:m>
                <a:r>
                  <a:rPr lang="en-US" dirty="0"/>
                  <a:t> </a:t>
                </a:r>
                <a:br>
                  <a:rPr lang="en-US" dirty="0"/>
                </a:br>
                <a:r>
                  <a:rPr lang="en-US" sz="8900" b="1" dirty="0"/>
                  <a:t>. </a:t>
                </a:r>
                <a:r>
                  <a:rPr lang="en-US" sz="4000" dirty="0"/>
                  <a:t>From these equations, it is evident that the inductor can store finite amount of energy even the voltage across it may be null. </a:t>
                </a:r>
                <a:br>
                  <a:rPr lang="en-US" sz="4000" dirty="0"/>
                </a:br>
                <a:r>
                  <a:rPr lang="en-US" sz="4000" dirty="0"/>
                  <a:t>A pure inductor does not dissipate energy but only stores it.</a:t>
                </a:r>
              </a:p>
            </p:txBody>
          </p:sp>
        </mc:Choice>
        <mc:Fallback xmlns="">
          <p:sp>
            <p:nvSpPr>
              <p:cNvPr id="2" name="Title 1"/>
              <p:cNvSpPr>
                <a:spLocks noGrp="1" noRot="1" noChangeAspect="1" noMove="1" noResize="1" noEditPoints="1" noAdjustHandles="1" noChangeArrowheads="1" noChangeShapeType="1" noTextEdit="1"/>
              </p:cNvSpPr>
              <p:nvPr>
                <p:ph type="title"/>
              </p:nvPr>
            </p:nvSpPr>
            <p:spPr>
              <a:xfrm>
                <a:off x="154546" y="90152"/>
                <a:ext cx="11797048" cy="6568225"/>
              </a:xfrm>
              <a:blipFill rotWithShape="0">
                <a:blip r:embed="rId2"/>
                <a:stretch>
                  <a:fillRect l="-4390" t="-3900" r="-1911" b="-1578"/>
                </a:stretch>
              </a:blipFill>
            </p:spPr>
            <p:txBody>
              <a:bodyPr/>
              <a:lstStyle/>
              <a:p>
                <a:r>
                  <a:rPr lang="en-US">
                    <a:noFill/>
                  </a:rPr>
                  <a:t> </a:t>
                </a:r>
              </a:p>
            </p:txBody>
          </p:sp>
        </mc:Fallback>
      </mc:AlternateContent>
      <p:sp>
        <p:nvSpPr>
          <p:cNvPr id="3" name="Date Placeholder 2"/>
          <p:cNvSpPr>
            <a:spLocks noGrp="1"/>
          </p:cNvSpPr>
          <p:nvPr>
            <p:ph type="dt" sz="half" idx="10"/>
          </p:nvPr>
        </p:nvSpPr>
        <p:spPr/>
        <p:txBody>
          <a:bodyPr/>
          <a:lstStyle/>
          <a:p>
            <a:fld id="{0A58DD18-3B2C-4CAE-8766-475B1412131B}" type="datetime1">
              <a:rPr lang="en-US" smtClean="0"/>
              <a:t>9/29/2025</a:t>
            </a:fld>
            <a:endParaRPr lang="en-US"/>
          </a:p>
        </p:txBody>
      </p:sp>
      <p:sp>
        <p:nvSpPr>
          <p:cNvPr id="4" name="Slide Number Placeholder 3"/>
          <p:cNvSpPr>
            <a:spLocks noGrp="1"/>
          </p:cNvSpPr>
          <p:nvPr>
            <p:ph type="sldNum" sz="quarter" idx="12"/>
          </p:nvPr>
        </p:nvSpPr>
        <p:spPr/>
        <p:txBody>
          <a:bodyPr/>
          <a:lstStyle/>
          <a:p>
            <a:fld id="{0BC8E04C-76C2-4646-B4FE-D645B34E3502}" type="slidenum">
              <a:rPr lang="en-US" smtClean="0"/>
              <a:t>8</a:t>
            </a:fld>
            <a:endParaRPr lang="en-US"/>
          </a:p>
        </p:txBody>
      </p:sp>
      <p:sp>
        <p:nvSpPr>
          <p:cNvPr id="5" name="Footer Placeholder 4"/>
          <p:cNvSpPr>
            <a:spLocks noGrp="1"/>
          </p:cNvSpPr>
          <p:nvPr>
            <p:ph type="ftr" sz="quarter" idx="11"/>
          </p:nvPr>
        </p:nvSpPr>
        <p:spPr/>
        <p:txBody>
          <a:bodyPr/>
          <a:lstStyle/>
          <a:p>
            <a:r>
              <a:rPr lang="en-US"/>
              <a:t>CE80362: Circuit Analysis </a:t>
            </a:r>
          </a:p>
        </p:txBody>
      </p:sp>
    </p:spTree>
    <p:extLst>
      <p:ext uri="{BB962C8B-B14F-4D97-AF65-F5344CB8AC3E}">
        <p14:creationId xmlns:p14="http://schemas.microsoft.com/office/powerpoint/2010/main" val="16311828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6533" y="120427"/>
            <a:ext cx="10515600" cy="536396"/>
          </a:xfrm>
        </p:spPr>
        <p:txBody>
          <a:bodyPr>
            <a:normAutofit fontScale="90000"/>
          </a:bodyPr>
          <a:lstStyle/>
          <a:p>
            <a:r>
              <a:rPr lang="en-US" b="1" dirty="0"/>
              <a:t>3 Capacitance</a:t>
            </a:r>
            <a:endParaRPr lang="en-US" dirty="0"/>
          </a:p>
        </p:txBody>
      </p:sp>
      <p:sp>
        <p:nvSpPr>
          <p:cNvPr id="3" name="Content Placeholder 2"/>
          <p:cNvSpPr>
            <a:spLocks noGrp="1"/>
          </p:cNvSpPr>
          <p:nvPr>
            <p:ph idx="1"/>
          </p:nvPr>
        </p:nvSpPr>
        <p:spPr>
          <a:xfrm>
            <a:off x="141667" y="656823"/>
            <a:ext cx="11912957" cy="6053070"/>
          </a:xfrm>
        </p:spPr>
        <p:txBody>
          <a:bodyPr>
            <a:normAutofit/>
          </a:bodyPr>
          <a:lstStyle/>
          <a:p>
            <a:r>
              <a:rPr lang="en-US" sz="3200" dirty="0"/>
              <a:t>This is the capability of an element to store electric charge within it. </a:t>
            </a:r>
          </a:p>
          <a:p>
            <a:r>
              <a:rPr lang="en-US" sz="3200" dirty="0"/>
              <a:t>A capacitor stores electric energy in the form of electric field being established by the two polarities of charges on the two electrodes of a capacitor. </a:t>
            </a:r>
          </a:p>
          <a:p>
            <a:r>
              <a:rPr lang="en-US" sz="3200" dirty="0"/>
              <a:t>Quantitatively capacitance is a measure of charge per unit voltage that can be stored in an element. </a:t>
            </a:r>
          </a:p>
          <a:p>
            <a:r>
              <a:rPr lang="en-US" sz="3200" dirty="0"/>
              <a:t>The unit of capacitance (C) is fared (F). </a:t>
            </a:r>
          </a:p>
          <a:p>
            <a:r>
              <a:rPr lang="en-US" sz="3200" dirty="0"/>
              <a:t>The capacity is said to be one fared provided one coulomb of charge can be stored with one volt across the two electrodes of the element. </a:t>
            </a:r>
          </a:p>
        </p:txBody>
      </p:sp>
      <p:pic>
        <p:nvPicPr>
          <p:cNvPr id="4" name="Picture 3"/>
          <p:cNvPicPr/>
          <p:nvPr/>
        </p:nvPicPr>
        <p:blipFill>
          <a:blip r:embed="rId2"/>
          <a:stretch>
            <a:fillRect/>
          </a:stretch>
        </p:blipFill>
        <p:spPr>
          <a:xfrm>
            <a:off x="2705435" y="5229292"/>
            <a:ext cx="5060526" cy="1300298"/>
          </a:xfrm>
          <a:prstGeom prst="rect">
            <a:avLst/>
          </a:prstGeom>
        </p:spPr>
      </p:pic>
      <p:sp>
        <p:nvSpPr>
          <p:cNvPr id="5" name="Date Placeholder 4"/>
          <p:cNvSpPr>
            <a:spLocks noGrp="1"/>
          </p:cNvSpPr>
          <p:nvPr>
            <p:ph type="dt" sz="half" idx="10"/>
          </p:nvPr>
        </p:nvSpPr>
        <p:spPr/>
        <p:txBody>
          <a:bodyPr/>
          <a:lstStyle/>
          <a:p>
            <a:fld id="{544ED971-39E8-471D-AEF5-04EBE27543FB}" type="datetime1">
              <a:rPr lang="en-US" smtClean="0"/>
              <a:t>9/29/2025</a:t>
            </a:fld>
            <a:endParaRPr lang="en-US"/>
          </a:p>
        </p:txBody>
      </p:sp>
      <p:sp>
        <p:nvSpPr>
          <p:cNvPr id="6" name="Slide Number Placeholder 5"/>
          <p:cNvSpPr>
            <a:spLocks noGrp="1"/>
          </p:cNvSpPr>
          <p:nvPr>
            <p:ph type="sldNum" sz="quarter" idx="12"/>
          </p:nvPr>
        </p:nvSpPr>
        <p:spPr/>
        <p:txBody>
          <a:bodyPr/>
          <a:lstStyle/>
          <a:p>
            <a:fld id="{0BC8E04C-76C2-4646-B4FE-D645B34E3502}" type="slidenum">
              <a:rPr lang="en-US" smtClean="0"/>
              <a:t>9</a:t>
            </a:fld>
            <a:endParaRPr lang="en-US"/>
          </a:p>
        </p:txBody>
      </p:sp>
      <p:sp>
        <p:nvSpPr>
          <p:cNvPr id="7" name="Footer Placeholder 6"/>
          <p:cNvSpPr>
            <a:spLocks noGrp="1"/>
          </p:cNvSpPr>
          <p:nvPr>
            <p:ph type="ftr" sz="quarter" idx="11"/>
          </p:nvPr>
        </p:nvSpPr>
        <p:spPr/>
        <p:txBody>
          <a:bodyPr/>
          <a:lstStyle/>
          <a:p>
            <a:r>
              <a:rPr lang="en-US"/>
              <a:t>CE80362: Circuit Analysis </a:t>
            </a:r>
          </a:p>
        </p:txBody>
      </p:sp>
    </p:spTree>
    <p:extLst>
      <p:ext uri="{BB962C8B-B14F-4D97-AF65-F5344CB8AC3E}">
        <p14:creationId xmlns:p14="http://schemas.microsoft.com/office/powerpoint/2010/main" val="928598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48048" y="171943"/>
            <a:ext cx="10515600" cy="600790"/>
          </a:xfrm>
        </p:spPr>
        <p:txBody>
          <a:bodyPr>
            <a:normAutofit fontScale="90000"/>
          </a:bodyPr>
          <a:lstStyle/>
          <a:p>
            <a:r>
              <a:rPr lang="en-US" dirty="0"/>
              <a:t>Capacitance calculation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93183" y="772733"/>
                <a:ext cx="11745532" cy="5847008"/>
              </a:xfrm>
            </p:spPr>
            <p:txBody>
              <a:bodyPr>
                <a:normAutofit/>
              </a:bodyPr>
              <a:lstStyle/>
              <a:p>
                <a:r>
                  <a:rPr lang="en-US" sz="3600" dirty="0"/>
                  <a:t>q being the amount of charge that can be stored in a capacitor of capacitance C against a potential difference of v volts, we can write </a:t>
                </a:r>
              </a:p>
              <a:p>
                <a14:m>
                  <m:oMath xmlns:m="http://schemas.openxmlformats.org/officeDocument/2006/math">
                    <m:r>
                      <a:rPr lang="en-US" sz="3600" i="1">
                        <a:latin typeface="Cambria Math" panose="02040503050406030204" pitchFamily="18" charset="0"/>
                      </a:rPr>
                      <m:t>𝐶</m:t>
                    </m:r>
                    <m:r>
                      <a:rPr lang="en-US" sz="3600" i="1">
                        <a:latin typeface="Cambria Math" panose="02040503050406030204" pitchFamily="18" charset="0"/>
                      </a:rPr>
                      <m:t>=</m:t>
                    </m:r>
                    <m:f>
                      <m:fPr>
                        <m:ctrlPr>
                          <a:rPr lang="en-US" sz="3600" i="1">
                            <a:latin typeface="Cambria Math" panose="02040503050406030204" pitchFamily="18" charset="0"/>
                          </a:rPr>
                        </m:ctrlPr>
                      </m:fPr>
                      <m:num>
                        <m:r>
                          <a:rPr lang="en-US" sz="3600" i="1">
                            <a:latin typeface="Cambria Math" panose="02040503050406030204" pitchFamily="18" charset="0"/>
                          </a:rPr>
                          <m:t>𝑞</m:t>
                        </m:r>
                      </m:num>
                      <m:den>
                        <m:r>
                          <a:rPr lang="en-US" sz="3600" i="1">
                            <a:latin typeface="Cambria Math" panose="02040503050406030204" pitchFamily="18" charset="0"/>
                          </a:rPr>
                          <m:t>𝑣</m:t>
                        </m:r>
                      </m:den>
                    </m:f>
                  </m:oMath>
                </a14:m>
                <a:r>
                  <a:rPr lang="en-US" sz="3600" dirty="0"/>
                  <a:t> </a:t>
                </a:r>
              </a:p>
              <a:p>
                <a:r>
                  <a:rPr lang="en-US" sz="3600" dirty="0"/>
                  <a:t>Then, </a:t>
                </a:r>
                <a14:m>
                  <m:oMath xmlns:m="http://schemas.openxmlformats.org/officeDocument/2006/math">
                    <m:r>
                      <a:rPr lang="en-US" sz="3600" i="1">
                        <a:latin typeface="Cambria Math" panose="02040503050406030204" pitchFamily="18" charset="0"/>
                      </a:rPr>
                      <m:t>𝑖</m:t>
                    </m:r>
                    <m:r>
                      <a:rPr lang="en-US" sz="3600" i="1">
                        <a:latin typeface="Cambria Math" panose="02040503050406030204" pitchFamily="18" charset="0"/>
                      </a:rPr>
                      <m:t>=</m:t>
                    </m:r>
                    <m:r>
                      <a:rPr lang="en-US" sz="3600" i="1">
                        <a:latin typeface="Cambria Math" panose="02040503050406030204" pitchFamily="18" charset="0"/>
                      </a:rPr>
                      <m:t>𝐶</m:t>
                    </m:r>
                    <m:f>
                      <m:fPr>
                        <m:ctrlPr>
                          <a:rPr lang="en-US" sz="3600" i="1">
                            <a:latin typeface="Cambria Math" panose="02040503050406030204" pitchFamily="18" charset="0"/>
                          </a:rPr>
                        </m:ctrlPr>
                      </m:fPr>
                      <m:num>
                        <m:r>
                          <a:rPr lang="en-US" sz="3600" i="1">
                            <a:latin typeface="Cambria Math" panose="02040503050406030204" pitchFamily="18" charset="0"/>
                          </a:rPr>
                          <m:t>𝑑𝑣</m:t>
                        </m:r>
                      </m:num>
                      <m:den>
                        <m:r>
                          <a:rPr lang="en-US" sz="3600" i="1">
                            <a:latin typeface="Cambria Math" panose="02040503050406030204" pitchFamily="18" charset="0"/>
                          </a:rPr>
                          <m:t>𝑑𝑡</m:t>
                        </m:r>
                      </m:den>
                    </m:f>
                  </m:oMath>
                </a14:m>
                <a:r>
                  <a:rPr lang="en-US" sz="3600" dirty="0"/>
                  <a:t>  and </a:t>
                </a:r>
                <a14:m>
                  <m:oMath xmlns:m="http://schemas.openxmlformats.org/officeDocument/2006/math">
                    <m:r>
                      <a:rPr lang="en-US" sz="3600" i="1">
                        <a:latin typeface="Cambria Math" panose="02040503050406030204" pitchFamily="18" charset="0"/>
                      </a:rPr>
                      <m:t>𝑖</m:t>
                    </m:r>
                    <m:r>
                      <a:rPr lang="en-US" sz="3600" i="1">
                        <a:latin typeface="Cambria Math" panose="02040503050406030204" pitchFamily="18" charset="0"/>
                      </a:rPr>
                      <m:t>=</m:t>
                    </m:r>
                    <m:f>
                      <m:fPr>
                        <m:ctrlPr>
                          <a:rPr lang="en-US" sz="3600" i="1">
                            <a:latin typeface="Cambria Math" panose="02040503050406030204" pitchFamily="18" charset="0"/>
                          </a:rPr>
                        </m:ctrlPr>
                      </m:fPr>
                      <m:num>
                        <m:r>
                          <a:rPr lang="en-US" sz="3600" i="1">
                            <a:latin typeface="Cambria Math" panose="02040503050406030204" pitchFamily="18" charset="0"/>
                          </a:rPr>
                          <m:t>𝑑𝑞</m:t>
                        </m:r>
                      </m:num>
                      <m:den>
                        <m:r>
                          <a:rPr lang="en-US" sz="3600" i="1">
                            <a:latin typeface="Cambria Math" panose="02040503050406030204" pitchFamily="18" charset="0"/>
                          </a:rPr>
                          <m:t>𝑑𝑡</m:t>
                        </m:r>
                      </m:den>
                    </m:f>
                  </m:oMath>
                </a14:m>
                <a:r>
                  <a:rPr lang="en-US" sz="3600" dirty="0"/>
                  <a:t> </a:t>
                </a:r>
              </a:p>
              <a:p>
                <a:r>
                  <a:rPr lang="en-US" sz="3600" dirty="0"/>
                  <a:t>Where lower case letters represent the instantaneous values of respective parameters</a:t>
                </a:r>
              </a:p>
              <a:p>
                <a14:m>
                  <m:oMath xmlns:m="http://schemas.openxmlformats.org/officeDocument/2006/math">
                    <m:r>
                      <a:rPr lang="en-US" sz="3600" i="1">
                        <a:latin typeface="Cambria Math" panose="02040503050406030204" pitchFamily="18" charset="0"/>
                      </a:rPr>
                      <m:t>𝑑𝑣</m:t>
                    </m:r>
                    <m:r>
                      <a:rPr lang="en-US" sz="3600" i="1">
                        <a:latin typeface="Cambria Math" panose="02040503050406030204" pitchFamily="18" charset="0"/>
                      </a:rPr>
                      <m:t>=</m:t>
                    </m:r>
                    <m:f>
                      <m:fPr>
                        <m:ctrlPr>
                          <a:rPr lang="en-US" sz="3600" i="1">
                            <a:latin typeface="Cambria Math" panose="02040503050406030204" pitchFamily="18" charset="0"/>
                          </a:rPr>
                        </m:ctrlPr>
                      </m:fPr>
                      <m:num>
                        <m:r>
                          <a:rPr lang="en-US" sz="3600" i="1">
                            <a:latin typeface="Cambria Math" panose="02040503050406030204" pitchFamily="18" charset="0"/>
                          </a:rPr>
                          <m:t>1</m:t>
                        </m:r>
                      </m:num>
                      <m:den>
                        <m:r>
                          <a:rPr lang="en-US" sz="3600" i="1">
                            <a:latin typeface="Cambria Math" panose="02040503050406030204" pitchFamily="18" charset="0"/>
                          </a:rPr>
                          <m:t>𝐶</m:t>
                        </m:r>
                      </m:den>
                    </m:f>
                    <m:r>
                      <a:rPr lang="en-US" sz="3600" i="1">
                        <a:latin typeface="Cambria Math" panose="02040503050406030204" pitchFamily="18" charset="0"/>
                      </a:rPr>
                      <m:t> </m:t>
                    </m:r>
                    <m:r>
                      <a:rPr lang="en-US" sz="3600" i="1">
                        <a:latin typeface="Cambria Math" panose="02040503050406030204" pitchFamily="18" charset="0"/>
                      </a:rPr>
                      <m:t>𝑖</m:t>
                    </m:r>
                    <m:r>
                      <a:rPr lang="en-US" sz="3600" i="1">
                        <a:latin typeface="Cambria Math" panose="02040503050406030204" pitchFamily="18" charset="0"/>
                      </a:rPr>
                      <m:t> </m:t>
                    </m:r>
                    <m:r>
                      <a:rPr lang="en-US" sz="3600" i="1">
                        <a:latin typeface="Cambria Math" panose="02040503050406030204" pitchFamily="18" charset="0"/>
                      </a:rPr>
                      <m:t>𝑑𝑡</m:t>
                    </m:r>
                  </m:oMath>
                </a14:m>
                <a:r>
                  <a:rPr lang="en-US" sz="3600" dirty="0"/>
                  <a:t>   </a:t>
                </a:r>
              </a:p>
              <a:p>
                <a:endParaRPr lang="en-US" sz="36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93183" y="772733"/>
                <a:ext cx="11745532" cy="5847008"/>
              </a:xfrm>
              <a:blipFill rotWithShape="0">
                <a:blip r:embed="rId2"/>
                <a:stretch>
                  <a:fillRect l="-1454" t="-2607" r="-1506"/>
                </a:stretch>
              </a:blipFill>
            </p:spPr>
            <p:txBody>
              <a:bodyPr/>
              <a:lstStyle/>
              <a:p>
                <a:r>
                  <a:rPr lang="en-US">
                    <a:noFill/>
                  </a:rPr>
                  <a:t> </a:t>
                </a:r>
              </a:p>
            </p:txBody>
          </p:sp>
        </mc:Fallback>
      </mc:AlternateContent>
      <p:pic>
        <p:nvPicPr>
          <p:cNvPr id="7" name="Picture 6"/>
          <p:cNvPicPr/>
          <p:nvPr/>
        </p:nvPicPr>
        <p:blipFill>
          <a:blip r:embed="rId3"/>
          <a:stretch>
            <a:fillRect/>
          </a:stretch>
        </p:blipFill>
        <p:spPr>
          <a:xfrm>
            <a:off x="2715564" y="5888221"/>
            <a:ext cx="1866900" cy="731520"/>
          </a:xfrm>
          <a:prstGeom prst="rect">
            <a:avLst/>
          </a:prstGeom>
        </p:spPr>
      </p:pic>
      <p:sp>
        <p:nvSpPr>
          <p:cNvPr id="4" name="Date Placeholder 3"/>
          <p:cNvSpPr>
            <a:spLocks noGrp="1"/>
          </p:cNvSpPr>
          <p:nvPr>
            <p:ph type="dt" sz="half" idx="10"/>
          </p:nvPr>
        </p:nvSpPr>
        <p:spPr/>
        <p:txBody>
          <a:bodyPr/>
          <a:lstStyle/>
          <a:p>
            <a:fld id="{2E23F330-53A5-485C-9BFF-E59C4557E558}" type="datetime1">
              <a:rPr lang="en-US" smtClean="0"/>
              <a:t>9/29/2025</a:t>
            </a:fld>
            <a:endParaRPr lang="en-US"/>
          </a:p>
        </p:txBody>
      </p:sp>
      <p:sp>
        <p:nvSpPr>
          <p:cNvPr id="5" name="Slide Number Placeholder 4"/>
          <p:cNvSpPr>
            <a:spLocks noGrp="1"/>
          </p:cNvSpPr>
          <p:nvPr>
            <p:ph type="sldNum" sz="quarter" idx="12"/>
          </p:nvPr>
        </p:nvSpPr>
        <p:spPr/>
        <p:txBody>
          <a:bodyPr/>
          <a:lstStyle/>
          <a:p>
            <a:fld id="{0BC8E04C-76C2-4646-B4FE-D645B34E3502}" type="slidenum">
              <a:rPr lang="en-US" smtClean="0"/>
              <a:t>10</a:t>
            </a:fld>
            <a:endParaRPr lang="en-US"/>
          </a:p>
        </p:txBody>
      </p:sp>
      <p:sp>
        <p:nvSpPr>
          <p:cNvPr id="6" name="Footer Placeholder 5"/>
          <p:cNvSpPr>
            <a:spLocks noGrp="1"/>
          </p:cNvSpPr>
          <p:nvPr>
            <p:ph type="ftr" sz="quarter" idx="11"/>
          </p:nvPr>
        </p:nvSpPr>
        <p:spPr/>
        <p:txBody>
          <a:bodyPr/>
          <a:lstStyle/>
          <a:p>
            <a:r>
              <a:rPr lang="en-US"/>
              <a:t>CE80362: Circuit Analysis </a:t>
            </a:r>
          </a:p>
        </p:txBody>
      </p:sp>
    </p:spTree>
    <p:extLst>
      <p:ext uri="{BB962C8B-B14F-4D97-AF65-F5344CB8AC3E}">
        <p14:creationId xmlns:p14="http://schemas.microsoft.com/office/powerpoint/2010/main" val="3500251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58368"/>
          </a:xfrm>
        </p:spPr>
        <p:txBody>
          <a:bodyPr>
            <a:normAutofit/>
          </a:bodyPr>
          <a:lstStyle/>
          <a:p>
            <a:r>
              <a:rPr lang="en-US" sz="4000" dirty="0"/>
              <a:t>Voltage current relationship of circuit elements</a:t>
            </a:r>
          </a:p>
        </p:txBody>
      </p:sp>
      <p:pic>
        <p:nvPicPr>
          <p:cNvPr id="4" name="Content Placeholder 3"/>
          <p:cNvPicPr>
            <a:picLocks noGrp="1" noChangeAspect="1"/>
          </p:cNvPicPr>
          <p:nvPr>
            <p:ph idx="1"/>
          </p:nvPr>
        </p:nvPicPr>
        <p:blipFill>
          <a:blip r:embed="rId2"/>
          <a:stretch>
            <a:fillRect/>
          </a:stretch>
        </p:blipFill>
        <p:spPr>
          <a:xfrm>
            <a:off x="489596" y="1662393"/>
            <a:ext cx="11140027" cy="4918711"/>
          </a:xfrm>
          <a:prstGeom prst="rect">
            <a:avLst/>
          </a:prstGeom>
        </p:spPr>
      </p:pic>
      <p:sp>
        <p:nvSpPr>
          <p:cNvPr id="3" name="Date Placeholder 2"/>
          <p:cNvSpPr>
            <a:spLocks noGrp="1"/>
          </p:cNvSpPr>
          <p:nvPr>
            <p:ph type="dt" sz="half" idx="10"/>
          </p:nvPr>
        </p:nvSpPr>
        <p:spPr/>
        <p:txBody>
          <a:bodyPr/>
          <a:lstStyle/>
          <a:p>
            <a:fld id="{FD28063A-5B41-4499-AD3E-026A015AB893}" type="datetime1">
              <a:rPr lang="en-US" smtClean="0"/>
              <a:t>9/29/2025</a:t>
            </a:fld>
            <a:endParaRPr lang="en-US"/>
          </a:p>
        </p:txBody>
      </p:sp>
      <p:sp>
        <p:nvSpPr>
          <p:cNvPr id="5" name="Slide Number Placeholder 4"/>
          <p:cNvSpPr>
            <a:spLocks noGrp="1"/>
          </p:cNvSpPr>
          <p:nvPr>
            <p:ph type="sldNum" sz="quarter" idx="12"/>
          </p:nvPr>
        </p:nvSpPr>
        <p:spPr/>
        <p:txBody>
          <a:bodyPr/>
          <a:lstStyle/>
          <a:p>
            <a:fld id="{0BC8E04C-76C2-4646-B4FE-D645B34E3502}" type="slidenum">
              <a:rPr lang="en-US" smtClean="0"/>
              <a:t>11</a:t>
            </a:fld>
            <a:endParaRPr lang="en-US"/>
          </a:p>
        </p:txBody>
      </p:sp>
      <p:sp>
        <p:nvSpPr>
          <p:cNvPr id="6" name="Footer Placeholder 5"/>
          <p:cNvSpPr>
            <a:spLocks noGrp="1"/>
          </p:cNvSpPr>
          <p:nvPr>
            <p:ph type="ftr" sz="quarter" idx="11"/>
          </p:nvPr>
        </p:nvSpPr>
        <p:spPr/>
        <p:txBody>
          <a:bodyPr/>
          <a:lstStyle/>
          <a:p>
            <a:r>
              <a:rPr lang="en-US"/>
              <a:t>CE80362: Circuit Analysis </a:t>
            </a:r>
          </a:p>
        </p:txBody>
      </p:sp>
    </p:spTree>
    <p:extLst>
      <p:ext uri="{BB962C8B-B14F-4D97-AF65-F5344CB8AC3E}">
        <p14:creationId xmlns:p14="http://schemas.microsoft.com/office/powerpoint/2010/main" val="33263122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Examples </a:t>
            </a:r>
          </a:p>
        </p:txBody>
      </p:sp>
      <p:pic>
        <p:nvPicPr>
          <p:cNvPr id="4" name="Content Placeholder 3"/>
          <p:cNvPicPr>
            <a:picLocks noGrp="1" noChangeAspect="1"/>
          </p:cNvPicPr>
          <p:nvPr>
            <p:ph idx="1"/>
          </p:nvPr>
        </p:nvPicPr>
        <p:blipFill>
          <a:blip r:embed="rId2"/>
          <a:stretch>
            <a:fillRect/>
          </a:stretch>
        </p:blipFill>
        <p:spPr>
          <a:xfrm rot="21372504">
            <a:off x="810688" y="1560175"/>
            <a:ext cx="8191033" cy="3995001"/>
          </a:xfrm>
          <a:prstGeom prst="rect">
            <a:avLst/>
          </a:prstGeom>
        </p:spPr>
      </p:pic>
      <p:sp>
        <p:nvSpPr>
          <p:cNvPr id="3" name="Date Placeholder 2"/>
          <p:cNvSpPr>
            <a:spLocks noGrp="1"/>
          </p:cNvSpPr>
          <p:nvPr>
            <p:ph type="dt" sz="half" idx="10"/>
          </p:nvPr>
        </p:nvSpPr>
        <p:spPr/>
        <p:txBody>
          <a:bodyPr/>
          <a:lstStyle/>
          <a:p>
            <a:fld id="{843D1B48-B7DA-4103-8ADC-F80060FF0C9D}" type="datetime1">
              <a:rPr lang="en-US" smtClean="0"/>
              <a:t>9/29/2025</a:t>
            </a:fld>
            <a:endParaRPr lang="en-US"/>
          </a:p>
        </p:txBody>
      </p:sp>
      <p:sp>
        <p:nvSpPr>
          <p:cNvPr id="5" name="Slide Number Placeholder 4"/>
          <p:cNvSpPr>
            <a:spLocks noGrp="1"/>
          </p:cNvSpPr>
          <p:nvPr>
            <p:ph type="sldNum" sz="quarter" idx="12"/>
          </p:nvPr>
        </p:nvSpPr>
        <p:spPr/>
        <p:txBody>
          <a:bodyPr/>
          <a:lstStyle/>
          <a:p>
            <a:fld id="{0BC8E04C-76C2-4646-B4FE-D645B34E3502}" type="slidenum">
              <a:rPr lang="en-US" smtClean="0"/>
              <a:t>12</a:t>
            </a:fld>
            <a:endParaRPr lang="en-US"/>
          </a:p>
        </p:txBody>
      </p:sp>
      <p:sp>
        <p:nvSpPr>
          <p:cNvPr id="6" name="Footer Placeholder 5"/>
          <p:cNvSpPr>
            <a:spLocks noGrp="1"/>
          </p:cNvSpPr>
          <p:nvPr>
            <p:ph type="ftr" sz="quarter" idx="11"/>
          </p:nvPr>
        </p:nvSpPr>
        <p:spPr/>
        <p:txBody>
          <a:bodyPr/>
          <a:lstStyle/>
          <a:p>
            <a:r>
              <a:rPr lang="en-US"/>
              <a:t>CE80362: Circuit Analysis </a:t>
            </a:r>
          </a:p>
        </p:txBody>
      </p:sp>
    </p:spTree>
    <p:extLst>
      <p:ext uri="{BB962C8B-B14F-4D97-AF65-F5344CB8AC3E}">
        <p14:creationId xmlns:p14="http://schemas.microsoft.com/office/powerpoint/2010/main" val="39479987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1612741" y="953036"/>
            <a:ext cx="8966518" cy="3902299"/>
          </a:xfrm>
          <a:prstGeom prst="rect">
            <a:avLst/>
          </a:prstGeom>
        </p:spPr>
      </p:pic>
      <p:sp>
        <p:nvSpPr>
          <p:cNvPr id="2" name="Title 1"/>
          <p:cNvSpPr>
            <a:spLocks noGrp="1"/>
          </p:cNvSpPr>
          <p:nvPr>
            <p:ph type="title"/>
          </p:nvPr>
        </p:nvSpPr>
        <p:spPr>
          <a:xfrm>
            <a:off x="838200" y="365125"/>
            <a:ext cx="10515600" cy="5404610"/>
          </a:xfrm>
        </p:spPr>
        <p:txBody>
          <a:bodyPr/>
          <a:lstStyle/>
          <a:p>
            <a:endParaRPr lang="en-US" dirty="0"/>
          </a:p>
        </p:txBody>
      </p:sp>
      <p:sp>
        <p:nvSpPr>
          <p:cNvPr id="4" name="Date Placeholder 3"/>
          <p:cNvSpPr>
            <a:spLocks noGrp="1"/>
          </p:cNvSpPr>
          <p:nvPr>
            <p:ph type="dt" sz="half" idx="10"/>
          </p:nvPr>
        </p:nvSpPr>
        <p:spPr/>
        <p:txBody>
          <a:bodyPr/>
          <a:lstStyle/>
          <a:p>
            <a:fld id="{854C3E63-942C-44AA-9E11-F1C8E53CAECB}" type="datetime1">
              <a:rPr lang="en-US" smtClean="0"/>
              <a:t>9/29/2025</a:t>
            </a:fld>
            <a:endParaRPr lang="en-US"/>
          </a:p>
        </p:txBody>
      </p:sp>
      <p:sp>
        <p:nvSpPr>
          <p:cNvPr id="5" name="Slide Number Placeholder 4"/>
          <p:cNvSpPr>
            <a:spLocks noGrp="1"/>
          </p:cNvSpPr>
          <p:nvPr>
            <p:ph type="sldNum" sz="quarter" idx="12"/>
          </p:nvPr>
        </p:nvSpPr>
        <p:spPr/>
        <p:txBody>
          <a:bodyPr/>
          <a:lstStyle/>
          <a:p>
            <a:fld id="{0BC8E04C-76C2-4646-B4FE-D645B34E3502}" type="slidenum">
              <a:rPr lang="en-US" smtClean="0"/>
              <a:t>13</a:t>
            </a:fld>
            <a:endParaRPr lang="en-US"/>
          </a:p>
        </p:txBody>
      </p:sp>
      <p:sp>
        <p:nvSpPr>
          <p:cNvPr id="6" name="Footer Placeholder 5"/>
          <p:cNvSpPr>
            <a:spLocks noGrp="1"/>
          </p:cNvSpPr>
          <p:nvPr>
            <p:ph type="ftr" sz="quarter" idx="11"/>
          </p:nvPr>
        </p:nvSpPr>
        <p:spPr/>
        <p:txBody>
          <a:bodyPr/>
          <a:lstStyle/>
          <a:p>
            <a:r>
              <a:rPr lang="en-US"/>
              <a:t>CE80362: Circuit Analysis </a:t>
            </a:r>
          </a:p>
        </p:txBody>
      </p:sp>
    </p:spTree>
    <p:extLst>
      <p:ext uri="{BB962C8B-B14F-4D97-AF65-F5344CB8AC3E}">
        <p14:creationId xmlns:p14="http://schemas.microsoft.com/office/powerpoint/2010/main" val="11904103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52306"/>
          </a:xfrm>
        </p:spPr>
        <p:txBody>
          <a:bodyPr>
            <a:normAutofit/>
          </a:bodyPr>
          <a:lstStyle/>
          <a:p>
            <a:r>
              <a:rPr lang="en-US" sz="4000" b="1" dirty="0"/>
              <a:t>4. Series combination of Resistances </a:t>
            </a:r>
            <a:endParaRPr lang="en-US" sz="4000" dirty="0"/>
          </a:p>
        </p:txBody>
      </p:sp>
      <p:sp>
        <p:nvSpPr>
          <p:cNvPr id="3" name="Content Placeholder 2"/>
          <p:cNvSpPr>
            <a:spLocks noGrp="1"/>
          </p:cNvSpPr>
          <p:nvPr>
            <p:ph idx="1"/>
          </p:nvPr>
        </p:nvSpPr>
        <p:spPr>
          <a:xfrm>
            <a:off x="141668" y="1017432"/>
            <a:ext cx="11809926" cy="5641884"/>
          </a:xfrm>
        </p:spPr>
        <p:txBody>
          <a:bodyPr/>
          <a:lstStyle/>
          <a:p>
            <a:r>
              <a:rPr lang="en-US" sz="4000" dirty="0"/>
              <a:t>Consider three resistances R1, R2, &amp; R3 connected in series combination with a power supply of voltage. </a:t>
            </a:r>
          </a:p>
          <a:p>
            <a:r>
              <a:rPr lang="en-US" sz="4000" dirty="0"/>
              <a:t>The Potential difference of each resistor is V1, V2, &amp; V3 respectively. </a:t>
            </a:r>
          </a:p>
          <a:p>
            <a:r>
              <a:rPr lang="en-US" sz="4000" dirty="0"/>
              <a:t>Let electric current I is passing through the circuit shown below.</a:t>
            </a:r>
          </a:p>
          <a:p>
            <a:endParaRPr lang="en-US" dirty="0"/>
          </a:p>
        </p:txBody>
      </p:sp>
      <p:pic>
        <p:nvPicPr>
          <p:cNvPr id="4" name="Picture 3"/>
          <p:cNvPicPr/>
          <p:nvPr/>
        </p:nvPicPr>
        <p:blipFill>
          <a:blip r:embed="rId2"/>
          <a:stretch>
            <a:fillRect/>
          </a:stretch>
        </p:blipFill>
        <p:spPr>
          <a:xfrm>
            <a:off x="3432219" y="4494727"/>
            <a:ext cx="5228823" cy="2164589"/>
          </a:xfrm>
          <a:prstGeom prst="rect">
            <a:avLst/>
          </a:prstGeom>
        </p:spPr>
      </p:pic>
      <p:sp>
        <p:nvSpPr>
          <p:cNvPr id="5" name="Date Placeholder 4"/>
          <p:cNvSpPr>
            <a:spLocks noGrp="1"/>
          </p:cNvSpPr>
          <p:nvPr>
            <p:ph type="dt" sz="half" idx="10"/>
          </p:nvPr>
        </p:nvSpPr>
        <p:spPr/>
        <p:txBody>
          <a:bodyPr/>
          <a:lstStyle/>
          <a:p>
            <a:fld id="{691B3C75-FA3D-48B0-B6B7-1E33C0510006}" type="datetime1">
              <a:rPr lang="en-US" smtClean="0"/>
              <a:t>9/29/2025</a:t>
            </a:fld>
            <a:endParaRPr lang="en-US"/>
          </a:p>
        </p:txBody>
      </p:sp>
      <p:sp>
        <p:nvSpPr>
          <p:cNvPr id="6" name="Slide Number Placeholder 5"/>
          <p:cNvSpPr>
            <a:spLocks noGrp="1"/>
          </p:cNvSpPr>
          <p:nvPr>
            <p:ph type="sldNum" sz="quarter" idx="12"/>
          </p:nvPr>
        </p:nvSpPr>
        <p:spPr/>
        <p:txBody>
          <a:bodyPr/>
          <a:lstStyle/>
          <a:p>
            <a:fld id="{0BC8E04C-76C2-4646-B4FE-D645B34E3502}" type="slidenum">
              <a:rPr lang="en-US" smtClean="0"/>
              <a:t>14</a:t>
            </a:fld>
            <a:endParaRPr lang="en-US"/>
          </a:p>
        </p:txBody>
      </p:sp>
      <p:sp>
        <p:nvSpPr>
          <p:cNvPr id="7" name="Footer Placeholder 6"/>
          <p:cNvSpPr>
            <a:spLocks noGrp="1"/>
          </p:cNvSpPr>
          <p:nvPr>
            <p:ph type="ftr" sz="quarter" idx="11"/>
          </p:nvPr>
        </p:nvSpPr>
        <p:spPr/>
        <p:txBody>
          <a:bodyPr/>
          <a:lstStyle/>
          <a:p>
            <a:r>
              <a:rPr lang="en-US"/>
              <a:t>CE80362: Circuit Analysis </a:t>
            </a:r>
          </a:p>
        </p:txBody>
      </p:sp>
    </p:spTree>
    <p:extLst>
      <p:ext uri="{BB962C8B-B14F-4D97-AF65-F5344CB8AC3E}">
        <p14:creationId xmlns:p14="http://schemas.microsoft.com/office/powerpoint/2010/main" val="35344019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endParaRPr lang="en-US" sz="800"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206062" y="312821"/>
                <a:ext cx="11147738" cy="5864141"/>
              </a:xfrm>
            </p:spPr>
            <p:txBody>
              <a:bodyPr>
                <a:normAutofit fontScale="92500" lnSpcReduction="10000"/>
              </a:bodyPr>
              <a:lstStyle/>
              <a:p>
                <a:r>
                  <a:rPr lang="pt-BR" dirty="0"/>
                  <a:t> Now</a:t>
                </a:r>
              </a:p>
              <a:p>
                <a:pPr marL="0" indent="0">
                  <a:buNone/>
                </a:pPr>
                <a:r>
                  <a:rPr lang="pt-BR" dirty="0"/>
                  <a:t>                                                                V = V1 + V2 + V3</a:t>
                </a:r>
              </a:p>
              <a:p>
                <a:pPr marL="0" indent="0">
                  <a:buNone/>
                </a:pPr>
                <a:r>
                  <a:rPr lang="pt-BR" dirty="0"/>
                  <a:t>                                       According to Ohm’s law V = IR</a:t>
                </a:r>
              </a:p>
              <a:p>
                <a:r>
                  <a:rPr lang="pt-BR" dirty="0"/>
                  <a:t>Then      IR = IR1 + IR2 + IR3 </a:t>
                </a:r>
              </a:p>
              <a:p>
                <a:pPr marL="0" indent="0">
                  <a:buNone/>
                </a:pPr>
                <a:r>
                  <a:rPr lang="pt-BR" dirty="0"/>
                  <a:t>                   IR = I(R1 + R2 + R3) </a:t>
                </a:r>
              </a:p>
              <a:p>
                <a:pPr marL="0" indent="0">
                  <a:buNone/>
                </a:pPr>
                <a:r>
                  <a:rPr lang="pt-BR" dirty="0"/>
                  <a:t>                   IR/I = R1 + R2 + R3 </a:t>
                </a:r>
              </a:p>
              <a:p>
                <a:pPr marL="0" indent="0">
                  <a:buNone/>
                </a:pPr>
                <a:r>
                  <a:rPr lang="pt-BR" dirty="0"/>
                  <a:t>                     R = R1 + R2 + R3 </a:t>
                </a:r>
                <a:endParaRPr lang="en-US" dirty="0"/>
              </a:p>
              <a:p>
                <a:r>
                  <a:rPr lang="en-US" dirty="0"/>
                  <a:t>This shows that in series combination equivalent resistance of circuit is always greater than individual resistances. </a:t>
                </a:r>
              </a:p>
              <a:p>
                <a:pPr marL="0" indent="0">
                  <a:buNone/>
                </a:pPr>
                <a:r>
                  <a:rPr lang="en-US" dirty="0"/>
                  <a:t>                                                        Since</a:t>
                </a:r>
                <a14:m>
                  <m:oMath xmlns:m="http://schemas.openxmlformats.org/officeDocument/2006/math">
                    <m:r>
                      <a:rPr lang="en-US" i="1">
                        <a:latin typeface="Cambria Math" panose="02040503050406030204" pitchFamily="18" charset="0"/>
                      </a:rPr>
                      <m:t> </m:t>
                    </m:r>
                    <m:r>
                      <a:rPr lang="en-US" i="1">
                        <a:latin typeface="Cambria Math" panose="02040503050406030204" pitchFamily="18" charset="0"/>
                      </a:rPr>
                      <m:t>𝐼</m:t>
                    </m:r>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𝑉</m:t>
                        </m:r>
                      </m:num>
                      <m:den>
                        <m:r>
                          <a:rPr lang="en-US" i="1">
                            <a:latin typeface="Cambria Math" panose="02040503050406030204" pitchFamily="18" charset="0"/>
                          </a:rPr>
                          <m:t>𝑅</m:t>
                        </m:r>
                      </m:den>
                    </m:f>
                  </m:oMath>
                </a14:m>
                <a:r>
                  <a:rPr lang="en-US" dirty="0"/>
                  <a:t>, then </a:t>
                </a:r>
                <a14:m>
                  <m:oMath xmlns:m="http://schemas.openxmlformats.org/officeDocument/2006/math">
                    <m:r>
                      <a:rPr lang="en-US" i="1">
                        <a:latin typeface="Cambria Math" panose="02040503050406030204" pitchFamily="18" charset="0"/>
                      </a:rPr>
                      <m:t>𝐼</m:t>
                    </m:r>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𝑉</m:t>
                        </m:r>
                      </m:num>
                      <m:den>
                        <m:r>
                          <a:rPr lang="en-US" b="1" i="1">
                            <a:latin typeface="Cambria Math" panose="02040503050406030204" pitchFamily="18" charset="0"/>
                          </a:rPr>
                          <m:t>𝐑</m:t>
                        </m:r>
                        <m:r>
                          <a:rPr lang="en-US" b="1" i="1" baseline="-25000">
                            <a:latin typeface="Cambria Math" panose="02040503050406030204" pitchFamily="18" charset="0"/>
                          </a:rPr>
                          <m:t>𝟏</m:t>
                        </m:r>
                        <m:r>
                          <a:rPr lang="en-US" b="1">
                            <a:latin typeface="Cambria Math" panose="02040503050406030204" pitchFamily="18" charset="0"/>
                          </a:rPr>
                          <m:t> + </m:t>
                        </m:r>
                        <m:r>
                          <a:rPr lang="en-US" b="1" i="1">
                            <a:latin typeface="Cambria Math" panose="02040503050406030204" pitchFamily="18" charset="0"/>
                          </a:rPr>
                          <m:t>𝐑</m:t>
                        </m:r>
                        <m:r>
                          <a:rPr lang="en-US" b="1" i="1" baseline="-25000">
                            <a:latin typeface="Cambria Math" panose="02040503050406030204" pitchFamily="18" charset="0"/>
                          </a:rPr>
                          <m:t>𝟐</m:t>
                        </m:r>
                        <m:r>
                          <a:rPr lang="en-US" b="1">
                            <a:latin typeface="Cambria Math" panose="02040503050406030204" pitchFamily="18" charset="0"/>
                          </a:rPr>
                          <m:t> + </m:t>
                        </m:r>
                        <m:r>
                          <a:rPr lang="en-US" b="1" i="1">
                            <a:latin typeface="Cambria Math" panose="02040503050406030204" pitchFamily="18" charset="0"/>
                          </a:rPr>
                          <m:t>𝐑</m:t>
                        </m:r>
                        <m:r>
                          <a:rPr lang="en-US" b="1" i="1" baseline="-25000">
                            <a:latin typeface="Cambria Math" panose="02040503050406030204" pitchFamily="18" charset="0"/>
                          </a:rPr>
                          <m:t>𝟑</m:t>
                        </m:r>
                      </m:den>
                    </m:f>
                  </m:oMath>
                </a14:m>
                <a:endParaRPr lang="en-US" dirty="0"/>
              </a:p>
              <a:p>
                <a:r>
                  <a:rPr lang="en-US" dirty="0"/>
                  <a:t>And the total power loss is given by</a:t>
                </a:r>
              </a:p>
              <a:p>
                <a:pPr marL="0" indent="0">
                  <a:buNone/>
                </a:pPr>
                <a:r>
                  <a:rPr lang="en-US" b="1" dirty="0"/>
                  <a:t>                                                                  P= I</a:t>
                </a:r>
                <a:r>
                  <a:rPr lang="en-US" b="1" baseline="30000" dirty="0"/>
                  <a:t>2</a:t>
                </a:r>
                <a:r>
                  <a:rPr lang="en-US" b="1" dirty="0"/>
                  <a:t> R</a:t>
                </a:r>
                <a:r>
                  <a:rPr lang="en-US" b="1" baseline="-25000" dirty="0"/>
                  <a:t>1</a:t>
                </a:r>
                <a:r>
                  <a:rPr lang="en-US" b="1" dirty="0"/>
                  <a:t> +</a:t>
                </a:r>
                <a:r>
                  <a:rPr lang="en-US" b="1" baseline="30000" dirty="0"/>
                  <a:t> </a:t>
                </a:r>
                <a:r>
                  <a:rPr lang="en-US" b="1" dirty="0"/>
                  <a:t>I</a:t>
                </a:r>
                <a:r>
                  <a:rPr lang="en-US" b="1" baseline="30000" dirty="0"/>
                  <a:t>2</a:t>
                </a:r>
                <a:r>
                  <a:rPr lang="en-US" b="1" dirty="0"/>
                  <a:t> R</a:t>
                </a:r>
                <a:r>
                  <a:rPr lang="en-US" b="1" baseline="-25000" dirty="0"/>
                  <a:t>2</a:t>
                </a:r>
                <a:r>
                  <a:rPr lang="en-US" b="1" dirty="0"/>
                  <a:t>+ I</a:t>
                </a:r>
                <a:r>
                  <a:rPr lang="en-US" b="1" baseline="30000" dirty="0"/>
                  <a:t>2</a:t>
                </a:r>
                <a:r>
                  <a:rPr lang="en-US" b="1" dirty="0"/>
                  <a:t> R</a:t>
                </a:r>
                <a:r>
                  <a:rPr lang="en-US" b="1" baseline="-25000" dirty="0"/>
                  <a:t>3</a:t>
                </a:r>
                <a:endParaRPr lang="en-US" dirty="0"/>
              </a:p>
              <a:p>
                <a:pPr marL="0" indent="0">
                  <a:buNone/>
                </a:pPr>
                <a:r>
                  <a:rPr lang="en-US" b="1" dirty="0"/>
                  <a:t>                                                                     =I</a:t>
                </a:r>
                <a:r>
                  <a:rPr lang="en-US" b="1" baseline="30000" dirty="0"/>
                  <a:t>2</a:t>
                </a:r>
                <a:r>
                  <a:rPr lang="en-US" b="1" dirty="0"/>
                  <a:t> (R</a:t>
                </a:r>
                <a:r>
                  <a:rPr lang="en-US" b="1" baseline="-25000" dirty="0"/>
                  <a:t>1</a:t>
                </a:r>
                <a:r>
                  <a:rPr lang="en-US" b="1" dirty="0"/>
                  <a:t> + R</a:t>
                </a:r>
                <a:r>
                  <a:rPr lang="en-US" b="1" baseline="-25000" dirty="0"/>
                  <a:t>2</a:t>
                </a:r>
                <a:r>
                  <a:rPr lang="en-US" b="1" dirty="0"/>
                  <a:t> + R</a:t>
                </a:r>
                <a:r>
                  <a:rPr lang="en-US" b="1" baseline="-25000" dirty="0"/>
                  <a:t>3</a:t>
                </a:r>
                <a:r>
                  <a:rPr lang="en-US" b="1" dirty="0"/>
                  <a:t>)   </a:t>
                </a:r>
                <a:endParaRPr lang="en-US" dirty="0"/>
              </a:p>
              <a:p>
                <a:pPr marL="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206062" y="312821"/>
                <a:ext cx="11147738" cy="5864141"/>
              </a:xfrm>
              <a:blipFill rotWithShape="1">
                <a:blip r:embed="rId2"/>
                <a:stretch>
                  <a:fillRect l="-984" t="-2079" b="-8316"/>
                </a:stretch>
              </a:blipFill>
            </p:spPr>
            <p:txBody>
              <a:bodyPr/>
              <a:lstStyle/>
              <a:p>
                <a:r>
                  <a:rPr lang="ru-RU">
                    <a:noFill/>
                  </a:rPr>
                  <a:t> </a:t>
                </a:r>
              </a:p>
            </p:txBody>
          </p:sp>
        </mc:Fallback>
      </mc:AlternateContent>
      <p:sp>
        <p:nvSpPr>
          <p:cNvPr id="4" name="Date Placeholder 3"/>
          <p:cNvSpPr>
            <a:spLocks noGrp="1"/>
          </p:cNvSpPr>
          <p:nvPr>
            <p:ph type="dt" sz="half" idx="10"/>
          </p:nvPr>
        </p:nvSpPr>
        <p:spPr/>
        <p:txBody>
          <a:bodyPr/>
          <a:lstStyle/>
          <a:p>
            <a:fld id="{2543EA26-32DA-4BBA-AB98-D041BB372D41}" type="datetime1">
              <a:rPr lang="en-US" smtClean="0"/>
              <a:t>9/29/2025</a:t>
            </a:fld>
            <a:endParaRPr lang="en-US"/>
          </a:p>
        </p:txBody>
      </p:sp>
      <p:sp>
        <p:nvSpPr>
          <p:cNvPr id="5" name="Slide Number Placeholder 4"/>
          <p:cNvSpPr>
            <a:spLocks noGrp="1"/>
          </p:cNvSpPr>
          <p:nvPr>
            <p:ph type="sldNum" sz="quarter" idx="12"/>
          </p:nvPr>
        </p:nvSpPr>
        <p:spPr/>
        <p:txBody>
          <a:bodyPr/>
          <a:lstStyle/>
          <a:p>
            <a:fld id="{0BC8E04C-76C2-4646-B4FE-D645B34E3502}" type="slidenum">
              <a:rPr lang="en-US" smtClean="0"/>
              <a:t>15</a:t>
            </a:fld>
            <a:endParaRPr lang="en-US"/>
          </a:p>
        </p:txBody>
      </p:sp>
      <p:sp>
        <p:nvSpPr>
          <p:cNvPr id="6" name="Footer Placeholder 5"/>
          <p:cNvSpPr>
            <a:spLocks noGrp="1"/>
          </p:cNvSpPr>
          <p:nvPr>
            <p:ph type="ftr" sz="quarter" idx="11"/>
          </p:nvPr>
        </p:nvSpPr>
        <p:spPr/>
        <p:txBody>
          <a:bodyPr/>
          <a:lstStyle/>
          <a:p>
            <a:r>
              <a:rPr lang="en-US"/>
              <a:t>CE80362: Circuit Analysis </a:t>
            </a:r>
          </a:p>
        </p:txBody>
      </p:sp>
    </p:spTree>
    <p:extLst>
      <p:ext uri="{BB962C8B-B14F-4D97-AF65-F5344CB8AC3E}">
        <p14:creationId xmlns:p14="http://schemas.microsoft.com/office/powerpoint/2010/main" val="24196917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91184" y="234821"/>
            <a:ext cx="11803569" cy="1586169"/>
          </a:xfrm>
          <a:prstGeom prst="rect">
            <a:avLst/>
          </a:prstGeom>
        </p:spPr>
      </p:pic>
      <p:pic>
        <p:nvPicPr>
          <p:cNvPr id="5" name="Picture 4"/>
          <p:cNvPicPr>
            <a:picLocks noChangeAspect="1"/>
          </p:cNvPicPr>
          <p:nvPr/>
        </p:nvPicPr>
        <p:blipFill>
          <a:blip r:embed="rId3"/>
          <a:stretch>
            <a:fillRect/>
          </a:stretch>
        </p:blipFill>
        <p:spPr>
          <a:xfrm>
            <a:off x="2682066" y="1820990"/>
            <a:ext cx="6680875" cy="4792801"/>
          </a:xfrm>
          <a:prstGeom prst="rect">
            <a:avLst/>
          </a:prstGeom>
        </p:spPr>
      </p:pic>
      <p:sp>
        <p:nvSpPr>
          <p:cNvPr id="3" name="Date Placeholder 2"/>
          <p:cNvSpPr>
            <a:spLocks noGrp="1"/>
          </p:cNvSpPr>
          <p:nvPr>
            <p:ph type="dt" sz="half" idx="10"/>
          </p:nvPr>
        </p:nvSpPr>
        <p:spPr/>
        <p:txBody>
          <a:bodyPr/>
          <a:lstStyle/>
          <a:p>
            <a:fld id="{E4A64503-5A85-4030-A600-708309D5582B}" type="datetime1">
              <a:rPr lang="en-US" smtClean="0"/>
              <a:t>9/29/2025</a:t>
            </a:fld>
            <a:endParaRPr lang="en-US"/>
          </a:p>
        </p:txBody>
      </p:sp>
      <p:sp>
        <p:nvSpPr>
          <p:cNvPr id="6" name="Slide Number Placeholder 5"/>
          <p:cNvSpPr>
            <a:spLocks noGrp="1"/>
          </p:cNvSpPr>
          <p:nvPr>
            <p:ph type="sldNum" sz="quarter" idx="12"/>
          </p:nvPr>
        </p:nvSpPr>
        <p:spPr/>
        <p:txBody>
          <a:bodyPr/>
          <a:lstStyle/>
          <a:p>
            <a:fld id="{0BC8E04C-76C2-4646-B4FE-D645B34E3502}" type="slidenum">
              <a:rPr lang="en-US" smtClean="0"/>
              <a:t>16</a:t>
            </a:fld>
            <a:endParaRPr lang="en-US"/>
          </a:p>
        </p:txBody>
      </p:sp>
      <p:sp>
        <p:nvSpPr>
          <p:cNvPr id="7" name="Footer Placeholder 6"/>
          <p:cNvSpPr>
            <a:spLocks noGrp="1"/>
          </p:cNvSpPr>
          <p:nvPr>
            <p:ph type="ftr" sz="quarter" idx="11"/>
          </p:nvPr>
        </p:nvSpPr>
        <p:spPr/>
        <p:txBody>
          <a:bodyPr/>
          <a:lstStyle/>
          <a:p>
            <a:r>
              <a:rPr lang="en-US"/>
              <a:t>CE80362: Circuit Analysis </a:t>
            </a:r>
          </a:p>
        </p:txBody>
      </p:sp>
    </p:spTree>
    <p:extLst>
      <p:ext uri="{BB962C8B-B14F-4D97-AF65-F5344CB8AC3E}">
        <p14:creationId xmlns:p14="http://schemas.microsoft.com/office/powerpoint/2010/main" val="10582452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Parallel combination of Resistances </a:t>
            </a:r>
            <a:endParaRPr lang="en-US" dirty="0"/>
          </a:p>
        </p:txBody>
      </p:sp>
      <p:sp>
        <p:nvSpPr>
          <p:cNvPr id="3" name="Content Placeholder 2"/>
          <p:cNvSpPr>
            <a:spLocks noGrp="1"/>
          </p:cNvSpPr>
          <p:nvPr>
            <p:ph idx="1"/>
          </p:nvPr>
        </p:nvSpPr>
        <p:spPr>
          <a:xfrm>
            <a:off x="167425" y="1300766"/>
            <a:ext cx="11797048" cy="5557234"/>
          </a:xfrm>
        </p:spPr>
        <p:txBody>
          <a:bodyPr/>
          <a:lstStyle/>
          <a:p>
            <a:r>
              <a:rPr lang="en-US" sz="4000" dirty="0"/>
              <a:t>Consider three resistances R</a:t>
            </a:r>
            <a:r>
              <a:rPr lang="en-US" sz="4000" baseline="-25000" dirty="0"/>
              <a:t>1</a:t>
            </a:r>
            <a:r>
              <a:rPr lang="en-US" sz="4000" dirty="0"/>
              <a:t>, R</a:t>
            </a:r>
            <a:r>
              <a:rPr lang="en-US" sz="4000" baseline="-25000" dirty="0"/>
              <a:t>2</a:t>
            </a:r>
            <a:r>
              <a:rPr lang="en-US" sz="4000" dirty="0"/>
              <a:t> &amp; R</a:t>
            </a:r>
            <a:r>
              <a:rPr lang="en-US" sz="4000" baseline="-25000" dirty="0"/>
              <a:t>3</a:t>
            </a:r>
            <a:r>
              <a:rPr lang="en-US" sz="4000" dirty="0"/>
              <a:t> connected in parallel combination with a power supply of voltage V as shown below.</a:t>
            </a:r>
          </a:p>
          <a:p>
            <a:endParaRPr lang="en-US" dirty="0"/>
          </a:p>
          <a:p>
            <a:endParaRPr lang="en-US" dirty="0"/>
          </a:p>
          <a:p>
            <a:endParaRPr lang="en-US" dirty="0"/>
          </a:p>
          <a:p>
            <a:endParaRPr lang="en-US" dirty="0"/>
          </a:p>
          <a:p>
            <a:endParaRPr lang="en-US" dirty="0"/>
          </a:p>
          <a:p>
            <a:endParaRPr lang="en-US" dirty="0"/>
          </a:p>
        </p:txBody>
      </p:sp>
      <p:pic>
        <p:nvPicPr>
          <p:cNvPr id="4" name="Picture 3" descr="http://www.citycollegiate.com/parallel_combinationx.gif"/>
          <p:cNvPicPr/>
          <p:nvPr/>
        </p:nvPicPr>
        <p:blipFill>
          <a:blip r:embed="rId2">
            <a:extLst>
              <a:ext uri="{28A0092B-C50C-407E-A947-70E740481C1C}">
                <a14:useLocalDpi xmlns:a14="http://schemas.microsoft.com/office/drawing/2010/main" val="0"/>
              </a:ext>
            </a:extLst>
          </a:blip>
          <a:srcRect/>
          <a:stretch>
            <a:fillRect/>
          </a:stretch>
        </p:blipFill>
        <p:spPr bwMode="auto">
          <a:xfrm>
            <a:off x="3361387" y="3000777"/>
            <a:ext cx="5847008" cy="3857223"/>
          </a:xfrm>
          <a:prstGeom prst="rect">
            <a:avLst/>
          </a:prstGeom>
          <a:noFill/>
          <a:ln>
            <a:noFill/>
          </a:ln>
        </p:spPr>
      </p:pic>
      <p:sp>
        <p:nvSpPr>
          <p:cNvPr id="5" name="Date Placeholder 4"/>
          <p:cNvSpPr>
            <a:spLocks noGrp="1"/>
          </p:cNvSpPr>
          <p:nvPr>
            <p:ph type="dt" sz="half" idx="10"/>
          </p:nvPr>
        </p:nvSpPr>
        <p:spPr/>
        <p:txBody>
          <a:bodyPr/>
          <a:lstStyle/>
          <a:p>
            <a:fld id="{87FCA640-432B-4320-8B69-C7D750F57CF0}" type="datetime1">
              <a:rPr lang="en-US" smtClean="0"/>
              <a:t>9/29/2025</a:t>
            </a:fld>
            <a:endParaRPr lang="en-US"/>
          </a:p>
        </p:txBody>
      </p:sp>
      <p:sp>
        <p:nvSpPr>
          <p:cNvPr id="6" name="Slide Number Placeholder 5"/>
          <p:cNvSpPr>
            <a:spLocks noGrp="1"/>
          </p:cNvSpPr>
          <p:nvPr>
            <p:ph type="sldNum" sz="quarter" idx="12"/>
          </p:nvPr>
        </p:nvSpPr>
        <p:spPr/>
        <p:txBody>
          <a:bodyPr/>
          <a:lstStyle/>
          <a:p>
            <a:fld id="{0BC8E04C-76C2-4646-B4FE-D645B34E3502}" type="slidenum">
              <a:rPr lang="en-US" smtClean="0"/>
              <a:t>17</a:t>
            </a:fld>
            <a:endParaRPr lang="en-US"/>
          </a:p>
        </p:txBody>
      </p:sp>
      <p:sp>
        <p:nvSpPr>
          <p:cNvPr id="7" name="Footer Placeholder 6"/>
          <p:cNvSpPr>
            <a:spLocks noGrp="1"/>
          </p:cNvSpPr>
          <p:nvPr>
            <p:ph type="ftr" sz="quarter" idx="11"/>
          </p:nvPr>
        </p:nvSpPr>
        <p:spPr/>
        <p:txBody>
          <a:bodyPr/>
          <a:lstStyle/>
          <a:p>
            <a:r>
              <a:rPr lang="en-US"/>
              <a:t>CE80362: Circuit Analysis </a:t>
            </a:r>
          </a:p>
        </p:txBody>
      </p:sp>
    </p:spTree>
    <p:extLst>
      <p:ext uri="{BB962C8B-B14F-4D97-AF65-F5344CB8AC3E}">
        <p14:creationId xmlns:p14="http://schemas.microsoft.com/office/powerpoint/2010/main" val="29943154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622738"/>
            <a:ext cx="10515600" cy="67950"/>
          </a:xfrm>
        </p:spPr>
        <p:txBody>
          <a:bodyPr>
            <a:noAutofit/>
          </a:bodyPr>
          <a:lstStyle/>
          <a:p>
            <a:endParaRPr lang="en-US" sz="800" dirty="0"/>
          </a:p>
        </p:txBody>
      </p:sp>
      <p:sp>
        <p:nvSpPr>
          <p:cNvPr id="3" name="Content Placeholder 2"/>
          <p:cNvSpPr>
            <a:spLocks noGrp="1"/>
          </p:cNvSpPr>
          <p:nvPr>
            <p:ph idx="1"/>
          </p:nvPr>
        </p:nvSpPr>
        <p:spPr>
          <a:xfrm>
            <a:off x="206062" y="154546"/>
            <a:ext cx="11835684" cy="6581105"/>
          </a:xfrm>
        </p:spPr>
        <p:txBody>
          <a:bodyPr/>
          <a:lstStyle/>
          <a:p>
            <a:r>
              <a:rPr lang="en-US" dirty="0"/>
              <a:t>Now</a:t>
            </a:r>
          </a:p>
          <a:p>
            <a:pPr marL="0" indent="0">
              <a:buNone/>
            </a:pPr>
            <a:r>
              <a:rPr lang="en-US" dirty="0"/>
              <a:t>                                                      I = I</a:t>
            </a:r>
            <a:r>
              <a:rPr lang="en-US" baseline="-25000" dirty="0"/>
              <a:t>1</a:t>
            </a:r>
            <a:r>
              <a:rPr lang="en-US" dirty="0"/>
              <a:t> + I</a:t>
            </a:r>
            <a:r>
              <a:rPr lang="en-US" baseline="-25000" dirty="0"/>
              <a:t>2</a:t>
            </a:r>
            <a:r>
              <a:rPr lang="en-US" dirty="0"/>
              <a:t> + I</a:t>
            </a:r>
            <a:r>
              <a:rPr lang="en-US" baseline="-25000" dirty="0"/>
              <a:t>3</a:t>
            </a:r>
            <a:r>
              <a:rPr lang="en-US" dirty="0"/>
              <a:t> </a:t>
            </a:r>
          </a:p>
          <a:p>
            <a:pPr marL="0" indent="0">
              <a:buNone/>
            </a:pPr>
            <a:r>
              <a:rPr lang="en-US" dirty="0"/>
              <a:t>                                       According to Ohm’s law</a:t>
            </a:r>
          </a:p>
          <a:p>
            <a:pPr marL="0" indent="0">
              <a:buNone/>
            </a:pPr>
            <a:r>
              <a:rPr lang="en-US" sz="2000" dirty="0"/>
              <a:t>                                          V/R = I</a:t>
            </a:r>
          </a:p>
          <a:p>
            <a:pPr marL="0" indent="0">
              <a:buNone/>
            </a:pPr>
            <a:r>
              <a:rPr lang="en-US" sz="2000" dirty="0"/>
              <a:t>  Therefore,               V/R = V/R</a:t>
            </a:r>
            <a:r>
              <a:rPr lang="en-US" sz="2000" baseline="-25000" dirty="0"/>
              <a:t>1</a:t>
            </a:r>
            <a:r>
              <a:rPr lang="en-US" sz="2000" dirty="0"/>
              <a:t> + V/R</a:t>
            </a:r>
            <a:r>
              <a:rPr lang="en-US" sz="2000" baseline="-25000" dirty="0"/>
              <a:t>2</a:t>
            </a:r>
            <a:r>
              <a:rPr lang="en-US" sz="2000" dirty="0"/>
              <a:t> + V/R</a:t>
            </a:r>
            <a:r>
              <a:rPr lang="en-US" sz="2000" baseline="-25000" dirty="0"/>
              <a:t>3 </a:t>
            </a:r>
            <a:endParaRPr lang="en-US" sz="2000" dirty="0"/>
          </a:p>
          <a:p>
            <a:pPr marL="0" indent="0">
              <a:buNone/>
            </a:pPr>
            <a:r>
              <a:rPr lang="en-US" sz="2000" dirty="0"/>
              <a:t>                                    V/R = V (1/R</a:t>
            </a:r>
            <a:r>
              <a:rPr lang="en-US" sz="2000" baseline="-25000" dirty="0"/>
              <a:t>1</a:t>
            </a:r>
            <a:r>
              <a:rPr lang="en-US" sz="2000" dirty="0"/>
              <a:t> + 1/R</a:t>
            </a:r>
            <a:r>
              <a:rPr lang="en-US" sz="2000" baseline="-25000" dirty="0"/>
              <a:t>2</a:t>
            </a:r>
            <a:r>
              <a:rPr lang="en-US" sz="2000" dirty="0"/>
              <a:t> + 1/R</a:t>
            </a:r>
            <a:r>
              <a:rPr lang="en-US" sz="2000" baseline="-25000" dirty="0"/>
              <a:t>3</a:t>
            </a:r>
            <a:r>
              <a:rPr lang="en-US" sz="2000" dirty="0"/>
              <a:t>) dividing by V we obtain</a:t>
            </a:r>
          </a:p>
          <a:p>
            <a:pPr marL="0" indent="0">
              <a:buNone/>
            </a:pPr>
            <a:r>
              <a:rPr lang="en-US" sz="2000" dirty="0"/>
              <a:t>                                    1/R = 1/R</a:t>
            </a:r>
            <a:r>
              <a:rPr lang="en-US" sz="2000" baseline="-25000" dirty="0"/>
              <a:t>1 </a:t>
            </a:r>
            <a:r>
              <a:rPr lang="en-US" sz="2000" dirty="0"/>
              <a:t>+ 1/R</a:t>
            </a:r>
            <a:r>
              <a:rPr lang="en-US" sz="2000" baseline="-25000" dirty="0"/>
              <a:t>2</a:t>
            </a:r>
            <a:r>
              <a:rPr lang="en-US" sz="2000" dirty="0"/>
              <a:t> + 1/R</a:t>
            </a:r>
            <a:r>
              <a:rPr lang="en-US" sz="2000" baseline="-25000" dirty="0"/>
              <a:t>3</a:t>
            </a:r>
          </a:p>
          <a:p>
            <a:pPr marL="0" indent="0">
              <a:buNone/>
            </a:pPr>
            <a:endParaRPr lang="en-US" baseline="-25000" dirty="0"/>
          </a:p>
          <a:p>
            <a:pPr marL="0" indent="0">
              <a:buNone/>
            </a:pPr>
            <a:endParaRPr lang="en-US" dirty="0"/>
          </a:p>
          <a:p>
            <a:pPr marL="0" indent="0">
              <a:buNone/>
            </a:pPr>
            <a:r>
              <a:rPr lang="en-US" dirty="0"/>
              <a:t>Similarly, for the calculation of two resistances </a:t>
            </a:r>
            <a:r>
              <a:rPr lang="en-US" i="1" dirty="0"/>
              <a:t>R</a:t>
            </a:r>
            <a:r>
              <a:rPr lang="en-US" baseline="-25000" dirty="0"/>
              <a:t>1</a:t>
            </a:r>
            <a:r>
              <a:rPr lang="en-US" dirty="0"/>
              <a:t> and </a:t>
            </a:r>
            <a:r>
              <a:rPr lang="en-US" i="1" dirty="0"/>
              <a:t>R</a:t>
            </a:r>
            <a:r>
              <a:rPr lang="en-US" baseline="-25000" dirty="0"/>
              <a:t>2</a:t>
            </a:r>
            <a:r>
              <a:rPr lang="en-US" dirty="0"/>
              <a:t> connected in parallel:</a:t>
            </a:r>
          </a:p>
          <a:p>
            <a:pPr marL="0" indent="0">
              <a:buNone/>
            </a:pPr>
            <a:endParaRPr lang="en-US" dirty="0"/>
          </a:p>
          <a:p>
            <a:pPr marL="0" indent="0">
              <a:buNone/>
            </a:pPr>
            <a:endParaRPr lang="en-US" dirty="0"/>
          </a:p>
          <a:p>
            <a:pPr marL="0" indent="0">
              <a:buNone/>
            </a:pPr>
            <a:endParaRPr lang="en-US" dirty="0"/>
          </a:p>
          <a:p>
            <a:pPr marL="0" indent="0">
              <a:buNone/>
            </a:pPr>
            <a:endParaRPr lang="en-US" dirty="0"/>
          </a:p>
        </p:txBody>
      </p:sp>
      <p:pic>
        <p:nvPicPr>
          <p:cNvPr id="4" name="Picture 3" descr="Parallel01"/>
          <p:cNvPicPr/>
          <p:nvPr/>
        </p:nvPicPr>
        <p:blipFill>
          <a:blip r:embed="rId2">
            <a:extLst>
              <a:ext uri="{28A0092B-C50C-407E-A947-70E740481C1C}">
                <a14:useLocalDpi xmlns:a14="http://schemas.microsoft.com/office/drawing/2010/main" val="0"/>
              </a:ext>
            </a:extLst>
          </a:blip>
          <a:srcRect/>
          <a:stretch>
            <a:fillRect/>
          </a:stretch>
        </p:blipFill>
        <p:spPr bwMode="auto">
          <a:xfrm>
            <a:off x="3760631" y="4868215"/>
            <a:ext cx="2839456" cy="682580"/>
          </a:xfrm>
          <a:prstGeom prst="rect">
            <a:avLst/>
          </a:prstGeom>
          <a:noFill/>
          <a:ln>
            <a:noFill/>
          </a:ln>
        </p:spPr>
      </p:pic>
      <p:pic>
        <p:nvPicPr>
          <p:cNvPr id="5" name="Picture 4" descr="Parallel02"/>
          <p:cNvPicPr/>
          <p:nvPr/>
        </p:nvPicPr>
        <p:blipFill>
          <a:blip r:embed="rId3">
            <a:extLst>
              <a:ext uri="{28A0092B-C50C-407E-A947-70E740481C1C}">
                <a14:useLocalDpi xmlns:a14="http://schemas.microsoft.com/office/drawing/2010/main" val="0"/>
              </a:ext>
            </a:extLst>
          </a:blip>
          <a:srcRect/>
          <a:stretch>
            <a:fillRect/>
          </a:stretch>
        </p:blipFill>
        <p:spPr bwMode="auto">
          <a:xfrm>
            <a:off x="3915177" y="5769735"/>
            <a:ext cx="3477295" cy="824248"/>
          </a:xfrm>
          <a:prstGeom prst="rect">
            <a:avLst/>
          </a:prstGeom>
          <a:noFill/>
          <a:ln>
            <a:noFill/>
          </a:ln>
        </p:spPr>
      </p:pic>
      <p:pic>
        <p:nvPicPr>
          <p:cNvPr id="6" name="Picture 5"/>
          <p:cNvPicPr>
            <a:picLocks noChangeAspect="1"/>
          </p:cNvPicPr>
          <p:nvPr/>
        </p:nvPicPr>
        <p:blipFill>
          <a:blip r:embed="rId4"/>
          <a:stretch>
            <a:fillRect/>
          </a:stretch>
        </p:blipFill>
        <p:spPr>
          <a:xfrm>
            <a:off x="328238" y="3348449"/>
            <a:ext cx="10651171" cy="763525"/>
          </a:xfrm>
          <a:prstGeom prst="rect">
            <a:avLst/>
          </a:prstGeom>
        </p:spPr>
      </p:pic>
      <p:sp>
        <p:nvSpPr>
          <p:cNvPr id="7" name="Date Placeholder 6"/>
          <p:cNvSpPr>
            <a:spLocks noGrp="1"/>
          </p:cNvSpPr>
          <p:nvPr>
            <p:ph type="dt" sz="half" idx="10"/>
          </p:nvPr>
        </p:nvSpPr>
        <p:spPr/>
        <p:txBody>
          <a:bodyPr/>
          <a:lstStyle/>
          <a:p>
            <a:fld id="{C8EA945A-246D-46B7-A5B5-11F72D312CE1}" type="datetime1">
              <a:rPr lang="en-US" smtClean="0"/>
              <a:t>9/29/2025</a:t>
            </a:fld>
            <a:endParaRPr lang="en-US"/>
          </a:p>
        </p:txBody>
      </p:sp>
      <p:sp>
        <p:nvSpPr>
          <p:cNvPr id="8" name="Slide Number Placeholder 7"/>
          <p:cNvSpPr>
            <a:spLocks noGrp="1"/>
          </p:cNvSpPr>
          <p:nvPr>
            <p:ph type="sldNum" sz="quarter" idx="12"/>
          </p:nvPr>
        </p:nvSpPr>
        <p:spPr/>
        <p:txBody>
          <a:bodyPr/>
          <a:lstStyle/>
          <a:p>
            <a:fld id="{0BC8E04C-76C2-4646-B4FE-D645B34E3502}" type="slidenum">
              <a:rPr lang="en-US" smtClean="0"/>
              <a:t>18</a:t>
            </a:fld>
            <a:endParaRPr lang="en-US"/>
          </a:p>
        </p:txBody>
      </p:sp>
      <p:sp>
        <p:nvSpPr>
          <p:cNvPr id="9" name="Footer Placeholder 8"/>
          <p:cNvSpPr>
            <a:spLocks noGrp="1"/>
          </p:cNvSpPr>
          <p:nvPr>
            <p:ph type="ftr" sz="quarter" idx="11"/>
          </p:nvPr>
        </p:nvSpPr>
        <p:spPr/>
        <p:txBody>
          <a:bodyPr/>
          <a:lstStyle/>
          <a:p>
            <a:r>
              <a:rPr lang="en-US"/>
              <a:t>CE80362: Circuit Analysis </a:t>
            </a:r>
          </a:p>
        </p:txBody>
      </p:sp>
    </p:spTree>
    <p:extLst>
      <p:ext uri="{BB962C8B-B14F-4D97-AF65-F5344CB8AC3E}">
        <p14:creationId xmlns:p14="http://schemas.microsoft.com/office/powerpoint/2010/main" val="14719014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a:xfrm>
                <a:off x="206061" y="365125"/>
                <a:ext cx="11784169" cy="6492875"/>
              </a:xfrm>
            </p:spPr>
            <p:txBody>
              <a:bodyPr>
                <a:noAutofit/>
              </a:bodyPr>
              <a:lstStyle/>
              <a:p>
                <a:pPr/>
                <a:r>
                  <a:rPr lang="en-US" sz="2000" dirty="0"/>
                  <a:t>Calculation of the necessary parallel resistor </a:t>
                </a:r>
                <a:r>
                  <a:rPr lang="en-US" sz="2000" i="1" dirty="0"/>
                  <a:t>R</a:t>
                </a:r>
                <a:r>
                  <a:rPr lang="en-US" sz="2000" baseline="-25000" dirty="0"/>
                  <a:t>2</a:t>
                </a:r>
                <a:r>
                  <a:rPr lang="en-US" sz="2000" dirty="0"/>
                  <a:t>, when </a:t>
                </a:r>
                <a:r>
                  <a:rPr lang="en-US" sz="2000" i="1" dirty="0"/>
                  <a:t>R</a:t>
                </a:r>
                <a:r>
                  <a:rPr lang="en-US" sz="2000" baseline="-25000" dirty="0"/>
                  <a:t>1</a:t>
                </a:r>
                <a:r>
                  <a:rPr lang="en-US" sz="2000" dirty="0"/>
                  <a:t> and the total resistance </a:t>
                </a:r>
                <a:r>
                  <a:rPr lang="en-US" sz="2000" i="1" dirty="0" err="1"/>
                  <a:t>R</a:t>
                </a:r>
                <a:r>
                  <a:rPr lang="en-US" sz="2000" baseline="-25000" dirty="0" err="1"/>
                  <a:t>total</a:t>
                </a:r>
                <a:r>
                  <a:rPr lang="en-US" sz="2000" dirty="0"/>
                  <a:t> is given:</a:t>
                </a:r>
                <a:br>
                  <a:rPr lang="en-US" sz="2000" dirty="0"/>
                </a:br>
                <a:br>
                  <a:rPr lang="en-US" sz="2000" dirty="0"/>
                </a:br>
                <a:br>
                  <a:rPr lang="en-US" sz="2000" dirty="0"/>
                </a:br>
                <a:br>
                  <a:rPr lang="en-US" sz="2000" dirty="0"/>
                </a:br>
                <a:br>
                  <a:rPr lang="en-US" sz="2000" dirty="0"/>
                </a:br>
                <a:br>
                  <a:rPr lang="en-US" sz="2000" dirty="0"/>
                </a:br>
                <a:r>
                  <a:rPr lang="en-US" sz="2000" dirty="0"/>
                  <a:t>The power loss in the circuit above is given by</a:t>
                </a:r>
                <a:br>
                  <a:rPr lang="en-US" sz="2000"/>
                </a:br>
                <a:r>
                  <a:rPr lang="en-US" sz="2000"/>
                  <a:t>                                                                                 P=P</a:t>
                </a:r>
                <a:r>
                  <a:rPr lang="en-US" sz="2000" baseline="-25000"/>
                  <a:t>R1</a:t>
                </a:r>
                <a:r>
                  <a:rPr lang="en-US" sz="2000"/>
                  <a:t>+P</a:t>
                </a:r>
                <a:r>
                  <a:rPr lang="en-US" sz="2000" baseline="-25000"/>
                  <a:t>R2</a:t>
                </a:r>
                <a:r>
                  <a:rPr lang="en-US" sz="2000"/>
                  <a:t>+P</a:t>
                </a:r>
                <a:r>
                  <a:rPr lang="en-US" sz="2000" baseline="-25000"/>
                  <a:t>R3</a:t>
                </a:r>
                <a:r>
                  <a:rPr lang="en-US" sz="2000"/>
                  <a:t> </a:t>
                </a:r>
                <a:br>
                  <a:rPr lang="en-US" sz="2000" dirty="0"/>
                </a:br>
                <a:br>
                  <a:rPr lang="en-US" sz="2000" dirty="0"/>
                </a:br>
                <a:r>
                  <a:rPr lang="en-US" sz="2000" dirty="0"/>
                  <a:t>P</a:t>
                </a:r>
                <a:r>
                  <a:rPr lang="en-US" sz="2000" baseline="-25000" dirty="0"/>
                  <a:t>R1</a:t>
                </a:r>
                <a:r>
                  <a:rPr lang="en-US" sz="2000" dirty="0"/>
                  <a:t>, P</a:t>
                </a:r>
                <a:r>
                  <a:rPr lang="en-US" sz="2000" baseline="-25000" dirty="0"/>
                  <a:t>R2</a:t>
                </a:r>
                <a:r>
                  <a:rPr lang="en-US" sz="2000" dirty="0"/>
                  <a:t> and P</a:t>
                </a:r>
                <a:r>
                  <a:rPr lang="en-US" sz="2000" baseline="-25000" dirty="0"/>
                  <a:t>R3</a:t>
                </a:r>
                <a:r>
                  <a:rPr lang="en-US" sz="2000" dirty="0"/>
                  <a:t> being the individual power loss in the resistors R</a:t>
                </a:r>
                <a:r>
                  <a:rPr lang="en-US" sz="2000" baseline="-25000" dirty="0"/>
                  <a:t>1</a:t>
                </a:r>
                <a:r>
                  <a:rPr lang="en-US" sz="2000" dirty="0"/>
                  <a:t>, R</a:t>
                </a:r>
                <a:r>
                  <a:rPr lang="en-US" sz="2000" baseline="-25000" dirty="0"/>
                  <a:t>2</a:t>
                </a:r>
                <a:r>
                  <a:rPr lang="en-US" sz="2000" dirty="0"/>
                  <a:t>, R</a:t>
                </a:r>
                <a:r>
                  <a:rPr lang="en-US" sz="2000" baseline="-25000" dirty="0"/>
                  <a:t>3</a:t>
                </a:r>
                <a:r>
                  <a:rPr lang="en-US" sz="2000" dirty="0"/>
                  <a:t> respectively </a:t>
                </a:r>
                <a:br>
                  <a:rPr lang="en-US" sz="2000" dirty="0"/>
                </a:br>
                <a:r>
                  <a:rPr lang="en-US" sz="2000" dirty="0"/>
                  <a:t>                                                               </a:t>
                </a:r>
                <a:br>
                  <a:rPr lang="en-US" sz="2000" dirty="0"/>
                </a:br>
                <a:r>
                  <a:rPr lang="en-US" sz="2000" dirty="0"/>
                  <a:t>                                                   P=I</a:t>
                </a:r>
                <a:r>
                  <a:rPr lang="en-US" sz="2000" baseline="30000" dirty="0"/>
                  <a:t>2</a:t>
                </a:r>
                <a:r>
                  <a:rPr lang="en-US" sz="2000" baseline="-25000" dirty="0"/>
                  <a:t>R1</a:t>
                </a:r>
                <a:r>
                  <a:rPr lang="en-US" sz="2000" dirty="0"/>
                  <a:t>.R</a:t>
                </a:r>
                <a:r>
                  <a:rPr lang="en-US" sz="2000" baseline="-25000" dirty="0"/>
                  <a:t>1</a:t>
                </a:r>
                <a:r>
                  <a:rPr lang="en-US" sz="2000" dirty="0"/>
                  <a:t>+I</a:t>
                </a:r>
                <a:r>
                  <a:rPr lang="en-US" sz="2000" baseline="30000" dirty="0"/>
                  <a:t>2</a:t>
                </a:r>
                <a:r>
                  <a:rPr lang="en-US" sz="2000" baseline="-25000" dirty="0"/>
                  <a:t>R2</a:t>
                </a:r>
                <a:r>
                  <a:rPr lang="en-US" sz="2000" dirty="0"/>
                  <a:t>.R</a:t>
                </a:r>
                <a:r>
                  <a:rPr lang="en-US" sz="2000" baseline="-25000" dirty="0"/>
                  <a:t>2</a:t>
                </a:r>
                <a:r>
                  <a:rPr lang="en-US" sz="2000" dirty="0"/>
                  <a:t>+I</a:t>
                </a:r>
                <a:r>
                  <a:rPr lang="en-US" sz="2000" baseline="30000" dirty="0"/>
                  <a:t>2</a:t>
                </a:r>
                <a:r>
                  <a:rPr lang="en-US" sz="2000" baseline="-25000" dirty="0"/>
                  <a:t>R3</a:t>
                </a:r>
                <a:r>
                  <a:rPr lang="en-US" sz="2000" dirty="0"/>
                  <a:t>.R</a:t>
                </a:r>
                <a:r>
                  <a:rPr lang="en-US" sz="2000" baseline="-25000" dirty="0"/>
                  <a:t>3</a:t>
                </a:r>
                <a:br>
                  <a:rPr lang="en-US" sz="2000" baseline="-25000" dirty="0"/>
                </a:br>
                <a14:m>
                  <m:oMathPara xmlns:m="http://schemas.openxmlformats.org/officeDocument/2006/math">
                    <m:oMathParaPr>
                      <m:jc m:val="centerGroup"/>
                    </m:oMathParaPr>
                    <m:oMath xmlns:m="http://schemas.openxmlformats.org/officeDocument/2006/math">
                      <m:r>
                        <a:rPr lang="en-US" sz="2000" i="1">
                          <a:latin typeface="Cambria Math" panose="02040503050406030204" pitchFamily="18" charset="0"/>
                        </a:rPr>
                        <m:t>=</m:t>
                      </m:r>
                      <m:d>
                        <m:dPr>
                          <m:ctrlPr>
                            <a:rPr lang="en-US" sz="2000" i="1">
                              <a:latin typeface="Cambria Math" panose="02040503050406030204" pitchFamily="18" charset="0"/>
                            </a:rPr>
                          </m:ctrlPr>
                        </m:dPr>
                        <m:e>
                          <m:f>
                            <m:fPr>
                              <m:ctrlPr>
                                <a:rPr lang="en-US" sz="2000" i="1">
                                  <a:latin typeface="Cambria Math" panose="02040503050406030204" pitchFamily="18" charset="0"/>
                                </a:rPr>
                              </m:ctrlPr>
                            </m:fPr>
                            <m:num>
                              <m:sSup>
                                <m:sSupPr>
                                  <m:ctrlPr>
                                    <a:rPr lang="en-US" sz="2000" i="1">
                                      <a:latin typeface="Cambria Math" panose="02040503050406030204" pitchFamily="18" charset="0"/>
                                    </a:rPr>
                                  </m:ctrlPr>
                                </m:sSupPr>
                                <m:e>
                                  <m:r>
                                    <a:rPr lang="en-US" sz="2000" i="1">
                                      <a:latin typeface="Cambria Math" panose="02040503050406030204" pitchFamily="18" charset="0"/>
                                    </a:rPr>
                                    <m:t>𝑉</m:t>
                                  </m:r>
                                </m:e>
                                <m:sup>
                                  <m:r>
                                    <a:rPr lang="en-US" sz="2000" i="1">
                                      <a:latin typeface="Cambria Math" panose="02040503050406030204" pitchFamily="18" charset="0"/>
                                    </a:rPr>
                                    <m:t>2</m:t>
                                  </m:r>
                                </m:sup>
                              </m:sSup>
                            </m:num>
                            <m:den>
                              <m:sSub>
                                <m:sSubPr>
                                  <m:ctrlPr>
                                    <a:rPr lang="en-US" sz="2000" i="1">
                                      <a:latin typeface="Cambria Math" panose="02040503050406030204" pitchFamily="18" charset="0"/>
                                    </a:rPr>
                                  </m:ctrlPr>
                                </m:sSubPr>
                                <m:e>
                                  <m:r>
                                    <a:rPr lang="en-US" sz="2000" i="1">
                                      <a:latin typeface="Cambria Math" panose="02040503050406030204" pitchFamily="18" charset="0"/>
                                    </a:rPr>
                                    <m:t>𝑅</m:t>
                                  </m:r>
                                </m:e>
                                <m:sub>
                                  <m:r>
                                    <a:rPr lang="en-US" sz="2000" i="1">
                                      <a:latin typeface="Cambria Math" panose="02040503050406030204" pitchFamily="18" charset="0"/>
                                    </a:rPr>
                                    <m:t>1</m:t>
                                  </m:r>
                                </m:sub>
                              </m:sSub>
                            </m:den>
                          </m:f>
                          <m:r>
                            <a:rPr lang="en-US" sz="2000" i="1">
                              <a:latin typeface="Cambria Math" panose="02040503050406030204" pitchFamily="18" charset="0"/>
                            </a:rPr>
                            <m:t>+</m:t>
                          </m:r>
                          <m:f>
                            <m:fPr>
                              <m:ctrlPr>
                                <a:rPr lang="en-US" sz="2000" i="1">
                                  <a:latin typeface="Cambria Math" panose="02040503050406030204" pitchFamily="18" charset="0"/>
                                </a:rPr>
                              </m:ctrlPr>
                            </m:fPr>
                            <m:num>
                              <m:sSup>
                                <m:sSupPr>
                                  <m:ctrlPr>
                                    <a:rPr lang="en-US" sz="2000" i="1">
                                      <a:latin typeface="Cambria Math" panose="02040503050406030204" pitchFamily="18" charset="0"/>
                                    </a:rPr>
                                  </m:ctrlPr>
                                </m:sSupPr>
                                <m:e>
                                  <m:r>
                                    <a:rPr lang="en-US" sz="2000" i="1">
                                      <a:latin typeface="Cambria Math" panose="02040503050406030204" pitchFamily="18" charset="0"/>
                                    </a:rPr>
                                    <m:t>𝑉</m:t>
                                  </m:r>
                                </m:e>
                                <m:sup>
                                  <m:r>
                                    <a:rPr lang="en-US" sz="2000" i="1">
                                      <a:latin typeface="Cambria Math" panose="02040503050406030204" pitchFamily="18" charset="0"/>
                                    </a:rPr>
                                    <m:t>2</m:t>
                                  </m:r>
                                </m:sup>
                              </m:sSup>
                            </m:num>
                            <m:den>
                              <m:sSub>
                                <m:sSubPr>
                                  <m:ctrlPr>
                                    <a:rPr lang="en-US" sz="2000" i="1">
                                      <a:latin typeface="Cambria Math" panose="02040503050406030204" pitchFamily="18" charset="0"/>
                                    </a:rPr>
                                  </m:ctrlPr>
                                </m:sSubPr>
                                <m:e>
                                  <m:r>
                                    <a:rPr lang="en-US" sz="2000" i="1">
                                      <a:latin typeface="Cambria Math" panose="02040503050406030204" pitchFamily="18" charset="0"/>
                                    </a:rPr>
                                    <m:t>𝑅</m:t>
                                  </m:r>
                                </m:e>
                                <m:sub>
                                  <m:r>
                                    <a:rPr lang="en-US" sz="2000" i="1">
                                      <a:latin typeface="Cambria Math" panose="02040503050406030204" pitchFamily="18" charset="0"/>
                                    </a:rPr>
                                    <m:t>2</m:t>
                                  </m:r>
                                </m:sub>
                              </m:sSub>
                            </m:den>
                          </m:f>
                          <m:r>
                            <a:rPr lang="en-US" sz="2000" i="1">
                              <a:latin typeface="Cambria Math" panose="02040503050406030204" pitchFamily="18" charset="0"/>
                            </a:rPr>
                            <m:t>+</m:t>
                          </m:r>
                          <m:f>
                            <m:fPr>
                              <m:ctrlPr>
                                <a:rPr lang="en-US" sz="2000" i="1">
                                  <a:latin typeface="Cambria Math" panose="02040503050406030204" pitchFamily="18" charset="0"/>
                                </a:rPr>
                              </m:ctrlPr>
                            </m:fPr>
                            <m:num>
                              <m:sSup>
                                <m:sSupPr>
                                  <m:ctrlPr>
                                    <a:rPr lang="en-US" sz="2000" i="1">
                                      <a:latin typeface="Cambria Math" panose="02040503050406030204" pitchFamily="18" charset="0"/>
                                    </a:rPr>
                                  </m:ctrlPr>
                                </m:sSupPr>
                                <m:e>
                                  <m:r>
                                    <a:rPr lang="en-US" sz="2000" i="1">
                                      <a:latin typeface="Cambria Math" panose="02040503050406030204" pitchFamily="18" charset="0"/>
                                    </a:rPr>
                                    <m:t>𝑉</m:t>
                                  </m:r>
                                </m:e>
                                <m:sup>
                                  <m:r>
                                    <a:rPr lang="en-US" sz="2000" i="1">
                                      <a:latin typeface="Cambria Math" panose="02040503050406030204" pitchFamily="18" charset="0"/>
                                    </a:rPr>
                                    <m:t>2</m:t>
                                  </m:r>
                                </m:sup>
                              </m:sSup>
                            </m:num>
                            <m:den>
                              <m:sSub>
                                <m:sSubPr>
                                  <m:ctrlPr>
                                    <a:rPr lang="en-US" sz="2000" i="1">
                                      <a:latin typeface="Cambria Math" panose="02040503050406030204" pitchFamily="18" charset="0"/>
                                    </a:rPr>
                                  </m:ctrlPr>
                                </m:sSubPr>
                                <m:e>
                                  <m:r>
                                    <a:rPr lang="en-US" sz="2000" i="1">
                                      <a:latin typeface="Cambria Math" panose="02040503050406030204" pitchFamily="18" charset="0"/>
                                    </a:rPr>
                                    <m:t>𝑅</m:t>
                                  </m:r>
                                </m:e>
                                <m:sub>
                                  <m:r>
                                    <a:rPr lang="en-US" sz="2000" i="1">
                                      <a:latin typeface="Cambria Math" panose="02040503050406030204" pitchFamily="18" charset="0"/>
                                    </a:rPr>
                                    <m:t>3</m:t>
                                  </m:r>
                                </m:sub>
                              </m:sSub>
                            </m:den>
                          </m:f>
                        </m:e>
                      </m:d>
                    </m:oMath>
                  </m:oMathPara>
                </a14:m>
                <a:br>
                  <a:rPr lang="en-US" sz="2000" i="1" dirty="0"/>
                </a:br>
                <a14:m>
                  <m:oMath xmlns:m="http://schemas.openxmlformats.org/officeDocument/2006/math">
                    <m:r>
                      <a:rPr lang="en-US" sz="2000" i="1">
                        <a:latin typeface="Cambria Math" panose="02040503050406030204" pitchFamily="18" charset="0"/>
                      </a:rPr>
                      <m:t> </m:t>
                    </m:r>
                  </m:oMath>
                </a14:m>
                <a:r>
                  <a:rPr lang="en-US" sz="2000" dirty="0"/>
                  <a:t> </a:t>
                </a:r>
                <a:br>
                  <a:rPr lang="en-US" sz="2000" dirty="0"/>
                </a:br>
                <a14:m>
                  <m:oMath xmlns:m="http://schemas.openxmlformats.org/officeDocument/2006/math">
                    <m:r>
                      <a:rPr lang="en-US" sz="2000" b="0" i="0" smtClean="0">
                        <a:latin typeface="Cambria Math" panose="02040503050406030204" pitchFamily="18" charset="0"/>
                      </a:rPr>
                      <m:t>                                                                                        </m:t>
                    </m:r>
                    <m:r>
                      <a:rPr lang="en-US" sz="2000" i="1">
                        <a:latin typeface="Cambria Math" panose="02040503050406030204" pitchFamily="18" charset="0"/>
                      </a:rPr>
                      <m:t>= </m:t>
                    </m:r>
                    <m:sSup>
                      <m:sSupPr>
                        <m:ctrlPr>
                          <a:rPr lang="en-US" sz="2000" i="1">
                            <a:latin typeface="Cambria Math" panose="02040503050406030204" pitchFamily="18" charset="0"/>
                          </a:rPr>
                        </m:ctrlPr>
                      </m:sSupPr>
                      <m:e>
                        <m:r>
                          <a:rPr lang="en-US" sz="2000" i="1">
                            <a:latin typeface="Cambria Math" panose="02040503050406030204" pitchFamily="18" charset="0"/>
                          </a:rPr>
                          <m:t>𝑉</m:t>
                        </m:r>
                      </m:e>
                      <m:sup>
                        <m:r>
                          <a:rPr lang="en-US" sz="2000" i="1">
                            <a:latin typeface="Cambria Math" panose="02040503050406030204" pitchFamily="18" charset="0"/>
                          </a:rPr>
                          <m:t>2 </m:t>
                        </m:r>
                      </m:sup>
                    </m:sSup>
                    <m:d>
                      <m:dPr>
                        <m:ctrlPr>
                          <a:rPr lang="en-US" sz="2000" i="1">
                            <a:latin typeface="Cambria Math" panose="02040503050406030204" pitchFamily="18" charset="0"/>
                          </a:rPr>
                        </m:ctrlPr>
                      </m:dPr>
                      <m:e>
                        <m:f>
                          <m:fPr>
                            <m:ctrlPr>
                              <a:rPr lang="en-US" sz="2000" i="1">
                                <a:latin typeface="Cambria Math" panose="02040503050406030204" pitchFamily="18" charset="0"/>
                              </a:rPr>
                            </m:ctrlPr>
                          </m:fPr>
                          <m:num>
                            <m:r>
                              <a:rPr lang="en-US" sz="2000" i="1">
                                <a:latin typeface="Cambria Math" panose="02040503050406030204" pitchFamily="18" charset="0"/>
                              </a:rPr>
                              <m:t>1</m:t>
                            </m:r>
                          </m:num>
                          <m:den>
                            <m:sSub>
                              <m:sSubPr>
                                <m:ctrlPr>
                                  <a:rPr lang="en-US" sz="2000" i="1">
                                    <a:latin typeface="Cambria Math" panose="02040503050406030204" pitchFamily="18" charset="0"/>
                                  </a:rPr>
                                </m:ctrlPr>
                              </m:sSubPr>
                              <m:e>
                                <m:r>
                                  <a:rPr lang="en-US" sz="2000" i="1">
                                    <a:latin typeface="Cambria Math" panose="02040503050406030204" pitchFamily="18" charset="0"/>
                                  </a:rPr>
                                  <m:t>𝑅</m:t>
                                </m:r>
                              </m:e>
                              <m:sub>
                                <m:r>
                                  <a:rPr lang="en-US" sz="2000" i="1">
                                    <a:latin typeface="Cambria Math" panose="02040503050406030204" pitchFamily="18" charset="0"/>
                                  </a:rPr>
                                  <m:t>1</m:t>
                                </m:r>
                              </m:sub>
                            </m:sSub>
                          </m:den>
                        </m:f>
                        <m:r>
                          <a:rPr lang="en-US" sz="2000" i="1">
                            <a:latin typeface="Cambria Math" panose="02040503050406030204" pitchFamily="18" charset="0"/>
                          </a:rPr>
                          <m:t>+</m:t>
                        </m:r>
                        <m:f>
                          <m:fPr>
                            <m:ctrlPr>
                              <a:rPr lang="en-US" sz="2000" i="1">
                                <a:latin typeface="Cambria Math" panose="02040503050406030204" pitchFamily="18" charset="0"/>
                              </a:rPr>
                            </m:ctrlPr>
                          </m:fPr>
                          <m:num>
                            <m:r>
                              <a:rPr lang="en-US" sz="2000" i="1">
                                <a:latin typeface="Cambria Math" panose="02040503050406030204" pitchFamily="18" charset="0"/>
                              </a:rPr>
                              <m:t>1</m:t>
                            </m:r>
                          </m:num>
                          <m:den>
                            <m:sSub>
                              <m:sSubPr>
                                <m:ctrlPr>
                                  <a:rPr lang="en-US" sz="2000" i="1">
                                    <a:latin typeface="Cambria Math" panose="02040503050406030204" pitchFamily="18" charset="0"/>
                                  </a:rPr>
                                </m:ctrlPr>
                              </m:sSubPr>
                              <m:e>
                                <m:r>
                                  <a:rPr lang="en-US" sz="2000" i="1">
                                    <a:latin typeface="Cambria Math" panose="02040503050406030204" pitchFamily="18" charset="0"/>
                                  </a:rPr>
                                  <m:t>𝑅</m:t>
                                </m:r>
                              </m:e>
                              <m:sub>
                                <m:r>
                                  <a:rPr lang="en-US" sz="2000" i="1">
                                    <a:latin typeface="Cambria Math" panose="02040503050406030204" pitchFamily="18" charset="0"/>
                                  </a:rPr>
                                  <m:t>2</m:t>
                                </m:r>
                              </m:sub>
                            </m:sSub>
                          </m:den>
                        </m:f>
                        <m:r>
                          <a:rPr lang="en-US" sz="2000" i="1">
                            <a:latin typeface="Cambria Math" panose="02040503050406030204" pitchFamily="18" charset="0"/>
                          </a:rPr>
                          <m:t>+</m:t>
                        </m:r>
                        <m:f>
                          <m:fPr>
                            <m:ctrlPr>
                              <a:rPr lang="en-US" sz="2000" i="1">
                                <a:latin typeface="Cambria Math" panose="02040503050406030204" pitchFamily="18" charset="0"/>
                              </a:rPr>
                            </m:ctrlPr>
                          </m:fPr>
                          <m:num>
                            <m:r>
                              <a:rPr lang="en-US" sz="2000" i="1">
                                <a:latin typeface="Cambria Math" panose="02040503050406030204" pitchFamily="18" charset="0"/>
                              </a:rPr>
                              <m:t>1</m:t>
                            </m:r>
                          </m:num>
                          <m:den>
                            <m:sSub>
                              <m:sSubPr>
                                <m:ctrlPr>
                                  <a:rPr lang="en-US" sz="2000" i="1">
                                    <a:latin typeface="Cambria Math" panose="02040503050406030204" pitchFamily="18" charset="0"/>
                                  </a:rPr>
                                </m:ctrlPr>
                              </m:sSubPr>
                              <m:e>
                                <m:r>
                                  <a:rPr lang="en-US" sz="2000" i="1">
                                    <a:latin typeface="Cambria Math" panose="02040503050406030204" pitchFamily="18" charset="0"/>
                                  </a:rPr>
                                  <m:t>𝑅</m:t>
                                </m:r>
                              </m:e>
                              <m:sub>
                                <m:r>
                                  <a:rPr lang="en-US" sz="2000" i="1">
                                    <a:latin typeface="Cambria Math" panose="02040503050406030204" pitchFamily="18" charset="0"/>
                                  </a:rPr>
                                  <m:t>3</m:t>
                                </m:r>
                              </m:sub>
                            </m:sSub>
                          </m:den>
                        </m:f>
                      </m:e>
                    </m:d>
                  </m:oMath>
                </a14:m>
                <a:r>
                  <a:rPr lang="en-US" sz="2000" dirty="0"/>
                  <a:t> Watts </a:t>
                </a:r>
                <a:br>
                  <a:rPr lang="en-US" sz="2000" dirty="0"/>
                </a:br>
                <a:r>
                  <a:rPr lang="en-US" sz="2000" dirty="0"/>
                  <a:t>NOTE: The conductance G is defined as the reciprocal of resistance.</a:t>
                </a:r>
                <a:br>
                  <a:rPr lang="en-US" sz="2000" dirty="0"/>
                </a:br>
                <a:br>
                  <a:rPr lang="en-US" sz="2000" dirty="0"/>
                </a:br>
                <a:r>
                  <a:rPr lang="en-US" sz="2000" dirty="0"/>
                  <a:t>Thus:  G</a:t>
                </a:r>
                <a:r>
                  <a:rPr lang="en-US" sz="2000" baseline="-25000" dirty="0"/>
                  <a:t>T</a:t>
                </a:r>
                <a:r>
                  <a:rPr lang="en-US" sz="2000" dirty="0"/>
                  <a:t>=G</a:t>
                </a:r>
                <a:r>
                  <a:rPr lang="en-US" sz="2000" baseline="-25000" dirty="0"/>
                  <a:t>1</a:t>
                </a:r>
                <a:r>
                  <a:rPr lang="en-US" sz="2000" dirty="0"/>
                  <a:t>+G</a:t>
                </a:r>
                <a:r>
                  <a:rPr lang="en-US" sz="2000" baseline="-25000" dirty="0"/>
                  <a:t>2</a:t>
                </a:r>
                <a:r>
                  <a:rPr lang="en-US" sz="2000" dirty="0"/>
                  <a:t>+G</a:t>
                </a:r>
                <a:r>
                  <a:rPr lang="en-US" sz="2000" baseline="-25000" dirty="0"/>
                  <a:t>3</a:t>
                </a:r>
                <a:r>
                  <a:rPr lang="en-US" sz="2000" dirty="0"/>
                  <a:t>……+</a:t>
                </a:r>
                <a:r>
                  <a:rPr lang="en-US" sz="2000" dirty="0" err="1"/>
                  <a:t>G</a:t>
                </a:r>
                <a:r>
                  <a:rPr lang="en-US" sz="2000" baseline="-25000" dirty="0" err="1"/>
                  <a:t>n</a:t>
                </a:r>
                <a:r>
                  <a:rPr lang="en-US" sz="2000" dirty="0"/>
                  <a:t> equivalent to 1/R</a:t>
                </a:r>
                <a:r>
                  <a:rPr lang="en-US" sz="2000" baseline="-25000" dirty="0"/>
                  <a:t>T</a:t>
                </a:r>
                <a:r>
                  <a:rPr lang="en-US" sz="2000" dirty="0"/>
                  <a:t>=1/R</a:t>
                </a:r>
                <a:r>
                  <a:rPr lang="en-US" sz="2000" baseline="-25000" dirty="0"/>
                  <a:t>1</a:t>
                </a:r>
                <a:r>
                  <a:rPr lang="en-US" sz="2000" dirty="0"/>
                  <a:t>+1/R</a:t>
                </a:r>
                <a:r>
                  <a:rPr lang="en-US" sz="2000" baseline="-25000" dirty="0"/>
                  <a:t>2</a:t>
                </a:r>
                <a:r>
                  <a:rPr lang="en-US" sz="2000" dirty="0"/>
                  <a:t>+1/R</a:t>
                </a:r>
                <a:r>
                  <a:rPr lang="en-US" sz="2000" baseline="-25000" dirty="0"/>
                  <a:t>3</a:t>
                </a:r>
                <a:r>
                  <a:rPr lang="en-US" sz="2000" dirty="0"/>
                  <a:t>……+1/R</a:t>
                </a:r>
                <a:r>
                  <a:rPr lang="en-US" sz="2000" baseline="-25000" dirty="0"/>
                  <a:t>n</a:t>
                </a:r>
                <a:r>
                  <a:rPr lang="en-US" sz="2000" dirty="0"/>
                  <a:t>     and it is measured in </a:t>
                </a:r>
                <a:r>
                  <a:rPr lang="en-US" sz="2000" dirty="0" err="1"/>
                  <a:t>siemens</a:t>
                </a:r>
                <a:r>
                  <a:rPr lang="en-US" sz="2000" dirty="0"/>
                  <a:t> (S)</a:t>
                </a:r>
                <a:br>
                  <a:rPr lang="en-US" sz="2000" dirty="0"/>
                </a:br>
                <a:br>
                  <a:rPr lang="en-US" sz="2000" dirty="0"/>
                </a:br>
                <a:br>
                  <a:rPr lang="en-US" sz="2000" dirty="0"/>
                </a:br>
                <a:endParaRPr lang="en-US" sz="2000" dirty="0"/>
              </a:p>
            </p:txBody>
          </p:sp>
        </mc:Choice>
        <mc:Fallback xmlns="">
          <p:sp>
            <p:nvSpPr>
              <p:cNvPr id="2" name="Title 1"/>
              <p:cNvSpPr>
                <a:spLocks noGrp="1" noRot="1" noChangeAspect="1" noMove="1" noResize="1" noEditPoints="1" noAdjustHandles="1" noChangeArrowheads="1" noChangeShapeType="1" noTextEdit="1"/>
              </p:cNvSpPr>
              <p:nvPr>
                <p:ph type="title"/>
              </p:nvPr>
            </p:nvSpPr>
            <p:spPr>
              <a:xfrm>
                <a:off x="206061" y="365125"/>
                <a:ext cx="11784169" cy="6492875"/>
              </a:xfrm>
              <a:blipFill rotWithShape="1">
                <a:blip r:embed="rId2"/>
                <a:stretch>
                  <a:fillRect l="-569" t="-1972" b="-2817"/>
                </a:stretch>
              </a:blipFill>
            </p:spPr>
            <p:txBody>
              <a:bodyPr/>
              <a:lstStyle/>
              <a:p>
                <a:r>
                  <a:rPr lang="ru-RU">
                    <a:noFill/>
                  </a:rPr>
                  <a:t> </a:t>
                </a:r>
              </a:p>
            </p:txBody>
          </p:sp>
        </mc:Fallback>
      </mc:AlternateContent>
      <p:pic>
        <p:nvPicPr>
          <p:cNvPr id="3" name="Picture 2" descr="Formula resistor parallel"/>
          <p:cNvPicPr/>
          <p:nvPr/>
        </p:nvPicPr>
        <p:blipFill>
          <a:blip r:embed="rId3">
            <a:extLst>
              <a:ext uri="{28A0092B-C50C-407E-A947-70E740481C1C}">
                <a14:useLocalDpi xmlns:a14="http://schemas.microsoft.com/office/drawing/2010/main" val="0"/>
              </a:ext>
            </a:extLst>
          </a:blip>
          <a:srcRect/>
          <a:stretch>
            <a:fillRect/>
          </a:stretch>
        </p:blipFill>
        <p:spPr bwMode="auto">
          <a:xfrm>
            <a:off x="3490174" y="785606"/>
            <a:ext cx="2318197" cy="850007"/>
          </a:xfrm>
          <a:prstGeom prst="rect">
            <a:avLst/>
          </a:prstGeom>
          <a:noFill/>
          <a:ln>
            <a:noFill/>
          </a:ln>
        </p:spPr>
      </p:pic>
      <p:sp>
        <p:nvSpPr>
          <p:cNvPr id="4" name="Date Placeholder 3"/>
          <p:cNvSpPr>
            <a:spLocks noGrp="1"/>
          </p:cNvSpPr>
          <p:nvPr>
            <p:ph type="dt" sz="half" idx="10"/>
          </p:nvPr>
        </p:nvSpPr>
        <p:spPr/>
        <p:txBody>
          <a:bodyPr/>
          <a:lstStyle/>
          <a:p>
            <a:fld id="{C285B372-812C-486F-9EA3-F03DCF9D14E9}" type="datetime1">
              <a:rPr lang="en-US" smtClean="0"/>
              <a:t>9/29/2025</a:t>
            </a:fld>
            <a:endParaRPr lang="en-US"/>
          </a:p>
        </p:txBody>
      </p:sp>
      <p:sp>
        <p:nvSpPr>
          <p:cNvPr id="5" name="Slide Number Placeholder 4"/>
          <p:cNvSpPr>
            <a:spLocks noGrp="1"/>
          </p:cNvSpPr>
          <p:nvPr>
            <p:ph type="sldNum" sz="quarter" idx="12"/>
          </p:nvPr>
        </p:nvSpPr>
        <p:spPr/>
        <p:txBody>
          <a:bodyPr/>
          <a:lstStyle/>
          <a:p>
            <a:fld id="{0BC8E04C-76C2-4646-B4FE-D645B34E3502}" type="slidenum">
              <a:rPr lang="en-US" smtClean="0"/>
              <a:t>19</a:t>
            </a:fld>
            <a:endParaRPr lang="en-US"/>
          </a:p>
        </p:txBody>
      </p:sp>
      <p:sp>
        <p:nvSpPr>
          <p:cNvPr id="6" name="Footer Placeholder 5"/>
          <p:cNvSpPr>
            <a:spLocks noGrp="1"/>
          </p:cNvSpPr>
          <p:nvPr>
            <p:ph type="ftr" sz="quarter" idx="11"/>
          </p:nvPr>
        </p:nvSpPr>
        <p:spPr/>
        <p:txBody>
          <a:bodyPr/>
          <a:lstStyle/>
          <a:p>
            <a:r>
              <a:rPr lang="en-US"/>
              <a:t>CE80362: Circuit Analysis </a:t>
            </a:r>
          </a:p>
        </p:txBody>
      </p:sp>
    </p:spTree>
    <p:extLst>
      <p:ext uri="{BB962C8B-B14F-4D97-AF65-F5344CB8AC3E}">
        <p14:creationId xmlns:p14="http://schemas.microsoft.com/office/powerpoint/2010/main" val="36760132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54547"/>
            <a:ext cx="10515600" cy="643944"/>
          </a:xfrm>
        </p:spPr>
        <p:txBody>
          <a:bodyPr>
            <a:normAutofit fontScale="90000"/>
          </a:bodyPr>
          <a:lstStyle/>
          <a:p>
            <a:r>
              <a:rPr lang="en-US" b="1" dirty="0"/>
              <a:t>Example on series combination</a:t>
            </a:r>
            <a:endParaRPr lang="en-US" dirty="0"/>
          </a:p>
        </p:txBody>
      </p:sp>
      <p:pic>
        <p:nvPicPr>
          <p:cNvPr id="4" name="Content Placeholder 3"/>
          <p:cNvPicPr>
            <a:picLocks noGrp="1" noChangeAspect="1"/>
          </p:cNvPicPr>
          <p:nvPr>
            <p:ph idx="1"/>
          </p:nvPr>
        </p:nvPicPr>
        <p:blipFill>
          <a:blip r:embed="rId2"/>
          <a:stretch>
            <a:fillRect/>
          </a:stretch>
        </p:blipFill>
        <p:spPr>
          <a:xfrm>
            <a:off x="515156" y="940158"/>
            <a:ext cx="10663706" cy="6416178"/>
          </a:xfrm>
          <a:prstGeom prst="rect">
            <a:avLst/>
          </a:prstGeom>
        </p:spPr>
      </p:pic>
      <p:sp>
        <p:nvSpPr>
          <p:cNvPr id="3" name="Date Placeholder 2"/>
          <p:cNvSpPr>
            <a:spLocks noGrp="1"/>
          </p:cNvSpPr>
          <p:nvPr>
            <p:ph type="dt" sz="half" idx="10"/>
          </p:nvPr>
        </p:nvSpPr>
        <p:spPr/>
        <p:txBody>
          <a:bodyPr/>
          <a:lstStyle/>
          <a:p>
            <a:fld id="{4677BB39-E337-46EB-8266-52F6E5C9AFBF}" type="datetime1">
              <a:rPr lang="en-US" smtClean="0"/>
              <a:t>9/29/2025</a:t>
            </a:fld>
            <a:endParaRPr lang="en-US"/>
          </a:p>
        </p:txBody>
      </p:sp>
      <p:sp>
        <p:nvSpPr>
          <p:cNvPr id="5" name="Slide Number Placeholder 4"/>
          <p:cNvSpPr>
            <a:spLocks noGrp="1"/>
          </p:cNvSpPr>
          <p:nvPr>
            <p:ph type="sldNum" sz="quarter" idx="12"/>
          </p:nvPr>
        </p:nvSpPr>
        <p:spPr/>
        <p:txBody>
          <a:bodyPr/>
          <a:lstStyle/>
          <a:p>
            <a:fld id="{0BC8E04C-76C2-4646-B4FE-D645B34E3502}" type="slidenum">
              <a:rPr lang="en-US" smtClean="0"/>
              <a:t>20</a:t>
            </a:fld>
            <a:endParaRPr lang="en-US"/>
          </a:p>
        </p:txBody>
      </p:sp>
      <p:sp>
        <p:nvSpPr>
          <p:cNvPr id="6" name="Footer Placeholder 5"/>
          <p:cNvSpPr>
            <a:spLocks noGrp="1"/>
          </p:cNvSpPr>
          <p:nvPr>
            <p:ph type="ftr" sz="quarter" idx="11"/>
          </p:nvPr>
        </p:nvSpPr>
        <p:spPr/>
        <p:txBody>
          <a:bodyPr/>
          <a:lstStyle/>
          <a:p>
            <a:r>
              <a:rPr lang="en-US"/>
              <a:t>CE80362: Circuit Analysis </a:t>
            </a:r>
          </a:p>
        </p:txBody>
      </p:sp>
    </p:spTree>
    <p:extLst>
      <p:ext uri="{BB962C8B-B14F-4D97-AF65-F5344CB8AC3E}">
        <p14:creationId xmlns:p14="http://schemas.microsoft.com/office/powerpoint/2010/main" val="24706468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7151"/>
          </a:xfrm>
        </p:spPr>
        <p:txBody>
          <a:bodyPr>
            <a:noAutofit/>
          </a:bodyPr>
          <a:lstStyle/>
          <a:p>
            <a:endParaRPr lang="en-US" sz="800" dirty="0"/>
          </a:p>
        </p:txBody>
      </p:sp>
      <p:pic>
        <p:nvPicPr>
          <p:cNvPr id="4" name="Content Placeholder 3"/>
          <p:cNvPicPr>
            <a:picLocks noGrp="1" noChangeAspect="1"/>
          </p:cNvPicPr>
          <p:nvPr>
            <p:ph idx="1"/>
          </p:nvPr>
        </p:nvPicPr>
        <p:blipFill>
          <a:blip r:embed="rId2"/>
          <a:stretch>
            <a:fillRect/>
          </a:stretch>
        </p:blipFill>
        <p:spPr>
          <a:xfrm>
            <a:off x="838200" y="978794"/>
            <a:ext cx="6863366" cy="5949547"/>
          </a:xfrm>
          <a:prstGeom prst="rect">
            <a:avLst/>
          </a:prstGeom>
        </p:spPr>
      </p:pic>
      <p:sp>
        <p:nvSpPr>
          <p:cNvPr id="3" name="Date Placeholder 2"/>
          <p:cNvSpPr>
            <a:spLocks noGrp="1"/>
          </p:cNvSpPr>
          <p:nvPr>
            <p:ph type="dt" sz="half" idx="10"/>
          </p:nvPr>
        </p:nvSpPr>
        <p:spPr/>
        <p:txBody>
          <a:bodyPr/>
          <a:lstStyle/>
          <a:p>
            <a:fld id="{D9FD2BED-169B-4636-8133-3A0E39A9742B}" type="datetime1">
              <a:rPr lang="en-US" smtClean="0"/>
              <a:t>9/29/2025</a:t>
            </a:fld>
            <a:endParaRPr lang="en-US"/>
          </a:p>
        </p:txBody>
      </p:sp>
      <p:sp>
        <p:nvSpPr>
          <p:cNvPr id="5" name="Slide Number Placeholder 4"/>
          <p:cNvSpPr>
            <a:spLocks noGrp="1"/>
          </p:cNvSpPr>
          <p:nvPr>
            <p:ph type="sldNum" sz="quarter" idx="12"/>
          </p:nvPr>
        </p:nvSpPr>
        <p:spPr/>
        <p:txBody>
          <a:bodyPr/>
          <a:lstStyle/>
          <a:p>
            <a:fld id="{0BC8E04C-76C2-4646-B4FE-D645B34E3502}" type="slidenum">
              <a:rPr lang="en-US" smtClean="0"/>
              <a:t>21</a:t>
            </a:fld>
            <a:endParaRPr lang="en-US"/>
          </a:p>
        </p:txBody>
      </p:sp>
      <p:sp>
        <p:nvSpPr>
          <p:cNvPr id="6" name="Footer Placeholder 5"/>
          <p:cNvSpPr>
            <a:spLocks noGrp="1"/>
          </p:cNvSpPr>
          <p:nvPr>
            <p:ph type="ftr" sz="quarter" idx="11"/>
          </p:nvPr>
        </p:nvSpPr>
        <p:spPr/>
        <p:txBody>
          <a:bodyPr/>
          <a:lstStyle/>
          <a:p>
            <a:r>
              <a:rPr lang="en-US"/>
              <a:t>CE80362: Circuit Analysis </a:t>
            </a:r>
          </a:p>
        </p:txBody>
      </p:sp>
    </p:spTree>
    <p:extLst>
      <p:ext uri="{BB962C8B-B14F-4D97-AF65-F5344CB8AC3E}">
        <p14:creationId xmlns:p14="http://schemas.microsoft.com/office/powerpoint/2010/main" val="7119300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Example on parallel combination</a:t>
            </a:r>
            <a:endParaRPr lang="en-US" dirty="0"/>
          </a:p>
        </p:txBody>
      </p:sp>
      <p:sp>
        <p:nvSpPr>
          <p:cNvPr id="4" name="Content Placeholder 3"/>
          <p:cNvSpPr>
            <a:spLocks noGrp="1"/>
          </p:cNvSpPr>
          <p:nvPr>
            <p:ph sz="half" idx="2"/>
          </p:nvPr>
        </p:nvSpPr>
        <p:spPr/>
        <p:txBody>
          <a:bodyPr/>
          <a:lstStyle/>
          <a:p>
            <a:r>
              <a:rPr lang="en-US" dirty="0"/>
              <a:t>If the values of the resistors are equal. Just divide single value with the number of resistors as the lowest common multiple is one of the provided values.</a:t>
            </a:r>
          </a:p>
        </p:txBody>
      </p:sp>
      <p:pic>
        <p:nvPicPr>
          <p:cNvPr id="5" name="Content Placeholder 4"/>
          <p:cNvPicPr>
            <a:picLocks noGrp="1" noChangeAspect="1"/>
          </p:cNvPicPr>
          <p:nvPr>
            <p:ph sz="half" idx="1"/>
          </p:nvPr>
        </p:nvPicPr>
        <p:blipFill>
          <a:blip r:embed="rId2"/>
          <a:stretch>
            <a:fillRect/>
          </a:stretch>
        </p:blipFill>
        <p:spPr>
          <a:xfrm>
            <a:off x="721217" y="1825625"/>
            <a:ext cx="4548408" cy="4522041"/>
          </a:xfrm>
          <a:prstGeom prst="rect">
            <a:avLst/>
          </a:prstGeom>
        </p:spPr>
      </p:pic>
      <p:sp>
        <p:nvSpPr>
          <p:cNvPr id="3" name="Date Placeholder 2"/>
          <p:cNvSpPr>
            <a:spLocks noGrp="1"/>
          </p:cNvSpPr>
          <p:nvPr>
            <p:ph type="dt" sz="half" idx="10"/>
          </p:nvPr>
        </p:nvSpPr>
        <p:spPr/>
        <p:txBody>
          <a:bodyPr/>
          <a:lstStyle/>
          <a:p>
            <a:fld id="{61659D40-9FAE-4A04-8213-4C601E68126C}" type="datetime1">
              <a:rPr lang="en-US" smtClean="0"/>
              <a:t>9/29/2025</a:t>
            </a:fld>
            <a:endParaRPr lang="en-US"/>
          </a:p>
        </p:txBody>
      </p:sp>
      <p:sp>
        <p:nvSpPr>
          <p:cNvPr id="6" name="Slide Number Placeholder 5"/>
          <p:cNvSpPr>
            <a:spLocks noGrp="1"/>
          </p:cNvSpPr>
          <p:nvPr>
            <p:ph type="sldNum" sz="quarter" idx="12"/>
          </p:nvPr>
        </p:nvSpPr>
        <p:spPr/>
        <p:txBody>
          <a:bodyPr/>
          <a:lstStyle/>
          <a:p>
            <a:fld id="{0BC8E04C-76C2-4646-B4FE-D645B34E3502}" type="slidenum">
              <a:rPr lang="en-US" smtClean="0"/>
              <a:t>22</a:t>
            </a:fld>
            <a:endParaRPr lang="en-US"/>
          </a:p>
        </p:txBody>
      </p:sp>
      <p:sp>
        <p:nvSpPr>
          <p:cNvPr id="7" name="Footer Placeholder 6"/>
          <p:cNvSpPr>
            <a:spLocks noGrp="1"/>
          </p:cNvSpPr>
          <p:nvPr>
            <p:ph type="ftr" sz="quarter" idx="11"/>
          </p:nvPr>
        </p:nvSpPr>
        <p:spPr/>
        <p:txBody>
          <a:bodyPr/>
          <a:lstStyle/>
          <a:p>
            <a:r>
              <a:rPr lang="en-US"/>
              <a:t>CE80362: Circuit Analysis </a:t>
            </a:r>
          </a:p>
        </p:txBody>
      </p:sp>
    </p:spTree>
    <p:extLst>
      <p:ext uri="{BB962C8B-B14F-4D97-AF65-F5344CB8AC3E}">
        <p14:creationId xmlns:p14="http://schemas.microsoft.com/office/powerpoint/2010/main" val="42412630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Example on parallel combination for different values </a:t>
            </a:r>
            <a:endParaRPr lang="en-US" dirty="0"/>
          </a:p>
        </p:txBody>
      </p:sp>
      <p:sp>
        <p:nvSpPr>
          <p:cNvPr id="3" name="Text Placeholder 2"/>
          <p:cNvSpPr>
            <a:spLocks noGrp="1"/>
          </p:cNvSpPr>
          <p:nvPr>
            <p:ph type="body" idx="1"/>
          </p:nvPr>
        </p:nvSpPr>
        <p:spPr/>
        <p:txBody>
          <a:bodyPr/>
          <a:lstStyle/>
          <a:p>
            <a:endParaRPr lang="en-US"/>
          </a:p>
        </p:txBody>
      </p:sp>
      <p:sp>
        <p:nvSpPr>
          <p:cNvPr id="4" name="Content Placeholder 3"/>
          <p:cNvSpPr>
            <a:spLocks noGrp="1"/>
          </p:cNvSpPr>
          <p:nvPr>
            <p:ph sz="half" idx="2"/>
          </p:nvPr>
        </p:nvSpPr>
        <p:spPr>
          <a:xfrm>
            <a:off x="839788" y="2505074"/>
            <a:ext cx="5457981" cy="4352925"/>
          </a:xfrm>
        </p:spPr>
        <p:txBody>
          <a:bodyPr/>
          <a:lstStyle/>
          <a:p>
            <a:endParaRPr lang="en-US" dirty="0"/>
          </a:p>
        </p:txBody>
      </p:sp>
      <p:sp>
        <p:nvSpPr>
          <p:cNvPr id="5" name="Text Placeholder 4"/>
          <p:cNvSpPr>
            <a:spLocks noGrp="1"/>
          </p:cNvSpPr>
          <p:nvPr>
            <p:ph type="body" sz="quarter" idx="3"/>
          </p:nvPr>
        </p:nvSpPr>
        <p:spPr/>
        <p:txBody>
          <a:bodyPr/>
          <a:lstStyle/>
          <a:p>
            <a:endParaRPr lang="en-US"/>
          </a:p>
        </p:txBody>
      </p:sp>
      <p:sp>
        <p:nvSpPr>
          <p:cNvPr id="6" name="Content Placeholder 5"/>
          <p:cNvSpPr>
            <a:spLocks noGrp="1"/>
          </p:cNvSpPr>
          <p:nvPr>
            <p:ph sz="quarter" idx="4"/>
          </p:nvPr>
        </p:nvSpPr>
        <p:spPr/>
        <p:txBody>
          <a:bodyPr/>
          <a:lstStyle/>
          <a:p>
            <a:endParaRPr lang="en-US" dirty="0"/>
          </a:p>
          <a:p>
            <a:endParaRPr lang="en-US" dirty="0"/>
          </a:p>
          <a:p>
            <a:endParaRPr lang="en-US" dirty="0"/>
          </a:p>
          <a:p>
            <a:endParaRPr lang="en-US" dirty="0"/>
          </a:p>
          <a:p>
            <a:r>
              <a:rPr lang="en-US" dirty="0"/>
              <a:t>In this case, we follow the equation for calculation of resistors in parallel</a:t>
            </a:r>
          </a:p>
        </p:txBody>
      </p:sp>
      <p:pic>
        <p:nvPicPr>
          <p:cNvPr id="7" name="Picture 6"/>
          <p:cNvPicPr>
            <a:picLocks noChangeAspect="1"/>
          </p:cNvPicPr>
          <p:nvPr/>
        </p:nvPicPr>
        <p:blipFill>
          <a:blip r:embed="rId2"/>
          <a:stretch>
            <a:fillRect/>
          </a:stretch>
        </p:blipFill>
        <p:spPr>
          <a:xfrm>
            <a:off x="208610" y="1548684"/>
            <a:ext cx="10955930" cy="2662707"/>
          </a:xfrm>
          <a:prstGeom prst="rect">
            <a:avLst/>
          </a:prstGeom>
        </p:spPr>
      </p:pic>
      <p:pic>
        <p:nvPicPr>
          <p:cNvPr id="8" name="Picture 7"/>
          <p:cNvPicPr>
            <a:picLocks noChangeAspect="1"/>
          </p:cNvPicPr>
          <p:nvPr/>
        </p:nvPicPr>
        <p:blipFill>
          <a:blip r:embed="rId3"/>
          <a:stretch>
            <a:fillRect/>
          </a:stretch>
        </p:blipFill>
        <p:spPr>
          <a:xfrm>
            <a:off x="839788" y="3899181"/>
            <a:ext cx="5489626" cy="2991538"/>
          </a:xfrm>
          <a:prstGeom prst="rect">
            <a:avLst/>
          </a:prstGeom>
        </p:spPr>
      </p:pic>
      <p:sp>
        <p:nvSpPr>
          <p:cNvPr id="9" name="Date Placeholder 8"/>
          <p:cNvSpPr>
            <a:spLocks noGrp="1"/>
          </p:cNvSpPr>
          <p:nvPr>
            <p:ph type="dt" sz="half" idx="10"/>
          </p:nvPr>
        </p:nvSpPr>
        <p:spPr/>
        <p:txBody>
          <a:bodyPr/>
          <a:lstStyle/>
          <a:p>
            <a:fld id="{83863E7D-9BAF-460E-A344-CD11BAC6E5D1}" type="datetime1">
              <a:rPr lang="en-US" smtClean="0"/>
              <a:t>9/29/2025</a:t>
            </a:fld>
            <a:endParaRPr lang="en-US"/>
          </a:p>
        </p:txBody>
      </p:sp>
      <p:sp>
        <p:nvSpPr>
          <p:cNvPr id="10" name="Slide Number Placeholder 9"/>
          <p:cNvSpPr>
            <a:spLocks noGrp="1"/>
          </p:cNvSpPr>
          <p:nvPr>
            <p:ph type="sldNum" sz="quarter" idx="12"/>
          </p:nvPr>
        </p:nvSpPr>
        <p:spPr/>
        <p:txBody>
          <a:bodyPr/>
          <a:lstStyle/>
          <a:p>
            <a:fld id="{0BC8E04C-76C2-4646-B4FE-D645B34E3502}" type="slidenum">
              <a:rPr lang="en-US" smtClean="0"/>
              <a:t>23</a:t>
            </a:fld>
            <a:endParaRPr lang="en-US"/>
          </a:p>
        </p:txBody>
      </p:sp>
      <p:sp>
        <p:nvSpPr>
          <p:cNvPr id="11" name="Footer Placeholder 10"/>
          <p:cNvSpPr>
            <a:spLocks noGrp="1"/>
          </p:cNvSpPr>
          <p:nvPr>
            <p:ph type="ftr" sz="quarter" idx="11"/>
          </p:nvPr>
        </p:nvSpPr>
        <p:spPr/>
        <p:txBody>
          <a:bodyPr/>
          <a:lstStyle/>
          <a:p>
            <a:r>
              <a:rPr lang="en-US"/>
              <a:t>CE80362: Circuit Analysis </a:t>
            </a:r>
          </a:p>
        </p:txBody>
      </p:sp>
    </p:spTree>
    <p:extLst>
      <p:ext uri="{BB962C8B-B14F-4D97-AF65-F5344CB8AC3E}">
        <p14:creationId xmlns:p14="http://schemas.microsoft.com/office/powerpoint/2010/main" val="5892014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115910" y="184438"/>
            <a:ext cx="10934163" cy="6231846"/>
          </a:xfrm>
          <a:prstGeom prst="rect">
            <a:avLst/>
          </a:prstGeom>
        </p:spPr>
      </p:pic>
      <p:sp>
        <p:nvSpPr>
          <p:cNvPr id="3" name="Date Placeholder 2"/>
          <p:cNvSpPr>
            <a:spLocks noGrp="1"/>
          </p:cNvSpPr>
          <p:nvPr>
            <p:ph type="dt" sz="half" idx="10"/>
          </p:nvPr>
        </p:nvSpPr>
        <p:spPr/>
        <p:txBody>
          <a:bodyPr/>
          <a:lstStyle/>
          <a:p>
            <a:fld id="{A845F8C9-CBF3-442B-ADCF-73EE1DEC3F56}" type="datetime1">
              <a:rPr lang="en-US" smtClean="0"/>
              <a:t>9/29/2025</a:t>
            </a:fld>
            <a:endParaRPr lang="en-US"/>
          </a:p>
        </p:txBody>
      </p:sp>
      <p:sp>
        <p:nvSpPr>
          <p:cNvPr id="5" name="Slide Number Placeholder 4"/>
          <p:cNvSpPr>
            <a:spLocks noGrp="1"/>
          </p:cNvSpPr>
          <p:nvPr>
            <p:ph type="sldNum" sz="quarter" idx="12"/>
          </p:nvPr>
        </p:nvSpPr>
        <p:spPr/>
        <p:txBody>
          <a:bodyPr/>
          <a:lstStyle/>
          <a:p>
            <a:fld id="{0BC8E04C-76C2-4646-B4FE-D645B34E3502}" type="slidenum">
              <a:rPr lang="en-US" smtClean="0"/>
              <a:t>24</a:t>
            </a:fld>
            <a:endParaRPr lang="en-US"/>
          </a:p>
        </p:txBody>
      </p:sp>
      <p:sp>
        <p:nvSpPr>
          <p:cNvPr id="6" name="Footer Placeholder 5"/>
          <p:cNvSpPr>
            <a:spLocks noGrp="1"/>
          </p:cNvSpPr>
          <p:nvPr>
            <p:ph type="ftr" sz="quarter" idx="11"/>
          </p:nvPr>
        </p:nvSpPr>
        <p:spPr/>
        <p:txBody>
          <a:bodyPr/>
          <a:lstStyle/>
          <a:p>
            <a:r>
              <a:rPr lang="en-US"/>
              <a:t>CE80362: Circuit Analysis </a:t>
            </a:r>
          </a:p>
        </p:txBody>
      </p:sp>
    </p:spTree>
    <p:extLst>
      <p:ext uri="{BB962C8B-B14F-4D97-AF65-F5344CB8AC3E}">
        <p14:creationId xmlns:p14="http://schemas.microsoft.com/office/powerpoint/2010/main" val="356091494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687945"/>
          </a:xfrm>
        </p:spPr>
        <p:txBody>
          <a:bodyPr>
            <a:noAutofit/>
          </a:bodyPr>
          <a:lstStyle/>
          <a:p>
            <a:r>
              <a:rPr lang="en-US" sz="3600" dirty="0"/>
              <a:t>Note:</a:t>
            </a:r>
            <a:br>
              <a:rPr lang="en-US" sz="3600" dirty="0"/>
            </a:br>
            <a:r>
              <a:rPr lang="en-US" sz="3600" dirty="0"/>
              <a:t>1.the resistors may connected in both parallel and series in the same network.</a:t>
            </a:r>
            <a:br>
              <a:rPr lang="en-US" sz="3600" dirty="0"/>
            </a:br>
            <a:r>
              <a:rPr lang="en-US" sz="3600" dirty="0"/>
              <a:t>In this case, series equation applies on series connection and parallel equation applies on parallel connection. </a:t>
            </a:r>
            <a:br>
              <a:rPr lang="en-US" sz="3600" dirty="0"/>
            </a:br>
            <a:r>
              <a:rPr lang="en-US" sz="3600" dirty="0"/>
              <a:t>First make the circuit in series connection and then find the equivalent resistance.</a:t>
            </a:r>
            <a:br>
              <a:rPr lang="en-US" sz="3600" dirty="0"/>
            </a:br>
            <a:r>
              <a:rPr lang="en-US" sz="3600" dirty="0"/>
              <a:t>Connection in Example 2 is different from example 3, so do not confuse them. First you need to understand how the source is connected to the entire circuit.</a:t>
            </a:r>
            <a:br>
              <a:rPr lang="en-US" sz="3600" dirty="0"/>
            </a:br>
            <a:endParaRPr lang="en-US" sz="3600" dirty="0"/>
          </a:p>
        </p:txBody>
      </p:sp>
      <p:sp>
        <p:nvSpPr>
          <p:cNvPr id="3" name="Date Placeholder 2"/>
          <p:cNvSpPr>
            <a:spLocks noGrp="1"/>
          </p:cNvSpPr>
          <p:nvPr>
            <p:ph type="dt" sz="half" idx="10"/>
          </p:nvPr>
        </p:nvSpPr>
        <p:spPr/>
        <p:txBody>
          <a:bodyPr/>
          <a:lstStyle/>
          <a:p>
            <a:fld id="{12F626BF-4F51-4048-8A31-2C0D8D0E72A5}" type="datetime1">
              <a:rPr lang="en-US" smtClean="0"/>
              <a:t>9/29/2025</a:t>
            </a:fld>
            <a:endParaRPr lang="en-US"/>
          </a:p>
        </p:txBody>
      </p:sp>
      <p:sp>
        <p:nvSpPr>
          <p:cNvPr id="4" name="Slide Number Placeholder 3"/>
          <p:cNvSpPr>
            <a:spLocks noGrp="1"/>
          </p:cNvSpPr>
          <p:nvPr>
            <p:ph type="sldNum" sz="quarter" idx="12"/>
          </p:nvPr>
        </p:nvSpPr>
        <p:spPr/>
        <p:txBody>
          <a:bodyPr/>
          <a:lstStyle/>
          <a:p>
            <a:fld id="{0BC8E04C-76C2-4646-B4FE-D645B34E3502}" type="slidenum">
              <a:rPr lang="en-US" smtClean="0"/>
              <a:t>25</a:t>
            </a:fld>
            <a:endParaRPr lang="en-US"/>
          </a:p>
        </p:txBody>
      </p:sp>
      <p:sp>
        <p:nvSpPr>
          <p:cNvPr id="5" name="Footer Placeholder 4"/>
          <p:cNvSpPr>
            <a:spLocks noGrp="1"/>
          </p:cNvSpPr>
          <p:nvPr>
            <p:ph type="ftr" sz="quarter" idx="11"/>
          </p:nvPr>
        </p:nvSpPr>
        <p:spPr/>
        <p:txBody>
          <a:bodyPr/>
          <a:lstStyle/>
          <a:p>
            <a:r>
              <a:rPr lang="en-US"/>
              <a:t>CE80362: Circuit Analysis </a:t>
            </a:r>
          </a:p>
        </p:txBody>
      </p:sp>
    </p:spTree>
    <p:extLst>
      <p:ext uri="{BB962C8B-B14F-4D97-AF65-F5344CB8AC3E}">
        <p14:creationId xmlns:p14="http://schemas.microsoft.com/office/powerpoint/2010/main" val="76909886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90153"/>
            <a:ext cx="10515600" cy="540912"/>
          </a:xfrm>
        </p:spPr>
        <p:txBody>
          <a:bodyPr>
            <a:normAutofit fontScale="90000"/>
          </a:bodyPr>
          <a:lstStyle/>
          <a:p>
            <a:r>
              <a:rPr lang="en-US" b="1" dirty="0"/>
              <a:t>Series and Parallel combination of Capacitors</a:t>
            </a:r>
            <a:endParaRPr lang="en-US" dirty="0"/>
          </a:p>
        </p:txBody>
      </p:sp>
      <p:pic>
        <p:nvPicPr>
          <p:cNvPr id="4" name="Content Placeholder 3"/>
          <p:cNvPicPr>
            <a:picLocks noGrp="1" noChangeAspect="1"/>
          </p:cNvPicPr>
          <p:nvPr>
            <p:ph idx="1"/>
          </p:nvPr>
        </p:nvPicPr>
        <p:blipFill>
          <a:blip r:embed="rId2"/>
          <a:stretch>
            <a:fillRect/>
          </a:stretch>
        </p:blipFill>
        <p:spPr>
          <a:xfrm>
            <a:off x="425003" y="818147"/>
            <a:ext cx="10676585" cy="6039853"/>
          </a:xfrm>
          <a:prstGeom prst="rect">
            <a:avLst/>
          </a:prstGeom>
        </p:spPr>
      </p:pic>
      <p:sp>
        <p:nvSpPr>
          <p:cNvPr id="3" name="Date Placeholder 2"/>
          <p:cNvSpPr>
            <a:spLocks noGrp="1"/>
          </p:cNvSpPr>
          <p:nvPr>
            <p:ph type="dt" sz="half" idx="10"/>
          </p:nvPr>
        </p:nvSpPr>
        <p:spPr/>
        <p:txBody>
          <a:bodyPr/>
          <a:lstStyle/>
          <a:p>
            <a:fld id="{FC1CDFD3-9289-4C80-AA60-C52DDCCDADB7}" type="datetime1">
              <a:rPr lang="en-US" smtClean="0"/>
              <a:t>9/29/2025</a:t>
            </a:fld>
            <a:endParaRPr lang="en-US"/>
          </a:p>
        </p:txBody>
      </p:sp>
      <p:sp>
        <p:nvSpPr>
          <p:cNvPr id="5" name="Slide Number Placeholder 4"/>
          <p:cNvSpPr>
            <a:spLocks noGrp="1"/>
          </p:cNvSpPr>
          <p:nvPr>
            <p:ph type="sldNum" sz="quarter" idx="12"/>
          </p:nvPr>
        </p:nvSpPr>
        <p:spPr/>
        <p:txBody>
          <a:bodyPr/>
          <a:lstStyle/>
          <a:p>
            <a:fld id="{0BC8E04C-76C2-4646-B4FE-D645B34E3502}" type="slidenum">
              <a:rPr lang="en-US" smtClean="0"/>
              <a:t>26</a:t>
            </a:fld>
            <a:endParaRPr lang="en-US"/>
          </a:p>
        </p:txBody>
      </p:sp>
      <p:sp>
        <p:nvSpPr>
          <p:cNvPr id="6" name="Footer Placeholder 5"/>
          <p:cNvSpPr>
            <a:spLocks noGrp="1"/>
          </p:cNvSpPr>
          <p:nvPr>
            <p:ph type="ftr" sz="quarter" idx="11"/>
          </p:nvPr>
        </p:nvSpPr>
        <p:spPr/>
        <p:txBody>
          <a:bodyPr/>
          <a:lstStyle/>
          <a:p>
            <a:r>
              <a:rPr lang="en-US"/>
              <a:t>CE80362: Circuit Analysis </a:t>
            </a:r>
          </a:p>
        </p:txBody>
      </p:sp>
    </p:spTree>
    <p:extLst>
      <p:ext uri="{BB962C8B-B14F-4D97-AF65-F5344CB8AC3E}">
        <p14:creationId xmlns:p14="http://schemas.microsoft.com/office/powerpoint/2010/main" val="257622521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310371" y="193183"/>
            <a:ext cx="11043429" cy="4327301"/>
          </a:xfrm>
          <a:prstGeom prst="rect">
            <a:avLst/>
          </a:prstGeom>
        </p:spPr>
      </p:pic>
      <p:sp>
        <p:nvSpPr>
          <p:cNvPr id="2" name="Title 1"/>
          <p:cNvSpPr>
            <a:spLocks noGrp="1"/>
          </p:cNvSpPr>
          <p:nvPr>
            <p:ph type="title"/>
          </p:nvPr>
        </p:nvSpPr>
        <p:spPr/>
        <p:txBody>
          <a:bodyPr/>
          <a:lstStyle/>
          <a:p>
            <a:endParaRPr lang="en-US" dirty="0"/>
          </a:p>
        </p:txBody>
      </p:sp>
      <p:sp>
        <p:nvSpPr>
          <p:cNvPr id="4" name="Date Placeholder 3"/>
          <p:cNvSpPr>
            <a:spLocks noGrp="1"/>
          </p:cNvSpPr>
          <p:nvPr>
            <p:ph type="dt" sz="half" idx="10"/>
          </p:nvPr>
        </p:nvSpPr>
        <p:spPr/>
        <p:txBody>
          <a:bodyPr/>
          <a:lstStyle/>
          <a:p>
            <a:fld id="{A4C2D25E-9A69-4959-9BC6-80C12C8892B8}" type="datetime1">
              <a:rPr lang="en-US" smtClean="0"/>
              <a:t>9/29/2025</a:t>
            </a:fld>
            <a:endParaRPr lang="en-US"/>
          </a:p>
        </p:txBody>
      </p:sp>
      <p:sp>
        <p:nvSpPr>
          <p:cNvPr id="5" name="Slide Number Placeholder 4"/>
          <p:cNvSpPr>
            <a:spLocks noGrp="1"/>
          </p:cNvSpPr>
          <p:nvPr>
            <p:ph type="sldNum" sz="quarter" idx="12"/>
          </p:nvPr>
        </p:nvSpPr>
        <p:spPr/>
        <p:txBody>
          <a:bodyPr/>
          <a:lstStyle/>
          <a:p>
            <a:fld id="{0BC8E04C-76C2-4646-B4FE-D645B34E3502}" type="slidenum">
              <a:rPr lang="en-US" smtClean="0"/>
              <a:t>27</a:t>
            </a:fld>
            <a:endParaRPr lang="en-US"/>
          </a:p>
        </p:txBody>
      </p:sp>
      <p:sp>
        <p:nvSpPr>
          <p:cNvPr id="6" name="Footer Placeholder 5"/>
          <p:cNvSpPr>
            <a:spLocks noGrp="1"/>
          </p:cNvSpPr>
          <p:nvPr>
            <p:ph type="ftr" sz="quarter" idx="11"/>
          </p:nvPr>
        </p:nvSpPr>
        <p:spPr/>
        <p:txBody>
          <a:bodyPr/>
          <a:lstStyle/>
          <a:p>
            <a:r>
              <a:rPr lang="en-US"/>
              <a:t>CE80362: Circuit Analysis </a:t>
            </a:r>
          </a:p>
        </p:txBody>
      </p:sp>
    </p:spTree>
    <p:extLst>
      <p:ext uri="{BB962C8B-B14F-4D97-AF65-F5344CB8AC3E}">
        <p14:creationId xmlns:p14="http://schemas.microsoft.com/office/powerpoint/2010/main" val="100092479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1468190" y="0"/>
            <a:ext cx="7907629" cy="6740816"/>
          </a:xfrm>
          <a:prstGeom prst="rect">
            <a:avLst/>
          </a:prstGeom>
        </p:spPr>
      </p:pic>
      <p:sp>
        <p:nvSpPr>
          <p:cNvPr id="2" name="Title 1"/>
          <p:cNvSpPr>
            <a:spLocks noGrp="1"/>
          </p:cNvSpPr>
          <p:nvPr>
            <p:ph type="title"/>
          </p:nvPr>
        </p:nvSpPr>
        <p:spPr/>
        <p:txBody>
          <a:bodyPr>
            <a:normAutofit/>
          </a:bodyPr>
          <a:lstStyle/>
          <a:p>
            <a:endParaRPr lang="en-US" sz="800" dirty="0"/>
          </a:p>
        </p:txBody>
      </p:sp>
      <p:sp>
        <p:nvSpPr>
          <p:cNvPr id="4" name="Date Placeholder 3"/>
          <p:cNvSpPr>
            <a:spLocks noGrp="1"/>
          </p:cNvSpPr>
          <p:nvPr>
            <p:ph type="dt" sz="half" idx="10"/>
          </p:nvPr>
        </p:nvSpPr>
        <p:spPr/>
        <p:txBody>
          <a:bodyPr/>
          <a:lstStyle/>
          <a:p>
            <a:fld id="{16F09CD6-00FA-48B0-A789-D05F39BE82D8}" type="datetime1">
              <a:rPr lang="en-US" smtClean="0"/>
              <a:t>9/29/2025</a:t>
            </a:fld>
            <a:endParaRPr lang="en-US"/>
          </a:p>
        </p:txBody>
      </p:sp>
      <p:sp>
        <p:nvSpPr>
          <p:cNvPr id="5" name="Slide Number Placeholder 4"/>
          <p:cNvSpPr>
            <a:spLocks noGrp="1"/>
          </p:cNvSpPr>
          <p:nvPr>
            <p:ph type="sldNum" sz="quarter" idx="12"/>
          </p:nvPr>
        </p:nvSpPr>
        <p:spPr/>
        <p:txBody>
          <a:bodyPr/>
          <a:lstStyle/>
          <a:p>
            <a:fld id="{0BC8E04C-76C2-4646-B4FE-D645B34E3502}" type="slidenum">
              <a:rPr lang="en-US" smtClean="0"/>
              <a:t>28</a:t>
            </a:fld>
            <a:endParaRPr lang="en-US"/>
          </a:p>
        </p:txBody>
      </p:sp>
      <p:sp>
        <p:nvSpPr>
          <p:cNvPr id="6" name="Footer Placeholder 5"/>
          <p:cNvSpPr>
            <a:spLocks noGrp="1"/>
          </p:cNvSpPr>
          <p:nvPr>
            <p:ph type="ftr" sz="quarter" idx="11"/>
          </p:nvPr>
        </p:nvSpPr>
        <p:spPr/>
        <p:txBody>
          <a:bodyPr/>
          <a:lstStyle/>
          <a:p>
            <a:r>
              <a:rPr lang="en-US"/>
              <a:t>CE80362: Circuit Analysis </a:t>
            </a:r>
          </a:p>
        </p:txBody>
      </p:sp>
    </p:spTree>
    <p:extLst>
      <p:ext uri="{BB962C8B-B14F-4D97-AF65-F5344CB8AC3E}">
        <p14:creationId xmlns:p14="http://schemas.microsoft.com/office/powerpoint/2010/main" val="187077386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flipV="1">
            <a:off x="838200" y="90151"/>
            <a:ext cx="10515600" cy="154547"/>
          </a:xfrm>
        </p:spPr>
        <p:txBody>
          <a:bodyPr>
            <a:normAutofit fontScale="90000"/>
          </a:bodyPr>
          <a:lstStyle/>
          <a:p>
            <a:endParaRPr lang="en-US" sz="800" dirty="0"/>
          </a:p>
        </p:txBody>
      </p:sp>
      <p:pic>
        <p:nvPicPr>
          <p:cNvPr id="4" name="Content Placeholder 3"/>
          <p:cNvPicPr>
            <a:picLocks noGrp="1" noChangeAspect="1"/>
          </p:cNvPicPr>
          <p:nvPr>
            <p:ph idx="1"/>
          </p:nvPr>
        </p:nvPicPr>
        <p:blipFill>
          <a:blip r:embed="rId2"/>
          <a:stretch>
            <a:fillRect/>
          </a:stretch>
        </p:blipFill>
        <p:spPr>
          <a:xfrm>
            <a:off x="1146220" y="383936"/>
            <a:ext cx="10354614" cy="6132774"/>
          </a:xfrm>
          <a:prstGeom prst="rect">
            <a:avLst/>
          </a:prstGeom>
        </p:spPr>
      </p:pic>
      <p:sp>
        <p:nvSpPr>
          <p:cNvPr id="3" name="Date Placeholder 2"/>
          <p:cNvSpPr>
            <a:spLocks noGrp="1"/>
          </p:cNvSpPr>
          <p:nvPr>
            <p:ph type="dt" sz="half" idx="10"/>
          </p:nvPr>
        </p:nvSpPr>
        <p:spPr/>
        <p:txBody>
          <a:bodyPr/>
          <a:lstStyle/>
          <a:p>
            <a:fld id="{208A99A0-51E9-4BAE-9BB8-5966AA28439A}" type="datetime1">
              <a:rPr lang="en-US" smtClean="0"/>
              <a:t>9/29/2025</a:t>
            </a:fld>
            <a:endParaRPr lang="en-US"/>
          </a:p>
        </p:txBody>
      </p:sp>
      <p:sp>
        <p:nvSpPr>
          <p:cNvPr id="5" name="Slide Number Placeholder 4"/>
          <p:cNvSpPr>
            <a:spLocks noGrp="1"/>
          </p:cNvSpPr>
          <p:nvPr>
            <p:ph type="sldNum" sz="quarter" idx="12"/>
          </p:nvPr>
        </p:nvSpPr>
        <p:spPr/>
        <p:txBody>
          <a:bodyPr/>
          <a:lstStyle/>
          <a:p>
            <a:fld id="{0BC8E04C-76C2-4646-B4FE-D645B34E3502}" type="slidenum">
              <a:rPr lang="en-US" smtClean="0"/>
              <a:t>29</a:t>
            </a:fld>
            <a:endParaRPr lang="en-US"/>
          </a:p>
        </p:txBody>
      </p:sp>
      <p:sp>
        <p:nvSpPr>
          <p:cNvPr id="6" name="Footer Placeholder 5"/>
          <p:cNvSpPr>
            <a:spLocks noGrp="1"/>
          </p:cNvSpPr>
          <p:nvPr>
            <p:ph type="ftr" sz="quarter" idx="11"/>
          </p:nvPr>
        </p:nvSpPr>
        <p:spPr/>
        <p:txBody>
          <a:bodyPr/>
          <a:lstStyle/>
          <a:p>
            <a:r>
              <a:rPr lang="en-US"/>
              <a:t>CE80362: Circuit Analysis </a:t>
            </a:r>
          </a:p>
        </p:txBody>
      </p:sp>
    </p:spTree>
    <p:extLst>
      <p:ext uri="{BB962C8B-B14F-4D97-AF65-F5344CB8AC3E}">
        <p14:creationId xmlns:p14="http://schemas.microsoft.com/office/powerpoint/2010/main" val="216903409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5" name="Content Placeholder 4"/>
          <p:cNvPicPr>
            <a:picLocks noGrp="1" noChangeAspect="1"/>
          </p:cNvPicPr>
          <p:nvPr>
            <p:ph sz="half" idx="1"/>
          </p:nvPr>
        </p:nvPicPr>
        <p:blipFill>
          <a:blip r:embed="rId2"/>
          <a:stretch>
            <a:fillRect/>
          </a:stretch>
        </p:blipFill>
        <p:spPr>
          <a:xfrm>
            <a:off x="180304" y="1863402"/>
            <a:ext cx="5151549" cy="2137892"/>
          </a:xfrm>
          <a:prstGeom prst="rect">
            <a:avLst/>
          </a:prstGeom>
        </p:spPr>
      </p:pic>
      <p:pic>
        <p:nvPicPr>
          <p:cNvPr id="6" name="Content Placeholder 5"/>
          <p:cNvPicPr>
            <a:picLocks noGrp="1" noChangeAspect="1"/>
          </p:cNvPicPr>
          <p:nvPr>
            <p:ph sz="half" idx="2"/>
          </p:nvPr>
        </p:nvPicPr>
        <p:blipFill>
          <a:blip r:embed="rId3"/>
          <a:stretch>
            <a:fillRect/>
          </a:stretch>
        </p:blipFill>
        <p:spPr>
          <a:xfrm>
            <a:off x="5397799" y="1863402"/>
            <a:ext cx="6594848" cy="4189668"/>
          </a:xfrm>
          <a:prstGeom prst="rect">
            <a:avLst/>
          </a:prstGeom>
        </p:spPr>
      </p:pic>
      <p:sp>
        <p:nvSpPr>
          <p:cNvPr id="3" name="Date Placeholder 2"/>
          <p:cNvSpPr>
            <a:spLocks noGrp="1"/>
          </p:cNvSpPr>
          <p:nvPr>
            <p:ph type="dt" sz="half" idx="10"/>
          </p:nvPr>
        </p:nvSpPr>
        <p:spPr/>
        <p:txBody>
          <a:bodyPr/>
          <a:lstStyle/>
          <a:p>
            <a:fld id="{A11A9EF8-BE0E-41FF-A51C-8D7D615EC99D}" type="datetime1">
              <a:rPr lang="en-US" smtClean="0"/>
              <a:t>9/29/2025</a:t>
            </a:fld>
            <a:endParaRPr lang="en-US"/>
          </a:p>
        </p:txBody>
      </p:sp>
      <p:sp>
        <p:nvSpPr>
          <p:cNvPr id="4" name="Slide Number Placeholder 3"/>
          <p:cNvSpPr>
            <a:spLocks noGrp="1"/>
          </p:cNvSpPr>
          <p:nvPr>
            <p:ph type="sldNum" sz="quarter" idx="12"/>
          </p:nvPr>
        </p:nvSpPr>
        <p:spPr/>
        <p:txBody>
          <a:bodyPr/>
          <a:lstStyle/>
          <a:p>
            <a:fld id="{0BC8E04C-76C2-4646-B4FE-D645B34E3502}" type="slidenum">
              <a:rPr lang="en-US" smtClean="0"/>
              <a:t>30</a:t>
            </a:fld>
            <a:endParaRPr lang="en-US"/>
          </a:p>
        </p:txBody>
      </p:sp>
      <p:sp>
        <p:nvSpPr>
          <p:cNvPr id="7" name="Footer Placeholder 6"/>
          <p:cNvSpPr>
            <a:spLocks noGrp="1"/>
          </p:cNvSpPr>
          <p:nvPr>
            <p:ph type="ftr" sz="quarter" idx="11"/>
          </p:nvPr>
        </p:nvSpPr>
        <p:spPr/>
        <p:txBody>
          <a:bodyPr/>
          <a:lstStyle/>
          <a:p>
            <a:r>
              <a:rPr lang="en-US"/>
              <a:t>CE80362: Circuit Analysis </a:t>
            </a:r>
          </a:p>
        </p:txBody>
      </p:sp>
    </p:spTree>
    <p:extLst>
      <p:ext uri="{BB962C8B-B14F-4D97-AF65-F5344CB8AC3E}">
        <p14:creationId xmlns:p14="http://schemas.microsoft.com/office/powerpoint/2010/main" val="414405495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484881"/>
          </a:xfrm>
        </p:spPr>
        <p:txBody>
          <a:bodyPr>
            <a:normAutofit fontScale="90000"/>
          </a:bodyPr>
          <a:lstStyle/>
          <a:p>
            <a:r>
              <a:rPr lang="en-US" sz="3600" b="1" dirty="0"/>
              <a:t>Series and Parallel combination of Inductances</a:t>
            </a:r>
            <a:endParaRPr lang="en-US" sz="3600" dirty="0"/>
          </a:p>
        </p:txBody>
      </p:sp>
      <p:pic>
        <p:nvPicPr>
          <p:cNvPr id="4" name="Content Placeholder 3"/>
          <p:cNvPicPr>
            <a:picLocks noGrp="1" noChangeAspect="1"/>
          </p:cNvPicPr>
          <p:nvPr>
            <p:ph idx="1"/>
          </p:nvPr>
        </p:nvPicPr>
        <p:blipFill>
          <a:blip r:embed="rId2"/>
          <a:stretch>
            <a:fillRect/>
          </a:stretch>
        </p:blipFill>
        <p:spPr>
          <a:xfrm>
            <a:off x="1068946" y="1046714"/>
            <a:ext cx="9427336" cy="5008273"/>
          </a:xfrm>
          <a:prstGeom prst="rect">
            <a:avLst/>
          </a:prstGeom>
        </p:spPr>
      </p:pic>
      <p:sp>
        <p:nvSpPr>
          <p:cNvPr id="3" name="Rectangle 2"/>
          <p:cNvSpPr/>
          <p:nvPr/>
        </p:nvSpPr>
        <p:spPr>
          <a:xfrm>
            <a:off x="9234152" y="2228045"/>
            <a:ext cx="1146220" cy="875763"/>
          </a:xfrm>
          <a:prstGeom prst="rect">
            <a:avLst/>
          </a:prstGeom>
          <a:solidFill>
            <a:schemeClr val="bg1"/>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5" name="Date Placeholder 4"/>
          <p:cNvSpPr>
            <a:spLocks noGrp="1"/>
          </p:cNvSpPr>
          <p:nvPr>
            <p:ph type="dt" sz="half" idx="10"/>
          </p:nvPr>
        </p:nvSpPr>
        <p:spPr/>
        <p:txBody>
          <a:bodyPr/>
          <a:lstStyle/>
          <a:p>
            <a:fld id="{D44D108E-9F29-4665-A329-C9F9445150CD}" type="datetime1">
              <a:rPr lang="en-US" smtClean="0"/>
              <a:t>9/29/2025</a:t>
            </a:fld>
            <a:endParaRPr lang="en-US"/>
          </a:p>
        </p:txBody>
      </p:sp>
      <p:sp>
        <p:nvSpPr>
          <p:cNvPr id="6" name="Slide Number Placeholder 5"/>
          <p:cNvSpPr>
            <a:spLocks noGrp="1"/>
          </p:cNvSpPr>
          <p:nvPr>
            <p:ph type="sldNum" sz="quarter" idx="12"/>
          </p:nvPr>
        </p:nvSpPr>
        <p:spPr/>
        <p:txBody>
          <a:bodyPr/>
          <a:lstStyle/>
          <a:p>
            <a:fld id="{0BC8E04C-76C2-4646-B4FE-D645B34E3502}" type="slidenum">
              <a:rPr lang="en-US" smtClean="0"/>
              <a:t>31</a:t>
            </a:fld>
            <a:endParaRPr lang="en-US"/>
          </a:p>
        </p:txBody>
      </p:sp>
      <p:sp>
        <p:nvSpPr>
          <p:cNvPr id="7" name="Footer Placeholder 6"/>
          <p:cNvSpPr>
            <a:spLocks noGrp="1"/>
          </p:cNvSpPr>
          <p:nvPr>
            <p:ph type="ftr" sz="quarter" idx="11"/>
          </p:nvPr>
        </p:nvSpPr>
        <p:spPr/>
        <p:txBody>
          <a:bodyPr/>
          <a:lstStyle/>
          <a:p>
            <a:r>
              <a:rPr lang="en-US"/>
              <a:t>CE80362: Circuit Analysis </a:t>
            </a:r>
          </a:p>
        </p:txBody>
      </p:sp>
    </p:spTree>
    <p:extLst>
      <p:ext uri="{BB962C8B-B14F-4D97-AF65-F5344CB8AC3E}">
        <p14:creationId xmlns:p14="http://schemas.microsoft.com/office/powerpoint/2010/main" val="210005956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728228" y="1159098"/>
            <a:ext cx="11051280" cy="3129566"/>
          </a:xfrm>
          <a:prstGeom prst="rect">
            <a:avLst/>
          </a:prstGeom>
        </p:spPr>
      </p:pic>
      <p:sp>
        <p:nvSpPr>
          <p:cNvPr id="3" name="Date Placeholder 2"/>
          <p:cNvSpPr>
            <a:spLocks noGrp="1"/>
          </p:cNvSpPr>
          <p:nvPr>
            <p:ph type="dt" sz="half" idx="10"/>
          </p:nvPr>
        </p:nvSpPr>
        <p:spPr/>
        <p:txBody>
          <a:bodyPr/>
          <a:lstStyle/>
          <a:p>
            <a:fld id="{D6D0025A-BD4D-4328-95CB-AF25AE1A5F9B}" type="datetime1">
              <a:rPr lang="en-US" smtClean="0"/>
              <a:t>9/29/2025</a:t>
            </a:fld>
            <a:endParaRPr lang="en-US"/>
          </a:p>
        </p:txBody>
      </p:sp>
      <p:sp>
        <p:nvSpPr>
          <p:cNvPr id="4" name="Slide Number Placeholder 3"/>
          <p:cNvSpPr>
            <a:spLocks noGrp="1"/>
          </p:cNvSpPr>
          <p:nvPr>
            <p:ph type="sldNum" sz="quarter" idx="12"/>
          </p:nvPr>
        </p:nvSpPr>
        <p:spPr/>
        <p:txBody>
          <a:bodyPr/>
          <a:lstStyle/>
          <a:p>
            <a:fld id="{0BC8E04C-76C2-4646-B4FE-D645B34E3502}" type="slidenum">
              <a:rPr lang="en-US" smtClean="0"/>
              <a:t>32</a:t>
            </a:fld>
            <a:endParaRPr lang="en-US"/>
          </a:p>
        </p:txBody>
      </p:sp>
      <p:sp>
        <p:nvSpPr>
          <p:cNvPr id="5" name="Footer Placeholder 4"/>
          <p:cNvSpPr>
            <a:spLocks noGrp="1"/>
          </p:cNvSpPr>
          <p:nvPr>
            <p:ph type="ftr" sz="quarter" idx="11"/>
          </p:nvPr>
        </p:nvSpPr>
        <p:spPr/>
        <p:txBody>
          <a:bodyPr/>
          <a:lstStyle/>
          <a:p>
            <a:r>
              <a:rPr lang="en-US"/>
              <a:t>CE80362: Circuit Analysis </a:t>
            </a:r>
          </a:p>
        </p:txBody>
      </p:sp>
    </p:spTree>
    <p:extLst>
      <p:ext uri="{BB962C8B-B14F-4D97-AF65-F5344CB8AC3E}">
        <p14:creationId xmlns:p14="http://schemas.microsoft.com/office/powerpoint/2010/main" val="344741622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446244"/>
          </a:xfrm>
        </p:spPr>
        <p:txBody>
          <a:bodyPr>
            <a:normAutofit fontScale="90000"/>
          </a:bodyPr>
          <a:lstStyle/>
          <a:p>
            <a:r>
              <a:rPr lang="en-US" dirty="0"/>
              <a:t>examples</a:t>
            </a:r>
          </a:p>
        </p:txBody>
      </p:sp>
      <p:pic>
        <p:nvPicPr>
          <p:cNvPr id="4" name="Content Placeholder 3"/>
          <p:cNvPicPr>
            <a:picLocks noGrp="1" noChangeAspect="1"/>
          </p:cNvPicPr>
          <p:nvPr>
            <p:ph idx="1"/>
          </p:nvPr>
        </p:nvPicPr>
        <p:blipFill>
          <a:blip r:embed="rId2"/>
          <a:stretch>
            <a:fillRect/>
          </a:stretch>
        </p:blipFill>
        <p:spPr>
          <a:xfrm>
            <a:off x="1004552" y="811370"/>
            <a:ext cx="10724433" cy="5937160"/>
          </a:xfrm>
          <a:prstGeom prst="rect">
            <a:avLst/>
          </a:prstGeom>
        </p:spPr>
      </p:pic>
      <p:sp>
        <p:nvSpPr>
          <p:cNvPr id="3" name="Date Placeholder 2"/>
          <p:cNvSpPr>
            <a:spLocks noGrp="1"/>
          </p:cNvSpPr>
          <p:nvPr>
            <p:ph type="dt" sz="half" idx="10"/>
          </p:nvPr>
        </p:nvSpPr>
        <p:spPr/>
        <p:txBody>
          <a:bodyPr/>
          <a:lstStyle/>
          <a:p>
            <a:fld id="{B46AEB08-75F2-4273-B72D-30A7A91D5B16}" type="datetime1">
              <a:rPr lang="en-US" smtClean="0"/>
              <a:t>9/29/2025</a:t>
            </a:fld>
            <a:endParaRPr lang="en-US"/>
          </a:p>
        </p:txBody>
      </p:sp>
      <p:sp>
        <p:nvSpPr>
          <p:cNvPr id="5" name="Slide Number Placeholder 4"/>
          <p:cNvSpPr>
            <a:spLocks noGrp="1"/>
          </p:cNvSpPr>
          <p:nvPr>
            <p:ph type="sldNum" sz="quarter" idx="12"/>
          </p:nvPr>
        </p:nvSpPr>
        <p:spPr/>
        <p:txBody>
          <a:bodyPr/>
          <a:lstStyle/>
          <a:p>
            <a:fld id="{0BC8E04C-76C2-4646-B4FE-D645B34E3502}" type="slidenum">
              <a:rPr lang="en-US" smtClean="0"/>
              <a:t>33</a:t>
            </a:fld>
            <a:endParaRPr lang="en-US"/>
          </a:p>
        </p:txBody>
      </p:sp>
      <p:sp>
        <p:nvSpPr>
          <p:cNvPr id="6" name="Footer Placeholder 5"/>
          <p:cNvSpPr>
            <a:spLocks noGrp="1"/>
          </p:cNvSpPr>
          <p:nvPr>
            <p:ph type="ftr" sz="quarter" idx="11"/>
          </p:nvPr>
        </p:nvSpPr>
        <p:spPr/>
        <p:txBody>
          <a:bodyPr/>
          <a:lstStyle/>
          <a:p>
            <a:r>
              <a:rPr lang="en-US"/>
              <a:t>CE80362: Circuit Analysis </a:t>
            </a:r>
          </a:p>
        </p:txBody>
      </p:sp>
    </p:spTree>
    <p:extLst>
      <p:ext uri="{BB962C8B-B14F-4D97-AF65-F5344CB8AC3E}">
        <p14:creationId xmlns:p14="http://schemas.microsoft.com/office/powerpoint/2010/main" val="222746557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914400"/>
            <a:ext cx="10972800" cy="304800"/>
          </a:xfrm>
        </p:spPr>
        <p:txBody>
          <a:bodyPr>
            <a:noAutofit/>
          </a:bodyPr>
          <a:lstStyle/>
          <a:p>
            <a:r>
              <a:rPr lang="en-US" sz="3200" b="1" dirty="0"/>
              <a:t>Reference books</a:t>
            </a:r>
          </a:p>
        </p:txBody>
      </p:sp>
      <p:sp>
        <p:nvSpPr>
          <p:cNvPr id="3" name="Content Placeholder 2"/>
          <p:cNvSpPr>
            <a:spLocks noGrp="1"/>
          </p:cNvSpPr>
          <p:nvPr>
            <p:ph idx="1"/>
          </p:nvPr>
        </p:nvSpPr>
        <p:spPr>
          <a:xfrm>
            <a:off x="609600" y="1371601"/>
            <a:ext cx="10972800" cy="4754563"/>
          </a:xfrm>
        </p:spPr>
        <p:txBody>
          <a:bodyPr>
            <a:normAutofit/>
          </a:bodyPr>
          <a:lstStyle/>
          <a:p>
            <a:pPr marL="514350" indent="-514350">
              <a:buFont typeface="+mj-lt"/>
              <a:buAutoNum type="arabicPeriod"/>
            </a:pPr>
            <a:r>
              <a:rPr lang="en-US" dirty="0"/>
              <a:t>Circuit Analysis. Theory &amp; Practice, 5E by Wilhelm Miller</a:t>
            </a:r>
          </a:p>
          <a:p>
            <a:pPr marL="514350" indent="-514350">
              <a:buFont typeface="+mj-lt"/>
              <a:buAutoNum type="arabicPeriod"/>
            </a:pPr>
            <a:r>
              <a:rPr lang="en-US" dirty="0"/>
              <a:t>Circuit Analysis Theory and Practice 3rd </a:t>
            </a:r>
            <a:r>
              <a:rPr lang="en-US" dirty="0" err="1"/>
              <a:t>ed</a:t>
            </a:r>
            <a:endParaRPr lang="en-US" dirty="0"/>
          </a:p>
          <a:p>
            <a:pPr marL="514350" indent="-514350">
              <a:buFont typeface="+mj-lt"/>
              <a:buAutoNum type="arabicPeriod"/>
            </a:pPr>
            <a:r>
              <a:rPr lang="en-US" dirty="0"/>
              <a:t>Circuit theory (Analysis and Synthesis), by A. </a:t>
            </a:r>
            <a:r>
              <a:rPr lang="en-US" dirty="0" err="1"/>
              <a:t>Chakrabarti</a:t>
            </a:r>
            <a:endParaRPr lang="en-US" dirty="0"/>
          </a:p>
          <a:p>
            <a:pPr marL="514350" indent="-514350">
              <a:buFont typeface="+mj-lt"/>
              <a:buAutoNum type="arabicPeriod"/>
            </a:pPr>
            <a:r>
              <a:rPr lang="en-US" dirty="0"/>
              <a:t>A textbook of ELECTRICAL TECHNOLOGY, by B.L. </a:t>
            </a:r>
            <a:r>
              <a:rPr lang="en-US" dirty="0" err="1"/>
              <a:t>Theraja</a:t>
            </a:r>
            <a:r>
              <a:rPr lang="en-US" dirty="0"/>
              <a:t> and A.K. </a:t>
            </a:r>
            <a:r>
              <a:rPr lang="en-US" dirty="0" err="1"/>
              <a:t>Theraja</a:t>
            </a:r>
            <a:r>
              <a:rPr lang="en-US" dirty="0"/>
              <a:t>.</a:t>
            </a:r>
          </a:p>
          <a:p>
            <a:pPr marL="514350" indent="-514350">
              <a:buFont typeface="+mj-lt"/>
              <a:buAutoNum type="arabicPeriod"/>
            </a:pPr>
            <a:r>
              <a:rPr lang="en-US" dirty="0"/>
              <a:t>Other books, in library with almost the same contents.</a:t>
            </a:r>
          </a:p>
          <a:p>
            <a:pPr marL="0" indent="0">
              <a:buNone/>
            </a:pPr>
            <a:endParaRPr lang="en-US" dirty="0"/>
          </a:p>
        </p:txBody>
      </p:sp>
      <p:sp>
        <p:nvSpPr>
          <p:cNvPr id="4" name="Date Placeholder 3"/>
          <p:cNvSpPr>
            <a:spLocks noGrp="1"/>
          </p:cNvSpPr>
          <p:nvPr>
            <p:ph type="dt" sz="half" idx="10"/>
          </p:nvPr>
        </p:nvSpPr>
        <p:spPr/>
        <p:txBody>
          <a:bodyPr/>
          <a:lstStyle/>
          <a:p>
            <a:fld id="{464CA41D-D0B5-4A8B-8852-69151CBE69EF}" type="datetime1">
              <a:rPr lang="en-US" smtClean="0"/>
              <a:t>9/29/2025</a:t>
            </a:fld>
            <a:endParaRPr lang="en-US" dirty="0"/>
          </a:p>
        </p:txBody>
      </p:sp>
      <p:sp>
        <p:nvSpPr>
          <p:cNvPr id="6" name="Slide Number Placeholder 5"/>
          <p:cNvSpPr>
            <a:spLocks noGrp="1"/>
          </p:cNvSpPr>
          <p:nvPr>
            <p:ph type="sldNum" sz="quarter" idx="12"/>
          </p:nvPr>
        </p:nvSpPr>
        <p:spPr/>
        <p:txBody>
          <a:bodyPr/>
          <a:lstStyle/>
          <a:p>
            <a:r>
              <a:rPr lang="en-US"/>
              <a:t>1</a:t>
            </a:r>
            <a:endParaRPr lang="en-US" dirty="0"/>
          </a:p>
        </p:txBody>
      </p:sp>
      <p:sp>
        <p:nvSpPr>
          <p:cNvPr id="7" name="Footer Placeholder 6"/>
          <p:cNvSpPr>
            <a:spLocks noGrp="1"/>
          </p:cNvSpPr>
          <p:nvPr>
            <p:ph type="ftr" sz="quarter" idx="11"/>
          </p:nvPr>
        </p:nvSpPr>
        <p:spPr/>
        <p:txBody>
          <a:bodyPr/>
          <a:lstStyle/>
          <a:p>
            <a:r>
              <a:rPr lang="en-US"/>
              <a:t>CE80362: Circuit Analysis </a:t>
            </a:r>
          </a:p>
        </p:txBody>
      </p:sp>
    </p:spTree>
    <p:extLst>
      <p:ext uri="{BB962C8B-B14F-4D97-AF65-F5344CB8AC3E}">
        <p14:creationId xmlns:p14="http://schemas.microsoft.com/office/powerpoint/2010/main" val="100480734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3227</TotalTime>
  <Words>1604</Words>
  <Application>Microsoft Office PowerPoint</Application>
  <PresentationFormat>Widescreen</PresentationFormat>
  <Paragraphs>213</Paragraphs>
  <Slides>34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34</vt:i4>
      </vt:variant>
    </vt:vector>
  </HeadingPairs>
  <TitlesOfParts>
    <vt:vector size="39" baseType="lpstr">
      <vt:lpstr>Arial</vt:lpstr>
      <vt:lpstr>Calibri</vt:lpstr>
      <vt:lpstr>Calibri Light</vt:lpstr>
      <vt:lpstr>Cambria Math</vt:lpstr>
      <vt:lpstr>Office Theme</vt:lpstr>
      <vt:lpstr>CE80362 : Circuit Analysis </vt:lpstr>
      <vt:lpstr>Definition.</vt:lpstr>
      <vt:lpstr>1. Resistance </vt:lpstr>
      <vt:lpstr>The Ohm’s Law</vt:lpstr>
      <vt:lpstr>The Ohm’s Law contd’</vt:lpstr>
      <vt:lpstr>2 Inductance </vt:lpstr>
      <vt:lpstr>Cntd’</vt:lpstr>
      <vt:lpstr>.The power absorbed by the inductor is given by P=VI=Li di/dt Watts. . Energy absorbed by the inductor will thus be given by  W=∫2_0^t▒〖P dt〗=∫1_0^t▒〖Li di/dt〗  dt=1/2  Li^2  . From these equations, it is evident that the inductor can store finite amount of energy even the voltage across it may be null.  A pure inductor does not dissipate energy but only stores it.</vt:lpstr>
      <vt:lpstr>3 Capacitance</vt:lpstr>
      <vt:lpstr>Capacitance calculation</vt:lpstr>
      <vt:lpstr>Voltage current relationship of circuit elements</vt:lpstr>
      <vt:lpstr>Examples </vt:lpstr>
      <vt:lpstr>PowerPoint Presentation</vt:lpstr>
      <vt:lpstr>4. Series combination of Resistances </vt:lpstr>
      <vt:lpstr>PowerPoint Presentation</vt:lpstr>
      <vt:lpstr>PowerPoint Presentation</vt:lpstr>
      <vt:lpstr>Parallel combination of Resistances </vt:lpstr>
      <vt:lpstr>PowerPoint Presentation</vt:lpstr>
      <vt:lpstr>Calculation of the necessary parallel resistor R2, when R1 and the total resistance Rtotal is given:      The power loss in the circuit above is given by                                                                                  P=PR1+PR2+PR3   PR1, PR2 and PR3 being the individual power loss in the resistors R1, R2, R3 respectively                                                                                                                     P=I2R1.R1+I2R2.R2+I2R3.R3 =(V^2/R_1 +V^2/R_2 +V^2/R_3 )                                                                                            = V^(2 ) (1/R_1 +1/R_2 +1/R_3 ) Watts  NOTE: The conductance G is defined as the reciprocal of resistance.  Thus:  GT=G1+G2+G3……+Gn equivalent to 1/RT=1/R1+1/R2+1/R3……+1/Rn     and it is measured in siemens (S)   </vt:lpstr>
      <vt:lpstr>Example on series combination</vt:lpstr>
      <vt:lpstr>PowerPoint Presentation</vt:lpstr>
      <vt:lpstr>Example on parallel combination</vt:lpstr>
      <vt:lpstr>Example on parallel combination for different values </vt:lpstr>
      <vt:lpstr>PowerPoint Presentation</vt:lpstr>
      <vt:lpstr>Note: 1.the resistors may connected in both parallel and series in the same network. In this case, series equation applies on series connection and parallel equation applies on parallel connection.  First make the circuit in series connection and then find the equivalent resistance. Connection in Example 2 is different from example 3, so do not confuse them. First you need to understand how the source is connected to the entire circuit. </vt:lpstr>
      <vt:lpstr>Series and Parallel combination of Capacitors</vt:lpstr>
      <vt:lpstr>PowerPoint Presentation</vt:lpstr>
      <vt:lpstr>PowerPoint Presentation</vt:lpstr>
      <vt:lpstr>PowerPoint Presentation</vt:lpstr>
      <vt:lpstr>PowerPoint Presentation</vt:lpstr>
      <vt:lpstr>Series and Parallel combination of Inductances</vt:lpstr>
      <vt:lpstr>PowerPoint Presentation</vt:lpstr>
      <vt:lpstr>examples</vt:lpstr>
      <vt:lpstr>Reference books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lenovo</dc:creator>
  <cp:lastModifiedBy>PC</cp:lastModifiedBy>
  <cp:revision>61</cp:revision>
  <dcterms:created xsi:type="dcterms:W3CDTF">2016-09-16T14:22:16Z</dcterms:created>
  <dcterms:modified xsi:type="dcterms:W3CDTF">2025-09-29T11:16:25Z</dcterms:modified>
</cp:coreProperties>
</file>