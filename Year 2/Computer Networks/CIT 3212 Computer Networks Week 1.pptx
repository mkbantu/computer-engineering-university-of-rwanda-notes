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6" r:id="rId2"/>
    <p:sldId id="257" r:id="rId3"/>
    <p:sldId id="262" r:id="rId4"/>
    <p:sldId id="272" r:id="rId5"/>
    <p:sldId id="273" r:id="rId6"/>
    <p:sldId id="274" r:id="rId7"/>
    <p:sldId id="275" r:id="rId8"/>
    <p:sldId id="276" r:id="rId9"/>
    <p:sldId id="277" r:id="rId10"/>
    <p:sldId id="278" r:id="rId11"/>
    <p:sldId id="279" r:id="rId12"/>
    <p:sldId id="312" r:id="rId13"/>
    <p:sldId id="280" r:id="rId14"/>
    <p:sldId id="281" r:id="rId15"/>
    <p:sldId id="282" r:id="rId16"/>
    <p:sldId id="293" r:id="rId17"/>
    <p:sldId id="285" r:id="rId18"/>
    <p:sldId id="284" r:id="rId19"/>
    <p:sldId id="286" r:id="rId20"/>
    <p:sldId id="287" r:id="rId21"/>
    <p:sldId id="288" r:id="rId22"/>
    <p:sldId id="289" r:id="rId23"/>
    <p:sldId id="290" r:id="rId24"/>
    <p:sldId id="291" r:id="rId25"/>
    <p:sldId id="292" r:id="rId26"/>
    <p:sldId id="294" r:id="rId27"/>
    <p:sldId id="295" r:id="rId28"/>
    <p:sldId id="296" r:id="rId29"/>
    <p:sldId id="297" r:id="rId30"/>
    <p:sldId id="301" r:id="rId31"/>
    <p:sldId id="309" r:id="rId32"/>
    <p:sldId id="302" r:id="rId33"/>
    <p:sldId id="303" r:id="rId34"/>
    <p:sldId id="304" r:id="rId35"/>
    <p:sldId id="305" r:id="rId36"/>
    <p:sldId id="306" r:id="rId37"/>
    <p:sldId id="307" r:id="rId38"/>
    <p:sldId id="308" r:id="rId39"/>
    <p:sldId id="314"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30"/>
    <p:restoredTop sz="94643"/>
  </p:normalViewPr>
  <p:slideViewPr>
    <p:cSldViewPr>
      <p:cViewPr varScale="1">
        <p:scale>
          <a:sx n="120" d="100"/>
          <a:sy n="120" d="100"/>
        </p:scale>
        <p:origin x="1592"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304E9F-292F-47AD-9EBB-3CE5C4B9C4AA}" type="datetimeFigureOut">
              <a:rPr lang="en-US" smtClean="0"/>
              <a:pPr/>
              <a:t>9/16/26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401DDC7-D4BB-43BD-BD15-55DB6A14500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401DDC7-D4BB-43BD-BD15-55DB6A14500B}"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ounded Rectangle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a:t>Click to edit Master title style</a:t>
            </a:r>
          </a:p>
        </p:txBody>
      </p:sp>
      <p:sp>
        <p:nvSpPr>
          <p:cNvPr id="20" name="Subtitle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19" name="Date Placeholder 18"/>
          <p:cNvSpPr>
            <a:spLocks noGrp="1"/>
          </p:cNvSpPr>
          <p:nvPr>
            <p:ph type="dt" sz="half" idx="10"/>
          </p:nvPr>
        </p:nvSpPr>
        <p:spPr/>
        <p:txBody>
          <a:bodyPr/>
          <a:lstStyle/>
          <a:p>
            <a:fld id="{1CEF30B0-6790-4996-B3B6-B86C828BA257}" type="datetime1">
              <a:rPr lang="en-US" smtClean="0"/>
              <a:pPr/>
              <a:t>9/16/26</a:t>
            </a:fld>
            <a:endParaRPr lang="en-US"/>
          </a:p>
        </p:txBody>
      </p:sp>
      <p:sp>
        <p:nvSpPr>
          <p:cNvPr id="8" name="Footer Placeholder 7"/>
          <p:cNvSpPr>
            <a:spLocks noGrp="1"/>
          </p:cNvSpPr>
          <p:nvPr>
            <p:ph type="ftr" sz="quarter" idx="11"/>
          </p:nvPr>
        </p:nvSpPr>
        <p:spPr/>
        <p:txBody>
          <a:bodyPr/>
          <a:lstStyle/>
          <a:p>
            <a:r>
              <a:rPr lang="en-US"/>
              <a:t>UR-COSTECH</a:t>
            </a:r>
          </a:p>
        </p:txBody>
      </p:sp>
      <p:sp>
        <p:nvSpPr>
          <p:cNvPr id="11" name="Slide Number Placeholder 10"/>
          <p:cNvSpPr>
            <a:spLocks noGrp="1"/>
          </p:cNvSpPr>
          <p:nvPr>
            <p:ph type="sldNum" sz="quarter" idx="12"/>
          </p:nvPr>
        </p:nvSpPr>
        <p:spPr/>
        <p:txBody>
          <a:bodyPr/>
          <a:lstStyle/>
          <a:p>
            <a:fld id="{BE937629-9D26-4278-96E1-3DABBBAE6AE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p>
            <a:r>
              <a:rPr kumimoji="0" lang="en-US"/>
              <a:t>Click to edit Master title style</a:t>
            </a:r>
          </a:p>
        </p:txBody>
      </p:sp>
      <p:sp>
        <p:nvSpPr>
          <p:cNvPr id="3" name="Content Placeholder 2"/>
          <p:cNvSpPr>
            <a:spLocks noGrp="1"/>
          </p:cNvSpPr>
          <p:nvPr>
            <p:ph idx="1"/>
          </p:nvPr>
        </p:nvSpPr>
        <p:spPr>
          <a:xfrm>
            <a:off x="502920" y="530352"/>
            <a:ext cx="8183880" cy="41879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E7F6415-55CC-4945-9A1C-C39C2C280255}" type="datetime1">
              <a:rPr lang="en-US" smtClean="0"/>
              <a:pPr/>
              <a:t>9/16/26</a:t>
            </a:fld>
            <a:endParaRPr lang="en-US"/>
          </a:p>
        </p:txBody>
      </p:sp>
      <p:sp>
        <p:nvSpPr>
          <p:cNvPr id="5" name="Footer Placeholder 4"/>
          <p:cNvSpPr>
            <a:spLocks noGrp="1"/>
          </p:cNvSpPr>
          <p:nvPr>
            <p:ph type="ftr" sz="quarter" idx="11"/>
          </p:nvPr>
        </p:nvSpPr>
        <p:spPr/>
        <p:txBody>
          <a:bodyPr/>
          <a:lstStyle/>
          <a:p>
            <a:r>
              <a:rPr lang="en-US"/>
              <a:t>UR-COSTECH</a:t>
            </a:r>
          </a:p>
        </p:txBody>
      </p:sp>
      <p:sp>
        <p:nvSpPr>
          <p:cNvPr id="6" name="Slide Number Placeholder 5"/>
          <p:cNvSpPr>
            <a:spLocks noGrp="1"/>
          </p:cNvSpPr>
          <p:nvPr>
            <p:ph type="sldNum" sz="quarter" idx="12"/>
          </p:nvPr>
        </p:nvSpPr>
        <p:spPr/>
        <p:txBody>
          <a:bodyPr/>
          <a:lstStyle/>
          <a:p>
            <a:fld id="{BE937629-9D26-4278-96E1-3DABBBAE6AE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ounded Rectangle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n-US"/>
              <a:t>Click to edit Master title style</a:t>
            </a:r>
          </a:p>
        </p:txBody>
      </p:sp>
      <p:sp>
        <p:nvSpPr>
          <p:cNvPr id="3" name="Text Placeholder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E598A4D-509E-4342-8F14-DD29409DC852}" type="datetime1">
              <a:rPr lang="en-US" smtClean="0"/>
              <a:pPr/>
              <a:t>9/16/26</a:t>
            </a:fld>
            <a:endParaRPr lang="en-US"/>
          </a:p>
        </p:txBody>
      </p:sp>
      <p:sp>
        <p:nvSpPr>
          <p:cNvPr id="5" name="Footer Placeholder 4"/>
          <p:cNvSpPr>
            <a:spLocks noGrp="1"/>
          </p:cNvSpPr>
          <p:nvPr>
            <p:ph type="ftr" sz="quarter" idx="11"/>
          </p:nvPr>
        </p:nvSpPr>
        <p:spPr/>
        <p:txBody>
          <a:bodyPr/>
          <a:lstStyle/>
          <a:p>
            <a:r>
              <a:rPr lang="en-US"/>
              <a:t>UR-COSTECH</a:t>
            </a:r>
          </a:p>
        </p:txBody>
      </p:sp>
      <p:sp>
        <p:nvSpPr>
          <p:cNvPr id="6" name="Slide Number Placeholder 5"/>
          <p:cNvSpPr>
            <a:spLocks noGrp="1"/>
          </p:cNvSpPr>
          <p:nvPr>
            <p:ph type="sldNum" sz="quarter" idx="12"/>
          </p:nvPr>
        </p:nvSpPr>
        <p:spPr/>
        <p:txBody>
          <a:bodyPr/>
          <a:lstStyle/>
          <a:p>
            <a:fld id="{BE937629-9D26-4278-96E1-3DABBBAE6AE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8432BE7-BBE0-4B4D-A092-FFEDD3C91650}" type="datetime1">
              <a:rPr lang="en-US" smtClean="0"/>
              <a:pPr/>
              <a:t>9/16/26</a:t>
            </a:fld>
            <a:endParaRPr lang="en-US"/>
          </a:p>
        </p:txBody>
      </p:sp>
      <p:sp>
        <p:nvSpPr>
          <p:cNvPr id="6" name="Footer Placeholder 5"/>
          <p:cNvSpPr>
            <a:spLocks noGrp="1"/>
          </p:cNvSpPr>
          <p:nvPr>
            <p:ph type="ftr" sz="quarter" idx="11"/>
          </p:nvPr>
        </p:nvSpPr>
        <p:spPr/>
        <p:txBody>
          <a:bodyPr/>
          <a:lstStyle/>
          <a:p>
            <a:r>
              <a:rPr lang="en-US"/>
              <a:t>UR-COSTECH</a:t>
            </a:r>
          </a:p>
        </p:txBody>
      </p:sp>
      <p:sp>
        <p:nvSpPr>
          <p:cNvPr id="7" name="Slide Number Placeholder 6"/>
          <p:cNvSpPr>
            <a:spLocks noGrp="1"/>
          </p:cNvSpPr>
          <p:nvPr>
            <p:ph type="sldNum" sz="quarter" idx="12"/>
          </p:nvPr>
        </p:nvSpPr>
        <p:spPr/>
        <p:txBody>
          <a:bodyPr/>
          <a:lstStyle/>
          <a:p>
            <a:fld id="{BE937629-9D26-4278-96E1-3DABBBAE6AE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nchor="b"/>
          <a:lstStyle>
            <a:lvl1pPr>
              <a:defRPr b="1"/>
            </a:lvl1pPr>
            <a:extLst/>
          </a:lstStyle>
          <a:p>
            <a:r>
              <a:rPr kumimoji="0" lang="en-US"/>
              <a:t>Click to edit Master title style</a:t>
            </a:r>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4DB3ED91-422A-4036-B8FD-E29427777A65}" type="datetime1">
              <a:rPr lang="en-US" smtClean="0"/>
              <a:pPr/>
              <a:t>9/16/26</a:t>
            </a:fld>
            <a:endParaRPr lang="en-US"/>
          </a:p>
        </p:txBody>
      </p:sp>
      <p:sp>
        <p:nvSpPr>
          <p:cNvPr id="8" name="Footer Placeholder 7"/>
          <p:cNvSpPr>
            <a:spLocks noGrp="1"/>
          </p:cNvSpPr>
          <p:nvPr>
            <p:ph type="ftr" sz="quarter" idx="11"/>
          </p:nvPr>
        </p:nvSpPr>
        <p:spPr/>
        <p:txBody>
          <a:bodyPr/>
          <a:lstStyle/>
          <a:p>
            <a:r>
              <a:rPr lang="en-US"/>
              <a:t>UR-COSTECH</a:t>
            </a:r>
          </a:p>
        </p:txBody>
      </p:sp>
      <p:sp>
        <p:nvSpPr>
          <p:cNvPr id="9" name="Slide Number Placeholder 8"/>
          <p:cNvSpPr>
            <a:spLocks noGrp="1"/>
          </p:cNvSpPr>
          <p:nvPr>
            <p:ph type="sldNum" sz="quarter" idx="12"/>
          </p:nvPr>
        </p:nvSpPr>
        <p:spPr/>
        <p:txBody>
          <a:bodyPr/>
          <a:lstStyle/>
          <a:p>
            <a:fld id="{BE937629-9D26-4278-96E1-3DABBBAE6AE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AD885115-BDD5-4DF5-99A5-00065A8FD3B7}" type="datetime1">
              <a:rPr lang="en-US" smtClean="0"/>
              <a:pPr/>
              <a:t>9/16/26</a:t>
            </a:fld>
            <a:endParaRPr lang="en-US"/>
          </a:p>
        </p:txBody>
      </p:sp>
      <p:sp>
        <p:nvSpPr>
          <p:cNvPr id="4" name="Footer Placeholder 3"/>
          <p:cNvSpPr>
            <a:spLocks noGrp="1"/>
          </p:cNvSpPr>
          <p:nvPr>
            <p:ph type="ftr" sz="quarter" idx="11"/>
          </p:nvPr>
        </p:nvSpPr>
        <p:spPr/>
        <p:txBody>
          <a:bodyPr/>
          <a:lstStyle/>
          <a:p>
            <a:r>
              <a:rPr lang="en-US"/>
              <a:t>UR-COSTECH</a:t>
            </a:r>
          </a:p>
        </p:txBody>
      </p:sp>
      <p:sp>
        <p:nvSpPr>
          <p:cNvPr id="5" name="Slide Number Placeholder 4"/>
          <p:cNvSpPr>
            <a:spLocks noGrp="1"/>
          </p:cNvSpPr>
          <p:nvPr>
            <p:ph type="sldNum" sz="quarter" idx="12"/>
          </p:nvPr>
        </p:nvSpPr>
        <p:spPr/>
        <p:txBody>
          <a:bodyPr/>
          <a:lstStyle/>
          <a:p>
            <a:fld id="{BE937629-9D26-4278-96E1-3DABBBAE6AE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25FE8381-4FBB-4BBA-A2F9-45AEADDEDBB5}" type="datetime1">
              <a:rPr lang="en-US" smtClean="0"/>
              <a:pPr/>
              <a:t>9/16/26</a:t>
            </a:fld>
            <a:endParaRPr lang="en-US"/>
          </a:p>
        </p:txBody>
      </p:sp>
      <p:sp>
        <p:nvSpPr>
          <p:cNvPr id="3" name="Footer Placeholder 2"/>
          <p:cNvSpPr>
            <a:spLocks noGrp="1"/>
          </p:cNvSpPr>
          <p:nvPr>
            <p:ph type="ftr" sz="quarter" idx="11"/>
          </p:nvPr>
        </p:nvSpPr>
        <p:spPr/>
        <p:txBody>
          <a:bodyPr/>
          <a:lstStyle/>
          <a:p>
            <a:r>
              <a:rPr lang="en-US"/>
              <a:t>UR-COSTECH</a:t>
            </a:r>
          </a:p>
        </p:txBody>
      </p:sp>
      <p:sp>
        <p:nvSpPr>
          <p:cNvPr id="4" name="Slide Number Placeholder 3"/>
          <p:cNvSpPr>
            <a:spLocks noGrp="1"/>
          </p:cNvSpPr>
          <p:nvPr>
            <p:ph type="sldNum" sz="quarter" idx="12"/>
          </p:nvPr>
        </p:nvSpPr>
        <p:spPr/>
        <p:txBody>
          <a:bodyPr/>
          <a:lstStyle/>
          <a:p>
            <a:fld id="{BE937629-9D26-4278-96E1-3DABBBAE6AE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n-US"/>
              <a:t>Click to edit Master title style</a:t>
            </a:r>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14F978F-EA74-4207-888A-489FA9D9990C}" type="datetime1">
              <a:rPr lang="en-US" smtClean="0"/>
              <a:pPr/>
              <a:t>9/16/26</a:t>
            </a:fld>
            <a:endParaRPr lang="en-US"/>
          </a:p>
        </p:txBody>
      </p:sp>
      <p:sp>
        <p:nvSpPr>
          <p:cNvPr id="6" name="Footer Placeholder 5"/>
          <p:cNvSpPr>
            <a:spLocks noGrp="1"/>
          </p:cNvSpPr>
          <p:nvPr>
            <p:ph type="ftr" sz="quarter" idx="11"/>
          </p:nvPr>
        </p:nvSpPr>
        <p:spPr/>
        <p:txBody>
          <a:bodyPr/>
          <a:lstStyle/>
          <a:p>
            <a:r>
              <a:rPr lang="en-US"/>
              <a:t>UR-COSTECH</a:t>
            </a:r>
          </a:p>
        </p:txBody>
      </p:sp>
      <p:sp>
        <p:nvSpPr>
          <p:cNvPr id="7" name="Slide Number Placeholder 6"/>
          <p:cNvSpPr>
            <a:spLocks noGrp="1"/>
          </p:cNvSpPr>
          <p:nvPr>
            <p:ph type="sldNum" sz="quarter" idx="12"/>
          </p:nvPr>
        </p:nvSpPr>
        <p:spPr/>
        <p:txBody>
          <a:bodyPr/>
          <a:lstStyle/>
          <a:p>
            <a:fld id="{BE937629-9D26-4278-96E1-3DABBBAE6AE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ound Single Corner Rectangle 10"/>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n-US"/>
              <a:t>Click to edit Master title style</a:t>
            </a:r>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CDB52FB-5ED2-44CA-A883-483FCF10C386}" type="datetime1">
              <a:rPr lang="en-US" smtClean="0"/>
              <a:pPr/>
              <a:t>9/16/26</a:t>
            </a:fld>
            <a:endParaRPr lang="en-US"/>
          </a:p>
        </p:txBody>
      </p:sp>
      <p:sp>
        <p:nvSpPr>
          <p:cNvPr id="6" name="Footer Placeholder 5"/>
          <p:cNvSpPr>
            <a:spLocks noGrp="1"/>
          </p:cNvSpPr>
          <p:nvPr>
            <p:ph type="ftr" sz="quarter" idx="11"/>
          </p:nvPr>
        </p:nvSpPr>
        <p:spPr/>
        <p:txBody>
          <a:bodyPr/>
          <a:lstStyle/>
          <a:p>
            <a:r>
              <a:rPr lang="en-US"/>
              <a:t>UR-COSTECH</a:t>
            </a:r>
          </a:p>
        </p:txBody>
      </p:sp>
      <p:sp>
        <p:nvSpPr>
          <p:cNvPr id="7" name="Slide Number Placeholder 6"/>
          <p:cNvSpPr>
            <a:spLocks noGrp="1"/>
          </p:cNvSpPr>
          <p:nvPr>
            <p:ph type="sldNum" sz="quarter" idx="12"/>
          </p:nvPr>
        </p:nvSpPr>
        <p:spPr/>
        <p:txBody>
          <a:bodyPr/>
          <a:lstStyle/>
          <a:p>
            <a:fld id="{BE937629-9D26-4278-96E1-3DABBBAE6AEF}" type="slidenum">
              <a:rPr lang="en-US" smtClean="0"/>
              <a:pPr/>
              <a:t>‹#›</a:t>
            </a:fld>
            <a:endParaRPr lang="en-US"/>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a:t>Click icon to add picture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p>
            <a:r>
              <a:rPr kumimoji="0" lang="en-US"/>
              <a:t>Click to edit Master title style</a:t>
            </a:r>
          </a:p>
        </p:txBody>
      </p:sp>
      <p:sp>
        <p:nvSpPr>
          <p:cNvPr id="3" name="Vertical Text Placeholder 2"/>
          <p:cNvSpPr>
            <a:spLocks noGrp="1"/>
          </p:cNvSpPr>
          <p:nvPr>
            <p:ph type="body" orient="vert" idx="1"/>
          </p:nvPr>
        </p:nvSpPr>
        <p:spPr>
          <a:xfrm>
            <a:off x="502920" y="530352"/>
            <a:ext cx="8183880" cy="4187952"/>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C79CBB8-C41C-41D9-ABEC-F39AC901865B}" type="datetime1">
              <a:rPr lang="en-US" smtClean="0"/>
              <a:pPr/>
              <a:t>9/16/26</a:t>
            </a:fld>
            <a:endParaRPr lang="en-US"/>
          </a:p>
        </p:txBody>
      </p:sp>
      <p:sp>
        <p:nvSpPr>
          <p:cNvPr id="5" name="Footer Placeholder 4"/>
          <p:cNvSpPr>
            <a:spLocks noGrp="1"/>
          </p:cNvSpPr>
          <p:nvPr>
            <p:ph type="ftr" sz="quarter" idx="11"/>
          </p:nvPr>
        </p:nvSpPr>
        <p:spPr/>
        <p:txBody>
          <a:bodyPr/>
          <a:lstStyle/>
          <a:p>
            <a:r>
              <a:rPr lang="en-US"/>
              <a:t>UR-COSTECH</a:t>
            </a:r>
          </a:p>
        </p:txBody>
      </p:sp>
      <p:sp>
        <p:nvSpPr>
          <p:cNvPr id="6" name="Slide Number Placeholder 5"/>
          <p:cNvSpPr>
            <a:spLocks noGrp="1"/>
          </p:cNvSpPr>
          <p:nvPr>
            <p:ph type="sldNum" sz="quarter" idx="12"/>
          </p:nvPr>
        </p:nvSpPr>
        <p:spPr/>
        <p:txBody>
          <a:bodyPr/>
          <a:lstStyle/>
          <a:p>
            <a:fld id="{BE937629-9D26-4278-96E1-3DABBBAE6AE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533400" y="533402"/>
            <a:ext cx="5943600" cy="525780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D3A5AEE-5866-40E9-AD5F-1CE252F22003}" type="datetime1">
              <a:rPr lang="en-US" smtClean="0"/>
              <a:pPr/>
              <a:t>9/16/26</a:t>
            </a:fld>
            <a:endParaRPr lang="en-US"/>
          </a:p>
        </p:txBody>
      </p:sp>
      <p:sp>
        <p:nvSpPr>
          <p:cNvPr id="5" name="Footer Placeholder 4"/>
          <p:cNvSpPr>
            <a:spLocks noGrp="1"/>
          </p:cNvSpPr>
          <p:nvPr>
            <p:ph type="ftr" sz="quarter" idx="11"/>
          </p:nvPr>
        </p:nvSpPr>
        <p:spPr/>
        <p:txBody>
          <a:bodyPr/>
          <a:lstStyle/>
          <a:p>
            <a:r>
              <a:rPr lang="en-US"/>
              <a:t>UR-COSTECH</a:t>
            </a:r>
          </a:p>
        </p:txBody>
      </p:sp>
      <p:sp>
        <p:nvSpPr>
          <p:cNvPr id="6" name="Slide Number Placeholder 5"/>
          <p:cNvSpPr>
            <a:spLocks noGrp="1"/>
          </p:cNvSpPr>
          <p:nvPr>
            <p:ph type="sldNum" sz="quarter" idx="12"/>
          </p:nvPr>
        </p:nvSpPr>
        <p:spPr/>
        <p:txBody>
          <a:bodyPr/>
          <a:lstStyle/>
          <a:p>
            <a:fld id="{BE937629-9D26-4278-96E1-3DABBBAE6AE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Title Placeholder 12"/>
          <p:cNvSpPr>
            <a:spLocks noGrp="1"/>
          </p:cNvSpPr>
          <p:nvPr>
            <p:ph type="title"/>
          </p:nvPr>
        </p:nvSpPr>
        <p:spPr>
          <a:xfrm>
            <a:off x="502920" y="4985590"/>
            <a:ext cx="8183880" cy="1051560"/>
          </a:xfrm>
          <a:prstGeom prst="rect">
            <a:avLst/>
          </a:prstGeom>
        </p:spPr>
        <p:txBody>
          <a:bodyPr vert="horz" anchor="b">
            <a:normAutofit/>
          </a:bodyPr>
          <a:lstStyle/>
          <a:p>
            <a:r>
              <a:rPr kumimoji="0" lang="en-US"/>
              <a:t>Click to edit Master title style</a:t>
            </a:r>
          </a:p>
        </p:txBody>
      </p:sp>
      <p:sp>
        <p:nvSpPr>
          <p:cNvPr id="4" name="Text Placeholder 3"/>
          <p:cNvSpPr>
            <a:spLocks noGrp="1"/>
          </p:cNvSpPr>
          <p:nvPr>
            <p:ph type="body" idx="1"/>
          </p:nvPr>
        </p:nvSpPr>
        <p:spPr>
          <a:xfrm>
            <a:off x="502920" y="530352"/>
            <a:ext cx="8183880" cy="4187952"/>
          </a:xfrm>
          <a:prstGeom prst="rect">
            <a:avLst/>
          </a:prstGeom>
        </p:spPr>
        <p:txBody>
          <a:bodyPr vert="horz" lIns="182880" tIns="9144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5" name="Date Placeholder 24"/>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3E59DA95-5849-49EC-9806-7F40EDEBA5B9}" type="datetime1">
              <a:rPr lang="en-US" smtClean="0"/>
              <a:pPr/>
              <a:t>9/16/26</a:t>
            </a:fld>
            <a:endParaRPr lang="en-US"/>
          </a:p>
        </p:txBody>
      </p:sp>
      <p:sp>
        <p:nvSpPr>
          <p:cNvPr id="18" name="Footer Placeholder 17"/>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r>
              <a:rPr lang="en-US"/>
              <a:t>UR-COSTECH</a:t>
            </a:r>
          </a:p>
        </p:txBody>
      </p:sp>
      <p:sp>
        <p:nvSpPr>
          <p:cNvPr id="5" name="Slide Number Placeholder 4"/>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BE937629-9D26-4278-96E1-3DABBBAE6AE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33400"/>
            <a:ext cx="7772400" cy="1470025"/>
          </a:xfrm>
        </p:spPr>
        <p:txBody>
          <a:bodyPr>
            <a:normAutofit/>
          </a:bodyPr>
          <a:lstStyle/>
          <a:p>
            <a:r>
              <a:rPr lang="en-GB" sz="3200" b="1" dirty="0"/>
              <a:t>COMPUTER NETWORKS</a:t>
            </a:r>
            <a:endParaRPr lang="en-US" sz="3200" dirty="0"/>
          </a:p>
        </p:txBody>
      </p:sp>
      <p:sp>
        <p:nvSpPr>
          <p:cNvPr id="4" name="Slide Number Placeholder 3"/>
          <p:cNvSpPr>
            <a:spLocks noGrp="1"/>
          </p:cNvSpPr>
          <p:nvPr>
            <p:ph type="sldNum" sz="quarter" idx="12"/>
          </p:nvPr>
        </p:nvSpPr>
        <p:spPr/>
        <p:txBody>
          <a:bodyPr/>
          <a:lstStyle/>
          <a:p>
            <a:fld id="{BE937629-9D26-4278-96E1-3DABBBAE6AEF}"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a:buNone/>
            </a:pPr>
            <a:r>
              <a:rPr lang="en-US" sz="2000" dirty="0"/>
              <a:t>                          Overview</a:t>
            </a:r>
          </a:p>
          <a:p>
            <a:pPr marL="0" indent="0">
              <a:buNone/>
            </a:pPr>
            <a:r>
              <a:rPr lang="en-GB" sz="2000" dirty="0"/>
              <a:t>This course introduces:</a:t>
            </a:r>
          </a:p>
          <a:p>
            <a:pPr marL="0" indent="0">
              <a:buNone/>
            </a:pPr>
            <a:endParaRPr lang="en-GB" sz="2000" dirty="0"/>
          </a:p>
          <a:p>
            <a:pPr>
              <a:buFont typeface="Wingdings" pitchFamily="2" charset="2"/>
              <a:buChar char="ü"/>
            </a:pPr>
            <a:r>
              <a:rPr lang="en-GB" sz="2000" dirty="0"/>
              <a:t> Fundamental networking concepts, terminologies, and technologies used in data communication and computer networking.</a:t>
            </a:r>
          </a:p>
          <a:p>
            <a:pPr>
              <a:buFont typeface="Wingdings" pitchFamily="2" charset="2"/>
              <a:buChar char="ü"/>
            </a:pPr>
            <a:endParaRPr lang="en-GB" sz="2000" dirty="0"/>
          </a:p>
          <a:p>
            <a:pPr>
              <a:buFont typeface="Wingdings" pitchFamily="2" charset="2"/>
              <a:buChar char="ü"/>
            </a:pPr>
            <a:r>
              <a:rPr lang="en-GB" sz="2000" dirty="0"/>
              <a:t>Course materials will be taught through class lecturers, individual textbook readings, discussions, assignments, and </a:t>
            </a:r>
            <a:r>
              <a:rPr lang="en-US" sz="2000" dirty="0"/>
              <a:t>Practical labs </a:t>
            </a:r>
          </a:p>
          <a:p>
            <a:pPr>
              <a:buFont typeface="Wingdings" pitchFamily="2" charset="2"/>
              <a:buChar char="ü"/>
            </a:pPr>
            <a:endParaRPr lang="en-US" sz="2000" dirty="0"/>
          </a:p>
          <a:p>
            <a:pPr>
              <a:buFont typeface="Wingdings" pitchFamily="2" charset="2"/>
              <a:buChar char="ü"/>
            </a:pPr>
            <a:r>
              <a:rPr lang="en-US" sz="2000" dirty="0"/>
              <a:t>Continuous Assessment Test will contribute to 50% ( written CAT, Practical CAT,  Assignments and presentations)</a:t>
            </a:r>
          </a:p>
          <a:p>
            <a:pPr>
              <a:buNone/>
            </a:pPr>
            <a:endParaRPr lang="en-US" sz="2000" dirty="0"/>
          </a:p>
          <a:p>
            <a:pPr>
              <a:buFont typeface="Wingdings" pitchFamily="2" charset="2"/>
              <a:buChar char="Ø"/>
            </a:pPr>
            <a:endParaRPr lang="en-US" sz="2000" dirty="0"/>
          </a:p>
          <a:p>
            <a:pPr>
              <a:buFont typeface="Wingdings" pitchFamily="2" charset="2"/>
              <a:buChar char="Ø"/>
            </a:pPr>
            <a:r>
              <a:rPr lang="en-US" sz="2000" dirty="0"/>
              <a:t>Final written Exam will contribute to 50% of your results</a:t>
            </a:r>
          </a:p>
          <a:p>
            <a:pPr>
              <a:buFont typeface="Wingdings" pitchFamily="2" charset="2"/>
              <a:buChar char="ü"/>
            </a:pPr>
            <a:endParaRPr lang="en-US" sz="2000" dirty="0"/>
          </a:p>
          <a:p>
            <a:pPr>
              <a:buNone/>
            </a:pPr>
            <a:endParaRPr lang="en-GB" sz="1400" dirty="0"/>
          </a:p>
          <a:p>
            <a:pPr>
              <a:buNone/>
            </a:pPr>
            <a:endParaRPr lang="en-GB" sz="1400" dirty="0"/>
          </a:p>
          <a:p>
            <a:pPr>
              <a:buFont typeface="Wingdings" pitchFamily="2" charset="2"/>
              <a:buChar char="Ø"/>
            </a:pPr>
            <a:endParaRPr lang="en-US" sz="1400" dirty="0"/>
          </a:p>
          <a:p>
            <a:pPr>
              <a:buFont typeface="Wingdings" pitchFamily="2" charset="2"/>
              <a:buChar char="Ø"/>
            </a:pPr>
            <a:endParaRPr lang="en-US" sz="1400"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algn="ctr">
              <a:buNone/>
            </a:pPr>
            <a:r>
              <a:rPr lang="en-US" dirty="0"/>
              <a:t>Course Content</a:t>
            </a:r>
          </a:p>
          <a:p>
            <a:pPr algn="ctr">
              <a:buNone/>
            </a:pPr>
            <a:endParaRPr lang="en-US" dirty="0"/>
          </a:p>
          <a:p>
            <a:pPr>
              <a:buFont typeface="Wingdings" pitchFamily="2" charset="2"/>
              <a:buChar char="Ø"/>
            </a:pPr>
            <a:r>
              <a:rPr lang="en-GB" sz="2400" dirty="0"/>
              <a:t>Data Communications</a:t>
            </a:r>
          </a:p>
          <a:p>
            <a:pPr>
              <a:buFont typeface="Wingdings" pitchFamily="2" charset="2"/>
              <a:buChar char="Ø"/>
            </a:pPr>
            <a:r>
              <a:rPr lang="en-GB" sz="2400" dirty="0"/>
              <a:t>Data Link Layer</a:t>
            </a:r>
          </a:p>
          <a:p>
            <a:pPr>
              <a:buFont typeface="Wingdings" pitchFamily="2" charset="2"/>
              <a:buChar char="Ø"/>
            </a:pPr>
            <a:r>
              <a:rPr lang="en-GB" sz="2400" dirty="0"/>
              <a:t>Network Layer</a:t>
            </a:r>
          </a:p>
          <a:p>
            <a:pPr>
              <a:buFont typeface="Wingdings" pitchFamily="2" charset="2"/>
              <a:buChar char="Ø"/>
            </a:pPr>
            <a:r>
              <a:rPr lang="en-GB" sz="2400" dirty="0"/>
              <a:t>Transport Layer</a:t>
            </a:r>
          </a:p>
          <a:p>
            <a:pPr>
              <a:buFont typeface="Wingdings" pitchFamily="2" charset="2"/>
              <a:buChar char="Ø"/>
            </a:pPr>
            <a:r>
              <a:rPr lang="en-GB" sz="2400" dirty="0"/>
              <a:t>Application Layer</a:t>
            </a:r>
          </a:p>
          <a:p>
            <a:pPr marL="0" indent="0">
              <a:buNone/>
            </a:pPr>
            <a:endParaRPr lang="en-GB" sz="2400" dirty="0"/>
          </a:p>
          <a:p>
            <a:pPr marL="0" indent="0">
              <a:buNone/>
            </a:pPr>
            <a:r>
              <a:rPr lang="en-GB" sz="2400" dirty="0"/>
              <a:t>LAB:</a:t>
            </a:r>
          </a:p>
          <a:p>
            <a:pPr>
              <a:buFont typeface="Wingdings" pitchFamily="2" charset="2"/>
              <a:buChar char="Ø"/>
            </a:pPr>
            <a:r>
              <a:rPr lang="en-GB" sz="2400" dirty="0"/>
              <a:t>Configuration of Static Routing</a:t>
            </a:r>
          </a:p>
          <a:p>
            <a:pPr>
              <a:buFont typeface="Wingdings" pitchFamily="2" charset="2"/>
              <a:buChar char="Ø"/>
            </a:pPr>
            <a:r>
              <a:rPr lang="en-GB" sz="2400" dirty="0"/>
              <a:t>Configuration of Dynamic Routing: RIP</a:t>
            </a:r>
          </a:p>
          <a:p>
            <a:pPr>
              <a:buFont typeface="Wingdings" pitchFamily="2" charset="2"/>
              <a:buChar char="Ø"/>
            </a:pPr>
            <a:r>
              <a:rPr lang="en-GB" sz="2400" dirty="0"/>
              <a:t>Configuration of Dynamic Routing: EIGRP</a:t>
            </a:r>
          </a:p>
          <a:p>
            <a:pPr>
              <a:buFont typeface="Wingdings" pitchFamily="2" charset="2"/>
              <a:buChar char="Ø"/>
            </a:pPr>
            <a:r>
              <a:rPr lang="en-GB" sz="2400" dirty="0"/>
              <a:t>Configuration of Dynamic Routing: OSPF</a:t>
            </a:r>
          </a:p>
          <a:p>
            <a:pPr>
              <a:buFont typeface="Wingdings" pitchFamily="2" charset="2"/>
              <a:buChar char="Ø"/>
            </a:pPr>
            <a:r>
              <a:rPr lang="en-GB" sz="2400" dirty="0"/>
              <a:t>Switching: Clearing interconnected switches, VLANS, VTP….</a:t>
            </a:r>
          </a:p>
          <a:p>
            <a:pPr>
              <a:buFont typeface="Wingdings" pitchFamily="2" charset="2"/>
              <a:buChar char="Ø"/>
            </a:pPr>
            <a:endParaRPr lang="en-GB" sz="2400" dirty="0"/>
          </a:p>
          <a:p>
            <a:pPr>
              <a:buFont typeface="Wingdings" pitchFamily="2" charset="2"/>
              <a:buChar char="Ø"/>
            </a:pPr>
            <a:endParaRPr lang="en-GB" sz="2400" dirty="0"/>
          </a:p>
          <a:p>
            <a:pPr>
              <a:buFont typeface="Wingdings" pitchFamily="2" charset="2"/>
              <a:buChar char="Ø"/>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032248"/>
          </a:xfrm>
        </p:spPr>
        <p:txBody>
          <a:bodyPr>
            <a:normAutofit fontScale="92500" lnSpcReduction="20000"/>
          </a:bodyPr>
          <a:lstStyle/>
          <a:p>
            <a:pPr algn="ctr">
              <a:buNone/>
            </a:pPr>
            <a:r>
              <a:rPr lang="en-US" dirty="0"/>
              <a:t>DATA COMMUNICATION</a:t>
            </a:r>
          </a:p>
          <a:p>
            <a:pPr algn="ctr">
              <a:buNone/>
            </a:pPr>
            <a:endParaRPr lang="en-US" dirty="0"/>
          </a:p>
          <a:p>
            <a:r>
              <a:rPr lang="en-US" b="1" dirty="0">
                <a:latin typeface="Times New Roman" charset="0"/>
              </a:rPr>
              <a:t>Telecommunication</a:t>
            </a:r>
            <a:r>
              <a:rPr lang="en-US" dirty="0">
                <a:latin typeface="Times New Roman" charset="0"/>
              </a:rPr>
              <a:t> refers communication at a distance. </a:t>
            </a:r>
          </a:p>
          <a:p>
            <a:pPr>
              <a:buNone/>
            </a:pPr>
            <a:endParaRPr lang="en-US" dirty="0">
              <a:latin typeface="Times New Roman" charset="0"/>
            </a:endParaRPr>
          </a:p>
          <a:p>
            <a:r>
              <a:rPr lang="en-US" dirty="0">
                <a:latin typeface="Times New Roman" charset="0"/>
              </a:rPr>
              <a:t>The term </a:t>
            </a:r>
            <a:r>
              <a:rPr lang="en-US" b="1" dirty="0">
                <a:latin typeface="Times New Roman" charset="0"/>
              </a:rPr>
              <a:t>data</a:t>
            </a:r>
            <a:r>
              <a:rPr lang="en-US" dirty="0">
                <a:latin typeface="Times New Roman" charset="0"/>
              </a:rPr>
              <a:t> refers to </a:t>
            </a:r>
            <a:r>
              <a:rPr lang="en-US" dirty="0">
                <a:solidFill>
                  <a:srgbClr val="FF0000"/>
                </a:solidFill>
                <a:latin typeface="Times New Roman" charset="0"/>
              </a:rPr>
              <a:t>information presented in whatever form is agreed upon by the parties creating and using the data. </a:t>
            </a:r>
          </a:p>
          <a:p>
            <a:endParaRPr lang="en-US" dirty="0">
              <a:latin typeface="Times New Roman" charset="0"/>
            </a:endParaRPr>
          </a:p>
          <a:p>
            <a:r>
              <a:rPr lang="en-US" b="1" dirty="0">
                <a:latin typeface="Times New Roman" charset="0"/>
              </a:rPr>
              <a:t>Data comes </a:t>
            </a:r>
            <a:r>
              <a:rPr lang="en-US" dirty="0">
                <a:latin typeface="Times New Roman" charset="0"/>
              </a:rPr>
              <a:t>in different forms; </a:t>
            </a:r>
            <a:r>
              <a:rPr lang="en-US" b="1" dirty="0">
                <a:latin typeface="Times New Roman" charset="0"/>
              </a:rPr>
              <a:t>text, numbers, images, audio, and Video</a:t>
            </a:r>
          </a:p>
          <a:p>
            <a:pPr>
              <a:buNone/>
            </a:pPr>
            <a:endParaRPr lang="en-US" dirty="0">
              <a:solidFill>
                <a:schemeClr val="hlink"/>
              </a:solidFill>
              <a:latin typeface="Times New Roman" charset="0"/>
            </a:endParaRPr>
          </a:p>
          <a:p>
            <a:r>
              <a:rPr lang="en-US" b="1" dirty="0">
                <a:latin typeface="Times New Roman" charset="0"/>
              </a:rPr>
              <a:t>Data communications </a:t>
            </a:r>
            <a:r>
              <a:rPr lang="en-US" dirty="0">
                <a:latin typeface="Times New Roman" charset="0"/>
              </a:rPr>
              <a:t>are </a:t>
            </a:r>
            <a:r>
              <a:rPr lang="en-US" dirty="0">
                <a:solidFill>
                  <a:srgbClr val="FF0000"/>
                </a:solidFill>
                <a:latin typeface="Times New Roman" charset="0"/>
              </a:rPr>
              <a:t>the exchange of data between two devices</a:t>
            </a:r>
            <a:r>
              <a:rPr lang="en-US" dirty="0">
                <a:latin typeface="Times New Roman" charset="0"/>
              </a:rPr>
              <a:t> via some form of transmission medium such as a wire cable. </a:t>
            </a:r>
          </a:p>
          <a:p>
            <a:pP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3965448"/>
          </a:xfrm>
        </p:spPr>
        <p:txBody>
          <a:bodyPr/>
          <a:lstStyle/>
          <a:p>
            <a:pPr algn="ctr">
              <a:buNone/>
            </a:pPr>
            <a:r>
              <a:rPr lang="en-US" dirty="0"/>
              <a:t>Components of Data Communication</a:t>
            </a:r>
          </a:p>
        </p:txBody>
      </p:sp>
      <p:sp>
        <p:nvSpPr>
          <p:cNvPr id="5" name="Slide Number Placeholder 4"/>
          <p:cNvSpPr>
            <a:spLocks noGrp="1"/>
          </p:cNvSpPr>
          <p:nvPr>
            <p:ph type="sldNum" sz="quarter" idx="12"/>
          </p:nvPr>
        </p:nvSpPr>
        <p:spPr/>
        <p:txBody>
          <a:bodyPr/>
          <a:lstStyle/>
          <a:p>
            <a:fld id="{BE937629-9D26-4278-96E1-3DABBBAE6AEF}" type="slidenum">
              <a:rPr lang="en-US" smtClean="0"/>
              <a:pPr/>
              <a:t>5</a:t>
            </a:fld>
            <a:endParaRPr lang="en-US"/>
          </a:p>
        </p:txBody>
      </p:sp>
      <p:pic>
        <p:nvPicPr>
          <p:cNvPr id="6" name="Picture 6"/>
          <p:cNvPicPr>
            <a:picLocks noChangeAspect="1" noChangeArrowheads="1"/>
          </p:cNvPicPr>
          <p:nvPr/>
        </p:nvPicPr>
        <p:blipFill>
          <a:blip r:embed="rId2" cstate="print"/>
          <a:srcRect/>
          <a:stretch>
            <a:fillRect/>
          </a:stretch>
        </p:blipFill>
        <p:spPr bwMode="auto">
          <a:xfrm>
            <a:off x="609600" y="1371600"/>
            <a:ext cx="4038600" cy="2971800"/>
          </a:xfrm>
          <a:prstGeom prst="rect">
            <a:avLst/>
          </a:prstGeom>
          <a:noFill/>
          <a:ln w="9525">
            <a:noFill/>
            <a:miter lim="800000"/>
            <a:headEnd/>
            <a:tailEnd/>
          </a:ln>
        </p:spPr>
      </p:pic>
      <p:pic>
        <p:nvPicPr>
          <p:cNvPr id="7" name="Picture 6"/>
          <p:cNvPicPr>
            <a:picLocks noChangeAspect="1" noChangeArrowheads="1"/>
          </p:cNvPicPr>
          <p:nvPr/>
        </p:nvPicPr>
        <p:blipFill>
          <a:blip r:embed="rId3" cstate="print"/>
          <a:srcRect/>
          <a:stretch>
            <a:fillRect/>
          </a:stretch>
        </p:blipFill>
        <p:spPr bwMode="auto">
          <a:xfrm>
            <a:off x="4648200" y="1371600"/>
            <a:ext cx="3962400" cy="2971800"/>
          </a:xfrm>
          <a:prstGeom prst="rect">
            <a:avLst/>
          </a:prstGeom>
          <a:noFill/>
          <a:ln w="9525">
            <a:noFill/>
            <a:miter lim="800000"/>
            <a:headEnd/>
            <a:tailEnd/>
          </a:ln>
        </p:spPr>
      </p:pic>
      <p:sp>
        <p:nvSpPr>
          <p:cNvPr id="8" name="TextBox 7"/>
          <p:cNvSpPr txBox="1"/>
          <p:nvPr/>
        </p:nvSpPr>
        <p:spPr>
          <a:xfrm>
            <a:off x="2133600" y="4495800"/>
            <a:ext cx="4220066" cy="1477328"/>
          </a:xfrm>
          <a:prstGeom prst="rect">
            <a:avLst/>
          </a:prstGeom>
          <a:noFill/>
        </p:spPr>
        <p:txBody>
          <a:bodyPr wrap="none" rtlCol="0">
            <a:spAutoFit/>
          </a:bodyPr>
          <a:lstStyle/>
          <a:p>
            <a:pPr marL="342900" indent="-342900">
              <a:buAutoNum type="arabicPeriod"/>
            </a:pPr>
            <a:r>
              <a:rPr lang="en-US" dirty="0"/>
              <a:t>Source/Destination (Protocol)</a:t>
            </a:r>
          </a:p>
          <a:p>
            <a:pPr marL="342900" indent="-342900">
              <a:buAutoNum type="arabicPeriod"/>
            </a:pPr>
            <a:r>
              <a:rPr lang="en-US" dirty="0"/>
              <a:t>Transmitter (Sender)</a:t>
            </a:r>
          </a:p>
          <a:p>
            <a:pPr marL="342900" indent="-342900">
              <a:buAutoNum type="arabicPeriod"/>
            </a:pPr>
            <a:r>
              <a:rPr lang="en-US" dirty="0"/>
              <a:t>Transmission Medium (Medium)</a:t>
            </a:r>
          </a:p>
          <a:p>
            <a:pPr marL="342900" indent="-342900">
              <a:buAutoNum type="arabicPeriod"/>
            </a:pPr>
            <a:r>
              <a:rPr lang="en-US" dirty="0"/>
              <a:t>Receiver (Receiver)</a:t>
            </a:r>
          </a:p>
          <a:p>
            <a:pPr marL="342900" indent="-342900">
              <a:buAutoNum type="arabicPeriod"/>
            </a:pPr>
            <a:r>
              <a:rPr lang="en-US" dirty="0"/>
              <a:t>Data (Message)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buNone/>
            </a:pPr>
            <a:r>
              <a:rPr lang="en-US" dirty="0"/>
              <a:t>Direction of Data Flow</a:t>
            </a:r>
          </a:p>
          <a:p>
            <a:pPr>
              <a:buNone/>
            </a:pPr>
            <a:endParaRPr lang="en-US" dirty="0"/>
          </a:p>
          <a:p>
            <a:pPr>
              <a:buNone/>
            </a:pPr>
            <a:r>
              <a:rPr lang="en-US" dirty="0"/>
              <a:t>There are three directions of data flow;</a:t>
            </a:r>
          </a:p>
          <a:p>
            <a:pPr>
              <a:buNone/>
            </a:pPr>
            <a:endParaRPr lang="en-US" dirty="0"/>
          </a:p>
          <a:p>
            <a:pPr marL="514350" indent="-514350">
              <a:buFont typeface="+mj-lt"/>
              <a:buAutoNum type="arabicPeriod"/>
            </a:pPr>
            <a:r>
              <a:rPr lang="en-US" dirty="0"/>
              <a:t>Simplex</a:t>
            </a:r>
          </a:p>
          <a:p>
            <a:pPr marL="514350" indent="-514350">
              <a:buFont typeface="+mj-lt"/>
              <a:buAutoNum type="arabicPeriod"/>
            </a:pPr>
            <a:r>
              <a:rPr lang="en-US" dirty="0"/>
              <a:t>Half Duplex</a:t>
            </a:r>
          </a:p>
          <a:p>
            <a:pPr marL="514350" indent="-514350">
              <a:buFont typeface="+mj-lt"/>
              <a:buAutoNum type="arabicPeriod"/>
            </a:pPr>
            <a:r>
              <a:rPr lang="en-US" dirty="0"/>
              <a:t>Full Duplex</a:t>
            </a:r>
          </a:p>
        </p:txBody>
      </p:sp>
      <p:sp>
        <p:nvSpPr>
          <p:cNvPr id="5" name="Slide Number Placeholder 4"/>
          <p:cNvSpPr>
            <a:spLocks noGrp="1"/>
          </p:cNvSpPr>
          <p:nvPr>
            <p:ph type="sldNum" sz="quarter" idx="12"/>
          </p:nvPr>
        </p:nvSpPr>
        <p:spPr/>
        <p:txBody>
          <a:bodyPr/>
          <a:lstStyle/>
          <a:p>
            <a:fld id="{BE937629-9D26-4278-96E1-3DABBBAE6AEF}"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3355848"/>
          </a:xfrm>
        </p:spPr>
        <p:txBody>
          <a:bodyPr>
            <a:normAutofit/>
          </a:bodyPr>
          <a:lstStyle/>
          <a:p>
            <a:pPr algn="ctr">
              <a:buNone/>
            </a:pPr>
            <a:r>
              <a:rPr lang="en-US" dirty="0"/>
              <a:t>Simplex</a:t>
            </a:r>
          </a:p>
          <a:p>
            <a:pPr algn="ctr">
              <a:buNone/>
            </a:pPr>
            <a:endParaRPr lang="en-US" dirty="0"/>
          </a:p>
          <a:p>
            <a:r>
              <a:rPr lang="en-US" sz="1900" dirty="0"/>
              <a:t>In simplex mode, </a:t>
            </a:r>
            <a:r>
              <a:rPr lang="en-US" sz="1900" b="1" dirty="0">
                <a:solidFill>
                  <a:srgbClr val="FF0000"/>
                </a:solidFill>
              </a:rPr>
              <a:t>the communication is unidirectional, as on a one-way street.</a:t>
            </a:r>
            <a:r>
              <a:rPr lang="en-US" sz="1900" dirty="0"/>
              <a:t> Only </a:t>
            </a:r>
            <a:r>
              <a:rPr lang="en-US" sz="1900" b="1" dirty="0"/>
              <a:t>one of the two devices on a link can transmit;</a:t>
            </a:r>
            <a:r>
              <a:rPr lang="en-US" sz="1900" dirty="0"/>
              <a:t> the other can only receive</a:t>
            </a:r>
          </a:p>
          <a:p>
            <a:endParaRPr lang="en-US" sz="1900" dirty="0"/>
          </a:p>
          <a:p>
            <a:r>
              <a:rPr lang="en-US" sz="1900" dirty="0"/>
              <a:t>Examples: Keyboards, traditional monitors</a:t>
            </a:r>
          </a:p>
          <a:p>
            <a:pPr>
              <a:buNone/>
            </a:pPr>
            <a:endParaRPr lang="en-US" dirty="0"/>
          </a:p>
          <a:p>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7</a:t>
            </a:fld>
            <a:endParaRPr lang="en-US"/>
          </a:p>
        </p:txBody>
      </p:sp>
      <p:pic>
        <p:nvPicPr>
          <p:cNvPr id="1029" name="Picture 5"/>
          <p:cNvPicPr>
            <a:picLocks noChangeAspect="1" noChangeArrowheads="1"/>
          </p:cNvPicPr>
          <p:nvPr/>
        </p:nvPicPr>
        <p:blipFill>
          <a:blip r:embed="rId2" cstate="print"/>
          <a:srcRect/>
          <a:stretch>
            <a:fillRect/>
          </a:stretch>
        </p:blipFill>
        <p:spPr bwMode="auto">
          <a:xfrm>
            <a:off x="1066800" y="3581400"/>
            <a:ext cx="6705600" cy="208597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2746248"/>
          </a:xfrm>
        </p:spPr>
        <p:txBody>
          <a:bodyPr>
            <a:normAutofit fontScale="85000" lnSpcReduction="20000"/>
          </a:bodyPr>
          <a:lstStyle/>
          <a:p>
            <a:pPr algn="ctr">
              <a:buNone/>
            </a:pPr>
            <a:r>
              <a:rPr lang="en-US" dirty="0"/>
              <a:t>         Half Duplex</a:t>
            </a:r>
          </a:p>
          <a:p>
            <a:pPr algn="ctr">
              <a:buNone/>
            </a:pPr>
            <a:endParaRPr lang="en-US" dirty="0"/>
          </a:p>
          <a:p>
            <a:r>
              <a:rPr lang="en-US" dirty="0"/>
              <a:t>In half-duplex mode</a:t>
            </a:r>
            <a:r>
              <a:rPr lang="en-US" b="1" dirty="0"/>
              <a:t>, each station can both transmit and receive, </a:t>
            </a:r>
            <a:r>
              <a:rPr lang="en-US" b="1" dirty="0">
                <a:solidFill>
                  <a:srgbClr val="FF0000"/>
                </a:solidFill>
              </a:rPr>
              <a:t>but not at the same time. </a:t>
            </a:r>
          </a:p>
          <a:p>
            <a:r>
              <a:rPr lang="en-US" b="1" dirty="0"/>
              <a:t>When one device is sending, the other can only receive, and vice versa</a:t>
            </a:r>
            <a:r>
              <a:rPr lang="en-US" dirty="0"/>
              <a:t>.</a:t>
            </a:r>
          </a:p>
          <a:p>
            <a:r>
              <a:rPr lang="en-US" dirty="0"/>
              <a:t>Example: a walkie-talkie</a:t>
            </a:r>
          </a:p>
          <a:p>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8</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1066800" y="4038600"/>
            <a:ext cx="6505575" cy="122872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3051048"/>
          </a:xfrm>
        </p:spPr>
        <p:txBody>
          <a:bodyPr>
            <a:normAutofit/>
          </a:bodyPr>
          <a:lstStyle/>
          <a:p>
            <a:pPr algn="ctr">
              <a:buNone/>
            </a:pPr>
            <a:r>
              <a:rPr lang="en-US" dirty="0"/>
              <a:t>Full Duplex</a:t>
            </a:r>
          </a:p>
          <a:p>
            <a:pPr algn="ctr">
              <a:buNone/>
            </a:pPr>
            <a:endParaRPr lang="en-US" dirty="0"/>
          </a:p>
          <a:p>
            <a:r>
              <a:rPr lang="en-US" dirty="0"/>
              <a:t>In full-duplex mode(also called duplex), </a:t>
            </a:r>
            <a:r>
              <a:rPr lang="en-US" b="1" dirty="0"/>
              <a:t>both stations can transmit and receive simultaneously</a:t>
            </a:r>
            <a:r>
              <a:rPr lang="en-US" dirty="0"/>
              <a:t>.</a:t>
            </a:r>
          </a:p>
          <a:p>
            <a:r>
              <a:rPr lang="en-US" dirty="0"/>
              <a:t>Example: landline</a:t>
            </a:r>
          </a:p>
          <a:p>
            <a:pPr>
              <a:buNone/>
            </a:pPr>
            <a:endParaRPr lang="en-US" dirty="0"/>
          </a:p>
          <a:p>
            <a:pPr>
              <a:buNone/>
            </a:pPr>
            <a:endParaRPr lang="en-US" dirty="0"/>
          </a:p>
          <a:p>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9</a:t>
            </a:fld>
            <a:endParaRPr lang="en-US"/>
          </a:p>
        </p:txBody>
      </p:sp>
      <p:pic>
        <p:nvPicPr>
          <p:cNvPr id="3076" name="Picture 4"/>
          <p:cNvPicPr>
            <a:picLocks noChangeAspect="1" noChangeArrowheads="1"/>
          </p:cNvPicPr>
          <p:nvPr/>
        </p:nvPicPr>
        <p:blipFill>
          <a:blip r:embed="rId2" cstate="print"/>
          <a:srcRect/>
          <a:stretch>
            <a:fillRect/>
          </a:stretch>
        </p:blipFill>
        <p:spPr bwMode="auto">
          <a:xfrm>
            <a:off x="1066800" y="3886200"/>
            <a:ext cx="6496050" cy="11811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lgn="ctr">
              <a:buNone/>
            </a:pPr>
            <a:r>
              <a:rPr lang="en-US" dirty="0"/>
              <a:t>Networks</a:t>
            </a:r>
          </a:p>
          <a:p>
            <a:pPr algn="ctr">
              <a:buNone/>
            </a:pPr>
            <a:endParaRPr lang="en-US" dirty="0"/>
          </a:p>
          <a:p>
            <a:r>
              <a:rPr lang="en-US" dirty="0">
                <a:effectLst>
                  <a:outerShdw blurRad="38100" dist="38100" dir="2700000" algn="tl">
                    <a:srgbClr val="C0C0C0"/>
                  </a:outerShdw>
                </a:effectLst>
                <a:latin typeface="Times New Roman" charset="0"/>
              </a:rPr>
              <a:t>A </a:t>
            </a:r>
            <a:r>
              <a:rPr lang="en-US" b="1" dirty="0">
                <a:effectLst>
                  <a:outerShdw blurRad="38100" dist="38100" dir="2700000" algn="tl">
                    <a:srgbClr val="C0C0C0"/>
                  </a:outerShdw>
                </a:effectLst>
                <a:latin typeface="Times New Roman" charset="0"/>
              </a:rPr>
              <a:t>network</a:t>
            </a:r>
            <a:r>
              <a:rPr lang="en-US" dirty="0">
                <a:effectLst>
                  <a:outerShdw blurRad="38100" dist="38100" dir="2700000" algn="tl">
                    <a:srgbClr val="C0C0C0"/>
                  </a:outerShdw>
                </a:effectLst>
                <a:latin typeface="Times New Roman" charset="0"/>
              </a:rPr>
              <a:t> can be defined </a:t>
            </a:r>
            <a:r>
              <a:rPr lang="en-US" b="1" dirty="0">
                <a:solidFill>
                  <a:srgbClr val="FF0000"/>
                </a:solidFill>
                <a:effectLst>
                  <a:outerShdw blurRad="38100" dist="38100" dir="2700000" algn="tl">
                    <a:srgbClr val="C0C0C0"/>
                  </a:outerShdw>
                </a:effectLst>
                <a:latin typeface="Times New Roman" charset="0"/>
              </a:rPr>
              <a:t>as a set of devices (Nodes) connected by communication links</a:t>
            </a:r>
            <a:r>
              <a:rPr lang="en-US" dirty="0">
                <a:effectLst>
                  <a:outerShdw blurRad="38100" dist="38100" dir="2700000" algn="tl">
                    <a:srgbClr val="C0C0C0"/>
                  </a:outerShdw>
                </a:effectLst>
                <a:latin typeface="Times New Roman" charset="0"/>
              </a:rPr>
              <a:t>. </a:t>
            </a:r>
          </a:p>
          <a:p>
            <a:endParaRPr lang="en-US" dirty="0">
              <a:effectLst>
                <a:outerShdw blurRad="38100" dist="38100" dir="2700000" algn="tl">
                  <a:srgbClr val="C0C0C0"/>
                </a:outerShdw>
              </a:effectLst>
              <a:latin typeface="Times New Roman" charset="0"/>
            </a:endParaRPr>
          </a:p>
          <a:p>
            <a:r>
              <a:rPr lang="en-US" dirty="0">
                <a:effectLst>
                  <a:outerShdw blurRad="38100" dist="38100" dir="2700000" algn="tl">
                    <a:srgbClr val="C0C0C0"/>
                  </a:outerShdw>
                </a:effectLst>
                <a:latin typeface="Times New Roman" charset="0"/>
              </a:rPr>
              <a:t>A node </a:t>
            </a:r>
            <a:r>
              <a:rPr lang="en-US" b="1" dirty="0">
                <a:effectLst>
                  <a:outerShdw blurRad="38100" dist="38100" dir="2700000" algn="tl">
                    <a:srgbClr val="C0C0C0"/>
                  </a:outerShdw>
                </a:effectLst>
                <a:latin typeface="Times New Roman" charset="0"/>
              </a:rPr>
              <a:t>can be a computer, printer, or any other device </a:t>
            </a:r>
            <a:r>
              <a:rPr lang="en-US" dirty="0">
                <a:effectLst>
                  <a:outerShdw blurRad="38100" dist="38100" dir="2700000" algn="tl">
                    <a:srgbClr val="C0C0C0"/>
                  </a:outerShdw>
                </a:effectLst>
                <a:latin typeface="Times New Roman" charset="0"/>
              </a:rPr>
              <a:t>capable of </a:t>
            </a:r>
            <a:r>
              <a:rPr lang="en-US" b="1" dirty="0">
                <a:solidFill>
                  <a:srgbClr val="FF0000"/>
                </a:solidFill>
                <a:effectLst>
                  <a:outerShdw blurRad="38100" dist="38100" dir="2700000" algn="tl">
                    <a:srgbClr val="C0C0C0"/>
                  </a:outerShdw>
                </a:effectLst>
                <a:latin typeface="Times New Roman" charset="0"/>
              </a:rPr>
              <a:t>sending and/or receiving data</a:t>
            </a:r>
            <a:r>
              <a:rPr lang="en-US" dirty="0">
                <a:effectLst>
                  <a:outerShdw blurRad="38100" dist="38100" dir="2700000" algn="tl">
                    <a:srgbClr val="C0C0C0"/>
                  </a:outerShdw>
                </a:effectLst>
                <a:latin typeface="Times New Roman" charset="0"/>
              </a:rPr>
              <a:t> generated by other nodes on the network. </a:t>
            </a:r>
          </a:p>
          <a:p>
            <a:endParaRPr lang="en-US" dirty="0">
              <a:effectLst>
                <a:outerShdw blurRad="38100" dist="38100" dir="2700000" algn="tl">
                  <a:srgbClr val="C0C0C0"/>
                </a:outerShdw>
              </a:effectLst>
              <a:latin typeface="Times New Roman" charset="0"/>
            </a:endParaRPr>
          </a:p>
          <a:p>
            <a:r>
              <a:rPr lang="en-US" dirty="0">
                <a:effectLst>
                  <a:outerShdw blurRad="38100" dist="38100" dir="2700000" algn="tl">
                    <a:srgbClr val="C0C0C0"/>
                  </a:outerShdw>
                </a:effectLst>
                <a:latin typeface="Times New Roman" charset="0"/>
              </a:rPr>
              <a:t>A link can be a cable, </a:t>
            </a:r>
            <a:r>
              <a:rPr lang="en-US" b="1" dirty="0">
                <a:effectLst>
                  <a:outerShdw blurRad="38100" dist="38100" dir="2700000" algn="tl">
                    <a:srgbClr val="C0C0C0"/>
                  </a:outerShdw>
                </a:effectLst>
                <a:latin typeface="Times New Roman" charset="0"/>
              </a:rPr>
              <a:t>air, optical fiber, or any medium </a:t>
            </a:r>
            <a:r>
              <a:rPr lang="en-US" dirty="0">
                <a:effectLst>
                  <a:outerShdw blurRad="38100" dist="38100" dir="2700000" algn="tl">
                    <a:srgbClr val="C0C0C0"/>
                  </a:outerShdw>
                </a:effectLst>
                <a:latin typeface="Times New Roman" charset="0"/>
              </a:rPr>
              <a:t>which can transport a signal carrying information.</a:t>
            </a:r>
          </a:p>
          <a:p>
            <a:pP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183880" cy="1584960"/>
          </a:xfrm>
        </p:spPr>
        <p:txBody>
          <a:bodyPr>
            <a:normAutofit fontScale="90000"/>
          </a:bodyPr>
          <a:lstStyle/>
          <a:p>
            <a:br>
              <a:rPr lang="en-GB" dirty="0"/>
            </a:br>
            <a:br>
              <a:rPr lang="en-GB" dirty="0"/>
            </a:br>
            <a:br>
              <a:rPr lang="en-GB" dirty="0"/>
            </a:br>
            <a:br>
              <a:rPr lang="en-GB" dirty="0"/>
            </a:br>
            <a:r>
              <a:rPr lang="en-GB" dirty="0"/>
              <a:t>Components and Categories of a Network</a:t>
            </a:r>
            <a:br>
              <a:rPr lang="en-GB" dirty="0"/>
            </a:br>
            <a:endParaRPr lang="en-US" b="0" dirty="0"/>
          </a:p>
        </p:txBody>
      </p:sp>
      <p:sp>
        <p:nvSpPr>
          <p:cNvPr id="3" name="Content Placeholder 2"/>
          <p:cNvSpPr>
            <a:spLocks noGrp="1"/>
          </p:cNvSpPr>
          <p:nvPr>
            <p:ph idx="1"/>
          </p:nvPr>
        </p:nvSpPr>
        <p:spPr>
          <a:xfrm>
            <a:off x="457200" y="1828800"/>
            <a:ext cx="8183880" cy="3886200"/>
          </a:xfrm>
        </p:spPr>
        <p:txBody>
          <a:bodyPr>
            <a:normAutofit/>
          </a:bodyPr>
          <a:lstStyle/>
          <a:p>
            <a:pPr>
              <a:buNone/>
            </a:pPr>
            <a:endParaRPr lang="en-GB" dirty="0"/>
          </a:p>
          <a:p>
            <a:r>
              <a:rPr lang="en-GB" dirty="0"/>
              <a:t>A network is composed of different things like;</a:t>
            </a:r>
          </a:p>
          <a:p>
            <a:pPr>
              <a:buNone/>
            </a:pPr>
            <a:endParaRPr lang="en-GB" dirty="0"/>
          </a:p>
          <a:p>
            <a:pPr marL="514350" indent="-514350">
              <a:buAutoNum type="arabicPeriod"/>
            </a:pPr>
            <a:r>
              <a:rPr lang="en-US" dirty="0"/>
              <a:t>end nodes (device + interface)</a:t>
            </a:r>
          </a:p>
          <a:p>
            <a:pPr marL="514350" indent="-514350">
              <a:buAutoNum type="arabicPeriod"/>
            </a:pPr>
            <a:r>
              <a:rPr lang="en-US" dirty="0"/>
              <a:t>Links</a:t>
            </a:r>
          </a:p>
          <a:p>
            <a:pPr marL="514350" indent="-514350">
              <a:buAutoNum type="arabicPeriod"/>
            </a:pPr>
            <a:r>
              <a:rPr lang="en-US" dirty="0"/>
              <a:t>interconnection network</a:t>
            </a:r>
          </a:p>
          <a:p>
            <a:pPr marL="514350" indent="-514350">
              <a:buAutoNum type="arabicPeriod"/>
            </a:pPr>
            <a:r>
              <a:rPr lang="en-US" dirty="0"/>
              <a:t>etc</a:t>
            </a:r>
          </a:p>
          <a:p>
            <a:pPr marL="514350" indent="-514350">
              <a:buFont typeface="+mj-lt"/>
              <a:buAutoNum type="arabicPeriod"/>
            </a:pPr>
            <a:endParaRPr lang="en-GB" dirty="0"/>
          </a:p>
          <a:p>
            <a:pP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914400"/>
            <a:ext cx="8183880" cy="1584960"/>
          </a:xfrm>
        </p:spPr>
        <p:txBody>
          <a:bodyPr>
            <a:normAutofit fontScale="90000"/>
          </a:bodyPr>
          <a:lstStyle/>
          <a:p>
            <a:br>
              <a:rPr lang="en-GB" dirty="0"/>
            </a:br>
            <a:br>
              <a:rPr lang="en-GB" dirty="0"/>
            </a:br>
            <a:br>
              <a:rPr lang="en-GB" dirty="0"/>
            </a:br>
            <a:br>
              <a:rPr lang="en-GB" dirty="0"/>
            </a:br>
            <a:br>
              <a:rPr lang="en-GB" dirty="0"/>
            </a:br>
            <a:br>
              <a:rPr lang="en-GB" dirty="0"/>
            </a:br>
            <a:br>
              <a:rPr lang="en-GB" dirty="0"/>
            </a:br>
            <a:r>
              <a:rPr lang="en-US" dirty="0"/>
              <a:t>Network Categories </a:t>
            </a:r>
            <a:br>
              <a:rPr lang="en-US" dirty="0"/>
            </a:br>
            <a:br>
              <a:rPr lang="en-GB" dirty="0"/>
            </a:br>
            <a:br>
              <a:rPr lang="en-GB" dirty="0"/>
            </a:br>
            <a:endParaRPr lang="en-US" b="0" dirty="0"/>
          </a:p>
        </p:txBody>
      </p:sp>
      <p:sp>
        <p:nvSpPr>
          <p:cNvPr id="3" name="Content Placeholder 2"/>
          <p:cNvSpPr>
            <a:spLocks noGrp="1"/>
          </p:cNvSpPr>
          <p:nvPr>
            <p:ph idx="1"/>
          </p:nvPr>
        </p:nvSpPr>
        <p:spPr>
          <a:xfrm>
            <a:off x="457200" y="2057400"/>
            <a:ext cx="8183880" cy="3657600"/>
          </a:xfrm>
        </p:spPr>
        <p:txBody>
          <a:bodyPr>
            <a:normAutofit/>
          </a:bodyPr>
          <a:lstStyle/>
          <a:p>
            <a:pPr>
              <a:buNone/>
            </a:pPr>
            <a:endParaRPr lang="en-GB" dirty="0"/>
          </a:p>
          <a:p>
            <a:pPr>
              <a:buNone/>
            </a:pPr>
            <a:r>
              <a:rPr lang="en-US" dirty="0"/>
              <a:t>Network Categories include;</a:t>
            </a:r>
          </a:p>
          <a:p>
            <a:pPr>
              <a:buNone/>
            </a:pPr>
            <a:endParaRPr lang="en-US" dirty="0"/>
          </a:p>
          <a:p>
            <a:pPr marL="457200" indent="-457200">
              <a:buAutoNum type="arabicPeriod"/>
            </a:pPr>
            <a:r>
              <a:rPr lang="en-US" dirty="0">
                <a:latin typeface="Times New Roman" charset="0"/>
              </a:rPr>
              <a:t>Local Area Networks (LANs)</a:t>
            </a:r>
          </a:p>
          <a:p>
            <a:pPr marL="457200" indent="-457200">
              <a:buAutoNum type="arabicPeriod"/>
            </a:pPr>
            <a:r>
              <a:rPr lang="en-US" dirty="0">
                <a:latin typeface="Times New Roman" charset="0"/>
              </a:rPr>
              <a:t>Wide Area Networks (WANs)</a:t>
            </a:r>
          </a:p>
          <a:p>
            <a:pPr marL="457200" indent="-457200">
              <a:buAutoNum type="arabicPeriod"/>
            </a:pPr>
            <a:r>
              <a:rPr lang="en-US" dirty="0">
                <a:latin typeface="Times New Roman" charset="0"/>
              </a:rPr>
              <a:t>Metropolitan Area Networks (MANs)</a:t>
            </a:r>
          </a:p>
          <a:p>
            <a:pPr marL="514350" indent="-514350">
              <a:buNone/>
            </a:pPr>
            <a:endParaRPr lang="en-GB" dirty="0"/>
          </a:p>
          <a:p>
            <a:pP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3355848"/>
          </a:xfrm>
        </p:spPr>
        <p:txBody>
          <a:bodyPr>
            <a:normAutofit/>
          </a:bodyPr>
          <a:lstStyle/>
          <a:p>
            <a:pPr algn="ctr">
              <a:buNone/>
            </a:pPr>
            <a:r>
              <a:rPr lang="en-US" dirty="0"/>
              <a:t>LAN</a:t>
            </a:r>
          </a:p>
          <a:p>
            <a:endParaRPr lang="en-US" sz="2400" b="1" dirty="0">
              <a:latin typeface="Times New Roman" charset="0"/>
            </a:endParaRPr>
          </a:p>
          <a:p>
            <a:r>
              <a:rPr lang="en-US" sz="2400" b="1" dirty="0">
                <a:latin typeface="Times New Roman" charset="0"/>
              </a:rPr>
              <a:t>Local Area Networks (LANs): LAN is usually privately owned and links the devices in a single office, building, or campus.</a:t>
            </a:r>
          </a:p>
          <a:p>
            <a:pPr lvl="1"/>
            <a:r>
              <a:rPr lang="en-US" sz="2000" b="1" dirty="0">
                <a:latin typeface="Times New Roman" charset="0"/>
              </a:rPr>
              <a:t>Short distances</a:t>
            </a:r>
          </a:p>
          <a:p>
            <a:pPr lvl="1"/>
            <a:r>
              <a:rPr lang="en-US" sz="2000" b="1" dirty="0">
                <a:latin typeface="Times New Roman" charset="0"/>
              </a:rPr>
              <a:t>Designed to provide local interconnectivity</a:t>
            </a:r>
          </a:p>
          <a:p>
            <a:pPr lvl="1">
              <a:buNone/>
            </a:pPr>
            <a:endParaRPr lang="en-US" sz="2000" b="1" dirty="0">
              <a:latin typeface="Times New Roman" charset="0"/>
            </a:endParaRPr>
          </a:p>
          <a:p>
            <a:pPr lvl="1"/>
            <a:endParaRPr lang="en-US" sz="2000" b="1" dirty="0">
              <a:latin typeface="Times New Roman" charset="0"/>
            </a:endParaRPr>
          </a:p>
          <a:p>
            <a:pP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13</a:t>
            </a:fld>
            <a:endParaRPr lang="en-US"/>
          </a:p>
        </p:txBody>
      </p:sp>
      <p:pic>
        <p:nvPicPr>
          <p:cNvPr id="6" name="Picture 6"/>
          <p:cNvPicPr>
            <a:picLocks noChangeAspect="1" noChangeArrowheads="1"/>
          </p:cNvPicPr>
          <p:nvPr/>
        </p:nvPicPr>
        <p:blipFill>
          <a:blip r:embed="rId2" cstate="print"/>
          <a:srcRect/>
          <a:stretch>
            <a:fillRect/>
          </a:stretch>
        </p:blipFill>
        <p:spPr bwMode="auto">
          <a:xfrm>
            <a:off x="1676400" y="3352800"/>
            <a:ext cx="5638800" cy="25146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2898648"/>
          </a:xfrm>
        </p:spPr>
        <p:txBody>
          <a:bodyPr/>
          <a:lstStyle/>
          <a:p>
            <a:pPr algn="ctr">
              <a:buNone/>
            </a:pPr>
            <a:r>
              <a:rPr lang="en-US" dirty="0"/>
              <a:t>WAN</a:t>
            </a:r>
          </a:p>
        </p:txBody>
      </p:sp>
      <p:sp>
        <p:nvSpPr>
          <p:cNvPr id="5" name="Slide Number Placeholder 4"/>
          <p:cNvSpPr>
            <a:spLocks noGrp="1"/>
          </p:cNvSpPr>
          <p:nvPr>
            <p:ph type="sldNum" sz="quarter" idx="12"/>
          </p:nvPr>
        </p:nvSpPr>
        <p:spPr/>
        <p:txBody>
          <a:bodyPr/>
          <a:lstStyle/>
          <a:p>
            <a:fld id="{BE937629-9D26-4278-96E1-3DABBBAE6AEF}" type="slidenum">
              <a:rPr lang="en-US" smtClean="0"/>
              <a:pPr/>
              <a:t>14</a:t>
            </a:fld>
            <a:endParaRPr lang="en-US"/>
          </a:p>
        </p:txBody>
      </p:sp>
      <p:sp>
        <p:nvSpPr>
          <p:cNvPr id="6" name="Rectangle 5"/>
          <p:cNvSpPr/>
          <p:nvPr/>
        </p:nvSpPr>
        <p:spPr>
          <a:xfrm>
            <a:off x="457200" y="1259175"/>
            <a:ext cx="8382000" cy="2185214"/>
          </a:xfrm>
          <a:prstGeom prst="rect">
            <a:avLst/>
          </a:prstGeom>
        </p:spPr>
        <p:txBody>
          <a:bodyPr wrap="square">
            <a:spAutoFit/>
          </a:bodyPr>
          <a:lstStyle/>
          <a:p>
            <a:r>
              <a:rPr lang="en-US" sz="2400" dirty="0">
                <a:latin typeface="Times New Roman" charset="0"/>
              </a:rPr>
              <a:t>Wide Area Networks (WANs):  WAN provides long-distance transmission of data, image, audio, and video information over </a:t>
            </a:r>
            <a:r>
              <a:rPr lang="en-US" sz="2400" b="1" dirty="0">
                <a:solidFill>
                  <a:srgbClr val="FF0000"/>
                </a:solidFill>
                <a:latin typeface="Times New Roman" charset="0"/>
              </a:rPr>
              <a:t>large geographic areas that may comprise a country, a continent</a:t>
            </a:r>
            <a:r>
              <a:rPr lang="en-US" sz="2400" dirty="0">
                <a:latin typeface="Times New Roman" charset="0"/>
              </a:rPr>
              <a:t>, or even the whole world.</a:t>
            </a:r>
          </a:p>
          <a:p>
            <a:pPr lvl="1">
              <a:buFont typeface="Arial" pitchFamily="34" charset="0"/>
              <a:buChar char="•"/>
            </a:pPr>
            <a:r>
              <a:rPr lang="en-US" sz="2000" dirty="0">
                <a:latin typeface="Times New Roman" charset="0"/>
              </a:rPr>
              <a:t>Long distances</a:t>
            </a:r>
          </a:p>
          <a:p>
            <a:pPr lvl="1">
              <a:buFont typeface="Arial" pitchFamily="34" charset="0"/>
              <a:buChar char="•"/>
            </a:pPr>
            <a:r>
              <a:rPr lang="en-US" sz="2000" dirty="0">
                <a:latin typeface="Times New Roman" charset="0"/>
              </a:rPr>
              <a:t>Provide connectivity over large areas</a:t>
            </a:r>
          </a:p>
        </p:txBody>
      </p:sp>
      <p:pic>
        <p:nvPicPr>
          <p:cNvPr id="7" name="Picture 6"/>
          <p:cNvPicPr>
            <a:picLocks noChangeAspect="1" noChangeArrowheads="1"/>
          </p:cNvPicPr>
          <p:nvPr/>
        </p:nvPicPr>
        <p:blipFill>
          <a:blip r:embed="rId2" cstate="print"/>
          <a:srcRect/>
          <a:stretch>
            <a:fillRect/>
          </a:stretch>
        </p:blipFill>
        <p:spPr bwMode="auto">
          <a:xfrm>
            <a:off x="1219200" y="3505200"/>
            <a:ext cx="4419600" cy="2387841"/>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3127248"/>
          </a:xfrm>
        </p:spPr>
        <p:txBody>
          <a:bodyPr/>
          <a:lstStyle/>
          <a:p>
            <a:pPr algn="ctr">
              <a:buNone/>
            </a:pPr>
            <a:r>
              <a:rPr lang="en-US" sz="2400" b="1" dirty="0">
                <a:latin typeface="Times New Roman" charset="0"/>
              </a:rPr>
              <a:t>MAN</a:t>
            </a:r>
          </a:p>
          <a:p>
            <a:endParaRPr lang="en-US" sz="2400" b="1" dirty="0">
              <a:latin typeface="Times New Roman" charset="0"/>
            </a:endParaRPr>
          </a:p>
          <a:p>
            <a:r>
              <a:rPr lang="en-US" sz="2400" b="1" dirty="0">
                <a:latin typeface="Times New Roman" charset="0"/>
              </a:rPr>
              <a:t>Metropolitan Area Networks (MANs):  MAN is a network with </a:t>
            </a:r>
            <a:r>
              <a:rPr lang="en-US" sz="2400" b="1" dirty="0">
                <a:solidFill>
                  <a:srgbClr val="FF0000"/>
                </a:solidFill>
                <a:latin typeface="Times New Roman" charset="0"/>
              </a:rPr>
              <a:t>a size between a LAN and a WAN.</a:t>
            </a:r>
          </a:p>
          <a:p>
            <a:pPr>
              <a:buNone/>
            </a:pPr>
            <a:endParaRPr lang="en-US" sz="2400" b="1" dirty="0">
              <a:latin typeface="Times New Roman" charset="0"/>
            </a:endParaRPr>
          </a:p>
          <a:p>
            <a:pPr lvl="1"/>
            <a:r>
              <a:rPr lang="en-US" sz="2000" b="1" dirty="0">
                <a:latin typeface="Times New Roman" charset="0"/>
              </a:rPr>
              <a:t>Provide connectivity over areas such as a city, a campus</a:t>
            </a:r>
          </a:p>
          <a:p>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15</a:t>
            </a:fld>
            <a:endParaRPr lang="en-US"/>
          </a:p>
        </p:txBody>
      </p:sp>
      <p:pic>
        <p:nvPicPr>
          <p:cNvPr id="5122" name="Picture 2" descr="http://www.perle.com/images/MAN.jpg"/>
          <p:cNvPicPr>
            <a:picLocks noChangeAspect="1" noChangeArrowheads="1"/>
          </p:cNvPicPr>
          <p:nvPr/>
        </p:nvPicPr>
        <p:blipFill>
          <a:blip r:embed="rId2" cstate="print"/>
          <a:srcRect/>
          <a:stretch>
            <a:fillRect/>
          </a:stretch>
        </p:blipFill>
        <p:spPr bwMode="auto">
          <a:xfrm>
            <a:off x="1981200" y="3124200"/>
            <a:ext cx="3819525" cy="26670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buNone/>
            </a:pPr>
            <a:r>
              <a:rPr lang="en-US" dirty="0">
                <a:latin typeface="Times New Roman" charset="0"/>
              </a:rPr>
              <a:t>A heterogeneous network made of four WANs and two LANs</a:t>
            </a:r>
          </a:p>
          <a:p>
            <a:pPr algn="ct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16</a:t>
            </a:fld>
            <a:endParaRPr lang="en-US"/>
          </a:p>
        </p:txBody>
      </p:sp>
      <p:pic>
        <p:nvPicPr>
          <p:cNvPr id="6" name="Picture 6"/>
          <p:cNvPicPr>
            <a:picLocks noChangeAspect="1" noChangeArrowheads="1"/>
          </p:cNvPicPr>
          <p:nvPr/>
        </p:nvPicPr>
        <p:blipFill>
          <a:blip r:embed="rId2" cstate="print"/>
          <a:srcRect/>
          <a:stretch>
            <a:fillRect/>
          </a:stretch>
        </p:blipFill>
        <p:spPr bwMode="auto">
          <a:xfrm>
            <a:off x="1828800" y="1600200"/>
            <a:ext cx="5740400" cy="41910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108448"/>
          </a:xfrm>
        </p:spPr>
        <p:txBody>
          <a:bodyPr>
            <a:normAutofit/>
          </a:bodyPr>
          <a:lstStyle/>
          <a:p>
            <a:pPr algn="ctr">
              <a:buNone/>
            </a:pPr>
            <a:r>
              <a:rPr lang="en-US" dirty="0"/>
              <a:t>Network Criteria</a:t>
            </a:r>
          </a:p>
          <a:p>
            <a:r>
              <a:rPr lang="en-US" sz="1600" dirty="0"/>
              <a:t>A network must be able </a:t>
            </a:r>
            <a:r>
              <a:rPr lang="en-US" sz="1600" b="1" dirty="0">
                <a:solidFill>
                  <a:srgbClr val="FF0000"/>
                </a:solidFill>
              </a:rPr>
              <a:t>to meet a certain number of criteria. The most important of these are:</a:t>
            </a:r>
          </a:p>
          <a:p>
            <a:pPr>
              <a:buNone/>
            </a:pPr>
            <a:endParaRPr lang="en-US" sz="1600" dirty="0"/>
          </a:p>
          <a:p>
            <a:pPr marL="342900" indent="-342900">
              <a:buNone/>
            </a:pPr>
            <a:r>
              <a:rPr lang="en-US" sz="1600" b="1" dirty="0"/>
              <a:t>1. Performance:</a:t>
            </a:r>
          </a:p>
          <a:p>
            <a:pPr lvl="1"/>
            <a:r>
              <a:rPr lang="en-US" sz="1400" dirty="0">
                <a:latin typeface="Times New Roman" charset="0"/>
              </a:rPr>
              <a:t>Depends on Network Elements</a:t>
            </a:r>
          </a:p>
          <a:p>
            <a:pPr lvl="1"/>
            <a:r>
              <a:rPr lang="en-US" sz="1400" dirty="0">
                <a:latin typeface="Times New Roman" charset="0"/>
              </a:rPr>
              <a:t>Measured in terms of Delay and Throughput</a:t>
            </a:r>
          </a:p>
          <a:p>
            <a:pPr marL="342900" indent="-342900">
              <a:buNone/>
            </a:pPr>
            <a:endParaRPr lang="en-US" sz="1600" dirty="0"/>
          </a:p>
          <a:p>
            <a:pPr marL="342900" indent="-342900">
              <a:buNone/>
            </a:pPr>
            <a:r>
              <a:rPr lang="en-US" sz="1600" dirty="0"/>
              <a:t>2. </a:t>
            </a:r>
            <a:r>
              <a:rPr lang="en-US" sz="1600" b="1" dirty="0"/>
              <a:t>Reliability:</a:t>
            </a:r>
          </a:p>
          <a:p>
            <a:pPr lvl="1"/>
            <a:r>
              <a:rPr lang="en-US" sz="1400" dirty="0">
                <a:latin typeface="Times New Roman" charset="0"/>
              </a:rPr>
              <a:t>Failure rate of network components</a:t>
            </a:r>
          </a:p>
          <a:p>
            <a:pPr lvl="1"/>
            <a:r>
              <a:rPr lang="en-US" sz="1400" dirty="0">
                <a:latin typeface="Times New Roman" charset="0"/>
              </a:rPr>
              <a:t>Measured in terms of availability/robustness</a:t>
            </a:r>
          </a:p>
          <a:p>
            <a:pPr lvl="1"/>
            <a:endParaRPr lang="en-US" sz="1600" dirty="0"/>
          </a:p>
          <a:p>
            <a:pPr marL="342900" indent="-342900">
              <a:buNone/>
            </a:pPr>
            <a:r>
              <a:rPr lang="en-US" sz="1600" b="1" dirty="0"/>
              <a:t>3. security:</a:t>
            </a:r>
          </a:p>
          <a:p>
            <a:pPr marL="342900" indent="-342900">
              <a:buAutoNum type="arabicPeriod" startAt="3"/>
            </a:pPr>
            <a:endParaRPr lang="en-US" sz="1600" b="1" dirty="0"/>
          </a:p>
          <a:p>
            <a:pPr lvl="1"/>
            <a:r>
              <a:rPr lang="en-US" sz="1400" dirty="0">
                <a:latin typeface="Times New Roman" charset="0"/>
              </a:rPr>
              <a:t>Data protection against corruption/loss of data due to:</a:t>
            </a:r>
          </a:p>
          <a:p>
            <a:pPr lvl="3"/>
            <a:r>
              <a:rPr lang="en-US" sz="1400" dirty="0">
                <a:latin typeface="Times New Roman" charset="0"/>
              </a:rPr>
              <a:t>Errors</a:t>
            </a:r>
          </a:p>
          <a:p>
            <a:pPr lvl="3"/>
            <a:r>
              <a:rPr lang="en-US" sz="1400" dirty="0">
                <a:latin typeface="Times New Roman" charset="0"/>
              </a:rPr>
              <a:t>Malicious users</a:t>
            </a:r>
          </a:p>
          <a:p>
            <a:pPr marL="342900" indent="-342900">
              <a:buNone/>
            </a:pPr>
            <a:endParaRPr lang="en-US" sz="1600" b="1" dirty="0"/>
          </a:p>
          <a:p>
            <a:pPr marL="342900" indent="-342900">
              <a:buNone/>
            </a:pPr>
            <a:endParaRPr lang="en-US" sz="1600" b="1" dirty="0"/>
          </a:p>
          <a:p>
            <a:pPr algn="ct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3051048"/>
          </a:xfrm>
        </p:spPr>
        <p:txBody>
          <a:bodyPr>
            <a:normAutofit/>
          </a:bodyPr>
          <a:lstStyle/>
          <a:p>
            <a:pPr algn="ctr">
              <a:buNone/>
            </a:pPr>
            <a:r>
              <a:rPr lang="en-US" dirty="0"/>
              <a:t>Types of Connection</a:t>
            </a:r>
          </a:p>
          <a:p>
            <a:pPr lvl="1"/>
            <a:endParaRPr lang="en-US" sz="2000" b="1" dirty="0">
              <a:solidFill>
                <a:schemeClr val="folHlink"/>
              </a:solidFill>
              <a:latin typeface="Times New Roman" charset="0"/>
            </a:endParaRPr>
          </a:p>
          <a:p>
            <a:pPr lvl="1">
              <a:buNone/>
            </a:pPr>
            <a:r>
              <a:rPr lang="en-US" sz="2000" b="1" dirty="0">
                <a:latin typeface="Times New Roman" charset="0"/>
              </a:rPr>
              <a:t>1. Point to Point: </a:t>
            </a:r>
            <a:r>
              <a:rPr lang="en-US" sz="2000" b="1" dirty="0">
                <a:solidFill>
                  <a:srgbClr val="FF0000"/>
                </a:solidFill>
                <a:latin typeface="Times New Roman" charset="0"/>
              </a:rPr>
              <a:t>A point-to-point connection provides a dedicated link between two devices</a:t>
            </a:r>
            <a:r>
              <a:rPr lang="en-US" sz="2000" dirty="0">
                <a:latin typeface="Times New Roman" charset="0"/>
              </a:rPr>
              <a:t>. The ent</a:t>
            </a:r>
            <a:r>
              <a:rPr lang="en-US" sz="2000" b="1" dirty="0">
                <a:latin typeface="Times New Roman" charset="0"/>
              </a:rPr>
              <a:t>ire capacity of the link is reserved for transmission between those two devices</a:t>
            </a:r>
            <a:r>
              <a:rPr lang="en-US" sz="2000" dirty="0">
                <a:latin typeface="Times New Roman" charset="0"/>
              </a:rPr>
              <a:t>. Most point-to-point connections use an actual length of wire or cable to connect the two ends.</a:t>
            </a:r>
          </a:p>
          <a:p>
            <a:pPr lvl="1">
              <a:buNone/>
            </a:pPr>
            <a:endParaRPr lang="en-US" sz="2000" b="1" dirty="0">
              <a:solidFill>
                <a:schemeClr val="folHlink"/>
              </a:solidFill>
              <a:latin typeface="Times New Roman" charset="0"/>
            </a:endParaRPr>
          </a:p>
          <a:p>
            <a:pP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18</a:t>
            </a:fld>
            <a:endParaRPr lang="en-US"/>
          </a:p>
        </p:txBody>
      </p:sp>
      <p:pic>
        <p:nvPicPr>
          <p:cNvPr id="39938" name="Picture 2"/>
          <p:cNvPicPr>
            <a:picLocks noChangeAspect="1" noChangeArrowheads="1"/>
          </p:cNvPicPr>
          <p:nvPr/>
        </p:nvPicPr>
        <p:blipFill>
          <a:blip r:embed="rId2" cstate="print"/>
          <a:srcRect/>
          <a:stretch>
            <a:fillRect/>
          </a:stretch>
        </p:blipFill>
        <p:spPr bwMode="auto">
          <a:xfrm>
            <a:off x="1066800" y="4267200"/>
            <a:ext cx="6943725" cy="107632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3355848"/>
          </a:xfrm>
        </p:spPr>
        <p:txBody>
          <a:bodyPr>
            <a:normAutofit fontScale="92500"/>
          </a:bodyPr>
          <a:lstStyle/>
          <a:p>
            <a:pPr algn="ctr">
              <a:buNone/>
            </a:pPr>
            <a:r>
              <a:rPr lang="en-US" dirty="0"/>
              <a:t>Cont’d</a:t>
            </a:r>
          </a:p>
          <a:p>
            <a:pPr algn="ctr">
              <a:buNone/>
            </a:pPr>
            <a:endParaRPr lang="en-US" dirty="0"/>
          </a:p>
          <a:p>
            <a:pPr>
              <a:buNone/>
            </a:pPr>
            <a:r>
              <a:rPr lang="en-US" dirty="0"/>
              <a:t>2. </a:t>
            </a:r>
            <a:r>
              <a:rPr lang="en-US" b="1" dirty="0">
                <a:latin typeface="Times New Roman" charset="0"/>
              </a:rPr>
              <a:t>Multipoint:</a:t>
            </a:r>
            <a:r>
              <a:rPr lang="en-US" dirty="0">
                <a:latin typeface="Times New Roman" charset="0"/>
              </a:rPr>
              <a:t> </a:t>
            </a:r>
            <a:r>
              <a:rPr lang="en-US" sz="2200" dirty="0">
                <a:latin typeface="Times New Roman" charset="0"/>
              </a:rPr>
              <a:t>A multipoint (also called </a:t>
            </a:r>
            <a:r>
              <a:rPr lang="en-US" sz="2200" dirty="0" err="1">
                <a:latin typeface="Times New Roman" charset="0"/>
              </a:rPr>
              <a:t>multidrop</a:t>
            </a:r>
            <a:r>
              <a:rPr lang="en-US" sz="2200" dirty="0">
                <a:latin typeface="Times New Roman" charset="0"/>
              </a:rPr>
              <a:t>) connection is      </a:t>
            </a:r>
            <a:r>
              <a:rPr lang="en-US" sz="2200" b="1" dirty="0">
                <a:solidFill>
                  <a:srgbClr val="FF0000"/>
                </a:solidFill>
                <a:latin typeface="Times New Roman" charset="0"/>
              </a:rPr>
              <a:t>one in which more than two specific devices share a single link.</a:t>
            </a:r>
          </a:p>
          <a:p>
            <a:pPr>
              <a:buNone/>
            </a:pPr>
            <a:r>
              <a:rPr lang="en-US" sz="2200" dirty="0">
                <a:latin typeface="Times New Roman" charset="0"/>
              </a:rPr>
              <a:t>       </a:t>
            </a:r>
            <a:r>
              <a:rPr lang="en-US" sz="2200" b="1" dirty="0">
                <a:latin typeface="Times New Roman" charset="0"/>
              </a:rPr>
              <a:t>In a multipoint environment, the capacity of the channel is shared,  </a:t>
            </a:r>
            <a:r>
              <a:rPr lang="en-US" sz="2200" b="1" dirty="0">
                <a:solidFill>
                  <a:srgbClr val="00B050"/>
                </a:solidFill>
                <a:latin typeface="Times New Roman" charset="0"/>
              </a:rPr>
              <a:t>either spatially or temporally/timeshared</a:t>
            </a:r>
            <a:r>
              <a:rPr lang="en-US" sz="2200" dirty="0">
                <a:latin typeface="Times New Roman" charset="0"/>
              </a:rPr>
              <a:t>. </a:t>
            </a:r>
            <a:r>
              <a:rPr lang="en-US" sz="2200" b="1" dirty="0">
                <a:solidFill>
                  <a:srgbClr val="FF0000"/>
                </a:solidFill>
                <a:latin typeface="Times New Roman" charset="0"/>
              </a:rPr>
              <a:t>If several devices can use the link simultaneously, it is as </a:t>
            </a:r>
            <a:r>
              <a:rPr lang="en-US" sz="2200" b="1" dirty="0">
                <a:solidFill>
                  <a:srgbClr val="00B050"/>
                </a:solidFill>
                <a:latin typeface="Times New Roman" charset="0"/>
              </a:rPr>
              <a:t>spatially shared connection</a:t>
            </a:r>
            <a:r>
              <a:rPr lang="en-US" sz="2200" dirty="0">
                <a:latin typeface="Times New Roman" charset="0"/>
              </a:rPr>
              <a:t>. </a:t>
            </a:r>
            <a:r>
              <a:rPr lang="en-US" sz="2200" b="1" dirty="0">
                <a:latin typeface="Times New Roman" charset="0"/>
              </a:rPr>
              <a:t>If users must take turns, it is a timeshared connection.</a:t>
            </a:r>
          </a:p>
          <a:p>
            <a:pP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19</a:t>
            </a:fld>
            <a:endParaRPr lang="en-US"/>
          </a:p>
        </p:txBody>
      </p:sp>
      <p:pic>
        <p:nvPicPr>
          <p:cNvPr id="40962" name="Picture 2"/>
          <p:cNvPicPr>
            <a:picLocks noChangeAspect="1" noChangeArrowheads="1"/>
          </p:cNvPicPr>
          <p:nvPr/>
        </p:nvPicPr>
        <p:blipFill>
          <a:blip r:embed="rId2" cstate="print"/>
          <a:srcRect/>
          <a:stretch>
            <a:fillRect/>
          </a:stretch>
        </p:blipFill>
        <p:spPr bwMode="auto">
          <a:xfrm>
            <a:off x="990600" y="3810000"/>
            <a:ext cx="6838950" cy="233362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2746248"/>
          </a:xfrm>
        </p:spPr>
        <p:txBody>
          <a:bodyPr/>
          <a:lstStyle/>
          <a:p>
            <a:pPr algn="ctr">
              <a:buNone/>
            </a:pPr>
            <a:r>
              <a:rPr lang="en-US" dirty="0"/>
              <a:t>Topologies</a:t>
            </a:r>
          </a:p>
          <a:p>
            <a:r>
              <a:rPr lang="en-US" sz="2000" dirty="0"/>
              <a:t>There are different types of network topologies;</a:t>
            </a:r>
          </a:p>
          <a:p>
            <a:pPr marL="514350" indent="-514350">
              <a:buFont typeface="+mj-lt"/>
              <a:buAutoNum type="arabicPeriod"/>
            </a:pPr>
            <a:r>
              <a:rPr lang="en-US" sz="2000" dirty="0"/>
              <a:t>Mesh</a:t>
            </a:r>
          </a:p>
          <a:p>
            <a:pPr marL="514350" indent="-514350">
              <a:buFont typeface="+mj-lt"/>
              <a:buAutoNum type="arabicPeriod"/>
            </a:pPr>
            <a:r>
              <a:rPr lang="en-US" sz="2000" dirty="0"/>
              <a:t>Star</a:t>
            </a:r>
          </a:p>
          <a:p>
            <a:pPr marL="514350" indent="-514350">
              <a:buFont typeface="+mj-lt"/>
              <a:buAutoNum type="arabicPeriod"/>
            </a:pPr>
            <a:r>
              <a:rPr lang="en-US" sz="2000" dirty="0"/>
              <a:t>Bus</a:t>
            </a:r>
          </a:p>
          <a:p>
            <a:pPr marL="514350" indent="-514350">
              <a:buFont typeface="+mj-lt"/>
              <a:buAutoNum type="arabicPeriod"/>
            </a:pPr>
            <a:r>
              <a:rPr lang="en-US" sz="2000" dirty="0"/>
              <a:t>Ring</a:t>
            </a:r>
          </a:p>
          <a:p>
            <a:pPr marL="514350" indent="-514350">
              <a:buFont typeface="+mj-lt"/>
              <a:buAutoNum type="arabicPeriod"/>
            </a:pPr>
            <a:r>
              <a:rPr lang="en-US" sz="2000" dirty="0"/>
              <a:t>Hybrid </a:t>
            </a:r>
          </a:p>
        </p:txBody>
      </p:sp>
      <p:sp>
        <p:nvSpPr>
          <p:cNvPr id="5" name="Slide Number Placeholder 4"/>
          <p:cNvSpPr>
            <a:spLocks noGrp="1"/>
          </p:cNvSpPr>
          <p:nvPr>
            <p:ph type="sldNum" sz="quarter" idx="12"/>
          </p:nvPr>
        </p:nvSpPr>
        <p:spPr/>
        <p:txBody>
          <a:bodyPr/>
          <a:lstStyle/>
          <a:p>
            <a:fld id="{BE937629-9D26-4278-96E1-3DABBBAE6AEF}" type="slidenum">
              <a:rPr lang="en-US" smtClean="0"/>
              <a:pPr/>
              <a:t>20</a:t>
            </a:fld>
            <a:endParaRPr lang="en-US"/>
          </a:p>
        </p:txBody>
      </p:sp>
      <p:pic>
        <p:nvPicPr>
          <p:cNvPr id="6" name="Picture 6"/>
          <p:cNvPicPr>
            <a:picLocks noChangeAspect="1" noChangeArrowheads="1"/>
          </p:cNvPicPr>
          <p:nvPr/>
        </p:nvPicPr>
        <p:blipFill>
          <a:blip r:embed="rId2" cstate="print"/>
          <a:srcRect/>
          <a:stretch>
            <a:fillRect/>
          </a:stretch>
        </p:blipFill>
        <p:spPr bwMode="auto">
          <a:xfrm>
            <a:off x="1219200" y="3352800"/>
            <a:ext cx="6389687" cy="217805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2289048"/>
          </a:xfrm>
        </p:spPr>
        <p:txBody>
          <a:bodyPr>
            <a:normAutofit fontScale="92500" lnSpcReduction="20000"/>
          </a:bodyPr>
          <a:lstStyle/>
          <a:p>
            <a:pPr algn="ctr">
              <a:buNone/>
            </a:pPr>
            <a:r>
              <a:rPr lang="en-US" dirty="0"/>
              <a:t>MESH</a:t>
            </a:r>
          </a:p>
          <a:p>
            <a:pPr algn="ctr">
              <a:buNone/>
            </a:pPr>
            <a:endParaRPr lang="en-US" dirty="0"/>
          </a:p>
          <a:p>
            <a:r>
              <a:rPr lang="en-US" sz="2000" dirty="0"/>
              <a:t>In a mesh topology, </a:t>
            </a:r>
            <a:r>
              <a:rPr lang="en-US" sz="2000" b="1" dirty="0">
                <a:solidFill>
                  <a:srgbClr val="FF0000"/>
                </a:solidFill>
              </a:rPr>
              <a:t>every device has a dedicated point-to-point link to every other device</a:t>
            </a:r>
            <a:r>
              <a:rPr lang="en-US" sz="2000" dirty="0"/>
              <a:t>. </a:t>
            </a:r>
          </a:p>
          <a:p>
            <a:pPr>
              <a:buNone/>
            </a:pPr>
            <a:endParaRPr lang="en-US" sz="2000" dirty="0"/>
          </a:p>
          <a:p>
            <a:r>
              <a:rPr lang="en-US" sz="2000" dirty="0"/>
              <a:t>The term dedicated </a:t>
            </a:r>
            <a:r>
              <a:rPr lang="en-US" sz="2000" b="1" dirty="0"/>
              <a:t>means that the link carries traffic only between the two devices it connects</a:t>
            </a:r>
          </a:p>
          <a:p>
            <a:pP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21</a:t>
            </a:fld>
            <a:endParaRPr lang="en-US"/>
          </a:p>
        </p:txBody>
      </p:sp>
      <p:pic>
        <p:nvPicPr>
          <p:cNvPr id="6" name="Picture 6"/>
          <p:cNvPicPr>
            <a:picLocks noChangeAspect="1" noChangeArrowheads="1"/>
          </p:cNvPicPr>
          <p:nvPr/>
        </p:nvPicPr>
        <p:blipFill>
          <a:blip r:embed="rId2" cstate="print"/>
          <a:srcRect/>
          <a:stretch>
            <a:fillRect/>
          </a:stretch>
        </p:blipFill>
        <p:spPr bwMode="auto">
          <a:xfrm>
            <a:off x="2209800" y="3533042"/>
            <a:ext cx="3581400" cy="2410558"/>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3279648"/>
          </a:xfrm>
        </p:spPr>
        <p:txBody>
          <a:bodyPr>
            <a:normAutofit lnSpcReduction="10000"/>
          </a:bodyPr>
          <a:lstStyle/>
          <a:p>
            <a:pPr algn="ctr">
              <a:buNone/>
            </a:pPr>
            <a:r>
              <a:rPr lang="en-US" dirty="0"/>
              <a:t>Star</a:t>
            </a:r>
          </a:p>
          <a:p>
            <a:r>
              <a:rPr lang="en-US" sz="1800" dirty="0"/>
              <a:t>In a star topology, </a:t>
            </a:r>
            <a:r>
              <a:rPr lang="en-US" sz="1800" b="1" dirty="0">
                <a:solidFill>
                  <a:srgbClr val="FF0000"/>
                </a:solidFill>
              </a:rPr>
              <a:t>each device has a dedicated point-to-point link only to a central controller</a:t>
            </a:r>
            <a:r>
              <a:rPr lang="en-US" sz="1800" dirty="0"/>
              <a:t>, </a:t>
            </a:r>
            <a:r>
              <a:rPr lang="en-US" sz="1800" b="1" dirty="0"/>
              <a:t>usually called a hub</a:t>
            </a:r>
            <a:r>
              <a:rPr lang="en-US" sz="1800" dirty="0"/>
              <a:t>. </a:t>
            </a:r>
          </a:p>
          <a:p>
            <a:endParaRPr lang="en-US" sz="1800" dirty="0"/>
          </a:p>
          <a:p>
            <a:r>
              <a:rPr lang="en-US" sz="1800" dirty="0"/>
              <a:t>The devices are not directly linked to one another. Unlike a mesh topology, </a:t>
            </a:r>
            <a:r>
              <a:rPr lang="en-US" sz="1800" b="1" dirty="0"/>
              <a:t>a star topology does not allow direct traffic between devices. </a:t>
            </a:r>
          </a:p>
          <a:p>
            <a:endParaRPr lang="en-US" sz="1800" dirty="0"/>
          </a:p>
          <a:p>
            <a:r>
              <a:rPr lang="en-US" sz="1800" dirty="0"/>
              <a:t>The controller acts as an exchange: </a:t>
            </a:r>
            <a:r>
              <a:rPr lang="en-US" sz="1800" b="1" dirty="0"/>
              <a:t>If one device wants to send data to another, it sends the data to the controller, which then relays the data to the other connected device.</a:t>
            </a:r>
          </a:p>
          <a:p>
            <a:pP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22</a:t>
            </a:fld>
            <a:endParaRPr lang="en-US"/>
          </a:p>
        </p:txBody>
      </p:sp>
      <p:pic>
        <p:nvPicPr>
          <p:cNvPr id="6" name="Picture 6"/>
          <p:cNvPicPr>
            <a:picLocks noChangeAspect="1" noChangeArrowheads="1"/>
          </p:cNvPicPr>
          <p:nvPr/>
        </p:nvPicPr>
        <p:blipFill>
          <a:blip r:embed="rId2" cstate="print"/>
          <a:srcRect/>
          <a:stretch>
            <a:fillRect/>
          </a:stretch>
        </p:blipFill>
        <p:spPr bwMode="auto">
          <a:xfrm>
            <a:off x="1676400" y="3831922"/>
            <a:ext cx="4038600" cy="2135489"/>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3279648"/>
          </a:xfrm>
        </p:spPr>
        <p:txBody>
          <a:bodyPr>
            <a:normAutofit lnSpcReduction="10000"/>
          </a:bodyPr>
          <a:lstStyle/>
          <a:p>
            <a:pPr algn="ctr">
              <a:buNone/>
            </a:pPr>
            <a:r>
              <a:rPr lang="en-US" dirty="0"/>
              <a:t>Bus</a:t>
            </a:r>
          </a:p>
          <a:p>
            <a:r>
              <a:rPr lang="en-US" sz="1600" dirty="0"/>
              <a:t>The previous examples are all </a:t>
            </a:r>
            <a:r>
              <a:rPr lang="en-US" sz="1600" b="1" dirty="0"/>
              <a:t>point-to-point connections</a:t>
            </a:r>
            <a:r>
              <a:rPr lang="en-US" sz="1600" dirty="0"/>
              <a:t>, </a:t>
            </a:r>
            <a:r>
              <a:rPr lang="en-US" sz="1600" b="1" dirty="0">
                <a:solidFill>
                  <a:srgbClr val="FF0000"/>
                </a:solidFill>
              </a:rPr>
              <a:t>a bus topology, on the other hand, is multipoint. </a:t>
            </a:r>
          </a:p>
          <a:p>
            <a:pPr>
              <a:buNone/>
            </a:pPr>
            <a:endParaRPr lang="en-US" sz="1600" b="1" dirty="0">
              <a:solidFill>
                <a:srgbClr val="FF0000"/>
              </a:solidFill>
            </a:endParaRPr>
          </a:p>
          <a:p>
            <a:r>
              <a:rPr lang="en-US" sz="1600" b="1" dirty="0"/>
              <a:t>One long cable acts as a backbone to link all the devices in a network</a:t>
            </a:r>
            <a:r>
              <a:rPr lang="en-US" sz="1600" dirty="0"/>
              <a:t>, </a:t>
            </a:r>
            <a:r>
              <a:rPr lang="en-US" sz="1600" b="1" dirty="0">
                <a:solidFill>
                  <a:srgbClr val="FF0000"/>
                </a:solidFill>
              </a:rPr>
              <a:t>nodes are connected to the bus cable by drop lines and taps</a:t>
            </a:r>
            <a:r>
              <a:rPr lang="en-US" sz="1600" dirty="0"/>
              <a:t>. </a:t>
            </a:r>
          </a:p>
          <a:p>
            <a:r>
              <a:rPr lang="en-US" sz="1600" b="1" dirty="0"/>
              <a:t>A drop line is a connection running between the device and the main cable</a:t>
            </a:r>
            <a:r>
              <a:rPr lang="en-US" sz="1600" dirty="0"/>
              <a:t>.</a:t>
            </a:r>
          </a:p>
          <a:p>
            <a:r>
              <a:rPr lang="en-US" sz="1600" b="1" dirty="0"/>
              <a:t>A tap is a connector that either splices into the main cable </a:t>
            </a:r>
            <a:r>
              <a:rPr lang="en-US" sz="1600" dirty="0"/>
              <a:t>or </a:t>
            </a:r>
            <a:r>
              <a:rPr lang="en-US" sz="1600" b="1" dirty="0">
                <a:solidFill>
                  <a:srgbClr val="FF0000"/>
                </a:solidFill>
              </a:rPr>
              <a:t>penetrates the sheathing of a cable to create a contact with the metallic core</a:t>
            </a:r>
          </a:p>
          <a:p>
            <a:endParaRPr lang="en-US" dirty="0"/>
          </a:p>
          <a:p>
            <a:pPr>
              <a:buNone/>
            </a:pPr>
            <a:endParaRPr lang="en-US" dirty="0"/>
          </a:p>
        </p:txBody>
      </p:sp>
      <p:sp>
        <p:nvSpPr>
          <p:cNvPr id="4" name="Footer Placeholder 3"/>
          <p:cNvSpPr>
            <a:spLocks noGrp="1"/>
          </p:cNvSpPr>
          <p:nvPr>
            <p:ph type="ftr" sz="quarter" idx="11"/>
          </p:nvPr>
        </p:nvSpPr>
        <p:spPr/>
        <p:txBody>
          <a:bodyPr/>
          <a:lstStyle/>
          <a:p>
            <a:r>
              <a:rPr lang="en-US"/>
              <a:t>UR-COSTECH</a:t>
            </a:r>
          </a:p>
        </p:txBody>
      </p:sp>
      <p:sp>
        <p:nvSpPr>
          <p:cNvPr id="5" name="Slide Number Placeholder 4"/>
          <p:cNvSpPr>
            <a:spLocks noGrp="1"/>
          </p:cNvSpPr>
          <p:nvPr>
            <p:ph type="sldNum" sz="quarter" idx="12"/>
          </p:nvPr>
        </p:nvSpPr>
        <p:spPr/>
        <p:txBody>
          <a:bodyPr/>
          <a:lstStyle/>
          <a:p>
            <a:fld id="{BE937629-9D26-4278-96E1-3DABBBAE6AEF}" type="slidenum">
              <a:rPr lang="en-US" smtClean="0"/>
              <a:pPr/>
              <a:t>23</a:t>
            </a:fld>
            <a:endParaRPr lang="en-US"/>
          </a:p>
        </p:txBody>
      </p:sp>
      <p:pic>
        <p:nvPicPr>
          <p:cNvPr id="7" name="Picture 6"/>
          <p:cNvPicPr>
            <a:picLocks noChangeAspect="1" noChangeArrowheads="1"/>
          </p:cNvPicPr>
          <p:nvPr/>
        </p:nvPicPr>
        <p:blipFill>
          <a:blip r:embed="rId2" cstate="print"/>
          <a:srcRect/>
          <a:stretch>
            <a:fillRect/>
          </a:stretch>
        </p:blipFill>
        <p:spPr bwMode="auto">
          <a:xfrm>
            <a:off x="685800" y="3733800"/>
            <a:ext cx="7888287" cy="1668463"/>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ctr">
              <a:buNone/>
            </a:pPr>
            <a:r>
              <a:rPr lang="en-US" dirty="0"/>
              <a:t>RING</a:t>
            </a:r>
          </a:p>
          <a:p>
            <a:pPr algn="ctr">
              <a:buNone/>
            </a:pPr>
            <a:endParaRPr lang="en-US" dirty="0"/>
          </a:p>
          <a:p>
            <a:r>
              <a:rPr lang="en-US" sz="1600" dirty="0"/>
              <a:t>In a ring topology, </a:t>
            </a:r>
            <a:r>
              <a:rPr lang="en-US" sz="1600" b="1" dirty="0">
                <a:solidFill>
                  <a:srgbClr val="FF0000"/>
                </a:solidFill>
              </a:rPr>
              <a:t>each device has a dedicated point-to-point connection with only the two devices on either side of it.</a:t>
            </a:r>
          </a:p>
          <a:p>
            <a:pPr>
              <a:buNone/>
            </a:pPr>
            <a:endParaRPr lang="en-US" sz="1600" b="1" dirty="0">
              <a:solidFill>
                <a:srgbClr val="FF0000"/>
              </a:solidFill>
            </a:endParaRPr>
          </a:p>
          <a:p>
            <a:r>
              <a:rPr lang="en-US" sz="1600" dirty="0"/>
              <a:t> </a:t>
            </a:r>
            <a:r>
              <a:rPr lang="en-US" sz="1600" b="1" dirty="0"/>
              <a:t>A signal is passed along the ring in one direction, from device to device, until it reaches its destination. </a:t>
            </a:r>
          </a:p>
          <a:p>
            <a:endParaRPr lang="en-US" sz="1600" b="1" dirty="0"/>
          </a:p>
          <a:p>
            <a:r>
              <a:rPr lang="en-US" sz="1600" b="1" dirty="0"/>
              <a:t>Each device in the ring incorporates a repeater</a:t>
            </a:r>
            <a:r>
              <a:rPr lang="en-US" sz="1600" dirty="0"/>
              <a:t>. When a device </a:t>
            </a:r>
            <a:r>
              <a:rPr lang="en-US" sz="1600" b="1" dirty="0">
                <a:solidFill>
                  <a:srgbClr val="FF0000"/>
                </a:solidFill>
              </a:rPr>
              <a:t>receives a signal intended for another device, its repeater regenerates the bits and passes them along</a:t>
            </a:r>
            <a:r>
              <a:rPr lang="en-US" sz="1600" dirty="0"/>
              <a:t>.</a:t>
            </a:r>
          </a:p>
          <a:p>
            <a:pPr>
              <a:buNone/>
            </a:pPr>
            <a:endParaRPr lang="en-US" dirty="0"/>
          </a:p>
          <a:p>
            <a:pP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24</a:t>
            </a:fld>
            <a:endParaRPr lang="en-US"/>
          </a:p>
        </p:txBody>
      </p:sp>
      <p:pic>
        <p:nvPicPr>
          <p:cNvPr id="6" name="Picture 7"/>
          <p:cNvPicPr>
            <a:picLocks noChangeAspect="1" noChangeArrowheads="1"/>
          </p:cNvPicPr>
          <p:nvPr/>
        </p:nvPicPr>
        <p:blipFill>
          <a:blip r:embed="rId2" cstate="print"/>
          <a:srcRect/>
          <a:stretch>
            <a:fillRect/>
          </a:stretch>
        </p:blipFill>
        <p:spPr bwMode="auto">
          <a:xfrm>
            <a:off x="761999" y="4099092"/>
            <a:ext cx="6324601" cy="2046119"/>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buNone/>
            </a:pPr>
            <a:r>
              <a:rPr lang="en-US" dirty="0"/>
              <a:t>Hybrid (</a:t>
            </a:r>
            <a:r>
              <a:rPr lang="en-US" i="1" dirty="0">
                <a:latin typeface="Times New Roman" charset="0"/>
              </a:rPr>
              <a:t> </a:t>
            </a:r>
            <a:r>
              <a:rPr lang="en-US" b="1" dirty="0">
                <a:solidFill>
                  <a:srgbClr val="FF0000"/>
                </a:solidFill>
                <a:latin typeface="Times New Roman" charset="0"/>
              </a:rPr>
              <a:t>a star backbone with three bus networks</a:t>
            </a:r>
            <a:r>
              <a:rPr lang="en-US" dirty="0"/>
              <a:t>)</a:t>
            </a:r>
          </a:p>
          <a:p>
            <a:pPr algn="ctr">
              <a:buNone/>
            </a:pPr>
            <a:endParaRPr lang="en-US" dirty="0"/>
          </a:p>
          <a:p>
            <a:r>
              <a:rPr lang="en-US" sz="2000" dirty="0"/>
              <a:t>A network can be hybrid. For example, </a:t>
            </a:r>
            <a:r>
              <a:rPr lang="en-US" sz="2000" b="1" dirty="0">
                <a:solidFill>
                  <a:srgbClr val="FF0000"/>
                </a:solidFill>
              </a:rPr>
              <a:t>we can have a main star topology with each branch connecting several stations in a bus topology</a:t>
            </a:r>
          </a:p>
          <a:p>
            <a:pP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25</a:t>
            </a:fld>
            <a:endParaRPr lang="en-US"/>
          </a:p>
        </p:txBody>
      </p:sp>
      <p:pic>
        <p:nvPicPr>
          <p:cNvPr id="6" name="Picture 6"/>
          <p:cNvPicPr>
            <a:picLocks noChangeAspect="1" noChangeArrowheads="1"/>
          </p:cNvPicPr>
          <p:nvPr/>
        </p:nvPicPr>
        <p:blipFill>
          <a:blip r:embed="rId2" cstate="print"/>
          <a:srcRect/>
          <a:stretch>
            <a:fillRect/>
          </a:stretch>
        </p:blipFill>
        <p:spPr bwMode="auto">
          <a:xfrm>
            <a:off x="1295400" y="2590800"/>
            <a:ext cx="6096000" cy="35814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183880" cy="1051560"/>
          </a:xfrm>
        </p:spPr>
        <p:txBody>
          <a:bodyPr>
            <a:normAutofit fontScale="90000"/>
          </a:bodyPr>
          <a:lstStyle/>
          <a:p>
            <a:r>
              <a:rPr lang="en-GB" dirty="0"/>
              <a:t>Protocols and Standards</a:t>
            </a:r>
            <a:br>
              <a:rPr lang="en-GB" dirty="0"/>
            </a:br>
            <a:endParaRPr lang="en-US" dirty="0"/>
          </a:p>
        </p:txBody>
      </p:sp>
      <p:sp>
        <p:nvSpPr>
          <p:cNvPr id="3" name="Content Placeholder 2"/>
          <p:cNvSpPr>
            <a:spLocks noGrp="1"/>
          </p:cNvSpPr>
          <p:nvPr>
            <p:ph idx="1"/>
          </p:nvPr>
        </p:nvSpPr>
        <p:spPr>
          <a:xfrm>
            <a:off x="502920" y="1295400"/>
            <a:ext cx="8183880" cy="4191000"/>
          </a:xfrm>
        </p:spPr>
        <p:txBody>
          <a:bodyPr>
            <a:normAutofit fontScale="92500" lnSpcReduction="20000"/>
          </a:bodyPr>
          <a:lstStyle/>
          <a:p>
            <a:pPr algn="ctr">
              <a:buNone/>
            </a:pPr>
            <a:r>
              <a:rPr lang="en-GB" b="1" dirty="0"/>
              <a:t>Protocols</a:t>
            </a:r>
          </a:p>
          <a:p>
            <a:r>
              <a:rPr lang="en-US" b="1" dirty="0">
                <a:solidFill>
                  <a:srgbClr val="FF0000"/>
                </a:solidFill>
                <a:effectLst>
                  <a:outerShdw blurRad="38100" dist="38100" dir="2700000" algn="tl">
                    <a:srgbClr val="C0C0C0"/>
                  </a:outerShdw>
                </a:effectLst>
                <a:latin typeface="Times New Roman" charset="0"/>
              </a:rPr>
              <a:t>A protocol is identical with a rule</a:t>
            </a:r>
            <a:r>
              <a:rPr lang="en-US" dirty="0">
                <a:effectLst>
                  <a:outerShdw blurRad="38100" dist="38100" dir="2700000" algn="tl">
                    <a:srgbClr val="C0C0C0"/>
                  </a:outerShdw>
                </a:effectLst>
                <a:latin typeface="Times New Roman" charset="0"/>
              </a:rPr>
              <a:t>. </a:t>
            </a:r>
          </a:p>
          <a:p>
            <a:pPr>
              <a:buNone/>
            </a:pPr>
            <a:endParaRPr lang="en-US" dirty="0">
              <a:effectLst>
                <a:outerShdw blurRad="38100" dist="38100" dir="2700000" algn="tl">
                  <a:srgbClr val="C0C0C0"/>
                </a:outerShdw>
              </a:effectLst>
              <a:latin typeface="Times New Roman" charset="0"/>
            </a:endParaRPr>
          </a:p>
          <a:p>
            <a:r>
              <a:rPr lang="en-US" dirty="0">
                <a:effectLst>
                  <a:outerShdw blurRad="38100" dist="38100" dir="2700000" algn="tl">
                    <a:srgbClr val="C0C0C0"/>
                  </a:outerShdw>
                </a:effectLst>
                <a:latin typeface="Times New Roman" charset="0"/>
              </a:rPr>
              <a:t>It consists of </a:t>
            </a:r>
            <a:r>
              <a:rPr lang="en-US" b="1" dirty="0">
                <a:effectLst>
                  <a:outerShdw blurRad="38100" dist="38100" dir="2700000" algn="tl">
                    <a:srgbClr val="C0C0C0"/>
                  </a:outerShdw>
                </a:effectLst>
                <a:latin typeface="Times New Roman" charset="0"/>
              </a:rPr>
              <a:t>a set of rules that govern data communications</a:t>
            </a:r>
            <a:r>
              <a:rPr lang="en-US" dirty="0">
                <a:effectLst>
                  <a:outerShdw blurRad="38100" dist="38100" dir="2700000" algn="tl">
                    <a:srgbClr val="C0C0C0"/>
                  </a:outerShdw>
                </a:effectLst>
                <a:latin typeface="Times New Roman" charset="0"/>
              </a:rPr>
              <a:t>. </a:t>
            </a:r>
          </a:p>
          <a:p>
            <a:endParaRPr lang="en-US" dirty="0">
              <a:effectLst>
                <a:outerShdw blurRad="38100" dist="38100" dir="2700000" algn="tl">
                  <a:srgbClr val="C0C0C0"/>
                </a:outerShdw>
              </a:effectLst>
              <a:latin typeface="Times New Roman" charset="0"/>
            </a:endParaRPr>
          </a:p>
          <a:p>
            <a:r>
              <a:rPr lang="en-US" b="1" dirty="0">
                <a:solidFill>
                  <a:srgbClr val="FF0000"/>
                </a:solidFill>
                <a:effectLst>
                  <a:outerShdw blurRad="38100" dist="38100" dir="2700000" algn="tl">
                    <a:srgbClr val="C0C0C0"/>
                  </a:outerShdw>
                </a:effectLst>
                <a:latin typeface="Times New Roman" charset="0"/>
              </a:rPr>
              <a:t>It determines what is communicated, how it is communicated and when it is communicated</a:t>
            </a:r>
            <a:r>
              <a:rPr lang="en-US" dirty="0">
                <a:effectLst>
                  <a:outerShdw blurRad="38100" dist="38100" dir="2700000" algn="tl">
                    <a:srgbClr val="C0C0C0"/>
                  </a:outerShdw>
                </a:effectLst>
                <a:latin typeface="Times New Roman" charset="0"/>
              </a:rPr>
              <a:t>. </a:t>
            </a:r>
          </a:p>
          <a:p>
            <a:endParaRPr lang="en-US" dirty="0">
              <a:effectLst>
                <a:outerShdw blurRad="38100" dist="38100" dir="2700000" algn="tl">
                  <a:srgbClr val="C0C0C0"/>
                </a:outerShdw>
              </a:effectLst>
              <a:latin typeface="Times New Roman" charset="0"/>
            </a:endParaRPr>
          </a:p>
          <a:p>
            <a:r>
              <a:rPr lang="en-US" dirty="0">
                <a:effectLst>
                  <a:outerShdw blurRad="38100" dist="38100" dir="2700000" algn="tl">
                    <a:srgbClr val="C0C0C0"/>
                  </a:outerShdw>
                </a:effectLst>
                <a:latin typeface="Times New Roman" charset="0"/>
              </a:rPr>
              <a:t>The key elements of a protocol are </a:t>
            </a:r>
            <a:r>
              <a:rPr lang="en-US" b="1" dirty="0">
                <a:effectLst>
                  <a:outerShdw blurRad="38100" dist="38100" dir="2700000" algn="tl">
                    <a:srgbClr val="C0C0C0"/>
                  </a:outerShdw>
                </a:effectLst>
                <a:latin typeface="Times New Roman" charset="0"/>
              </a:rPr>
              <a:t>syntax, semantics and timing</a:t>
            </a:r>
          </a:p>
          <a:p>
            <a:pPr>
              <a:buNone/>
            </a:pPr>
            <a:endParaRPr lang="en-GB"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13248"/>
          </a:xfrm>
        </p:spPr>
        <p:txBody>
          <a:bodyPr>
            <a:normAutofit/>
          </a:bodyPr>
          <a:lstStyle/>
          <a:p>
            <a:pPr algn="ctr">
              <a:buNone/>
            </a:pPr>
            <a:r>
              <a:rPr lang="en-US" dirty="0">
                <a:latin typeface="Times New Roman" charset="0"/>
              </a:rPr>
              <a:t>Elements of a Protocol</a:t>
            </a:r>
            <a:endParaRPr lang="en-US" dirty="0"/>
          </a:p>
          <a:p>
            <a:pPr>
              <a:buNone/>
            </a:pPr>
            <a:r>
              <a:rPr lang="en-US" b="1" dirty="0">
                <a:latin typeface="Times New Roman" charset="0"/>
              </a:rPr>
              <a:t>1. Syntax: </a:t>
            </a:r>
            <a:r>
              <a:rPr lang="en-US" sz="1600" b="1" dirty="0">
                <a:solidFill>
                  <a:srgbClr val="FF0000"/>
                </a:solidFill>
                <a:latin typeface="Times New Roman" charset="0"/>
              </a:rPr>
              <a:t>The term syntax refers to the structure or format of the data, meaning the order in which they are presented</a:t>
            </a:r>
            <a:r>
              <a:rPr lang="en-US" sz="1600" dirty="0">
                <a:latin typeface="Times New Roman" charset="0"/>
              </a:rPr>
              <a:t>. For example, a simple protocol might expect the </a:t>
            </a:r>
            <a:r>
              <a:rPr lang="en-US" sz="1600" b="1" dirty="0">
                <a:solidFill>
                  <a:srgbClr val="00B050"/>
                </a:solidFill>
                <a:latin typeface="Times New Roman" charset="0"/>
              </a:rPr>
              <a:t>first 8bits of data to be the address of the sender, the second  8bits to be the address Of the receiver, and the rest of the stream to be the message itself</a:t>
            </a:r>
            <a:r>
              <a:rPr lang="en-US" sz="1600" dirty="0">
                <a:latin typeface="Times New Roman" charset="0"/>
              </a:rPr>
              <a:t>.</a:t>
            </a:r>
          </a:p>
          <a:p>
            <a:pPr>
              <a:buNone/>
            </a:pPr>
            <a:endParaRPr lang="en-US" sz="1600" dirty="0">
              <a:latin typeface="Times New Roman" charset="0"/>
            </a:endParaRPr>
          </a:p>
          <a:p>
            <a:pPr>
              <a:buNone/>
            </a:pPr>
            <a:r>
              <a:rPr lang="en-US" sz="2400" dirty="0">
                <a:latin typeface="Times New Roman" charset="0"/>
              </a:rPr>
              <a:t>2. </a:t>
            </a:r>
            <a:r>
              <a:rPr lang="en-US" sz="2400" b="1" dirty="0">
                <a:latin typeface="Times New Roman" charset="0"/>
              </a:rPr>
              <a:t>Semantics: </a:t>
            </a:r>
            <a:r>
              <a:rPr lang="en-US" sz="1500" b="1" dirty="0">
                <a:solidFill>
                  <a:srgbClr val="FF0000"/>
                </a:solidFill>
                <a:latin typeface="Times New Roman" charset="0"/>
              </a:rPr>
              <a:t>The word semantics refers to the meaning of each section of bits.</a:t>
            </a:r>
          </a:p>
          <a:p>
            <a:pPr>
              <a:buNone/>
            </a:pPr>
            <a:r>
              <a:rPr lang="en-US" sz="1500" b="1" dirty="0">
                <a:latin typeface="Times New Roman" charset="0"/>
              </a:rPr>
              <a:t>How is a particular pattern to be interpreted, and what action is to be taken based</a:t>
            </a:r>
          </a:p>
          <a:p>
            <a:pPr>
              <a:buNone/>
            </a:pPr>
            <a:r>
              <a:rPr lang="en-US" sz="1500" b="1" dirty="0">
                <a:latin typeface="Times New Roman" charset="0"/>
              </a:rPr>
              <a:t>on that interpretation</a:t>
            </a:r>
            <a:r>
              <a:rPr lang="en-US" sz="1500" dirty="0">
                <a:latin typeface="Times New Roman" charset="0"/>
              </a:rPr>
              <a:t>? For example, </a:t>
            </a:r>
            <a:r>
              <a:rPr lang="en-US" sz="1500" b="1" dirty="0">
                <a:solidFill>
                  <a:srgbClr val="FF0000"/>
                </a:solidFill>
                <a:latin typeface="Times New Roman" charset="0"/>
              </a:rPr>
              <a:t>does an address identify the route to be taken</a:t>
            </a:r>
          </a:p>
          <a:p>
            <a:pPr>
              <a:buNone/>
            </a:pPr>
            <a:r>
              <a:rPr lang="en-US" sz="1500" b="1" dirty="0">
                <a:solidFill>
                  <a:srgbClr val="FF0000"/>
                </a:solidFill>
                <a:latin typeface="Times New Roman" charset="0"/>
              </a:rPr>
              <a:t>or the final destination of the message?</a:t>
            </a:r>
          </a:p>
          <a:p>
            <a:pPr>
              <a:buNone/>
            </a:pPr>
            <a:endParaRPr lang="en-US" sz="1500" dirty="0">
              <a:latin typeface="Times New Roman" charset="0"/>
            </a:endParaRPr>
          </a:p>
          <a:p>
            <a:pPr>
              <a:buNone/>
            </a:pPr>
            <a:r>
              <a:rPr lang="en-US" sz="2400" dirty="0">
                <a:latin typeface="Times New Roman" charset="0"/>
              </a:rPr>
              <a:t>3. </a:t>
            </a:r>
            <a:r>
              <a:rPr lang="en-US" sz="2400" b="1" dirty="0">
                <a:latin typeface="Times New Roman" charset="0"/>
              </a:rPr>
              <a:t>Timing: </a:t>
            </a:r>
            <a:r>
              <a:rPr lang="en-US" sz="1500" b="1" dirty="0">
                <a:solidFill>
                  <a:srgbClr val="FF0000"/>
                </a:solidFill>
                <a:latin typeface="Times New Roman" charset="0"/>
              </a:rPr>
              <a:t>The term timing refers to two characteristics: when data should be sent</a:t>
            </a:r>
          </a:p>
          <a:p>
            <a:pPr>
              <a:buNone/>
            </a:pPr>
            <a:r>
              <a:rPr lang="en-US" sz="1500" b="1" dirty="0">
                <a:solidFill>
                  <a:srgbClr val="FF0000"/>
                </a:solidFill>
                <a:latin typeface="Times New Roman" charset="0"/>
              </a:rPr>
              <a:t>and how fast they can be sent</a:t>
            </a:r>
            <a:r>
              <a:rPr lang="en-US" sz="1500" dirty="0">
                <a:latin typeface="Times New Roman" charset="0"/>
              </a:rPr>
              <a:t>. For example, if a sender produces data at 100 Mbps</a:t>
            </a:r>
          </a:p>
          <a:p>
            <a:pPr>
              <a:buNone/>
            </a:pPr>
            <a:r>
              <a:rPr lang="en-US" sz="1500" dirty="0">
                <a:latin typeface="Times New Roman" charset="0"/>
              </a:rPr>
              <a:t>But the receiver can process data at only 1Mbps, the transmission will overload the</a:t>
            </a:r>
          </a:p>
          <a:p>
            <a:pPr>
              <a:buNone/>
            </a:pPr>
            <a:r>
              <a:rPr lang="en-US" sz="1500" dirty="0">
                <a:latin typeface="Times New Roman" charset="0"/>
              </a:rPr>
              <a:t>receiver and some data will be lost.</a:t>
            </a:r>
          </a:p>
          <a:p>
            <a:pPr>
              <a:buNone/>
            </a:pPr>
            <a:endParaRPr lang="en-US" sz="2400" b="1" dirty="0">
              <a:latin typeface="Times New Roman" charset="0"/>
            </a:endParaRPr>
          </a:p>
          <a:p>
            <a:pPr>
              <a:buNone/>
            </a:pPr>
            <a:endParaRPr lang="en-US" sz="1500" dirty="0">
              <a:latin typeface="Times New Roman" charset="0"/>
            </a:endParaRPr>
          </a:p>
          <a:p>
            <a:pPr>
              <a:buNone/>
            </a:pPr>
            <a:endParaRPr lang="en-US" sz="2400" b="1" dirty="0">
              <a:latin typeface="Times New Roman" charset="0"/>
            </a:endParaRPr>
          </a:p>
          <a:p>
            <a:pPr>
              <a:buNone/>
            </a:pPr>
            <a:endParaRPr lang="en-US" sz="1600" dirty="0">
              <a:latin typeface="Times New Roman" charset="0"/>
            </a:endParaRPr>
          </a:p>
          <a:p>
            <a:pPr>
              <a:buNone/>
            </a:pPr>
            <a:endParaRPr lang="en-US" b="1" dirty="0">
              <a:latin typeface="Times New Roman" charset="0"/>
            </a:endParaRPr>
          </a:p>
          <a:p>
            <a:pPr>
              <a:buNone/>
            </a:pPr>
            <a:endParaRPr lang="en-US" dirty="0">
              <a:latin typeface="Times New Roman" charset="0"/>
            </a:endParaRPr>
          </a:p>
        </p:txBody>
      </p:sp>
      <p:sp>
        <p:nvSpPr>
          <p:cNvPr id="5" name="Slide Number Placeholder 4"/>
          <p:cNvSpPr>
            <a:spLocks noGrp="1"/>
          </p:cNvSpPr>
          <p:nvPr>
            <p:ph type="sldNum" sz="quarter" idx="12"/>
          </p:nvPr>
        </p:nvSpPr>
        <p:spPr/>
        <p:txBody>
          <a:bodyPr/>
          <a:lstStyle/>
          <a:p>
            <a:fld id="{BE937629-9D26-4278-96E1-3DABBBAE6AEF}"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4956048"/>
          </a:xfrm>
        </p:spPr>
        <p:txBody>
          <a:bodyPr>
            <a:normAutofit/>
          </a:bodyPr>
          <a:lstStyle/>
          <a:p>
            <a:pPr algn="ctr">
              <a:buNone/>
            </a:pPr>
            <a:r>
              <a:rPr lang="en-GB" b="1" dirty="0"/>
              <a:t>Standards</a:t>
            </a:r>
          </a:p>
          <a:p>
            <a:pPr algn="ctr">
              <a:buNone/>
            </a:pPr>
            <a:endParaRPr lang="en-US" b="1" dirty="0"/>
          </a:p>
          <a:p>
            <a:r>
              <a:rPr lang="en-US" sz="1800" b="1" dirty="0">
                <a:solidFill>
                  <a:srgbClr val="FF0000"/>
                </a:solidFill>
              </a:rPr>
              <a:t>Standards are agreed-upon rules</a:t>
            </a:r>
            <a:r>
              <a:rPr lang="en-US" sz="1800" dirty="0"/>
              <a:t>.</a:t>
            </a:r>
          </a:p>
          <a:p>
            <a:endParaRPr lang="en-US" sz="1800" dirty="0"/>
          </a:p>
          <a:p>
            <a:r>
              <a:rPr lang="en-US" sz="1800" dirty="0"/>
              <a:t>Standards are essential in </a:t>
            </a:r>
            <a:r>
              <a:rPr lang="en-US" sz="1800" b="1" dirty="0"/>
              <a:t>creating and maintaining an open and competitive market for equipment manufacturers </a:t>
            </a:r>
            <a:r>
              <a:rPr lang="en-US" sz="1800" dirty="0"/>
              <a:t>and </a:t>
            </a:r>
            <a:r>
              <a:rPr lang="en-US" sz="1800" b="1" dirty="0">
                <a:solidFill>
                  <a:srgbClr val="FF0000"/>
                </a:solidFill>
              </a:rPr>
              <a:t>in guaranteeing national and international interoperability of data and telecommunications technology and processes</a:t>
            </a:r>
            <a:r>
              <a:rPr lang="en-US" sz="1800" dirty="0"/>
              <a:t>. </a:t>
            </a:r>
          </a:p>
          <a:p>
            <a:endParaRPr lang="en-US" sz="1800" dirty="0"/>
          </a:p>
          <a:p>
            <a:r>
              <a:rPr lang="en-US" sz="1800" dirty="0"/>
              <a:t>Data communication standards fall into two categories: </a:t>
            </a:r>
            <a:r>
              <a:rPr lang="en-US" sz="1800" b="1" dirty="0">
                <a:solidFill>
                  <a:srgbClr val="FF0000"/>
                </a:solidFill>
              </a:rPr>
              <a:t>de facto (meaning "by fact" or "by convention") </a:t>
            </a:r>
            <a:r>
              <a:rPr lang="en-US" sz="1800" dirty="0"/>
              <a:t>and </a:t>
            </a:r>
            <a:r>
              <a:rPr lang="en-US" sz="1800" b="1" dirty="0"/>
              <a:t>de jure (meaning "by law" or "by regulation").</a:t>
            </a:r>
          </a:p>
          <a:p>
            <a:endParaRPr lang="en-US" sz="1800" dirty="0"/>
          </a:p>
          <a:p>
            <a:pPr>
              <a:buNone/>
            </a:pPr>
            <a:endParaRPr lang="en-GB" sz="1800"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108448"/>
          </a:xfrm>
        </p:spPr>
        <p:txBody>
          <a:bodyPr>
            <a:normAutofit/>
          </a:bodyPr>
          <a:lstStyle/>
          <a:p>
            <a:pPr algn="ctr">
              <a:buNone/>
            </a:pPr>
            <a:r>
              <a:rPr lang="en-US" dirty="0"/>
              <a:t>Standards Organizations</a:t>
            </a:r>
          </a:p>
          <a:p>
            <a:pPr algn="ctr">
              <a:buNone/>
            </a:pPr>
            <a:endParaRPr lang="en-US" dirty="0"/>
          </a:p>
          <a:p>
            <a:r>
              <a:rPr lang="en-US" sz="1800" dirty="0"/>
              <a:t>Standards are developed through the </a:t>
            </a:r>
            <a:r>
              <a:rPr lang="en-US" sz="1800" b="1" dirty="0">
                <a:solidFill>
                  <a:srgbClr val="FF0000"/>
                </a:solidFill>
              </a:rPr>
              <a:t>cooperation of standards creation committees, forums, and government regulatory agencies.</a:t>
            </a:r>
          </a:p>
          <a:p>
            <a:pPr>
              <a:buNone/>
            </a:pPr>
            <a:endParaRPr lang="en-US" sz="1800" dirty="0"/>
          </a:p>
          <a:p>
            <a:r>
              <a:rPr lang="en-US" sz="1600" dirty="0"/>
              <a:t>There are different standard creation committees;</a:t>
            </a:r>
          </a:p>
          <a:p>
            <a:pPr>
              <a:buNone/>
            </a:pPr>
            <a:endParaRPr lang="en-US" sz="1600" dirty="0"/>
          </a:p>
          <a:p>
            <a:pPr marL="514350" indent="-514350">
              <a:buAutoNum type="arabicPeriod"/>
            </a:pPr>
            <a:r>
              <a:rPr lang="en-US" sz="1600" dirty="0"/>
              <a:t>International Organization for Standardization(ISO)</a:t>
            </a:r>
          </a:p>
          <a:p>
            <a:pPr marL="514350" indent="-514350">
              <a:buAutoNum type="arabicPeriod"/>
            </a:pPr>
            <a:r>
              <a:rPr lang="en-US" sz="1600" dirty="0"/>
              <a:t>International Telecommunication Union-Telecommunication Standards Sector (ITU-T).</a:t>
            </a:r>
          </a:p>
          <a:p>
            <a:pPr marL="514350" indent="-514350">
              <a:buAutoNum type="arabicPeriod"/>
            </a:pPr>
            <a:r>
              <a:rPr lang="en-US" sz="1600" dirty="0"/>
              <a:t>American National Standards Institute (ANSI).</a:t>
            </a:r>
          </a:p>
          <a:p>
            <a:pPr marL="514350" indent="-514350">
              <a:buAutoNum type="arabicPeriod"/>
            </a:pPr>
            <a:r>
              <a:rPr lang="en-US" sz="1600" dirty="0"/>
              <a:t>Institute of Electrical and Electronics Engineers (IEEE).</a:t>
            </a:r>
          </a:p>
          <a:p>
            <a:pPr marL="514350" indent="-514350">
              <a:buAutoNum type="arabicPeriod"/>
            </a:pPr>
            <a:r>
              <a:rPr lang="en-US" sz="1600" dirty="0"/>
              <a:t>Electronic Industries Association (EIA).</a:t>
            </a:r>
          </a:p>
          <a:p>
            <a:pPr marL="514350" indent="-514350">
              <a:buAutoNum type="arabicPeriod"/>
            </a:pPr>
            <a:endParaRPr lang="en-US" dirty="0"/>
          </a:p>
          <a:p>
            <a:pPr marL="514350" indent="-514350">
              <a:buAutoNum type="arabicPeriod"/>
            </a:pPr>
            <a:endParaRPr lang="en-US" dirty="0"/>
          </a:p>
          <a:p>
            <a:pPr>
              <a:buNone/>
            </a:pPr>
            <a:endParaRPr lang="en-US" dirty="0"/>
          </a:p>
          <a:p>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89448"/>
          </a:xfrm>
        </p:spPr>
        <p:txBody>
          <a:bodyPr>
            <a:normAutofit lnSpcReduction="10000"/>
          </a:bodyPr>
          <a:lstStyle/>
          <a:p>
            <a:pPr algn="ctr">
              <a:buNone/>
            </a:pPr>
            <a:r>
              <a:rPr lang="en-GB" dirty="0"/>
              <a:t>ISO / OSI model</a:t>
            </a:r>
          </a:p>
          <a:p>
            <a:pPr algn="ctr">
              <a:buNone/>
            </a:pPr>
            <a:endParaRPr lang="en-GB" dirty="0"/>
          </a:p>
          <a:p>
            <a:r>
              <a:rPr lang="en-US" sz="2400" dirty="0"/>
              <a:t>Established in 1947, the International Standards Organization (</a:t>
            </a:r>
            <a:r>
              <a:rPr lang="en-US" sz="2400" b="1" dirty="0"/>
              <a:t>ISO</a:t>
            </a:r>
            <a:r>
              <a:rPr lang="en-US" sz="2400" dirty="0"/>
              <a:t>) is </a:t>
            </a:r>
            <a:r>
              <a:rPr lang="en-US" sz="2400" b="1" dirty="0">
                <a:solidFill>
                  <a:srgbClr val="FF0000"/>
                </a:solidFill>
              </a:rPr>
              <a:t>a multinational body dedicated to worldwide agreement on international standards. </a:t>
            </a:r>
          </a:p>
          <a:p>
            <a:endParaRPr lang="en-US" sz="2400" dirty="0"/>
          </a:p>
          <a:p>
            <a:r>
              <a:rPr lang="en-US" sz="2400" dirty="0"/>
              <a:t>An ISO standard that </a:t>
            </a:r>
            <a:r>
              <a:rPr lang="en-US" sz="2400" b="1" dirty="0">
                <a:solidFill>
                  <a:srgbClr val="FF0000"/>
                </a:solidFill>
              </a:rPr>
              <a:t>covers all aspects of network communications is the Open Systems Interconnection (OSI) model</a:t>
            </a:r>
            <a:r>
              <a:rPr lang="en-US" sz="2400" dirty="0"/>
              <a:t>. It was first introduced in the late 1970s. </a:t>
            </a:r>
          </a:p>
          <a:p>
            <a:endParaRPr lang="en-US" sz="2400" dirty="0"/>
          </a:p>
          <a:p>
            <a:r>
              <a:rPr lang="en-US" sz="2400" dirty="0"/>
              <a:t>Note: </a:t>
            </a:r>
            <a:r>
              <a:rPr lang="en-US" sz="2400" b="1" dirty="0"/>
              <a:t>ISO is the organization. OSI is the model</a:t>
            </a:r>
          </a:p>
          <a:p>
            <a:pP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946648"/>
          </a:xfrm>
        </p:spPr>
        <p:txBody>
          <a:bodyPr/>
          <a:lstStyle/>
          <a:p>
            <a:pPr algn="ctr">
              <a:buNone/>
            </a:pPr>
            <a:r>
              <a:rPr lang="en-US" dirty="0"/>
              <a:t>Layers of the OSI Model</a:t>
            </a:r>
          </a:p>
        </p:txBody>
      </p:sp>
      <p:sp>
        <p:nvSpPr>
          <p:cNvPr id="5" name="Slide Number Placeholder 4"/>
          <p:cNvSpPr>
            <a:spLocks noGrp="1"/>
          </p:cNvSpPr>
          <p:nvPr>
            <p:ph type="sldNum" sz="quarter" idx="12"/>
          </p:nvPr>
        </p:nvSpPr>
        <p:spPr/>
        <p:txBody>
          <a:bodyPr/>
          <a:lstStyle/>
          <a:p>
            <a:fld id="{BE937629-9D26-4278-96E1-3DABBBAE6AEF}" type="slidenum">
              <a:rPr lang="en-US" smtClean="0"/>
              <a:pPr/>
              <a:t>31</a:t>
            </a:fld>
            <a:endParaRPr lang="en-US"/>
          </a:p>
        </p:txBody>
      </p:sp>
      <p:sp>
        <p:nvSpPr>
          <p:cNvPr id="6" name="Rounded Rectangle 5"/>
          <p:cNvSpPr/>
          <p:nvPr/>
        </p:nvSpPr>
        <p:spPr>
          <a:xfrm>
            <a:off x="3276600" y="1295400"/>
            <a:ext cx="16764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Application</a:t>
            </a:r>
          </a:p>
        </p:txBody>
      </p:sp>
      <p:sp>
        <p:nvSpPr>
          <p:cNvPr id="7" name="Rounded Rectangle 6"/>
          <p:cNvSpPr/>
          <p:nvPr/>
        </p:nvSpPr>
        <p:spPr>
          <a:xfrm>
            <a:off x="3276600" y="1981200"/>
            <a:ext cx="16764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Presentation</a:t>
            </a:r>
          </a:p>
        </p:txBody>
      </p:sp>
      <p:sp>
        <p:nvSpPr>
          <p:cNvPr id="8" name="Rounded Rectangle 7"/>
          <p:cNvSpPr/>
          <p:nvPr/>
        </p:nvSpPr>
        <p:spPr>
          <a:xfrm>
            <a:off x="3276600" y="2667000"/>
            <a:ext cx="16764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Session</a:t>
            </a:r>
          </a:p>
        </p:txBody>
      </p:sp>
      <p:sp>
        <p:nvSpPr>
          <p:cNvPr id="9" name="Rounded Rectangle 8"/>
          <p:cNvSpPr/>
          <p:nvPr/>
        </p:nvSpPr>
        <p:spPr>
          <a:xfrm>
            <a:off x="3276600" y="3352800"/>
            <a:ext cx="16764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3276600" y="4038600"/>
            <a:ext cx="16764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Network</a:t>
            </a:r>
          </a:p>
        </p:txBody>
      </p:sp>
      <p:sp>
        <p:nvSpPr>
          <p:cNvPr id="11" name="Rounded Rectangle 10"/>
          <p:cNvSpPr/>
          <p:nvPr/>
        </p:nvSpPr>
        <p:spPr>
          <a:xfrm>
            <a:off x="3276600" y="4724400"/>
            <a:ext cx="16764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3276600" y="5410200"/>
            <a:ext cx="16764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Physical</a:t>
            </a:r>
          </a:p>
        </p:txBody>
      </p:sp>
      <p:sp>
        <p:nvSpPr>
          <p:cNvPr id="13" name="TextBox 12"/>
          <p:cNvSpPr txBox="1"/>
          <p:nvPr/>
        </p:nvSpPr>
        <p:spPr>
          <a:xfrm>
            <a:off x="3429000" y="3429000"/>
            <a:ext cx="1524000" cy="369332"/>
          </a:xfrm>
          <a:prstGeom prst="rect">
            <a:avLst/>
          </a:prstGeom>
          <a:noFill/>
        </p:spPr>
        <p:txBody>
          <a:bodyPr wrap="square" rtlCol="0">
            <a:spAutoFit/>
          </a:bodyPr>
          <a:lstStyle/>
          <a:p>
            <a:r>
              <a:rPr lang="en-US" dirty="0"/>
              <a:t>Transport</a:t>
            </a:r>
          </a:p>
        </p:txBody>
      </p:sp>
      <p:sp>
        <p:nvSpPr>
          <p:cNvPr id="14" name="TextBox 13"/>
          <p:cNvSpPr txBox="1"/>
          <p:nvPr/>
        </p:nvSpPr>
        <p:spPr>
          <a:xfrm>
            <a:off x="3352800" y="4800600"/>
            <a:ext cx="1524000" cy="369332"/>
          </a:xfrm>
          <a:prstGeom prst="rect">
            <a:avLst/>
          </a:prstGeom>
          <a:noFill/>
        </p:spPr>
        <p:txBody>
          <a:bodyPr wrap="square" rtlCol="0">
            <a:spAutoFit/>
          </a:bodyPr>
          <a:lstStyle/>
          <a:p>
            <a:r>
              <a:rPr lang="en-US" dirty="0"/>
              <a:t>Data Link</a:t>
            </a:r>
          </a:p>
        </p:txBody>
      </p:sp>
      <p:cxnSp>
        <p:nvCxnSpPr>
          <p:cNvPr id="16" name="Straight Connector 15"/>
          <p:cNvCxnSpPr/>
          <p:nvPr/>
        </p:nvCxnSpPr>
        <p:spPr>
          <a:xfrm flipH="1">
            <a:off x="2590800" y="1371600"/>
            <a:ext cx="685800" cy="0"/>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p:cNvCxnSpPr/>
          <p:nvPr/>
        </p:nvCxnSpPr>
        <p:spPr>
          <a:xfrm>
            <a:off x="2590800" y="1371600"/>
            <a:ext cx="0" cy="1752600"/>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p:cNvCxnSpPr/>
          <p:nvPr/>
        </p:nvCxnSpPr>
        <p:spPr>
          <a:xfrm>
            <a:off x="2590800" y="29718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2590800" y="3124200"/>
            <a:ext cx="685800" cy="0"/>
          </a:xfrm>
          <a:prstGeom prst="line">
            <a:avLst/>
          </a:prstGeom>
        </p:spPr>
        <p:style>
          <a:lnRef idx="2">
            <a:schemeClr val="dk1"/>
          </a:lnRef>
          <a:fillRef idx="0">
            <a:schemeClr val="dk1"/>
          </a:fillRef>
          <a:effectRef idx="1">
            <a:schemeClr val="dk1"/>
          </a:effectRef>
          <a:fontRef idx="minor">
            <a:schemeClr val="tx1"/>
          </a:fontRef>
        </p:style>
      </p:cxnSp>
      <p:cxnSp>
        <p:nvCxnSpPr>
          <p:cNvPr id="66" name="Straight Connector 65"/>
          <p:cNvCxnSpPr/>
          <p:nvPr/>
        </p:nvCxnSpPr>
        <p:spPr>
          <a:xfrm flipH="1">
            <a:off x="2590800" y="3429000"/>
            <a:ext cx="685800" cy="0"/>
          </a:xfrm>
          <a:prstGeom prst="line">
            <a:avLst/>
          </a:prstGeom>
        </p:spPr>
        <p:style>
          <a:lnRef idx="2">
            <a:schemeClr val="dk1"/>
          </a:lnRef>
          <a:fillRef idx="0">
            <a:schemeClr val="dk1"/>
          </a:fillRef>
          <a:effectRef idx="1">
            <a:schemeClr val="dk1"/>
          </a:effectRef>
          <a:fontRef idx="minor">
            <a:schemeClr val="tx1"/>
          </a:fontRef>
        </p:style>
      </p:cxnSp>
      <p:cxnSp>
        <p:nvCxnSpPr>
          <p:cNvPr id="68" name="Straight Connector 67"/>
          <p:cNvCxnSpPr/>
          <p:nvPr/>
        </p:nvCxnSpPr>
        <p:spPr>
          <a:xfrm>
            <a:off x="2590800" y="3429000"/>
            <a:ext cx="0" cy="2438400"/>
          </a:xfrm>
          <a:prstGeom prst="line">
            <a:avLst/>
          </a:prstGeom>
        </p:spPr>
        <p:style>
          <a:lnRef idx="2">
            <a:schemeClr val="dk1"/>
          </a:lnRef>
          <a:fillRef idx="0">
            <a:schemeClr val="dk1"/>
          </a:fillRef>
          <a:effectRef idx="1">
            <a:schemeClr val="dk1"/>
          </a:effectRef>
          <a:fontRef idx="minor">
            <a:schemeClr val="tx1"/>
          </a:fontRef>
        </p:style>
      </p:cxnSp>
      <p:cxnSp>
        <p:nvCxnSpPr>
          <p:cNvPr id="71" name="Straight Connector 70"/>
          <p:cNvCxnSpPr/>
          <p:nvPr/>
        </p:nvCxnSpPr>
        <p:spPr>
          <a:xfrm>
            <a:off x="2590800" y="5867400"/>
            <a:ext cx="685800" cy="0"/>
          </a:xfrm>
          <a:prstGeom prst="line">
            <a:avLst/>
          </a:prstGeom>
        </p:spPr>
        <p:style>
          <a:lnRef idx="2">
            <a:schemeClr val="dk1"/>
          </a:lnRef>
          <a:fillRef idx="0">
            <a:schemeClr val="dk1"/>
          </a:fillRef>
          <a:effectRef idx="1">
            <a:schemeClr val="dk1"/>
          </a:effectRef>
          <a:fontRef idx="minor">
            <a:schemeClr val="tx1"/>
          </a:fontRef>
        </p:style>
      </p:cxnSp>
      <p:sp>
        <p:nvSpPr>
          <p:cNvPr id="72" name="TextBox 71"/>
          <p:cNvSpPr txBox="1"/>
          <p:nvPr/>
        </p:nvSpPr>
        <p:spPr>
          <a:xfrm rot="16200000">
            <a:off x="1521734" y="2059666"/>
            <a:ext cx="1593065" cy="369332"/>
          </a:xfrm>
          <a:prstGeom prst="rect">
            <a:avLst/>
          </a:prstGeom>
          <a:noFill/>
        </p:spPr>
        <p:txBody>
          <a:bodyPr wrap="none" rtlCol="0">
            <a:spAutoFit/>
          </a:bodyPr>
          <a:lstStyle/>
          <a:p>
            <a:r>
              <a:rPr lang="en-US" dirty="0"/>
              <a:t>Upper Layer</a:t>
            </a:r>
          </a:p>
        </p:txBody>
      </p:sp>
      <p:sp>
        <p:nvSpPr>
          <p:cNvPr id="73" name="TextBox 72"/>
          <p:cNvSpPr txBox="1"/>
          <p:nvPr/>
        </p:nvSpPr>
        <p:spPr>
          <a:xfrm rot="16200000">
            <a:off x="1524000" y="4429001"/>
            <a:ext cx="1593065" cy="369332"/>
          </a:xfrm>
          <a:prstGeom prst="rect">
            <a:avLst/>
          </a:prstGeom>
          <a:noFill/>
        </p:spPr>
        <p:txBody>
          <a:bodyPr wrap="none" rtlCol="0">
            <a:spAutoFit/>
          </a:bodyPr>
          <a:lstStyle/>
          <a:p>
            <a:r>
              <a:rPr lang="en-US" dirty="0"/>
              <a:t>Lower Layer</a:t>
            </a:r>
          </a:p>
        </p:txBody>
      </p:sp>
      <p:sp>
        <p:nvSpPr>
          <p:cNvPr id="74" name="TextBox 73"/>
          <p:cNvSpPr txBox="1"/>
          <p:nvPr/>
        </p:nvSpPr>
        <p:spPr>
          <a:xfrm>
            <a:off x="5432663" y="1524000"/>
            <a:ext cx="3254137" cy="1754326"/>
          </a:xfrm>
          <a:prstGeom prst="rect">
            <a:avLst/>
          </a:prstGeom>
          <a:noFill/>
        </p:spPr>
        <p:txBody>
          <a:bodyPr wrap="square" rtlCol="0">
            <a:spAutoFit/>
          </a:bodyPr>
          <a:lstStyle/>
          <a:p>
            <a:r>
              <a:rPr lang="en-US" b="1" dirty="0"/>
              <a:t>Upper layers provides the way applications with in the end stations will communicate with each other and with users</a:t>
            </a:r>
          </a:p>
        </p:txBody>
      </p:sp>
      <p:sp>
        <p:nvSpPr>
          <p:cNvPr id="75" name="TextBox 74"/>
          <p:cNvSpPr txBox="1"/>
          <p:nvPr/>
        </p:nvSpPr>
        <p:spPr>
          <a:xfrm>
            <a:off x="5638800" y="3886200"/>
            <a:ext cx="3624710" cy="1477328"/>
          </a:xfrm>
          <a:prstGeom prst="rect">
            <a:avLst/>
          </a:prstGeom>
          <a:noFill/>
        </p:spPr>
        <p:txBody>
          <a:bodyPr wrap="none" rtlCol="0">
            <a:spAutoFit/>
          </a:bodyPr>
          <a:lstStyle/>
          <a:p>
            <a:r>
              <a:rPr lang="en-US" b="1" dirty="0"/>
              <a:t>Lower Layers provides </a:t>
            </a:r>
          </a:p>
          <a:p>
            <a:r>
              <a:rPr lang="en-US" b="1" dirty="0"/>
              <a:t>the ability for end stations</a:t>
            </a:r>
          </a:p>
          <a:p>
            <a:r>
              <a:rPr lang="en-US" b="1" dirty="0"/>
              <a:t>to establish connections </a:t>
            </a:r>
          </a:p>
          <a:p>
            <a:r>
              <a:rPr lang="en-US" b="1" dirty="0"/>
              <a:t>to each other in order</a:t>
            </a:r>
          </a:p>
          <a:p>
            <a:r>
              <a:rPr lang="en-US" b="1" dirty="0"/>
              <a:t> to exchange information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2212848"/>
          </a:xfrm>
        </p:spPr>
        <p:txBody>
          <a:bodyPr>
            <a:normAutofit/>
          </a:bodyPr>
          <a:lstStyle/>
          <a:p>
            <a:pPr algn="ctr">
              <a:buNone/>
            </a:pPr>
            <a:r>
              <a:rPr lang="en-US" dirty="0"/>
              <a:t>Application Layer</a:t>
            </a:r>
          </a:p>
          <a:p>
            <a:pPr algn="ctr">
              <a:buNone/>
            </a:pPr>
            <a:endParaRPr lang="en-US" dirty="0"/>
          </a:p>
          <a:p>
            <a:r>
              <a:rPr lang="en-US" sz="1600" b="1" dirty="0">
                <a:solidFill>
                  <a:srgbClr val="FF0000"/>
                </a:solidFill>
              </a:rPr>
              <a:t>The application layer contains a variety of protocols that are commonly needed by users</a:t>
            </a:r>
            <a:r>
              <a:rPr lang="en-US" sz="1600" dirty="0"/>
              <a:t>. </a:t>
            </a:r>
            <a:r>
              <a:rPr lang="en-US" sz="1600" b="1" dirty="0"/>
              <a:t>One widely-used application protocol is HTTP (</a:t>
            </a:r>
            <a:r>
              <a:rPr lang="en-US" sz="1600" b="1" dirty="0" err="1"/>
              <a:t>HyperText</a:t>
            </a:r>
            <a:r>
              <a:rPr lang="en-US" sz="1600" b="1" dirty="0"/>
              <a:t> Transfer Protocol), </a:t>
            </a:r>
            <a:r>
              <a:rPr lang="en-US" sz="1600" dirty="0"/>
              <a:t>which is the basis for the World Wide Web. </a:t>
            </a:r>
          </a:p>
        </p:txBody>
      </p:sp>
      <p:sp>
        <p:nvSpPr>
          <p:cNvPr id="5" name="Slide Number Placeholder 4"/>
          <p:cNvSpPr>
            <a:spLocks noGrp="1"/>
          </p:cNvSpPr>
          <p:nvPr>
            <p:ph type="sldNum" sz="quarter" idx="12"/>
          </p:nvPr>
        </p:nvSpPr>
        <p:spPr/>
        <p:txBody>
          <a:bodyPr/>
          <a:lstStyle/>
          <a:p>
            <a:fld id="{BE937629-9D26-4278-96E1-3DABBBAE6AEF}" type="slidenum">
              <a:rPr lang="en-US" smtClean="0"/>
              <a:pPr/>
              <a:t>32</a:t>
            </a:fld>
            <a:endParaRPr lang="en-US"/>
          </a:p>
        </p:txBody>
      </p:sp>
      <p:pic>
        <p:nvPicPr>
          <p:cNvPr id="7170" name="Picture 2"/>
          <p:cNvPicPr>
            <a:picLocks noChangeAspect="1" noChangeArrowheads="1"/>
          </p:cNvPicPr>
          <p:nvPr/>
        </p:nvPicPr>
        <p:blipFill>
          <a:blip r:embed="rId2" cstate="print"/>
          <a:srcRect/>
          <a:stretch>
            <a:fillRect/>
          </a:stretch>
        </p:blipFill>
        <p:spPr bwMode="auto">
          <a:xfrm>
            <a:off x="1905000" y="2743200"/>
            <a:ext cx="4797160" cy="2543175"/>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1755648"/>
          </a:xfrm>
        </p:spPr>
        <p:txBody>
          <a:bodyPr>
            <a:normAutofit/>
          </a:bodyPr>
          <a:lstStyle/>
          <a:p>
            <a:pPr algn="ctr">
              <a:buNone/>
            </a:pPr>
            <a:r>
              <a:rPr lang="en-US" dirty="0"/>
              <a:t>Presentation Layer</a:t>
            </a:r>
          </a:p>
          <a:p>
            <a:pPr algn="ctr">
              <a:buNone/>
            </a:pPr>
            <a:endParaRPr lang="en-US" dirty="0"/>
          </a:p>
          <a:p>
            <a:pPr algn="just"/>
            <a:r>
              <a:rPr lang="en-US" sz="1700" b="1" dirty="0">
                <a:solidFill>
                  <a:srgbClr val="FF0000"/>
                </a:solidFill>
              </a:rPr>
              <a:t>The presentation layer is concerned with the syntax and semantics of the information transmitted</a:t>
            </a:r>
            <a:r>
              <a:rPr lang="en-US" sz="1700" dirty="0"/>
              <a:t>..</a:t>
            </a:r>
          </a:p>
          <a:p>
            <a:pP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33</a:t>
            </a:fld>
            <a:endParaRPr lang="en-US"/>
          </a:p>
        </p:txBody>
      </p:sp>
      <p:pic>
        <p:nvPicPr>
          <p:cNvPr id="8194" name="Picture 2"/>
          <p:cNvPicPr>
            <a:picLocks noChangeAspect="1" noChangeArrowheads="1"/>
          </p:cNvPicPr>
          <p:nvPr/>
        </p:nvPicPr>
        <p:blipFill>
          <a:blip r:embed="rId2" cstate="print"/>
          <a:srcRect/>
          <a:stretch>
            <a:fillRect/>
          </a:stretch>
        </p:blipFill>
        <p:spPr bwMode="auto">
          <a:xfrm>
            <a:off x="2057400" y="3581400"/>
            <a:ext cx="4638675" cy="1743075"/>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3203448"/>
          </a:xfrm>
        </p:spPr>
        <p:txBody>
          <a:bodyPr>
            <a:normAutofit lnSpcReduction="10000"/>
          </a:bodyPr>
          <a:lstStyle/>
          <a:p>
            <a:pPr algn="ctr">
              <a:buNone/>
            </a:pPr>
            <a:r>
              <a:rPr lang="en-US" dirty="0"/>
              <a:t>Session Layer</a:t>
            </a:r>
          </a:p>
          <a:p>
            <a:pPr algn="ctr">
              <a:buNone/>
            </a:pPr>
            <a:endParaRPr lang="en-US" dirty="0"/>
          </a:p>
          <a:p>
            <a:r>
              <a:rPr lang="en-US" sz="1600" b="1" dirty="0">
                <a:solidFill>
                  <a:srgbClr val="FF0000"/>
                </a:solidFill>
              </a:rPr>
              <a:t>The session layer allows users on different machines to establish sessions between them. </a:t>
            </a:r>
          </a:p>
          <a:p>
            <a:endParaRPr lang="en-US" sz="1600" dirty="0"/>
          </a:p>
          <a:p>
            <a:r>
              <a:rPr lang="en-US" sz="1600" dirty="0"/>
              <a:t>Sessions offer various services</a:t>
            </a:r>
            <a:r>
              <a:rPr lang="en-US" sz="1600" b="1" dirty="0"/>
              <a:t>, including dialog control (keeping track of whose turn it is to transmit), token management (preventing two parties from attempting the same critical operation at the same time), and synchronization </a:t>
            </a:r>
            <a:r>
              <a:rPr lang="en-US" sz="1600" dirty="0"/>
              <a:t>(check pointing long transmissions to allow them to continue from where they were after a crash).</a:t>
            </a:r>
          </a:p>
          <a:p>
            <a:pP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34</a:t>
            </a:fld>
            <a:endParaRPr lang="en-US"/>
          </a:p>
        </p:txBody>
      </p:sp>
      <p:pic>
        <p:nvPicPr>
          <p:cNvPr id="9218" name="Picture 2"/>
          <p:cNvPicPr>
            <a:picLocks noChangeAspect="1" noChangeArrowheads="1"/>
          </p:cNvPicPr>
          <p:nvPr/>
        </p:nvPicPr>
        <p:blipFill>
          <a:blip r:embed="rId2" cstate="print"/>
          <a:srcRect/>
          <a:stretch>
            <a:fillRect/>
          </a:stretch>
        </p:blipFill>
        <p:spPr bwMode="auto">
          <a:xfrm>
            <a:off x="1295400" y="4419600"/>
            <a:ext cx="5753100" cy="167640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3051048"/>
          </a:xfrm>
        </p:spPr>
        <p:txBody>
          <a:bodyPr>
            <a:normAutofit/>
          </a:bodyPr>
          <a:lstStyle/>
          <a:p>
            <a:pPr algn="ctr">
              <a:buNone/>
            </a:pPr>
            <a:r>
              <a:rPr lang="en-US" dirty="0"/>
              <a:t>Transport Layer</a:t>
            </a:r>
          </a:p>
          <a:p>
            <a:pPr algn="ctr">
              <a:buNone/>
            </a:pPr>
            <a:endParaRPr lang="en-US" sz="1700" dirty="0"/>
          </a:p>
          <a:p>
            <a:r>
              <a:rPr lang="en-US" sz="1700" b="1" dirty="0">
                <a:solidFill>
                  <a:srgbClr val="FF0000"/>
                </a:solidFill>
              </a:rPr>
              <a:t>The basic function of the transport layer is to accept data from above, split it up into smaller units if need be, pass these to the network layer, and ensure that the pieces all arrive correctly at the other end</a:t>
            </a:r>
            <a:r>
              <a:rPr lang="en-US" sz="1700" dirty="0"/>
              <a:t>.</a:t>
            </a:r>
          </a:p>
          <a:p>
            <a:pPr>
              <a:buNone/>
            </a:pPr>
            <a:r>
              <a:rPr lang="en-US" sz="1700" dirty="0"/>
              <a:t> </a:t>
            </a:r>
          </a:p>
        </p:txBody>
      </p:sp>
      <p:sp>
        <p:nvSpPr>
          <p:cNvPr id="5" name="Slide Number Placeholder 4"/>
          <p:cNvSpPr>
            <a:spLocks noGrp="1"/>
          </p:cNvSpPr>
          <p:nvPr>
            <p:ph type="sldNum" sz="quarter" idx="12"/>
          </p:nvPr>
        </p:nvSpPr>
        <p:spPr/>
        <p:txBody>
          <a:bodyPr/>
          <a:lstStyle/>
          <a:p>
            <a:fld id="{BE937629-9D26-4278-96E1-3DABBBAE6AEF}" type="slidenum">
              <a:rPr lang="en-US" smtClean="0"/>
              <a:pPr/>
              <a:t>35</a:t>
            </a:fld>
            <a:endParaRPr lang="en-US"/>
          </a:p>
        </p:txBody>
      </p:sp>
      <p:pic>
        <p:nvPicPr>
          <p:cNvPr id="10242" name="Picture 2"/>
          <p:cNvPicPr>
            <a:picLocks noChangeAspect="1" noChangeArrowheads="1"/>
          </p:cNvPicPr>
          <p:nvPr/>
        </p:nvPicPr>
        <p:blipFill>
          <a:blip r:embed="rId2" cstate="print"/>
          <a:srcRect/>
          <a:stretch>
            <a:fillRect/>
          </a:stretch>
        </p:blipFill>
        <p:spPr bwMode="auto">
          <a:xfrm>
            <a:off x="1752600" y="4114800"/>
            <a:ext cx="5038725" cy="114300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2822448"/>
          </a:xfrm>
        </p:spPr>
        <p:txBody>
          <a:bodyPr>
            <a:normAutofit/>
          </a:bodyPr>
          <a:lstStyle/>
          <a:p>
            <a:pPr algn="ctr">
              <a:buNone/>
            </a:pPr>
            <a:r>
              <a:rPr lang="en-US" dirty="0"/>
              <a:t>Network Layer</a:t>
            </a:r>
          </a:p>
          <a:p>
            <a:r>
              <a:rPr lang="en-US" sz="1600" b="1" dirty="0">
                <a:solidFill>
                  <a:srgbClr val="FF0000"/>
                </a:solidFill>
              </a:rPr>
              <a:t>The network layer controls the operation of the subnet</a:t>
            </a:r>
            <a:r>
              <a:rPr lang="en-US" sz="1600" dirty="0"/>
              <a:t>.</a:t>
            </a:r>
          </a:p>
          <a:p>
            <a:r>
              <a:rPr lang="en-US" sz="1600" dirty="0"/>
              <a:t> </a:t>
            </a:r>
          </a:p>
          <a:p>
            <a:r>
              <a:rPr lang="en-US" sz="1600" b="1" dirty="0"/>
              <a:t>A key design issue is determining how packets are routed from source to destination</a:t>
            </a:r>
            <a:r>
              <a:rPr lang="en-US" sz="1600" dirty="0"/>
              <a:t>. </a:t>
            </a:r>
          </a:p>
          <a:p>
            <a:endParaRPr lang="en-US" sz="1600" dirty="0"/>
          </a:p>
          <a:p>
            <a:r>
              <a:rPr lang="en-US" sz="1600" b="1" dirty="0">
                <a:solidFill>
                  <a:srgbClr val="FF0000"/>
                </a:solidFill>
              </a:rPr>
              <a:t>Routes can be based on static tables that are ''wired into'' the network and rarely changed</a:t>
            </a:r>
            <a:r>
              <a:rPr lang="en-US" sz="1600" dirty="0"/>
              <a:t>. </a:t>
            </a:r>
          </a:p>
          <a:p>
            <a:pPr>
              <a:buNone/>
            </a:pPr>
            <a:endParaRPr lang="en-US" dirty="0"/>
          </a:p>
        </p:txBody>
      </p:sp>
      <p:sp>
        <p:nvSpPr>
          <p:cNvPr id="5" name="Slide Number Placeholder 4"/>
          <p:cNvSpPr>
            <a:spLocks noGrp="1"/>
          </p:cNvSpPr>
          <p:nvPr>
            <p:ph type="sldNum" sz="quarter" idx="12"/>
          </p:nvPr>
        </p:nvSpPr>
        <p:spPr/>
        <p:txBody>
          <a:bodyPr/>
          <a:lstStyle/>
          <a:p>
            <a:fld id="{BE937629-9D26-4278-96E1-3DABBBAE6AEF}" type="slidenum">
              <a:rPr lang="en-US" smtClean="0"/>
              <a:pPr/>
              <a:t>36</a:t>
            </a:fld>
            <a:endParaRPr lang="en-US"/>
          </a:p>
        </p:txBody>
      </p:sp>
      <p:pic>
        <p:nvPicPr>
          <p:cNvPr id="11266" name="Picture 2"/>
          <p:cNvPicPr>
            <a:picLocks noChangeAspect="1" noChangeArrowheads="1"/>
          </p:cNvPicPr>
          <p:nvPr/>
        </p:nvPicPr>
        <p:blipFill>
          <a:blip r:embed="rId2" cstate="print"/>
          <a:srcRect/>
          <a:stretch>
            <a:fillRect/>
          </a:stretch>
        </p:blipFill>
        <p:spPr bwMode="auto">
          <a:xfrm>
            <a:off x="1905000" y="3810000"/>
            <a:ext cx="4914900" cy="1266825"/>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2974848"/>
          </a:xfrm>
        </p:spPr>
        <p:txBody>
          <a:bodyPr>
            <a:normAutofit lnSpcReduction="10000"/>
          </a:bodyPr>
          <a:lstStyle/>
          <a:p>
            <a:pPr algn="ctr">
              <a:buNone/>
            </a:pPr>
            <a:r>
              <a:rPr lang="en-US" dirty="0"/>
              <a:t>Data Link Layer</a:t>
            </a:r>
          </a:p>
          <a:p>
            <a:r>
              <a:rPr lang="en-US" sz="1600" b="1" dirty="0"/>
              <a:t>The main task of the data link layer is to transform a raw transmission facility into a line that appears free of undetected transmission errors to the network layer. </a:t>
            </a:r>
          </a:p>
          <a:p>
            <a:endParaRPr lang="en-US" sz="1600" b="1" dirty="0"/>
          </a:p>
          <a:p>
            <a:r>
              <a:rPr lang="en-US" sz="1600" b="1" dirty="0">
                <a:solidFill>
                  <a:srgbClr val="FF0000"/>
                </a:solidFill>
              </a:rPr>
              <a:t>It accomplishes this task by having the sender break up the input data into data frames (typically a few hundred or a few thousand bytes) and transmit the frames sequentially</a:t>
            </a:r>
            <a:r>
              <a:rPr lang="en-US" sz="1600" dirty="0"/>
              <a:t>.</a:t>
            </a:r>
          </a:p>
          <a:p>
            <a:endParaRPr lang="en-US" sz="1600" dirty="0"/>
          </a:p>
          <a:p>
            <a:r>
              <a:rPr lang="en-US" sz="1600" dirty="0"/>
              <a:t> If the service is reliable, the receiver confirms correct receipt of each frame by sending back an acknowledgement frame</a:t>
            </a:r>
          </a:p>
        </p:txBody>
      </p:sp>
      <p:sp>
        <p:nvSpPr>
          <p:cNvPr id="5" name="Slide Number Placeholder 4"/>
          <p:cNvSpPr>
            <a:spLocks noGrp="1"/>
          </p:cNvSpPr>
          <p:nvPr>
            <p:ph type="sldNum" sz="quarter" idx="12"/>
          </p:nvPr>
        </p:nvSpPr>
        <p:spPr/>
        <p:txBody>
          <a:bodyPr/>
          <a:lstStyle/>
          <a:p>
            <a:fld id="{BE937629-9D26-4278-96E1-3DABBBAE6AEF}" type="slidenum">
              <a:rPr lang="en-US" smtClean="0"/>
              <a:pPr/>
              <a:t>37</a:t>
            </a:fld>
            <a:endParaRPr lang="en-US"/>
          </a:p>
        </p:txBody>
      </p:sp>
      <p:pic>
        <p:nvPicPr>
          <p:cNvPr id="12290" name="Picture 2"/>
          <p:cNvPicPr>
            <a:picLocks noChangeAspect="1" noChangeArrowheads="1"/>
          </p:cNvPicPr>
          <p:nvPr/>
        </p:nvPicPr>
        <p:blipFill>
          <a:blip r:embed="rId2" cstate="print"/>
          <a:srcRect/>
          <a:stretch>
            <a:fillRect/>
          </a:stretch>
        </p:blipFill>
        <p:spPr bwMode="auto">
          <a:xfrm>
            <a:off x="1676400" y="3962400"/>
            <a:ext cx="4991100" cy="1228725"/>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2441448"/>
          </a:xfrm>
        </p:spPr>
        <p:txBody>
          <a:bodyPr>
            <a:normAutofit lnSpcReduction="10000"/>
          </a:bodyPr>
          <a:lstStyle/>
          <a:p>
            <a:pPr algn="ctr">
              <a:buNone/>
            </a:pPr>
            <a:r>
              <a:rPr lang="en-US" dirty="0"/>
              <a:t>Physical Layer</a:t>
            </a:r>
          </a:p>
          <a:p>
            <a:pPr algn="ctr">
              <a:buNone/>
            </a:pPr>
            <a:endParaRPr lang="en-US" sz="1800" dirty="0"/>
          </a:p>
          <a:p>
            <a:r>
              <a:rPr lang="en-US" sz="1800" b="1" dirty="0"/>
              <a:t>The physical layer is concerned with transmitting raw bits over a communication channel. </a:t>
            </a:r>
          </a:p>
          <a:p>
            <a:endParaRPr lang="en-US" sz="1800" dirty="0"/>
          </a:p>
          <a:p>
            <a:r>
              <a:rPr lang="en-US" sz="1800" b="1" dirty="0">
                <a:solidFill>
                  <a:srgbClr val="FF0000"/>
                </a:solidFill>
              </a:rPr>
              <a:t>The design issues have to do with making sure that when one side sends a 1 bit, it is received by the other side as a 1 bit, not as a 0 bit.</a:t>
            </a:r>
          </a:p>
        </p:txBody>
      </p:sp>
      <p:sp>
        <p:nvSpPr>
          <p:cNvPr id="5" name="Slide Number Placeholder 4"/>
          <p:cNvSpPr>
            <a:spLocks noGrp="1"/>
          </p:cNvSpPr>
          <p:nvPr>
            <p:ph type="sldNum" sz="quarter" idx="12"/>
          </p:nvPr>
        </p:nvSpPr>
        <p:spPr/>
        <p:txBody>
          <a:bodyPr/>
          <a:lstStyle/>
          <a:p>
            <a:fld id="{BE937629-9D26-4278-96E1-3DABBBAE6AEF}" type="slidenum">
              <a:rPr lang="en-US" smtClean="0"/>
              <a:pPr/>
              <a:t>38</a:t>
            </a:fld>
            <a:endParaRPr lang="en-US"/>
          </a:p>
        </p:txBody>
      </p:sp>
      <p:pic>
        <p:nvPicPr>
          <p:cNvPr id="13314" name="Picture 2"/>
          <p:cNvPicPr>
            <a:picLocks noChangeAspect="1" noChangeArrowheads="1"/>
          </p:cNvPicPr>
          <p:nvPr/>
        </p:nvPicPr>
        <p:blipFill>
          <a:blip r:embed="rId2" cstate="print"/>
          <a:srcRect/>
          <a:stretch>
            <a:fillRect/>
          </a:stretch>
        </p:blipFill>
        <p:spPr bwMode="auto">
          <a:xfrm>
            <a:off x="1600200" y="3581400"/>
            <a:ext cx="5048250" cy="1057275"/>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
            <a:ext cx="8183880" cy="1051560"/>
          </a:xfrm>
        </p:spPr>
        <p:txBody>
          <a:bodyPr/>
          <a:lstStyle/>
          <a:p>
            <a:r>
              <a:rPr lang="en-GB" dirty="0"/>
              <a:t>Practical Lab</a:t>
            </a:r>
          </a:p>
        </p:txBody>
      </p:sp>
      <p:sp>
        <p:nvSpPr>
          <p:cNvPr id="3" name="Content Placeholder 2"/>
          <p:cNvSpPr>
            <a:spLocks noGrp="1"/>
          </p:cNvSpPr>
          <p:nvPr>
            <p:ph idx="1"/>
          </p:nvPr>
        </p:nvSpPr>
        <p:spPr>
          <a:xfrm>
            <a:off x="649357" y="2289048"/>
            <a:ext cx="8183880" cy="4187952"/>
          </a:xfrm>
        </p:spPr>
        <p:txBody>
          <a:bodyPr/>
          <a:lstStyle/>
          <a:p>
            <a:r>
              <a:rPr lang="en-US" altLang="en-US" dirty="0"/>
              <a:t>Labs will be simulated using Packet Tracer</a:t>
            </a:r>
          </a:p>
          <a:p>
            <a:r>
              <a:rPr lang="en-US" altLang="en-US" dirty="0"/>
              <a:t>Getting Familiar with the simulator</a:t>
            </a:r>
          </a:p>
          <a:p>
            <a:r>
              <a:rPr lang="en-US" altLang="en-US" dirty="0"/>
              <a:t>Static Routing Configurations (Lab 1)</a:t>
            </a:r>
          </a:p>
          <a:p>
            <a:endParaRPr lang="en-GB" dirty="0"/>
          </a:p>
        </p:txBody>
      </p:sp>
      <p:sp>
        <p:nvSpPr>
          <p:cNvPr id="4" name="Footer Placeholder 3"/>
          <p:cNvSpPr>
            <a:spLocks noGrp="1"/>
          </p:cNvSpPr>
          <p:nvPr>
            <p:ph type="ftr" sz="quarter" idx="11"/>
          </p:nvPr>
        </p:nvSpPr>
        <p:spPr/>
        <p:txBody>
          <a:bodyPr/>
          <a:lstStyle/>
          <a:p>
            <a:r>
              <a:rPr lang="en-US" dirty="0"/>
              <a:t>2024-CSE Year 2</a:t>
            </a:r>
          </a:p>
        </p:txBody>
      </p:sp>
      <p:sp>
        <p:nvSpPr>
          <p:cNvPr id="5" name="Slide Number Placeholder 4"/>
          <p:cNvSpPr>
            <a:spLocks noGrp="1"/>
          </p:cNvSpPr>
          <p:nvPr>
            <p:ph type="sldNum" sz="quarter" idx="12"/>
          </p:nvPr>
        </p:nvSpPr>
        <p:spPr/>
        <p:txBody>
          <a:bodyPr/>
          <a:lstStyle/>
          <a:p>
            <a:fld id="{BE937629-9D26-4278-96E1-3DABBBAE6AEF}" type="slidenum">
              <a:rPr lang="en-US" smtClean="0"/>
              <a:pPr/>
              <a:t>39</a:t>
            </a:fld>
            <a:endParaRPr lang="en-US"/>
          </a:p>
        </p:txBody>
      </p:sp>
    </p:spTree>
    <p:extLst>
      <p:ext uri="{BB962C8B-B14F-4D97-AF65-F5344CB8AC3E}">
        <p14:creationId xmlns:p14="http://schemas.microsoft.com/office/powerpoint/2010/main" val="8884107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2587</TotalTime>
  <Words>2060</Words>
  <Application>Microsoft Macintosh PowerPoint</Application>
  <PresentationFormat>On-screen Show (4:3)</PresentationFormat>
  <Paragraphs>309</Paragraphs>
  <Slides>39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Times New Roman</vt:lpstr>
      <vt:lpstr>Verdana</vt:lpstr>
      <vt:lpstr>Wingdings</vt:lpstr>
      <vt:lpstr>Wingdings 2</vt:lpstr>
      <vt:lpstr>Aspect</vt:lpstr>
      <vt:lpstr>COMPUTER NETWORKS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Components and Categories of a Network </vt:lpstr>
      <vt:lpstr>       Network Categories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Protocols and Standards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Practical Lab</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 3212: COMPUTER NETWORKS</dc:title>
  <dc:creator>ict</dc:creator>
  <cp:lastModifiedBy>Microsoft Office User</cp:lastModifiedBy>
  <cp:revision>76</cp:revision>
  <dcterms:created xsi:type="dcterms:W3CDTF">2014-01-06T08:03:20Z</dcterms:created>
  <dcterms:modified xsi:type="dcterms:W3CDTF">2026-09-16T10:57:08Z</dcterms:modified>
</cp:coreProperties>
</file>