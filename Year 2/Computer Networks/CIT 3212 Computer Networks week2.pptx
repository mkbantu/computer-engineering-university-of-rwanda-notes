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4"/>
  </p:notesMasterIdLst>
  <p:sldIdLst>
    <p:sldId id="443" r:id="rId2"/>
    <p:sldId id="499" r:id="rId3"/>
    <p:sldId id="500" r:id="rId4"/>
    <p:sldId id="502" r:id="rId5"/>
    <p:sldId id="503" r:id="rId6"/>
    <p:sldId id="504" r:id="rId7"/>
    <p:sldId id="505" r:id="rId8"/>
    <p:sldId id="506" r:id="rId9"/>
    <p:sldId id="507" r:id="rId10"/>
    <p:sldId id="508" r:id="rId11"/>
    <p:sldId id="509" r:id="rId12"/>
    <p:sldId id="549" r:id="rId13"/>
    <p:sldId id="510" r:id="rId14"/>
    <p:sldId id="511" r:id="rId15"/>
    <p:sldId id="512" r:id="rId16"/>
    <p:sldId id="513" r:id="rId17"/>
    <p:sldId id="514" r:id="rId18"/>
    <p:sldId id="550" r:id="rId19"/>
    <p:sldId id="515" r:id="rId20"/>
    <p:sldId id="516" r:id="rId21"/>
    <p:sldId id="551" r:id="rId22"/>
    <p:sldId id="517" r:id="rId23"/>
    <p:sldId id="518" r:id="rId24"/>
    <p:sldId id="552" r:id="rId25"/>
    <p:sldId id="519" r:id="rId26"/>
    <p:sldId id="520" r:id="rId27"/>
    <p:sldId id="553" r:id="rId28"/>
    <p:sldId id="554" r:id="rId29"/>
    <p:sldId id="521" r:id="rId30"/>
    <p:sldId id="522" r:id="rId31"/>
    <p:sldId id="523" r:id="rId32"/>
    <p:sldId id="524" r:id="rId33"/>
    <p:sldId id="555" r:id="rId34"/>
    <p:sldId id="525" r:id="rId35"/>
    <p:sldId id="526" r:id="rId36"/>
    <p:sldId id="527" r:id="rId37"/>
    <p:sldId id="528" r:id="rId38"/>
    <p:sldId id="529" r:id="rId39"/>
    <p:sldId id="530" r:id="rId40"/>
    <p:sldId id="531" r:id="rId41"/>
    <p:sldId id="532" r:id="rId42"/>
    <p:sldId id="446" r:id="rId43"/>
    <p:sldId id="533" r:id="rId44"/>
    <p:sldId id="534" r:id="rId45"/>
    <p:sldId id="535" r:id="rId46"/>
    <p:sldId id="453" r:id="rId47"/>
    <p:sldId id="454" r:id="rId48"/>
    <p:sldId id="455" r:id="rId49"/>
    <p:sldId id="456" r:id="rId50"/>
    <p:sldId id="536" r:id="rId51"/>
    <p:sldId id="537" r:id="rId52"/>
    <p:sldId id="538" r:id="rId53"/>
    <p:sldId id="463" r:id="rId54"/>
    <p:sldId id="539" r:id="rId55"/>
    <p:sldId id="540" r:id="rId56"/>
    <p:sldId id="541" r:id="rId57"/>
    <p:sldId id="542" r:id="rId58"/>
    <p:sldId id="544" r:id="rId59"/>
    <p:sldId id="445" r:id="rId60"/>
    <p:sldId id="497" r:id="rId61"/>
    <p:sldId id="498" r:id="rId62"/>
    <p:sldId id="496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773"/>
  </p:normalViewPr>
  <p:slideViewPr>
    <p:cSldViewPr>
      <p:cViewPr varScale="1">
        <p:scale>
          <a:sx n="131" d="100"/>
          <a:sy n="131" d="100"/>
        </p:scale>
        <p:origin x="11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04E9F-292F-47AD-9EBB-3CE5C4B9C4AA}" type="datetimeFigureOut">
              <a:rPr lang="en-US" smtClean="0"/>
              <a:pPr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1DDC7-D4BB-43BD-BD15-55DB6A1450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4018ECC-75E8-48D9-AB1C-4A43DF499F7F}" type="datetime1">
              <a:rPr lang="en-US" smtClean="0"/>
              <a:t>9/23/26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UR-COSTECH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5159-8F7C-461C-AF99-84B1EE569533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B1E6-F31B-4D5D-9C9E-09986E8F2BD6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250E-CEC2-4CC5-BDFC-EB0CAE4C9E52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CBC4A-73FD-4B06-9B62-F17BD43C6010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6CCB-47DE-4E71-ADD8-37AA3F10E178}" type="datetime1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C5C04-E1DE-46DC-B060-064754E396D4}" type="datetime1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A8CC8D6-AC2B-4701-9E42-B103115BEEBC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E35F90-D5F3-493A-B3A1-9EC139CE69EF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UR-COSTECH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B886-009F-47F7-B91C-C9DEDDC474B6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4268-BCC5-4090-AB62-13918CADE77D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UR-COSTECH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1A322D7-F3D1-4D57-874E-53182A6E4DB6}" type="datetime1">
              <a:rPr lang="en-US" smtClean="0"/>
              <a:t>9/23/26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UR-COSTECH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E937629-9D26-4278-96E1-3DABBBAE6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Physical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ABAAA9-ADC9-A04F-A0B0-27EE27BF0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5102034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dirty="0"/>
              <a:t>The Physical Layer is the lowest OSI layer responsible for </a:t>
            </a:r>
            <a:r>
              <a:rPr lang="en-US" dirty="0">
                <a:solidFill>
                  <a:srgbClr val="FF0000"/>
                </a:solidFill>
              </a:rPr>
              <a:t>transmitting raw data bits through physical network hardware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dirty="0">
                <a:solidFill>
                  <a:srgbClr val="00B050"/>
                </a:solidFill>
              </a:rPr>
              <a:t>Handles physical and electrical data transmission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Includes cables, connectors, plugs, and receivers</a:t>
            </a:r>
          </a:p>
          <a:p>
            <a:pPr fontAlgn="base"/>
            <a:endParaRPr lang="en-US" dirty="0"/>
          </a:p>
          <a:p>
            <a:pPr fontAlgn="base"/>
            <a:r>
              <a:rPr lang="en-US" dirty="0">
                <a:solidFill>
                  <a:srgbClr val="FF0000"/>
                </a:solidFill>
              </a:rPr>
              <a:t>Transfers raw bits between devices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Defines hardware standards and signal types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5AD300-B873-AC4B-B104-24CE2211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2579D3-0C5D-2947-B0B9-9291B35A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6037"/>
          </a:xfrm>
        </p:spPr>
        <p:txBody>
          <a:bodyPr/>
          <a:lstStyle/>
          <a:p>
            <a:pPr algn="ctr"/>
            <a:r>
              <a:rPr lang="en-US" dirty="0"/>
              <a:t>Physical Layer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69688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A7987C-E36B-224F-B166-CE3AB93B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The Physical Layer is responsible for </a:t>
            </a:r>
            <a:r>
              <a:rPr lang="en-US" dirty="0">
                <a:solidFill>
                  <a:srgbClr val="FF0000"/>
                </a:solidFill>
              </a:rPr>
              <a:t>sending raw data as bits over a physical medium.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It converts data into signals that can travel through wires, fiber optics, or wireless channels </a:t>
            </a:r>
            <a:r>
              <a:rPr lang="en-US" b="1" dirty="0">
                <a:solidFill>
                  <a:srgbClr val="FF0000"/>
                </a:solidFill>
              </a:rPr>
              <a:t>(encoding) </a:t>
            </a:r>
            <a:r>
              <a:rPr lang="en-US" b="1" dirty="0"/>
              <a:t>and turns these signals back into data at the receiver </a:t>
            </a:r>
            <a:r>
              <a:rPr lang="en-US" b="1" dirty="0">
                <a:solidFill>
                  <a:srgbClr val="FF0000"/>
                </a:solidFill>
              </a:rPr>
              <a:t>(decoding).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ensures signals are transmitted correctly and uses techniques like </a:t>
            </a:r>
            <a:r>
              <a:rPr lang="en-US" b="1" dirty="0">
                <a:solidFill>
                  <a:srgbClr val="FF0000"/>
                </a:solidFill>
              </a:rPr>
              <a:t>modulation</a:t>
            </a:r>
            <a:r>
              <a:rPr lang="en-US" dirty="0"/>
              <a:t> to prepare the data for transmission and </a:t>
            </a:r>
            <a:r>
              <a:rPr lang="en-US" dirty="0">
                <a:solidFill>
                  <a:srgbClr val="FF0000"/>
                </a:solidFill>
              </a:rPr>
              <a:t>demodulation</a:t>
            </a:r>
            <a:r>
              <a:rPr lang="en-US" dirty="0"/>
              <a:t> to retrieve it at the other end.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This layer also decides how data flows (one-way, two-way alternately, or simultaneously) through transmission modes and controls the speed and timing of data transmission to keep everything running smoothly.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D4741-3AEC-FA4F-A882-BD559FF2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1B83E6-7999-914B-BC2C-438477F18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06" y="152400"/>
            <a:ext cx="8229600" cy="57607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Functions of Physical Layer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14762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0F58B-76B1-DB46-AA54-4B456367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EF4AA7-69E4-5F4A-9E8A-051DF58A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Functions of Physical Layer</a:t>
            </a:r>
          </a:p>
        </p:txBody>
      </p:sp>
      <p:pic>
        <p:nvPicPr>
          <p:cNvPr id="2050" name="Picture 2" descr="file.webp">
            <a:extLst>
              <a:ext uri="{FF2B5EF4-FFF2-40B4-BE49-F238E27FC236}">
                <a16:creationId xmlns:a16="http://schemas.microsoft.com/office/drawing/2014/main" id="{48D0F13D-E162-DD49-805E-0EAFF06E61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67818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663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DA73AC-358D-1940-BD33-3E46E2D0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596027-8ACD-2B4F-9A25-516C555D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Bit-by-Bit Transmision</a:t>
            </a:r>
          </a:p>
        </p:txBody>
      </p:sp>
      <p:pic>
        <p:nvPicPr>
          <p:cNvPr id="3074" name="Picture 2" descr="file.webp">
            <a:extLst>
              <a:ext uri="{FF2B5EF4-FFF2-40B4-BE49-F238E27FC236}">
                <a16:creationId xmlns:a16="http://schemas.microsoft.com/office/drawing/2014/main" id="{103FF974-10E2-DE4F-8103-034F1478EE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7162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5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0E498C-1C26-144A-8A93-CD618E56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FA01EE-D69E-2D4F-A45C-1B9B1EEF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Encoding and decoding</a:t>
            </a:r>
          </a:p>
        </p:txBody>
      </p:sp>
      <p:pic>
        <p:nvPicPr>
          <p:cNvPr id="4098" name="Picture 2" descr="file.webp">
            <a:extLst>
              <a:ext uri="{FF2B5EF4-FFF2-40B4-BE49-F238E27FC236}">
                <a16:creationId xmlns:a16="http://schemas.microsoft.com/office/drawing/2014/main" id="{44EF7B97-F094-3741-8911-CED2942A3B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7696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75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0EEA6-CA98-AB4D-A523-749FBE82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1B6859-B373-8848-B644-58BD3C0C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Signal Transmission</a:t>
            </a:r>
          </a:p>
        </p:txBody>
      </p:sp>
      <p:pic>
        <p:nvPicPr>
          <p:cNvPr id="5122" name="Picture 2" descr="file.webp">
            <a:extLst>
              <a:ext uri="{FF2B5EF4-FFF2-40B4-BE49-F238E27FC236}">
                <a16:creationId xmlns:a16="http://schemas.microsoft.com/office/drawing/2014/main" id="{ECE8D825-98D0-F641-8D49-C229F8328E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6200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51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D2EC9-3577-7547-BA34-B37C6C92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08CC88-F385-604D-8DAF-1758E197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Modulation and Demodulation</a:t>
            </a:r>
          </a:p>
        </p:txBody>
      </p:sp>
      <p:pic>
        <p:nvPicPr>
          <p:cNvPr id="6146" name="Picture 2" descr="file.webp">
            <a:extLst>
              <a:ext uri="{FF2B5EF4-FFF2-40B4-BE49-F238E27FC236}">
                <a16:creationId xmlns:a16="http://schemas.microsoft.com/office/drawing/2014/main" id="{CA9B6368-60BC-4940-92A5-372B8CC652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620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29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43764-831B-8E43-B377-4BF57CEF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7B198C-08C5-EF4B-A9D6-B38EDF8A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Trasmission Modes</a:t>
            </a:r>
          </a:p>
        </p:txBody>
      </p:sp>
      <p:pic>
        <p:nvPicPr>
          <p:cNvPr id="7170" name="Picture 2" descr="file.webp">
            <a:extLst>
              <a:ext uri="{FF2B5EF4-FFF2-40B4-BE49-F238E27FC236}">
                <a16:creationId xmlns:a16="http://schemas.microsoft.com/office/drawing/2014/main" id="{26B81C43-EAD4-C647-A379-06600CFCAC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17638"/>
            <a:ext cx="7961472" cy="444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79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1FA52F-6CD2-7B42-A78B-40B07FE8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B5EEDF-D673-CB42-B20B-01339A84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Data Rate Controls</a:t>
            </a:r>
          </a:p>
        </p:txBody>
      </p:sp>
      <p:pic>
        <p:nvPicPr>
          <p:cNvPr id="8194" name="Picture 2" descr="file.webp">
            <a:extLst>
              <a:ext uri="{FF2B5EF4-FFF2-40B4-BE49-F238E27FC236}">
                <a16:creationId xmlns:a16="http://schemas.microsoft.com/office/drawing/2014/main" id="{10DBFDDA-F077-1E42-91B3-14E5721D5C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76400"/>
            <a:ext cx="67818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28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2A8F74-0CD1-B04E-82F3-B867B56FF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55832" cy="4525963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Transmission media </a:t>
            </a:r>
            <a:r>
              <a:rPr lang="en-US" b="1" dirty="0">
                <a:solidFill>
                  <a:srgbClr val="FF0000"/>
                </a:solidFill>
              </a:rPr>
              <a:t>refers to the physical or wireless communication channel used to carry data signals from one device to another </a:t>
            </a:r>
            <a:r>
              <a:rPr lang="en-US" dirty="0"/>
              <a:t>within a computer network.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forms the fundamental </a:t>
            </a:r>
            <a:r>
              <a:rPr lang="en-US" b="1" dirty="0">
                <a:solidFill>
                  <a:srgbClr val="FF0000"/>
                </a:solidFill>
              </a:rPr>
              <a:t>pathway through which information is transmitted, ensuring connectivity between networked devices.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83B3D1-726D-B54F-AD40-4A99156D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52A3DA-1ED1-BD47-8618-63792F87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Trasmission Media</a:t>
            </a:r>
          </a:p>
        </p:txBody>
      </p:sp>
    </p:spTree>
    <p:extLst>
      <p:ext uri="{BB962C8B-B14F-4D97-AF65-F5344CB8AC3E}">
        <p14:creationId xmlns:p14="http://schemas.microsoft.com/office/powerpoint/2010/main" val="825135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6DDE9F-7C31-1445-A692-3637BD8FC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 fontAlgn="base">
              <a:buNone/>
            </a:pPr>
            <a:r>
              <a:rPr lang="en-US" dirty="0"/>
              <a:t>The selection of a transmission medium depends on factors such as: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Transmission distance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Data transfer speed (bandwidth)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Susceptibility to interference and noise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Cost and installation requirements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3ED8BD-0E84-6D49-824A-04BBB685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3063D5-287F-E34E-98BB-050FB4EE5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RW" dirty="0"/>
              <a:t>Selection of Transmision Medium</a:t>
            </a:r>
          </a:p>
        </p:txBody>
      </p:sp>
    </p:spTree>
    <p:extLst>
      <p:ext uri="{BB962C8B-B14F-4D97-AF65-F5344CB8AC3E}">
        <p14:creationId xmlns:p14="http://schemas.microsoft.com/office/powerpoint/2010/main" val="2379856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31F12-E851-3843-B39D-3546A02A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E7BF9E-8D73-D94D-ACFD-8466009C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144000" cy="868362"/>
          </a:xfrm>
        </p:spPr>
        <p:txBody>
          <a:bodyPr>
            <a:normAutofit/>
          </a:bodyPr>
          <a:lstStyle/>
          <a:p>
            <a:r>
              <a:rPr lang="en-RW" sz="2400" dirty="0"/>
              <a:t>Types of Transmision Media</a:t>
            </a:r>
          </a:p>
        </p:txBody>
      </p:sp>
      <p:pic>
        <p:nvPicPr>
          <p:cNvPr id="9218" name="Picture 2" descr="transmission_modes">
            <a:extLst>
              <a:ext uri="{FF2B5EF4-FFF2-40B4-BE49-F238E27FC236}">
                <a16:creationId xmlns:a16="http://schemas.microsoft.com/office/drawing/2014/main" id="{D6BC4231-9879-3144-9082-B687EC11A1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772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D88467-2D19-0840-8C44-AD52F9C120A1}"/>
              </a:ext>
            </a:extLst>
          </p:cNvPr>
          <p:cNvSpPr/>
          <p:nvPr/>
        </p:nvSpPr>
        <p:spPr>
          <a:xfrm>
            <a:off x="609600" y="1296827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Based on the nature of the transmission path, transmission media are broadly classified into two main types: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141324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873179-9995-1C44-852B-08A6382C6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5224272"/>
          </a:xfrm>
        </p:spPr>
        <p:txBody>
          <a:bodyPr>
            <a:normAutofit fontScale="62500" lnSpcReduction="20000"/>
          </a:bodyPr>
          <a:lstStyle/>
          <a:p>
            <a:pPr algn="just" fontAlgn="base"/>
            <a:r>
              <a:rPr lang="en-US" dirty="0"/>
              <a:t>Guided Media also known as wired or bounded transmission media, </a:t>
            </a:r>
            <a:r>
              <a:rPr lang="en-US" b="1" dirty="0">
                <a:solidFill>
                  <a:srgbClr val="FF0000"/>
                </a:solidFill>
              </a:rPr>
              <a:t>refers to transmission media in which data signals are transmitted through a physical path using cables.</a:t>
            </a:r>
            <a:r>
              <a:rPr lang="en-US" dirty="0"/>
              <a:t> The signal is confined and guided along a fixed route, providing controlled communication between network devices.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Uses physical cables to transmit data signals.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Provides dedicated and well-defined transmission paths.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Major types of guided media included </a:t>
            </a:r>
            <a:r>
              <a:rPr lang="en-US" b="1" dirty="0">
                <a:solidFill>
                  <a:srgbClr val="FF0000"/>
                </a:solidFill>
              </a:rPr>
              <a:t>Twisted Pair Cables, Coaxial Cables and Optical Fiber Cables.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Offers higher data transmission rates compared to most wireless media.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Provides better security due to physical connectivity and limited signal leakage.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Suitable for short to long-distance communication, depending on the cable type used.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1670C-31B9-6A48-AC4E-31433504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BEF955-E3A9-3B4E-948F-C6B37A46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Guided Media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463568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6252A7-6781-2B41-859D-29AB084DE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68" y="1481328"/>
            <a:ext cx="8708232" cy="5291741"/>
          </a:xfrm>
        </p:spPr>
        <p:txBody>
          <a:bodyPr>
            <a:normAutofit fontScale="70000" lnSpcReduction="20000"/>
          </a:bodyPr>
          <a:lstStyle/>
          <a:p>
            <a:pPr algn="just" fontAlgn="base"/>
            <a:r>
              <a:rPr lang="en-US" dirty="0"/>
              <a:t>A twisted pair cable consists of two individually insulated copper conductors twisted together in a helical pattern to minimize electromagnetic interference (EMI) and crosstalk between adjacent pairs.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Multiple twisted pairs are typically enclosed within a protective outer sheath, making this cable one of the most commonly used and cost-effective guided transmission media.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Twisting of conductors helps reduce interference and signal degradation.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Multiple pairs can be bundled together within a single cable.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Widely used due to low cost, flexibility, and ease of installation.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Commonly used in telephone systems and local area networks (LANs).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545C0C-1C7D-604A-9CFB-C1E9B582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524383-BACE-7F40-A012-1498B1B7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Twisted Pair Cable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064543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76589-D215-A34B-8323-48EABF054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64" y="1295401"/>
            <a:ext cx="8799672" cy="19812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 </a:t>
            </a:r>
            <a:r>
              <a:rPr lang="en-US" sz="2400" dirty="0"/>
              <a:t>UTP cable consists of twisted copper wire pairs without any additional metallic shielding. The twisting provides basic protection against interference, making UTP suitable for environments with moderate noise levels.</a:t>
            </a:r>
            <a:endParaRPr lang="en-RW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522ED-E215-384E-A491-0902832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C49B02-57E2-4641-B514-367F899F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Unshielded Twisted Pair (UTP)</a:t>
            </a:r>
            <a:endParaRPr lang="en-RW" dirty="0"/>
          </a:p>
        </p:txBody>
      </p:sp>
      <p:pic>
        <p:nvPicPr>
          <p:cNvPr id="10242" name="Picture 2" descr="unshielded_twisted_pair">
            <a:extLst>
              <a:ext uri="{FF2B5EF4-FFF2-40B4-BE49-F238E27FC236}">
                <a16:creationId xmlns:a16="http://schemas.microsoft.com/office/drawing/2014/main" id="{100D8C98-6528-8344-8282-C99698A46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76600"/>
            <a:ext cx="7162800" cy="304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730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6BD10E-C60A-8B43-8532-72353F11D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Least expensive among guided transmission media.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Easy to install and maintain due to its lightweight and flexible nature.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Supports high data transmission rates over short distances.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Widely used in Ethernet-based LANs and telephone networks.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A962BC-F2D0-424D-8E31-3DADB26AB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D0CDEC-CE3E-FC45-AAF3-2FC25AFB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Advantages: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92885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DC07C4-A833-F948-A305-469FBDAD7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Lower performance and capacity compared to Shielded Twisted Pair (STP).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Limited transmission distance due to signal attenuation.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More susceptible to noise and electromagnetic interference.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D84A15-0586-514B-8BFF-F317DF4B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E1E1BC-2A74-A44F-9DC4-6BC066CE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036439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C5CC8B-11F0-404C-A126-B2BAFB02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1947672"/>
          </a:xfrm>
        </p:spPr>
        <p:txBody>
          <a:bodyPr>
            <a:normAutofit fontScale="70000" lnSpcReduction="20000"/>
          </a:bodyPr>
          <a:lstStyle/>
          <a:p>
            <a:pPr marL="109728" indent="0" algn="just">
              <a:buNone/>
            </a:pPr>
            <a:r>
              <a:rPr lang="en-US" dirty="0"/>
              <a:t>Shielded Twisted Pair (STP) cable consists of twisted pairs of insulated copper conductors enclosed within an additional metallic shielding layer, such as a foil or braided shield. </a:t>
            </a:r>
          </a:p>
          <a:p>
            <a:pPr marL="109728" indent="0" algn="just">
              <a:buNone/>
            </a:pPr>
            <a:endParaRPr lang="en-US" dirty="0"/>
          </a:p>
          <a:p>
            <a:pPr marL="109728" indent="0" algn="just">
              <a:buNone/>
            </a:pPr>
            <a:r>
              <a:rPr lang="en-US" dirty="0"/>
              <a:t>This shielding provides enhanced protection against external electromagnetic interference (EMI) and reduces crosstalk, resulting in more stable and reliable data transmission.</a:t>
            </a:r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1E83A-C901-EE47-BE2C-DC10DD3B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219060-E75D-AC4F-9615-20A468A3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Shielded Twisted Pair (STP): </a:t>
            </a:r>
            <a:endParaRPr lang="en-RW" dirty="0"/>
          </a:p>
        </p:txBody>
      </p:sp>
      <p:pic>
        <p:nvPicPr>
          <p:cNvPr id="11266" name="Picture 2" descr="shielded_twisted_pair">
            <a:extLst>
              <a:ext uri="{FF2B5EF4-FFF2-40B4-BE49-F238E27FC236}">
                <a16:creationId xmlns:a16="http://schemas.microsoft.com/office/drawing/2014/main" id="{F849586C-F1C6-B346-A883-524C191BE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66872"/>
            <a:ext cx="7848600" cy="375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523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BCA718-CCF9-2D4B-AFA4-EE123FF70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Provides better performance at higher data transmission rates compared to UTP.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Significantly reduces electromagnetic interference and crosstalk.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Ensures more reliable and stable communication, especially in noisy environments.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Suitable for high-speed Ethernet networks and voice and data transmission systems.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23557-A343-E041-831A-F787B855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88A35-949B-624B-B3D9-EA130816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6037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951227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B0A3C2-FC79-7245-B9B6-46411855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Higher cost compared to Unshielded Twisted Pair (UTP).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More complex installation and termination due to shielding requirements.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Bulkier and less flexible, making cable management more difficult.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DECFA1-3458-AB4A-9116-439B9CF2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1503D1-AD8E-724E-985F-B626D8C0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6037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Disadvantages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055712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E7AF9A-D0DF-824D-9C8A-EFC3CC8BC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76356"/>
            <a:ext cx="8610600" cy="3333871"/>
          </a:xfrm>
        </p:spPr>
        <p:txBody>
          <a:bodyPr>
            <a:normAutofit fontScale="47500" lnSpcReduction="20000"/>
          </a:bodyPr>
          <a:lstStyle/>
          <a:p>
            <a:pPr algn="just" fontAlgn="base"/>
            <a:r>
              <a:rPr lang="en-US" dirty="0"/>
              <a:t>Coaxial Cable consists of a </a:t>
            </a:r>
            <a:r>
              <a:rPr lang="en-US" dirty="0">
                <a:solidFill>
                  <a:srgbClr val="FF0000"/>
                </a:solidFill>
              </a:rPr>
              <a:t>central copper conductor surrounded by a dielectric insulating layer, a metallic shielding layer, and an outer protective jacket</a:t>
            </a:r>
            <a:r>
              <a:rPr lang="en-US" dirty="0"/>
              <a:t>. This structure allows signals to be transmitted with better protection against noise and interference compared to twisted pair cables.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Supports data transmission in both baseband mode (single channel) and broadband mode (multiple channels).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Provides higher bandwidth than twisted pair cables.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Strong shielding makes it more resistant to noise, crosstalk, and electromagnetic interference (EMI).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Commonly used in cable television (CATV), broadband networks, and analog television systems.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More durable and reliable due to its layered construction.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Easier to install and maintain compared to optical fiber cables.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FEE7C-D9EA-BE4A-8164-ED878413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818D27-60D0-AD4F-9810-DB667E9A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94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 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Coaxial Cable</a:t>
            </a:r>
            <a:br>
              <a:rPr lang="en-US" dirty="0">
                <a:effectLst/>
              </a:rPr>
            </a:br>
            <a:endParaRPr lang="en-RW" dirty="0"/>
          </a:p>
        </p:txBody>
      </p:sp>
      <p:pic>
        <p:nvPicPr>
          <p:cNvPr id="12290" name="Picture 2" descr=" Coaxial Cable ">
            <a:extLst>
              <a:ext uri="{FF2B5EF4-FFF2-40B4-BE49-F238E27FC236}">
                <a16:creationId xmlns:a16="http://schemas.microsoft.com/office/drawing/2014/main" id="{32E06936-5A41-7A4F-B982-4A2B8C0FE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10227"/>
            <a:ext cx="7239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64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0279FE-EB27-094F-A8C7-ADF8C5E50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Supports higher bandwidth than twisted pair cables.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Offers better signal quality and reliability.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Allows multiple channels using frequency division multiplexing (FDM).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Less affected by external electromagnetic interference.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4CE99-4EA1-B24A-850B-A6B04943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EA5489-3D5E-9645-B097-87D50981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607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            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509957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2A9A77-E295-D74D-972C-1531E3A02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More expensive than twisted pair cables.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Requires proper grounding to ensure safety and minimize interference.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Bulkier and less flexible due to multiple layers.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More vulnerable to security breaches, as the cable can be physically tapped.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EBE78-FD39-7B40-9A9D-3FC2557C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A90627-E8DA-0744-A0F2-E5655F5D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Disadvantages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909155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D3F5E4-FF07-B344-B726-8986F6649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1"/>
            <a:ext cx="9013032" cy="2781300"/>
          </a:xfrm>
        </p:spPr>
        <p:txBody>
          <a:bodyPr>
            <a:normAutofit fontScale="47500" lnSpcReduction="20000"/>
          </a:bodyPr>
          <a:lstStyle/>
          <a:p>
            <a:pPr algn="just" fontAlgn="base"/>
            <a:r>
              <a:rPr lang="en-US" dirty="0"/>
              <a:t>Optical Fiber Cable is a guided transmission medium that </a:t>
            </a:r>
            <a:r>
              <a:rPr lang="en-US" dirty="0">
                <a:solidFill>
                  <a:srgbClr val="FF0000"/>
                </a:solidFill>
              </a:rPr>
              <a:t>transmits data in the form of light signals through a glass or plastic core using the principle of total internal reflection</a:t>
            </a:r>
            <a:r>
              <a:rPr lang="en-US" dirty="0"/>
              <a:t>. The core is surrounded by a </a:t>
            </a:r>
            <a:r>
              <a:rPr lang="en-US" b="1" dirty="0">
                <a:solidFill>
                  <a:srgbClr val="00B050"/>
                </a:solidFill>
              </a:rPr>
              <a:t>cladding layer with a lower refractive index, which confines the light within the core and enables high-speed, long-distance data transmission</a:t>
            </a:r>
            <a:r>
              <a:rPr lang="en-US" dirty="0"/>
              <a:t>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Supports very large data volumes at extremely high speeds.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Can operate in unidirectional or bidirectional communication modes.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WDM (Wavelength Division Multiplexer) allows multiple light signals to be transmitted simultaneously over a single fiber.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Widely used where high bandwidth, long distance, and low signal loss are required.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B8F79C-0E94-DA4E-A1D9-C759AED9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F6F815-C915-EC44-A5A5-0C18AF03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3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effectLst/>
              </a:rPr>
            </a:br>
            <a:r>
              <a:rPr lang="en-US" dirty="0">
                <a:effectLst/>
              </a:rPr>
              <a:t>Optical Fiber Cable</a:t>
            </a:r>
            <a:br>
              <a:rPr lang="en-US" dirty="0">
                <a:effectLst/>
              </a:rPr>
            </a:br>
            <a:endParaRPr lang="en-RW" dirty="0"/>
          </a:p>
        </p:txBody>
      </p:sp>
      <p:pic>
        <p:nvPicPr>
          <p:cNvPr id="13314" name="Picture 2" descr="optical_fibre_cable">
            <a:extLst>
              <a:ext uri="{FF2B5EF4-FFF2-40B4-BE49-F238E27FC236}">
                <a16:creationId xmlns:a16="http://schemas.microsoft.com/office/drawing/2014/main" id="{70F5F6AC-9A2D-744C-B4D5-EC0A20F4C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19501"/>
            <a:ext cx="7467600" cy="323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609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12168-BC2C-104A-9354-883D85EF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dirty="0"/>
              <a:t>Provides very high bandwidth and data-carrying capacity.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Lightweight and compact, making installation easier over long distances.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Exhibits low signal attenuation, suitable for long-distance communication.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Immune to electromagnetic interference (EMI) and electrical noise.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Resistant to corrosion and harsh environmental conditions.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342810-D411-354B-B66C-ACB96661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E00891-B8C6-B54E-8D57-457C0729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440067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4B2D10-D2EF-D348-998E-0915FA0A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Complex installation and maintenance due to precise splicing and handling requirements.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High initial installation and equipment cost.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Fragile compared to copper cables and requires careful handling.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79A04B-4373-294E-932D-22528225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D3CA2A-B706-A943-9D6E-73B9BA00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Disadvantages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199034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39E975-403B-4245-837D-EB90E60D9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Medical:</a:t>
            </a:r>
            <a:r>
              <a:rPr lang="en-US" dirty="0"/>
              <a:t> Used in endoscopy, imaging systems, and laser-based surgical procedures.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Defense and Aerospace:</a:t>
            </a:r>
            <a:r>
              <a:rPr lang="en-US" dirty="0"/>
              <a:t> Supports secure, high-speed, and interference-free communication.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Communication:</a:t>
            </a:r>
            <a:r>
              <a:rPr lang="en-US" dirty="0"/>
              <a:t> Widely used in internet backbone networks, undersea cables, and telecommunication systems.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Industrial and Automotive:</a:t>
            </a:r>
            <a:r>
              <a:rPr lang="en-US" dirty="0"/>
              <a:t> Used for sensing, lighting, data communication, and safety systems.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5A6445-8646-114D-8086-8C33918A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5A4C85-A89E-D84A-9425-8EDA379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Applications</a:t>
            </a:r>
            <a:br>
              <a:rPr lang="en-US" dirty="0"/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92237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69BEBC-5563-8948-8EFB-D5E6EF3E9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dirty="0"/>
              <a:t>Unguided media, also </a:t>
            </a:r>
            <a:r>
              <a:rPr lang="en-US" b="1" dirty="0">
                <a:solidFill>
                  <a:srgbClr val="00B050"/>
                </a:solidFill>
              </a:rPr>
              <a:t>known as wireless or Unbounded transmission media , uses electromagnetic waves to transmit data without any physical medium</a:t>
            </a:r>
            <a:r>
              <a:rPr lang="en-US" dirty="0"/>
              <a:t>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Signals propagate through free space such as air or vacuum.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main types of unguided media are: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/>
              <a:t> Radio waves, 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/>
              <a:t>microwaves, 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/>
              <a:t>infrared waves.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Features: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Signals propagate through air or free space</a:t>
            </a:r>
          </a:p>
          <a:p>
            <a:pPr fontAlgn="base"/>
            <a:r>
              <a:rPr lang="en-US" dirty="0"/>
              <a:t>Less secure due to broadcast nature</a:t>
            </a:r>
          </a:p>
          <a:p>
            <a:pPr fontAlgn="base"/>
            <a:r>
              <a:rPr lang="en-US" dirty="0"/>
              <a:t>Suitable for long-distance communication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1A0997-CE09-2049-A93D-48ADF583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5FD511-ACBE-4D40-971E-F0278276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Unguided Media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9466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671838-9DBE-4244-B9B8-7C1876F59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0675"/>
            <a:ext cx="8555832" cy="5692393"/>
          </a:xfrm>
        </p:spPr>
        <p:txBody>
          <a:bodyPr>
            <a:normAutofit fontScale="62500" lnSpcReduction="20000"/>
          </a:bodyPr>
          <a:lstStyle/>
          <a:p>
            <a:pPr fontAlgn="base"/>
            <a:r>
              <a:rPr lang="en-US" dirty="0"/>
              <a:t>Radio waves are a </a:t>
            </a:r>
            <a:r>
              <a:rPr lang="en-US" b="1" dirty="0">
                <a:solidFill>
                  <a:srgbClr val="00B050"/>
                </a:solidFill>
              </a:rPr>
              <a:t>type of electromagnetic wave that can easily be generated and can propagate through buildings and other obstacles</a:t>
            </a:r>
            <a:r>
              <a:rPr lang="en-US" dirty="0"/>
              <a:t>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They do not require </a:t>
            </a:r>
            <a:r>
              <a:rPr lang="en-US" b="1" dirty="0">
                <a:solidFill>
                  <a:srgbClr val="FF0000"/>
                </a:solidFill>
              </a:rPr>
              <a:t>line-of-sight between transmitting and receiving antennas, making them highly suitable for broadcast communication and wireless data transmission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Frequency Range</a:t>
            </a:r>
            <a:r>
              <a:rPr lang="en-US" dirty="0"/>
              <a:t>: 3 kHz – 300 GHz</a:t>
            </a:r>
          </a:p>
          <a:p>
            <a:pPr marL="109728" indent="0" fontAlgn="base">
              <a:buNone/>
            </a:pPr>
            <a:endParaRPr lang="en-US" b="1" dirty="0"/>
          </a:p>
          <a:p>
            <a:pPr marL="109728" indent="0" fontAlgn="base">
              <a:buNone/>
            </a:pPr>
            <a:r>
              <a:rPr lang="en-US" b="1" dirty="0"/>
              <a:t>Applications: </a:t>
            </a:r>
            <a:r>
              <a:rPr lang="en-US" dirty="0"/>
              <a:t>AM and FM radio broadcasting, television transmission, cordless phones, and wireless communication.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Types of Radio Waves:</a:t>
            </a:r>
            <a:endParaRPr lang="en-US" dirty="0"/>
          </a:p>
          <a:p>
            <a:pPr fontAlgn="base">
              <a:buFont typeface="Wingdings" pitchFamily="2" charset="2"/>
              <a:buChar char="Ø"/>
            </a:pPr>
            <a:r>
              <a:rPr lang="en-US" b="1" dirty="0"/>
              <a:t>Shortwave:</a:t>
            </a:r>
            <a:r>
              <a:rPr lang="en-US" dirty="0"/>
              <a:t> AM radio broadcasting</a:t>
            </a:r>
          </a:p>
          <a:p>
            <a:pPr fontAlgn="base">
              <a:buFont typeface="Wingdings" pitchFamily="2" charset="2"/>
              <a:buChar char="Ø"/>
            </a:pPr>
            <a:r>
              <a:rPr lang="en-US" b="1" dirty="0"/>
              <a:t>VHF (Very High Frequency):</a:t>
            </a:r>
            <a:r>
              <a:rPr lang="en-US" dirty="0"/>
              <a:t> FM radio and television</a:t>
            </a:r>
          </a:p>
          <a:p>
            <a:pPr fontAlgn="base">
              <a:buFont typeface="Wingdings" pitchFamily="2" charset="2"/>
              <a:buChar char="Ø"/>
            </a:pPr>
            <a:r>
              <a:rPr lang="en-US" b="1" dirty="0"/>
              <a:t>UHF (Ultra High Frequency):</a:t>
            </a:r>
            <a:r>
              <a:rPr lang="en-US" dirty="0"/>
              <a:t> Television and mobile communication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Components:</a:t>
            </a:r>
            <a:endParaRPr lang="en-US" dirty="0"/>
          </a:p>
          <a:p>
            <a:pPr fontAlgn="base"/>
            <a:r>
              <a:rPr lang="en-US" b="1" dirty="0"/>
              <a:t>Transmitter:</a:t>
            </a:r>
            <a:r>
              <a:rPr lang="en-US" dirty="0"/>
              <a:t> Generates and modulates the signal</a:t>
            </a:r>
          </a:p>
          <a:p>
            <a:pPr fontAlgn="base"/>
            <a:r>
              <a:rPr lang="en-US" b="1" dirty="0"/>
              <a:t>Receiver:</a:t>
            </a:r>
            <a:r>
              <a:rPr lang="en-US" dirty="0"/>
              <a:t> Receives and demodulates the signal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44B31D-1771-044B-8A5E-D3780817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CD77B7-4580-4E4E-AF66-DEE7A3C9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6037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effectLst/>
              </a:rPr>
            </a:br>
            <a:r>
              <a:rPr lang="en-US" dirty="0">
                <a:effectLst/>
              </a:rPr>
              <a:t>Radio Waves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304885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022315-119B-1A4F-9285-93E4DBEC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587AE4-4C64-6F4C-BC91-51BF876D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RW" dirty="0"/>
              <a:t>Radiowave</a:t>
            </a:r>
          </a:p>
        </p:txBody>
      </p:sp>
      <p:pic>
        <p:nvPicPr>
          <p:cNvPr id="14338" name="Picture 2" descr="radiowaves">
            <a:extLst>
              <a:ext uri="{FF2B5EF4-FFF2-40B4-BE49-F238E27FC236}">
                <a16:creationId xmlns:a16="http://schemas.microsoft.com/office/drawing/2014/main" id="{9C0AA155-409C-E64D-B044-5A03B0E204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82296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084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933D81-5637-E743-AE4B-891BCBEC5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9276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Micro waves are a </a:t>
            </a:r>
            <a:r>
              <a:rPr lang="en-US" b="1" dirty="0">
                <a:solidFill>
                  <a:srgbClr val="FF0000"/>
                </a:solidFill>
              </a:rPr>
              <a:t>form of unguided transmission media that use line-of-sight communication, </a:t>
            </a:r>
            <a:r>
              <a:rPr lang="en-US" b="1" dirty="0">
                <a:solidFill>
                  <a:srgbClr val="00B050"/>
                </a:solidFill>
              </a:rPr>
              <a:t>where the transmitting and receiving antennas must be properly aligned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 The transmission range depends on the height of the antennas.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Microwaves operate in the frequency range of </a:t>
            </a:r>
            <a:r>
              <a:rPr lang="en-US" b="1" dirty="0">
                <a:solidFill>
                  <a:srgbClr val="00B050"/>
                </a:solidFill>
              </a:rPr>
              <a:t>1 GHz to 300 GHz </a:t>
            </a:r>
            <a:r>
              <a:rPr lang="en-US" dirty="0"/>
              <a:t>and are widely used in mobile communication, satellite links, and television distribution.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F699F-161A-6841-9D19-0A2BB280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662902-B7C1-FD4D-BB27-BAAE3085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6071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effectLst/>
              </a:rPr>
            </a:br>
            <a:r>
              <a:rPr lang="en-US" dirty="0">
                <a:effectLst/>
              </a:rPr>
              <a:t>Microwaves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607865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669DAE-7AEC-9E41-8A20-E7EB2A66C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09728" indent="0" fontAlgn="base">
              <a:buNone/>
            </a:pPr>
            <a:r>
              <a:rPr lang="en-US" b="1" dirty="0"/>
              <a:t>Advantages: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Cost-effective compared to laying physical cables</a:t>
            </a:r>
          </a:p>
          <a:p>
            <a:pPr fontAlgn="base"/>
            <a:r>
              <a:rPr lang="en-US" dirty="0"/>
              <a:t>No need for land acquisition</a:t>
            </a:r>
          </a:p>
          <a:p>
            <a:pPr fontAlgn="base"/>
            <a:r>
              <a:rPr lang="en-US" dirty="0"/>
              <a:t>Suitable for communication over difficult terrains and oceans</a:t>
            </a:r>
          </a:p>
          <a:p>
            <a:pPr fontAlgn="base"/>
            <a:r>
              <a:rPr lang="en-US" dirty="0"/>
              <a:t>Supports high data transmission rates</a:t>
            </a:r>
          </a:p>
          <a:p>
            <a:pPr fontAlgn="base"/>
            <a:endParaRPr lang="en-US" dirty="0"/>
          </a:p>
          <a:p>
            <a:pPr marL="109728" indent="0" fontAlgn="base">
              <a:buNone/>
            </a:pPr>
            <a:r>
              <a:rPr lang="en-US" b="1" dirty="0"/>
              <a:t>Disadvantages:</a:t>
            </a:r>
          </a:p>
          <a:p>
            <a:pPr marL="109728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Less secure without proper encryption</a:t>
            </a:r>
          </a:p>
          <a:p>
            <a:pPr fontAlgn="base"/>
            <a:r>
              <a:rPr lang="en-US" dirty="0"/>
              <a:t>Susceptible to weather conditions such as rain and fog</a:t>
            </a:r>
          </a:p>
          <a:p>
            <a:pPr fontAlgn="base"/>
            <a:r>
              <a:rPr lang="en-US" dirty="0"/>
              <a:t>Affected by obstacles due to line-of-sight requirement</a:t>
            </a:r>
          </a:p>
          <a:p>
            <a:pPr fontAlgn="base"/>
            <a:r>
              <a:rPr lang="en-US" dirty="0"/>
              <a:t>High cost of antenna design, installation, and maintenance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BC37F-3DA1-C24E-BD3F-DC59A56B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BFC15C-706D-2049-81A4-EAD26125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Advantages &amp; Disadvantages </a:t>
            </a:r>
          </a:p>
        </p:txBody>
      </p:sp>
    </p:spTree>
    <p:extLst>
      <p:ext uri="{BB962C8B-B14F-4D97-AF65-F5344CB8AC3E}">
        <p14:creationId xmlns:p14="http://schemas.microsoft.com/office/powerpoint/2010/main" val="2485189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B3CA7-05E7-BC46-A0D1-E6667C73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70C398-88DA-F841-A6A3-50C956E7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RW" dirty="0"/>
              <a:t>Microwave Transmission</a:t>
            </a:r>
          </a:p>
        </p:txBody>
      </p:sp>
      <p:pic>
        <p:nvPicPr>
          <p:cNvPr id="15362" name="Picture 2" descr="microwave_transmission">
            <a:extLst>
              <a:ext uri="{FF2B5EF4-FFF2-40B4-BE49-F238E27FC236}">
                <a16:creationId xmlns:a16="http://schemas.microsoft.com/office/drawing/2014/main" id="{72E648A2-A7F5-9742-AA1E-BCA96C8661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76200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079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EC24A-9454-8A42-8759-818FF18C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Infrared waves are </a:t>
            </a:r>
            <a:r>
              <a:rPr lang="en-US" b="1" dirty="0">
                <a:solidFill>
                  <a:srgbClr val="FF0000"/>
                </a:solidFill>
              </a:rPr>
              <a:t>used for short-range wireless communication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operate in the frequency range of 300 GHz to 400 THz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They cannot penetrate solid obstacles, which limits their range but helps minimize interference between nearby systems.</a:t>
            </a:r>
          </a:p>
          <a:p>
            <a:endParaRPr lang="en-US" dirty="0"/>
          </a:p>
          <a:p>
            <a:r>
              <a:rPr lang="en-US" dirty="0"/>
              <a:t> Infrared waves are commonly used in TV remote controls, wireless keyboards, mice, and printers.</a:t>
            </a:r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2BB10-D467-B341-8976-7261731B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323C93-B71A-3749-92CA-DF3F14E1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effectLst/>
              </a:rPr>
            </a:br>
            <a:r>
              <a:rPr lang="en-US" dirty="0">
                <a:effectLst/>
              </a:rPr>
              <a:t>Infrared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814735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CBA87-C778-4449-B260-0ABF06A3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E3BD41-F262-8F49-ACCA-726AC6E3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RW" dirty="0"/>
              <a:t>Infrared waves</a:t>
            </a:r>
          </a:p>
        </p:txBody>
      </p:sp>
      <p:pic>
        <p:nvPicPr>
          <p:cNvPr id="16386" name="Picture 2" descr="infrared">
            <a:extLst>
              <a:ext uri="{FF2B5EF4-FFF2-40B4-BE49-F238E27FC236}">
                <a16:creationId xmlns:a16="http://schemas.microsoft.com/office/drawing/2014/main" id="{3E3972F5-AA08-1D4D-9715-882E7C8A54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70866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366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F8BB2C-926D-0345-A6CD-8F0A326E6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726952"/>
              </p:ext>
            </p:extLst>
          </p:nvPr>
        </p:nvGraphicFramePr>
        <p:xfrm>
          <a:off x="457200" y="1481138"/>
          <a:ext cx="8382000" cy="4926803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368533972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3424461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984614116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>
                          <a:effectLst/>
                          <a:latin typeface="Nunito" pitchFamily="2" charset="77"/>
                        </a:rPr>
                        <a:t>Radio Waves</a:t>
                      </a:r>
                    </a:p>
                  </a:txBody>
                  <a:tcPr marL="30873" marR="30873" marT="77182" marB="7718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>
                          <a:effectLst/>
                          <a:latin typeface="Nunito" pitchFamily="2" charset="77"/>
                        </a:rPr>
                        <a:t>Microwaves</a:t>
                      </a:r>
                    </a:p>
                  </a:txBody>
                  <a:tcPr marL="77182" marR="77182" marT="77182" marB="7718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>
                          <a:effectLst/>
                          <a:latin typeface="Nunito" pitchFamily="2" charset="77"/>
                        </a:rPr>
                        <a:t>Infrared Waves</a:t>
                      </a:r>
                    </a:p>
                  </a:txBody>
                  <a:tcPr marL="77182" marR="77182" marT="77182" marB="7718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15635"/>
                  </a:ext>
                </a:extLst>
              </a:tr>
              <a:tr h="57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Omnidirectional in nature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dirty="0">
                          <a:effectLst/>
                          <a:latin typeface="Nunito" pitchFamily="2" charset="77"/>
                        </a:rPr>
                        <a:t>Highly directional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Directional, requires line of sight (LOS)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443355"/>
                  </a:ext>
                </a:extLst>
              </a:tr>
              <a:tr h="739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dirty="0">
                          <a:effectLst/>
                          <a:latin typeface="Nunito" pitchFamily="2" charset="77"/>
                        </a:rPr>
                        <a:t>Can penetrate buildings and obstacles easily due to low frequency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Poor penetration; line of sight required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Cannot penetrate obstacles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613272"/>
                  </a:ext>
                </a:extLst>
              </a:tr>
              <a:tr h="57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Frequency range: 3 kHz – 300 GHz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Frequency range: 1 GHz – 300 GHz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Frequency range: 300 GHz – 400 THz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415224"/>
                  </a:ext>
                </a:extLst>
              </a:tr>
              <a:tr h="57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Low security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Medium security (encryption possible)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Relatively high security but limited range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84863"/>
                  </a:ext>
                </a:extLst>
              </a:tr>
              <a:tr h="57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Moderate attenuation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Variable attenuation, depends on weather conditions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High attenuation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810884"/>
                  </a:ext>
                </a:extLst>
              </a:tr>
              <a:tr h="57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Some frequency bands require government licensing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Most frequency bands are licensed by the government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Generally unlicensed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218144"/>
                  </a:ext>
                </a:extLst>
              </a:tr>
              <a:tr h="403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Low to moderate cost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High cost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Low cost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705983"/>
                  </a:ext>
                </a:extLst>
              </a:tr>
              <a:tr h="57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Supports long-distance communication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>
                          <a:effectLst/>
                          <a:latin typeface="Nunito" pitchFamily="2" charset="77"/>
                        </a:rPr>
                        <a:t>Supports long-distance communication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dirty="0">
                          <a:effectLst/>
                          <a:latin typeface="Nunito" pitchFamily="2" charset="77"/>
                        </a:rPr>
                        <a:t>Suitable only for very short-distance communication</a:t>
                      </a:r>
                    </a:p>
                  </a:txBody>
                  <a:tcPr marL="77182" marR="77182" marT="108055" marB="108055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876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FD7B3D-E05E-A745-81A1-9102B211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E8E9EC-E541-CF4C-BB65-6C9F71DA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210"/>
            <a:ext cx="8229600" cy="1265238"/>
          </a:xfrm>
        </p:spPr>
        <p:txBody>
          <a:bodyPr>
            <a:normAutofit fontScale="90000"/>
          </a:bodyPr>
          <a:lstStyle/>
          <a:p>
            <a:br>
              <a:rPr lang="en-US" dirty="0">
                <a:effectLst/>
              </a:rPr>
            </a:br>
            <a:r>
              <a:rPr lang="en-US" dirty="0">
                <a:effectLst/>
              </a:rPr>
              <a:t>Difference Between Radio Waves, Micro Waves, and Infrared Waves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55445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EE95BB-717D-BC43-BA2B-0A934267A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555832" cy="1905001"/>
          </a:xfrm>
        </p:spPr>
        <p:txBody>
          <a:bodyPr>
            <a:normAutofit fontScale="85000" lnSpcReduction="20000"/>
          </a:bodyPr>
          <a:lstStyle/>
          <a:p>
            <a:pPr marL="109728" indent="0" algn="just">
              <a:buNone/>
            </a:pPr>
            <a:r>
              <a:rPr lang="en-US" dirty="0"/>
              <a:t>Transmission impairment refers to the </a:t>
            </a:r>
            <a:r>
              <a:rPr lang="en-US" dirty="0">
                <a:solidFill>
                  <a:srgbClr val="FF0000"/>
                </a:solidFill>
              </a:rPr>
              <a:t>loss or distortion of signals during data transmission, leading to errors or reduced quality in communication.</a:t>
            </a:r>
            <a:r>
              <a:rPr lang="en-US" dirty="0"/>
              <a:t> Common causes include signal distortion, attenuation, and noise all of which can affect the clarity and reliability of transmitted data.</a:t>
            </a:r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275525-9767-AA45-A320-CE7B58DC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ED7612-6416-7344-BBD7-48A070CC1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13284"/>
            <a:ext cx="8763000" cy="715962"/>
          </a:xfrm>
        </p:spPr>
        <p:txBody>
          <a:bodyPr>
            <a:normAutofit fontScale="90000"/>
          </a:bodyPr>
          <a:lstStyle/>
          <a:p>
            <a:br>
              <a:rPr lang="en-US" dirty="0">
                <a:effectLst/>
              </a:rPr>
            </a:br>
            <a:r>
              <a:rPr lang="en-US" dirty="0">
                <a:effectLst/>
              </a:rPr>
              <a:t>Causes of Transmission Impairment</a:t>
            </a:r>
            <a:br>
              <a:rPr lang="en-US" dirty="0">
                <a:effectLst/>
              </a:rPr>
            </a:br>
            <a:endParaRPr lang="en-RW" dirty="0"/>
          </a:p>
        </p:txBody>
      </p:sp>
      <p:pic>
        <p:nvPicPr>
          <p:cNvPr id="18434" name="Picture 2" descr="impairment_causes">
            <a:extLst>
              <a:ext uri="{FF2B5EF4-FFF2-40B4-BE49-F238E27FC236}">
                <a16:creationId xmlns:a16="http://schemas.microsoft.com/office/drawing/2014/main" id="{053293C7-D163-CC4E-B8EB-0A5E3612E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4" y="3276600"/>
            <a:ext cx="8919278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020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95890D-D3E7-064A-8B67-FC949CA09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81328"/>
            <a:ext cx="8915400" cy="5102034"/>
          </a:xfrm>
        </p:spPr>
        <p:txBody>
          <a:bodyPr>
            <a:normAutofit fontScale="85000" lnSpcReduction="20000"/>
          </a:bodyPr>
          <a:lstStyle/>
          <a:p>
            <a:pPr algn="just" fontAlgn="base"/>
            <a:r>
              <a:rPr lang="en-US" b="1" dirty="0"/>
              <a:t>Attenuation:</a:t>
            </a: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Loss of signal strength as the signal propagates over a transmission medium due to resistance and energy loss</a:t>
            </a:r>
            <a:r>
              <a:rPr lang="en-US" dirty="0"/>
              <a:t>. In analog systems, amplifiers are used to increase signal strength, while in digital communication, repeaters or regenerators are used to restore the original signal.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b="1" dirty="0"/>
              <a:t>Distortion:</a:t>
            </a: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Occurs when the shape of the transmitted signal changes</a:t>
            </a:r>
            <a:r>
              <a:rPr lang="en-US" dirty="0"/>
              <a:t>. This typically happens in composite signals where different frequency components travel at different speeds, causing phase shifts and timing differences at the receiver.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b="1" dirty="0"/>
              <a:t>Noise:</a:t>
            </a: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It refers to unwanted electrical or electromagnetic signals that interfere with the original signal, potentially corrupting data</a:t>
            </a:r>
            <a:r>
              <a:rPr lang="en-US" dirty="0"/>
              <a:t>. Common types of noise include thermal noise, induced noise, crosstalk, impulse noise.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D8BE8E-7920-8F41-9CD4-432BA236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419BB6-B36A-CA41-8D62-4792551E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806037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Causes of Transmission Impairment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042686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A07C64-3744-6A41-BF98-5D56FEE81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b="1" dirty="0"/>
              <a:t>Bandwidth:</a:t>
            </a:r>
            <a:r>
              <a:rPr lang="en-US" dirty="0"/>
              <a:t> It refers to the range of frequencies that a transmission medium can support.</a:t>
            </a:r>
            <a:br>
              <a:rPr lang="en-US" dirty="0"/>
            </a:br>
            <a:r>
              <a:rPr lang="en-US" dirty="0"/>
              <a:t>Higher bandwidth allows higher data transmission rates, assuming other factors such as noise and attenuation remain constant.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Transmission Impairment</a:t>
            </a:r>
            <a:r>
              <a:rPr lang="en-US" dirty="0"/>
              <a:t> : Transmission Impairment occurs when the received signal differs from the transmitted signal. Signal quality will be impacted as a result of transmission impairment.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Interference:</a:t>
            </a:r>
            <a:r>
              <a:rPr lang="en-US" dirty="0"/>
              <a:t> It is the disturbance of a signal caused by the addition of unwanted signals from external sources such as electromagnetic radiation or neighboring channels. It degrades signal clarity and may result in data corruption.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FE8D0-D012-9D42-B268-30CDE824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525E72-5295-1741-BC4E-C20F4E87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274638"/>
            <a:ext cx="9165432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Factors Considered for Designing the Transmission Media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954117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0AA1481-BFA8-7A4B-B2B9-2F7D1DEC4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921841"/>
              </p:ext>
            </p:extLst>
          </p:nvPr>
        </p:nvGraphicFramePr>
        <p:xfrm>
          <a:off x="0" y="1417638"/>
          <a:ext cx="8839200" cy="4990307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35383535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12443679"/>
                    </a:ext>
                  </a:extLst>
                </a:gridCol>
              </a:tblGrid>
              <a:tr h="531096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>
                          <a:effectLst/>
                          <a:latin typeface="Nunito" pitchFamily="2" charset="77"/>
                        </a:rPr>
                        <a:t>Transmission Media</a:t>
                      </a:r>
                    </a:p>
                  </a:txBody>
                  <a:tcPr marL="38100" marR="3810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dirty="0">
                          <a:effectLst/>
                          <a:latin typeface="Nunito" pitchFamily="2" charset="77"/>
                        </a:rPr>
                        <a:t>Application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55465"/>
                  </a:ext>
                </a:extLst>
              </a:tr>
              <a:tr h="601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Unshielded Twisted Pair (UTP)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Local Area Networks (LAN), telephones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2820"/>
                  </a:ext>
                </a:extLst>
              </a:tr>
              <a:tr h="8517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dirty="0">
                          <a:effectLst/>
                          <a:latin typeface="Nunito" pitchFamily="2" charset="77"/>
                        </a:rPr>
                        <a:t>Shielded Twisted Pair (STP)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Industrial networks, environments with high interference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08016"/>
                  </a:ext>
                </a:extLst>
              </a:tr>
              <a:tr h="601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Optical Fiber Cable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Long-distance communication, internet backbones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179887"/>
                  </a:ext>
                </a:extLst>
              </a:tr>
              <a:tr h="601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Coaxial Cable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Cable TV, broadband internet, CCTV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848685"/>
                  </a:ext>
                </a:extLst>
              </a:tr>
              <a:tr h="601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Radio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Wireless communication, AM/FM radio, mobile phones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734476"/>
                  </a:ext>
                </a:extLst>
              </a:tr>
              <a:tr h="601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Infrared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Remote controls, short-range communication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74776"/>
                  </a:ext>
                </a:extLst>
              </a:tr>
              <a:tr h="601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  <a:latin typeface="Nunito" pitchFamily="2" charset="77"/>
                        </a:rPr>
                        <a:t>Microwave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dirty="0">
                          <a:effectLst/>
                          <a:latin typeface="Nunito" pitchFamily="2" charset="77"/>
                        </a:rPr>
                        <a:t>Satellite communication, radar, long-distance links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052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7106A-C2DD-9A43-B99D-6555DDFF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2B3F2C-FA00-B34F-87E1-873F872F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Applications of Transmission Media in Computer Networks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393797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62013" y="1038225"/>
            <a:ext cx="7772400" cy="1470025"/>
          </a:xfrm>
        </p:spPr>
        <p:txBody>
          <a:bodyPr/>
          <a:lstStyle/>
          <a:p>
            <a:pPr eaLnBrk="1" hangingPunct="1"/>
            <a:r>
              <a:rPr lang="en-US" sz="4800" dirty="0"/>
              <a:t>The Data Link Layer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DF524B-67F5-6545-869D-0776710C2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The data link layer is the </a:t>
            </a:r>
            <a:r>
              <a:rPr lang="en-US" b="1" dirty="0"/>
              <a:t>second layer from the bottom in the OSI network architecture model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major functions of the Data Link Layer include </a:t>
            </a:r>
            <a:r>
              <a:rPr lang="en-US" b="1" dirty="0">
                <a:solidFill>
                  <a:srgbClr val="FF0000"/>
                </a:solidFill>
              </a:rPr>
              <a:t>framing, physical addressing, error detection, flow control, and media access control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organizes data into frames and provides node-to-node delivery over a physical link.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also provides an interface between the Network Layer and the Physical Layer.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C3CC4C-F05E-E64D-94C8-1DCF5A16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1D6FF6-CFD8-BC43-858D-E6E2C400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Data Link Layer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274990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D6BB82-2EEB-E44D-8EAA-9EB2FC628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291741"/>
          </a:xfrm>
        </p:spPr>
        <p:txBody>
          <a:bodyPr>
            <a:normAutofit fontScale="55000" lnSpcReduction="20000"/>
          </a:bodyPr>
          <a:lstStyle/>
          <a:p>
            <a:pPr marL="109728" indent="0" fontAlgn="base">
              <a:buNone/>
            </a:pPr>
            <a:r>
              <a:rPr lang="en-US" dirty="0"/>
              <a:t>The data link layer is further divided into two sub-layers, which are as follows:</a:t>
            </a:r>
          </a:p>
          <a:p>
            <a:pPr marL="109728" indent="0" fontAlgn="base">
              <a:buNone/>
            </a:pPr>
            <a:endParaRPr lang="en-US" dirty="0"/>
          </a:p>
          <a:p>
            <a:pPr marL="109728" indent="0" fontAlgn="base">
              <a:buNone/>
            </a:pPr>
            <a:r>
              <a:rPr lang="en-US" b="1" dirty="0"/>
              <a:t>1. Logical Link Control (LLC): </a:t>
            </a:r>
            <a:r>
              <a:rPr lang="en-US" dirty="0"/>
              <a:t>This sublayer provides services to the Network Layer and handles functions such as </a:t>
            </a:r>
            <a:r>
              <a:rPr lang="en-US" b="1" dirty="0">
                <a:solidFill>
                  <a:srgbClr val="FF0000"/>
                </a:solidFill>
              </a:rPr>
              <a:t>multiplexing, flow control, error control, and acknowledgments, depending on the LLC service used</a:t>
            </a:r>
            <a:r>
              <a:rPr lang="en-US" dirty="0"/>
              <a:t>.</a:t>
            </a: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Protocol Identification: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Identifies which network layer protocol (such as IP) is being used and ensures correct delivery of data.</a:t>
            </a: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Flow Control: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Regulates the rate of data transmission to prevent data overflow between sender and receiver.</a:t>
            </a: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Error Control: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Detects transmission errors and may request retransmission of corrupted frames.</a:t>
            </a:r>
          </a:p>
          <a:p>
            <a:pPr marL="109728" indent="0" fontAlgn="base">
              <a:buNone/>
            </a:pPr>
            <a:endParaRPr lang="en-US" dirty="0"/>
          </a:p>
          <a:p>
            <a:pPr marL="109728" indent="0" fontAlgn="base">
              <a:buNone/>
            </a:pPr>
            <a:r>
              <a:rPr lang="en-US" b="1" dirty="0"/>
              <a:t>2. Media Access Control (MAC): </a:t>
            </a:r>
            <a:r>
              <a:rPr lang="en-US" dirty="0"/>
              <a:t>This is the lower sub-layer of the Data Link Layer responsible for </a:t>
            </a:r>
            <a:r>
              <a:rPr lang="en-US" b="1" dirty="0">
                <a:solidFill>
                  <a:srgbClr val="FF0000"/>
                </a:solidFill>
              </a:rPr>
              <a:t>controlling how devices access the physical transmission medium</a:t>
            </a:r>
            <a:r>
              <a:rPr lang="en-US" dirty="0"/>
              <a:t>. It handles physical addressing and ensures that data is transmitted efficiently without conflicts on the network.</a:t>
            </a: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Physical Addressing: </a:t>
            </a:r>
            <a:r>
              <a:rPr lang="en-US" dirty="0"/>
              <a:t>Adds MAC address to frames to uniquely identify sender and receiver devices.</a:t>
            </a: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Media Access Management: </a:t>
            </a:r>
            <a:r>
              <a:rPr lang="en-US" dirty="0"/>
              <a:t>Controls when a device can send data to avoid collisions in shared communication channels.</a:t>
            </a: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Frame Transmission: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Encapsulates packets received from the Network Layer into frames and passes them to the Physical Layer for transmission.</a:t>
            </a:r>
          </a:p>
          <a:p>
            <a:endParaRPr lang="en-R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39896-45AB-5044-B06D-624403C15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A163C5-C89C-CD47-94F8-7EC38F3C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Sub-Layers of The Data Link Layer</a:t>
            </a:r>
            <a:br>
              <a:rPr lang="en-US" dirty="0">
                <a:effectLst/>
              </a:rPr>
            </a:b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2497296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413D69-A6F7-2E4A-9707-DE2AD8AC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5D6729-539F-D845-A177-93DFE661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Functions of DLL</a:t>
            </a:r>
            <a:br>
              <a:rPr lang="en-US" dirty="0">
                <a:effectLst/>
              </a:rPr>
            </a:br>
            <a:endParaRPr lang="en-RW" dirty="0"/>
          </a:p>
        </p:txBody>
      </p:sp>
      <p:pic>
        <p:nvPicPr>
          <p:cNvPr id="20482" name="Picture 2" descr="functions_of_data_link_layer.webp">
            <a:extLst>
              <a:ext uri="{FF2B5EF4-FFF2-40B4-BE49-F238E27FC236}">
                <a16:creationId xmlns:a16="http://schemas.microsoft.com/office/drawing/2014/main" id="{B0E312E3-7D29-FD42-801A-08626D084B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772400" cy="534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2945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83880" cy="1051560"/>
          </a:xfrm>
        </p:spPr>
        <p:txBody>
          <a:bodyPr/>
          <a:lstStyle/>
          <a:p>
            <a:r>
              <a:rPr lang="en-US" dirty="0"/>
              <a:t>Types of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752599"/>
            <a:ext cx="6477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  <a:defRPr/>
            </a:pPr>
            <a:r>
              <a:rPr lang="en-US" dirty="0"/>
              <a:t>  </a:t>
            </a:r>
            <a:r>
              <a:rPr lang="en-US" sz="2000" dirty="0"/>
              <a:t>When ever bits flow from one point to another, they are subject to unpredictable changes because of interference. </a:t>
            </a:r>
          </a:p>
          <a:p>
            <a:pPr algn="l">
              <a:buFont typeface="Arial" pitchFamily="34" charset="0"/>
              <a:buChar char="•"/>
              <a:defRPr/>
            </a:pPr>
            <a:endParaRPr lang="en-US" sz="2000" dirty="0"/>
          </a:p>
          <a:p>
            <a:pPr algn="l">
              <a:buFont typeface="Arial" pitchFamily="34" charset="0"/>
              <a:buChar char="•"/>
              <a:defRPr/>
            </a:pPr>
            <a:r>
              <a:rPr lang="en-US" sz="2000" dirty="0"/>
              <a:t>This interference can change the shape of the signal</a:t>
            </a:r>
            <a:r>
              <a:rPr lang="en-US" dirty="0"/>
              <a:t>.</a:t>
            </a:r>
          </a:p>
          <a:p>
            <a:pPr algn="l">
              <a:buFont typeface="Arial" pitchFamily="34" charset="0"/>
              <a:buChar char="•"/>
              <a:defRPr/>
            </a:pPr>
            <a:endParaRPr lang="en-US" dirty="0"/>
          </a:p>
          <a:p>
            <a:pPr algn="l">
              <a:buFont typeface="Arial" pitchFamily="34" charset="0"/>
              <a:buChar char="•"/>
              <a:defRPr/>
            </a:pPr>
            <a:endParaRPr lang="en-US" dirty="0"/>
          </a:p>
          <a:p>
            <a:pPr algn="l">
              <a:buFont typeface="Arial" pitchFamily="34" charset="0"/>
              <a:buChar char="•"/>
              <a:defRPr/>
            </a:pPr>
            <a:r>
              <a:rPr lang="en-US" sz="2000" dirty="0"/>
              <a:t>Different Types of Errors Exist:</a:t>
            </a:r>
          </a:p>
          <a:p>
            <a:pPr algn="l">
              <a:buFont typeface="Arial" pitchFamily="34" charset="0"/>
              <a:buChar char="•"/>
              <a:defRPr/>
            </a:pPr>
            <a:endParaRPr lang="en-US" sz="2000" b="1" dirty="0"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 sz="2000" b="1" dirty="0"/>
              <a:t> Single-Bit Error</a:t>
            </a:r>
          </a:p>
          <a:p>
            <a:pPr marL="457200" indent="-457200" algn="l">
              <a:buFont typeface="+mj-lt"/>
              <a:buAutoNum type="arabicPeriod"/>
              <a:defRPr/>
            </a:pPr>
            <a:endParaRPr lang="en-US" sz="2000" dirty="0"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 sz="2000" b="1" dirty="0"/>
              <a:t>Burst Error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611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8183880" cy="1051560"/>
          </a:xfrm>
        </p:spPr>
        <p:txBody>
          <a:bodyPr/>
          <a:lstStyle/>
          <a:p>
            <a:r>
              <a:rPr lang="en-US" b="1" dirty="0"/>
              <a:t>Single-Bit Error</a:t>
            </a:r>
            <a:endParaRPr lang="en-US" dirty="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066800" y="1752600"/>
            <a:ext cx="725646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US" sz="2000" dirty="0"/>
              <a:t>The  term single-bit error means that only 1 bit of a given data unit (such as a byte, character, or packet) is changed from 1 to 0 or from 0 to 1.</a:t>
            </a:r>
          </a:p>
        </p:txBody>
      </p:sp>
      <p:pic>
        <p:nvPicPr>
          <p:cNvPr id="10244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6980237" cy="18430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060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066800" y="533400"/>
            <a:ext cx="8183880" cy="838200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Burst Error</a:t>
            </a:r>
            <a:br>
              <a:rPr lang="en-US" b="1" dirty="0"/>
            </a:br>
            <a:endParaRPr lang="en-US" dirty="0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914400" y="1219200"/>
            <a:ext cx="626427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US" sz="2000" dirty="0"/>
              <a:t>The term burst error means that 2 or more bits in the data unit have changed from 1 to 0 Or from 0 to 1.</a:t>
            </a:r>
          </a:p>
        </p:txBody>
      </p:sp>
      <p:pic>
        <p:nvPicPr>
          <p:cNvPr id="11268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63" y="2489200"/>
            <a:ext cx="6919912" cy="1376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1269" name="Picture 6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038" y="4167188"/>
            <a:ext cx="6826250" cy="2009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83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6582" y="3962400"/>
            <a:ext cx="6527800" cy="25908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229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83880" cy="1051560"/>
          </a:xfrm>
          <a:noFill/>
        </p:spPr>
        <p:txBody>
          <a:bodyPr/>
          <a:lstStyle/>
          <a:p>
            <a:pPr eaLnBrk="1" hangingPunct="1"/>
            <a:r>
              <a:rPr lang="en-US" dirty="0"/>
              <a:t>Redundancy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609600" y="1117600"/>
            <a:ext cx="8077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The central concept in detecting or correcting errors is redundancy. </a:t>
            </a:r>
          </a:p>
          <a:p>
            <a:pPr algn="l">
              <a:buFont typeface="Arial" charset="0"/>
              <a:buChar char="•"/>
            </a:pPr>
            <a:endParaRPr lang="en-US" sz="2000" b="1" dirty="0">
              <a:solidFill>
                <a:schemeClr val="accent2"/>
              </a:solidFill>
            </a:endParaRPr>
          </a:p>
          <a:p>
            <a:pPr algn="l">
              <a:buFont typeface="Arial" charset="0"/>
              <a:buChar char="•"/>
            </a:pPr>
            <a:r>
              <a:rPr lang="en-US" sz="2000" b="1" dirty="0"/>
              <a:t>To be able to detect or correct errors, we need to send some extra bits with our data</a:t>
            </a:r>
            <a:r>
              <a:rPr lang="en-US" sz="2000" dirty="0">
                <a:solidFill>
                  <a:schemeClr val="accent2"/>
                </a:solidFill>
              </a:rPr>
              <a:t>. </a:t>
            </a:r>
          </a:p>
          <a:p>
            <a:pPr algn="l">
              <a:buFont typeface="Arial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These </a:t>
            </a:r>
            <a:r>
              <a:rPr lang="en-US" sz="2000" b="1" dirty="0"/>
              <a:t>redundant bits are added by the sender and removed by the receiver</a:t>
            </a:r>
            <a:r>
              <a:rPr lang="en-US" sz="2000" dirty="0">
                <a:solidFill>
                  <a:schemeClr val="accent2"/>
                </a:solidFill>
              </a:rPr>
              <a:t>. </a:t>
            </a:r>
          </a:p>
          <a:p>
            <a:pPr algn="l">
              <a:buFont typeface="Arial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Their presence allows the receiver to detect or correct corrupted bits.</a:t>
            </a:r>
          </a:p>
          <a:p>
            <a:pPr algn="l"/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7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F3344-22C0-7040-A394-C901131E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F54D2B-C5AA-6F48-A0C5-75C03571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RW" dirty="0"/>
              <a:t>Framing</a:t>
            </a:r>
          </a:p>
        </p:txBody>
      </p:sp>
      <p:pic>
        <p:nvPicPr>
          <p:cNvPr id="21506" name="Picture 2" descr="functions_of_data_link_layer_1.webp">
            <a:extLst>
              <a:ext uri="{FF2B5EF4-FFF2-40B4-BE49-F238E27FC236}">
                <a16:creationId xmlns:a16="http://schemas.microsoft.com/office/drawing/2014/main" id="{E56BA0D7-02B8-5E4E-817F-7CF4B8F17F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2296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574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686CDE-4E34-4546-A0EB-98011CB7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27B74C-E861-5B4F-A4C0-668BC180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RW" dirty="0"/>
              <a:t>Error Detection-Parity Check</a:t>
            </a:r>
          </a:p>
        </p:txBody>
      </p:sp>
      <p:pic>
        <p:nvPicPr>
          <p:cNvPr id="22530" name="Picture 2" descr="functions_of_data_link_layer_2.webp">
            <a:extLst>
              <a:ext uri="{FF2B5EF4-FFF2-40B4-BE49-F238E27FC236}">
                <a16:creationId xmlns:a16="http://schemas.microsoft.com/office/drawing/2014/main" id="{227F04CA-EC90-7B49-9E7E-5E2DAA5C97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524000"/>
            <a:ext cx="3428999" cy="254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81F7BB-6092-7F4A-9D97-CB51673D92DE}"/>
              </a:ext>
            </a:extLst>
          </p:cNvPr>
          <p:cNvSpPr/>
          <p:nvPr/>
        </p:nvSpPr>
        <p:spPr>
          <a:xfrm>
            <a:off x="5317697" y="1474381"/>
            <a:ext cx="33437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Perhaps the most familiar error-detecting code is the VRC (Parity Bit Method).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In this code, a k-bit </a:t>
            </a:r>
            <a:r>
              <a:rPr lang="en-US" b="1" dirty="0" err="1">
                <a:solidFill>
                  <a:srgbClr val="FF0000"/>
                </a:solidFill>
              </a:rPr>
              <a:t>dataword</a:t>
            </a:r>
            <a:r>
              <a:rPr lang="en-US" b="1" dirty="0">
                <a:solidFill>
                  <a:srgbClr val="FF0000"/>
                </a:solidFill>
              </a:rPr>
              <a:t> is changed to an n-bit codeword where n= k+ 1</a:t>
            </a:r>
            <a:r>
              <a:rPr lang="en-US" dirty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b="1" dirty="0"/>
              <a:t>The extra bit, called the parity bit, is selected to make the total number of Is in the codeword even</a:t>
            </a:r>
            <a:r>
              <a:rPr lang="en-US" dirty="0"/>
              <a:t>.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4E4E292-1F93-774C-B61E-D0965B160BB1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847" y="4267200"/>
            <a:ext cx="3343753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9201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652DC-F389-ED4D-A83C-BFBFB5B4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30C9CA-257C-BE4E-892B-1B92DE64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Error Detection-Checksum</a:t>
            </a:r>
          </a:p>
        </p:txBody>
      </p:sp>
      <p:pic>
        <p:nvPicPr>
          <p:cNvPr id="23554" name="Picture 2" descr="frame_3630.webp">
            <a:extLst>
              <a:ext uri="{FF2B5EF4-FFF2-40B4-BE49-F238E27FC236}">
                <a16:creationId xmlns:a16="http://schemas.microsoft.com/office/drawing/2014/main" id="{69194252-BFF8-3840-BD6E-53CBF696CB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4800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728B308-17B1-1645-AD35-AFE069CBF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371600"/>
            <a:ext cx="3417888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endParaRPr lang="en-US" dirty="0"/>
          </a:p>
          <a:p>
            <a:pPr algn="l">
              <a:buFont typeface="Arial" charset="0"/>
              <a:buChar char="•"/>
            </a:pPr>
            <a:r>
              <a:rPr lang="en-US" sz="1400" dirty="0"/>
              <a:t>Suppose our data is a list of five 4-bit numbers that we want to send to a destination. </a:t>
            </a:r>
          </a:p>
          <a:p>
            <a:pPr algn="l">
              <a:buFont typeface="Arial" charset="0"/>
              <a:buChar char="•"/>
            </a:pPr>
            <a:r>
              <a:rPr lang="en-US" sz="1400" dirty="0"/>
              <a:t>In addition to sending these numbers, we send the sum of the numbers.</a:t>
            </a:r>
          </a:p>
          <a:p>
            <a:pPr algn="l">
              <a:buFont typeface="Arial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For example, if the set of numbers is (7, 11, 12, 0, 6), we send (7, 11, 12,0,6,36), where 36 is the sum of the original numbers</a:t>
            </a:r>
            <a:r>
              <a:rPr lang="en-US" sz="1400" dirty="0"/>
              <a:t>. </a:t>
            </a:r>
          </a:p>
          <a:p>
            <a:pPr algn="l">
              <a:buFont typeface="Arial" charset="0"/>
              <a:buChar char="•"/>
            </a:pPr>
            <a:r>
              <a:rPr lang="en-US" sz="1400" b="1" dirty="0"/>
              <a:t>The receiver adds the five numbers and compares the result with the sum</a:t>
            </a:r>
            <a:r>
              <a:rPr lang="en-US" sz="1400" dirty="0"/>
              <a:t>.</a:t>
            </a:r>
          </a:p>
          <a:p>
            <a:pPr algn="l">
              <a:buFont typeface="Arial" charset="0"/>
              <a:buChar char="•"/>
            </a:pPr>
            <a:r>
              <a:rPr lang="en-US" sz="1400" dirty="0"/>
              <a:t> 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If the two are the same, the receiver assumes no error, accepts the five numbers, and discards the sum. </a:t>
            </a:r>
            <a:r>
              <a:rPr lang="en-US" sz="1400" dirty="0"/>
              <a:t>Otherwise, there is an error somewhere and the data are not accepted.</a:t>
            </a:r>
          </a:p>
        </p:txBody>
      </p:sp>
    </p:spTree>
    <p:extLst>
      <p:ext uri="{BB962C8B-B14F-4D97-AF65-F5344CB8AC3E}">
        <p14:creationId xmlns:p14="http://schemas.microsoft.com/office/powerpoint/2010/main" val="4163100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ChangeArrowheads="1"/>
          </p:cNvSpPr>
          <p:nvPr/>
        </p:nvSpPr>
        <p:spPr bwMode="auto">
          <a:xfrm>
            <a:off x="0" y="152400"/>
            <a:ext cx="9144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itchFamily="18" charset="0"/>
              </a:rPr>
              <a:t>LRC</a:t>
            </a:r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1" y="914401"/>
            <a:ext cx="6553199" cy="2291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619125" y="3276600"/>
            <a:ext cx="852487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400" dirty="0">
                <a:ea typeface="新細明體" pitchFamily="18" charset="-120"/>
              </a:rPr>
              <a:t>In Longitudinal redundancy check (LRC),a block of bits is organized in a table(rows and columns).</a:t>
            </a:r>
          </a:p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400" dirty="0">
                <a:ea typeface="新細明體" pitchFamily="18" charset="-120"/>
              </a:rPr>
              <a:t>Then calculate the parity bit for each column and create a new row of 8 bits, which are the parity bits for the  whole block.</a:t>
            </a:r>
          </a:p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400" dirty="0">
                <a:ea typeface="新細明體" pitchFamily="18" charset="-120"/>
              </a:rPr>
              <a:t>First parity bit in the fifth row is calculated based on all first bits, and so on.</a:t>
            </a:r>
          </a:p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400" dirty="0">
                <a:ea typeface="新細明體" pitchFamily="18" charset="-120"/>
              </a:rPr>
              <a:t>Then attach the 8 parity bits to the original data and send them to the receiver.</a:t>
            </a:r>
          </a:p>
          <a:p>
            <a:r>
              <a:rPr lang="en-US" altLang="zh-TW" dirty="0">
                <a:ea typeface="新細明體" pitchFamily="18" charset="-120"/>
              </a:rPr>
              <a:t> </a:t>
            </a:r>
          </a:p>
          <a:p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286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ED39A-5D9B-ED42-9A9F-6AD7055E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38A34A-0F41-0142-9C69-AA8DAE97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RW" dirty="0"/>
              <a:t>Error Detection-Cyclic Redundacy Check</a:t>
            </a:r>
          </a:p>
        </p:txBody>
      </p:sp>
      <p:pic>
        <p:nvPicPr>
          <p:cNvPr id="24578" name="Picture 2" descr="functions_of_data_link_layer_6.webp">
            <a:extLst>
              <a:ext uri="{FF2B5EF4-FFF2-40B4-BE49-F238E27FC236}">
                <a16:creationId xmlns:a16="http://schemas.microsoft.com/office/drawing/2014/main" id="{653653CD-A36F-F344-A2CF-7D7535E8C2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17638"/>
            <a:ext cx="3600154" cy="262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79CBD1-3991-CF46-A284-8223D4A90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076700"/>
            <a:ext cx="375255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56C674F7-67CA-5541-A7BE-1EF6F5CE3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46" y="1295400"/>
            <a:ext cx="3752554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800" dirty="0">
                <a:ea typeface="新細明體" pitchFamily="18" charset="-120"/>
              </a:rPr>
              <a:t>The most powerful of  the redundancy checking techniques is the cyclic redundancy check (CRC).</a:t>
            </a:r>
          </a:p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800" dirty="0">
                <a:ea typeface="新細明體" pitchFamily="18" charset="-120"/>
              </a:rPr>
              <a:t>Unlike VRC and LRC, which are based on addition, </a:t>
            </a:r>
            <a:r>
              <a:rPr lang="en-US" altLang="zh-TW" sz="1800" dirty="0">
                <a:solidFill>
                  <a:srgbClr val="FF0000"/>
                </a:solidFill>
                <a:ea typeface="新細明體" pitchFamily="18" charset="-120"/>
              </a:rPr>
              <a:t>CRC is based on binary division</a:t>
            </a:r>
            <a:r>
              <a:rPr lang="en-US" altLang="zh-TW" sz="1800" dirty="0">
                <a:ea typeface="新細明體" pitchFamily="18" charset="-120"/>
              </a:rPr>
              <a:t>.</a:t>
            </a:r>
          </a:p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800" dirty="0">
                <a:ea typeface="新細明體" pitchFamily="18" charset="-120"/>
              </a:rPr>
              <a:t>Instead of adding bits together to achieve a desired parity ,a sequence of redundant bits, called the CRC or the CRC remainder, is appended to the end of a data unit so that the resulting data unit becomes exactly divisible by a second, predetermined binary number.</a:t>
            </a:r>
          </a:p>
          <a:p>
            <a:pPr algn="l">
              <a:buClr>
                <a:schemeClr val="accent1"/>
              </a:buClr>
              <a:buFont typeface="Wingdings" pitchFamily="2" charset="2"/>
              <a:buChar char="n"/>
            </a:pPr>
            <a:r>
              <a:rPr lang="en-US" altLang="zh-TW" sz="1800" b="1" dirty="0">
                <a:solidFill>
                  <a:srgbClr val="FF0000"/>
                </a:solidFill>
                <a:ea typeface="新細明體" pitchFamily="18" charset="-120"/>
              </a:rPr>
              <a:t>A remainder indicates that the data unit has been damaged in transit and therefore must  be rejected</a:t>
            </a:r>
            <a:r>
              <a:rPr lang="en-US" altLang="zh-TW" sz="1800" dirty="0">
                <a:ea typeface="新細明體" pitchFamily="18" charset="-120"/>
              </a:rPr>
              <a:t>.</a:t>
            </a:r>
          </a:p>
          <a:p>
            <a:pPr>
              <a:buClr>
                <a:schemeClr val="accent1"/>
              </a:buClr>
              <a:buFont typeface="Wingdings" pitchFamily="2" charset="2"/>
              <a:buNone/>
            </a:pPr>
            <a:endParaRPr lang="en-US" altLang="zh-TW" sz="2000" dirty="0">
              <a:ea typeface="新細明體" pitchFamily="18" charset="-120"/>
            </a:endParaRPr>
          </a:p>
          <a:p>
            <a:r>
              <a:rPr lang="en-US" altLang="zh-TW" sz="2000" dirty="0">
                <a:ea typeface="新細明體" pitchFamily="18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301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B179B7-EF7F-F54D-92D1-28423E6F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D1693-36D5-2A46-B096-FB0B3BFD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/>
              <a:t>Error Correction-ARQ &amp; FEC</a:t>
            </a:r>
          </a:p>
        </p:txBody>
      </p:sp>
      <p:pic>
        <p:nvPicPr>
          <p:cNvPr id="25602" name="Picture 2" descr="functions_of_data_link_layer_7.webp">
            <a:extLst>
              <a:ext uri="{FF2B5EF4-FFF2-40B4-BE49-F238E27FC236}">
                <a16:creationId xmlns:a16="http://schemas.microsoft.com/office/drawing/2014/main" id="{C6443E75-26ED-8A44-9E75-147AF50060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4114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029">
            <a:extLst>
              <a:ext uri="{FF2B5EF4-FFF2-40B4-BE49-F238E27FC236}">
                <a16:creationId xmlns:a16="http://schemas.microsoft.com/office/drawing/2014/main" id="{90976278-907B-C24B-A8AB-97455E856A76}"/>
              </a:ext>
            </a:extLst>
          </p:cNvPr>
          <p:cNvSpPr txBox="1">
            <a:spLocks noChangeArrowheads="1"/>
          </p:cNvSpPr>
          <p:nvPr/>
        </p:nvSpPr>
        <p:spPr>
          <a:xfrm>
            <a:off x="4724400" y="1568302"/>
            <a:ext cx="4288632" cy="3613298"/>
          </a:xfrm>
          <a:prstGeom prst="rect">
            <a:avLst/>
          </a:prstGeom>
          <a:noFill/>
        </p:spPr>
        <p:txBody>
          <a:bodyPr vert="horz">
            <a:normAutofit fontScale="700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90000"/>
              </a:lnSpc>
              <a:buFontTx/>
              <a:buChar char="•"/>
            </a:pPr>
            <a:r>
              <a:rPr lang="en-US" dirty="0">
                <a:solidFill>
                  <a:srgbClr val="FF3300"/>
                </a:solidFill>
              </a:rPr>
              <a:t>Two methods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dirty="0">
                <a:solidFill>
                  <a:srgbClr val="FF3300"/>
                </a:solidFill>
              </a:rPr>
              <a:t>Sender-based</a:t>
            </a:r>
            <a:r>
              <a:rPr lang="en-US" dirty="0"/>
              <a:t>: First error detection, then ask sender to retransmit data in case of an error.</a:t>
            </a:r>
          </a:p>
          <a:p>
            <a:pPr lvl="1">
              <a:lnSpc>
                <a:spcPct val="90000"/>
              </a:lnSpc>
              <a:buFontTx/>
              <a:buChar char="•"/>
            </a:pPr>
            <a:endParaRPr lang="en-US" dirty="0"/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dirty="0">
                <a:solidFill>
                  <a:srgbClr val="FF3300"/>
                </a:solidFill>
              </a:rPr>
              <a:t>Automatic or Receiver-based</a:t>
            </a:r>
            <a:r>
              <a:rPr lang="en-US" dirty="0"/>
              <a:t>: Here, receiver tries to find out after an error what the correct data might have been.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/>
              <a:t>	   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FF3300"/>
                </a:solidFill>
                <a:sym typeface="Wingdings" pitchFamily="2" charset="2"/>
              </a:rPr>
              <a:t>Error-correcting codes (</a:t>
            </a:r>
            <a:r>
              <a:rPr lang="en-US" dirty="0" err="1">
                <a:solidFill>
                  <a:srgbClr val="FF3300"/>
                </a:solidFill>
                <a:sym typeface="Wingdings" pitchFamily="2" charset="2"/>
              </a:rPr>
              <a:t>i.e</a:t>
            </a:r>
            <a:r>
              <a:rPr lang="en-US" dirty="0">
                <a:solidFill>
                  <a:srgbClr val="FF3300"/>
                </a:solidFill>
                <a:sym typeface="Wingdings" pitchFamily="2" charset="2"/>
              </a:rPr>
              <a:t>, Hamming code)</a:t>
            </a:r>
            <a:endParaRPr lang="en-US" dirty="0">
              <a:solidFill>
                <a:srgbClr val="FF3300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dirty="0">
                <a:solidFill>
                  <a:srgbClr val="FF3300"/>
                </a:solidFill>
              </a:rPr>
              <a:t>In theory</a:t>
            </a:r>
            <a:r>
              <a:rPr lang="en-US" dirty="0"/>
              <a:t>, it is possible to correct any detected error automatically, however, this is not done in practice, because it requires lots of redundancy (which is overhead).</a:t>
            </a:r>
          </a:p>
        </p:txBody>
      </p:sp>
    </p:spTree>
    <p:extLst>
      <p:ext uri="{BB962C8B-B14F-4D97-AF65-F5344CB8AC3E}">
        <p14:creationId xmlns:p14="http://schemas.microsoft.com/office/powerpoint/2010/main" val="33790741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0311E-E746-6C45-A999-07CC33CA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534C76-5954-AD4E-932F-15C941EB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RW" dirty="0"/>
              <a:t>Flow Control</a:t>
            </a:r>
          </a:p>
        </p:txBody>
      </p:sp>
      <p:pic>
        <p:nvPicPr>
          <p:cNvPr id="26626" name="Picture 2" descr="functions_of_data_link_layer_8.webp">
            <a:extLst>
              <a:ext uri="{FF2B5EF4-FFF2-40B4-BE49-F238E27FC236}">
                <a16:creationId xmlns:a16="http://schemas.microsoft.com/office/drawing/2014/main" id="{7A302390-3F90-A043-8339-B8AEA88C0A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17638"/>
            <a:ext cx="4684872" cy="444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CEBB3BD-AEDB-0A4F-A5F8-8C2924CA4D22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467367"/>
            <a:ext cx="4114800" cy="4449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86568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93A3E8-CAA5-F048-ACCE-DB58C69C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D6F003-92DD-4645-9F56-E204507C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RW" dirty="0"/>
              <a:t>Addressing</a:t>
            </a:r>
          </a:p>
        </p:txBody>
      </p:sp>
      <p:pic>
        <p:nvPicPr>
          <p:cNvPr id="27650" name="Picture 2" descr="functions_of_data_link_layer_9.webp">
            <a:extLst>
              <a:ext uri="{FF2B5EF4-FFF2-40B4-BE49-F238E27FC236}">
                <a16:creationId xmlns:a16="http://schemas.microsoft.com/office/drawing/2014/main" id="{969639F7-9B93-4047-B829-C419078FB9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17638"/>
            <a:ext cx="7620000" cy="429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9281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C841E9-BE1D-B34A-BD32-1404741D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C3A0C3-F095-A444-B3E4-9A08CE8D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Devices Operating at the Data Link Layer</a:t>
            </a:r>
            <a:br>
              <a:rPr lang="en-US" dirty="0">
                <a:effectLst/>
              </a:rPr>
            </a:br>
            <a:endParaRPr lang="en-RW" dirty="0"/>
          </a:p>
        </p:txBody>
      </p:sp>
      <p:pic>
        <p:nvPicPr>
          <p:cNvPr id="28674" name="Picture 2" descr="frame_3631">
            <a:extLst>
              <a:ext uri="{FF2B5EF4-FFF2-40B4-BE49-F238E27FC236}">
                <a16:creationId xmlns:a16="http://schemas.microsoft.com/office/drawing/2014/main" id="{9DDB3B19-22BC-1C4E-9F15-0518013D60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81138"/>
            <a:ext cx="7467600" cy="469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2763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u="sng" dirty="0"/>
              <a:t>Assignment on Physical Layer (Group 1)</a:t>
            </a:r>
          </a:p>
          <a:p>
            <a:pPr>
              <a:buNone/>
            </a:pPr>
            <a:r>
              <a:rPr lang="en-GB" dirty="0"/>
              <a:t>In a group of two prepare a presentation on: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Font typeface="Wingdings" pitchFamily="2" charset="2"/>
              <a:buChar char="Ø"/>
            </a:pPr>
            <a:r>
              <a:rPr lang="en-GB" dirty="0"/>
              <a:t>Modems and RS232 Interfacing sequences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GB" dirty="0"/>
              <a:t>Line coding and it’s techniques. </a:t>
            </a:r>
            <a:endParaRPr lang="en-US" dirty="0"/>
          </a:p>
          <a:p>
            <a:pPr marL="457200" indent="-457200">
              <a:buFont typeface="Wingdings" pitchFamily="2" charset="2"/>
              <a:buChar char="Ø"/>
            </a:pPr>
            <a:endParaRPr lang="en-GB" dirty="0"/>
          </a:p>
          <a:p>
            <a:pPr marL="457200" indent="-457200">
              <a:buFont typeface="Wingdings" pitchFamily="2" charset="2"/>
              <a:buChar char="Ø"/>
            </a:pPr>
            <a:endParaRPr lang="en-GB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7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u="sng" dirty="0"/>
              <a:t>Assignment on Physical Layer (Group 2)</a:t>
            </a:r>
          </a:p>
          <a:p>
            <a:pPr>
              <a:buNone/>
            </a:pPr>
            <a:r>
              <a:rPr lang="en-GB" dirty="0"/>
              <a:t>In a group of two prepare a presentation on:</a:t>
            </a:r>
          </a:p>
          <a:p>
            <a:pPr marL="0" indent="0">
              <a:buNone/>
            </a:pPr>
            <a:endParaRPr lang="en-GB" dirty="0"/>
          </a:p>
          <a:p>
            <a:pPr algn="just" fontAlgn="base"/>
            <a:r>
              <a:rPr lang="en-US" dirty="0"/>
              <a:t>Serial Line Interface Protocol (SLIP)</a:t>
            </a:r>
          </a:p>
          <a:p>
            <a:pPr algn="just" fontAlgn="base"/>
            <a:r>
              <a:rPr lang="en-US" dirty="0"/>
              <a:t>Point to Point Protocol (PPP)</a:t>
            </a:r>
          </a:p>
          <a:p>
            <a:pPr algn="just" fontAlgn="base"/>
            <a:r>
              <a:rPr lang="en-US" dirty="0"/>
              <a:t>Link Access Procedure (LAP)</a:t>
            </a:r>
          </a:p>
          <a:p>
            <a:pPr algn="just" fontAlgn="base"/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622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u="sng" dirty="0"/>
              <a:t>Assignment on on Data Link Layer (Group3)</a:t>
            </a:r>
          </a:p>
          <a:p>
            <a:pPr>
              <a:buNone/>
            </a:pPr>
            <a:r>
              <a:rPr lang="en-GB" dirty="0"/>
              <a:t>In the same group of two prepare a presentation on:</a:t>
            </a:r>
          </a:p>
          <a:p>
            <a:pPr>
              <a:buNone/>
            </a:pPr>
            <a:endParaRPr lang="en-GB" dirty="0"/>
          </a:p>
          <a:p>
            <a:pPr algn="just" fontAlgn="base"/>
            <a:r>
              <a:rPr lang="en-US" dirty="0"/>
              <a:t>Synchronous Data Link Protocol (SDLC)</a:t>
            </a:r>
          </a:p>
          <a:p>
            <a:pPr algn="just" fontAlgn="base"/>
            <a:r>
              <a:rPr lang="en-US" dirty="0"/>
              <a:t>High-Level Data Link Control (HDLC)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75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u="sng" dirty="0"/>
              <a:t>Assignment on on Data Link Layer (Group 4)</a:t>
            </a:r>
          </a:p>
          <a:p>
            <a:pPr>
              <a:buNone/>
            </a:pPr>
            <a:r>
              <a:rPr lang="en-GB" dirty="0"/>
              <a:t>In the same group of two prepare a presentation on:</a:t>
            </a:r>
          </a:p>
          <a:p>
            <a:pPr>
              <a:buNone/>
            </a:pPr>
            <a:endParaRPr lang="en-GB" dirty="0"/>
          </a:p>
          <a:p>
            <a:pPr algn="just" fontAlgn="base"/>
            <a:r>
              <a:rPr lang="en-US" dirty="0"/>
              <a:t>Link Control Protocol (LCP)</a:t>
            </a:r>
          </a:p>
          <a:p>
            <a:pPr algn="just" fontAlgn="base"/>
            <a:r>
              <a:rPr lang="en-US" dirty="0"/>
              <a:t>Network Control Protocol (NCP)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37629-9D26-4278-96E1-3DABBBAE6AEF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42387</TotalTime>
  <Words>3285</Words>
  <Application>Microsoft Macintosh PowerPoint</Application>
  <PresentationFormat>On-screen Show (4:3)</PresentationFormat>
  <Paragraphs>449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Arial</vt:lpstr>
      <vt:lpstr>Calibri</vt:lpstr>
      <vt:lpstr>Lucida Sans Unicode</vt:lpstr>
      <vt:lpstr>Nunito</vt:lpstr>
      <vt:lpstr>Times New Roman</vt:lpstr>
      <vt:lpstr>Verdana</vt:lpstr>
      <vt:lpstr>Wingdings</vt:lpstr>
      <vt:lpstr>Wingdings 2</vt:lpstr>
      <vt:lpstr>Wingdings 3</vt:lpstr>
      <vt:lpstr>Concourse</vt:lpstr>
      <vt:lpstr>Physical Layer</vt:lpstr>
      <vt:lpstr>Physical Layer</vt:lpstr>
      <vt:lpstr> Functions of Physical Layer </vt:lpstr>
      <vt:lpstr>Functions of Physical Layer</vt:lpstr>
      <vt:lpstr>Bit-by-Bit Transmision</vt:lpstr>
      <vt:lpstr>Encoding and decoding</vt:lpstr>
      <vt:lpstr>Signal Transmission</vt:lpstr>
      <vt:lpstr>Modulation and Demodulation</vt:lpstr>
      <vt:lpstr>Trasmission Modes</vt:lpstr>
      <vt:lpstr>Data Rate Controls</vt:lpstr>
      <vt:lpstr>Trasmission Media</vt:lpstr>
      <vt:lpstr>Selection of Transmision Medium</vt:lpstr>
      <vt:lpstr>Types of Transmision Media</vt:lpstr>
      <vt:lpstr>Guided Media </vt:lpstr>
      <vt:lpstr>Twisted Pair Cable </vt:lpstr>
      <vt:lpstr>Unshielded Twisted Pair (UTP)</vt:lpstr>
      <vt:lpstr>Advantages: </vt:lpstr>
      <vt:lpstr>Disadvantages </vt:lpstr>
      <vt:lpstr>Shielded Twisted Pair (STP): </vt:lpstr>
      <vt:lpstr>Advantages </vt:lpstr>
      <vt:lpstr>              Disadvantages </vt:lpstr>
      <vt:lpstr>  Coaxial Cable </vt:lpstr>
      <vt:lpstr>              Advantages </vt:lpstr>
      <vt:lpstr> Disadvantages </vt:lpstr>
      <vt:lpstr> Optical Fiber Cable </vt:lpstr>
      <vt:lpstr>Advantages </vt:lpstr>
      <vt:lpstr>Disadvantages </vt:lpstr>
      <vt:lpstr>Applications </vt:lpstr>
      <vt:lpstr>Unguided Media </vt:lpstr>
      <vt:lpstr> Radio Waves </vt:lpstr>
      <vt:lpstr>Radiowave</vt:lpstr>
      <vt:lpstr> Microwaves </vt:lpstr>
      <vt:lpstr>Advantages &amp; Disadvantages </vt:lpstr>
      <vt:lpstr>Microwave Transmission</vt:lpstr>
      <vt:lpstr> Infrared </vt:lpstr>
      <vt:lpstr>Infrared waves</vt:lpstr>
      <vt:lpstr> Difference Between Radio Waves, Micro Waves, and Infrared Waves </vt:lpstr>
      <vt:lpstr> Causes of Transmission Impairment </vt:lpstr>
      <vt:lpstr>Causes of Transmission Impairment</vt:lpstr>
      <vt:lpstr>Factors Considered for Designing the Transmission Media </vt:lpstr>
      <vt:lpstr>Applications of Transmission Media in Computer Networks </vt:lpstr>
      <vt:lpstr>The Data Link Layer</vt:lpstr>
      <vt:lpstr>Data Link Layer</vt:lpstr>
      <vt:lpstr>Sub-Layers of The Data Link Layer </vt:lpstr>
      <vt:lpstr>Functions of DLL </vt:lpstr>
      <vt:lpstr>Types of Errors</vt:lpstr>
      <vt:lpstr>Single-Bit Error</vt:lpstr>
      <vt:lpstr> Burst Error </vt:lpstr>
      <vt:lpstr>Redundancy</vt:lpstr>
      <vt:lpstr>Framing</vt:lpstr>
      <vt:lpstr>Error Detection-Parity Check</vt:lpstr>
      <vt:lpstr>Error Detection-Checksum</vt:lpstr>
      <vt:lpstr>PowerPoint Presentation</vt:lpstr>
      <vt:lpstr>Error Detection-Cyclic Redundacy Check</vt:lpstr>
      <vt:lpstr>Error Correction-ARQ &amp; FEC</vt:lpstr>
      <vt:lpstr>Flow Control</vt:lpstr>
      <vt:lpstr>Addressing</vt:lpstr>
      <vt:lpstr>Devices Operating at the Data Link Layer 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 3212: COMPUTER NETWORKS</dc:title>
  <dc:creator>ict</dc:creator>
  <cp:lastModifiedBy>Microsoft Office User</cp:lastModifiedBy>
  <cp:revision>156</cp:revision>
  <dcterms:created xsi:type="dcterms:W3CDTF">2014-01-06T08:03:20Z</dcterms:created>
  <dcterms:modified xsi:type="dcterms:W3CDTF">2026-10-14T16:11:25Z</dcterms:modified>
</cp:coreProperties>
</file>